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jpg" ContentType="image/jpg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0680700" cy="7556500"/>
  <p:notesSz cx="106807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1052" y="2342515"/>
            <a:ext cx="9078595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2105" y="4231640"/>
            <a:ext cx="747649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#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#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035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0560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#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#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#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6636" y="1187887"/>
            <a:ext cx="8547427" cy="485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6636" y="1919294"/>
            <a:ext cx="8549005" cy="4494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1438" y="7027545"/>
            <a:ext cx="341782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035" y="7027545"/>
            <a:ext cx="2456561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113006" y="6877765"/>
            <a:ext cx="45656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#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49542" y="6859863"/>
            <a:ext cx="38354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280">
                <a:latin typeface="Arial MT"/>
                <a:cs typeface="Arial MT"/>
              </a:rPr>
              <a:t>-</a:t>
            </a:r>
            <a:r>
              <a:rPr dirty="0" sz="1000" spc="204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1</a:t>
            </a:r>
            <a:r>
              <a:rPr dirty="0" sz="1000" spc="240">
                <a:latin typeface="Arial MT"/>
                <a:cs typeface="Arial MT"/>
              </a:rPr>
              <a:t> </a:t>
            </a:r>
            <a:r>
              <a:rPr dirty="0" sz="1000" spc="229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392045">
              <a:lnSpc>
                <a:spcPct val="100000"/>
              </a:lnSpc>
              <a:spcBef>
                <a:spcPts val="95"/>
              </a:spcBef>
            </a:pPr>
            <a:r>
              <a:rPr dirty="0" sz="3000"/>
              <a:t>제7강.</a:t>
            </a:r>
            <a:r>
              <a:rPr dirty="0" sz="3000" spc="425"/>
              <a:t> </a:t>
            </a:r>
            <a:r>
              <a:rPr dirty="0" sz="3000"/>
              <a:t>보험의</a:t>
            </a:r>
            <a:r>
              <a:rPr dirty="0" sz="3000" spc="425"/>
              <a:t> </a:t>
            </a:r>
            <a:r>
              <a:rPr dirty="0" sz="3000" spc="-25"/>
              <a:t>경제학</a:t>
            </a:r>
            <a:endParaRPr sz="3000"/>
          </a:p>
        </p:txBody>
      </p:sp>
      <p:sp>
        <p:nvSpPr>
          <p:cNvPr id="4" name="object 4" descr=""/>
          <p:cNvSpPr txBox="1"/>
          <p:nvPr/>
        </p:nvSpPr>
        <p:spPr>
          <a:xfrm>
            <a:off x="1066636" y="2121876"/>
            <a:ext cx="7839709" cy="4088129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900"/>
              </a:spcBef>
              <a:buFont typeface="Cambria"/>
              <a:buChar char="○"/>
              <a:tabLst>
                <a:tab pos="266700" algn="l"/>
              </a:tabLst>
            </a:pPr>
            <a:r>
              <a:rPr dirty="0" sz="2000" b="1">
                <a:latin typeface="Malgun Gothic"/>
                <a:cs typeface="Malgun Gothic"/>
              </a:rPr>
              <a:t>보험의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의미</a:t>
            </a:r>
            <a:endParaRPr sz="2000">
              <a:latin typeface="Malgun Gothic"/>
              <a:cs typeface="Malgun Gothic"/>
            </a:endParaRPr>
          </a:p>
          <a:p>
            <a:pPr lvl="1" marL="423545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dirty="0" sz="2000" b="1">
                <a:latin typeface="Malgun Gothic"/>
                <a:cs typeface="Malgun Gothic"/>
              </a:rPr>
              <a:t>위험으로부터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보호해줄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제도적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장치</a:t>
            </a:r>
            <a:endParaRPr sz="2000">
              <a:latin typeface="Malgun Gothic"/>
              <a:cs typeface="Malgun Gothic"/>
            </a:endParaRPr>
          </a:p>
          <a:p>
            <a:pPr lvl="1" marL="423545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423545" algn="l"/>
              </a:tabLst>
            </a:pPr>
            <a:r>
              <a:rPr dirty="0" sz="2000" b="1">
                <a:latin typeface="Malgun Gothic"/>
                <a:cs typeface="Malgun Gothic"/>
              </a:rPr>
              <a:t>민간부문에서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운영되는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보험수리적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기구(actuarial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mechanism)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365"/>
              </a:spcBef>
              <a:buFont typeface="Malgun Gothic"/>
              <a:buChar char="-"/>
            </a:pPr>
            <a:endParaRPr sz="2000">
              <a:latin typeface="Malgun Gothic"/>
              <a:cs typeface="Malgun Gothic"/>
            </a:endParaRPr>
          </a:p>
          <a:p>
            <a:pPr marL="266700" indent="-254000">
              <a:lnSpc>
                <a:spcPct val="100000"/>
              </a:lnSpc>
              <a:buFont typeface="Cambria"/>
              <a:buChar char="○"/>
              <a:tabLst>
                <a:tab pos="266700" algn="l"/>
              </a:tabLst>
            </a:pPr>
            <a:r>
              <a:rPr dirty="0" sz="2000" b="1">
                <a:latin typeface="Malgun Gothic"/>
                <a:cs typeface="Malgun Gothic"/>
              </a:rPr>
              <a:t>개인들은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대체로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보험료보다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상대적으로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낮은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보험금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수령</a:t>
            </a:r>
            <a:endParaRPr sz="2000">
              <a:latin typeface="Malgun Gothic"/>
              <a:cs typeface="Malgun Gothic"/>
            </a:endParaRPr>
          </a:p>
          <a:p>
            <a:pPr lvl="1" marL="423545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423545" algn="l"/>
              </a:tabLst>
            </a:pPr>
            <a:r>
              <a:rPr dirty="0" sz="2000" b="1">
                <a:latin typeface="Malgun Gothic"/>
                <a:cs typeface="Malgun Gothic"/>
              </a:rPr>
              <a:t>사람들은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자발적으로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가입하는가?</a:t>
            </a:r>
            <a:endParaRPr sz="2000">
              <a:latin typeface="Malgun Gothic"/>
              <a:cs typeface="Malgun Gothic"/>
            </a:endParaRPr>
          </a:p>
          <a:p>
            <a:pPr lvl="1" marL="423545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423545" algn="l"/>
              </a:tabLst>
            </a:pPr>
            <a:r>
              <a:rPr dirty="0" sz="2000" b="1">
                <a:latin typeface="Malgun Gothic"/>
                <a:cs typeface="Malgun Gothic"/>
              </a:rPr>
              <a:t>보험이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성립될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조건은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무엇인가?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2000">
              <a:latin typeface="Malgun Gothic"/>
              <a:cs typeface="Malgun Gothic"/>
            </a:endParaRPr>
          </a:p>
          <a:p>
            <a:pPr marL="266065" indent="-253365">
              <a:lnSpc>
                <a:spcPct val="100000"/>
              </a:lnSpc>
              <a:buClr>
                <a:srgbClr val="000000"/>
              </a:buClr>
              <a:buChar char="*"/>
              <a:tabLst>
                <a:tab pos="266065" algn="l"/>
              </a:tabLst>
            </a:pPr>
            <a:r>
              <a:rPr dirty="0" sz="2000" spc="45" b="1">
                <a:solidFill>
                  <a:srgbClr val="0000FF"/>
                </a:solidFill>
                <a:latin typeface="Malgun Gothic"/>
                <a:cs typeface="Malgun Gothic"/>
              </a:rPr>
              <a:t>위험(risk)</a:t>
            </a:r>
            <a:r>
              <a:rPr dirty="0" sz="2000" spc="45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사건의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발생확률이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알려져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있음</a:t>
            </a:r>
            <a:endParaRPr sz="2000">
              <a:latin typeface="Malgun Gothic"/>
              <a:cs typeface="Malgun Gothic"/>
            </a:endParaRPr>
          </a:p>
          <a:p>
            <a:pPr marL="266065" indent="-253365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Char char="*"/>
              <a:tabLst>
                <a:tab pos="266065" algn="l"/>
              </a:tabLst>
            </a:pP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불확실성(uncertainty)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발생확률에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정보가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존재하지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않음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345057" y="5812409"/>
            <a:ext cx="1071245" cy="76835"/>
          </a:xfrm>
          <a:custGeom>
            <a:avLst/>
            <a:gdLst/>
            <a:ahLst/>
            <a:cxnLst/>
            <a:rect l="l" t="t" r="r" b="b"/>
            <a:pathLst>
              <a:path w="1071245" h="76835">
                <a:moveTo>
                  <a:pt x="0" y="0"/>
                </a:moveTo>
                <a:lnTo>
                  <a:pt x="6350" y="0"/>
                </a:lnTo>
                <a:lnTo>
                  <a:pt x="12700" y="0"/>
                </a:lnTo>
                <a:lnTo>
                  <a:pt x="19050" y="0"/>
                </a:lnTo>
                <a:lnTo>
                  <a:pt x="24770" y="595"/>
                </a:lnTo>
                <a:lnTo>
                  <a:pt x="32242" y="2381"/>
                </a:lnTo>
                <a:lnTo>
                  <a:pt x="41499" y="5357"/>
                </a:lnTo>
                <a:lnTo>
                  <a:pt x="52578" y="9525"/>
                </a:lnTo>
                <a:lnTo>
                  <a:pt x="63962" y="13765"/>
                </a:lnTo>
                <a:lnTo>
                  <a:pt x="74120" y="16779"/>
                </a:lnTo>
                <a:lnTo>
                  <a:pt x="83063" y="18579"/>
                </a:lnTo>
                <a:lnTo>
                  <a:pt x="90805" y="19177"/>
                </a:lnTo>
                <a:lnTo>
                  <a:pt x="98619" y="19177"/>
                </a:lnTo>
                <a:lnTo>
                  <a:pt x="107600" y="19177"/>
                </a:lnTo>
                <a:lnTo>
                  <a:pt x="258190" y="19177"/>
                </a:lnTo>
                <a:lnTo>
                  <a:pt x="271958" y="19464"/>
                </a:lnTo>
                <a:lnTo>
                  <a:pt x="284511" y="20335"/>
                </a:lnTo>
                <a:lnTo>
                  <a:pt x="295874" y="21802"/>
                </a:lnTo>
                <a:lnTo>
                  <a:pt x="306069" y="23876"/>
                </a:lnTo>
                <a:lnTo>
                  <a:pt x="315904" y="26277"/>
                </a:lnTo>
                <a:lnTo>
                  <a:pt x="326358" y="28702"/>
                </a:lnTo>
                <a:lnTo>
                  <a:pt x="337431" y="31126"/>
                </a:lnTo>
                <a:lnTo>
                  <a:pt x="349123" y="33528"/>
                </a:lnTo>
                <a:lnTo>
                  <a:pt x="361049" y="35909"/>
                </a:lnTo>
                <a:lnTo>
                  <a:pt x="372999" y="38290"/>
                </a:lnTo>
                <a:lnTo>
                  <a:pt x="384948" y="40671"/>
                </a:lnTo>
                <a:lnTo>
                  <a:pt x="430402" y="46656"/>
                </a:lnTo>
                <a:lnTo>
                  <a:pt x="482981" y="47879"/>
                </a:lnTo>
                <a:lnTo>
                  <a:pt x="512318" y="47879"/>
                </a:lnTo>
                <a:lnTo>
                  <a:pt x="538035" y="47879"/>
                </a:lnTo>
                <a:lnTo>
                  <a:pt x="560133" y="47879"/>
                </a:lnTo>
                <a:lnTo>
                  <a:pt x="578612" y="47879"/>
                </a:lnTo>
                <a:lnTo>
                  <a:pt x="595068" y="48166"/>
                </a:lnTo>
                <a:lnTo>
                  <a:pt x="610917" y="49037"/>
                </a:lnTo>
                <a:lnTo>
                  <a:pt x="626171" y="50504"/>
                </a:lnTo>
                <a:lnTo>
                  <a:pt x="640842" y="52578"/>
                </a:lnTo>
                <a:lnTo>
                  <a:pt x="654319" y="54671"/>
                </a:lnTo>
                <a:lnTo>
                  <a:pt x="665988" y="56181"/>
                </a:lnTo>
                <a:lnTo>
                  <a:pt x="675846" y="57096"/>
                </a:lnTo>
                <a:lnTo>
                  <a:pt x="683894" y="57404"/>
                </a:lnTo>
                <a:lnTo>
                  <a:pt x="693419" y="57404"/>
                </a:lnTo>
                <a:lnTo>
                  <a:pt x="701420" y="57404"/>
                </a:lnTo>
                <a:lnTo>
                  <a:pt x="725297" y="57404"/>
                </a:lnTo>
                <a:lnTo>
                  <a:pt x="731647" y="59055"/>
                </a:lnTo>
                <a:lnTo>
                  <a:pt x="741299" y="62230"/>
                </a:lnTo>
                <a:lnTo>
                  <a:pt x="750824" y="65405"/>
                </a:lnTo>
                <a:lnTo>
                  <a:pt x="757174" y="66929"/>
                </a:lnTo>
                <a:lnTo>
                  <a:pt x="822579" y="66929"/>
                </a:lnTo>
                <a:lnTo>
                  <a:pt x="833008" y="67236"/>
                </a:lnTo>
                <a:lnTo>
                  <a:pt x="845248" y="68151"/>
                </a:lnTo>
                <a:lnTo>
                  <a:pt x="859297" y="69661"/>
                </a:lnTo>
                <a:lnTo>
                  <a:pt x="875157" y="71755"/>
                </a:lnTo>
                <a:lnTo>
                  <a:pt x="891323" y="73848"/>
                </a:lnTo>
                <a:lnTo>
                  <a:pt x="906287" y="75358"/>
                </a:lnTo>
                <a:lnTo>
                  <a:pt x="920037" y="76273"/>
                </a:lnTo>
                <a:lnTo>
                  <a:pt x="932561" y="76581"/>
                </a:lnTo>
                <a:lnTo>
                  <a:pt x="944252" y="76581"/>
                </a:lnTo>
                <a:lnTo>
                  <a:pt x="955325" y="76581"/>
                </a:lnTo>
                <a:lnTo>
                  <a:pt x="1064895" y="76581"/>
                </a:lnTo>
                <a:lnTo>
                  <a:pt x="1071245" y="76581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498091" y="2914142"/>
            <a:ext cx="2888615" cy="48260"/>
          </a:xfrm>
          <a:custGeom>
            <a:avLst/>
            <a:gdLst/>
            <a:ahLst/>
            <a:cxnLst/>
            <a:rect l="l" t="t" r="r" b="b"/>
            <a:pathLst>
              <a:path w="2888615" h="48260">
                <a:moveTo>
                  <a:pt x="0" y="28702"/>
                </a:moveTo>
                <a:lnTo>
                  <a:pt x="0" y="28702"/>
                </a:lnTo>
                <a:lnTo>
                  <a:pt x="344297" y="28702"/>
                </a:lnTo>
                <a:lnTo>
                  <a:pt x="350559" y="28412"/>
                </a:lnTo>
                <a:lnTo>
                  <a:pt x="403209" y="21207"/>
                </a:lnTo>
                <a:lnTo>
                  <a:pt x="439928" y="9652"/>
                </a:lnTo>
                <a:lnTo>
                  <a:pt x="450431" y="5411"/>
                </a:lnTo>
                <a:lnTo>
                  <a:pt x="462708" y="2397"/>
                </a:lnTo>
                <a:lnTo>
                  <a:pt x="476771" y="597"/>
                </a:lnTo>
                <a:lnTo>
                  <a:pt x="492633" y="0"/>
                </a:lnTo>
                <a:lnTo>
                  <a:pt x="508726" y="0"/>
                </a:lnTo>
                <a:lnTo>
                  <a:pt x="523652" y="0"/>
                </a:lnTo>
                <a:lnTo>
                  <a:pt x="1248283" y="0"/>
                </a:lnTo>
                <a:lnTo>
                  <a:pt x="1260804" y="307"/>
                </a:lnTo>
                <a:lnTo>
                  <a:pt x="1274540" y="1222"/>
                </a:lnTo>
                <a:lnTo>
                  <a:pt x="1289466" y="2732"/>
                </a:lnTo>
                <a:lnTo>
                  <a:pt x="1305560" y="4825"/>
                </a:lnTo>
                <a:lnTo>
                  <a:pt x="1322016" y="6919"/>
                </a:lnTo>
                <a:lnTo>
                  <a:pt x="1337865" y="8429"/>
                </a:lnTo>
                <a:lnTo>
                  <a:pt x="1353119" y="9344"/>
                </a:lnTo>
                <a:lnTo>
                  <a:pt x="1367790" y="9652"/>
                </a:lnTo>
                <a:lnTo>
                  <a:pt x="1382748" y="9652"/>
                </a:lnTo>
                <a:lnTo>
                  <a:pt x="1398873" y="9652"/>
                </a:lnTo>
                <a:lnTo>
                  <a:pt x="1416188" y="9652"/>
                </a:lnTo>
                <a:lnTo>
                  <a:pt x="1434719" y="9652"/>
                </a:lnTo>
                <a:lnTo>
                  <a:pt x="1452671" y="9939"/>
                </a:lnTo>
                <a:lnTo>
                  <a:pt x="1468231" y="10810"/>
                </a:lnTo>
                <a:lnTo>
                  <a:pt x="1481385" y="12277"/>
                </a:lnTo>
                <a:lnTo>
                  <a:pt x="1492123" y="14350"/>
                </a:lnTo>
                <a:lnTo>
                  <a:pt x="1502318" y="16444"/>
                </a:lnTo>
                <a:lnTo>
                  <a:pt x="1513681" y="17954"/>
                </a:lnTo>
                <a:lnTo>
                  <a:pt x="1526234" y="18869"/>
                </a:lnTo>
                <a:lnTo>
                  <a:pt x="1540002" y="19177"/>
                </a:lnTo>
                <a:lnTo>
                  <a:pt x="1553714" y="19177"/>
                </a:lnTo>
                <a:lnTo>
                  <a:pt x="1566259" y="19177"/>
                </a:lnTo>
                <a:lnTo>
                  <a:pt x="1577613" y="19177"/>
                </a:lnTo>
                <a:lnTo>
                  <a:pt x="1587754" y="19177"/>
                </a:lnTo>
                <a:lnTo>
                  <a:pt x="1598257" y="19464"/>
                </a:lnTo>
                <a:lnTo>
                  <a:pt x="1610534" y="20335"/>
                </a:lnTo>
                <a:lnTo>
                  <a:pt x="1624597" y="21802"/>
                </a:lnTo>
                <a:lnTo>
                  <a:pt x="1640459" y="23875"/>
                </a:lnTo>
                <a:lnTo>
                  <a:pt x="1657149" y="26023"/>
                </a:lnTo>
                <a:lnTo>
                  <a:pt x="1673875" y="27527"/>
                </a:lnTo>
                <a:lnTo>
                  <a:pt x="1690625" y="28412"/>
                </a:lnTo>
                <a:lnTo>
                  <a:pt x="1707388" y="28702"/>
                </a:lnTo>
                <a:lnTo>
                  <a:pt x="1725035" y="29009"/>
                </a:lnTo>
                <a:lnTo>
                  <a:pt x="1744456" y="29924"/>
                </a:lnTo>
                <a:lnTo>
                  <a:pt x="1765663" y="31434"/>
                </a:lnTo>
                <a:lnTo>
                  <a:pt x="1788668" y="33528"/>
                </a:lnTo>
                <a:lnTo>
                  <a:pt x="1810787" y="35601"/>
                </a:lnTo>
                <a:lnTo>
                  <a:pt x="1829323" y="37068"/>
                </a:lnTo>
                <a:lnTo>
                  <a:pt x="1844264" y="37939"/>
                </a:lnTo>
                <a:lnTo>
                  <a:pt x="1855597" y="38227"/>
                </a:lnTo>
                <a:lnTo>
                  <a:pt x="1865502" y="38227"/>
                </a:lnTo>
                <a:lnTo>
                  <a:pt x="1875980" y="38227"/>
                </a:lnTo>
                <a:lnTo>
                  <a:pt x="2453386" y="38227"/>
                </a:lnTo>
                <a:lnTo>
                  <a:pt x="2469247" y="38534"/>
                </a:lnTo>
                <a:lnTo>
                  <a:pt x="2483310" y="39449"/>
                </a:lnTo>
                <a:lnTo>
                  <a:pt x="2495587" y="40959"/>
                </a:lnTo>
                <a:lnTo>
                  <a:pt x="2506091" y="43053"/>
                </a:lnTo>
                <a:lnTo>
                  <a:pt x="2515925" y="45146"/>
                </a:lnTo>
                <a:lnTo>
                  <a:pt x="2526379" y="46656"/>
                </a:lnTo>
                <a:lnTo>
                  <a:pt x="2537452" y="47571"/>
                </a:lnTo>
                <a:lnTo>
                  <a:pt x="2549144" y="47879"/>
                </a:lnTo>
                <a:lnTo>
                  <a:pt x="2561070" y="47879"/>
                </a:lnTo>
                <a:lnTo>
                  <a:pt x="2573020" y="47879"/>
                </a:lnTo>
                <a:lnTo>
                  <a:pt x="2639949" y="47879"/>
                </a:lnTo>
                <a:lnTo>
                  <a:pt x="2650450" y="47571"/>
                </a:lnTo>
                <a:lnTo>
                  <a:pt x="2662713" y="46656"/>
                </a:lnTo>
                <a:lnTo>
                  <a:pt x="2676739" y="45146"/>
                </a:lnTo>
                <a:lnTo>
                  <a:pt x="2692527" y="43053"/>
                </a:lnTo>
                <a:lnTo>
                  <a:pt x="2708388" y="40959"/>
                </a:lnTo>
                <a:lnTo>
                  <a:pt x="2722451" y="39449"/>
                </a:lnTo>
                <a:lnTo>
                  <a:pt x="2734728" y="38534"/>
                </a:lnTo>
                <a:lnTo>
                  <a:pt x="2745232" y="38227"/>
                </a:lnTo>
                <a:lnTo>
                  <a:pt x="2755969" y="37631"/>
                </a:lnTo>
                <a:lnTo>
                  <a:pt x="2769123" y="35845"/>
                </a:lnTo>
                <a:lnTo>
                  <a:pt x="2784683" y="32869"/>
                </a:lnTo>
                <a:lnTo>
                  <a:pt x="2802636" y="28702"/>
                </a:lnTo>
                <a:lnTo>
                  <a:pt x="2820515" y="24534"/>
                </a:lnTo>
                <a:lnTo>
                  <a:pt x="2836037" y="21558"/>
                </a:lnTo>
                <a:lnTo>
                  <a:pt x="2849177" y="19772"/>
                </a:lnTo>
                <a:lnTo>
                  <a:pt x="2859913" y="19177"/>
                </a:lnTo>
                <a:lnTo>
                  <a:pt x="2868916" y="19177"/>
                </a:lnTo>
                <a:lnTo>
                  <a:pt x="2876692" y="19177"/>
                </a:lnTo>
                <a:lnTo>
                  <a:pt x="2883255" y="19177"/>
                </a:lnTo>
                <a:lnTo>
                  <a:pt x="2888615" y="19177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318884" y="2952369"/>
            <a:ext cx="239395" cy="19685"/>
          </a:xfrm>
          <a:custGeom>
            <a:avLst/>
            <a:gdLst/>
            <a:ahLst/>
            <a:cxnLst/>
            <a:rect l="l" t="t" r="r" b="b"/>
            <a:pathLst>
              <a:path w="239395" h="19685">
                <a:moveTo>
                  <a:pt x="0" y="19176"/>
                </a:moveTo>
                <a:lnTo>
                  <a:pt x="6476" y="19176"/>
                </a:lnTo>
                <a:lnTo>
                  <a:pt x="14350" y="17652"/>
                </a:lnTo>
                <a:lnTo>
                  <a:pt x="24002" y="14350"/>
                </a:lnTo>
                <a:lnTo>
                  <a:pt x="31454" y="12277"/>
                </a:lnTo>
                <a:lnTo>
                  <a:pt x="39512" y="10810"/>
                </a:lnTo>
                <a:lnTo>
                  <a:pt x="48166" y="9939"/>
                </a:lnTo>
                <a:lnTo>
                  <a:pt x="57403" y="9651"/>
                </a:lnTo>
                <a:lnTo>
                  <a:pt x="67002" y="9344"/>
                </a:lnTo>
                <a:lnTo>
                  <a:pt x="76565" y="8429"/>
                </a:lnTo>
                <a:lnTo>
                  <a:pt x="86104" y="6919"/>
                </a:lnTo>
                <a:lnTo>
                  <a:pt x="95630" y="4825"/>
                </a:lnTo>
                <a:lnTo>
                  <a:pt x="105826" y="2732"/>
                </a:lnTo>
                <a:lnTo>
                  <a:pt x="117189" y="1222"/>
                </a:lnTo>
                <a:lnTo>
                  <a:pt x="129742" y="307"/>
                </a:lnTo>
                <a:lnTo>
                  <a:pt x="143510" y="0"/>
                </a:lnTo>
                <a:lnTo>
                  <a:pt x="157583" y="0"/>
                </a:lnTo>
                <a:lnTo>
                  <a:pt x="171037" y="0"/>
                </a:lnTo>
                <a:lnTo>
                  <a:pt x="229306" y="0"/>
                </a:lnTo>
                <a:lnTo>
                  <a:pt x="239140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383283" y="6242811"/>
            <a:ext cx="2487295" cy="38735"/>
          </a:xfrm>
          <a:custGeom>
            <a:avLst/>
            <a:gdLst/>
            <a:ahLst/>
            <a:cxnLst/>
            <a:rect l="l" t="t" r="r" b="b"/>
            <a:pathLst>
              <a:path w="2487295" h="38735">
                <a:moveTo>
                  <a:pt x="0" y="0"/>
                </a:moveTo>
                <a:lnTo>
                  <a:pt x="13767" y="4835"/>
                </a:lnTo>
                <a:lnTo>
                  <a:pt x="26320" y="9636"/>
                </a:lnTo>
                <a:lnTo>
                  <a:pt x="37683" y="14412"/>
                </a:lnTo>
                <a:lnTo>
                  <a:pt x="47878" y="19176"/>
                </a:lnTo>
                <a:lnTo>
                  <a:pt x="57713" y="23344"/>
                </a:lnTo>
                <a:lnTo>
                  <a:pt x="68167" y="26320"/>
                </a:lnTo>
                <a:lnTo>
                  <a:pt x="79240" y="28106"/>
                </a:lnTo>
                <a:lnTo>
                  <a:pt x="90931" y="28701"/>
                </a:lnTo>
                <a:lnTo>
                  <a:pt x="102858" y="29009"/>
                </a:lnTo>
                <a:lnTo>
                  <a:pt x="114808" y="29924"/>
                </a:lnTo>
                <a:lnTo>
                  <a:pt x="126757" y="31434"/>
                </a:lnTo>
                <a:lnTo>
                  <a:pt x="138684" y="33528"/>
                </a:lnTo>
                <a:lnTo>
                  <a:pt x="150971" y="35621"/>
                </a:lnTo>
                <a:lnTo>
                  <a:pt x="163830" y="37131"/>
                </a:lnTo>
                <a:lnTo>
                  <a:pt x="177260" y="38046"/>
                </a:lnTo>
                <a:lnTo>
                  <a:pt x="191262" y="38353"/>
                </a:lnTo>
                <a:lnTo>
                  <a:pt x="205932" y="38353"/>
                </a:lnTo>
                <a:lnTo>
                  <a:pt x="221186" y="38353"/>
                </a:lnTo>
                <a:lnTo>
                  <a:pt x="1774316" y="38353"/>
                </a:lnTo>
                <a:lnTo>
                  <a:pt x="1782419" y="38046"/>
                </a:lnTo>
                <a:lnTo>
                  <a:pt x="1792271" y="37131"/>
                </a:lnTo>
                <a:lnTo>
                  <a:pt x="1803909" y="35621"/>
                </a:lnTo>
                <a:lnTo>
                  <a:pt x="1817370" y="33528"/>
                </a:lnTo>
                <a:lnTo>
                  <a:pt x="1831137" y="31434"/>
                </a:lnTo>
                <a:lnTo>
                  <a:pt x="1843690" y="29924"/>
                </a:lnTo>
                <a:lnTo>
                  <a:pt x="1855053" y="29009"/>
                </a:lnTo>
                <a:lnTo>
                  <a:pt x="1865249" y="28701"/>
                </a:lnTo>
                <a:lnTo>
                  <a:pt x="1875678" y="28701"/>
                </a:lnTo>
                <a:lnTo>
                  <a:pt x="1887918" y="28701"/>
                </a:lnTo>
                <a:lnTo>
                  <a:pt x="1970404" y="28701"/>
                </a:lnTo>
                <a:lnTo>
                  <a:pt x="1980600" y="28414"/>
                </a:lnTo>
                <a:lnTo>
                  <a:pt x="1991963" y="27543"/>
                </a:lnTo>
                <a:lnTo>
                  <a:pt x="2004516" y="26076"/>
                </a:lnTo>
                <a:lnTo>
                  <a:pt x="2018283" y="24003"/>
                </a:lnTo>
                <a:lnTo>
                  <a:pt x="2032593" y="21909"/>
                </a:lnTo>
                <a:lnTo>
                  <a:pt x="2046938" y="20399"/>
                </a:lnTo>
                <a:lnTo>
                  <a:pt x="2061307" y="19484"/>
                </a:lnTo>
                <a:lnTo>
                  <a:pt x="2075688" y="19176"/>
                </a:lnTo>
                <a:lnTo>
                  <a:pt x="2089689" y="19176"/>
                </a:lnTo>
                <a:lnTo>
                  <a:pt x="2103120" y="19176"/>
                </a:lnTo>
                <a:lnTo>
                  <a:pt x="2215895" y="19176"/>
                </a:lnTo>
                <a:lnTo>
                  <a:pt x="2220721" y="17525"/>
                </a:lnTo>
                <a:lnTo>
                  <a:pt x="2223896" y="14350"/>
                </a:lnTo>
                <a:lnTo>
                  <a:pt x="2227071" y="11175"/>
                </a:lnTo>
                <a:lnTo>
                  <a:pt x="2230246" y="9651"/>
                </a:lnTo>
                <a:lnTo>
                  <a:pt x="2233421" y="9651"/>
                </a:lnTo>
                <a:lnTo>
                  <a:pt x="2236596" y="9651"/>
                </a:lnTo>
                <a:lnTo>
                  <a:pt x="2241423" y="8000"/>
                </a:lnTo>
                <a:lnTo>
                  <a:pt x="2247773" y="4825"/>
                </a:lnTo>
                <a:lnTo>
                  <a:pt x="2254250" y="1650"/>
                </a:lnTo>
                <a:lnTo>
                  <a:pt x="2258949" y="0"/>
                </a:lnTo>
                <a:lnTo>
                  <a:pt x="2262124" y="0"/>
                </a:lnTo>
                <a:lnTo>
                  <a:pt x="2265299" y="0"/>
                </a:lnTo>
                <a:lnTo>
                  <a:pt x="2466213" y="0"/>
                </a:lnTo>
                <a:lnTo>
                  <a:pt x="2469388" y="1650"/>
                </a:lnTo>
                <a:lnTo>
                  <a:pt x="2472563" y="4825"/>
                </a:lnTo>
                <a:lnTo>
                  <a:pt x="2475738" y="8000"/>
                </a:lnTo>
                <a:lnTo>
                  <a:pt x="2480564" y="9651"/>
                </a:lnTo>
                <a:lnTo>
                  <a:pt x="2486914" y="9651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755390" y="5745479"/>
            <a:ext cx="2515870" cy="86360"/>
          </a:xfrm>
          <a:custGeom>
            <a:avLst/>
            <a:gdLst/>
            <a:ahLst/>
            <a:cxnLst/>
            <a:rect l="l" t="t" r="r" b="b"/>
            <a:pathLst>
              <a:path w="2515870" h="86360">
                <a:moveTo>
                  <a:pt x="0" y="76454"/>
                </a:moveTo>
                <a:lnTo>
                  <a:pt x="0" y="76454"/>
                </a:lnTo>
                <a:lnTo>
                  <a:pt x="277495" y="76454"/>
                </a:lnTo>
                <a:lnTo>
                  <a:pt x="296332" y="76761"/>
                </a:lnTo>
                <a:lnTo>
                  <a:pt x="314563" y="77676"/>
                </a:lnTo>
                <a:lnTo>
                  <a:pt x="332198" y="79186"/>
                </a:lnTo>
                <a:lnTo>
                  <a:pt x="349250" y="81280"/>
                </a:lnTo>
                <a:lnTo>
                  <a:pt x="365633" y="83373"/>
                </a:lnTo>
                <a:lnTo>
                  <a:pt x="381444" y="84883"/>
                </a:lnTo>
                <a:lnTo>
                  <a:pt x="396684" y="85798"/>
                </a:lnTo>
                <a:lnTo>
                  <a:pt x="411352" y="86106"/>
                </a:lnTo>
                <a:lnTo>
                  <a:pt x="424830" y="86106"/>
                </a:lnTo>
                <a:lnTo>
                  <a:pt x="436499" y="86106"/>
                </a:lnTo>
                <a:lnTo>
                  <a:pt x="1430020" y="86106"/>
                </a:lnTo>
                <a:lnTo>
                  <a:pt x="1446784" y="85798"/>
                </a:lnTo>
                <a:lnTo>
                  <a:pt x="1463548" y="84883"/>
                </a:lnTo>
                <a:lnTo>
                  <a:pt x="1480312" y="83373"/>
                </a:lnTo>
                <a:lnTo>
                  <a:pt x="1497076" y="81280"/>
                </a:lnTo>
                <a:lnTo>
                  <a:pt x="1514361" y="79186"/>
                </a:lnTo>
                <a:lnTo>
                  <a:pt x="1532874" y="77676"/>
                </a:lnTo>
                <a:lnTo>
                  <a:pt x="1552600" y="76761"/>
                </a:lnTo>
                <a:lnTo>
                  <a:pt x="1573530" y="76454"/>
                </a:lnTo>
                <a:lnTo>
                  <a:pt x="1593863" y="76454"/>
                </a:lnTo>
                <a:lnTo>
                  <a:pt x="1611804" y="76454"/>
                </a:lnTo>
                <a:lnTo>
                  <a:pt x="1798320" y="76454"/>
                </a:lnTo>
                <a:lnTo>
                  <a:pt x="1803697" y="76166"/>
                </a:lnTo>
                <a:lnTo>
                  <a:pt x="1810289" y="75295"/>
                </a:lnTo>
                <a:lnTo>
                  <a:pt x="1818072" y="73828"/>
                </a:lnTo>
                <a:lnTo>
                  <a:pt x="1827022" y="71755"/>
                </a:lnTo>
                <a:lnTo>
                  <a:pt x="1836261" y="69661"/>
                </a:lnTo>
                <a:lnTo>
                  <a:pt x="1844929" y="68151"/>
                </a:lnTo>
                <a:lnTo>
                  <a:pt x="1853025" y="67236"/>
                </a:lnTo>
                <a:lnTo>
                  <a:pt x="1860550" y="66929"/>
                </a:lnTo>
                <a:lnTo>
                  <a:pt x="1868001" y="66639"/>
                </a:lnTo>
                <a:lnTo>
                  <a:pt x="1876059" y="65754"/>
                </a:lnTo>
                <a:lnTo>
                  <a:pt x="1884713" y="64250"/>
                </a:lnTo>
                <a:lnTo>
                  <a:pt x="1893951" y="62103"/>
                </a:lnTo>
                <a:lnTo>
                  <a:pt x="1903549" y="60029"/>
                </a:lnTo>
                <a:lnTo>
                  <a:pt x="1913112" y="58562"/>
                </a:lnTo>
                <a:lnTo>
                  <a:pt x="1922651" y="57691"/>
                </a:lnTo>
                <a:lnTo>
                  <a:pt x="1932177" y="57404"/>
                </a:lnTo>
                <a:lnTo>
                  <a:pt x="1942681" y="57096"/>
                </a:lnTo>
                <a:lnTo>
                  <a:pt x="1954958" y="56181"/>
                </a:lnTo>
                <a:lnTo>
                  <a:pt x="1969021" y="54671"/>
                </a:lnTo>
                <a:lnTo>
                  <a:pt x="1984883" y="52578"/>
                </a:lnTo>
                <a:lnTo>
                  <a:pt x="2000380" y="50484"/>
                </a:lnTo>
                <a:lnTo>
                  <a:pt x="2013521" y="48974"/>
                </a:lnTo>
                <a:lnTo>
                  <a:pt x="2024280" y="48059"/>
                </a:lnTo>
                <a:lnTo>
                  <a:pt x="2032635" y="47752"/>
                </a:lnTo>
                <a:lnTo>
                  <a:pt x="2040755" y="47464"/>
                </a:lnTo>
                <a:lnTo>
                  <a:pt x="2050637" y="46593"/>
                </a:lnTo>
                <a:lnTo>
                  <a:pt x="2062281" y="45126"/>
                </a:lnTo>
                <a:lnTo>
                  <a:pt x="2075688" y="43053"/>
                </a:lnTo>
                <a:lnTo>
                  <a:pt x="2089761" y="40959"/>
                </a:lnTo>
                <a:lnTo>
                  <a:pt x="2103215" y="39449"/>
                </a:lnTo>
                <a:lnTo>
                  <a:pt x="2116050" y="38534"/>
                </a:lnTo>
                <a:lnTo>
                  <a:pt x="2128266" y="38227"/>
                </a:lnTo>
                <a:lnTo>
                  <a:pt x="2139957" y="38227"/>
                </a:lnTo>
                <a:lnTo>
                  <a:pt x="2151030" y="38227"/>
                </a:lnTo>
                <a:lnTo>
                  <a:pt x="2381758" y="38227"/>
                </a:lnTo>
                <a:lnTo>
                  <a:pt x="2395525" y="37631"/>
                </a:lnTo>
                <a:lnTo>
                  <a:pt x="2408078" y="35845"/>
                </a:lnTo>
                <a:lnTo>
                  <a:pt x="2419441" y="32869"/>
                </a:lnTo>
                <a:lnTo>
                  <a:pt x="2429637" y="28702"/>
                </a:lnTo>
                <a:lnTo>
                  <a:pt x="2438874" y="24227"/>
                </a:lnTo>
                <a:lnTo>
                  <a:pt x="2447528" y="20335"/>
                </a:lnTo>
                <a:lnTo>
                  <a:pt x="2455586" y="17039"/>
                </a:lnTo>
                <a:lnTo>
                  <a:pt x="2463038" y="14351"/>
                </a:lnTo>
                <a:lnTo>
                  <a:pt x="2469967" y="11969"/>
                </a:lnTo>
                <a:lnTo>
                  <a:pt x="2476277" y="9588"/>
                </a:lnTo>
                <a:lnTo>
                  <a:pt x="2481968" y="7207"/>
                </a:lnTo>
                <a:lnTo>
                  <a:pt x="2487041" y="4826"/>
                </a:lnTo>
                <a:lnTo>
                  <a:pt x="2492400" y="2678"/>
                </a:lnTo>
                <a:lnTo>
                  <a:pt x="2498963" y="1174"/>
                </a:lnTo>
                <a:lnTo>
                  <a:pt x="2506739" y="289"/>
                </a:lnTo>
                <a:lnTo>
                  <a:pt x="2515743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367657" y="5946394"/>
            <a:ext cx="4438650" cy="363855"/>
          </a:xfrm>
          <a:custGeom>
            <a:avLst/>
            <a:gdLst/>
            <a:ahLst/>
            <a:cxnLst/>
            <a:rect l="l" t="t" r="r" b="b"/>
            <a:pathLst>
              <a:path w="4438650" h="363854">
                <a:moveTo>
                  <a:pt x="0" y="258190"/>
                </a:moveTo>
                <a:lnTo>
                  <a:pt x="0" y="258190"/>
                </a:lnTo>
                <a:lnTo>
                  <a:pt x="186435" y="258190"/>
                </a:lnTo>
                <a:lnTo>
                  <a:pt x="210702" y="258498"/>
                </a:lnTo>
                <a:lnTo>
                  <a:pt x="230743" y="259413"/>
                </a:lnTo>
                <a:lnTo>
                  <a:pt x="246568" y="260923"/>
                </a:lnTo>
                <a:lnTo>
                  <a:pt x="258190" y="263016"/>
                </a:lnTo>
                <a:lnTo>
                  <a:pt x="270787" y="265090"/>
                </a:lnTo>
                <a:lnTo>
                  <a:pt x="289337" y="266557"/>
                </a:lnTo>
                <a:lnTo>
                  <a:pt x="313840" y="267428"/>
                </a:lnTo>
                <a:lnTo>
                  <a:pt x="344296" y="267715"/>
                </a:lnTo>
                <a:lnTo>
                  <a:pt x="376304" y="267715"/>
                </a:lnTo>
                <a:lnTo>
                  <a:pt x="405288" y="267715"/>
                </a:lnTo>
                <a:lnTo>
                  <a:pt x="616965" y="267715"/>
                </a:lnTo>
                <a:lnTo>
                  <a:pt x="633964" y="268313"/>
                </a:lnTo>
                <a:lnTo>
                  <a:pt x="651605" y="270113"/>
                </a:lnTo>
                <a:lnTo>
                  <a:pt x="669865" y="273127"/>
                </a:lnTo>
                <a:lnTo>
                  <a:pt x="688720" y="277367"/>
                </a:lnTo>
                <a:lnTo>
                  <a:pt x="707792" y="281842"/>
                </a:lnTo>
                <a:lnTo>
                  <a:pt x="726900" y="285734"/>
                </a:lnTo>
                <a:lnTo>
                  <a:pt x="746031" y="289030"/>
                </a:lnTo>
                <a:lnTo>
                  <a:pt x="765175" y="291718"/>
                </a:lnTo>
                <a:lnTo>
                  <a:pt x="784320" y="294100"/>
                </a:lnTo>
                <a:lnTo>
                  <a:pt x="803465" y="296481"/>
                </a:lnTo>
                <a:lnTo>
                  <a:pt x="822610" y="298862"/>
                </a:lnTo>
                <a:lnTo>
                  <a:pt x="841755" y="301243"/>
                </a:lnTo>
                <a:lnTo>
                  <a:pt x="860827" y="303337"/>
                </a:lnTo>
                <a:lnTo>
                  <a:pt x="879935" y="304847"/>
                </a:lnTo>
                <a:lnTo>
                  <a:pt x="899066" y="305762"/>
                </a:lnTo>
                <a:lnTo>
                  <a:pt x="918209" y="306069"/>
                </a:lnTo>
                <a:lnTo>
                  <a:pt x="936162" y="306069"/>
                </a:lnTo>
                <a:lnTo>
                  <a:pt x="951722" y="306069"/>
                </a:lnTo>
                <a:lnTo>
                  <a:pt x="2200020" y="306069"/>
                </a:lnTo>
                <a:lnTo>
                  <a:pt x="2209547" y="306357"/>
                </a:lnTo>
                <a:lnTo>
                  <a:pt x="2219086" y="307228"/>
                </a:lnTo>
                <a:lnTo>
                  <a:pt x="2228649" y="308695"/>
                </a:lnTo>
                <a:lnTo>
                  <a:pt x="2238247" y="310768"/>
                </a:lnTo>
                <a:lnTo>
                  <a:pt x="2247197" y="312862"/>
                </a:lnTo>
                <a:lnTo>
                  <a:pt x="2254980" y="314372"/>
                </a:lnTo>
                <a:lnTo>
                  <a:pt x="2261572" y="315287"/>
                </a:lnTo>
                <a:lnTo>
                  <a:pt x="2266949" y="315594"/>
                </a:lnTo>
                <a:lnTo>
                  <a:pt x="2273299" y="315594"/>
                </a:lnTo>
                <a:lnTo>
                  <a:pt x="2279649" y="315594"/>
                </a:lnTo>
                <a:lnTo>
                  <a:pt x="3118231" y="315594"/>
                </a:lnTo>
                <a:lnTo>
                  <a:pt x="3140946" y="315287"/>
                </a:lnTo>
                <a:lnTo>
                  <a:pt x="3161268" y="314372"/>
                </a:lnTo>
                <a:lnTo>
                  <a:pt x="3179185" y="312862"/>
                </a:lnTo>
                <a:lnTo>
                  <a:pt x="3194685" y="310768"/>
                </a:lnTo>
                <a:lnTo>
                  <a:pt x="3208760" y="308695"/>
                </a:lnTo>
                <a:lnTo>
                  <a:pt x="3222228" y="307228"/>
                </a:lnTo>
                <a:lnTo>
                  <a:pt x="3235100" y="306357"/>
                </a:lnTo>
                <a:lnTo>
                  <a:pt x="3247390" y="306069"/>
                </a:lnTo>
                <a:lnTo>
                  <a:pt x="3260508" y="306069"/>
                </a:lnTo>
                <a:lnTo>
                  <a:pt x="3276044" y="306069"/>
                </a:lnTo>
                <a:lnTo>
                  <a:pt x="3293985" y="306069"/>
                </a:lnTo>
                <a:lnTo>
                  <a:pt x="3314318" y="306069"/>
                </a:lnTo>
                <a:lnTo>
                  <a:pt x="3334942" y="305762"/>
                </a:lnTo>
                <a:lnTo>
                  <a:pt x="3353768" y="304847"/>
                </a:lnTo>
                <a:lnTo>
                  <a:pt x="3370808" y="303337"/>
                </a:lnTo>
                <a:lnTo>
                  <a:pt x="3386073" y="301243"/>
                </a:lnTo>
                <a:lnTo>
                  <a:pt x="3400978" y="299150"/>
                </a:lnTo>
                <a:lnTo>
                  <a:pt x="3417109" y="297640"/>
                </a:lnTo>
                <a:lnTo>
                  <a:pt x="3434455" y="296725"/>
                </a:lnTo>
                <a:lnTo>
                  <a:pt x="3453002" y="296417"/>
                </a:lnTo>
                <a:lnTo>
                  <a:pt x="3470937" y="296417"/>
                </a:lnTo>
                <a:lnTo>
                  <a:pt x="3486467" y="296417"/>
                </a:lnTo>
                <a:lnTo>
                  <a:pt x="3974338" y="296417"/>
                </a:lnTo>
                <a:lnTo>
                  <a:pt x="3996152" y="296130"/>
                </a:lnTo>
                <a:lnTo>
                  <a:pt x="4041542" y="293792"/>
                </a:lnTo>
                <a:lnTo>
                  <a:pt x="4088455" y="289317"/>
                </a:lnTo>
                <a:lnTo>
                  <a:pt x="4131508" y="284468"/>
                </a:lnTo>
                <a:lnTo>
                  <a:pt x="4151248" y="282066"/>
                </a:lnTo>
                <a:lnTo>
                  <a:pt x="4168588" y="279993"/>
                </a:lnTo>
                <a:lnTo>
                  <a:pt x="4182332" y="278526"/>
                </a:lnTo>
                <a:lnTo>
                  <a:pt x="4192504" y="277655"/>
                </a:lnTo>
                <a:lnTo>
                  <a:pt x="4199127" y="277367"/>
                </a:lnTo>
              </a:path>
              <a:path w="4438650" h="363854">
                <a:moveTo>
                  <a:pt x="3806951" y="306069"/>
                </a:moveTo>
                <a:lnTo>
                  <a:pt x="3813301" y="306069"/>
                </a:lnTo>
                <a:lnTo>
                  <a:pt x="3821302" y="304418"/>
                </a:lnTo>
                <a:lnTo>
                  <a:pt x="3857724" y="288688"/>
                </a:lnTo>
                <a:lnTo>
                  <a:pt x="3881631" y="274615"/>
                </a:lnTo>
                <a:lnTo>
                  <a:pt x="3895375" y="266557"/>
                </a:lnTo>
                <a:lnTo>
                  <a:pt x="3943510" y="239065"/>
                </a:lnTo>
                <a:lnTo>
                  <a:pt x="3979376" y="219912"/>
                </a:lnTo>
                <a:lnTo>
                  <a:pt x="4018244" y="200479"/>
                </a:lnTo>
                <a:lnTo>
                  <a:pt x="4063686" y="179004"/>
                </a:lnTo>
                <a:lnTo>
                  <a:pt x="4118125" y="154193"/>
                </a:lnTo>
                <a:lnTo>
                  <a:pt x="4192230" y="120665"/>
                </a:lnTo>
                <a:lnTo>
                  <a:pt x="4237354" y="100329"/>
                </a:lnTo>
                <a:lnTo>
                  <a:pt x="4281594" y="80609"/>
                </a:lnTo>
                <a:lnTo>
                  <a:pt x="4318666" y="64484"/>
                </a:lnTo>
                <a:lnTo>
                  <a:pt x="4371213" y="42925"/>
                </a:lnTo>
                <a:lnTo>
                  <a:pt x="4388860" y="36069"/>
                </a:lnTo>
                <a:lnTo>
                  <a:pt x="4403518" y="29797"/>
                </a:lnTo>
                <a:lnTo>
                  <a:pt x="4415200" y="24120"/>
                </a:lnTo>
                <a:lnTo>
                  <a:pt x="4423918" y="19049"/>
                </a:lnTo>
                <a:lnTo>
                  <a:pt x="4433443" y="12699"/>
                </a:lnTo>
                <a:lnTo>
                  <a:pt x="4438269" y="7873"/>
                </a:lnTo>
                <a:lnTo>
                  <a:pt x="4438269" y="4698"/>
                </a:lnTo>
                <a:lnTo>
                  <a:pt x="4438269" y="1523"/>
                </a:lnTo>
                <a:lnTo>
                  <a:pt x="4434967" y="0"/>
                </a:lnTo>
                <a:lnTo>
                  <a:pt x="4428617" y="0"/>
                </a:lnTo>
              </a:path>
              <a:path w="4438650" h="363854">
                <a:moveTo>
                  <a:pt x="3883406" y="66928"/>
                </a:moveTo>
                <a:lnTo>
                  <a:pt x="3889756" y="66928"/>
                </a:lnTo>
                <a:lnTo>
                  <a:pt x="3894582" y="68452"/>
                </a:lnTo>
                <a:lnTo>
                  <a:pt x="3897757" y="71627"/>
                </a:lnTo>
                <a:lnTo>
                  <a:pt x="3902829" y="76104"/>
                </a:lnTo>
                <a:lnTo>
                  <a:pt x="3950335" y="114680"/>
                </a:lnTo>
                <a:lnTo>
                  <a:pt x="3998214" y="152971"/>
                </a:lnTo>
                <a:lnTo>
                  <a:pt x="4022165" y="172116"/>
                </a:lnTo>
                <a:lnTo>
                  <a:pt x="4071191" y="210405"/>
                </a:lnTo>
                <a:lnTo>
                  <a:pt x="4128531" y="248644"/>
                </a:lnTo>
                <a:lnTo>
                  <a:pt x="4190398" y="284765"/>
                </a:lnTo>
                <a:lnTo>
                  <a:pt x="4212224" y="297624"/>
                </a:lnTo>
                <a:lnTo>
                  <a:pt x="4226264" y="306292"/>
                </a:lnTo>
                <a:lnTo>
                  <a:pt x="4232528" y="310768"/>
                </a:lnTo>
                <a:lnTo>
                  <a:pt x="4236718" y="314055"/>
                </a:lnTo>
                <a:lnTo>
                  <a:pt x="4244514" y="319150"/>
                </a:lnTo>
                <a:lnTo>
                  <a:pt x="4286670" y="343703"/>
                </a:lnTo>
                <a:lnTo>
                  <a:pt x="4312959" y="358042"/>
                </a:lnTo>
                <a:lnTo>
                  <a:pt x="4323461" y="363473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523610" y="6788022"/>
            <a:ext cx="19685" cy="0"/>
          </a:xfrm>
          <a:custGeom>
            <a:avLst/>
            <a:gdLst/>
            <a:ahLst/>
            <a:cxnLst/>
            <a:rect l="l" t="t" r="r" b="b"/>
            <a:pathLst>
              <a:path w="19685" h="0">
                <a:moveTo>
                  <a:pt x="19176" y="0"/>
                </a:moveTo>
                <a:lnTo>
                  <a:pt x="12700" y="0"/>
                </a:lnTo>
                <a:lnTo>
                  <a:pt x="6350" y="0"/>
                </a:lnTo>
                <a:lnTo>
                  <a:pt x="0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49542" y="6859863"/>
            <a:ext cx="38354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280">
                <a:latin typeface="Arial MT"/>
                <a:cs typeface="Arial MT"/>
              </a:rPr>
              <a:t>-</a:t>
            </a:r>
            <a:r>
              <a:rPr dirty="0" sz="1000" spc="204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</a:t>
            </a:r>
            <a:r>
              <a:rPr dirty="0" sz="1000" spc="240">
                <a:latin typeface="Arial MT"/>
                <a:cs typeface="Arial MT"/>
              </a:rPr>
              <a:t> </a:t>
            </a:r>
            <a:r>
              <a:rPr dirty="0" sz="1000" spc="229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제2절.</a:t>
            </a:r>
            <a:r>
              <a:rPr dirty="0" spc="305"/>
              <a:t> </a:t>
            </a:r>
            <a:r>
              <a:rPr dirty="0"/>
              <a:t>보험의</a:t>
            </a:r>
            <a:r>
              <a:rPr dirty="0" spc="310"/>
              <a:t> </a:t>
            </a:r>
            <a:r>
              <a:rPr dirty="0"/>
              <a:t>수요</a:t>
            </a:r>
            <a:r>
              <a:rPr dirty="0" spc="310"/>
              <a:t> </a:t>
            </a:r>
            <a:r>
              <a:rPr dirty="0" spc="-25"/>
              <a:t>측면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66636" y="2020737"/>
            <a:ext cx="6750050" cy="2361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2585" indent="-34988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62585" algn="l"/>
              </a:tabLst>
            </a:pPr>
            <a:r>
              <a:rPr dirty="0" sz="2000" b="1">
                <a:latin typeface="Malgun Gothic"/>
                <a:cs typeface="Malgun Gothic"/>
              </a:rPr>
              <a:t>개별적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수요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Malgun Gothic"/>
              <a:buAutoNum type="arabicPeriod"/>
            </a:pPr>
            <a:endParaRPr sz="2000">
              <a:latin typeface="Malgun Gothic"/>
              <a:cs typeface="Malgun Gothic"/>
            </a:endParaRPr>
          </a:p>
          <a:p>
            <a:pPr lvl="1" marL="266700" indent="-254000">
              <a:lnSpc>
                <a:spcPct val="100000"/>
              </a:lnSpc>
              <a:buFont typeface="Cambria"/>
              <a:buChar char="○"/>
              <a:tabLst>
                <a:tab pos="266700" algn="l"/>
              </a:tabLst>
            </a:pPr>
            <a:r>
              <a:rPr dirty="0" sz="2000" b="1">
                <a:latin typeface="Malgun Gothic"/>
                <a:cs typeface="Malgun Gothic"/>
              </a:rPr>
              <a:t>위험회피적인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개인에게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불확실성은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개인의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효용을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감소</a:t>
            </a:r>
            <a:endParaRPr sz="2000">
              <a:latin typeface="Malgun Gothic"/>
              <a:cs typeface="Malgun Gothic"/>
            </a:endParaRPr>
          </a:p>
          <a:p>
            <a:pPr marL="138430">
              <a:lnSpc>
                <a:spcPct val="100000"/>
              </a:lnSpc>
              <a:spcBef>
                <a:spcPts val="805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확실성</a:t>
            </a:r>
            <a:r>
              <a:rPr dirty="0" sz="2000" b="1">
                <a:latin typeface="Malgun Gothic"/>
                <a:cs typeface="Malgun Gothic"/>
              </a:rPr>
              <a:t>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효용을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증가시키는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일종의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상품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lvl="1" marL="266700" indent="-254000">
              <a:lnSpc>
                <a:spcPct val="100000"/>
              </a:lnSpc>
              <a:buClr>
                <a:srgbClr val="000000"/>
              </a:buClr>
              <a:buFont typeface="Cambria"/>
              <a:buChar char="○"/>
              <a:tabLst>
                <a:tab pos="266700" algn="l"/>
              </a:tabLst>
            </a:pP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소득의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한계효용이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체감하는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위험회피적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성향의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개인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67590" y="4447145"/>
            <a:ext cx="417957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나쁜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소득과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효용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000" spc="530">
                <a:latin typeface="Microsoft Sans Serif"/>
                <a:cs typeface="Microsoft Sans Serif"/>
              </a:rPr>
              <a:t></a:t>
            </a:r>
            <a:r>
              <a:rPr dirty="0" baseline="-20576" sz="2025" spc="794">
                <a:latin typeface="Microsoft Sans Serif"/>
                <a:cs typeface="Microsoft Sans Serif"/>
              </a:rPr>
              <a:t></a:t>
            </a:r>
            <a:r>
              <a:rPr dirty="0" sz="2000" spc="530" b="1">
                <a:latin typeface="Malgun Gothic"/>
                <a:cs typeface="Malgun Gothic"/>
              </a:rPr>
              <a:t>,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100" spc="-1500" i="1">
                <a:latin typeface="Times New Roman"/>
                <a:cs typeface="Times New Roman"/>
              </a:rPr>
              <a:t></a:t>
            </a:r>
            <a:r>
              <a:rPr dirty="0" baseline="2777" sz="3000" spc="-2250">
                <a:latin typeface="Microsoft Sans Serif"/>
                <a:cs typeface="Microsoft Sans Serif"/>
              </a:rPr>
              <a:t></a:t>
            </a:r>
            <a:r>
              <a:rPr dirty="0" sz="2000" spc="-1500">
                <a:latin typeface="Microsoft Sans Serif"/>
                <a:cs typeface="Microsoft Sans Serif"/>
              </a:rPr>
              <a:t></a:t>
            </a:r>
            <a:r>
              <a:rPr dirty="0" baseline="-20576" sz="2025" spc="-2250">
                <a:latin typeface="Microsoft Sans Serif"/>
                <a:cs typeface="Microsoft Sans Serif"/>
              </a:rPr>
              <a:t></a:t>
            </a:r>
            <a:r>
              <a:rPr dirty="0" baseline="2777" sz="3000" spc="-2250">
                <a:latin typeface="Microsoft Sans Serif"/>
                <a:cs typeface="Microsoft Sans Serif"/>
              </a:rPr>
              <a:t></a:t>
            </a:r>
            <a:endParaRPr baseline="2777" sz="300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67590" y="4907144"/>
            <a:ext cx="417957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좋은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해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소득과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효용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</a:t>
            </a:r>
            <a:r>
              <a:rPr dirty="0" baseline="-20576" sz="2025">
                <a:latin typeface="Microsoft Sans Serif"/>
                <a:cs typeface="Microsoft Sans Serif"/>
              </a:rPr>
              <a:t></a:t>
            </a:r>
            <a:r>
              <a:rPr dirty="0" sz="2000" b="1">
                <a:latin typeface="Malgun Gothic"/>
                <a:cs typeface="Malgun Gothic"/>
              </a:rPr>
              <a:t>,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100" spc="-915" i="1">
                <a:latin typeface="Times New Roman"/>
                <a:cs typeface="Times New Roman"/>
              </a:rPr>
              <a:t></a:t>
            </a:r>
            <a:r>
              <a:rPr dirty="0" baseline="2777" sz="3000" spc="-1372">
                <a:latin typeface="Microsoft Sans Serif"/>
                <a:cs typeface="Microsoft Sans Serif"/>
              </a:rPr>
              <a:t></a:t>
            </a:r>
            <a:r>
              <a:rPr dirty="0" sz="2000" spc="-915">
                <a:latin typeface="Microsoft Sans Serif"/>
                <a:cs typeface="Microsoft Sans Serif"/>
              </a:rPr>
              <a:t></a:t>
            </a:r>
            <a:r>
              <a:rPr dirty="0" baseline="-20576" sz="2025" spc="-1372">
                <a:latin typeface="Microsoft Sans Serif"/>
                <a:cs typeface="Microsoft Sans Serif"/>
              </a:rPr>
              <a:t></a:t>
            </a:r>
            <a:r>
              <a:rPr dirty="0" baseline="-20576" sz="2025" spc="405">
                <a:latin typeface="Microsoft Sans Serif"/>
                <a:cs typeface="Microsoft Sans Serif"/>
              </a:rPr>
              <a:t> </a:t>
            </a:r>
            <a:r>
              <a:rPr dirty="0" baseline="2777" sz="3000" spc="405">
                <a:latin typeface="Microsoft Sans Serif"/>
                <a:cs typeface="Microsoft Sans Serif"/>
              </a:rPr>
              <a:t></a:t>
            </a:r>
            <a:endParaRPr baseline="2777" sz="30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67590" y="5382383"/>
            <a:ext cx="54756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사고가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발생하거나,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하지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않을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확률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345" b="1">
                <a:latin typeface="Malgun Gothic"/>
                <a:cs typeface="Malgun Gothic"/>
              </a:rPr>
              <a:t> </a:t>
            </a:r>
            <a:r>
              <a:rPr dirty="0" sz="2000" spc="450">
                <a:latin typeface="Microsoft Sans Serif"/>
                <a:cs typeface="Microsoft Sans Serif"/>
              </a:rPr>
              <a:t></a:t>
            </a:r>
            <a:r>
              <a:rPr dirty="0" baseline="-20576" sz="2025" spc="675">
                <a:latin typeface="Microsoft Sans Serif"/>
                <a:cs typeface="Microsoft Sans Serif"/>
              </a:rPr>
              <a:t></a:t>
            </a:r>
            <a:r>
              <a:rPr dirty="0" sz="2000" spc="450" b="1">
                <a:latin typeface="Malgun Gothic"/>
                <a:cs typeface="Malgun Gothic"/>
              </a:rPr>
              <a:t>,</a:t>
            </a:r>
            <a:r>
              <a:rPr dirty="0" sz="2000" spc="450" b="1">
                <a:latin typeface="Malgun Gothic"/>
                <a:cs typeface="Malgun Gothic"/>
              </a:rPr>
              <a:t> </a:t>
            </a:r>
            <a:r>
              <a:rPr dirty="0" sz="2000" spc="-1515">
                <a:latin typeface="Microsoft Sans Serif"/>
                <a:cs typeface="Microsoft Sans Serif"/>
              </a:rPr>
              <a:t></a:t>
            </a:r>
            <a:r>
              <a:rPr dirty="0" baseline="-20576" sz="2025" spc="-2272">
                <a:latin typeface="Microsoft Sans Serif"/>
                <a:cs typeface="Microsoft Sans Serif"/>
              </a:rPr>
              <a:t></a:t>
            </a:r>
            <a:endParaRPr baseline="-20576" sz="2025">
              <a:latin typeface="Microsoft Sans Serif"/>
              <a:cs typeface="Microsoft Sans Serif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6316" y="4466971"/>
            <a:ext cx="3054477" cy="244221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836118" y="4595069"/>
            <a:ext cx="2444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solidFill>
                  <a:srgbClr val="0000FF"/>
                </a:solidFill>
                <a:latin typeface="Arial MT"/>
                <a:cs typeface="Arial MT"/>
              </a:rPr>
              <a:t>u(y)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864804" y="7062888"/>
            <a:ext cx="110489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0000FF"/>
                </a:solidFill>
                <a:latin typeface="Arial MT"/>
                <a:cs typeface="Arial MT"/>
              </a:rPr>
              <a:t>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936576" y="6967235"/>
            <a:ext cx="11849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Ybar</a:t>
            </a:r>
            <a:r>
              <a:rPr dirty="0" sz="1000" spc="-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=</a:t>
            </a:r>
            <a:r>
              <a:rPr dirty="0" sz="1000" spc="-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p1y1 +</a:t>
            </a:r>
            <a:r>
              <a:rPr dirty="0" sz="1000" spc="-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 spc="-45">
                <a:solidFill>
                  <a:srgbClr val="0000FF"/>
                </a:solidFill>
                <a:latin typeface="Arial MT"/>
                <a:cs typeface="Arial MT"/>
              </a:rPr>
              <a:t>p</a:t>
            </a:r>
            <a:r>
              <a:rPr dirty="0" baseline="8333" sz="1500" spc="-67">
                <a:solidFill>
                  <a:srgbClr val="0000FF"/>
                </a:solidFill>
                <a:latin typeface="Arial MT"/>
                <a:cs typeface="Arial MT"/>
              </a:rPr>
              <a:t>y</a:t>
            </a:r>
            <a:r>
              <a:rPr dirty="0" sz="1000" spc="-45">
                <a:solidFill>
                  <a:srgbClr val="0000FF"/>
                </a:solidFill>
                <a:latin typeface="Arial MT"/>
                <a:cs typeface="Arial MT"/>
              </a:rPr>
              <a:t>2y2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388259" y="6948105"/>
            <a:ext cx="1600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0000FF"/>
                </a:solidFill>
                <a:latin typeface="Arial MT"/>
                <a:cs typeface="Arial MT"/>
              </a:rPr>
              <a:t>y1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675117" y="6823757"/>
            <a:ext cx="1384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0000FF"/>
                </a:solidFill>
                <a:latin typeface="Arial MT"/>
                <a:cs typeface="Arial MT"/>
              </a:rPr>
              <a:t>y*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384254" y="5130719"/>
            <a:ext cx="4279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0000FF"/>
                </a:solidFill>
                <a:latin typeface="Arial MT"/>
                <a:cs typeface="Arial MT"/>
              </a:rPr>
              <a:t>u(ybar)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028536" y="1075066"/>
            <a:ext cx="7750175" cy="460502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304800" indent="-254000">
              <a:lnSpc>
                <a:spcPct val="100000"/>
              </a:lnSpc>
              <a:spcBef>
                <a:spcPts val="1155"/>
              </a:spcBef>
              <a:buFont typeface="Cambria"/>
              <a:buChar char="○"/>
              <a:tabLst>
                <a:tab pos="304800" algn="l"/>
              </a:tabLst>
            </a:pPr>
            <a:r>
              <a:rPr dirty="0" sz="2000" b="1">
                <a:latin typeface="Malgun Gothic"/>
                <a:cs typeface="Malgun Gothic"/>
              </a:rPr>
              <a:t>개인의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기대소득과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기대효용</a:t>
            </a:r>
            <a:endParaRPr sz="2000">
              <a:latin typeface="Malgun Gothic"/>
              <a:cs typeface="Malgun Gothic"/>
            </a:endParaRPr>
          </a:p>
          <a:p>
            <a:pPr marL="176530">
              <a:lnSpc>
                <a:spcPct val="100000"/>
              </a:lnSpc>
              <a:spcBef>
                <a:spcPts val="1120"/>
              </a:spcBef>
              <a:tabLst>
                <a:tab pos="182372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기대소득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85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100" i="1">
                <a:latin typeface="Times New Roman"/>
                <a:cs typeface="Times New Roman"/>
              </a:rPr>
              <a:t></a:t>
            </a:r>
            <a:r>
              <a:rPr dirty="0" baseline="2777" sz="3000">
                <a:latin typeface="Microsoft Sans Serif"/>
                <a:cs typeface="Microsoft Sans Serif"/>
              </a:rPr>
              <a:t></a:t>
            </a:r>
            <a:r>
              <a:rPr dirty="0" sz="2000">
                <a:latin typeface="Microsoft Sans Serif"/>
                <a:cs typeface="Microsoft Sans Serif"/>
              </a:rPr>
              <a:t></a:t>
            </a:r>
            <a:r>
              <a:rPr dirty="0" baseline="2777" sz="3000">
                <a:latin typeface="Microsoft Sans Serif"/>
                <a:cs typeface="Microsoft Sans Serif"/>
              </a:rPr>
              <a:t></a:t>
            </a:r>
            <a:r>
              <a:rPr dirty="0" baseline="2777" sz="3000" spc="-172">
                <a:latin typeface="Microsoft Sans Serif"/>
                <a:cs typeface="Microsoft Sans Serif"/>
              </a:rPr>
              <a:t> </a:t>
            </a: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 spc="-44">
                <a:latin typeface="Microsoft Sans Serif"/>
                <a:cs typeface="Microsoft Sans Serif"/>
              </a:rPr>
              <a:t> </a:t>
            </a:r>
            <a:r>
              <a:rPr dirty="0" baseline="13888" sz="3000" spc="-1237">
                <a:latin typeface="Microsoft Sans Serif"/>
                <a:cs typeface="Microsoft Sans Serif"/>
              </a:rPr>
              <a:t></a:t>
            </a:r>
            <a:r>
              <a:rPr dirty="0" sz="2000" spc="-825">
                <a:latin typeface="Microsoft Sans Serif"/>
                <a:cs typeface="Microsoft Sans Serif"/>
              </a:rPr>
              <a:t></a:t>
            </a:r>
            <a:r>
              <a:rPr dirty="0" baseline="2777" sz="3000" spc="-1237">
                <a:latin typeface="Microsoft Sans Serif"/>
                <a:cs typeface="Microsoft Sans Serif"/>
              </a:rPr>
              <a:t></a:t>
            </a:r>
            <a:r>
              <a:rPr dirty="0" baseline="2777" sz="3000" spc="-202">
                <a:latin typeface="Microsoft Sans Serif"/>
                <a:cs typeface="Microsoft Sans Serif"/>
              </a:rPr>
              <a:t> </a:t>
            </a:r>
            <a:r>
              <a:rPr dirty="0" sz="2000" spc="700">
                <a:latin typeface="Microsoft Sans Serif"/>
                <a:cs typeface="Microsoft Sans Serif"/>
              </a:rPr>
              <a:t></a:t>
            </a:r>
            <a:r>
              <a:rPr dirty="0" baseline="-20576" sz="2025" spc="1050">
                <a:latin typeface="Microsoft Sans Serif"/>
                <a:cs typeface="Microsoft Sans Serif"/>
              </a:rPr>
              <a:t></a:t>
            </a:r>
            <a:r>
              <a:rPr dirty="0" sz="2000" spc="700">
                <a:latin typeface="Microsoft Sans Serif"/>
                <a:cs typeface="Microsoft Sans Serif"/>
              </a:rPr>
              <a:t></a:t>
            </a:r>
            <a:r>
              <a:rPr dirty="0" baseline="-20576" sz="2025" spc="1050">
                <a:latin typeface="Microsoft Sans Serif"/>
                <a:cs typeface="Microsoft Sans Serif"/>
              </a:rPr>
              <a:t></a:t>
            </a:r>
            <a:r>
              <a:rPr dirty="0" baseline="-20576" sz="2025" spc="89">
                <a:latin typeface="Microsoft Sans Serif"/>
                <a:cs typeface="Microsoft Sans Serif"/>
              </a:rPr>
              <a:t> </a:t>
            </a:r>
            <a:r>
              <a:rPr dirty="0" baseline="2777" sz="3000" spc="-15">
                <a:latin typeface="Microsoft Sans Serif"/>
                <a:cs typeface="Microsoft Sans Serif"/>
              </a:rPr>
              <a:t></a:t>
            </a:r>
            <a:r>
              <a:rPr dirty="0" sz="2000" spc="-10">
                <a:latin typeface="Microsoft Sans Serif"/>
                <a:cs typeface="Microsoft Sans Serif"/>
              </a:rPr>
              <a:t></a:t>
            </a:r>
            <a:r>
              <a:rPr dirty="0" baseline="-20576" sz="2025" spc="-15">
                <a:latin typeface="Microsoft Sans Serif"/>
                <a:cs typeface="Microsoft Sans Serif"/>
              </a:rPr>
              <a:t></a:t>
            </a:r>
            <a:r>
              <a:rPr dirty="0" sz="2000" spc="-10">
                <a:latin typeface="Microsoft Sans Serif"/>
                <a:cs typeface="Microsoft Sans Serif"/>
              </a:rPr>
              <a:t></a:t>
            </a:r>
            <a:r>
              <a:rPr dirty="0" baseline="-20576" sz="2025" spc="-15">
                <a:latin typeface="Microsoft Sans Serif"/>
                <a:cs typeface="Microsoft Sans Serif"/>
              </a:rPr>
              <a:t></a:t>
            </a:r>
            <a:endParaRPr baseline="-20576" sz="2025">
              <a:latin typeface="Microsoft Sans Serif"/>
              <a:cs typeface="Microsoft Sans Serif"/>
            </a:endParaRPr>
          </a:p>
          <a:p>
            <a:pPr marL="176530">
              <a:lnSpc>
                <a:spcPct val="100000"/>
              </a:lnSpc>
              <a:spcBef>
                <a:spcPts val="1510"/>
              </a:spcBef>
              <a:tabLst>
                <a:tab pos="182372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기대효용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85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100" i="1">
                <a:latin typeface="Times New Roman"/>
                <a:cs typeface="Times New Roman"/>
              </a:rPr>
              <a:t></a:t>
            </a:r>
            <a:r>
              <a:rPr dirty="0" baseline="2777" sz="3000">
                <a:latin typeface="Microsoft Sans Serif"/>
                <a:cs typeface="Microsoft Sans Serif"/>
              </a:rPr>
              <a:t></a:t>
            </a:r>
            <a:r>
              <a:rPr dirty="0" sz="2100" i="1">
                <a:latin typeface="Times New Roman"/>
                <a:cs typeface="Times New Roman"/>
              </a:rPr>
              <a:t></a:t>
            </a:r>
            <a:r>
              <a:rPr dirty="0" baseline="2777" sz="3000">
                <a:latin typeface="Microsoft Sans Serif"/>
                <a:cs typeface="Microsoft Sans Serif"/>
              </a:rPr>
              <a:t></a:t>
            </a:r>
            <a:r>
              <a:rPr dirty="0" baseline="2777" sz="3000" spc="-135">
                <a:latin typeface="Microsoft Sans Serif"/>
                <a:cs typeface="Microsoft Sans Serif"/>
              </a:rPr>
              <a:t> </a:t>
            </a: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 spc="-7">
                <a:latin typeface="Microsoft Sans Serif"/>
                <a:cs typeface="Microsoft Sans Serif"/>
              </a:rPr>
              <a:t> </a:t>
            </a:r>
            <a:r>
              <a:rPr dirty="0" sz="2100" spc="-810" i="1">
                <a:latin typeface="Times New Roman"/>
                <a:cs typeface="Times New Roman"/>
              </a:rPr>
              <a:t></a:t>
            </a:r>
            <a:r>
              <a:rPr dirty="0" baseline="19444" sz="3000" spc="-1214">
                <a:latin typeface="Microsoft Sans Serif"/>
                <a:cs typeface="Microsoft Sans Serif"/>
              </a:rPr>
              <a:t></a:t>
            </a:r>
            <a:r>
              <a:rPr dirty="0" baseline="2777" sz="3000" spc="-1214">
                <a:latin typeface="Microsoft Sans Serif"/>
                <a:cs typeface="Microsoft Sans Serif"/>
              </a:rPr>
              <a:t></a:t>
            </a:r>
            <a:r>
              <a:rPr dirty="0" baseline="2777" sz="3000" spc="-157">
                <a:latin typeface="Microsoft Sans Serif"/>
                <a:cs typeface="Microsoft Sans Serif"/>
              </a:rPr>
              <a:t> </a:t>
            </a:r>
            <a:r>
              <a:rPr dirty="0" sz="2000" spc="315">
                <a:latin typeface="Microsoft Sans Serif"/>
                <a:cs typeface="Microsoft Sans Serif"/>
              </a:rPr>
              <a:t></a:t>
            </a:r>
            <a:r>
              <a:rPr dirty="0" baseline="-20576" sz="2025" spc="472">
                <a:latin typeface="Microsoft Sans Serif"/>
                <a:cs typeface="Microsoft Sans Serif"/>
              </a:rPr>
              <a:t></a:t>
            </a:r>
            <a:r>
              <a:rPr dirty="0" sz="2100" spc="315" i="1">
                <a:latin typeface="Times New Roman"/>
                <a:cs typeface="Times New Roman"/>
              </a:rPr>
              <a:t></a:t>
            </a:r>
            <a:r>
              <a:rPr dirty="0" baseline="2777" sz="3000" spc="472">
                <a:latin typeface="Microsoft Sans Serif"/>
                <a:cs typeface="Microsoft Sans Serif"/>
              </a:rPr>
              <a:t></a:t>
            </a:r>
            <a:r>
              <a:rPr dirty="0" sz="2000" spc="315">
                <a:latin typeface="Microsoft Sans Serif"/>
                <a:cs typeface="Microsoft Sans Serif"/>
              </a:rPr>
              <a:t></a:t>
            </a:r>
            <a:r>
              <a:rPr dirty="0" baseline="-20576" sz="2025" spc="472">
                <a:latin typeface="Microsoft Sans Serif"/>
                <a:cs typeface="Microsoft Sans Serif"/>
              </a:rPr>
              <a:t></a:t>
            </a:r>
            <a:r>
              <a:rPr dirty="0" baseline="2777" sz="3000" spc="472">
                <a:latin typeface="Microsoft Sans Serif"/>
                <a:cs typeface="Microsoft Sans Serif"/>
              </a:rPr>
              <a:t></a:t>
            </a:r>
            <a:r>
              <a:rPr dirty="0" sz="2000" spc="315">
                <a:latin typeface="Microsoft Sans Serif"/>
                <a:cs typeface="Microsoft Sans Serif"/>
              </a:rPr>
              <a:t></a:t>
            </a:r>
            <a:r>
              <a:rPr dirty="0" baseline="-20576" sz="2025" spc="472">
                <a:latin typeface="Microsoft Sans Serif"/>
                <a:cs typeface="Microsoft Sans Serif"/>
              </a:rPr>
              <a:t></a:t>
            </a:r>
            <a:r>
              <a:rPr dirty="0" sz="2100" spc="315" i="1">
                <a:latin typeface="Times New Roman"/>
                <a:cs typeface="Times New Roman"/>
              </a:rPr>
              <a:t></a:t>
            </a:r>
            <a:r>
              <a:rPr dirty="0" baseline="2777" sz="3000" spc="472">
                <a:latin typeface="Microsoft Sans Serif"/>
                <a:cs typeface="Microsoft Sans Serif"/>
              </a:rPr>
              <a:t></a:t>
            </a:r>
            <a:r>
              <a:rPr dirty="0" sz="2000" spc="315">
                <a:latin typeface="Microsoft Sans Serif"/>
                <a:cs typeface="Microsoft Sans Serif"/>
              </a:rPr>
              <a:t></a:t>
            </a:r>
            <a:r>
              <a:rPr dirty="0" baseline="-20576" sz="2025" spc="472">
                <a:latin typeface="Microsoft Sans Serif"/>
                <a:cs typeface="Microsoft Sans Serif"/>
              </a:rPr>
              <a:t></a:t>
            </a:r>
            <a:r>
              <a:rPr dirty="0" baseline="-20576" sz="2025" spc="-217">
                <a:latin typeface="Microsoft Sans Serif"/>
                <a:cs typeface="Microsoft Sans Serif"/>
              </a:rPr>
              <a:t> </a:t>
            </a:r>
            <a:r>
              <a:rPr dirty="0" baseline="2777" sz="3000" spc="-907">
                <a:latin typeface="Microsoft Sans Serif"/>
                <a:cs typeface="Microsoft Sans Serif"/>
              </a:rPr>
              <a:t></a:t>
            </a:r>
            <a:endParaRPr baseline="2777" sz="3000">
              <a:latin typeface="Microsoft Sans Serif"/>
              <a:cs typeface="Microsoft Sans Serif"/>
            </a:endParaRPr>
          </a:p>
          <a:p>
            <a:pPr marL="176530">
              <a:lnSpc>
                <a:spcPct val="100000"/>
              </a:lnSpc>
              <a:spcBef>
                <a:spcPts val="1215"/>
              </a:spcBef>
              <a:tabLst>
                <a:tab pos="2442210" algn="l"/>
                <a:tab pos="3695065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25" b="1">
                <a:latin typeface="Malgun Gothic"/>
                <a:cs typeface="Malgun Gothic"/>
              </a:rPr>
              <a:t> </a:t>
            </a:r>
            <a:r>
              <a:rPr dirty="0" sz="2000" spc="65" b="1">
                <a:latin typeface="Malgun Gothic"/>
                <a:cs typeface="Malgun Gothic"/>
              </a:rPr>
              <a:t>예: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665">
                <a:latin typeface="Microsoft Sans Serif"/>
                <a:cs typeface="Microsoft Sans Serif"/>
              </a:rPr>
              <a:t></a:t>
            </a:r>
            <a:r>
              <a:rPr dirty="0" baseline="-20576" sz="2025" spc="997">
                <a:latin typeface="Microsoft Sans Serif"/>
                <a:cs typeface="Microsoft Sans Serif"/>
              </a:rPr>
              <a:t></a:t>
            </a:r>
            <a:r>
              <a:rPr dirty="0" baseline="-20576" sz="2025" spc="322">
                <a:latin typeface="Microsoft Sans Serif"/>
                <a:cs typeface="Microsoft Sans Serif"/>
              </a:rPr>
              <a:t> </a:t>
            </a: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-165">
                <a:latin typeface="Microsoft Sans Serif"/>
                <a:cs typeface="Microsoft Sans Serif"/>
              </a:rPr>
              <a:t></a:t>
            </a:r>
            <a:r>
              <a:rPr dirty="0" baseline="-20576" sz="2025" spc="-247">
                <a:latin typeface="Microsoft Sans Serif"/>
                <a:cs typeface="Microsoft Sans Serif"/>
              </a:rPr>
              <a:t></a:t>
            </a:r>
            <a:r>
              <a:rPr dirty="0" baseline="-20576" sz="2025" spc="322">
                <a:latin typeface="Microsoft Sans Serif"/>
                <a:cs typeface="Microsoft Sans Serif"/>
              </a:rPr>
              <a:t> </a:t>
            </a: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-470">
                <a:latin typeface="Microsoft Sans Serif"/>
                <a:cs typeface="Microsoft Sans Serif"/>
              </a:rPr>
              <a:t></a:t>
            </a:r>
            <a:r>
              <a:rPr dirty="0" baseline="2777" sz="3000" spc="-705">
                <a:latin typeface="Microsoft Sans Serif"/>
                <a:cs typeface="Microsoft Sans Serif"/>
              </a:rPr>
              <a:t></a:t>
            </a:r>
            <a:r>
              <a:rPr dirty="0" sz="2000" spc="-470">
                <a:latin typeface="Microsoft Sans Serif"/>
                <a:cs typeface="Microsoft Sans Serif"/>
              </a:rPr>
              <a:t></a:t>
            </a:r>
            <a:r>
              <a:rPr dirty="0" sz="2000">
                <a:latin typeface="Microsoft Sans Serif"/>
                <a:cs typeface="Microsoft Sans Serif"/>
              </a:rPr>
              <a:t>	</a:t>
            </a:r>
            <a:r>
              <a:rPr dirty="0" sz="2000" spc="135" b="1">
                <a:latin typeface="Malgun Gothic"/>
                <a:cs typeface="Malgun Gothic"/>
              </a:rPr>
              <a:t>;</a:t>
            </a:r>
            <a:r>
              <a:rPr dirty="0" sz="2000" spc="705" b="1">
                <a:latin typeface="Malgun Gothic"/>
                <a:cs typeface="Malgun Gothic"/>
              </a:rPr>
              <a:t>      </a:t>
            </a:r>
            <a:r>
              <a:rPr dirty="0" sz="2000" spc="745">
                <a:latin typeface="Microsoft Sans Serif"/>
                <a:cs typeface="Microsoft Sans Serif"/>
              </a:rPr>
              <a:t></a:t>
            </a:r>
            <a:r>
              <a:rPr dirty="0" baseline="-20576" sz="2025" spc="1117">
                <a:latin typeface="Microsoft Sans Serif"/>
                <a:cs typeface="Microsoft Sans Serif"/>
              </a:rPr>
              <a:t></a:t>
            </a:r>
            <a:r>
              <a:rPr dirty="0" baseline="-20576" sz="2025" spc="914">
                <a:latin typeface="Microsoft Sans Serif"/>
                <a:cs typeface="Microsoft Sans Serif"/>
              </a:rPr>
              <a:t>     </a:t>
            </a: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 spc="780">
                <a:latin typeface="Microsoft Sans Serif"/>
                <a:cs typeface="Microsoft Sans Serif"/>
              </a:rPr>
              <a:t>   </a:t>
            </a:r>
            <a:r>
              <a:rPr dirty="0" sz="2000" spc="595">
                <a:latin typeface="Microsoft Sans Serif"/>
                <a:cs typeface="Microsoft Sans Serif"/>
              </a:rPr>
              <a:t></a:t>
            </a:r>
            <a:r>
              <a:rPr dirty="0" sz="2000">
                <a:latin typeface="Microsoft Sans Serif"/>
                <a:cs typeface="Microsoft Sans Serif"/>
              </a:rPr>
              <a:t>	</a:t>
            </a:r>
            <a:r>
              <a:rPr dirty="0" sz="2000" spc="135" b="1">
                <a:latin typeface="Malgun Gothic"/>
                <a:cs typeface="Malgun Gothic"/>
              </a:rPr>
              <a:t>;</a:t>
            </a:r>
            <a:r>
              <a:rPr dirty="0" sz="2000" spc="204" b="1">
                <a:latin typeface="Malgun Gothic"/>
                <a:cs typeface="Malgun Gothic"/>
              </a:rPr>
              <a:t> </a:t>
            </a:r>
            <a:r>
              <a:rPr dirty="0" sz="2000" spc="-65">
                <a:latin typeface="Microsoft Sans Serif"/>
                <a:cs typeface="Microsoft Sans Serif"/>
              </a:rPr>
              <a:t></a:t>
            </a:r>
            <a:r>
              <a:rPr dirty="0" baseline="-20576" sz="2025" spc="-97">
                <a:latin typeface="Microsoft Sans Serif"/>
                <a:cs typeface="Microsoft Sans Serif"/>
              </a:rPr>
              <a:t></a:t>
            </a:r>
            <a:r>
              <a:rPr dirty="0" baseline="-20576" sz="2025" spc="277">
                <a:latin typeface="Microsoft Sans Serif"/>
                <a:cs typeface="Microsoft Sans Serif"/>
              </a:rPr>
              <a:t> </a:t>
            </a: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40">
                <a:latin typeface="Microsoft Sans Serif"/>
                <a:cs typeface="Microsoft Sans Serif"/>
              </a:rPr>
              <a:t></a:t>
            </a:r>
            <a:r>
              <a:rPr dirty="0" baseline="2777" sz="3000" spc="60">
                <a:latin typeface="Microsoft Sans Serif"/>
                <a:cs typeface="Microsoft Sans Serif"/>
              </a:rPr>
              <a:t></a:t>
            </a:r>
            <a:r>
              <a:rPr dirty="0" sz="2000" spc="40">
                <a:latin typeface="Microsoft Sans Serif"/>
                <a:cs typeface="Microsoft Sans Serif"/>
              </a:rPr>
              <a:t>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304800" indent="-254000">
              <a:lnSpc>
                <a:spcPct val="100000"/>
              </a:lnSpc>
              <a:buFont typeface="Cambria"/>
              <a:buChar char="○"/>
              <a:tabLst>
                <a:tab pos="304800" algn="l"/>
                <a:tab pos="2860675" algn="l"/>
              </a:tabLst>
            </a:pPr>
            <a:r>
              <a:rPr dirty="0" sz="2000" b="1">
                <a:latin typeface="Malgun Gothic"/>
                <a:cs typeface="Malgun Gothic"/>
              </a:rPr>
              <a:t>위험회피적인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개인이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baseline="1322" sz="3150" spc="-1537" i="1">
                <a:latin typeface="Times New Roman"/>
                <a:cs typeface="Times New Roman"/>
              </a:rPr>
              <a:t></a:t>
            </a:r>
            <a:r>
              <a:rPr dirty="0" baseline="20833" sz="3000" spc="-1537">
                <a:latin typeface="Microsoft Sans Serif"/>
                <a:cs typeface="Microsoft Sans Serif"/>
              </a:rPr>
              <a:t></a:t>
            </a:r>
            <a:r>
              <a:rPr dirty="0" baseline="20833" sz="3000" spc="-555">
                <a:latin typeface="Microsoft Sans Serif"/>
                <a:cs typeface="Microsoft Sans Serif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획득하는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방법</a:t>
            </a:r>
            <a:endParaRPr sz="2000">
              <a:latin typeface="Malgun Gothic"/>
              <a:cs typeface="Malgun Gothic"/>
            </a:endParaRPr>
          </a:p>
          <a:p>
            <a:pPr lvl="1" marL="176530" indent="358775">
              <a:lnSpc>
                <a:spcPct val="100000"/>
              </a:lnSpc>
              <a:spcBef>
                <a:spcPts val="1115"/>
              </a:spcBef>
              <a:buAutoNum type="alphaLcParenR"/>
              <a:tabLst>
                <a:tab pos="535305" algn="l"/>
                <a:tab pos="2320290" algn="l"/>
                <a:tab pos="2745105" algn="l"/>
                <a:tab pos="6405880" algn="l"/>
                <a:tab pos="6742430" algn="l"/>
              </a:tabLst>
            </a:pPr>
            <a:r>
              <a:rPr dirty="0" sz="2000" b="1">
                <a:latin typeface="Malgun Gothic"/>
                <a:cs typeface="Malgun Gothic"/>
              </a:rPr>
              <a:t>불확실한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소득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505">
                <a:latin typeface="Microsoft Sans Serif"/>
                <a:cs typeface="Microsoft Sans Serif"/>
              </a:rPr>
              <a:t></a:t>
            </a:r>
            <a:r>
              <a:rPr dirty="0" baseline="-20576" sz="2025" spc="757">
                <a:latin typeface="Microsoft Sans Serif"/>
                <a:cs typeface="Microsoft Sans Serif"/>
              </a:rPr>
              <a:t></a:t>
            </a:r>
            <a:r>
              <a:rPr dirty="0" sz="2000" spc="505" b="1">
                <a:latin typeface="Malgun Gothic"/>
                <a:cs typeface="Malgun Gothic"/>
              </a:rPr>
              <a:t>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>
                <a:latin typeface="Microsoft Sans Serif"/>
                <a:cs typeface="Microsoft Sans Serif"/>
              </a:rPr>
              <a:t></a:t>
            </a:r>
            <a:r>
              <a:rPr dirty="0" baseline="-20576" sz="2025">
                <a:latin typeface="Microsoft Sans Serif"/>
                <a:cs typeface="Microsoft Sans Serif"/>
              </a:rPr>
              <a:t></a:t>
            </a:r>
            <a:r>
              <a:rPr dirty="0" sz="2000" b="1">
                <a:latin typeface="Malgun Gothic"/>
                <a:cs typeface="Malgun Gothic"/>
              </a:rPr>
              <a:t>에서</a:t>
            </a:r>
            <a:r>
              <a:rPr dirty="0" sz="2000" spc="15" b="1">
                <a:latin typeface="Malgun Gothic"/>
                <a:cs typeface="Malgun Gothic"/>
              </a:rPr>
              <a:t> </a:t>
            </a:r>
            <a:r>
              <a:rPr dirty="0" sz="2000" spc="-1415" b="1">
                <a:latin typeface="Malgun Gothic"/>
                <a:cs typeface="Malgun Gothic"/>
              </a:rPr>
              <a:t>발생하는</a:t>
            </a:r>
            <a:r>
              <a:rPr dirty="0" sz="2000" spc="-10" b="1">
                <a:latin typeface="Malgun Gothic"/>
                <a:cs typeface="Malgun Gothic"/>
              </a:rPr>
              <a:t> 효용들로부터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baseline="1322" sz="3150" spc="-1575" i="1">
                <a:latin typeface="Times New Roman"/>
                <a:cs typeface="Times New Roman"/>
              </a:rPr>
              <a:t></a:t>
            </a:r>
            <a:r>
              <a:rPr dirty="0" baseline="20833" sz="3000" spc="-1575">
                <a:latin typeface="Microsoft Sans Serif"/>
                <a:cs typeface="Microsoft Sans Serif"/>
              </a:rPr>
              <a:t></a:t>
            </a:r>
            <a:r>
              <a:rPr dirty="0" baseline="20833" sz="3000">
                <a:latin typeface="Microsoft Sans Serif"/>
                <a:cs typeface="Microsoft Sans Serif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획득</a:t>
            </a:r>
            <a:endParaRPr sz="2000">
              <a:latin typeface="Malgun Gothic"/>
              <a:cs typeface="Malgun Gothic"/>
            </a:endParaRPr>
          </a:p>
          <a:p>
            <a:pPr marL="431165">
              <a:lnSpc>
                <a:spcPct val="100000"/>
              </a:lnSpc>
              <a:spcBef>
                <a:spcPts val="1200"/>
              </a:spcBef>
              <a:tabLst>
                <a:tab pos="1718945" algn="l"/>
              </a:tabLst>
            </a:pPr>
            <a:r>
              <a:rPr dirty="0" sz="2000" spc="155">
                <a:latin typeface="Cambria"/>
                <a:cs typeface="Cambria"/>
              </a:rPr>
              <a:t>▸</a:t>
            </a:r>
            <a:r>
              <a:rPr dirty="0" sz="2000" spc="155" b="1">
                <a:latin typeface="Malgun Gothic"/>
                <a:cs typeface="Malgun Gothic"/>
              </a:rPr>
              <a:t>이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baseline="15277" sz="3000" spc="-967">
                <a:latin typeface="Microsoft Sans Serif"/>
                <a:cs typeface="Microsoft Sans Serif"/>
              </a:rPr>
              <a:t></a:t>
            </a:r>
            <a:r>
              <a:rPr dirty="0" baseline="1388" sz="3000" spc="-967">
                <a:latin typeface="Microsoft Sans Serif"/>
                <a:cs typeface="Microsoft Sans Serif"/>
              </a:rPr>
              <a:t></a:t>
            </a:r>
            <a:r>
              <a:rPr dirty="0" sz="2000" spc="-645" b="1">
                <a:latin typeface="Malgun Gothic"/>
                <a:cs typeface="Malgun Gothic"/>
              </a:rPr>
              <a:t>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확률의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법칙에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따른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기댓값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3185">
                <a:latin typeface="Cambria"/>
                <a:cs typeface="Cambria"/>
              </a:rPr>
              <a:t>⟹</a:t>
            </a:r>
            <a:r>
              <a:rPr dirty="0" sz="2000" spc="540">
                <a:latin typeface="Cambria"/>
                <a:cs typeface="Cambria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실현할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0" b="1">
                <a:latin typeface="Malgun Gothic"/>
                <a:cs typeface="Malgun Gothic"/>
              </a:rPr>
              <a:t>수</a:t>
            </a:r>
            <a:r>
              <a:rPr dirty="0" sz="2000" spc="-50" b="1">
                <a:latin typeface="Malgun Gothic"/>
                <a:cs typeface="Malgun Gothic"/>
              </a:rPr>
              <a:t> </a:t>
            </a:r>
            <a:r>
              <a:rPr dirty="0" sz="2000" spc="-1400" b="1">
                <a:latin typeface="Malgun Gothic"/>
                <a:cs typeface="Malgun Gothic"/>
              </a:rPr>
              <a:t>없음</a:t>
            </a:r>
            <a:endParaRPr sz="2000">
              <a:latin typeface="Malgun Gothic"/>
              <a:cs typeface="Malgun Gothic"/>
            </a:endParaRPr>
          </a:p>
          <a:p>
            <a:pPr lvl="1" marL="543560" indent="-367030">
              <a:lnSpc>
                <a:spcPct val="100000"/>
              </a:lnSpc>
              <a:spcBef>
                <a:spcPts val="1135"/>
              </a:spcBef>
              <a:buAutoNum type="alphaLcParenR" startAt="2"/>
              <a:tabLst>
                <a:tab pos="543560" algn="l"/>
                <a:tab pos="5673725" algn="l"/>
                <a:tab pos="6010275" algn="l"/>
              </a:tabLst>
            </a:pPr>
            <a:r>
              <a:rPr dirty="0" sz="2000" b="1">
                <a:latin typeface="Malgun Gothic"/>
                <a:cs typeface="Malgun Gothic"/>
              </a:rPr>
              <a:t>보험에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가입하여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확실한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소득(</a:t>
            </a:r>
            <a:r>
              <a:rPr dirty="0" sz="2000" spc="-10">
                <a:latin typeface="Microsoft Sans Serif"/>
                <a:cs typeface="Microsoft Sans Serif"/>
              </a:rPr>
              <a:t></a:t>
            </a:r>
            <a:r>
              <a:rPr dirty="0" baseline="37037" sz="2025" spc="-15">
                <a:latin typeface="Microsoft Sans Serif"/>
                <a:cs typeface="Microsoft Sans Serif"/>
              </a:rPr>
              <a:t></a:t>
            </a:r>
            <a:r>
              <a:rPr dirty="0" sz="2000" spc="-10" b="1">
                <a:latin typeface="Malgun Gothic"/>
                <a:cs typeface="Malgun Gothic"/>
              </a:rPr>
              <a:t>)으로부터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baseline="1322" sz="3150" spc="-1575" i="1">
                <a:latin typeface="Times New Roman"/>
                <a:cs typeface="Times New Roman"/>
              </a:rPr>
              <a:t></a:t>
            </a:r>
            <a:r>
              <a:rPr dirty="0" baseline="20833" sz="3000" spc="-1575">
                <a:latin typeface="Microsoft Sans Serif"/>
                <a:cs typeface="Microsoft Sans Serif"/>
              </a:rPr>
              <a:t></a:t>
            </a:r>
            <a:r>
              <a:rPr dirty="0" baseline="20833" sz="3000">
                <a:latin typeface="Microsoft Sans Serif"/>
                <a:cs typeface="Microsoft Sans Serif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획득</a:t>
            </a:r>
            <a:endParaRPr sz="2000">
              <a:latin typeface="Malgun Gothic"/>
              <a:cs typeface="Malgun Gothic"/>
            </a:endParaRPr>
          </a:p>
          <a:p>
            <a:pPr marL="431165">
              <a:lnSpc>
                <a:spcPct val="100000"/>
              </a:lnSpc>
              <a:spcBef>
                <a:spcPts val="770"/>
              </a:spcBef>
            </a:pPr>
            <a:r>
              <a:rPr dirty="0" sz="2000" spc="155">
                <a:latin typeface="Cambria"/>
                <a:cs typeface="Cambria"/>
              </a:rPr>
              <a:t>▸</a:t>
            </a:r>
            <a:r>
              <a:rPr dirty="0" sz="2000" spc="155" b="1">
                <a:latin typeface="Malgun Gothic"/>
                <a:cs typeface="Malgun Gothic"/>
              </a:rPr>
              <a:t>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통해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구입하는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것이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확실성(certainty)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93470">
              <a:lnSpc>
                <a:spcPct val="100000"/>
              </a:lnSpc>
              <a:spcBef>
                <a:spcPts val="100"/>
              </a:spcBef>
            </a:pPr>
            <a:r>
              <a:rPr dirty="0"/>
              <a:t>&lt;그림</a:t>
            </a:r>
            <a:r>
              <a:rPr dirty="0" spc="220"/>
              <a:t> </a:t>
            </a:r>
            <a:r>
              <a:rPr dirty="0" spc="215"/>
              <a:t>5-</a:t>
            </a:r>
            <a:r>
              <a:rPr dirty="0"/>
              <a:t>1&gt;</a:t>
            </a:r>
            <a:r>
              <a:rPr dirty="0" spc="229"/>
              <a:t> </a:t>
            </a:r>
            <a:r>
              <a:rPr dirty="0"/>
              <a:t>위험회피적</a:t>
            </a:r>
            <a:r>
              <a:rPr dirty="0" spc="220"/>
              <a:t> </a:t>
            </a:r>
            <a:r>
              <a:rPr dirty="0"/>
              <a:t>성향을</a:t>
            </a:r>
            <a:r>
              <a:rPr dirty="0" spc="225"/>
              <a:t> </a:t>
            </a:r>
            <a:r>
              <a:rPr dirty="0"/>
              <a:t>가진</a:t>
            </a:r>
            <a:r>
              <a:rPr dirty="0" spc="225"/>
              <a:t> </a:t>
            </a:r>
            <a:r>
              <a:rPr dirty="0"/>
              <a:t>개인의</a:t>
            </a:r>
            <a:r>
              <a:rPr dirty="0" spc="220"/>
              <a:t> </a:t>
            </a:r>
            <a:r>
              <a:rPr dirty="0" spc="-20"/>
              <a:t>보험수요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763512" y="2071522"/>
            <a:ext cx="7244715" cy="4349115"/>
            <a:chOff x="1763512" y="2071522"/>
            <a:chExt cx="7244715" cy="43491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3512" y="2071522"/>
              <a:ext cx="7244140" cy="434868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242308" y="5716778"/>
              <a:ext cx="975994" cy="296545"/>
            </a:xfrm>
            <a:custGeom>
              <a:avLst/>
              <a:gdLst/>
              <a:ahLst/>
              <a:cxnLst/>
              <a:rect l="l" t="t" r="r" b="b"/>
              <a:pathLst>
                <a:path w="975995" h="296545">
                  <a:moveTo>
                    <a:pt x="0" y="286893"/>
                  </a:moveTo>
                  <a:lnTo>
                    <a:pt x="0" y="286893"/>
                  </a:lnTo>
                  <a:lnTo>
                    <a:pt x="0" y="251841"/>
                  </a:lnTo>
                  <a:lnTo>
                    <a:pt x="1524" y="248666"/>
                  </a:lnTo>
                  <a:lnTo>
                    <a:pt x="4825" y="248666"/>
                  </a:lnTo>
                  <a:lnTo>
                    <a:pt x="8000" y="248666"/>
                  </a:lnTo>
                  <a:lnTo>
                    <a:pt x="9525" y="242316"/>
                  </a:lnTo>
                  <a:lnTo>
                    <a:pt x="9525" y="229616"/>
                  </a:lnTo>
                  <a:lnTo>
                    <a:pt x="9525" y="216789"/>
                  </a:lnTo>
                  <a:lnTo>
                    <a:pt x="11175" y="210439"/>
                  </a:lnTo>
                  <a:lnTo>
                    <a:pt x="14350" y="210439"/>
                  </a:lnTo>
                  <a:lnTo>
                    <a:pt x="17525" y="210439"/>
                  </a:lnTo>
                  <a:lnTo>
                    <a:pt x="20700" y="208788"/>
                  </a:lnTo>
                  <a:lnTo>
                    <a:pt x="23875" y="205613"/>
                  </a:lnTo>
                  <a:lnTo>
                    <a:pt x="27050" y="202438"/>
                  </a:lnTo>
                  <a:lnTo>
                    <a:pt x="28701" y="199263"/>
                  </a:lnTo>
                  <a:lnTo>
                    <a:pt x="28701" y="196088"/>
                  </a:lnTo>
                  <a:lnTo>
                    <a:pt x="28701" y="192913"/>
                  </a:lnTo>
                  <a:lnTo>
                    <a:pt x="30225" y="188087"/>
                  </a:lnTo>
                  <a:lnTo>
                    <a:pt x="33527" y="181737"/>
                  </a:lnTo>
                  <a:lnTo>
                    <a:pt x="36702" y="175387"/>
                  </a:lnTo>
                  <a:lnTo>
                    <a:pt x="39877" y="170561"/>
                  </a:lnTo>
                  <a:lnTo>
                    <a:pt x="43052" y="167386"/>
                  </a:lnTo>
                  <a:lnTo>
                    <a:pt x="46227" y="164211"/>
                  </a:lnTo>
                  <a:lnTo>
                    <a:pt x="47751" y="161036"/>
                  </a:lnTo>
                  <a:lnTo>
                    <a:pt x="47751" y="157861"/>
                  </a:lnTo>
                  <a:lnTo>
                    <a:pt x="47751" y="154686"/>
                  </a:lnTo>
                  <a:lnTo>
                    <a:pt x="49402" y="151384"/>
                  </a:lnTo>
                  <a:lnTo>
                    <a:pt x="52577" y="148209"/>
                  </a:lnTo>
                  <a:lnTo>
                    <a:pt x="55752" y="145034"/>
                  </a:lnTo>
                  <a:lnTo>
                    <a:pt x="58927" y="141859"/>
                  </a:lnTo>
                  <a:lnTo>
                    <a:pt x="62102" y="138684"/>
                  </a:lnTo>
                  <a:lnTo>
                    <a:pt x="65404" y="135509"/>
                  </a:lnTo>
                  <a:lnTo>
                    <a:pt x="70103" y="132334"/>
                  </a:lnTo>
                  <a:lnTo>
                    <a:pt x="76453" y="129159"/>
                  </a:lnTo>
                  <a:lnTo>
                    <a:pt x="82930" y="125984"/>
                  </a:lnTo>
                  <a:lnTo>
                    <a:pt x="87629" y="122682"/>
                  </a:lnTo>
                  <a:lnTo>
                    <a:pt x="119506" y="98806"/>
                  </a:lnTo>
                  <a:lnTo>
                    <a:pt x="125983" y="95631"/>
                  </a:lnTo>
                  <a:lnTo>
                    <a:pt x="129158" y="95631"/>
                  </a:lnTo>
                  <a:lnTo>
                    <a:pt x="132333" y="95631"/>
                  </a:lnTo>
                  <a:lnTo>
                    <a:pt x="137032" y="94107"/>
                  </a:lnTo>
                  <a:lnTo>
                    <a:pt x="143509" y="90805"/>
                  </a:lnTo>
                  <a:lnTo>
                    <a:pt x="149859" y="87630"/>
                  </a:lnTo>
                  <a:lnTo>
                    <a:pt x="154686" y="84455"/>
                  </a:lnTo>
                  <a:lnTo>
                    <a:pt x="157861" y="81280"/>
                  </a:lnTo>
                  <a:lnTo>
                    <a:pt x="161036" y="78105"/>
                  </a:lnTo>
                  <a:lnTo>
                    <a:pt x="165734" y="73279"/>
                  </a:lnTo>
                  <a:lnTo>
                    <a:pt x="172212" y="66929"/>
                  </a:lnTo>
                  <a:lnTo>
                    <a:pt x="178562" y="60579"/>
                  </a:lnTo>
                  <a:lnTo>
                    <a:pt x="183261" y="57404"/>
                  </a:lnTo>
                  <a:lnTo>
                    <a:pt x="186562" y="57404"/>
                  </a:lnTo>
                  <a:lnTo>
                    <a:pt x="189737" y="57404"/>
                  </a:lnTo>
                  <a:lnTo>
                    <a:pt x="192912" y="57404"/>
                  </a:lnTo>
                  <a:lnTo>
                    <a:pt x="196087" y="57404"/>
                  </a:lnTo>
                  <a:lnTo>
                    <a:pt x="199262" y="57404"/>
                  </a:lnTo>
                  <a:lnTo>
                    <a:pt x="204088" y="55753"/>
                  </a:lnTo>
                  <a:lnTo>
                    <a:pt x="210438" y="52578"/>
                  </a:lnTo>
                  <a:lnTo>
                    <a:pt x="216788" y="49403"/>
                  </a:lnTo>
                  <a:lnTo>
                    <a:pt x="223138" y="46228"/>
                  </a:lnTo>
                  <a:lnTo>
                    <a:pt x="229488" y="43053"/>
                  </a:lnTo>
                  <a:lnTo>
                    <a:pt x="234920" y="40671"/>
                  </a:lnTo>
                  <a:lnTo>
                    <a:pt x="277367" y="29876"/>
                  </a:lnTo>
                  <a:lnTo>
                    <a:pt x="296544" y="28702"/>
                  </a:lnTo>
                  <a:lnTo>
                    <a:pt x="306089" y="28394"/>
                  </a:lnTo>
                  <a:lnTo>
                    <a:pt x="315658" y="27479"/>
                  </a:lnTo>
                  <a:lnTo>
                    <a:pt x="325227" y="25969"/>
                  </a:lnTo>
                  <a:lnTo>
                    <a:pt x="334771" y="23876"/>
                  </a:lnTo>
                  <a:lnTo>
                    <a:pt x="343721" y="21802"/>
                  </a:lnTo>
                  <a:lnTo>
                    <a:pt x="351504" y="20335"/>
                  </a:lnTo>
                  <a:lnTo>
                    <a:pt x="358096" y="19464"/>
                  </a:lnTo>
                  <a:lnTo>
                    <a:pt x="363474" y="19177"/>
                  </a:lnTo>
                  <a:lnTo>
                    <a:pt x="369824" y="19177"/>
                  </a:lnTo>
                  <a:lnTo>
                    <a:pt x="376174" y="19177"/>
                  </a:lnTo>
                  <a:lnTo>
                    <a:pt x="382650" y="19177"/>
                  </a:lnTo>
                  <a:lnTo>
                    <a:pt x="389000" y="19177"/>
                  </a:lnTo>
                  <a:lnTo>
                    <a:pt x="397001" y="17526"/>
                  </a:lnTo>
                  <a:lnTo>
                    <a:pt x="406526" y="14351"/>
                  </a:lnTo>
                  <a:lnTo>
                    <a:pt x="416051" y="11176"/>
                  </a:lnTo>
                  <a:lnTo>
                    <a:pt x="424052" y="9525"/>
                  </a:lnTo>
                  <a:lnTo>
                    <a:pt x="430402" y="9525"/>
                  </a:lnTo>
                  <a:lnTo>
                    <a:pt x="436752" y="9525"/>
                  </a:lnTo>
                  <a:lnTo>
                    <a:pt x="443229" y="8001"/>
                  </a:lnTo>
                  <a:lnTo>
                    <a:pt x="449579" y="4826"/>
                  </a:lnTo>
                  <a:lnTo>
                    <a:pt x="455929" y="1524"/>
                  </a:lnTo>
                  <a:lnTo>
                    <a:pt x="460755" y="0"/>
                  </a:lnTo>
                  <a:lnTo>
                    <a:pt x="503808" y="0"/>
                  </a:lnTo>
                  <a:lnTo>
                    <a:pt x="506983" y="1524"/>
                  </a:lnTo>
                  <a:lnTo>
                    <a:pt x="506983" y="4826"/>
                  </a:lnTo>
                  <a:lnTo>
                    <a:pt x="506983" y="8001"/>
                  </a:lnTo>
                  <a:lnTo>
                    <a:pt x="510158" y="9525"/>
                  </a:lnTo>
                  <a:lnTo>
                    <a:pt x="516508" y="9525"/>
                  </a:lnTo>
                  <a:lnTo>
                    <a:pt x="522858" y="9525"/>
                  </a:lnTo>
                  <a:lnTo>
                    <a:pt x="529208" y="11176"/>
                  </a:lnTo>
                  <a:lnTo>
                    <a:pt x="535686" y="14351"/>
                  </a:lnTo>
                  <a:lnTo>
                    <a:pt x="542036" y="17526"/>
                  </a:lnTo>
                  <a:lnTo>
                    <a:pt x="545211" y="20701"/>
                  </a:lnTo>
                  <a:lnTo>
                    <a:pt x="545211" y="23876"/>
                  </a:lnTo>
                  <a:lnTo>
                    <a:pt x="545211" y="27051"/>
                  </a:lnTo>
                  <a:lnTo>
                    <a:pt x="548386" y="28702"/>
                  </a:lnTo>
                  <a:lnTo>
                    <a:pt x="554736" y="28702"/>
                  </a:lnTo>
                  <a:lnTo>
                    <a:pt x="559808" y="29604"/>
                  </a:lnTo>
                  <a:lnTo>
                    <a:pt x="565499" y="32305"/>
                  </a:lnTo>
                  <a:lnTo>
                    <a:pt x="571809" y="36792"/>
                  </a:lnTo>
                  <a:lnTo>
                    <a:pt x="578738" y="43053"/>
                  </a:lnTo>
                  <a:lnTo>
                    <a:pt x="585595" y="49313"/>
                  </a:lnTo>
                  <a:lnTo>
                    <a:pt x="591867" y="53800"/>
                  </a:lnTo>
                  <a:lnTo>
                    <a:pt x="597544" y="56501"/>
                  </a:lnTo>
                  <a:lnTo>
                    <a:pt x="602614" y="57404"/>
                  </a:lnTo>
                  <a:lnTo>
                    <a:pt x="608964" y="57404"/>
                  </a:lnTo>
                  <a:lnTo>
                    <a:pt x="613790" y="57404"/>
                  </a:lnTo>
                  <a:lnTo>
                    <a:pt x="616965" y="57404"/>
                  </a:lnTo>
                  <a:lnTo>
                    <a:pt x="620140" y="57404"/>
                  </a:lnTo>
                  <a:lnTo>
                    <a:pt x="621664" y="58928"/>
                  </a:lnTo>
                  <a:lnTo>
                    <a:pt x="621664" y="62103"/>
                  </a:lnTo>
                  <a:lnTo>
                    <a:pt x="621664" y="65405"/>
                  </a:lnTo>
                  <a:lnTo>
                    <a:pt x="623315" y="66929"/>
                  </a:lnTo>
                  <a:lnTo>
                    <a:pt x="648842" y="66929"/>
                  </a:lnTo>
                  <a:lnTo>
                    <a:pt x="652017" y="68580"/>
                  </a:lnTo>
                  <a:lnTo>
                    <a:pt x="667892" y="84455"/>
                  </a:lnTo>
                  <a:lnTo>
                    <a:pt x="674369" y="87630"/>
                  </a:lnTo>
                  <a:lnTo>
                    <a:pt x="683894" y="90805"/>
                  </a:lnTo>
                  <a:lnTo>
                    <a:pt x="693419" y="94107"/>
                  </a:lnTo>
                  <a:lnTo>
                    <a:pt x="701420" y="95631"/>
                  </a:lnTo>
                  <a:lnTo>
                    <a:pt x="734949" y="95631"/>
                  </a:lnTo>
                  <a:lnTo>
                    <a:pt x="738124" y="97282"/>
                  </a:lnTo>
                  <a:lnTo>
                    <a:pt x="741299" y="100457"/>
                  </a:lnTo>
                  <a:lnTo>
                    <a:pt x="744474" y="103632"/>
                  </a:lnTo>
                  <a:lnTo>
                    <a:pt x="749300" y="106807"/>
                  </a:lnTo>
                  <a:lnTo>
                    <a:pt x="755650" y="109982"/>
                  </a:lnTo>
                  <a:lnTo>
                    <a:pt x="762000" y="113157"/>
                  </a:lnTo>
                  <a:lnTo>
                    <a:pt x="766826" y="114808"/>
                  </a:lnTo>
                  <a:lnTo>
                    <a:pt x="770001" y="114808"/>
                  </a:lnTo>
                  <a:lnTo>
                    <a:pt x="773176" y="114808"/>
                  </a:lnTo>
                  <a:lnTo>
                    <a:pt x="774826" y="116332"/>
                  </a:lnTo>
                  <a:lnTo>
                    <a:pt x="774826" y="132334"/>
                  </a:lnTo>
                  <a:lnTo>
                    <a:pt x="776351" y="133858"/>
                  </a:lnTo>
                  <a:lnTo>
                    <a:pt x="792352" y="133858"/>
                  </a:lnTo>
                  <a:lnTo>
                    <a:pt x="797051" y="135509"/>
                  </a:lnTo>
                  <a:lnTo>
                    <a:pt x="803401" y="138684"/>
                  </a:lnTo>
                  <a:lnTo>
                    <a:pt x="809878" y="141859"/>
                  </a:lnTo>
                  <a:lnTo>
                    <a:pt x="816228" y="145034"/>
                  </a:lnTo>
                  <a:lnTo>
                    <a:pt x="822578" y="148209"/>
                  </a:lnTo>
                  <a:lnTo>
                    <a:pt x="828928" y="151384"/>
                  </a:lnTo>
                  <a:lnTo>
                    <a:pt x="835405" y="154686"/>
                  </a:lnTo>
                  <a:lnTo>
                    <a:pt x="841755" y="157861"/>
                  </a:lnTo>
                  <a:lnTo>
                    <a:pt x="848105" y="161036"/>
                  </a:lnTo>
                  <a:lnTo>
                    <a:pt x="854455" y="164211"/>
                  </a:lnTo>
                  <a:lnTo>
                    <a:pt x="860805" y="167386"/>
                  </a:lnTo>
                  <a:lnTo>
                    <a:pt x="867282" y="170561"/>
                  </a:lnTo>
                  <a:lnTo>
                    <a:pt x="870457" y="173736"/>
                  </a:lnTo>
                  <a:lnTo>
                    <a:pt x="870457" y="176911"/>
                  </a:lnTo>
                  <a:lnTo>
                    <a:pt x="870457" y="180086"/>
                  </a:lnTo>
                  <a:lnTo>
                    <a:pt x="871981" y="181737"/>
                  </a:lnTo>
                  <a:lnTo>
                    <a:pt x="875156" y="181737"/>
                  </a:lnTo>
                  <a:lnTo>
                    <a:pt x="878331" y="181737"/>
                  </a:lnTo>
                  <a:lnTo>
                    <a:pt x="881633" y="181737"/>
                  </a:lnTo>
                  <a:lnTo>
                    <a:pt x="884808" y="181737"/>
                  </a:lnTo>
                  <a:lnTo>
                    <a:pt x="887983" y="181737"/>
                  </a:lnTo>
                  <a:lnTo>
                    <a:pt x="889507" y="183261"/>
                  </a:lnTo>
                  <a:lnTo>
                    <a:pt x="889507" y="186563"/>
                  </a:lnTo>
                  <a:lnTo>
                    <a:pt x="889507" y="189738"/>
                  </a:lnTo>
                  <a:lnTo>
                    <a:pt x="891158" y="192913"/>
                  </a:lnTo>
                  <a:lnTo>
                    <a:pt x="907033" y="208788"/>
                  </a:lnTo>
                  <a:lnTo>
                    <a:pt x="910336" y="210439"/>
                  </a:lnTo>
                  <a:lnTo>
                    <a:pt x="913511" y="210439"/>
                  </a:lnTo>
                  <a:lnTo>
                    <a:pt x="916686" y="210439"/>
                  </a:lnTo>
                  <a:lnTo>
                    <a:pt x="919861" y="211963"/>
                  </a:lnTo>
                  <a:lnTo>
                    <a:pt x="923036" y="215265"/>
                  </a:lnTo>
                  <a:lnTo>
                    <a:pt x="926211" y="218440"/>
                  </a:lnTo>
                  <a:lnTo>
                    <a:pt x="927862" y="223139"/>
                  </a:lnTo>
                  <a:lnTo>
                    <a:pt x="927862" y="229616"/>
                  </a:lnTo>
                  <a:lnTo>
                    <a:pt x="927862" y="235966"/>
                  </a:lnTo>
                  <a:lnTo>
                    <a:pt x="931037" y="242316"/>
                  </a:lnTo>
                  <a:lnTo>
                    <a:pt x="937387" y="248666"/>
                  </a:lnTo>
                  <a:lnTo>
                    <a:pt x="943737" y="255016"/>
                  </a:lnTo>
                  <a:lnTo>
                    <a:pt x="948563" y="261493"/>
                  </a:lnTo>
                  <a:lnTo>
                    <a:pt x="951738" y="267843"/>
                  </a:lnTo>
                  <a:lnTo>
                    <a:pt x="954913" y="274193"/>
                  </a:lnTo>
                  <a:lnTo>
                    <a:pt x="958088" y="279019"/>
                  </a:lnTo>
                  <a:lnTo>
                    <a:pt x="961263" y="282194"/>
                  </a:lnTo>
                  <a:lnTo>
                    <a:pt x="964438" y="285369"/>
                  </a:lnTo>
                  <a:lnTo>
                    <a:pt x="969263" y="290195"/>
                  </a:lnTo>
                  <a:lnTo>
                    <a:pt x="975613" y="296545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418497" y="6135144"/>
            <a:ext cx="830580" cy="36830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=</a:t>
            </a:r>
            <a:r>
              <a:rPr dirty="0" sz="1000" spc="-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p1y1</a:t>
            </a:r>
            <a:r>
              <a:rPr dirty="0" sz="1000" spc="-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+</a:t>
            </a:r>
            <a:r>
              <a:rPr dirty="0" sz="1000" spc="-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Arial MT"/>
                <a:cs typeface="Arial MT"/>
              </a:rPr>
              <a:t>p2y2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=</a:t>
            </a:r>
            <a:r>
              <a:rPr dirty="0" sz="1000" spc="-1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Arial MT"/>
                <a:cs typeface="Arial MT"/>
              </a:rPr>
              <a:t>550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168334" y="6288187"/>
            <a:ext cx="488315" cy="36830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000" spc="-20">
                <a:solidFill>
                  <a:srgbClr val="0000FF"/>
                </a:solidFill>
                <a:latin typeface="Arial MT"/>
                <a:cs typeface="Arial MT"/>
              </a:rPr>
              <a:t>1000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p2 =</a:t>
            </a:r>
            <a:r>
              <a:rPr dirty="0" sz="1000" spc="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Arial MT"/>
                <a:cs typeface="Arial MT"/>
              </a:rPr>
              <a:t>0.5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42752" y="6288107"/>
            <a:ext cx="2374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0000FF"/>
                </a:solidFill>
                <a:latin typeface="Arial MT"/>
                <a:cs typeface="Arial MT"/>
              </a:rPr>
              <a:t>100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802527" y="6269057"/>
            <a:ext cx="1014094" cy="36830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=</a:t>
            </a:r>
            <a:r>
              <a:rPr dirty="0" sz="1000" spc="-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0.5*0</a:t>
            </a:r>
            <a:r>
              <a:rPr dirty="0" sz="1000" spc="-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+</a:t>
            </a:r>
            <a:r>
              <a:rPr dirty="0" sz="1000" spc="-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Arial MT"/>
                <a:cs typeface="Arial MT"/>
              </a:rPr>
              <a:t>0.5*900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=</a:t>
            </a:r>
            <a:r>
              <a:rPr dirty="0" sz="1000" spc="-1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Arial MT"/>
                <a:cs typeface="Arial MT"/>
              </a:rPr>
              <a:t>450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03136" y="1263720"/>
            <a:ext cx="5969000" cy="2879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9885" indent="-273685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349885" algn="l"/>
              </a:tabLst>
            </a:pPr>
            <a:r>
              <a:rPr dirty="0" baseline="15277" sz="3000" spc="-944">
                <a:latin typeface="Microsoft Sans Serif"/>
                <a:cs typeface="Microsoft Sans Serif"/>
              </a:rPr>
              <a:t></a:t>
            </a:r>
            <a:r>
              <a:rPr dirty="0" baseline="1388" sz="3000" spc="-944">
                <a:latin typeface="Microsoft Sans Serif"/>
                <a:cs typeface="Microsoft Sans Serif"/>
              </a:rPr>
              <a:t>y</a:t>
            </a:r>
            <a:r>
              <a:rPr dirty="0" sz="2000" spc="-630" b="1">
                <a:latin typeface="Malgun Gothic"/>
                <a:cs typeface="Malgun Gothic"/>
              </a:rPr>
              <a:t>와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000" spc="-114">
                <a:latin typeface="Microsoft Sans Serif"/>
                <a:cs typeface="Microsoft Sans Serif"/>
              </a:rPr>
              <a:t>y</a:t>
            </a:r>
            <a:r>
              <a:rPr dirty="0" baseline="37037" sz="2025" spc="-172">
                <a:latin typeface="Microsoft Sans Serif"/>
                <a:cs typeface="Microsoft Sans Serif"/>
              </a:rPr>
              <a:t></a:t>
            </a:r>
            <a:r>
              <a:rPr dirty="0" sz="2000" spc="-114" b="1">
                <a:latin typeface="Malgun Gothic"/>
                <a:cs typeface="Malgun Gothic"/>
              </a:rPr>
              <a:t>가</a:t>
            </a:r>
            <a:r>
              <a:rPr dirty="0" sz="2000" spc="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무차별할</a:t>
            </a:r>
            <a:r>
              <a:rPr dirty="0" sz="2000" spc="1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buFont typeface="Cambria"/>
              <a:buChar char="○"/>
            </a:pPr>
            <a:endParaRPr sz="2000">
              <a:latin typeface="Malgun Gothic"/>
              <a:cs typeface="Malgun Gothic"/>
            </a:endParaRPr>
          </a:p>
          <a:p>
            <a:pPr marL="201930">
              <a:lnSpc>
                <a:spcPct val="100000"/>
              </a:lnSpc>
              <a:tabLst>
                <a:tab pos="495934" algn="l"/>
              </a:tabLst>
            </a:pPr>
            <a:r>
              <a:rPr dirty="0" baseline="-2777" sz="3000" spc="555" b="1">
                <a:latin typeface="Malgun Gothic"/>
                <a:cs typeface="Malgun Gothic"/>
              </a:rPr>
              <a:t>-</a:t>
            </a:r>
            <a:r>
              <a:rPr dirty="0" baseline="-2777" sz="3000" b="1">
                <a:latin typeface="Malgun Gothic"/>
                <a:cs typeface="Malgun Gothic"/>
              </a:rPr>
              <a:t>	</a:t>
            </a:r>
            <a:r>
              <a:rPr dirty="0" baseline="-2645" sz="3150" spc="-465" i="1">
                <a:latin typeface="Times New Roman"/>
                <a:cs typeface="Times New Roman"/>
              </a:rPr>
              <a:t>U</a:t>
            </a:r>
            <a:r>
              <a:rPr dirty="0" sz="2000" spc="-310">
                <a:latin typeface="Microsoft Sans Serif"/>
                <a:cs typeface="Microsoft Sans Serif"/>
              </a:rPr>
              <a:t>(</a:t>
            </a:r>
            <a:r>
              <a:rPr dirty="0" baseline="11111" sz="3000" spc="-465">
                <a:latin typeface="Microsoft Sans Serif"/>
                <a:cs typeface="Microsoft Sans Serif"/>
              </a:rPr>
              <a:t></a:t>
            </a:r>
            <a:r>
              <a:rPr dirty="0" baseline="-2777" sz="3000" spc="-465">
                <a:latin typeface="Microsoft Sans Serif"/>
                <a:cs typeface="Microsoft Sans Serif"/>
              </a:rPr>
              <a:t>y</a:t>
            </a:r>
            <a:r>
              <a:rPr dirty="0" sz="2000" spc="-310">
                <a:latin typeface="Microsoft Sans Serif"/>
                <a:cs typeface="Microsoft Sans Serif"/>
              </a:rPr>
              <a:t>)</a:t>
            </a:r>
            <a:r>
              <a:rPr dirty="0" sz="2000" spc="-125">
                <a:latin typeface="Microsoft Sans Serif"/>
                <a:cs typeface="Microsoft Sans Serif"/>
              </a:rPr>
              <a:t> </a:t>
            </a:r>
            <a:r>
              <a:rPr dirty="0" sz="2000" spc="-480">
                <a:latin typeface="Microsoft Sans Serif"/>
                <a:cs typeface="Microsoft Sans Serif"/>
              </a:rPr>
              <a:t></a:t>
            </a:r>
            <a:r>
              <a:rPr dirty="0" sz="2000" spc="-140">
                <a:latin typeface="Microsoft Sans Serif"/>
                <a:cs typeface="Microsoft Sans Serif"/>
              </a:rPr>
              <a:t> </a:t>
            </a:r>
            <a:r>
              <a:rPr dirty="0" baseline="-2645" sz="3150" spc="-202" i="1">
                <a:latin typeface="Times New Roman"/>
                <a:cs typeface="Times New Roman"/>
              </a:rPr>
              <a:t>U</a:t>
            </a:r>
            <a:r>
              <a:rPr dirty="0" sz="2000" spc="-135">
                <a:latin typeface="Microsoft Sans Serif"/>
                <a:cs typeface="Microsoft Sans Serif"/>
              </a:rPr>
              <a:t>(</a:t>
            </a:r>
            <a:r>
              <a:rPr dirty="0" baseline="-2777" sz="3000" spc="-202">
                <a:latin typeface="Microsoft Sans Serif"/>
                <a:cs typeface="Microsoft Sans Serif"/>
              </a:rPr>
              <a:t>y</a:t>
            </a:r>
            <a:r>
              <a:rPr dirty="0" baseline="32921" sz="2025" spc="-202">
                <a:latin typeface="Microsoft Sans Serif"/>
                <a:cs typeface="Microsoft Sans Serif"/>
              </a:rPr>
              <a:t></a:t>
            </a:r>
            <a:r>
              <a:rPr dirty="0" baseline="32921" sz="2025" spc="-240">
                <a:latin typeface="Microsoft Sans Serif"/>
                <a:cs typeface="Microsoft Sans Serif"/>
              </a:rPr>
              <a:t> </a:t>
            </a:r>
            <a:r>
              <a:rPr dirty="0" sz="2000" spc="105">
                <a:latin typeface="Microsoft Sans Serif"/>
                <a:cs typeface="Microsoft Sans Serif"/>
              </a:rPr>
              <a:t>)</a:t>
            </a:r>
            <a:r>
              <a:rPr dirty="0" sz="2000" spc="-125">
                <a:latin typeface="Microsoft Sans Serif"/>
                <a:cs typeface="Microsoft Sans Serif"/>
              </a:rPr>
              <a:t> </a:t>
            </a:r>
            <a:r>
              <a:rPr dirty="0" sz="2000" spc="-480">
                <a:latin typeface="Microsoft Sans Serif"/>
                <a:cs typeface="Microsoft Sans Serif"/>
              </a:rPr>
              <a:t></a:t>
            </a:r>
            <a:r>
              <a:rPr dirty="0" sz="2000" spc="-45">
                <a:latin typeface="Microsoft Sans Serif"/>
                <a:cs typeface="Microsoft Sans Serif"/>
              </a:rPr>
              <a:t> </a:t>
            </a:r>
            <a:r>
              <a:rPr dirty="0" baseline="16666" sz="3000" spc="-1567">
                <a:latin typeface="Microsoft Sans Serif"/>
                <a:cs typeface="Microsoft Sans Serif"/>
              </a:rPr>
              <a:t></a:t>
            </a:r>
            <a:r>
              <a:rPr dirty="0" baseline="-2645" sz="3150" spc="-1567" i="1">
                <a:latin typeface="Times New Roman"/>
                <a:cs typeface="Times New Roman"/>
              </a:rPr>
              <a:t>U</a:t>
            </a:r>
            <a:endParaRPr baseline="-2645" sz="3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35"/>
              </a:spcBef>
            </a:pPr>
            <a:endParaRPr sz="2000">
              <a:latin typeface="Times New Roman"/>
              <a:cs typeface="Times New Roman"/>
            </a:endParaRPr>
          </a:p>
          <a:p>
            <a:pPr lvl="1" marL="487045" indent="-285115">
              <a:lnSpc>
                <a:spcPct val="100000"/>
              </a:lnSpc>
              <a:buChar char="-"/>
              <a:tabLst>
                <a:tab pos="487045" algn="l"/>
                <a:tab pos="2951480" algn="l"/>
                <a:tab pos="3220720" algn="l"/>
              </a:tabLst>
            </a:pPr>
            <a:r>
              <a:rPr dirty="0" sz="2000" b="1">
                <a:latin typeface="Malgun Gothic"/>
                <a:cs typeface="Malgun Gothic"/>
              </a:rPr>
              <a:t>확실성의</a:t>
            </a:r>
            <a:r>
              <a:rPr dirty="0" sz="2000" spc="3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가치(V)</a:t>
            </a:r>
            <a:r>
              <a:rPr dirty="0" sz="2000" spc="390" b="1">
                <a:latin typeface="Malgun Gothic"/>
                <a:cs typeface="Malgun Gothic"/>
              </a:rPr>
              <a:t> </a:t>
            </a:r>
            <a:r>
              <a:rPr dirty="0" sz="2000" spc="-50" b="1">
                <a:latin typeface="Malgun Gothic"/>
                <a:cs typeface="Malgun Gothic"/>
              </a:rPr>
              <a:t>=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baseline="15277" sz="3000" spc="-1612">
                <a:latin typeface="Microsoft Sans Serif"/>
                <a:cs typeface="Microsoft Sans Serif"/>
              </a:rPr>
              <a:t></a:t>
            </a:r>
            <a:r>
              <a:rPr dirty="0" baseline="1388" sz="3000" spc="-1612">
                <a:latin typeface="Microsoft Sans Serif"/>
                <a:cs typeface="Microsoft Sans Serif"/>
              </a:rPr>
              <a:t>y</a:t>
            </a:r>
            <a:r>
              <a:rPr dirty="0" baseline="1388" sz="3000">
                <a:latin typeface="Microsoft Sans Serif"/>
                <a:cs typeface="Microsoft Sans Serif"/>
              </a:rPr>
              <a:t>	</a:t>
            </a: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345" b="1">
                <a:latin typeface="Malgun Gothic"/>
                <a:cs typeface="Malgun Gothic"/>
              </a:rPr>
              <a:t> </a:t>
            </a:r>
            <a:r>
              <a:rPr dirty="0" sz="2000" spc="-395">
                <a:latin typeface="Microsoft Sans Serif"/>
                <a:cs typeface="Microsoft Sans Serif"/>
              </a:rPr>
              <a:t>y</a:t>
            </a:r>
            <a:r>
              <a:rPr dirty="0" baseline="37037" sz="2025" spc="-592">
                <a:latin typeface="Microsoft Sans Serif"/>
                <a:cs typeface="Microsoft Sans Serif"/>
              </a:rPr>
              <a:t></a:t>
            </a:r>
            <a:endParaRPr baseline="37037" sz="2025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739"/>
              </a:spcBef>
              <a:buFont typeface="Malgun Gothic"/>
              <a:buChar char="-"/>
            </a:pPr>
            <a:endParaRPr sz="2000">
              <a:latin typeface="Microsoft Sans Serif"/>
              <a:cs typeface="Microsoft Sans Serif"/>
            </a:endParaRPr>
          </a:p>
          <a:p>
            <a:pPr lvl="1" marL="487045" indent="-285115">
              <a:lnSpc>
                <a:spcPct val="100000"/>
              </a:lnSpc>
              <a:buChar char="-"/>
              <a:tabLst>
                <a:tab pos="487045" algn="l"/>
              </a:tabLst>
            </a:pPr>
            <a:r>
              <a:rPr dirty="0" sz="2000" spc="-65" b="1">
                <a:latin typeface="Malgun Gothic"/>
                <a:cs typeface="Malgun Gothic"/>
              </a:rPr>
              <a:t>순보험료(</a:t>
            </a:r>
            <a:r>
              <a:rPr dirty="0" sz="2000" spc="-65">
                <a:latin typeface="Microsoft Sans Serif"/>
                <a:cs typeface="Microsoft Sans Serif"/>
              </a:rPr>
              <a:t></a:t>
            </a:r>
            <a:r>
              <a:rPr dirty="0" sz="2000" spc="-65" b="1">
                <a:latin typeface="Malgun Gothic"/>
                <a:cs typeface="Malgun Gothic"/>
              </a:rPr>
              <a:t>)</a:t>
            </a:r>
            <a:r>
              <a:rPr dirty="0" sz="2000" spc="24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&lt;</a:t>
            </a:r>
            <a:r>
              <a:rPr dirty="0" sz="2000" spc="25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확실성의</a:t>
            </a:r>
            <a:r>
              <a:rPr dirty="0" sz="2000" spc="24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가치(V)</a:t>
            </a:r>
            <a:r>
              <a:rPr dirty="0" sz="2000" spc="245" b="1">
                <a:latin typeface="Malgun Gothic"/>
                <a:cs typeface="Malgun Gothic"/>
              </a:rPr>
              <a:t> </a:t>
            </a:r>
            <a:r>
              <a:rPr dirty="0" sz="2000" spc="3185">
                <a:latin typeface="Cambria"/>
                <a:cs typeface="Cambria"/>
              </a:rPr>
              <a:t>⟹</a:t>
            </a:r>
            <a:r>
              <a:rPr dirty="0" sz="2000" spc="500">
                <a:latin typeface="Cambria"/>
                <a:cs typeface="Cambria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</a:t>
            </a:r>
            <a:r>
              <a:rPr dirty="0" sz="2000" spc="245" b="1">
                <a:latin typeface="Malgun Gothic"/>
                <a:cs typeface="Malgun Gothic"/>
              </a:rPr>
              <a:t> </a:t>
            </a:r>
            <a:r>
              <a:rPr dirty="0" sz="2000" spc="-1710" b="1">
                <a:latin typeface="Malgun Gothic"/>
                <a:cs typeface="Malgun Gothic"/>
              </a:rPr>
              <a:t>가입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469389" y="3296792"/>
            <a:ext cx="2984500" cy="57785"/>
          </a:xfrm>
          <a:custGeom>
            <a:avLst/>
            <a:gdLst/>
            <a:ahLst/>
            <a:cxnLst/>
            <a:rect l="l" t="t" r="r" b="b"/>
            <a:pathLst>
              <a:path w="2984500" h="57785">
                <a:moveTo>
                  <a:pt x="0" y="57404"/>
                </a:moveTo>
                <a:lnTo>
                  <a:pt x="0" y="57404"/>
                </a:lnTo>
                <a:lnTo>
                  <a:pt x="765174" y="57404"/>
                </a:lnTo>
                <a:lnTo>
                  <a:pt x="781272" y="57096"/>
                </a:lnTo>
                <a:lnTo>
                  <a:pt x="824325" y="54671"/>
                </a:lnTo>
                <a:lnTo>
                  <a:pt x="879951" y="50196"/>
                </a:lnTo>
                <a:lnTo>
                  <a:pt x="908621" y="47815"/>
                </a:lnTo>
                <a:lnTo>
                  <a:pt x="937291" y="45434"/>
                </a:lnTo>
                <a:lnTo>
                  <a:pt x="994400" y="40669"/>
                </a:lnTo>
                <a:lnTo>
                  <a:pt x="1049418" y="35855"/>
                </a:lnTo>
                <a:lnTo>
                  <a:pt x="1076071" y="33401"/>
                </a:lnTo>
                <a:lnTo>
                  <a:pt x="1102955" y="31327"/>
                </a:lnTo>
                <a:lnTo>
                  <a:pt x="1131030" y="29860"/>
                </a:lnTo>
                <a:lnTo>
                  <a:pt x="1160295" y="28989"/>
                </a:lnTo>
                <a:lnTo>
                  <a:pt x="1190752" y="28702"/>
                </a:lnTo>
                <a:lnTo>
                  <a:pt x="1220378" y="28702"/>
                </a:lnTo>
                <a:lnTo>
                  <a:pt x="1246981" y="28702"/>
                </a:lnTo>
                <a:lnTo>
                  <a:pt x="1270583" y="28702"/>
                </a:lnTo>
                <a:lnTo>
                  <a:pt x="1291209" y="28702"/>
                </a:lnTo>
                <a:lnTo>
                  <a:pt x="1310046" y="28394"/>
                </a:lnTo>
                <a:lnTo>
                  <a:pt x="1328277" y="27479"/>
                </a:lnTo>
                <a:lnTo>
                  <a:pt x="1345912" y="25969"/>
                </a:lnTo>
                <a:lnTo>
                  <a:pt x="1362964" y="23876"/>
                </a:lnTo>
                <a:lnTo>
                  <a:pt x="1379726" y="21782"/>
                </a:lnTo>
                <a:lnTo>
                  <a:pt x="1396476" y="20272"/>
                </a:lnTo>
                <a:lnTo>
                  <a:pt x="1413202" y="19357"/>
                </a:lnTo>
                <a:lnTo>
                  <a:pt x="1429892" y="19050"/>
                </a:lnTo>
                <a:lnTo>
                  <a:pt x="1446349" y="19050"/>
                </a:lnTo>
                <a:lnTo>
                  <a:pt x="1462198" y="19050"/>
                </a:lnTo>
                <a:lnTo>
                  <a:pt x="1578229" y="19050"/>
                </a:lnTo>
                <a:lnTo>
                  <a:pt x="1587160" y="19357"/>
                </a:lnTo>
                <a:lnTo>
                  <a:pt x="1594913" y="20272"/>
                </a:lnTo>
                <a:lnTo>
                  <a:pt x="1601499" y="21782"/>
                </a:lnTo>
                <a:lnTo>
                  <a:pt x="1606930" y="23876"/>
                </a:lnTo>
                <a:lnTo>
                  <a:pt x="1612001" y="26257"/>
                </a:lnTo>
                <a:lnTo>
                  <a:pt x="1617678" y="28638"/>
                </a:lnTo>
                <a:lnTo>
                  <a:pt x="1659509" y="43053"/>
                </a:lnTo>
                <a:lnTo>
                  <a:pt x="1697736" y="47752"/>
                </a:lnTo>
                <a:lnTo>
                  <a:pt x="1710312" y="47752"/>
                </a:lnTo>
                <a:lnTo>
                  <a:pt x="1724056" y="47752"/>
                </a:lnTo>
                <a:lnTo>
                  <a:pt x="1956054" y="47752"/>
                </a:lnTo>
                <a:lnTo>
                  <a:pt x="1968577" y="47464"/>
                </a:lnTo>
                <a:lnTo>
                  <a:pt x="1982327" y="46593"/>
                </a:lnTo>
                <a:lnTo>
                  <a:pt x="1997291" y="45126"/>
                </a:lnTo>
                <a:lnTo>
                  <a:pt x="2013458" y="43053"/>
                </a:lnTo>
                <a:lnTo>
                  <a:pt x="2030743" y="40669"/>
                </a:lnTo>
                <a:lnTo>
                  <a:pt x="2049256" y="38274"/>
                </a:lnTo>
                <a:lnTo>
                  <a:pt x="2089912" y="33401"/>
                </a:lnTo>
                <a:lnTo>
                  <a:pt x="2132965" y="29860"/>
                </a:lnTo>
                <a:lnTo>
                  <a:pt x="2176018" y="28702"/>
                </a:lnTo>
                <a:lnTo>
                  <a:pt x="2198139" y="28702"/>
                </a:lnTo>
                <a:lnTo>
                  <a:pt x="2221452" y="28702"/>
                </a:lnTo>
                <a:lnTo>
                  <a:pt x="2982722" y="28702"/>
                </a:lnTo>
                <a:lnTo>
                  <a:pt x="2984246" y="27051"/>
                </a:lnTo>
                <a:lnTo>
                  <a:pt x="2984246" y="23876"/>
                </a:lnTo>
                <a:lnTo>
                  <a:pt x="2984246" y="20701"/>
                </a:lnTo>
                <a:lnTo>
                  <a:pt x="2984246" y="12700"/>
                </a:lnTo>
                <a:lnTo>
                  <a:pt x="2984246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84071" y="4291584"/>
            <a:ext cx="4964430" cy="57785"/>
          </a:xfrm>
          <a:custGeom>
            <a:avLst/>
            <a:gdLst/>
            <a:ahLst/>
            <a:cxnLst/>
            <a:rect l="l" t="t" r="r" b="b"/>
            <a:pathLst>
              <a:path w="4964430" h="57785">
                <a:moveTo>
                  <a:pt x="0" y="19049"/>
                </a:moveTo>
                <a:lnTo>
                  <a:pt x="0" y="19049"/>
                </a:lnTo>
                <a:lnTo>
                  <a:pt x="267842" y="19049"/>
                </a:lnTo>
                <a:lnTo>
                  <a:pt x="294153" y="19357"/>
                </a:lnTo>
                <a:lnTo>
                  <a:pt x="325262" y="20272"/>
                </a:lnTo>
                <a:lnTo>
                  <a:pt x="361158" y="21782"/>
                </a:lnTo>
                <a:lnTo>
                  <a:pt x="401828" y="23875"/>
                </a:lnTo>
                <a:lnTo>
                  <a:pt x="446361" y="25969"/>
                </a:lnTo>
                <a:lnTo>
                  <a:pt x="493871" y="27479"/>
                </a:lnTo>
                <a:lnTo>
                  <a:pt x="544381" y="28394"/>
                </a:lnTo>
                <a:lnTo>
                  <a:pt x="597916" y="28701"/>
                </a:lnTo>
                <a:lnTo>
                  <a:pt x="642277" y="28701"/>
                </a:lnTo>
                <a:lnTo>
                  <a:pt x="687419" y="28701"/>
                </a:lnTo>
                <a:lnTo>
                  <a:pt x="1310512" y="28701"/>
                </a:lnTo>
                <a:lnTo>
                  <a:pt x="1353385" y="28565"/>
                </a:lnTo>
                <a:lnTo>
                  <a:pt x="1399196" y="28156"/>
                </a:lnTo>
                <a:lnTo>
                  <a:pt x="1447942" y="27479"/>
                </a:lnTo>
                <a:lnTo>
                  <a:pt x="1499620" y="26538"/>
                </a:lnTo>
                <a:lnTo>
                  <a:pt x="1554226" y="25335"/>
                </a:lnTo>
                <a:lnTo>
                  <a:pt x="1611756" y="23875"/>
                </a:lnTo>
                <a:lnTo>
                  <a:pt x="1668886" y="22288"/>
                </a:lnTo>
                <a:lnTo>
                  <a:pt x="1722294" y="20700"/>
                </a:lnTo>
                <a:lnTo>
                  <a:pt x="1771983" y="19113"/>
                </a:lnTo>
                <a:lnTo>
                  <a:pt x="1817957" y="17525"/>
                </a:lnTo>
                <a:lnTo>
                  <a:pt x="1860221" y="15938"/>
                </a:lnTo>
                <a:lnTo>
                  <a:pt x="1898777" y="14350"/>
                </a:lnTo>
                <a:lnTo>
                  <a:pt x="1953142" y="12257"/>
                </a:lnTo>
                <a:lnTo>
                  <a:pt x="2006330" y="10747"/>
                </a:lnTo>
                <a:lnTo>
                  <a:pt x="2058350" y="9832"/>
                </a:lnTo>
                <a:lnTo>
                  <a:pt x="2109216" y="9525"/>
                </a:lnTo>
                <a:lnTo>
                  <a:pt x="2157914" y="9525"/>
                </a:lnTo>
                <a:lnTo>
                  <a:pt x="2203624" y="9525"/>
                </a:lnTo>
                <a:lnTo>
                  <a:pt x="3041777" y="9525"/>
                </a:lnTo>
                <a:lnTo>
                  <a:pt x="3074634" y="9832"/>
                </a:lnTo>
                <a:lnTo>
                  <a:pt x="3106324" y="10747"/>
                </a:lnTo>
                <a:lnTo>
                  <a:pt x="3136824" y="12257"/>
                </a:lnTo>
                <a:lnTo>
                  <a:pt x="3166109" y="14350"/>
                </a:lnTo>
                <a:lnTo>
                  <a:pt x="3194800" y="16732"/>
                </a:lnTo>
                <a:lnTo>
                  <a:pt x="3223514" y="19113"/>
                </a:lnTo>
                <a:lnTo>
                  <a:pt x="3252227" y="21494"/>
                </a:lnTo>
                <a:lnTo>
                  <a:pt x="3280917" y="23875"/>
                </a:lnTo>
                <a:lnTo>
                  <a:pt x="3310185" y="25969"/>
                </a:lnTo>
                <a:lnTo>
                  <a:pt x="3340655" y="27479"/>
                </a:lnTo>
                <a:lnTo>
                  <a:pt x="3372340" y="28394"/>
                </a:lnTo>
                <a:lnTo>
                  <a:pt x="3405251" y="28701"/>
                </a:lnTo>
                <a:lnTo>
                  <a:pt x="3439606" y="28989"/>
                </a:lnTo>
                <a:lnTo>
                  <a:pt x="3475783" y="29860"/>
                </a:lnTo>
                <a:lnTo>
                  <a:pt x="3553459" y="33400"/>
                </a:lnTo>
                <a:lnTo>
                  <a:pt x="3593228" y="35802"/>
                </a:lnTo>
                <a:lnTo>
                  <a:pt x="3667384" y="40651"/>
                </a:lnTo>
                <a:lnTo>
                  <a:pt x="3701795" y="43052"/>
                </a:lnTo>
                <a:lnTo>
                  <a:pt x="3734345" y="45126"/>
                </a:lnTo>
                <a:lnTo>
                  <a:pt x="3765121" y="46593"/>
                </a:lnTo>
                <a:lnTo>
                  <a:pt x="3794111" y="47464"/>
                </a:lnTo>
                <a:lnTo>
                  <a:pt x="3821303" y="47751"/>
                </a:lnTo>
                <a:lnTo>
                  <a:pt x="3846111" y="48059"/>
                </a:lnTo>
                <a:lnTo>
                  <a:pt x="3867943" y="48974"/>
                </a:lnTo>
                <a:lnTo>
                  <a:pt x="3886775" y="50484"/>
                </a:lnTo>
                <a:lnTo>
                  <a:pt x="3902582" y="52577"/>
                </a:lnTo>
                <a:lnTo>
                  <a:pt x="3919944" y="54671"/>
                </a:lnTo>
                <a:lnTo>
                  <a:pt x="3943270" y="56181"/>
                </a:lnTo>
                <a:lnTo>
                  <a:pt x="3972573" y="57096"/>
                </a:lnTo>
                <a:lnTo>
                  <a:pt x="4007866" y="57403"/>
                </a:lnTo>
                <a:lnTo>
                  <a:pt x="4043753" y="57403"/>
                </a:lnTo>
                <a:lnTo>
                  <a:pt x="4074842" y="57403"/>
                </a:lnTo>
                <a:lnTo>
                  <a:pt x="4729988" y="57403"/>
                </a:lnTo>
                <a:lnTo>
                  <a:pt x="4751224" y="56806"/>
                </a:lnTo>
                <a:lnTo>
                  <a:pt x="4771866" y="55006"/>
                </a:lnTo>
                <a:lnTo>
                  <a:pt x="4791888" y="51992"/>
                </a:lnTo>
                <a:lnTo>
                  <a:pt x="4811268" y="47751"/>
                </a:lnTo>
                <a:lnTo>
                  <a:pt x="4830413" y="42989"/>
                </a:lnTo>
                <a:lnTo>
                  <a:pt x="4849558" y="38226"/>
                </a:lnTo>
                <a:lnTo>
                  <a:pt x="4887849" y="28701"/>
                </a:lnTo>
                <a:lnTo>
                  <a:pt x="4931783" y="19665"/>
                </a:lnTo>
                <a:lnTo>
                  <a:pt x="4940427" y="19049"/>
                </a:lnTo>
                <a:lnTo>
                  <a:pt x="4950079" y="19049"/>
                </a:lnTo>
                <a:lnTo>
                  <a:pt x="4956429" y="17525"/>
                </a:lnTo>
                <a:lnTo>
                  <a:pt x="4959604" y="14350"/>
                </a:lnTo>
                <a:lnTo>
                  <a:pt x="4962779" y="11175"/>
                </a:lnTo>
                <a:lnTo>
                  <a:pt x="4964430" y="6350"/>
                </a:lnTo>
                <a:lnTo>
                  <a:pt x="4964430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6636" y="1124282"/>
            <a:ext cx="6074410" cy="204978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780"/>
              </a:spcBef>
              <a:buFont typeface="Cambria"/>
              <a:buChar char="○"/>
              <a:tabLst>
                <a:tab pos="266700" algn="l"/>
              </a:tabLst>
            </a:pPr>
            <a:r>
              <a:rPr dirty="0" sz="2000" spc="-55" b="1">
                <a:latin typeface="Malgun Gothic"/>
                <a:cs typeface="Malgun Gothic"/>
              </a:rPr>
              <a:t>순보험료(</a:t>
            </a:r>
            <a:r>
              <a:rPr dirty="0" sz="2000" spc="-55">
                <a:latin typeface="Microsoft Sans Serif"/>
                <a:cs typeface="Microsoft Sans Serif"/>
              </a:rPr>
              <a:t></a:t>
            </a:r>
            <a:r>
              <a:rPr dirty="0" sz="2000" spc="-55" b="1">
                <a:latin typeface="Malgun Gothic"/>
                <a:cs typeface="Malgun Gothic"/>
              </a:rPr>
              <a:t>)와</a:t>
            </a:r>
            <a:r>
              <a:rPr dirty="0" sz="2000" spc="150" b="1">
                <a:latin typeface="Malgun Gothic"/>
                <a:cs typeface="Malgun Gothic"/>
              </a:rPr>
              <a:t> </a:t>
            </a:r>
            <a:r>
              <a:rPr dirty="0" sz="2000" spc="50" b="1">
                <a:latin typeface="Malgun Gothic"/>
                <a:cs typeface="Malgun Gothic"/>
              </a:rPr>
              <a:t>보험료(</a:t>
            </a:r>
            <a:r>
              <a:rPr dirty="0" sz="2000" spc="50">
                <a:latin typeface="Microsoft Sans Serif"/>
                <a:cs typeface="Microsoft Sans Serif"/>
              </a:rPr>
              <a:t></a:t>
            </a:r>
            <a:r>
              <a:rPr dirty="0" sz="2000" spc="50" b="1">
                <a:latin typeface="Malgun Gothic"/>
                <a:cs typeface="Malgun Gothic"/>
              </a:rPr>
              <a:t>)의</a:t>
            </a:r>
            <a:r>
              <a:rPr dirty="0" sz="2000" spc="15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구분</a:t>
            </a:r>
            <a:endParaRPr sz="2000">
              <a:latin typeface="Malgun Gothic"/>
              <a:cs typeface="Malgun Gothic"/>
            </a:endParaRPr>
          </a:p>
          <a:p>
            <a:pPr marL="138430">
              <a:lnSpc>
                <a:spcPct val="100000"/>
              </a:lnSpc>
              <a:spcBef>
                <a:spcPts val="725"/>
              </a:spcBef>
              <a:tabLst>
                <a:tab pos="432434" algn="l"/>
                <a:tab pos="1002030" algn="l"/>
                <a:tab pos="1278890" algn="l"/>
                <a:tab pos="4933950" algn="l"/>
              </a:tabLst>
            </a:pPr>
            <a:r>
              <a:rPr dirty="0" sz="2000" spc="370" b="1">
                <a:latin typeface="Malgun Gothic"/>
                <a:cs typeface="Malgun Gothic"/>
              </a:rPr>
              <a:t>-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840">
                <a:latin typeface="Microsoft Sans Serif"/>
                <a:cs typeface="Microsoft Sans Serif"/>
              </a:rPr>
              <a:t></a:t>
            </a:r>
            <a:r>
              <a:rPr dirty="0" sz="2000" spc="465">
                <a:latin typeface="Microsoft Sans Serif"/>
                <a:cs typeface="Microsoft Sans Serif"/>
              </a:rPr>
              <a:t> </a:t>
            </a:r>
            <a:r>
              <a:rPr dirty="0" sz="2000" spc="-50" b="1">
                <a:latin typeface="Malgun Gothic"/>
                <a:cs typeface="Malgun Gothic"/>
              </a:rPr>
              <a:t>=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190">
                <a:latin typeface="Microsoft Sans Serif"/>
                <a:cs typeface="Microsoft Sans Serif"/>
              </a:rPr>
              <a:t></a:t>
            </a:r>
            <a:r>
              <a:rPr dirty="0" sz="2000">
                <a:latin typeface="Microsoft Sans Serif"/>
                <a:cs typeface="Microsoft Sans Serif"/>
              </a:rPr>
              <a:t>	</a:t>
            </a: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900" b="1">
                <a:latin typeface="Malgun Gothic"/>
                <a:cs typeface="Malgun Gothic"/>
              </a:rPr>
              <a:t>평균보험급여</a:t>
            </a:r>
            <a:r>
              <a:rPr dirty="0" sz="2000" b="1">
                <a:latin typeface="Malgun Gothic"/>
                <a:cs typeface="Malgun Gothic"/>
              </a:rPr>
              <a:t> =</a:t>
            </a:r>
            <a:r>
              <a:rPr dirty="0" sz="2000" spc="1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기대손실</a:t>
            </a:r>
            <a:r>
              <a:rPr dirty="0" sz="2000" spc="190" b="1">
                <a:latin typeface="Malgun Gothic"/>
                <a:cs typeface="Malgun Gothic"/>
              </a:rPr>
              <a:t> </a:t>
            </a:r>
            <a:r>
              <a:rPr dirty="0" sz="2000" spc="-50" b="1">
                <a:latin typeface="Malgun Gothic"/>
                <a:cs typeface="Malgun Gothic"/>
              </a:rPr>
              <a:t>=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100" spc="-60" i="1">
                <a:latin typeface="Times New Roman"/>
                <a:cs typeface="Times New Roman"/>
              </a:rPr>
              <a:t></a:t>
            </a:r>
            <a:r>
              <a:rPr dirty="0" baseline="2777" sz="3000" spc="-89">
                <a:latin typeface="Microsoft Sans Serif"/>
                <a:cs typeface="Microsoft Sans Serif"/>
              </a:rPr>
              <a:t>(</a:t>
            </a:r>
            <a:r>
              <a:rPr dirty="0" sz="2100" spc="-60" i="1">
                <a:latin typeface="Times New Roman"/>
                <a:cs typeface="Times New Roman"/>
              </a:rPr>
              <a:t></a:t>
            </a:r>
            <a:r>
              <a:rPr dirty="0" baseline="2777" sz="3000" spc="-89">
                <a:latin typeface="Microsoft Sans Serif"/>
                <a:cs typeface="Microsoft Sans Serif"/>
              </a:rPr>
              <a:t>)</a:t>
            </a:r>
            <a:r>
              <a:rPr dirty="0" baseline="2777" sz="3000" spc="-157">
                <a:latin typeface="Microsoft Sans Serif"/>
                <a:cs typeface="Microsoft Sans Serif"/>
              </a:rPr>
              <a:t> </a:t>
            </a:r>
            <a:r>
              <a:rPr dirty="0" baseline="2777" sz="3000" spc="-794">
                <a:latin typeface="Microsoft Sans Serif"/>
                <a:cs typeface="Microsoft Sans Serif"/>
              </a:rPr>
              <a:t></a:t>
            </a:r>
            <a:r>
              <a:rPr dirty="0" baseline="2777" sz="3000" spc="-37">
                <a:latin typeface="Microsoft Sans Serif"/>
                <a:cs typeface="Microsoft Sans Serif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</a:t>
            </a:r>
            <a:r>
              <a:rPr dirty="0" sz="2100" spc="-25" i="1">
                <a:latin typeface="Times New Roman"/>
                <a:cs typeface="Times New Roman"/>
              </a:rPr>
              <a:t></a:t>
            </a:r>
            <a:endParaRPr sz="2100">
              <a:latin typeface="Times New Roman"/>
              <a:cs typeface="Times New Roman"/>
            </a:endParaRPr>
          </a:p>
          <a:p>
            <a:pPr marL="138430">
              <a:lnSpc>
                <a:spcPct val="100000"/>
              </a:lnSpc>
              <a:spcBef>
                <a:spcPts val="705"/>
              </a:spcBef>
              <a:tabLst>
                <a:tab pos="432434" algn="l"/>
                <a:tab pos="689610" algn="l"/>
                <a:tab pos="3013075" algn="l"/>
                <a:tab pos="3298825" algn="l"/>
              </a:tabLst>
            </a:pPr>
            <a:r>
              <a:rPr dirty="0" sz="2000" spc="370" b="1">
                <a:latin typeface="Malgun Gothic"/>
                <a:cs typeface="Malgun Gothic"/>
              </a:rPr>
              <a:t>-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50">
                <a:latin typeface="Microsoft Sans Serif"/>
                <a:cs typeface="Microsoft Sans Serif"/>
              </a:rPr>
              <a:t></a:t>
            </a:r>
            <a:r>
              <a:rPr dirty="0" sz="2000">
                <a:latin typeface="Microsoft Sans Serif"/>
                <a:cs typeface="Microsoft Sans Serif"/>
              </a:rPr>
              <a:t>	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발생확률,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100" spc="75" i="1">
                <a:latin typeface="Times New Roman"/>
                <a:cs typeface="Times New Roman"/>
              </a:rPr>
              <a:t></a:t>
            </a:r>
            <a:r>
              <a:rPr dirty="0" sz="2100" i="1">
                <a:latin typeface="Times New Roman"/>
                <a:cs typeface="Times New Roman"/>
              </a:rPr>
              <a:t>	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손실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규모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Malgun Gothic"/>
                <a:cs typeface="Malgun Gothic"/>
              </a:rPr>
              <a:t>&lt;표</a:t>
            </a:r>
            <a:r>
              <a:rPr dirty="0" sz="2000" spc="160" b="1">
                <a:latin typeface="Malgun Gothic"/>
                <a:cs typeface="Malgun Gothic"/>
              </a:rPr>
              <a:t> </a:t>
            </a:r>
            <a:r>
              <a:rPr dirty="0" sz="2000" spc="220" b="1">
                <a:latin typeface="Malgun Gothic"/>
                <a:cs typeface="Malgun Gothic"/>
              </a:rPr>
              <a:t>5-</a:t>
            </a:r>
            <a:r>
              <a:rPr dirty="0" sz="2000" b="1">
                <a:latin typeface="Malgun Gothic"/>
                <a:cs typeface="Malgun Gothic"/>
              </a:rPr>
              <a:t>1&gt;</a:t>
            </a:r>
            <a:r>
              <a:rPr dirty="0" sz="2000" spc="1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총보험료와</a:t>
            </a:r>
            <a:r>
              <a:rPr dirty="0" sz="2000" spc="165" b="1">
                <a:latin typeface="Malgun Gothic"/>
                <a:cs typeface="Malgun Gothic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순보험료</a:t>
            </a:r>
            <a:endParaRPr sz="2000">
              <a:latin typeface="Malgun Gothic"/>
              <a:cs typeface="Malgun Gothic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113586" y="3333483"/>
          <a:ext cx="8531860" cy="288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6225"/>
                <a:gridCol w="2816225"/>
                <a:gridCol w="2817495"/>
              </a:tblGrid>
              <a:tr h="5054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000" b="1">
                          <a:latin typeface="Malgun Gothic"/>
                          <a:cs typeface="Malgun Gothic"/>
                        </a:rPr>
                        <a:t>좋은</a:t>
                      </a:r>
                      <a:r>
                        <a:rPr dirty="0" sz="2000" spc="2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0" b="1">
                          <a:latin typeface="Malgun Gothic"/>
                          <a:cs typeface="Malgun Gothic"/>
                        </a:rPr>
                        <a:t>해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869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000" b="1">
                          <a:latin typeface="Malgun Gothic"/>
                          <a:cs typeface="Malgun Gothic"/>
                        </a:rPr>
                        <a:t>나쁜</a:t>
                      </a:r>
                      <a:r>
                        <a:rPr dirty="0" sz="2000" spc="2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0" b="1">
                          <a:latin typeface="Malgun Gothic"/>
                          <a:cs typeface="Malgun Gothic"/>
                        </a:rPr>
                        <a:t>해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869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dirty="0" sz="2000" b="1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dirty="0" sz="2000" spc="36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25" b="1">
                          <a:latin typeface="Malgun Gothic"/>
                          <a:cs typeface="Malgun Gothic"/>
                        </a:rPr>
                        <a:t>소득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2133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dirty="0" sz="2000" spc="-10" b="1">
                          <a:latin typeface="Malgun Gothic"/>
                          <a:cs typeface="Malgun Gothic"/>
                        </a:rPr>
                        <a:t>1,000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2133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dirty="0" sz="2000" spc="-25" b="1">
                          <a:latin typeface="Malgun Gothic"/>
                          <a:cs typeface="Malgun Gothic"/>
                        </a:rPr>
                        <a:t>100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2133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000" b="1">
                          <a:latin typeface="Malgun Gothic"/>
                          <a:cs typeface="Malgun Gothic"/>
                        </a:rPr>
                        <a:t>2.</a:t>
                      </a:r>
                      <a:r>
                        <a:rPr dirty="0" sz="2000" spc="36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25" b="1">
                          <a:latin typeface="Malgun Gothic"/>
                          <a:cs typeface="Malgun Gothic"/>
                        </a:rPr>
                        <a:t>보험료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000" spc="-25" b="1">
                          <a:latin typeface="Malgun Gothic"/>
                          <a:cs typeface="Malgun Gothic"/>
                        </a:rPr>
                        <a:t>550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000" spc="-25" b="1">
                          <a:latin typeface="Malgun Gothic"/>
                          <a:cs typeface="Malgun Gothic"/>
                        </a:rPr>
                        <a:t>550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b="1">
                          <a:latin typeface="Malgun Gothic"/>
                          <a:cs typeface="Malgun Gothic"/>
                        </a:rPr>
                        <a:t>3.</a:t>
                      </a:r>
                      <a:r>
                        <a:rPr dirty="0" sz="2000" spc="36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20" b="1">
                          <a:latin typeface="Malgun Gothic"/>
                          <a:cs typeface="Malgun Gothic"/>
                        </a:rPr>
                        <a:t>보험급여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spc="370" b="1">
                          <a:latin typeface="Malgun Gothic"/>
                          <a:cs typeface="Malgun Gothic"/>
                        </a:rPr>
                        <a:t>-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spc="-25" b="1">
                          <a:latin typeface="Malgun Gothic"/>
                          <a:cs typeface="Malgun Gothic"/>
                        </a:rPr>
                        <a:t>900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b="1">
                          <a:latin typeface="Malgun Gothic"/>
                          <a:cs typeface="Malgun Gothic"/>
                        </a:rPr>
                        <a:t>4.</a:t>
                      </a:r>
                      <a:r>
                        <a:rPr dirty="0" sz="2000" spc="3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75" b="1">
                          <a:latin typeface="Malgun Gothic"/>
                          <a:cs typeface="Malgun Gothic"/>
                        </a:rPr>
                        <a:t>순소득(1-</a:t>
                      </a:r>
                      <a:r>
                        <a:rPr dirty="0" sz="2000" spc="50" b="1">
                          <a:latin typeface="Malgun Gothic"/>
                          <a:cs typeface="Malgun Gothic"/>
                        </a:rPr>
                        <a:t>2+3)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spc="-25" b="1">
                          <a:latin typeface="Malgun Gothic"/>
                          <a:cs typeface="Malgun Gothic"/>
                        </a:rPr>
                        <a:t>450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 spc="-25" b="1">
                          <a:latin typeface="Malgun Gothic"/>
                          <a:cs typeface="Malgun Gothic"/>
                        </a:rPr>
                        <a:t>450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000" b="1">
                          <a:latin typeface="Malgun Gothic"/>
                          <a:cs typeface="Malgun Gothic"/>
                        </a:rPr>
                        <a:t>5.</a:t>
                      </a:r>
                      <a:r>
                        <a:rPr dirty="0" sz="2000" spc="36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20" b="1">
                          <a:latin typeface="Malgun Gothic"/>
                          <a:cs typeface="Malgun Gothic"/>
                        </a:rPr>
                        <a:t>순보험료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000" spc="-25" b="1">
                          <a:latin typeface="Malgun Gothic"/>
                          <a:cs typeface="Malgun Gothic"/>
                        </a:rPr>
                        <a:t>100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000" spc="-25" b="1">
                          <a:latin typeface="Malgun Gothic"/>
                          <a:cs typeface="Malgun Gothic"/>
                        </a:rPr>
                        <a:t>100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393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5686171" y="4234179"/>
            <a:ext cx="114935" cy="105410"/>
          </a:xfrm>
          <a:custGeom>
            <a:avLst/>
            <a:gdLst/>
            <a:ahLst/>
            <a:cxnLst/>
            <a:rect l="l" t="t" r="r" b="b"/>
            <a:pathLst>
              <a:path w="114935" h="105410">
                <a:moveTo>
                  <a:pt x="0" y="19177"/>
                </a:moveTo>
                <a:lnTo>
                  <a:pt x="0" y="19177"/>
                </a:lnTo>
                <a:lnTo>
                  <a:pt x="108330" y="19177"/>
                </a:lnTo>
                <a:lnTo>
                  <a:pt x="114807" y="19177"/>
                </a:lnTo>
              </a:path>
              <a:path w="114935" h="105410">
                <a:moveTo>
                  <a:pt x="57403" y="0"/>
                </a:moveTo>
                <a:lnTo>
                  <a:pt x="57403" y="9544"/>
                </a:lnTo>
                <a:lnTo>
                  <a:pt x="57403" y="19113"/>
                </a:lnTo>
                <a:lnTo>
                  <a:pt x="57403" y="28682"/>
                </a:lnTo>
                <a:lnTo>
                  <a:pt x="57403" y="38227"/>
                </a:lnTo>
                <a:lnTo>
                  <a:pt x="57691" y="47230"/>
                </a:lnTo>
                <a:lnTo>
                  <a:pt x="58562" y="55006"/>
                </a:lnTo>
                <a:lnTo>
                  <a:pt x="60029" y="61569"/>
                </a:lnTo>
                <a:lnTo>
                  <a:pt x="62102" y="66929"/>
                </a:lnTo>
                <a:lnTo>
                  <a:pt x="64196" y="72901"/>
                </a:lnTo>
                <a:lnTo>
                  <a:pt x="65706" y="81280"/>
                </a:lnTo>
                <a:lnTo>
                  <a:pt x="66621" y="92039"/>
                </a:lnTo>
                <a:lnTo>
                  <a:pt x="66928" y="10515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695696" y="4645405"/>
            <a:ext cx="95885" cy="10160"/>
          </a:xfrm>
          <a:custGeom>
            <a:avLst/>
            <a:gdLst/>
            <a:ahLst/>
            <a:cxnLst/>
            <a:rect l="l" t="t" r="r" b="b"/>
            <a:pathLst>
              <a:path w="95885" h="10160">
                <a:moveTo>
                  <a:pt x="0" y="0"/>
                </a:moveTo>
                <a:lnTo>
                  <a:pt x="0" y="0"/>
                </a:lnTo>
                <a:lnTo>
                  <a:pt x="71754" y="0"/>
                </a:lnTo>
                <a:lnTo>
                  <a:pt x="78104" y="1651"/>
                </a:lnTo>
                <a:lnTo>
                  <a:pt x="81279" y="4826"/>
                </a:lnTo>
                <a:lnTo>
                  <a:pt x="84454" y="8001"/>
                </a:lnTo>
                <a:lnTo>
                  <a:pt x="89280" y="9652"/>
                </a:lnTo>
                <a:lnTo>
                  <a:pt x="95630" y="9652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714872" y="4961128"/>
            <a:ext cx="143510" cy="191770"/>
          </a:xfrm>
          <a:custGeom>
            <a:avLst/>
            <a:gdLst/>
            <a:ahLst/>
            <a:cxnLst/>
            <a:rect l="l" t="t" r="r" b="b"/>
            <a:pathLst>
              <a:path w="143510" h="191770">
                <a:moveTo>
                  <a:pt x="0" y="86106"/>
                </a:moveTo>
                <a:lnTo>
                  <a:pt x="0" y="86106"/>
                </a:lnTo>
                <a:lnTo>
                  <a:pt x="137032" y="86106"/>
                </a:lnTo>
                <a:lnTo>
                  <a:pt x="143510" y="86106"/>
                </a:lnTo>
              </a:path>
              <a:path w="143510" h="191770">
                <a:moveTo>
                  <a:pt x="95630" y="0"/>
                </a:moveTo>
                <a:lnTo>
                  <a:pt x="95630" y="0"/>
                </a:lnTo>
                <a:lnTo>
                  <a:pt x="95630" y="184912"/>
                </a:lnTo>
                <a:lnTo>
                  <a:pt x="95630" y="191262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354582" y="1661160"/>
            <a:ext cx="277495" cy="325755"/>
          </a:xfrm>
          <a:custGeom>
            <a:avLst/>
            <a:gdLst/>
            <a:ahLst/>
            <a:cxnLst/>
            <a:rect l="l" t="t" r="r" b="b"/>
            <a:pathLst>
              <a:path w="277494" h="325755">
                <a:moveTo>
                  <a:pt x="277368" y="306069"/>
                </a:moveTo>
                <a:lnTo>
                  <a:pt x="264668" y="306069"/>
                </a:lnTo>
                <a:lnTo>
                  <a:pt x="256667" y="306069"/>
                </a:lnTo>
                <a:lnTo>
                  <a:pt x="253492" y="306069"/>
                </a:lnTo>
                <a:lnTo>
                  <a:pt x="250317" y="306069"/>
                </a:lnTo>
                <a:lnTo>
                  <a:pt x="243967" y="309244"/>
                </a:lnTo>
                <a:lnTo>
                  <a:pt x="200914" y="325247"/>
                </a:lnTo>
                <a:lnTo>
                  <a:pt x="191313" y="325247"/>
                </a:lnTo>
                <a:lnTo>
                  <a:pt x="181737" y="325247"/>
                </a:lnTo>
                <a:lnTo>
                  <a:pt x="124333" y="325247"/>
                </a:lnTo>
                <a:lnTo>
                  <a:pt x="115383" y="324939"/>
                </a:lnTo>
                <a:lnTo>
                  <a:pt x="76581" y="306069"/>
                </a:lnTo>
                <a:lnTo>
                  <a:pt x="47879" y="272541"/>
                </a:lnTo>
                <a:lnTo>
                  <a:pt x="28702" y="229488"/>
                </a:lnTo>
                <a:lnTo>
                  <a:pt x="28106" y="220251"/>
                </a:lnTo>
                <a:lnTo>
                  <a:pt x="26320" y="211597"/>
                </a:lnTo>
                <a:lnTo>
                  <a:pt x="23344" y="203539"/>
                </a:lnTo>
                <a:lnTo>
                  <a:pt x="19177" y="196087"/>
                </a:lnTo>
                <a:lnTo>
                  <a:pt x="14648" y="188870"/>
                </a:lnTo>
                <a:lnTo>
                  <a:pt x="10763" y="181689"/>
                </a:lnTo>
                <a:lnTo>
                  <a:pt x="307" y="143150"/>
                </a:lnTo>
                <a:lnTo>
                  <a:pt x="0" y="133857"/>
                </a:lnTo>
                <a:lnTo>
                  <a:pt x="307" y="124313"/>
                </a:lnTo>
                <a:lnTo>
                  <a:pt x="8110" y="86032"/>
                </a:lnTo>
                <a:lnTo>
                  <a:pt x="38536" y="48093"/>
                </a:lnTo>
                <a:lnTo>
                  <a:pt x="71755" y="23875"/>
                </a:lnTo>
                <a:lnTo>
                  <a:pt x="107580" y="7748"/>
                </a:lnTo>
                <a:lnTo>
                  <a:pt x="152725" y="287"/>
                </a:lnTo>
                <a:lnTo>
                  <a:pt x="162559" y="0"/>
                </a:lnTo>
                <a:lnTo>
                  <a:pt x="172160" y="0"/>
                </a:lnTo>
                <a:lnTo>
                  <a:pt x="181737" y="0"/>
                </a:lnTo>
                <a:lnTo>
                  <a:pt x="245490" y="0"/>
                </a:lnTo>
                <a:lnTo>
                  <a:pt x="250317" y="6350"/>
                </a:lnTo>
                <a:lnTo>
                  <a:pt x="258010" y="47803"/>
                </a:lnTo>
                <a:lnTo>
                  <a:pt x="258318" y="57403"/>
                </a:lnTo>
                <a:lnTo>
                  <a:pt x="258318" y="67544"/>
                </a:lnTo>
                <a:lnTo>
                  <a:pt x="258318" y="78898"/>
                </a:lnTo>
                <a:lnTo>
                  <a:pt x="258318" y="218312"/>
                </a:lnTo>
                <a:lnTo>
                  <a:pt x="255015" y="221614"/>
                </a:lnTo>
                <a:lnTo>
                  <a:pt x="248665" y="224789"/>
                </a:lnTo>
                <a:lnTo>
                  <a:pt x="242315" y="227964"/>
                </a:lnTo>
                <a:lnTo>
                  <a:pt x="235965" y="229488"/>
                </a:lnTo>
                <a:lnTo>
                  <a:pt x="229615" y="22948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701535" y="1670685"/>
            <a:ext cx="392430" cy="325755"/>
          </a:xfrm>
          <a:custGeom>
            <a:avLst/>
            <a:gdLst/>
            <a:ahLst/>
            <a:cxnLst/>
            <a:rect l="l" t="t" r="r" b="b"/>
            <a:pathLst>
              <a:path w="392429" h="325755">
                <a:moveTo>
                  <a:pt x="162560" y="325247"/>
                </a:moveTo>
                <a:lnTo>
                  <a:pt x="157200" y="325247"/>
                </a:lnTo>
                <a:lnTo>
                  <a:pt x="150637" y="325247"/>
                </a:lnTo>
                <a:lnTo>
                  <a:pt x="142861" y="325247"/>
                </a:lnTo>
                <a:lnTo>
                  <a:pt x="133858" y="325247"/>
                </a:lnTo>
                <a:lnTo>
                  <a:pt x="123717" y="324054"/>
                </a:lnTo>
                <a:lnTo>
                  <a:pt x="86106" y="306069"/>
                </a:lnTo>
                <a:lnTo>
                  <a:pt x="53834" y="280120"/>
                </a:lnTo>
                <a:lnTo>
                  <a:pt x="42753" y="265451"/>
                </a:lnTo>
                <a:lnTo>
                  <a:pt x="37068" y="258270"/>
                </a:lnTo>
                <a:lnTo>
                  <a:pt x="30787" y="251112"/>
                </a:lnTo>
                <a:lnTo>
                  <a:pt x="23875" y="243966"/>
                </a:lnTo>
                <a:lnTo>
                  <a:pt x="17327" y="235846"/>
                </a:lnTo>
                <a:lnTo>
                  <a:pt x="2678" y="187146"/>
                </a:lnTo>
                <a:lnTo>
                  <a:pt x="0" y="153035"/>
                </a:lnTo>
                <a:lnTo>
                  <a:pt x="0" y="143797"/>
                </a:lnTo>
                <a:lnTo>
                  <a:pt x="0" y="135143"/>
                </a:lnTo>
                <a:lnTo>
                  <a:pt x="0" y="127085"/>
                </a:lnTo>
                <a:lnTo>
                  <a:pt x="0" y="119634"/>
                </a:lnTo>
                <a:lnTo>
                  <a:pt x="289" y="112109"/>
                </a:lnTo>
                <a:lnTo>
                  <a:pt x="11969" y="70548"/>
                </a:lnTo>
                <a:lnTo>
                  <a:pt x="31382" y="58943"/>
                </a:lnTo>
                <a:lnTo>
                  <a:pt x="39449" y="53847"/>
                </a:lnTo>
                <a:lnTo>
                  <a:pt x="48111" y="46942"/>
                </a:lnTo>
                <a:lnTo>
                  <a:pt x="57404" y="38226"/>
                </a:lnTo>
                <a:lnTo>
                  <a:pt x="67238" y="29295"/>
                </a:lnTo>
                <a:lnTo>
                  <a:pt x="100457" y="9525"/>
                </a:lnTo>
                <a:lnTo>
                  <a:pt x="138684" y="0"/>
                </a:lnTo>
                <a:lnTo>
                  <a:pt x="146732" y="0"/>
                </a:lnTo>
                <a:lnTo>
                  <a:pt x="156591" y="0"/>
                </a:lnTo>
                <a:lnTo>
                  <a:pt x="168259" y="0"/>
                </a:lnTo>
                <a:lnTo>
                  <a:pt x="181737" y="0"/>
                </a:lnTo>
                <a:lnTo>
                  <a:pt x="196099" y="902"/>
                </a:lnTo>
                <a:lnTo>
                  <a:pt x="210439" y="3603"/>
                </a:lnTo>
                <a:lnTo>
                  <a:pt x="224778" y="8090"/>
                </a:lnTo>
                <a:lnTo>
                  <a:pt x="239141" y="14350"/>
                </a:lnTo>
                <a:lnTo>
                  <a:pt x="252853" y="21207"/>
                </a:lnTo>
                <a:lnTo>
                  <a:pt x="265398" y="27479"/>
                </a:lnTo>
                <a:lnTo>
                  <a:pt x="276752" y="33156"/>
                </a:lnTo>
                <a:lnTo>
                  <a:pt x="286893" y="38226"/>
                </a:lnTo>
                <a:lnTo>
                  <a:pt x="296493" y="43352"/>
                </a:lnTo>
                <a:lnTo>
                  <a:pt x="334791" y="70566"/>
                </a:lnTo>
                <a:lnTo>
                  <a:pt x="363474" y="109981"/>
                </a:lnTo>
                <a:lnTo>
                  <a:pt x="381440" y="144039"/>
                </a:lnTo>
                <a:lnTo>
                  <a:pt x="382650" y="148209"/>
                </a:lnTo>
                <a:lnTo>
                  <a:pt x="382650" y="151511"/>
                </a:lnTo>
                <a:lnTo>
                  <a:pt x="384175" y="159385"/>
                </a:lnTo>
                <a:lnTo>
                  <a:pt x="387350" y="172212"/>
                </a:lnTo>
                <a:lnTo>
                  <a:pt x="390525" y="184912"/>
                </a:lnTo>
                <a:lnTo>
                  <a:pt x="392175" y="192912"/>
                </a:lnTo>
                <a:lnTo>
                  <a:pt x="392175" y="216788"/>
                </a:lnTo>
                <a:lnTo>
                  <a:pt x="390525" y="224789"/>
                </a:lnTo>
                <a:lnTo>
                  <a:pt x="358721" y="255871"/>
                </a:lnTo>
                <a:lnTo>
                  <a:pt x="318956" y="269928"/>
                </a:lnTo>
                <a:lnTo>
                  <a:pt x="300101" y="276209"/>
                </a:lnTo>
                <a:lnTo>
                  <a:pt x="283055" y="281894"/>
                </a:lnTo>
                <a:lnTo>
                  <a:pt x="239141" y="294163"/>
                </a:lnTo>
                <a:lnTo>
                  <a:pt x="195173" y="296834"/>
                </a:lnTo>
                <a:lnTo>
                  <a:pt x="178133" y="297719"/>
                </a:lnTo>
                <a:lnTo>
                  <a:pt x="159307" y="299223"/>
                </a:lnTo>
                <a:lnTo>
                  <a:pt x="138684" y="301370"/>
                </a:lnTo>
                <a:lnTo>
                  <a:pt x="119558" y="303444"/>
                </a:lnTo>
                <a:lnTo>
                  <a:pt x="105219" y="304911"/>
                </a:lnTo>
                <a:lnTo>
                  <a:pt x="95642" y="305782"/>
                </a:lnTo>
                <a:lnTo>
                  <a:pt x="90805" y="306069"/>
                </a:lnTo>
                <a:lnTo>
                  <a:pt x="87630" y="306069"/>
                </a:lnTo>
                <a:lnTo>
                  <a:pt x="82931" y="306069"/>
                </a:lnTo>
                <a:lnTo>
                  <a:pt x="76454" y="30606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dirty="0" spc="295"/>
              <a:t> </a:t>
            </a:r>
            <a:r>
              <a:rPr dirty="0"/>
              <a:t>보험의</a:t>
            </a:r>
            <a:r>
              <a:rPr dirty="0" spc="295"/>
              <a:t> </a:t>
            </a:r>
            <a:r>
              <a:rPr dirty="0"/>
              <a:t>본질</a:t>
            </a:r>
            <a:r>
              <a:rPr dirty="0" spc="300"/>
              <a:t> </a:t>
            </a:r>
            <a:r>
              <a:rPr dirty="0" spc="135"/>
              <a:t>:</a:t>
            </a:r>
            <a:r>
              <a:rPr dirty="0" spc="300"/>
              <a:t> </a:t>
            </a:r>
            <a:r>
              <a:rPr dirty="0"/>
              <a:t>위험의</a:t>
            </a:r>
            <a:r>
              <a:rPr dirty="0" spc="300"/>
              <a:t> </a:t>
            </a:r>
            <a:r>
              <a:rPr dirty="0"/>
              <a:t>분산</a:t>
            </a:r>
            <a:r>
              <a:rPr dirty="0" spc="295"/>
              <a:t> </a:t>
            </a:r>
            <a:r>
              <a:rPr dirty="0" spc="-25"/>
              <a:t>기구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66636" y="1919294"/>
            <a:ext cx="8549005" cy="205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3690" marR="6350" indent="-301625">
              <a:lnSpc>
                <a:spcPct val="133400"/>
              </a:lnSpc>
              <a:spcBef>
                <a:spcPts val="100"/>
              </a:spcBef>
              <a:buFont typeface="Cambria"/>
              <a:buChar char="○"/>
              <a:tabLst>
                <a:tab pos="313690" algn="l"/>
                <a:tab pos="1251585" algn="l"/>
                <a:tab pos="2187575" algn="l"/>
                <a:tab pos="3124200" algn="l"/>
                <a:tab pos="4317365" algn="l"/>
                <a:tab pos="4734560" algn="l"/>
                <a:tab pos="5527675" algn="l"/>
                <a:tab pos="7089775" algn="l"/>
                <a:tab pos="8025765" algn="l"/>
              </a:tabLst>
            </a:pPr>
            <a:r>
              <a:rPr dirty="0" sz="2000" spc="-25" b="1">
                <a:latin typeface="Malgun Gothic"/>
                <a:cs typeface="Malgun Gothic"/>
              </a:rPr>
              <a:t>보험의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기능은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대수의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법칙(law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of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large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numbers)과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거래의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이익 </a:t>
            </a:r>
            <a:r>
              <a:rPr dirty="0" sz="2000" b="1">
                <a:latin typeface="Malgun Gothic"/>
                <a:cs typeface="Malgun Gothic"/>
              </a:rPr>
              <a:t>(gains</a:t>
            </a:r>
            <a:r>
              <a:rPr dirty="0" sz="2000" spc="21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from</a:t>
            </a:r>
            <a:r>
              <a:rPr dirty="0" sz="2000" spc="21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trade)을</a:t>
            </a:r>
            <a:r>
              <a:rPr dirty="0" sz="2000" spc="22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바탕</a:t>
            </a:r>
            <a:endParaRPr sz="2000">
              <a:latin typeface="Malgun Gothic"/>
              <a:cs typeface="Malgun Gothic"/>
            </a:endParaRPr>
          </a:p>
          <a:p>
            <a:pPr lvl="1" marL="432434" marR="5080" indent="-294005">
              <a:lnSpc>
                <a:spcPts val="3200"/>
              </a:lnSpc>
              <a:spcBef>
                <a:spcPts val="229"/>
              </a:spcBef>
              <a:buChar char="-"/>
              <a:tabLst>
                <a:tab pos="432434" algn="l"/>
                <a:tab pos="1123315" algn="l"/>
                <a:tab pos="1765935" algn="l"/>
                <a:tab pos="2662555" algn="l"/>
                <a:tab pos="3811904" algn="l"/>
                <a:tab pos="5215890" algn="l"/>
                <a:tab pos="5857875" algn="l"/>
                <a:tab pos="7082155" algn="l"/>
                <a:tab pos="7773034" algn="l"/>
              </a:tabLst>
            </a:pPr>
            <a:r>
              <a:rPr dirty="0" sz="2000" spc="-25" b="1">
                <a:latin typeface="Malgun Gothic"/>
                <a:cs typeface="Malgun Gothic"/>
              </a:rPr>
              <a:t>20대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특정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개인의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교통사고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발생확률은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알기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어렵지만,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20대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집단의 </a:t>
            </a:r>
            <a:r>
              <a:rPr dirty="0" sz="2000" b="1">
                <a:latin typeface="Malgun Gothic"/>
                <a:cs typeface="Malgun Gothic"/>
              </a:rPr>
              <a:t>발생확률은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알려져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  <a:p>
            <a:pPr lvl="1" marL="423545" indent="-285115">
              <a:lnSpc>
                <a:spcPct val="100000"/>
              </a:lnSpc>
              <a:spcBef>
                <a:spcPts val="565"/>
              </a:spcBef>
              <a:buChar char="-"/>
              <a:tabLst>
                <a:tab pos="423545" algn="l"/>
              </a:tabLst>
            </a:pPr>
            <a:r>
              <a:rPr dirty="0" sz="2000" b="1">
                <a:latin typeface="Malgun Gothic"/>
                <a:cs typeface="Malgun Gothic"/>
              </a:rPr>
              <a:t>대수의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법칙으로부터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확보하는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확률은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상대적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확실성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있다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66636" y="4333526"/>
            <a:ext cx="6912609" cy="1652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9560" marR="5080" indent="-277495">
              <a:lnSpc>
                <a:spcPct val="141900"/>
              </a:lnSpc>
              <a:spcBef>
                <a:spcPts val="100"/>
              </a:spcBef>
              <a:buFont typeface="Cambria"/>
              <a:buChar char="○"/>
              <a:tabLst>
                <a:tab pos="313690" algn="l"/>
                <a:tab pos="1144905" algn="l"/>
                <a:tab pos="2309495" algn="l"/>
                <a:tab pos="2968625" algn="l"/>
                <a:tab pos="4491355" algn="l"/>
                <a:tab pos="6390640" algn="l"/>
              </a:tabLst>
            </a:pPr>
            <a:r>
              <a:rPr dirty="0" sz="2000" spc="-25" b="1">
                <a:latin typeface="Malgun Gothic"/>
                <a:cs typeface="Malgun Gothic"/>
              </a:rPr>
              <a:t>N명의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개인들이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각각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평균값(</a:t>
            </a:r>
            <a:r>
              <a:rPr dirty="0" sz="2000" spc="-10">
                <a:latin typeface="Microsoft Sans Serif"/>
                <a:cs typeface="Microsoft Sans Serif"/>
              </a:rPr>
              <a:t></a:t>
            </a:r>
            <a:r>
              <a:rPr dirty="0" sz="2000" spc="-10" b="1">
                <a:latin typeface="Malgun Gothic"/>
                <a:cs typeface="Malgun Gothic"/>
              </a:rPr>
              <a:t>)과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65" b="1">
                <a:latin typeface="Malgun Gothic"/>
                <a:cs typeface="Malgun Gothic"/>
              </a:rPr>
              <a:t>분산{var(y)}을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가진 </a:t>
            </a:r>
            <a:r>
              <a:rPr dirty="0" sz="2000" spc="-25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응하는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소득을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획득</a:t>
            </a:r>
            <a:endParaRPr sz="2000">
              <a:latin typeface="Malgun Gothic"/>
              <a:cs typeface="Malgun Gothic"/>
            </a:endParaRPr>
          </a:p>
          <a:p>
            <a:pPr lvl="1" marL="423545" indent="-285115">
              <a:lnSpc>
                <a:spcPct val="100000"/>
              </a:lnSpc>
              <a:spcBef>
                <a:spcPts val="595"/>
              </a:spcBef>
              <a:buChar char="-"/>
              <a:tabLst>
                <a:tab pos="423545" algn="l"/>
              </a:tabLst>
            </a:pPr>
            <a:r>
              <a:rPr dirty="0" sz="2000" b="1">
                <a:latin typeface="Malgun Gothic"/>
                <a:cs typeface="Malgun Gothic"/>
              </a:rPr>
              <a:t>모든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결과에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동일한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확률분포를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가진다.</a:t>
            </a:r>
            <a:endParaRPr sz="2000">
              <a:latin typeface="Malgun Gothic"/>
              <a:cs typeface="Malgun Gothic"/>
            </a:endParaRPr>
          </a:p>
          <a:p>
            <a:pPr lvl="1" marL="423545" indent="-285115">
              <a:lnSpc>
                <a:spcPct val="100000"/>
              </a:lnSpc>
              <a:spcBef>
                <a:spcPts val="600"/>
              </a:spcBef>
              <a:buChar char="-"/>
              <a:tabLst>
                <a:tab pos="423545" algn="l"/>
              </a:tabLst>
            </a:pPr>
            <a:r>
              <a:rPr dirty="0" sz="2000" b="1">
                <a:latin typeface="Malgun Gothic"/>
                <a:cs typeface="Malgun Gothic"/>
              </a:rPr>
              <a:t>각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개인들의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소득,</a:t>
            </a:r>
            <a:r>
              <a:rPr dirty="0" sz="2000" spc="30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평균,</a:t>
            </a:r>
            <a:r>
              <a:rPr dirty="0" sz="2000" spc="30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분산은</a:t>
            </a:r>
            <a:r>
              <a:rPr dirty="0" sz="2000" spc="30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상호</a:t>
            </a:r>
            <a:r>
              <a:rPr dirty="0" sz="2000" spc="30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독립적</a:t>
            </a:r>
            <a:r>
              <a:rPr dirty="0" sz="2000" spc="-10" b="1">
                <a:latin typeface="Malgun Gothic"/>
                <a:cs typeface="Malgun Gothic"/>
              </a:rPr>
              <a:t>이다.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85086" y="4445631"/>
            <a:ext cx="11512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777" sz="3000">
                <a:latin typeface="Microsoft Sans Serif"/>
                <a:cs typeface="Microsoft Sans Serif"/>
              </a:rPr>
              <a:t>y</a:t>
            </a:r>
            <a:r>
              <a:rPr dirty="0" baseline="-26748" sz="2025">
                <a:latin typeface="Microsoft Sans Serif"/>
                <a:cs typeface="Microsoft Sans Serif"/>
              </a:rPr>
              <a:t></a:t>
            </a:r>
            <a:r>
              <a:rPr dirty="0" sz="2000">
                <a:latin typeface="Microsoft Sans Serif"/>
                <a:cs typeface="Microsoft Sans Serif"/>
              </a:rPr>
              <a:t></a:t>
            </a:r>
            <a:r>
              <a:rPr dirty="0" sz="2000" spc="-100">
                <a:latin typeface="Microsoft Sans Serif"/>
                <a:cs typeface="Microsoft Sans Serif"/>
              </a:rPr>
              <a:t> </a:t>
            </a:r>
            <a:r>
              <a:rPr dirty="0" sz="2000" spc="-740">
                <a:latin typeface="Microsoft Sans Serif"/>
                <a:cs typeface="Microsoft Sans Serif"/>
              </a:rPr>
              <a:t></a:t>
            </a:r>
            <a:r>
              <a:rPr dirty="0" sz="2000" spc="25">
                <a:latin typeface="Microsoft Sans Serif"/>
                <a:cs typeface="Microsoft Sans Serif"/>
              </a:rPr>
              <a:t> </a:t>
            </a:r>
            <a:r>
              <a:rPr dirty="0" baseline="-2777" sz="3000" spc="37">
                <a:latin typeface="Microsoft Sans Serif"/>
                <a:cs typeface="Microsoft Sans Serif"/>
              </a:rPr>
              <a:t>y</a:t>
            </a:r>
            <a:r>
              <a:rPr dirty="0" baseline="-25793" sz="2100" spc="37" i="1">
                <a:latin typeface="Times New Roman"/>
                <a:cs typeface="Times New Roman"/>
              </a:rPr>
              <a:t></a:t>
            </a:r>
            <a:r>
              <a:rPr dirty="0" baseline="-2777" sz="3000" spc="37" b="1">
                <a:latin typeface="Malgun Gothic"/>
                <a:cs typeface="Malgun Gothic"/>
              </a:rPr>
              <a:t>에</a:t>
            </a:r>
            <a:endParaRPr baseline="-2777" sz="3000">
              <a:latin typeface="Malgun Gothic"/>
              <a:cs typeface="Malgun Gothic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335967" y="4460863"/>
            <a:ext cx="280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latin typeface="Malgun Gothic"/>
                <a:cs typeface="Malgun Gothic"/>
              </a:rPr>
              <a:t>상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67590" y="6038872"/>
            <a:ext cx="80962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99593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존재하지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않는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350">
                <a:latin typeface="Microsoft Sans Serif"/>
                <a:cs typeface="Microsoft Sans Serif"/>
              </a:rPr>
              <a:t></a:t>
            </a:r>
            <a:r>
              <a:rPr dirty="0" sz="2000" spc="350" b="1">
                <a:latin typeface="Malgun Gothic"/>
                <a:cs typeface="Malgun Gothic"/>
              </a:rPr>
              <a:t>번째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당면하는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345" b="1">
                <a:solidFill>
                  <a:srgbClr val="0000FF"/>
                </a:solidFill>
                <a:latin typeface="Malgun Gothic"/>
                <a:cs typeface="Malgun Gothic"/>
              </a:rPr>
              <a:t>분산(위험)</a:t>
            </a:r>
            <a:r>
              <a:rPr dirty="0" sz="1600" spc="345">
                <a:latin typeface="Cambria"/>
                <a:cs typeface="Cambria"/>
              </a:rPr>
              <a:t>⟹</a:t>
            </a:r>
            <a:r>
              <a:rPr dirty="0" sz="1600" spc="345">
                <a:latin typeface="Cambria"/>
                <a:cs typeface="Cambria"/>
              </a:rPr>
              <a:t> </a:t>
            </a:r>
            <a:r>
              <a:rPr dirty="0" sz="2000" spc="-955">
                <a:latin typeface="Microsoft Sans Serif"/>
                <a:cs typeface="Microsoft Sans Serif"/>
              </a:rPr>
              <a:t></a:t>
            </a:r>
            <a:r>
              <a:rPr dirty="0" baseline="2777" sz="3000" spc="-1432">
                <a:latin typeface="Microsoft Sans Serif"/>
                <a:cs typeface="Microsoft Sans Serif"/>
              </a:rPr>
              <a:t>(</a:t>
            </a:r>
            <a:r>
              <a:rPr dirty="0" sz="2000" spc="-955">
                <a:latin typeface="Microsoft Sans Serif"/>
                <a:cs typeface="Microsoft Sans Serif"/>
              </a:rPr>
              <a:t>y</a:t>
            </a:r>
            <a:r>
              <a:rPr dirty="0" baseline="-20576" sz="2025" spc="-1432">
                <a:latin typeface="Microsoft Sans Serif"/>
                <a:cs typeface="Microsoft Sans Serif"/>
              </a:rPr>
              <a:t></a:t>
            </a:r>
            <a:r>
              <a:rPr dirty="0" baseline="2777" sz="3000" spc="-1432">
                <a:latin typeface="Microsoft Sans Serif"/>
                <a:cs typeface="Microsoft Sans Serif"/>
              </a:rPr>
              <a:t>)</a:t>
            </a:r>
            <a:endParaRPr baseline="2777" sz="3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6636" y="1108965"/>
            <a:ext cx="8547735" cy="8362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5590" marR="5080" indent="-263525">
              <a:lnSpc>
                <a:spcPct val="132900"/>
              </a:lnSpc>
              <a:spcBef>
                <a:spcPts val="100"/>
              </a:spcBef>
              <a:buFont typeface="Cambria"/>
              <a:buChar char="○"/>
              <a:tabLst>
                <a:tab pos="275590" algn="l"/>
                <a:tab pos="1117600" algn="l"/>
                <a:tab pos="2268220" algn="l"/>
                <a:tab pos="3166745" algn="l"/>
                <a:tab pos="4064635" algn="l"/>
                <a:tab pos="5723890" algn="l"/>
                <a:tab pos="6875145" algn="l"/>
                <a:tab pos="7519034" algn="l"/>
              </a:tabLst>
            </a:pPr>
            <a:r>
              <a:rPr dirty="0" sz="2000" spc="-25" b="1">
                <a:latin typeface="Malgun Gothic"/>
                <a:cs typeface="Malgun Gothic"/>
              </a:rPr>
              <a:t>N명의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개인들이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자신의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소득을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공동기금으로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조성하여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모두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동일하게 </a:t>
            </a:r>
            <a:r>
              <a:rPr dirty="0" sz="2000" b="1">
                <a:latin typeface="Malgun Gothic"/>
                <a:cs typeface="Malgun Gothic"/>
              </a:rPr>
              <a:t>평균소득을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받아가기로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합의한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152237" y="2601067"/>
            <a:ext cx="12522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Malgun Gothic"/>
                <a:cs typeface="Malgun Gothic"/>
              </a:rPr>
              <a:t>평균소득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85" b="1">
                <a:latin typeface="Malgun Gothic"/>
                <a:cs typeface="Malgun Gothic"/>
              </a:rPr>
              <a:t>: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146977" y="2658938"/>
            <a:ext cx="30289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000" spc="-844">
                <a:latin typeface="Microsoft Sans Serif"/>
                <a:cs typeface="Microsoft Sans Serif"/>
              </a:rPr>
              <a:t></a:t>
            </a:r>
            <a:r>
              <a:rPr dirty="0" baseline="-18518" sz="3150" spc="-1267" i="1">
                <a:latin typeface="Times New Roman"/>
                <a:cs typeface="Times New Roman"/>
              </a:rPr>
              <a:t>N</a:t>
            </a:r>
            <a:endParaRPr baseline="-18518" sz="31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683882" y="2744245"/>
            <a:ext cx="59753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97840" algn="l"/>
              </a:tabLst>
            </a:pPr>
            <a:r>
              <a:rPr dirty="0" sz="1350" spc="310">
                <a:latin typeface="Microsoft Sans Serif"/>
                <a:cs typeface="Microsoft Sans Serif"/>
              </a:rPr>
              <a:t>l</a:t>
            </a:r>
            <a:r>
              <a:rPr dirty="0" sz="1350">
                <a:latin typeface="Microsoft Sans Serif"/>
                <a:cs typeface="Microsoft Sans Serif"/>
              </a:rPr>
              <a:t>	</a:t>
            </a:r>
            <a:r>
              <a:rPr dirty="0" sz="1350" spc="-100">
                <a:latin typeface="Microsoft Sans Serif"/>
                <a:cs typeface="Microsoft Sans Serif"/>
              </a:rPr>
              <a:t>Z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626338" y="2593451"/>
            <a:ext cx="26676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29920" algn="l"/>
                <a:tab pos="1205230" algn="l"/>
                <a:tab pos="1692275" algn="l"/>
              </a:tabLst>
            </a:pPr>
            <a:r>
              <a:rPr dirty="0" baseline="13888" sz="3000" spc="-1530">
                <a:latin typeface="Microsoft Sans Serif"/>
                <a:cs typeface="Microsoft Sans Serif"/>
              </a:rPr>
              <a:t></a:t>
            </a:r>
            <a:r>
              <a:rPr dirty="0" sz="2000" spc="-1019">
                <a:latin typeface="Microsoft Sans Serif"/>
                <a:cs typeface="Microsoft Sans Serif"/>
              </a:rPr>
              <a:t>y</a:t>
            </a:r>
            <a:r>
              <a:rPr dirty="0" sz="2000" spc="235">
                <a:latin typeface="Microsoft Sans Serif"/>
                <a:cs typeface="Microsoft Sans Serif"/>
              </a:rPr>
              <a:t> </a:t>
            </a: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>
                <a:latin typeface="Microsoft Sans Serif"/>
                <a:cs typeface="Microsoft Sans Serif"/>
              </a:rPr>
              <a:t>	</a:t>
            </a:r>
            <a:r>
              <a:rPr dirty="0" baseline="36111" sz="3000" spc="802">
                <a:latin typeface="Microsoft Sans Serif"/>
                <a:cs typeface="Microsoft Sans Serif"/>
              </a:rPr>
              <a:t>l</a:t>
            </a:r>
            <a:r>
              <a:rPr dirty="0" baseline="36111" sz="3000" spc="322">
                <a:latin typeface="Microsoft Sans Serif"/>
                <a:cs typeface="Microsoft Sans Serif"/>
              </a:rPr>
              <a:t> </a:t>
            </a:r>
            <a:r>
              <a:rPr dirty="0" baseline="2777" sz="3000" spc="37">
                <a:latin typeface="Microsoft Sans Serif"/>
                <a:cs typeface="Microsoft Sans Serif"/>
              </a:rPr>
              <a:t>(</a:t>
            </a:r>
            <a:r>
              <a:rPr dirty="0" sz="2000" spc="25">
                <a:latin typeface="Microsoft Sans Serif"/>
                <a:cs typeface="Microsoft Sans Serif"/>
              </a:rPr>
              <a:t>y</a:t>
            </a:r>
            <a:r>
              <a:rPr dirty="0" sz="2000">
                <a:latin typeface="Microsoft Sans Serif"/>
                <a:cs typeface="Microsoft Sans Serif"/>
              </a:rPr>
              <a:t>	</a:t>
            </a:r>
            <a:r>
              <a:rPr dirty="0" baseline="2777" sz="3000" spc="637">
                <a:latin typeface="Microsoft Sans Serif"/>
                <a:cs typeface="Microsoft Sans Serif"/>
              </a:rPr>
              <a:t></a:t>
            </a:r>
            <a:r>
              <a:rPr dirty="0" sz="2000" spc="425">
                <a:latin typeface="Microsoft Sans Serif"/>
                <a:cs typeface="Microsoft Sans Serif"/>
              </a:rPr>
              <a:t>y</a:t>
            </a:r>
            <a:r>
              <a:rPr dirty="0" sz="2000">
                <a:latin typeface="Microsoft Sans Serif"/>
                <a:cs typeface="Microsoft Sans Serif"/>
              </a:rPr>
              <a:t>	</a:t>
            </a:r>
            <a:r>
              <a:rPr dirty="0" baseline="2777" sz="3000" spc="960">
                <a:latin typeface="Microsoft Sans Serif"/>
                <a:cs typeface="Microsoft Sans Serif"/>
              </a:rPr>
              <a:t></a:t>
            </a:r>
            <a:r>
              <a:rPr dirty="0" baseline="2777" sz="3000" spc="-67">
                <a:latin typeface="Microsoft Sans Serif"/>
                <a:cs typeface="Microsoft Sans Serif"/>
              </a:rPr>
              <a:t> </a:t>
            </a:r>
            <a:r>
              <a:rPr dirty="0" baseline="2777" sz="3000" spc="-30">
                <a:latin typeface="Microsoft Sans Serif"/>
                <a:cs typeface="Microsoft Sans Serif"/>
              </a:rPr>
              <a:t></a:t>
            </a:r>
            <a:r>
              <a:rPr dirty="0" baseline="2777" sz="3000" spc="-472">
                <a:latin typeface="Microsoft Sans Serif"/>
                <a:cs typeface="Microsoft Sans Serif"/>
              </a:rPr>
              <a:t> </a:t>
            </a:r>
            <a:r>
              <a:rPr dirty="0" baseline="2777" sz="3000" spc="-30">
                <a:latin typeface="Microsoft Sans Serif"/>
                <a:cs typeface="Microsoft Sans Serif"/>
              </a:rPr>
              <a:t></a:t>
            </a:r>
            <a:r>
              <a:rPr dirty="0" baseline="2777" sz="3000" spc="-450">
                <a:latin typeface="Microsoft Sans Serif"/>
                <a:cs typeface="Microsoft Sans Serif"/>
              </a:rPr>
              <a:t> </a:t>
            </a:r>
            <a:r>
              <a:rPr dirty="0" baseline="2777" sz="3000" spc="-30">
                <a:latin typeface="Microsoft Sans Serif"/>
                <a:cs typeface="Microsoft Sans Serif"/>
              </a:rPr>
              <a:t></a:t>
            </a:r>
            <a:r>
              <a:rPr dirty="0" baseline="2777" sz="3000" spc="-37">
                <a:latin typeface="Microsoft Sans Serif"/>
                <a:cs typeface="Microsoft Sans Serif"/>
              </a:rPr>
              <a:t> </a:t>
            </a:r>
            <a:r>
              <a:rPr dirty="0" baseline="2777" sz="3000" spc="622">
                <a:latin typeface="Microsoft Sans Serif"/>
                <a:cs typeface="Microsoft Sans Serif"/>
              </a:rPr>
              <a:t></a:t>
            </a:r>
            <a:r>
              <a:rPr dirty="0" sz="2000" spc="415">
                <a:latin typeface="Microsoft Sans Serif"/>
                <a:cs typeface="Microsoft Sans Serif"/>
              </a:rPr>
              <a:t>y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242754" y="2734963"/>
            <a:ext cx="15494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25" i="1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402600" y="2581266"/>
            <a:ext cx="12318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5">
                <a:latin typeface="Microsoft Sans Serif"/>
                <a:cs typeface="Microsoft Sans Serif"/>
              </a:rPr>
              <a:t>)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493545" y="3667280"/>
            <a:ext cx="5695950" cy="83629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10"/>
              </a:spcBef>
              <a:tabLst>
                <a:tab pos="2058035" algn="l"/>
              </a:tabLst>
            </a:pPr>
            <a:r>
              <a:rPr dirty="0" sz="2000" b="1">
                <a:latin typeface="Malgun Gothic"/>
                <a:cs typeface="Malgun Gothic"/>
              </a:rPr>
              <a:t>전체적인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분산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85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165">
                <a:latin typeface="Microsoft Sans Serif"/>
                <a:cs typeface="Microsoft Sans Serif"/>
              </a:rPr>
              <a:t></a:t>
            </a:r>
            <a:r>
              <a:rPr dirty="0" baseline="2777" sz="3000" spc="247">
                <a:latin typeface="Microsoft Sans Serif"/>
                <a:cs typeface="Microsoft Sans Serif"/>
              </a:rPr>
              <a:t>(</a:t>
            </a:r>
            <a:r>
              <a:rPr dirty="0" sz="2000" spc="165">
                <a:latin typeface="Microsoft Sans Serif"/>
                <a:cs typeface="Microsoft Sans Serif"/>
              </a:rPr>
              <a:t>y</a:t>
            </a:r>
            <a:r>
              <a:rPr dirty="0" baseline="-20576" sz="2025" spc="247">
                <a:latin typeface="Microsoft Sans Serif"/>
                <a:cs typeface="Microsoft Sans Serif"/>
              </a:rPr>
              <a:t>l</a:t>
            </a:r>
            <a:r>
              <a:rPr dirty="0" baseline="-20576" sz="2025" spc="22">
                <a:latin typeface="Microsoft Sans Serif"/>
                <a:cs typeface="Microsoft Sans Serif"/>
              </a:rPr>
              <a:t> </a:t>
            </a:r>
            <a:r>
              <a:rPr dirty="0" baseline="2777" sz="3000" spc="337">
                <a:latin typeface="Microsoft Sans Serif"/>
                <a:cs typeface="Microsoft Sans Serif"/>
              </a:rPr>
              <a:t></a:t>
            </a:r>
            <a:r>
              <a:rPr dirty="0" sz="2000" spc="225">
                <a:latin typeface="Microsoft Sans Serif"/>
                <a:cs typeface="Microsoft Sans Serif"/>
              </a:rPr>
              <a:t>y</a:t>
            </a:r>
            <a:r>
              <a:rPr dirty="0" baseline="-20576" sz="2025" spc="337">
                <a:latin typeface="Microsoft Sans Serif"/>
                <a:cs typeface="Microsoft Sans Serif"/>
              </a:rPr>
              <a:t>Z</a:t>
            </a:r>
            <a:r>
              <a:rPr dirty="0" baseline="-20576" sz="2025" spc="44">
                <a:latin typeface="Microsoft Sans Serif"/>
                <a:cs typeface="Microsoft Sans Serif"/>
              </a:rPr>
              <a:t> </a:t>
            </a:r>
            <a:r>
              <a:rPr dirty="0" baseline="2777" sz="3000" spc="960">
                <a:latin typeface="Microsoft Sans Serif"/>
                <a:cs typeface="Microsoft Sans Serif"/>
              </a:rPr>
              <a:t></a:t>
            </a:r>
            <a:r>
              <a:rPr dirty="0" baseline="2777" sz="3000" spc="-82">
                <a:latin typeface="Microsoft Sans Serif"/>
                <a:cs typeface="Microsoft Sans Serif"/>
              </a:rPr>
              <a:t> </a:t>
            </a:r>
            <a:r>
              <a:rPr dirty="0" baseline="2777" sz="3000" spc="-15">
                <a:latin typeface="Microsoft Sans Serif"/>
                <a:cs typeface="Microsoft Sans Serif"/>
              </a:rPr>
              <a:t></a:t>
            </a:r>
            <a:r>
              <a:rPr dirty="0" baseline="2777" sz="3000" spc="-67">
                <a:latin typeface="Microsoft Sans Serif"/>
                <a:cs typeface="Microsoft Sans Serif"/>
              </a:rPr>
              <a:t> </a:t>
            </a:r>
            <a:r>
              <a:rPr dirty="0" baseline="2777" sz="3000" spc="307">
                <a:latin typeface="Microsoft Sans Serif"/>
                <a:cs typeface="Microsoft Sans Serif"/>
              </a:rPr>
              <a:t></a:t>
            </a:r>
            <a:r>
              <a:rPr dirty="0" sz="2000" spc="204">
                <a:latin typeface="Microsoft Sans Serif"/>
                <a:cs typeface="Microsoft Sans Serif"/>
              </a:rPr>
              <a:t>y</a:t>
            </a:r>
            <a:r>
              <a:rPr dirty="0" baseline="-19841" sz="2100" spc="307" i="1">
                <a:latin typeface="Times New Roman"/>
                <a:cs typeface="Times New Roman"/>
              </a:rPr>
              <a:t>N </a:t>
            </a:r>
            <a:r>
              <a:rPr dirty="0" baseline="2777" sz="3000" spc="157">
                <a:latin typeface="Microsoft Sans Serif"/>
                <a:cs typeface="Microsoft Sans Serif"/>
              </a:rPr>
              <a:t>)</a:t>
            </a:r>
            <a:r>
              <a:rPr dirty="0" baseline="2777" sz="3000" spc="-195">
                <a:latin typeface="Microsoft Sans Serif"/>
                <a:cs typeface="Microsoft Sans Serif"/>
              </a:rPr>
              <a:t> </a:t>
            </a: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100" spc="125" i="1">
                <a:latin typeface="Times New Roman"/>
                <a:cs typeface="Times New Roman"/>
              </a:rPr>
              <a:t>N</a:t>
            </a:r>
            <a:r>
              <a:rPr dirty="0" sz="2000" spc="125">
                <a:latin typeface="Microsoft Sans Serif"/>
                <a:cs typeface="Microsoft Sans Serif"/>
              </a:rPr>
              <a:t></a:t>
            </a:r>
            <a:r>
              <a:rPr dirty="0" baseline="2777" sz="3000" spc="187">
                <a:latin typeface="Microsoft Sans Serif"/>
                <a:cs typeface="Microsoft Sans Serif"/>
              </a:rPr>
              <a:t>(</a:t>
            </a:r>
            <a:r>
              <a:rPr dirty="0" sz="2000" spc="125">
                <a:latin typeface="Microsoft Sans Serif"/>
                <a:cs typeface="Microsoft Sans Serif"/>
              </a:rPr>
              <a:t>y</a:t>
            </a:r>
            <a:r>
              <a:rPr dirty="0" baseline="2777" sz="3000" spc="187">
                <a:latin typeface="Microsoft Sans Serif"/>
                <a:cs typeface="Microsoft Sans Serif"/>
              </a:rPr>
              <a:t>)</a:t>
            </a:r>
            <a:endParaRPr baseline="2777" sz="300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2050"/>
              </a:spcBef>
            </a:pPr>
            <a:r>
              <a:rPr dirty="0" sz="1500" spc="305" b="1">
                <a:latin typeface="Malgun Gothic"/>
                <a:cs typeface="Malgun Gothic"/>
              </a:rPr>
              <a:t>-</a:t>
            </a:r>
            <a:r>
              <a:rPr dirty="0" sz="1500" spc="170" b="1">
                <a:latin typeface="Malgun Gothic"/>
                <a:cs typeface="Malgun Gothic"/>
              </a:rPr>
              <a:t> </a:t>
            </a:r>
            <a:r>
              <a:rPr dirty="0" sz="1500" b="1">
                <a:latin typeface="Malgun Gothic"/>
                <a:cs typeface="Malgun Gothic"/>
              </a:rPr>
              <a:t>모든</a:t>
            </a:r>
            <a:r>
              <a:rPr dirty="0" sz="1500" spc="175" b="1">
                <a:latin typeface="Malgun Gothic"/>
                <a:cs typeface="Malgun Gothic"/>
              </a:rPr>
              <a:t> </a:t>
            </a:r>
            <a:r>
              <a:rPr dirty="0" sz="1500" b="1">
                <a:latin typeface="Malgun Gothic"/>
                <a:cs typeface="Malgun Gothic"/>
              </a:rPr>
              <a:t>개인들의</a:t>
            </a:r>
            <a:r>
              <a:rPr dirty="0" sz="1500" spc="185" b="1">
                <a:latin typeface="Malgun Gothic"/>
                <a:cs typeface="Malgun Gothic"/>
              </a:rPr>
              <a:t> </a:t>
            </a:r>
            <a:r>
              <a:rPr dirty="0" sz="1500" b="1">
                <a:latin typeface="Malgun Gothic"/>
                <a:cs typeface="Malgun Gothic"/>
              </a:rPr>
              <a:t>소득이</a:t>
            </a:r>
            <a:r>
              <a:rPr dirty="0" sz="1500" spc="175" b="1">
                <a:latin typeface="Malgun Gothic"/>
                <a:cs typeface="Malgun Gothic"/>
              </a:rPr>
              <a:t> </a:t>
            </a:r>
            <a:r>
              <a:rPr dirty="0" sz="1500" b="1">
                <a:latin typeface="Malgun Gothic"/>
                <a:cs typeface="Malgun Gothic"/>
              </a:rPr>
              <a:t>상호독립적이며,</a:t>
            </a:r>
            <a:r>
              <a:rPr dirty="0" sz="1500" spc="185" b="1">
                <a:latin typeface="Malgun Gothic"/>
                <a:cs typeface="Malgun Gothic"/>
              </a:rPr>
              <a:t> </a:t>
            </a:r>
            <a:r>
              <a:rPr dirty="0" sz="1500" b="1">
                <a:latin typeface="Malgun Gothic"/>
                <a:cs typeface="Malgun Gothic"/>
              </a:rPr>
              <a:t>동일한</a:t>
            </a:r>
            <a:r>
              <a:rPr dirty="0" sz="1500" spc="175" b="1">
                <a:latin typeface="Malgun Gothic"/>
                <a:cs typeface="Malgun Gothic"/>
              </a:rPr>
              <a:t> </a:t>
            </a:r>
            <a:r>
              <a:rPr dirty="0" sz="1500" b="1">
                <a:latin typeface="Malgun Gothic"/>
                <a:cs typeface="Malgun Gothic"/>
              </a:rPr>
              <a:t>분산을</a:t>
            </a:r>
            <a:r>
              <a:rPr dirty="0" sz="1500" spc="175" b="1">
                <a:latin typeface="Malgun Gothic"/>
                <a:cs typeface="Malgun Gothic"/>
              </a:rPr>
              <a:t> </a:t>
            </a:r>
            <a:r>
              <a:rPr dirty="0" sz="1500" b="1">
                <a:latin typeface="Malgun Gothic"/>
                <a:cs typeface="Malgun Gothic"/>
              </a:rPr>
              <a:t>가짐</a:t>
            </a:r>
            <a:r>
              <a:rPr dirty="0" sz="1500" spc="185" b="1">
                <a:latin typeface="Malgun Gothic"/>
                <a:cs typeface="Malgun Gothic"/>
              </a:rPr>
              <a:t> </a:t>
            </a:r>
            <a:r>
              <a:rPr dirty="0" sz="1500" spc="254" b="1">
                <a:latin typeface="Malgun Gothic"/>
                <a:cs typeface="Malgun Gothic"/>
              </a:rPr>
              <a:t>-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89652" y="5004636"/>
            <a:ext cx="66973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Malgun Gothic"/>
                <a:cs typeface="Malgun Gothic"/>
              </a:rPr>
              <a:t>참고:</a:t>
            </a:r>
            <a:r>
              <a:rPr dirty="0" sz="1500" spc="204" b="1">
                <a:latin typeface="Malgun Gothic"/>
                <a:cs typeface="Malgun Gothic"/>
              </a:rPr>
              <a:t> </a:t>
            </a:r>
            <a:r>
              <a:rPr dirty="0" sz="1500" b="1">
                <a:latin typeface="Malgun Gothic"/>
                <a:cs typeface="Malgun Gothic"/>
              </a:rPr>
              <a:t>2</a:t>
            </a:r>
            <a:r>
              <a:rPr dirty="0" sz="1500" spc="215" b="1">
                <a:latin typeface="Malgun Gothic"/>
                <a:cs typeface="Malgun Gothic"/>
              </a:rPr>
              <a:t> </a:t>
            </a:r>
            <a:r>
              <a:rPr dirty="0" sz="1500" b="1">
                <a:latin typeface="Malgun Gothic"/>
                <a:cs typeface="Malgun Gothic"/>
              </a:rPr>
              <a:t>확률변수가</a:t>
            </a:r>
            <a:r>
              <a:rPr dirty="0" sz="1500" spc="210" b="1">
                <a:latin typeface="Malgun Gothic"/>
                <a:cs typeface="Malgun Gothic"/>
              </a:rPr>
              <a:t> </a:t>
            </a:r>
            <a:r>
              <a:rPr dirty="0" sz="1500" b="1">
                <a:latin typeface="Malgun Gothic"/>
                <a:cs typeface="Malgun Gothic"/>
              </a:rPr>
              <a:t>독립적일</a:t>
            </a:r>
            <a:r>
              <a:rPr dirty="0" sz="1500" spc="220" b="1">
                <a:latin typeface="Malgun Gothic"/>
                <a:cs typeface="Malgun Gothic"/>
              </a:rPr>
              <a:t> </a:t>
            </a:r>
            <a:r>
              <a:rPr dirty="0" sz="1500" b="1">
                <a:latin typeface="Malgun Gothic"/>
                <a:cs typeface="Malgun Gothic"/>
              </a:rPr>
              <a:t>경우</a:t>
            </a:r>
            <a:r>
              <a:rPr dirty="0" sz="1500" spc="260" b="1">
                <a:latin typeface="Malgun Gothic"/>
                <a:cs typeface="Malgun Gothic"/>
              </a:rPr>
              <a:t> </a:t>
            </a:r>
            <a:r>
              <a:rPr dirty="0" sz="2000" spc="165">
                <a:latin typeface="Microsoft Sans Serif"/>
                <a:cs typeface="Microsoft Sans Serif"/>
              </a:rPr>
              <a:t></a:t>
            </a:r>
            <a:r>
              <a:rPr dirty="0" baseline="2777" sz="3000" spc="247">
                <a:latin typeface="Microsoft Sans Serif"/>
                <a:cs typeface="Microsoft Sans Serif"/>
              </a:rPr>
              <a:t>(</a:t>
            </a:r>
            <a:r>
              <a:rPr dirty="0" sz="2000" spc="165">
                <a:latin typeface="Microsoft Sans Serif"/>
                <a:cs typeface="Microsoft Sans Serif"/>
              </a:rPr>
              <a:t>y</a:t>
            </a:r>
            <a:r>
              <a:rPr dirty="0" baseline="-20576" sz="2025" spc="247">
                <a:latin typeface="Microsoft Sans Serif"/>
                <a:cs typeface="Microsoft Sans Serif"/>
              </a:rPr>
              <a:t>l</a:t>
            </a:r>
            <a:r>
              <a:rPr dirty="0" baseline="-20576" sz="2025" spc="44">
                <a:latin typeface="Microsoft Sans Serif"/>
                <a:cs typeface="Microsoft Sans Serif"/>
              </a:rPr>
              <a:t> </a:t>
            </a:r>
            <a:r>
              <a:rPr dirty="0" baseline="2777" sz="3000" spc="345">
                <a:latin typeface="Microsoft Sans Serif"/>
                <a:cs typeface="Microsoft Sans Serif"/>
              </a:rPr>
              <a:t></a:t>
            </a:r>
            <a:r>
              <a:rPr dirty="0" sz="2000" spc="229">
                <a:latin typeface="Microsoft Sans Serif"/>
                <a:cs typeface="Microsoft Sans Serif"/>
              </a:rPr>
              <a:t>y</a:t>
            </a:r>
            <a:r>
              <a:rPr dirty="0" baseline="-20576" sz="2025" spc="345">
                <a:latin typeface="Microsoft Sans Serif"/>
                <a:cs typeface="Microsoft Sans Serif"/>
              </a:rPr>
              <a:t>Z</a:t>
            </a:r>
            <a:r>
              <a:rPr dirty="0" baseline="-20576" sz="2025" spc="-247">
                <a:latin typeface="Microsoft Sans Serif"/>
                <a:cs typeface="Microsoft Sans Serif"/>
              </a:rPr>
              <a:t> </a:t>
            </a:r>
            <a:r>
              <a:rPr dirty="0" baseline="2777" sz="3000" spc="157">
                <a:latin typeface="Microsoft Sans Serif"/>
                <a:cs typeface="Microsoft Sans Serif"/>
              </a:rPr>
              <a:t>)</a:t>
            </a:r>
            <a:r>
              <a:rPr dirty="0" baseline="2777" sz="3000" spc="-209">
                <a:latin typeface="Microsoft Sans Serif"/>
                <a:cs typeface="Microsoft Sans Serif"/>
              </a:rPr>
              <a:t> </a:t>
            </a: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175">
                <a:latin typeface="Microsoft Sans Serif"/>
                <a:cs typeface="Microsoft Sans Serif"/>
              </a:rPr>
              <a:t></a:t>
            </a:r>
            <a:r>
              <a:rPr dirty="0" baseline="2777" sz="3000" spc="262">
                <a:latin typeface="Microsoft Sans Serif"/>
                <a:cs typeface="Microsoft Sans Serif"/>
              </a:rPr>
              <a:t>(</a:t>
            </a:r>
            <a:r>
              <a:rPr dirty="0" sz="2000" spc="175">
                <a:latin typeface="Microsoft Sans Serif"/>
                <a:cs typeface="Microsoft Sans Serif"/>
              </a:rPr>
              <a:t>y</a:t>
            </a:r>
            <a:r>
              <a:rPr dirty="0" baseline="-20576" sz="2025" spc="262">
                <a:latin typeface="Microsoft Sans Serif"/>
                <a:cs typeface="Microsoft Sans Serif"/>
              </a:rPr>
              <a:t>l</a:t>
            </a:r>
            <a:r>
              <a:rPr dirty="0" baseline="2777" sz="3000" spc="262">
                <a:latin typeface="Microsoft Sans Serif"/>
                <a:cs typeface="Microsoft Sans Serif"/>
              </a:rPr>
              <a:t>) </a:t>
            </a:r>
            <a:r>
              <a:rPr dirty="0" baseline="2777" sz="3000" spc="-1964">
                <a:latin typeface="Microsoft Sans Serif"/>
                <a:cs typeface="Microsoft Sans Serif"/>
              </a:rPr>
              <a:t></a:t>
            </a:r>
            <a:r>
              <a:rPr dirty="0" sz="2000" spc="-1310">
                <a:latin typeface="Microsoft Sans Serif"/>
                <a:cs typeface="Microsoft Sans Serif"/>
              </a:rPr>
              <a:t></a:t>
            </a:r>
            <a:r>
              <a:rPr dirty="0" baseline="2777" sz="3000" spc="-1964">
                <a:latin typeface="Microsoft Sans Serif"/>
                <a:cs typeface="Microsoft Sans Serif"/>
              </a:rPr>
              <a:t>(</a:t>
            </a:r>
            <a:r>
              <a:rPr dirty="0" sz="2000" spc="-1310">
                <a:latin typeface="Microsoft Sans Serif"/>
                <a:cs typeface="Microsoft Sans Serif"/>
              </a:rPr>
              <a:t>y</a:t>
            </a:r>
            <a:r>
              <a:rPr dirty="0" baseline="-20576" sz="2025" spc="-1964">
                <a:latin typeface="Microsoft Sans Serif"/>
                <a:cs typeface="Microsoft Sans Serif"/>
              </a:rPr>
              <a:t>Z</a:t>
            </a:r>
            <a:r>
              <a:rPr dirty="0" baseline="-20576" sz="2025" spc="-240">
                <a:latin typeface="Microsoft Sans Serif"/>
                <a:cs typeface="Microsoft Sans Serif"/>
              </a:rPr>
              <a:t> </a:t>
            </a:r>
            <a:r>
              <a:rPr dirty="0" baseline="2777" sz="3000" spc="82">
                <a:latin typeface="Microsoft Sans Serif"/>
                <a:cs typeface="Microsoft Sans Serif"/>
              </a:rPr>
              <a:t>)</a:t>
            </a:r>
            <a:endParaRPr baseline="2777" sz="3000">
              <a:latin typeface="Microsoft Sans Serif"/>
              <a:cs typeface="Microsoft Sans Serif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4576953" y="3048126"/>
            <a:ext cx="2955925" cy="9525"/>
          </a:xfrm>
          <a:custGeom>
            <a:avLst/>
            <a:gdLst/>
            <a:ahLst/>
            <a:cxnLst/>
            <a:rect l="l" t="t" r="r" b="b"/>
            <a:pathLst>
              <a:path w="2955925" h="9525">
                <a:moveTo>
                  <a:pt x="0" y="0"/>
                </a:moveTo>
                <a:lnTo>
                  <a:pt x="0" y="0"/>
                </a:lnTo>
                <a:lnTo>
                  <a:pt x="468757" y="0"/>
                </a:lnTo>
                <a:lnTo>
                  <a:pt x="506071" y="287"/>
                </a:lnTo>
                <a:lnTo>
                  <a:pt x="541623" y="1158"/>
                </a:lnTo>
                <a:lnTo>
                  <a:pt x="575413" y="2625"/>
                </a:lnTo>
                <a:lnTo>
                  <a:pt x="607441" y="4699"/>
                </a:lnTo>
                <a:lnTo>
                  <a:pt x="639992" y="6792"/>
                </a:lnTo>
                <a:lnTo>
                  <a:pt x="675544" y="8302"/>
                </a:lnTo>
                <a:lnTo>
                  <a:pt x="714097" y="9217"/>
                </a:lnTo>
                <a:lnTo>
                  <a:pt x="755650" y="9525"/>
                </a:lnTo>
                <a:lnTo>
                  <a:pt x="796607" y="9525"/>
                </a:lnTo>
                <a:lnTo>
                  <a:pt x="833374" y="9525"/>
                </a:lnTo>
                <a:lnTo>
                  <a:pt x="2949321" y="9525"/>
                </a:lnTo>
                <a:lnTo>
                  <a:pt x="2955671" y="9525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577079" y="4004564"/>
            <a:ext cx="3415029" cy="76835"/>
          </a:xfrm>
          <a:custGeom>
            <a:avLst/>
            <a:gdLst/>
            <a:ahLst/>
            <a:cxnLst/>
            <a:rect l="l" t="t" r="r" b="b"/>
            <a:pathLst>
              <a:path w="3415029" h="76835">
                <a:moveTo>
                  <a:pt x="0" y="76581"/>
                </a:moveTo>
                <a:lnTo>
                  <a:pt x="0" y="70231"/>
                </a:lnTo>
                <a:lnTo>
                  <a:pt x="4825" y="66928"/>
                </a:lnTo>
                <a:lnTo>
                  <a:pt x="14350" y="66928"/>
                </a:lnTo>
                <a:lnTo>
                  <a:pt x="21514" y="66928"/>
                </a:lnTo>
                <a:lnTo>
                  <a:pt x="258318" y="66928"/>
                </a:lnTo>
                <a:lnTo>
                  <a:pt x="286107" y="66641"/>
                </a:lnTo>
                <a:lnTo>
                  <a:pt x="364974" y="64303"/>
                </a:lnTo>
                <a:lnTo>
                  <a:pt x="416052" y="62230"/>
                </a:lnTo>
                <a:lnTo>
                  <a:pt x="467798" y="59848"/>
                </a:lnTo>
                <a:lnTo>
                  <a:pt x="512937" y="57467"/>
                </a:lnTo>
                <a:lnTo>
                  <a:pt x="551479" y="55086"/>
                </a:lnTo>
                <a:lnTo>
                  <a:pt x="611876" y="50557"/>
                </a:lnTo>
                <a:lnTo>
                  <a:pt x="639683" y="49053"/>
                </a:lnTo>
                <a:lnTo>
                  <a:pt x="666894" y="48168"/>
                </a:lnTo>
                <a:lnTo>
                  <a:pt x="693547" y="47878"/>
                </a:lnTo>
                <a:lnTo>
                  <a:pt x="719240" y="47571"/>
                </a:lnTo>
                <a:lnTo>
                  <a:pt x="767056" y="45146"/>
                </a:lnTo>
                <a:lnTo>
                  <a:pt x="810107" y="40671"/>
                </a:lnTo>
                <a:lnTo>
                  <a:pt x="848346" y="35909"/>
                </a:lnTo>
                <a:lnTo>
                  <a:pt x="865632" y="33527"/>
                </a:lnTo>
                <a:lnTo>
                  <a:pt x="882088" y="31434"/>
                </a:lnTo>
                <a:lnTo>
                  <a:pt x="897937" y="29924"/>
                </a:lnTo>
                <a:lnTo>
                  <a:pt x="913191" y="29009"/>
                </a:lnTo>
                <a:lnTo>
                  <a:pt x="927862" y="28701"/>
                </a:lnTo>
                <a:lnTo>
                  <a:pt x="940978" y="28701"/>
                </a:lnTo>
                <a:lnTo>
                  <a:pt x="951738" y="28701"/>
                </a:lnTo>
                <a:lnTo>
                  <a:pt x="1267460" y="28701"/>
                </a:lnTo>
                <a:lnTo>
                  <a:pt x="1279981" y="28414"/>
                </a:lnTo>
                <a:lnTo>
                  <a:pt x="1293717" y="27543"/>
                </a:lnTo>
                <a:lnTo>
                  <a:pt x="1308643" y="26076"/>
                </a:lnTo>
                <a:lnTo>
                  <a:pt x="1324737" y="24002"/>
                </a:lnTo>
                <a:lnTo>
                  <a:pt x="1341501" y="21855"/>
                </a:lnTo>
                <a:lnTo>
                  <a:pt x="1358265" y="20351"/>
                </a:lnTo>
                <a:lnTo>
                  <a:pt x="1375029" y="19466"/>
                </a:lnTo>
                <a:lnTo>
                  <a:pt x="1391793" y="19176"/>
                </a:lnTo>
                <a:lnTo>
                  <a:pt x="1408483" y="19176"/>
                </a:lnTo>
                <a:lnTo>
                  <a:pt x="1425209" y="19176"/>
                </a:lnTo>
                <a:lnTo>
                  <a:pt x="2544318" y="19176"/>
                </a:lnTo>
                <a:lnTo>
                  <a:pt x="2559583" y="18869"/>
                </a:lnTo>
                <a:lnTo>
                  <a:pt x="2576623" y="17954"/>
                </a:lnTo>
                <a:lnTo>
                  <a:pt x="2595449" y="16444"/>
                </a:lnTo>
                <a:lnTo>
                  <a:pt x="2616073" y="14350"/>
                </a:lnTo>
                <a:lnTo>
                  <a:pt x="2637004" y="12277"/>
                </a:lnTo>
                <a:lnTo>
                  <a:pt x="2656744" y="10810"/>
                </a:lnTo>
                <a:lnTo>
                  <a:pt x="2675294" y="9939"/>
                </a:lnTo>
                <a:lnTo>
                  <a:pt x="2692654" y="9651"/>
                </a:lnTo>
                <a:lnTo>
                  <a:pt x="2708749" y="9344"/>
                </a:lnTo>
                <a:lnTo>
                  <a:pt x="2723689" y="8429"/>
                </a:lnTo>
                <a:lnTo>
                  <a:pt x="2737463" y="6919"/>
                </a:lnTo>
                <a:lnTo>
                  <a:pt x="2750058" y="4825"/>
                </a:lnTo>
                <a:lnTo>
                  <a:pt x="2761678" y="2732"/>
                </a:lnTo>
                <a:lnTo>
                  <a:pt x="2772727" y="1222"/>
                </a:lnTo>
                <a:lnTo>
                  <a:pt x="2783205" y="307"/>
                </a:lnTo>
                <a:lnTo>
                  <a:pt x="2793111" y="0"/>
                </a:lnTo>
                <a:lnTo>
                  <a:pt x="2802943" y="0"/>
                </a:lnTo>
                <a:lnTo>
                  <a:pt x="2813383" y="0"/>
                </a:lnTo>
                <a:lnTo>
                  <a:pt x="3405826" y="0"/>
                </a:lnTo>
                <a:lnTo>
                  <a:pt x="3414776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213605" y="5812409"/>
            <a:ext cx="237490" cy="0"/>
          </a:xfrm>
          <a:custGeom>
            <a:avLst/>
            <a:gdLst/>
            <a:ahLst/>
            <a:cxnLst/>
            <a:rect l="l" t="t" r="r" b="b"/>
            <a:pathLst>
              <a:path w="237489" h="0">
                <a:moveTo>
                  <a:pt x="0" y="0"/>
                </a:moveTo>
                <a:lnTo>
                  <a:pt x="0" y="0"/>
                </a:lnTo>
                <a:lnTo>
                  <a:pt x="237490" y="0"/>
                </a:lnTo>
                <a:lnTo>
                  <a:pt x="235966" y="0"/>
                </a:lnTo>
                <a:lnTo>
                  <a:pt x="19126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4175378" y="5869813"/>
            <a:ext cx="267970" cy="248920"/>
          </a:xfrm>
          <a:custGeom>
            <a:avLst/>
            <a:gdLst/>
            <a:ahLst/>
            <a:cxnLst/>
            <a:rect l="l" t="t" r="r" b="b"/>
            <a:pathLst>
              <a:path w="267970" h="248920">
                <a:moveTo>
                  <a:pt x="0" y="0"/>
                </a:moveTo>
                <a:lnTo>
                  <a:pt x="0" y="0"/>
                </a:lnTo>
                <a:lnTo>
                  <a:pt x="0" y="94106"/>
                </a:lnTo>
                <a:lnTo>
                  <a:pt x="1524" y="98806"/>
                </a:lnTo>
                <a:lnTo>
                  <a:pt x="14350" y="129159"/>
                </a:lnTo>
                <a:lnTo>
                  <a:pt x="16732" y="136015"/>
                </a:lnTo>
                <a:lnTo>
                  <a:pt x="36703" y="170561"/>
                </a:lnTo>
                <a:lnTo>
                  <a:pt x="39878" y="173736"/>
                </a:lnTo>
                <a:lnTo>
                  <a:pt x="62103" y="200914"/>
                </a:lnTo>
                <a:lnTo>
                  <a:pt x="69320" y="209845"/>
                </a:lnTo>
                <a:lnTo>
                  <a:pt x="105203" y="237934"/>
                </a:lnTo>
                <a:lnTo>
                  <a:pt x="148209" y="248665"/>
                </a:lnTo>
                <a:lnTo>
                  <a:pt x="155715" y="248665"/>
                </a:lnTo>
                <a:lnTo>
                  <a:pt x="163782" y="248665"/>
                </a:lnTo>
                <a:lnTo>
                  <a:pt x="172444" y="248665"/>
                </a:lnTo>
                <a:lnTo>
                  <a:pt x="181737" y="248665"/>
                </a:lnTo>
                <a:lnTo>
                  <a:pt x="192166" y="248378"/>
                </a:lnTo>
                <a:lnTo>
                  <a:pt x="234315" y="243967"/>
                </a:lnTo>
                <a:lnTo>
                  <a:pt x="267843" y="234315"/>
                </a:lnTo>
                <a:lnTo>
                  <a:pt x="267843" y="231140"/>
                </a:lnTo>
                <a:lnTo>
                  <a:pt x="267843" y="227965"/>
                </a:lnTo>
                <a:lnTo>
                  <a:pt x="267843" y="224790"/>
                </a:lnTo>
                <a:lnTo>
                  <a:pt x="267843" y="221615"/>
                </a:lnTo>
                <a:lnTo>
                  <a:pt x="264668" y="218440"/>
                </a:lnTo>
                <a:lnTo>
                  <a:pt x="234315" y="196087"/>
                </a:lnTo>
                <a:lnTo>
                  <a:pt x="226266" y="189231"/>
                </a:lnTo>
                <a:lnTo>
                  <a:pt x="216408" y="182959"/>
                </a:lnTo>
                <a:lnTo>
                  <a:pt x="204739" y="177282"/>
                </a:lnTo>
                <a:lnTo>
                  <a:pt x="191262" y="172212"/>
                </a:lnTo>
              </a:path>
              <a:path w="267970" h="248920">
                <a:moveTo>
                  <a:pt x="0" y="143509"/>
                </a:moveTo>
                <a:lnTo>
                  <a:pt x="6350" y="143509"/>
                </a:lnTo>
                <a:lnTo>
                  <a:pt x="133858" y="143509"/>
                </a:lnTo>
                <a:lnTo>
                  <a:pt x="144956" y="142607"/>
                </a:lnTo>
                <a:lnTo>
                  <a:pt x="159019" y="139906"/>
                </a:lnTo>
                <a:lnTo>
                  <a:pt x="176059" y="135419"/>
                </a:lnTo>
                <a:lnTo>
                  <a:pt x="196087" y="129159"/>
                </a:lnTo>
                <a:lnTo>
                  <a:pt x="216114" y="122844"/>
                </a:lnTo>
                <a:lnTo>
                  <a:pt x="233140" y="118364"/>
                </a:lnTo>
                <a:lnTo>
                  <a:pt x="247165" y="115693"/>
                </a:lnTo>
                <a:lnTo>
                  <a:pt x="258191" y="11480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4503801" y="5853938"/>
            <a:ext cx="501015" cy="352425"/>
            <a:chOff x="4503801" y="5853938"/>
            <a:chExt cx="501015" cy="352425"/>
          </a:xfrm>
        </p:grpSpPr>
        <p:sp>
          <p:nvSpPr>
            <p:cNvPr id="16" name="object 16" descr=""/>
            <p:cNvSpPr/>
            <p:nvPr/>
          </p:nvSpPr>
          <p:spPr>
            <a:xfrm>
              <a:off x="4510151" y="5860288"/>
              <a:ext cx="239395" cy="339725"/>
            </a:xfrm>
            <a:custGeom>
              <a:avLst/>
              <a:gdLst/>
              <a:ahLst/>
              <a:cxnLst/>
              <a:rect l="l" t="t" r="r" b="b"/>
              <a:pathLst>
                <a:path w="239395" h="339725">
                  <a:moveTo>
                    <a:pt x="105156" y="0"/>
                  </a:moveTo>
                  <a:lnTo>
                    <a:pt x="100699" y="8641"/>
                  </a:lnTo>
                  <a:lnTo>
                    <a:pt x="96837" y="15509"/>
                  </a:lnTo>
                  <a:lnTo>
                    <a:pt x="93547" y="20591"/>
                  </a:lnTo>
                  <a:lnTo>
                    <a:pt x="90804" y="23875"/>
                  </a:lnTo>
                  <a:lnTo>
                    <a:pt x="87828" y="27449"/>
                  </a:lnTo>
                  <a:lnTo>
                    <a:pt x="65133" y="63908"/>
                  </a:lnTo>
                  <a:lnTo>
                    <a:pt x="49601" y="98563"/>
                  </a:lnTo>
                  <a:lnTo>
                    <a:pt x="45434" y="107537"/>
                  </a:lnTo>
                  <a:lnTo>
                    <a:pt x="40076" y="117701"/>
                  </a:lnTo>
                  <a:lnTo>
                    <a:pt x="33527" y="129031"/>
                  </a:lnTo>
                  <a:lnTo>
                    <a:pt x="26906" y="141013"/>
                  </a:lnTo>
                  <a:lnTo>
                    <a:pt x="21510" y="152971"/>
                  </a:lnTo>
                  <a:lnTo>
                    <a:pt x="17329" y="164929"/>
                  </a:lnTo>
                  <a:lnTo>
                    <a:pt x="14350" y="176911"/>
                  </a:lnTo>
                  <a:lnTo>
                    <a:pt x="11969" y="188892"/>
                  </a:lnTo>
                  <a:lnTo>
                    <a:pt x="9588" y="200850"/>
                  </a:lnTo>
                  <a:lnTo>
                    <a:pt x="1174" y="245062"/>
                  </a:lnTo>
                  <a:lnTo>
                    <a:pt x="0" y="258190"/>
                  </a:lnTo>
                  <a:lnTo>
                    <a:pt x="0" y="264541"/>
                  </a:lnTo>
                  <a:lnTo>
                    <a:pt x="1524" y="272542"/>
                  </a:lnTo>
                  <a:lnTo>
                    <a:pt x="4825" y="282194"/>
                  </a:lnTo>
                  <a:lnTo>
                    <a:pt x="8000" y="291719"/>
                  </a:lnTo>
                  <a:lnTo>
                    <a:pt x="9525" y="298069"/>
                  </a:lnTo>
                  <a:lnTo>
                    <a:pt x="9525" y="301244"/>
                  </a:lnTo>
                  <a:lnTo>
                    <a:pt x="9525" y="304419"/>
                  </a:lnTo>
                  <a:lnTo>
                    <a:pt x="11175" y="306070"/>
                  </a:lnTo>
                  <a:lnTo>
                    <a:pt x="14350" y="306070"/>
                  </a:lnTo>
                  <a:lnTo>
                    <a:pt x="17525" y="306070"/>
                  </a:lnTo>
                  <a:lnTo>
                    <a:pt x="22351" y="307594"/>
                  </a:lnTo>
                  <a:lnTo>
                    <a:pt x="28701" y="310769"/>
                  </a:lnTo>
                  <a:lnTo>
                    <a:pt x="35051" y="314071"/>
                  </a:lnTo>
                  <a:lnTo>
                    <a:pt x="39877" y="315595"/>
                  </a:lnTo>
                  <a:lnTo>
                    <a:pt x="43052" y="315595"/>
                  </a:lnTo>
                  <a:lnTo>
                    <a:pt x="46227" y="315595"/>
                  </a:lnTo>
                  <a:lnTo>
                    <a:pt x="49402" y="314071"/>
                  </a:lnTo>
                  <a:lnTo>
                    <a:pt x="52577" y="310769"/>
                  </a:lnTo>
                  <a:lnTo>
                    <a:pt x="55752" y="307594"/>
                  </a:lnTo>
                  <a:lnTo>
                    <a:pt x="60578" y="306070"/>
                  </a:lnTo>
                  <a:lnTo>
                    <a:pt x="66928" y="306070"/>
                  </a:lnTo>
                </a:path>
                <a:path w="239395" h="339725">
                  <a:moveTo>
                    <a:pt x="143510" y="95631"/>
                  </a:moveTo>
                  <a:lnTo>
                    <a:pt x="152747" y="95631"/>
                  </a:lnTo>
                  <a:lnTo>
                    <a:pt x="161401" y="95631"/>
                  </a:lnTo>
                  <a:lnTo>
                    <a:pt x="169459" y="95631"/>
                  </a:lnTo>
                  <a:lnTo>
                    <a:pt x="176911" y="95631"/>
                  </a:lnTo>
                  <a:lnTo>
                    <a:pt x="184128" y="96516"/>
                  </a:lnTo>
                  <a:lnTo>
                    <a:pt x="218805" y="124285"/>
                  </a:lnTo>
                  <a:lnTo>
                    <a:pt x="238545" y="157489"/>
                  </a:lnTo>
                  <a:lnTo>
                    <a:pt x="239140" y="162559"/>
                  </a:lnTo>
                  <a:lnTo>
                    <a:pt x="239140" y="168909"/>
                  </a:lnTo>
                  <a:lnTo>
                    <a:pt x="239140" y="175259"/>
                  </a:lnTo>
                  <a:lnTo>
                    <a:pt x="239140" y="181737"/>
                  </a:lnTo>
                  <a:lnTo>
                    <a:pt x="238833" y="187999"/>
                  </a:lnTo>
                  <a:lnTo>
                    <a:pt x="231030" y="241190"/>
                  </a:lnTo>
                  <a:lnTo>
                    <a:pt x="210438" y="286893"/>
                  </a:lnTo>
                  <a:lnTo>
                    <a:pt x="201435" y="300370"/>
                  </a:lnTo>
                  <a:lnTo>
                    <a:pt x="193659" y="312039"/>
                  </a:lnTo>
                  <a:lnTo>
                    <a:pt x="187096" y="321897"/>
                  </a:lnTo>
                  <a:lnTo>
                    <a:pt x="181737" y="329946"/>
                  </a:lnTo>
                  <a:lnTo>
                    <a:pt x="175387" y="339471"/>
                  </a:lnTo>
                  <a:lnTo>
                    <a:pt x="181737" y="329946"/>
                  </a:lnTo>
                  <a:lnTo>
                    <a:pt x="186501" y="323089"/>
                  </a:lnTo>
                  <a:lnTo>
                    <a:pt x="191277" y="316817"/>
                  </a:lnTo>
                  <a:lnTo>
                    <a:pt x="196078" y="311140"/>
                  </a:lnTo>
                  <a:lnTo>
                    <a:pt x="200913" y="30607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1169" y="5893689"/>
              <a:ext cx="223138" cy="269367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5055361" y="5879338"/>
            <a:ext cx="57785" cy="382905"/>
          </a:xfrm>
          <a:custGeom>
            <a:avLst/>
            <a:gdLst/>
            <a:ahLst/>
            <a:cxnLst/>
            <a:rect l="l" t="t" r="r" b="b"/>
            <a:pathLst>
              <a:path w="57785" h="382904">
                <a:moveTo>
                  <a:pt x="0" y="0"/>
                </a:moveTo>
                <a:lnTo>
                  <a:pt x="16732" y="53848"/>
                </a:lnTo>
                <a:lnTo>
                  <a:pt x="28701" y="100456"/>
                </a:lnTo>
                <a:lnTo>
                  <a:pt x="33466" y="121983"/>
                </a:lnTo>
                <a:lnTo>
                  <a:pt x="38242" y="143510"/>
                </a:lnTo>
                <a:lnTo>
                  <a:pt x="43043" y="165036"/>
                </a:lnTo>
                <a:lnTo>
                  <a:pt x="47878" y="186562"/>
                </a:lnTo>
                <a:lnTo>
                  <a:pt x="52046" y="207186"/>
                </a:lnTo>
                <a:lnTo>
                  <a:pt x="55022" y="226012"/>
                </a:lnTo>
                <a:lnTo>
                  <a:pt x="56808" y="243052"/>
                </a:lnTo>
                <a:lnTo>
                  <a:pt x="57403" y="258318"/>
                </a:lnTo>
                <a:lnTo>
                  <a:pt x="57403" y="272030"/>
                </a:lnTo>
                <a:lnTo>
                  <a:pt x="57403" y="284575"/>
                </a:lnTo>
                <a:lnTo>
                  <a:pt x="57403" y="349123"/>
                </a:lnTo>
                <a:lnTo>
                  <a:pt x="55752" y="355600"/>
                </a:lnTo>
                <a:lnTo>
                  <a:pt x="39877" y="371475"/>
                </a:lnTo>
                <a:lnTo>
                  <a:pt x="38226" y="374650"/>
                </a:lnTo>
                <a:lnTo>
                  <a:pt x="38226" y="377825"/>
                </a:lnTo>
                <a:lnTo>
                  <a:pt x="38226" y="381000"/>
                </a:lnTo>
                <a:lnTo>
                  <a:pt x="35051" y="382650"/>
                </a:lnTo>
                <a:lnTo>
                  <a:pt x="28701" y="38265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5237098" y="5911341"/>
            <a:ext cx="791210" cy="577215"/>
            <a:chOff x="5237098" y="5911341"/>
            <a:chExt cx="791210" cy="577215"/>
          </a:xfrm>
        </p:grpSpPr>
        <p:sp>
          <p:nvSpPr>
            <p:cNvPr id="20" name="object 20" descr=""/>
            <p:cNvSpPr/>
            <p:nvPr/>
          </p:nvSpPr>
          <p:spPr>
            <a:xfrm>
              <a:off x="5237098" y="5927216"/>
              <a:ext cx="564515" cy="554990"/>
            </a:xfrm>
            <a:custGeom>
              <a:avLst/>
              <a:gdLst/>
              <a:ahLst/>
              <a:cxnLst/>
              <a:rect l="l" t="t" r="r" b="b"/>
              <a:pathLst>
                <a:path w="564514" h="554989">
                  <a:moveTo>
                    <a:pt x="0" y="162559"/>
                  </a:moveTo>
                  <a:lnTo>
                    <a:pt x="0" y="162559"/>
                  </a:lnTo>
                  <a:lnTo>
                    <a:pt x="178792" y="162559"/>
                  </a:lnTo>
                  <a:lnTo>
                    <a:pt x="200913" y="162559"/>
                  </a:lnTo>
                </a:path>
                <a:path w="564514" h="554989">
                  <a:moveTo>
                    <a:pt x="382650" y="9524"/>
                  </a:moveTo>
                  <a:lnTo>
                    <a:pt x="382650" y="9524"/>
                  </a:lnTo>
                  <a:lnTo>
                    <a:pt x="459166" y="9524"/>
                  </a:lnTo>
                  <a:lnTo>
                    <a:pt x="454352" y="9524"/>
                  </a:lnTo>
                  <a:lnTo>
                    <a:pt x="444753" y="9524"/>
                  </a:lnTo>
                  <a:lnTo>
                    <a:pt x="432230" y="10717"/>
                  </a:lnTo>
                  <a:lnTo>
                    <a:pt x="418480" y="14303"/>
                  </a:lnTo>
                  <a:lnTo>
                    <a:pt x="403516" y="20294"/>
                  </a:lnTo>
                  <a:lnTo>
                    <a:pt x="387350" y="28701"/>
                  </a:lnTo>
                  <a:lnTo>
                    <a:pt x="370949" y="37939"/>
                  </a:lnTo>
                  <a:lnTo>
                    <a:pt x="355107" y="46593"/>
                  </a:lnTo>
                  <a:lnTo>
                    <a:pt x="339861" y="54651"/>
                  </a:lnTo>
                  <a:lnTo>
                    <a:pt x="325247" y="62102"/>
                  </a:lnTo>
                  <a:lnTo>
                    <a:pt x="311479" y="69627"/>
                  </a:lnTo>
                  <a:lnTo>
                    <a:pt x="277367" y="95630"/>
                  </a:lnTo>
                  <a:lnTo>
                    <a:pt x="254043" y="126992"/>
                  </a:lnTo>
                  <a:lnTo>
                    <a:pt x="239736" y="171848"/>
                  </a:lnTo>
                  <a:lnTo>
                    <a:pt x="239140" y="181736"/>
                  </a:lnTo>
                  <a:lnTo>
                    <a:pt x="239736" y="192166"/>
                  </a:lnTo>
                  <a:lnTo>
                    <a:pt x="248665" y="234314"/>
                  </a:lnTo>
                  <a:lnTo>
                    <a:pt x="260328" y="271105"/>
                  </a:lnTo>
                  <a:lnTo>
                    <a:pt x="265400" y="282438"/>
                  </a:lnTo>
                  <a:lnTo>
                    <a:pt x="267795" y="288115"/>
                  </a:lnTo>
                  <a:lnTo>
                    <a:pt x="270214" y="294387"/>
                  </a:lnTo>
                  <a:lnTo>
                    <a:pt x="272668" y="301243"/>
                  </a:lnTo>
                  <a:lnTo>
                    <a:pt x="275050" y="308155"/>
                  </a:lnTo>
                  <a:lnTo>
                    <a:pt x="277431" y="314436"/>
                  </a:lnTo>
                  <a:lnTo>
                    <a:pt x="296545" y="344296"/>
                  </a:lnTo>
                  <a:lnTo>
                    <a:pt x="302895" y="350646"/>
                  </a:lnTo>
                  <a:lnTo>
                    <a:pt x="307721" y="355472"/>
                  </a:lnTo>
                  <a:lnTo>
                    <a:pt x="310896" y="358647"/>
                  </a:lnTo>
                  <a:lnTo>
                    <a:pt x="314071" y="361822"/>
                  </a:lnTo>
                  <a:lnTo>
                    <a:pt x="318897" y="363473"/>
                  </a:lnTo>
                  <a:lnTo>
                    <a:pt x="325247" y="363473"/>
                  </a:lnTo>
                  <a:lnTo>
                    <a:pt x="331597" y="363473"/>
                  </a:lnTo>
                  <a:lnTo>
                    <a:pt x="381000" y="363473"/>
                  </a:lnTo>
                  <a:lnTo>
                    <a:pt x="384175" y="361822"/>
                  </a:lnTo>
                  <a:lnTo>
                    <a:pt x="387350" y="358647"/>
                  </a:lnTo>
                  <a:lnTo>
                    <a:pt x="388250" y="354171"/>
                  </a:lnTo>
                  <a:lnTo>
                    <a:pt x="386175" y="345503"/>
                  </a:lnTo>
                  <a:lnTo>
                    <a:pt x="381099" y="332644"/>
                  </a:lnTo>
                  <a:lnTo>
                    <a:pt x="372999" y="315594"/>
                  </a:lnTo>
                </a:path>
                <a:path w="564514" h="554989">
                  <a:moveTo>
                    <a:pt x="239140" y="210438"/>
                  </a:moveTo>
                  <a:lnTo>
                    <a:pt x="242315" y="210438"/>
                  </a:lnTo>
                  <a:lnTo>
                    <a:pt x="277367" y="210438"/>
                  </a:lnTo>
                  <a:lnTo>
                    <a:pt x="287869" y="210131"/>
                  </a:lnTo>
                  <a:lnTo>
                    <a:pt x="329946" y="205612"/>
                  </a:lnTo>
                  <a:lnTo>
                    <a:pt x="369468" y="198469"/>
                  </a:lnTo>
                  <a:lnTo>
                    <a:pt x="387350" y="192912"/>
                  </a:lnTo>
                  <a:lnTo>
                    <a:pt x="395350" y="191261"/>
                  </a:lnTo>
                  <a:lnTo>
                    <a:pt x="401700" y="191261"/>
                  </a:lnTo>
                </a:path>
                <a:path w="564514" h="554989">
                  <a:moveTo>
                    <a:pt x="564388" y="0"/>
                  </a:moveTo>
                  <a:lnTo>
                    <a:pt x="564388" y="6349"/>
                  </a:lnTo>
                  <a:lnTo>
                    <a:pt x="564388" y="11175"/>
                  </a:lnTo>
                  <a:lnTo>
                    <a:pt x="564388" y="14350"/>
                  </a:lnTo>
                  <a:lnTo>
                    <a:pt x="563177" y="18827"/>
                  </a:lnTo>
                  <a:lnTo>
                    <a:pt x="545211" y="57403"/>
                  </a:lnTo>
                  <a:lnTo>
                    <a:pt x="523700" y="99234"/>
                  </a:lnTo>
                  <a:lnTo>
                    <a:pt x="497331" y="148208"/>
                  </a:lnTo>
                  <a:lnTo>
                    <a:pt x="483619" y="173920"/>
                  </a:lnTo>
                  <a:lnTo>
                    <a:pt x="459720" y="221771"/>
                  </a:lnTo>
                  <a:lnTo>
                    <a:pt x="440576" y="265366"/>
                  </a:lnTo>
                  <a:lnTo>
                    <a:pt x="426237" y="308419"/>
                  </a:lnTo>
                  <a:lnTo>
                    <a:pt x="416710" y="350587"/>
                  </a:lnTo>
                  <a:lnTo>
                    <a:pt x="411352" y="401700"/>
                  </a:lnTo>
                  <a:lnTo>
                    <a:pt x="411948" y="416063"/>
                  </a:lnTo>
                  <a:lnTo>
                    <a:pt x="420877" y="459104"/>
                  </a:lnTo>
                  <a:lnTo>
                    <a:pt x="440576" y="502146"/>
                  </a:lnTo>
                  <a:lnTo>
                    <a:pt x="467471" y="539226"/>
                  </a:lnTo>
                  <a:lnTo>
                    <a:pt x="500634" y="554735"/>
                  </a:lnTo>
                  <a:lnTo>
                    <a:pt x="506984" y="554735"/>
                  </a:lnTo>
                  <a:lnTo>
                    <a:pt x="541607" y="524875"/>
                  </a:lnTo>
                  <a:lnTo>
                    <a:pt x="544308" y="516221"/>
                  </a:lnTo>
                  <a:lnTo>
                    <a:pt x="545211" y="506983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4186" y="6140830"/>
              <a:ext cx="213613" cy="223138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5447537" y="5917691"/>
              <a:ext cx="229870" cy="554990"/>
            </a:xfrm>
            <a:custGeom>
              <a:avLst/>
              <a:gdLst/>
              <a:ahLst/>
              <a:cxnLst/>
              <a:rect l="l" t="t" r="r" b="b"/>
              <a:pathLst>
                <a:path w="229870" h="554989">
                  <a:moveTo>
                    <a:pt x="133858" y="0"/>
                  </a:moveTo>
                  <a:lnTo>
                    <a:pt x="119856" y="45414"/>
                  </a:lnTo>
                  <a:lnTo>
                    <a:pt x="106425" y="86042"/>
                  </a:lnTo>
                  <a:lnTo>
                    <a:pt x="93567" y="121908"/>
                  </a:lnTo>
                  <a:lnTo>
                    <a:pt x="69659" y="181417"/>
                  </a:lnTo>
                  <a:lnTo>
                    <a:pt x="58610" y="209216"/>
                  </a:lnTo>
                  <a:lnTo>
                    <a:pt x="48132" y="236420"/>
                  </a:lnTo>
                  <a:lnTo>
                    <a:pt x="38226" y="263016"/>
                  </a:lnTo>
                  <a:lnTo>
                    <a:pt x="29277" y="287518"/>
                  </a:lnTo>
                  <a:lnTo>
                    <a:pt x="21494" y="308435"/>
                  </a:lnTo>
                  <a:lnTo>
                    <a:pt x="14902" y="325756"/>
                  </a:lnTo>
                  <a:lnTo>
                    <a:pt x="9525" y="339470"/>
                  </a:lnTo>
                  <a:lnTo>
                    <a:pt x="5357" y="351162"/>
                  </a:lnTo>
                  <a:lnTo>
                    <a:pt x="2381" y="362235"/>
                  </a:lnTo>
                  <a:lnTo>
                    <a:pt x="595" y="372689"/>
                  </a:lnTo>
                  <a:lnTo>
                    <a:pt x="0" y="382523"/>
                  </a:lnTo>
                  <a:lnTo>
                    <a:pt x="289" y="392429"/>
                  </a:lnTo>
                  <a:lnTo>
                    <a:pt x="8705" y="438153"/>
                  </a:lnTo>
                  <a:lnTo>
                    <a:pt x="38226" y="482980"/>
                  </a:lnTo>
                  <a:lnTo>
                    <a:pt x="65754" y="512889"/>
                  </a:lnTo>
                  <a:lnTo>
                    <a:pt x="103094" y="543966"/>
                  </a:lnTo>
                  <a:lnTo>
                    <a:pt x="143510" y="554735"/>
                  </a:lnTo>
                  <a:lnTo>
                    <a:pt x="157511" y="554735"/>
                  </a:lnTo>
                  <a:lnTo>
                    <a:pt x="170942" y="554735"/>
                  </a:lnTo>
                  <a:lnTo>
                    <a:pt x="183800" y="554735"/>
                  </a:lnTo>
                  <a:lnTo>
                    <a:pt x="196087" y="554735"/>
                  </a:lnTo>
                  <a:lnTo>
                    <a:pt x="207113" y="553543"/>
                  </a:lnTo>
                  <a:lnTo>
                    <a:pt x="216376" y="549957"/>
                  </a:lnTo>
                  <a:lnTo>
                    <a:pt x="223877" y="543966"/>
                  </a:lnTo>
                  <a:lnTo>
                    <a:pt x="229615" y="535558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/>
          <p:nvPr/>
        </p:nvSpPr>
        <p:spPr>
          <a:xfrm>
            <a:off x="6097904" y="6051550"/>
            <a:ext cx="210820" cy="449580"/>
          </a:xfrm>
          <a:custGeom>
            <a:avLst/>
            <a:gdLst/>
            <a:ahLst/>
            <a:cxnLst/>
            <a:rect l="l" t="t" r="r" b="b"/>
            <a:pathLst>
              <a:path w="210820" h="449579">
                <a:moveTo>
                  <a:pt x="9652" y="0"/>
                </a:moveTo>
                <a:lnTo>
                  <a:pt x="19196" y="19145"/>
                </a:lnTo>
                <a:lnTo>
                  <a:pt x="28765" y="38290"/>
                </a:lnTo>
                <a:lnTo>
                  <a:pt x="38334" y="57435"/>
                </a:lnTo>
                <a:lnTo>
                  <a:pt x="57118" y="95652"/>
                </a:lnTo>
                <a:lnTo>
                  <a:pt x="73882" y="133891"/>
                </a:lnTo>
                <a:lnTo>
                  <a:pt x="87955" y="173370"/>
                </a:lnTo>
                <a:lnTo>
                  <a:pt x="97480" y="221186"/>
                </a:lnTo>
                <a:lnTo>
                  <a:pt x="102550" y="276760"/>
                </a:lnTo>
                <a:lnTo>
                  <a:pt x="104975" y="329426"/>
                </a:lnTo>
                <a:lnTo>
                  <a:pt x="105283" y="353949"/>
                </a:lnTo>
                <a:lnTo>
                  <a:pt x="105283" y="375455"/>
                </a:lnTo>
                <a:lnTo>
                  <a:pt x="105283" y="392176"/>
                </a:lnTo>
                <a:lnTo>
                  <a:pt x="105283" y="404133"/>
                </a:lnTo>
                <a:lnTo>
                  <a:pt x="105283" y="411353"/>
                </a:lnTo>
                <a:lnTo>
                  <a:pt x="105283" y="417703"/>
                </a:lnTo>
                <a:lnTo>
                  <a:pt x="103632" y="425703"/>
                </a:lnTo>
                <a:lnTo>
                  <a:pt x="100457" y="435228"/>
                </a:lnTo>
                <a:lnTo>
                  <a:pt x="97282" y="444753"/>
                </a:lnTo>
                <a:lnTo>
                  <a:pt x="94107" y="449580"/>
                </a:lnTo>
                <a:lnTo>
                  <a:pt x="90932" y="449580"/>
                </a:lnTo>
                <a:lnTo>
                  <a:pt x="87757" y="449580"/>
                </a:lnTo>
                <a:lnTo>
                  <a:pt x="84582" y="449580"/>
                </a:lnTo>
                <a:lnTo>
                  <a:pt x="81407" y="449580"/>
                </a:lnTo>
                <a:lnTo>
                  <a:pt x="78120" y="448387"/>
                </a:lnTo>
                <a:lnTo>
                  <a:pt x="73025" y="444801"/>
                </a:lnTo>
                <a:lnTo>
                  <a:pt x="66119" y="438810"/>
                </a:lnTo>
                <a:lnTo>
                  <a:pt x="57404" y="430403"/>
                </a:lnTo>
              </a:path>
              <a:path w="210820" h="449579">
                <a:moveTo>
                  <a:pt x="0" y="19177"/>
                </a:moveTo>
                <a:lnTo>
                  <a:pt x="17952" y="32583"/>
                </a:lnTo>
                <a:lnTo>
                  <a:pt x="33512" y="44227"/>
                </a:lnTo>
                <a:lnTo>
                  <a:pt x="46666" y="54109"/>
                </a:lnTo>
                <a:lnTo>
                  <a:pt x="57404" y="62230"/>
                </a:lnTo>
                <a:lnTo>
                  <a:pt x="67599" y="69681"/>
                </a:lnTo>
                <a:lnTo>
                  <a:pt x="78962" y="77739"/>
                </a:lnTo>
                <a:lnTo>
                  <a:pt x="91515" y="86393"/>
                </a:lnTo>
                <a:lnTo>
                  <a:pt x="105283" y="95631"/>
                </a:lnTo>
                <a:lnTo>
                  <a:pt x="118453" y="104923"/>
                </a:lnTo>
                <a:lnTo>
                  <a:pt x="148582" y="136917"/>
                </a:lnTo>
                <a:lnTo>
                  <a:pt x="174369" y="179077"/>
                </a:lnTo>
                <a:lnTo>
                  <a:pt x="195863" y="220868"/>
                </a:lnTo>
                <a:lnTo>
                  <a:pt x="205740" y="263016"/>
                </a:lnTo>
                <a:lnTo>
                  <a:pt x="210439" y="301244"/>
                </a:lnTo>
                <a:lnTo>
                  <a:pt x="210439" y="304546"/>
                </a:lnTo>
                <a:lnTo>
                  <a:pt x="210439" y="309244"/>
                </a:lnTo>
                <a:lnTo>
                  <a:pt x="210439" y="315594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4" name="object 2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16015" y="5901690"/>
            <a:ext cx="146558" cy="79629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8487883" y="3628984"/>
            <a:ext cx="15005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var(y1)</a:t>
            </a:r>
            <a:r>
              <a:rPr dirty="0" sz="1000" spc="-2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=</a:t>
            </a:r>
            <a:r>
              <a:rPr dirty="0" sz="1000" spc="-2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var(y2)</a:t>
            </a:r>
            <a:r>
              <a:rPr dirty="0" sz="1000" spc="-2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=</a:t>
            </a:r>
            <a:r>
              <a:rPr dirty="0" sz="1000" spc="-1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Arial MT"/>
                <a:cs typeface="Arial MT"/>
              </a:rPr>
              <a:t>var(yn)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19225">
              <a:lnSpc>
                <a:spcPct val="100000"/>
              </a:lnSpc>
              <a:spcBef>
                <a:spcPts val="100"/>
              </a:spcBef>
            </a:pPr>
            <a:r>
              <a:rPr dirty="0"/>
              <a:t>개인들이</a:t>
            </a:r>
            <a:r>
              <a:rPr dirty="0" spc="265"/>
              <a:t> </a:t>
            </a:r>
            <a:r>
              <a:rPr dirty="0"/>
              <a:t>모두</a:t>
            </a:r>
            <a:r>
              <a:rPr dirty="0" spc="280"/>
              <a:t> </a:t>
            </a:r>
            <a:r>
              <a:rPr dirty="0"/>
              <a:t>동일한</a:t>
            </a:r>
            <a:r>
              <a:rPr dirty="0" spc="275"/>
              <a:t> </a:t>
            </a:r>
            <a:r>
              <a:rPr dirty="0"/>
              <a:t>평균소득을</a:t>
            </a:r>
            <a:r>
              <a:rPr dirty="0" spc="280"/>
              <a:t> </a:t>
            </a:r>
            <a:r>
              <a:rPr dirty="0"/>
              <a:t>수령하는</a:t>
            </a:r>
            <a:r>
              <a:rPr dirty="0" spc="280"/>
              <a:t> </a:t>
            </a:r>
            <a:r>
              <a:rPr dirty="0" spc="-25"/>
              <a:t>경우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1886" y="2020737"/>
            <a:ext cx="3740785" cy="55181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50800" marR="43180" indent="1572260">
              <a:lnSpc>
                <a:spcPct val="68600"/>
              </a:lnSpc>
              <a:spcBef>
                <a:spcPts val="855"/>
              </a:spcBef>
              <a:tabLst>
                <a:tab pos="2185035" algn="l"/>
                <a:tab pos="3270250" algn="l"/>
              </a:tabLst>
            </a:pPr>
            <a:r>
              <a:rPr dirty="0" sz="2000" spc="135">
                <a:latin typeface="Microsoft Sans Serif"/>
                <a:cs typeface="Microsoft Sans Serif"/>
              </a:rPr>
              <a:t>y</a:t>
            </a:r>
            <a:r>
              <a:rPr dirty="0" baseline="-22633" sz="2025" spc="202">
                <a:latin typeface="Microsoft Sans Serif"/>
                <a:cs typeface="Microsoft Sans Serif"/>
              </a:rPr>
              <a:t>l</a:t>
            </a:r>
            <a:r>
              <a:rPr dirty="0" baseline="-22633" sz="2025">
                <a:latin typeface="Microsoft Sans Serif"/>
                <a:cs typeface="Microsoft Sans Serif"/>
              </a:rPr>
              <a:t>	</a:t>
            </a:r>
            <a:r>
              <a:rPr dirty="0" sz="2000" spc="-25">
                <a:latin typeface="Microsoft Sans Serif"/>
                <a:cs typeface="Microsoft Sans Serif"/>
              </a:rPr>
              <a:t>y</a:t>
            </a:r>
            <a:r>
              <a:rPr dirty="0" baseline="-22633" sz="2025" spc="-37">
                <a:latin typeface="Microsoft Sans Serif"/>
                <a:cs typeface="Microsoft Sans Serif"/>
              </a:rPr>
              <a:t>Z</a:t>
            </a:r>
            <a:r>
              <a:rPr dirty="0" baseline="-22633" sz="2025">
                <a:latin typeface="Microsoft Sans Serif"/>
                <a:cs typeface="Microsoft Sans Serif"/>
              </a:rPr>
              <a:t>	</a:t>
            </a:r>
            <a:r>
              <a:rPr dirty="0" sz="2000" spc="-25">
                <a:latin typeface="Microsoft Sans Serif"/>
                <a:cs typeface="Microsoft Sans Serif"/>
              </a:rPr>
              <a:t>y</a:t>
            </a:r>
            <a:r>
              <a:rPr dirty="0" baseline="-21825" sz="2100" spc="-37" i="1">
                <a:latin typeface="Times New Roman"/>
                <a:cs typeface="Times New Roman"/>
              </a:rPr>
              <a:t>N </a:t>
            </a:r>
            <a:r>
              <a:rPr dirty="0" sz="2000" spc="-210">
                <a:latin typeface="Microsoft Sans Serif"/>
                <a:cs typeface="Microsoft Sans Serif"/>
              </a:rPr>
              <a:t>var</a:t>
            </a:r>
            <a:r>
              <a:rPr dirty="0" baseline="2777" sz="3000" spc="-315">
                <a:latin typeface="Microsoft Sans Serif"/>
                <a:cs typeface="Microsoft Sans Serif"/>
              </a:rPr>
              <a:t>(</a:t>
            </a:r>
            <a:r>
              <a:rPr dirty="0" baseline="13888" sz="3000" spc="-315">
                <a:latin typeface="Microsoft Sans Serif"/>
                <a:cs typeface="Microsoft Sans Serif"/>
              </a:rPr>
              <a:t></a:t>
            </a:r>
            <a:r>
              <a:rPr dirty="0" sz="2000" spc="-210">
                <a:latin typeface="Microsoft Sans Serif"/>
                <a:cs typeface="Microsoft Sans Serif"/>
              </a:rPr>
              <a:t>y</a:t>
            </a:r>
            <a:r>
              <a:rPr dirty="0" baseline="2777" sz="3000" spc="-315">
                <a:latin typeface="Microsoft Sans Serif"/>
                <a:cs typeface="Microsoft Sans Serif"/>
              </a:rPr>
              <a:t>)</a:t>
            </a:r>
            <a:r>
              <a:rPr dirty="0" baseline="2777" sz="3000" spc="-195">
                <a:latin typeface="Microsoft Sans Serif"/>
                <a:cs typeface="Microsoft Sans Serif"/>
              </a:rPr>
              <a:t> </a:t>
            </a: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-165">
                <a:latin typeface="Microsoft Sans Serif"/>
                <a:cs typeface="Microsoft Sans Serif"/>
              </a:rPr>
              <a:t>var</a:t>
            </a:r>
            <a:r>
              <a:rPr dirty="0" baseline="2777" sz="3000" spc="-247">
                <a:latin typeface="Microsoft Sans Serif"/>
                <a:cs typeface="Microsoft Sans Serif"/>
              </a:rPr>
              <a:t>(</a:t>
            </a:r>
            <a:r>
              <a:rPr dirty="0" baseline="-16666" sz="3000" spc="-247">
                <a:latin typeface="Microsoft Sans Serif"/>
                <a:cs typeface="Microsoft Sans Serif"/>
              </a:rPr>
              <a:t></a:t>
            </a:r>
            <a:r>
              <a:rPr dirty="0" baseline="-34391" sz="3150" spc="-247" i="1">
                <a:latin typeface="Times New Roman"/>
                <a:cs typeface="Times New Roman"/>
              </a:rPr>
              <a:t>N</a:t>
            </a:r>
            <a:r>
              <a:rPr dirty="0" baseline="-34391" sz="3150" spc="82" i="1">
                <a:latin typeface="Times New Roman"/>
                <a:cs typeface="Times New Roman"/>
              </a:rPr>
              <a:t> </a:t>
            </a:r>
            <a:r>
              <a:rPr dirty="0" baseline="2777" sz="3000" spc="555">
                <a:latin typeface="Microsoft Sans Serif"/>
                <a:cs typeface="Microsoft Sans Serif"/>
              </a:rPr>
              <a:t>+</a:t>
            </a:r>
            <a:r>
              <a:rPr dirty="0" baseline="2777" sz="3000" spc="-135">
                <a:latin typeface="Microsoft Sans Serif"/>
                <a:cs typeface="Microsoft Sans Serif"/>
              </a:rPr>
              <a:t> </a:t>
            </a:r>
            <a:r>
              <a:rPr dirty="0" baseline="-16666" sz="3000" spc="-1170">
                <a:latin typeface="Microsoft Sans Serif"/>
                <a:cs typeface="Microsoft Sans Serif"/>
              </a:rPr>
              <a:t></a:t>
            </a:r>
            <a:r>
              <a:rPr dirty="0" baseline="-34391" sz="3150" spc="-1170" i="1">
                <a:latin typeface="Times New Roman"/>
                <a:cs typeface="Times New Roman"/>
              </a:rPr>
              <a:t>N</a:t>
            </a:r>
            <a:r>
              <a:rPr dirty="0" baseline="-34391" sz="3150" spc="97" i="1">
                <a:latin typeface="Times New Roman"/>
                <a:cs typeface="Times New Roman"/>
              </a:rPr>
              <a:t> </a:t>
            </a:r>
            <a:r>
              <a:rPr dirty="0" baseline="2777" sz="3000" spc="555">
                <a:latin typeface="Microsoft Sans Serif"/>
                <a:cs typeface="Microsoft Sans Serif"/>
              </a:rPr>
              <a:t>+</a:t>
            </a:r>
            <a:r>
              <a:rPr dirty="0" baseline="2777" sz="3000" spc="-75">
                <a:latin typeface="Microsoft Sans Serif"/>
                <a:cs typeface="Microsoft Sans Serif"/>
              </a:rPr>
              <a:t> </a:t>
            </a:r>
            <a:r>
              <a:rPr dirty="0" baseline="2777" sz="3000">
                <a:latin typeface="Microsoft Sans Serif"/>
                <a:cs typeface="Microsoft Sans Serif"/>
              </a:rPr>
              <a:t>...</a:t>
            </a:r>
            <a:r>
              <a:rPr dirty="0" baseline="2777" sz="3000" spc="-52">
                <a:latin typeface="Microsoft Sans Serif"/>
                <a:cs typeface="Microsoft Sans Serif"/>
              </a:rPr>
              <a:t> </a:t>
            </a:r>
            <a:r>
              <a:rPr dirty="0" baseline="2777" sz="3000" spc="555">
                <a:latin typeface="Microsoft Sans Serif"/>
                <a:cs typeface="Microsoft Sans Serif"/>
              </a:rPr>
              <a:t>+</a:t>
            </a:r>
            <a:r>
              <a:rPr dirty="0" baseline="2777" sz="3000" spc="-135">
                <a:latin typeface="Microsoft Sans Serif"/>
                <a:cs typeface="Microsoft Sans Serif"/>
              </a:rPr>
              <a:t> </a:t>
            </a:r>
            <a:r>
              <a:rPr dirty="0" baseline="-16666" sz="3000" spc="-1035">
                <a:latin typeface="Microsoft Sans Serif"/>
                <a:cs typeface="Microsoft Sans Serif"/>
              </a:rPr>
              <a:t></a:t>
            </a:r>
            <a:r>
              <a:rPr dirty="0" baseline="-34391" sz="3150" spc="-1035" i="1">
                <a:latin typeface="Times New Roman"/>
                <a:cs typeface="Times New Roman"/>
              </a:rPr>
              <a:t>N</a:t>
            </a:r>
            <a:r>
              <a:rPr dirty="0" baseline="-34391" sz="3150" spc="382" i="1">
                <a:latin typeface="Times New Roman"/>
                <a:cs typeface="Times New Roman"/>
              </a:rPr>
              <a:t> </a:t>
            </a:r>
            <a:r>
              <a:rPr dirty="0" baseline="2777" sz="3000" spc="82">
                <a:latin typeface="Microsoft Sans Serif"/>
                <a:cs typeface="Microsoft Sans Serif"/>
              </a:rPr>
              <a:t>)</a:t>
            </a:r>
            <a:endParaRPr baseline="2777" sz="300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331005" y="2840196"/>
            <a:ext cx="144081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 spc="150">
                <a:latin typeface="Microsoft Sans Serif"/>
                <a:cs typeface="Microsoft Sans Serif"/>
              </a:rPr>
              <a:t> </a:t>
            </a:r>
            <a:r>
              <a:rPr dirty="0" sz="2100" spc="85" i="1">
                <a:latin typeface="Times New Roman"/>
                <a:cs typeface="Times New Roman"/>
              </a:rPr>
              <a:t>N</a:t>
            </a:r>
            <a:r>
              <a:rPr dirty="0" sz="2000" spc="85">
                <a:latin typeface="Microsoft Sans Serif"/>
                <a:cs typeface="Microsoft Sans Serif"/>
              </a:rPr>
              <a:t>var</a:t>
            </a:r>
            <a:r>
              <a:rPr dirty="0" baseline="2777" sz="3000" spc="127">
                <a:latin typeface="Microsoft Sans Serif"/>
                <a:cs typeface="Microsoft Sans Serif"/>
              </a:rPr>
              <a:t>(</a:t>
            </a:r>
            <a:r>
              <a:rPr dirty="0" baseline="2777" sz="3000" spc="284">
                <a:latin typeface="Microsoft Sans Serif"/>
                <a:cs typeface="Microsoft Sans Serif"/>
              </a:rPr>
              <a:t> </a:t>
            </a:r>
            <a:r>
              <a:rPr dirty="0" baseline="36111" sz="3000">
                <a:latin typeface="Microsoft Sans Serif"/>
                <a:cs typeface="Microsoft Sans Serif"/>
              </a:rPr>
              <a:t>y</a:t>
            </a:r>
            <a:r>
              <a:rPr dirty="0" baseline="36111" sz="3000" spc="337">
                <a:latin typeface="Microsoft Sans Serif"/>
                <a:cs typeface="Microsoft Sans Serif"/>
              </a:rPr>
              <a:t> </a:t>
            </a:r>
            <a:r>
              <a:rPr dirty="0" baseline="2777" sz="3000" spc="82">
                <a:latin typeface="Microsoft Sans Serif"/>
                <a:cs typeface="Microsoft Sans Serif"/>
              </a:rPr>
              <a:t>)</a:t>
            </a:r>
            <a:endParaRPr baseline="2777" sz="30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30905" y="3534763"/>
            <a:ext cx="56959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000" spc="200">
                <a:latin typeface="Microsoft Sans Serif"/>
                <a:cs typeface="Microsoft Sans Serif"/>
              </a:rPr>
              <a:t></a:t>
            </a:r>
            <a:r>
              <a:rPr dirty="0" baseline="-18518" sz="3150" spc="300" i="1">
                <a:latin typeface="Times New Roman"/>
                <a:cs typeface="Times New Roman"/>
              </a:rPr>
              <a:t>N</a:t>
            </a:r>
            <a:endParaRPr baseline="-18518" sz="31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331005" y="2919401"/>
            <a:ext cx="2483485" cy="883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224154">
              <a:lnSpc>
                <a:spcPct val="100000"/>
              </a:lnSpc>
              <a:spcBef>
                <a:spcPts val="110"/>
              </a:spcBef>
            </a:pPr>
            <a:r>
              <a:rPr dirty="0" sz="2000" spc="-844">
                <a:latin typeface="Microsoft Sans Serif"/>
                <a:cs typeface="Microsoft Sans Serif"/>
              </a:rPr>
              <a:t></a:t>
            </a:r>
            <a:r>
              <a:rPr dirty="0" baseline="-18518" sz="3150" spc="-1267" i="1">
                <a:latin typeface="Times New Roman"/>
                <a:cs typeface="Times New Roman"/>
              </a:rPr>
              <a:t>N</a:t>
            </a:r>
            <a:endParaRPr baseline="-18518" sz="3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700"/>
              </a:spcBef>
              <a:tabLst>
                <a:tab pos="375920" algn="l"/>
              </a:tabLst>
            </a:pPr>
            <a:r>
              <a:rPr dirty="0" baseline="2777" sz="3000" spc="-794">
                <a:latin typeface="Microsoft Sans Serif"/>
                <a:cs typeface="Microsoft Sans Serif"/>
              </a:rPr>
              <a:t></a:t>
            </a:r>
            <a:r>
              <a:rPr dirty="0" baseline="2777" sz="3000">
                <a:latin typeface="Microsoft Sans Serif"/>
                <a:cs typeface="Microsoft Sans Serif"/>
              </a:rPr>
              <a:t>	</a:t>
            </a:r>
            <a:r>
              <a:rPr dirty="0" baseline="36111" sz="3000" spc="135">
                <a:latin typeface="Microsoft Sans Serif"/>
                <a:cs typeface="Microsoft Sans Serif"/>
              </a:rPr>
              <a:t>var</a:t>
            </a:r>
            <a:r>
              <a:rPr dirty="0" baseline="38888" sz="3000" spc="135">
                <a:latin typeface="Microsoft Sans Serif"/>
                <a:cs typeface="Microsoft Sans Serif"/>
              </a:rPr>
              <a:t>(</a:t>
            </a:r>
            <a:r>
              <a:rPr dirty="0" baseline="36111" sz="3000" spc="135">
                <a:latin typeface="Microsoft Sans Serif"/>
                <a:cs typeface="Microsoft Sans Serif"/>
              </a:rPr>
              <a:t>y</a:t>
            </a:r>
            <a:r>
              <a:rPr dirty="0" baseline="38888" sz="3000" spc="135">
                <a:latin typeface="Microsoft Sans Serif"/>
                <a:cs typeface="Microsoft Sans Serif"/>
              </a:rPr>
              <a:t>)</a:t>
            </a:r>
            <a:r>
              <a:rPr dirty="0" baseline="38888" sz="3000" spc="-75">
                <a:latin typeface="Microsoft Sans Serif"/>
                <a:cs typeface="Microsoft Sans Serif"/>
              </a:rPr>
              <a:t> </a:t>
            </a:r>
            <a:r>
              <a:rPr dirty="0" sz="2000" spc="135">
                <a:latin typeface="Microsoft Sans Serif"/>
                <a:cs typeface="Microsoft Sans Serif"/>
              </a:rPr>
              <a:t>→0</a:t>
            </a:r>
            <a:r>
              <a:rPr dirty="0" baseline="2777" sz="3000" spc="202">
                <a:latin typeface="Microsoft Sans Serif"/>
                <a:cs typeface="Microsoft Sans Serif"/>
              </a:rPr>
              <a:t>(</a:t>
            </a:r>
            <a:r>
              <a:rPr dirty="0" sz="2100" spc="135" i="1">
                <a:latin typeface="Times New Roman"/>
                <a:cs typeface="Times New Roman"/>
              </a:rPr>
              <a:t>N</a:t>
            </a:r>
            <a:r>
              <a:rPr dirty="0" sz="2000" spc="135">
                <a:latin typeface="Microsoft Sans Serif"/>
                <a:cs typeface="Microsoft Sans Serif"/>
              </a:rPr>
              <a:t>→∞</a:t>
            </a:r>
            <a:r>
              <a:rPr dirty="0" baseline="2777" sz="3000" spc="202">
                <a:latin typeface="Microsoft Sans Serif"/>
                <a:cs typeface="Microsoft Sans Serif"/>
              </a:rPr>
              <a:t>)</a:t>
            </a:r>
            <a:endParaRPr baseline="2777" sz="30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66636" y="4350280"/>
            <a:ext cx="8549005" cy="1651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3300"/>
              </a:lnSpc>
              <a:spcBef>
                <a:spcPts val="100"/>
              </a:spcBef>
            </a:pPr>
            <a:r>
              <a:rPr dirty="0" sz="2000" b="1">
                <a:latin typeface="Malgun Gothic"/>
                <a:cs typeface="Malgun Gothic"/>
              </a:rPr>
              <a:t>소득에</a:t>
            </a:r>
            <a:r>
              <a:rPr dirty="0" sz="2000" spc="35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대하여</a:t>
            </a:r>
            <a:r>
              <a:rPr dirty="0" sz="2000" spc="36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동일한</a:t>
            </a:r>
            <a:r>
              <a:rPr dirty="0" sz="2000" spc="35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확률본포와</a:t>
            </a:r>
            <a:r>
              <a:rPr dirty="0" sz="2000" spc="35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상호독립성을</a:t>
            </a:r>
            <a:r>
              <a:rPr dirty="0" sz="2000" spc="34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유지하는</a:t>
            </a:r>
            <a:r>
              <a:rPr dirty="0" sz="2000" spc="36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N명의</a:t>
            </a:r>
            <a:r>
              <a:rPr dirty="0" sz="2000" spc="35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개인들 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spc="4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위험분산의</a:t>
            </a:r>
            <a:r>
              <a:rPr dirty="0" sz="2000" spc="42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기구에</a:t>
            </a:r>
            <a:r>
              <a:rPr dirty="0" sz="2000" spc="4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가입할</a:t>
            </a:r>
            <a:r>
              <a:rPr dirty="0" sz="2000" spc="42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4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조직의</a:t>
            </a:r>
            <a:r>
              <a:rPr dirty="0" sz="2000" spc="42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규모가</a:t>
            </a:r>
            <a:r>
              <a:rPr dirty="0" sz="2000" spc="4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커질수록</a:t>
            </a:r>
            <a:r>
              <a:rPr dirty="0" sz="2000" spc="434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평균소득의 </a:t>
            </a:r>
            <a:r>
              <a:rPr dirty="0" sz="2000" b="1">
                <a:latin typeface="Malgun Gothic"/>
                <a:cs typeface="Malgun Gothic"/>
              </a:rPr>
              <a:t>분산은</a:t>
            </a:r>
            <a:r>
              <a:rPr dirty="0" sz="2000" spc="4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점차</a:t>
            </a:r>
            <a:r>
              <a:rPr dirty="0" sz="2000" spc="4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0에</a:t>
            </a:r>
            <a:r>
              <a:rPr dirty="0" sz="2000" spc="4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근접하는</a:t>
            </a:r>
            <a:r>
              <a:rPr dirty="0" sz="2000" spc="4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경향이</a:t>
            </a:r>
            <a:r>
              <a:rPr dirty="0" sz="2000" spc="4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있다.</a:t>
            </a:r>
            <a:r>
              <a:rPr dirty="0" sz="2000" spc="-100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즉,</a:t>
            </a:r>
            <a:r>
              <a:rPr dirty="0" sz="2000" spc="-100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개인들은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위험분산의</a:t>
            </a:r>
            <a:r>
              <a:rPr dirty="0" sz="2000" spc="49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기구 </a:t>
            </a:r>
            <a:r>
              <a:rPr dirty="0" sz="2000" b="1">
                <a:latin typeface="Malgun Gothic"/>
                <a:cs typeface="Malgun Gothic"/>
              </a:rPr>
              <a:t>에서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상호간의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거래를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통해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확실성을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확보하게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된다.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515355" y="5142865"/>
            <a:ext cx="2334260" cy="105410"/>
          </a:xfrm>
          <a:custGeom>
            <a:avLst/>
            <a:gdLst/>
            <a:ahLst/>
            <a:cxnLst/>
            <a:rect l="l" t="t" r="r" b="b"/>
            <a:pathLst>
              <a:path w="2334259" h="105410">
                <a:moveTo>
                  <a:pt x="0" y="105156"/>
                </a:moveTo>
                <a:lnTo>
                  <a:pt x="6477" y="105156"/>
                </a:lnTo>
                <a:lnTo>
                  <a:pt x="124460" y="105156"/>
                </a:lnTo>
                <a:lnTo>
                  <a:pt x="144127" y="104868"/>
                </a:lnTo>
                <a:lnTo>
                  <a:pt x="187128" y="102530"/>
                </a:lnTo>
                <a:lnTo>
                  <a:pt x="234654" y="97768"/>
                </a:lnTo>
                <a:lnTo>
                  <a:pt x="284894" y="90580"/>
                </a:lnTo>
                <a:lnTo>
                  <a:pt x="310896" y="86106"/>
                </a:lnTo>
                <a:lnTo>
                  <a:pt x="335704" y="81918"/>
                </a:lnTo>
                <a:lnTo>
                  <a:pt x="357536" y="78898"/>
                </a:lnTo>
                <a:lnTo>
                  <a:pt x="376368" y="77069"/>
                </a:lnTo>
                <a:lnTo>
                  <a:pt x="392176" y="76454"/>
                </a:lnTo>
                <a:lnTo>
                  <a:pt x="406251" y="76454"/>
                </a:lnTo>
                <a:lnTo>
                  <a:pt x="419719" y="76454"/>
                </a:lnTo>
                <a:lnTo>
                  <a:pt x="432591" y="76454"/>
                </a:lnTo>
                <a:lnTo>
                  <a:pt x="444881" y="76454"/>
                </a:lnTo>
                <a:lnTo>
                  <a:pt x="458595" y="75858"/>
                </a:lnTo>
                <a:lnTo>
                  <a:pt x="475916" y="74072"/>
                </a:lnTo>
                <a:lnTo>
                  <a:pt x="496833" y="71096"/>
                </a:lnTo>
                <a:lnTo>
                  <a:pt x="521335" y="66929"/>
                </a:lnTo>
                <a:lnTo>
                  <a:pt x="547931" y="62454"/>
                </a:lnTo>
                <a:lnTo>
                  <a:pt x="575135" y="58562"/>
                </a:lnTo>
                <a:lnTo>
                  <a:pt x="602934" y="55266"/>
                </a:lnTo>
                <a:lnTo>
                  <a:pt x="631317" y="52578"/>
                </a:lnTo>
                <a:lnTo>
                  <a:pt x="659157" y="50196"/>
                </a:lnTo>
                <a:lnTo>
                  <a:pt x="685165" y="47815"/>
                </a:lnTo>
                <a:lnTo>
                  <a:pt x="709362" y="45434"/>
                </a:lnTo>
                <a:lnTo>
                  <a:pt x="731774" y="43053"/>
                </a:lnTo>
                <a:lnTo>
                  <a:pt x="753300" y="40959"/>
                </a:lnTo>
                <a:lnTo>
                  <a:pt x="774827" y="39449"/>
                </a:lnTo>
                <a:lnTo>
                  <a:pt x="796353" y="38534"/>
                </a:lnTo>
                <a:lnTo>
                  <a:pt x="817880" y="38227"/>
                </a:lnTo>
                <a:lnTo>
                  <a:pt x="838213" y="38227"/>
                </a:lnTo>
                <a:lnTo>
                  <a:pt x="856154" y="38227"/>
                </a:lnTo>
                <a:lnTo>
                  <a:pt x="1248283" y="38227"/>
                </a:lnTo>
                <a:lnTo>
                  <a:pt x="1269809" y="37631"/>
                </a:lnTo>
                <a:lnTo>
                  <a:pt x="1291336" y="35845"/>
                </a:lnTo>
                <a:lnTo>
                  <a:pt x="1312862" y="32869"/>
                </a:lnTo>
                <a:lnTo>
                  <a:pt x="1334389" y="28702"/>
                </a:lnTo>
                <a:lnTo>
                  <a:pt x="1356818" y="23919"/>
                </a:lnTo>
                <a:lnTo>
                  <a:pt x="1381045" y="19113"/>
                </a:lnTo>
                <a:lnTo>
                  <a:pt x="1434846" y="9525"/>
                </a:lnTo>
                <a:lnTo>
                  <a:pt x="1488646" y="2381"/>
                </a:lnTo>
                <a:lnTo>
                  <a:pt x="1535302" y="0"/>
                </a:lnTo>
                <a:lnTo>
                  <a:pt x="1558617" y="595"/>
                </a:lnTo>
                <a:lnTo>
                  <a:pt x="1585515" y="2381"/>
                </a:lnTo>
                <a:lnTo>
                  <a:pt x="1616009" y="5357"/>
                </a:lnTo>
                <a:lnTo>
                  <a:pt x="1650111" y="9525"/>
                </a:lnTo>
                <a:lnTo>
                  <a:pt x="1683254" y="13712"/>
                </a:lnTo>
                <a:lnTo>
                  <a:pt x="1711039" y="16732"/>
                </a:lnTo>
                <a:lnTo>
                  <a:pt x="1733442" y="18561"/>
                </a:lnTo>
                <a:lnTo>
                  <a:pt x="1750441" y="19177"/>
                </a:lnTo>
                <a:lnTo>
                  <a:pt x="1763613" y="19177"/>
                </a:lnTo>
                <a:lnTo>
                  <a:pt x="1774380" y="19177"/>
                </a:lnTo>
                <a:lnTo>
                  <a:pt x="2008759" y="19177"/>
                </a:lnTo>
                <a:lnTo>
                  <a:pt x="2018303" y="18869"/>
                </a:lnTo>
                <a:lnTo>
                  <a:pt x="2027872" y="17954"/>
                </a:lnTo>
                <a:lnTo>
                  <a:pt x="2037441" y="16444"/>
                </a:lnTo>
                <a:lnTo>
                  <a:pt x="2046986" y="14351"/>
                </a:lnTo>
                <a:lnTo>
                  <a:pt x="2056892" y="12257"/>
                </a:lnTo>
                <a:lnTo>
                  <a:pt x="2067369" y="10747"/>
                </a:lnTo>
                <a:lnTo>
                  <a:pt x="2078418" y="9832"/>
                </a:lnTo>
                <a:lnTo>
                  <a:pt x="2090039" y="9525"/>
                </a:lnTo>
                <a:lnTo>
                  <a:pt x="2102615" y="9525"/>
                </a:lnTo>
                <a:lnTo>
                  <a:pt x="2116359" y="9525"/>
                </a:lnTo>
                <a:lnTo>
                  <a:pt x="2329179" y="9525"/>
                </a:lnTo>
                <a:lnTo>
                  <a:pt x="2334005" y="6350"/>
                </a:lnTo>
                <a:lnTo>
                  <a:pt x="2334005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920606" y="5200269"/>
            <a:ext cx="599440" cy="9525"/>
          </a:xfrm>
          <a:custGeom>
            <a:avLst/>
            <a:gdLst/>
            <a:ahLst/>
            <a:cxnLst/>
            <a:rect l="l" t="t" r="r" b="b"/>
            <a:pathLst>
              <a:path w="599440" h="9525">
                <a:moveTo>
                  <a:pt x="0" y="0"/>
                </a:moveTo>
                <a:lnTo>
                  <a:pt x="13767" y="4167"/>
                </a:lnTo>
                <a:lnTo>
                  <a:pt x="26320" y="7143"/>
                </a:lnTo>
                <a:lnTo>
                  <a:pt x="37683" y="8929"/>
                </a:lnTo>
                <a:lnTo>
                  <a:pt x="47878" y="9524"/>
                </a:lnTo>
                <a:lnTo>
                  <a:pt x="57713" y="9524"/>
                </a:lnTo>
                <a:lnTo>
                  <a:pt x="68167" y="9524"/>
                </a:lnTo>
                <a:lnTo>
                  <a:pt x="599043" y="9524"/>
                </a:lnTo>
                <a:lnTo>
                  <a:pt x="594532" y="9524"/>
                </a:lnTo>
                <a:lnTo>
                  <a:pt x="583438" y="9524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440688" y="5535040"/>
            <a:ext cx="1511300" cy="67310"/>
          </a:xfrm>
          <a:custGeom>
            <a:avLst/>
            <a:gdLst/>
            <a:ahLst/>
            <a:cxnLst/>
            <a:rect l="l" t="t" r="r" b="b"/>
            <a:pathLst>
              <a:path w="1511300" h="67310">
                <a:moveTo>
                  <a:pt x="0" y="19176"/>
                </a:moveTo>
                <a:lnTo>
                  <a:pt x="0" y="19176"/>
                </a:lnTo>
                <a:lnTo>
                  <a:pt x="382524" y="19176"/>
                </a:lnTo>
                <a:lnTo>
                  <a:pt x="436364" y="18561"/>
                </a:lnTo>
                <a:lnTo>
                  <a:pt x="483012" y="16732"/>
                </a:lnTo>
                <a:lnTo>
                  <a:pt x="522470" y="13712"/>
                </a:lnTo>
                <a:lnTo>
                  <a:pt x="554736" y="9524"/>
                </a:lnTo>
                <a:lnTo>
                  <a:pt x="581025" y="5357"/>
                </a:lnTo>
                <a:lnTo>
                  <a:pt x="602551" y="2381"/>
                </a:lnTo>
                <a:lnTo>
                  <a:pt x="619315" y="595"/>
                </a:lnTo>
                <a:lnTo>
                  <a:pt x="631317" y="0"/>
                </a:lnTo>
                <a:lnTo>
                  <a:pt x="640554" y="0"/>
                </a:lnTo>
                <a:lnTo>
                  <a:pt x="649208" y="0"/>
                </a:lnTo>
                <a:lnTo>
                  <a:pt x="750824" y="0"/>
                </a:lnTo>
                <a:lnTo>
                  <a:pt x="762805" y="289"/>
                </a:lnTo>
                <a:lnTo>
                  <a:pt x="774763" y="1174"/>
                </a:lnTo>
                <a:lnTo>
                  <a:pt x="786721" y="2678"/>
                </a:lnTo>
                <a:lnTo>
                  <a:pt x="798703" y="4825"/>
                </a:lnTo>
                <a:lnTo>
                  <a:pt x="810918" y="7207"/>
                </a:lnTo>
                <a:lnTo>
                  <a:pt x="823753" y="9588"/>
                </a:lnTo>
                <a:lnTo>
                  <a:pt x="866493" y="16444"/>
                </a:lnTo>
                <a:lnTo>
                  <a:pt x="923036" y="19176"/>
                </a:lnTo>
                <a:lnTo>
                  <a:pt x="943659" y="19464"/>
                </a:lnTo>
                <a:lnTo>
                  <a:pt x="962485" y="20335"/>
                </a:lnTo>
                <a:lnTo>
                  <a:pt x="979525" y="21802"/>
                </a:lnTo>
                <a:lnTo>
                  <a:pt x="994791" y="23875"/>
                </a:lnTo>
                <a:lnTo>
                  <a:pt x="1008792" y="25969"/>
                </a:lnTo>
                <a:lnTo>
                  <a:pt x="1022223" y="27479"/>
                </a:lnTo>
                <a:lnTo>
                  <a:pt x="1035081" y="28394"/>
                </a:lnTo>
                <a:lnTo>
                  <a:pt x="1047369" y="28701"/>
                </a:lnTo>
                <a:lnTo>
                  <a:pt x="1058699" y="28991"/>
                </a:lnTo>
                <a:lnTo>
                  <a:pt x="1068863" y="29876"/>
                </a:lnTo>
                <a:lnTo>
                  <a:pt x="1077837" y="31380"/>
                </a:lnTo>
                <a:lnTo>
                  <a:pt x="1085595" y="33527"/>
                </a:lnTo>
                <a:lnTo>
                  <a:pt x="1092759" y="35909"/>
                </a:lnTo>
                <a:lnTo>
                  <a:pt x="1099947" y="38290"/>
                </a:lnTo>
                <a:lnTo>
                  <a:pt x="1107134" y="40671"/>
                </a:lnTo>
                <a:lnTo>
                  <a:pt x="1114298" y="43052"/>
                </a:lnTo>
                <a:lnTo>
                  <a:pt x="1121751" y="45434"/>
                </a:lnTo>
                <a:lnTo>
                  <a:pt x="1166891" y="56181"/>
                </a:lnTo>
                <a:lnTo>
                  <a:pt x="1195887" y="57691"/>
                </a:lnTo>
                <a:lnTo>
                  <a:pt x="1206341" y="58562"/>
                </a:lnTo>
                <a:lnTo>
                  <a:pt x="1217414" y="60029"/>
                </a:lnTo>
                <a:lnTo>
                  <a:pt x="1229106" y="62102"/>
                </a:lnTo>
                <a:lnTo>
                  <a:pt x="1241629" y="64250"/>
                </a:lnTo>
                <a:lnTo>
                  <a:pt x="1255379" y="65754"/>
                </a:lnTo>
                <a:lnTo>
                  <a:pt x="1270343" y="66639"/>
                </a:lnTo>
                <a:lnTo>
                  <a:pt x="1286510" y="66928"/>
                </a:lnTo>
                <a:lnTo>
                  <a:pt x="1303508" y="66928"/>
                </a:lnTo>
                <a:lnTo>
                  <a:pt x="1321149" y="66928"/>
                </a:lnTo>
                <a:lnTo>
                  <a:pt x="1504823" y="66928"/>
                </a:lnTo>
                <a:lnTo>
                  <a:pt x="1511300" y="6692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808" y="1331394"/>
            <a:ext cx="7805784" cy="421713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695536" y="6064766"/>
            <a:ext cx="52901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high</a:t>
            </a:r>
            <a:r>
              <a:rPr dirty="0" sz="2000" spc="22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60" b="1">
                <a:solidFill>
                  <a:srgbClr val="0000FF"/>
                </a:solidFill>
                <a:latin typeface="Malgun Gothic"/>
                <a:cs typeface="Malgun Gothic"/>
              </a:rPr>
              <a:t>risk</a:t>
            </a:r>
            <a:r>
              <a:rPr dirty="0" sz="2000" spc="22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high</a:t>
            </a:r>
            <a:r>
              <a:rPr dirty="0" sz="2000" spc="229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return,</a:t>
            </a:r>
            <a:r>
              <a:rPr dirty="0" sz="2000" spc="24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low</a:t>
            </a:r>
            <a:r>
              <a:rPr dirty="0" sz="2000" spc="229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55" b="1">
                <a:solidFill>
                  <a:srgbClr val="0000FF"/>
                </a:solidFill>
                <a:latin typeface="Malgun Gothic"/>
                <a:cs typeface="Malgun Gothic"/>
              </a:rPr>
              <a:t>risk</a:t>
            </a:r>
            <a:r>
              <a:rPr dirty="0" sz="2000" spc="23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low</a:t>
            </a:r>
            <a:r>
              <a:rPr dirty="0" sz="2000" spc="22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return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878201" y="4419091"/>
            <a:ext cx="2882265" cy="1696720"/>
            <a:chOff x="2878201" y="4419091"/>
            <a:chExt cx="2882265" cy="1696720"/>
          </a:xfrm>
        </p:grpSpPr>
        <p:sp>
          <p:nvSpPr>
            <p:cNvPr id="5" name="object 5" descr=""/>
            <p:cNvSpPr/>
            <p:nvPr/>
          </p:nvSpPr>
          <p:spPr>
            <a:xfrm>
              <a:off x="2884551" y="4425441"/>
              <a:ext cx="964565" cy="1684020"/>
            </a:xfrm>
            <a:custGeom>
              <a:avLst/>
              <a:gdLst/>
              <a:ahLst/>
              <a:cxnLst/>
              <a:rect l="l" t="t" r="r" b="b"/>
              <a:pathLst>
                <a:path w="964564" h="1684020">
                  <a:moveTo>
                    <a:pt x="162560" y="1683511"/>
                  </a:moveTo>
                  <a:lnTo>
                    <a:pt x="159385" y="1683511"/>
                  </a:lnTo>
                  <a:lnTo>
                    <a:pt x="153035" y="1683511"/>
                  </a:lnTo>
                  <a:lnTo>
                    <a:pt x="146557" y="1683511"/>
                  </a:lnTo>
                  <a:lnTo>
                    <a:pt x="143382" y="1680336"/>
                  </a:lnTo>
                  <a:lnTo>
                    <a:pt x="143382" y="1673986"/>
                  </a:lnTo>
                  <a:lnTo>
                    <a:pt x="142787" y="1668861"/>
                  </a:lnTo>
                  <a:lnTo>
                    <a:pt x="141001" y="1663176"/>
                  </a:lnTo>
                  <a:lnTo>
                    <a:pt x="138025" y="1656895"/>
                  </a:lnTo>
                  <a:lnTo>
                    <a:pt x="133857" y="1649983"/>
                  </a:lnTo>
                  <a:lnTo>
                    <a:pt x="128480" y="1641629"/>
                  </a:lnTo>
                  <a:lnTo>
                    <a:pt x="121888" y="1630870"/>
                  </a:lnTo>
                  <a:lnTo>
                    <a:pt x="96206" y="1585180"/>
                  </a:lnTo>
                  <a:lnTo>
                    <a:pt x="81831" y="1549314"/>
                  </a:lnTo>
                  <a:lnTo>
                    <a:pt x="71094" y="1507755"/>
                  </a:lnTo>
                  <a:lnTo>
                    <a:pt x="56755" y="1440787"/>
                  </a:lnTo>
                  <a:lnTo>
                    <a:pt x="47751" y="1396491"/>
                  </a:lnTo>
                  <a:lnTo>
                    <a:pt x="39110" y="1348984"/>
                  </a:lnTo>
                  <a:lnTo>
                    <a:pt x="32242" y="1302083"/>
                  </a:lnTo>
                  <a:lnTo>
                    <a:pt x="27160" y="1255777"/>
                  </a:lnTo>
                  <a:lnTo>
                    <a:pt x="23875" y="1210055"/>
                  </a:lnTo>
                  <a:lnTo>
                    <a:pt x="21187" y="1165217"/>
                  </a:lnTo>
                  <a:lnTo>
                    <a:pt x="17891" y="1121568"/>
                  </a:lnTo>
                  <a:lnTo>
                    <a:pt x="13999" y="1079111"/>
                  </a:lnTo>
                  <a:lnTo>
                    <a:pt x="9525" y="1037843"/>
                  </a:lnTo>
                  <a:lnTo>
                    <a:pt x="5357" y="995981"/>
                  </a:lnTo>
                  <a:lnTo>
                    <a:pt x="2381" y="951737"/>
                  </a:lnTo>
                  <a:lnTo>
                    <a:pt x="595" y="905113"/>
                  </a:lnTo>
                  <a:lnTo>
                    <a:pt x="0" y="856106"/>
                  </a:lnTo>
                  <a:lnTo>
                    <a:pt x="0" y="805602"/>
                  </a:lnTo>
                  <a:lnTo>
                    <a:pt x="0" y="754491"/>
                  </a:lnTo>
                  <a:lnTo>
                    <a:pt x="0" y="702784"/>
                  </a:lnTo>
                  <a:lnTo>
                    <a:pt x="0" y="650493"/>
                  </a:lnTo>
                  <a:lnTo>
                    <a:pt x="595" y="599630"/>
                  </a:lnTo>
                  <a:lnTo>
                    <a:pt x="2381" y="552386"/>
                  </a:lnTo>
                  <a:lnTo>
                    <a:pt x="5357" y="508761"/>
                  </a:lnTo>
                  <a:lnTo>
                    <a:pt x="9525" y="468756"/>
                  </a:lnTo>
                  <a:lnTo>
                    <a:pt x="20272" y="398176"/>
                  </a:lnTo>
                  <a:lnTo>
                    <a:pt x="33400" y="339597"/>
                  </a:lnTo>
                  <a:lnTo>
                    <a:pt x="47799" y="290560"/>
                  </a:lnTo>
                  <a:lnTo>
                    <a:pt x="62103" y="248665"/>
                  </a:lnTo>
                  <a:lnTo>
                    <a:pt x="77628" y="212867"/>
                  </a:lnTo>
                  <a:lnTo>
                    <a:pt x="104868" y="168330"/>
                  </a:lnTo>
                  <a:lnTo>
                    <a:pt x="129031" y="138683"/>
                  </a:lnTo>
                  <a:lnTo>
                    <a:pt x="162560" y="109981"/>
                  </a:lnTo>
                  <a:lnTo>
                    <a:pt x="204743" y="85818"/>
                  </a:lnTo>
                  <a:lnTo>
                    <a:pt x="245052" y="67577"/>
                  </a:lnTo>
                  <a:lnTo>
                    <a:pt x="291719" y="47878"/>
                  </a:lnTo>
                  <a:lnTo>
                    <a:pt x="330223" y="38842"/>
                  </a:lnTo>
                  <a:lnTo>
                    <a:pt x="344297" y="38226"/>
                  </a:lnTo>
                  <a:lnTo>
                    <a:pt x="358370" y="38226"/>
                  </a:lnTo>
                  <a:lnTo>
                    <a:pt x="371824" y="38226"/>
                  </a:lnTo>
                  <a:lnTo>
                    <a:pt x="384659" y="38226"/>
                  </a:lnTo>
                  <a:lnTo>
                    <a:pt x="396875" y="38226"/>
                  </a:lnTo>
                  <a:lnTo>
                    <a:pt x="409162" y="37939"/>
                  </a:lnTo>
                  <a:lnTo>
                    <a:pt x="449452" y="33527"/>
                  </a:lnTo>
                  <a:lnTo>
                    <a:pt x="492506" y="23875"/>
                  </a:lnTo>
                  <a:lnTo>
                    <a:pt x="521208" y="14350"/>
                  </a:lnTo>
                  <a:lnTo>
                    <a:pt x="530860" y="11175"/>
                  </a:lnTo>
                  <a:lnTo>
                    <a:pt x="538734" y="9651"/>
                  </a:lnTo>
                  <a:lnTo>
                    <a:pt x="545211" y="9651"/>
                  </a:lnTo>
                  <a:lnTo>
                    <a:pt x="551561" y="9651"/>
                  </a:lnTo>
                  <a:lnTo>
                    <a:pt x="556260" y="8000"/>
                  </a:lnTo>
                  <a:lnTo>
                    <a:pt x="559562" y="4825"/>
                  </a:lnTo>
                  <a:lnTo>
                    <a:pt x="562737" y="1650"/>
                  </a:lnTo>
                  <a:lnTo>
                    <a:pt x="567436" y="0"/>
                  </a:lnTo>
                  <a:lnTo>
                    <a:pt x="597788" y="0"/>
                  </a:lnTo>
                  <a:lnTo>
                    <a:pt x="601073" y="597"/>
                  </a:lnTo>
                  <a:lnTo>
                    <a:pt x="606155" y="2397"/>
                  </a:lnTo>
                  <a:lnTo>
                    <a:pt x="613023" y="5411"/>
                  </a:lnTo>
                  <a:lnTo>
                    <a:pt x="621664" y="9651"/>
                  </a:lnTo>
                  <a:lnTo>
                    <a:pt x="631571" y="14414"/>
                  </a:lnTo>
                  <a:lnTo>
                    <a:pt x="642048" y="19176"/>
                  </a:lnTo>
                  <a:lnTo>
                    <a:pt x="653097" y="23939"/>
                  </a:lnTo>
                  <a:lnTo>
                    <a:pt x="664718" y="28701"/>
                  </a:lnTo>
                  <a:lnTo>
                    <a:pt x="676699" y="33484"/>
                  </a:lnTo>
                  <a:lnTo>
                    <a:pt x="688657" y="38290"/>
                  </a:lnTo>
                  <a:lnTo>
                    <a:pt x="734091" y="56245"/>
                  </a:lnTo>
                  <a:lnTo>
                    <a:pt x="760349" y="65404"/>
                  </a:lnTo>
                  <a:lnTo>
                    <a:pt x="766699" y="68579"/>
                  </a:lnTo>
                  <a:lnTo>
                    <a:pt x="770001" y="71754"/>
                  </a:lnTo>
                  <a:lnTo>
                    <a:pt x="773176" y="74929"/>
                  </a:lnTo>
                  <a:lnTo>
                    <a:pt x="776351" y="76580"/>
                  </a:lnTo>
                  <a:lnTo>
                    <a:pt x="779526" y="76580"/>
                  </a:lnTo>
                  <a:lnTo>
                    <a:pt x="782701" y="76580"/>
                  </a:lnTo>
                  <a:lnTo>
                    <a:pt x="785876" y="78104"/>
                  </a:lnTo>
                  <a:lnTo>
                    <a:pt x="789051" y="81279"/>
                  </a:lnTo>
                  <a:lnTo>
                    <a:pt x="792226" y="84454"/>
                  </a:lnTo>
                  <a:lnTo>
                    <a:pt x="798702" y="89280"/>
                  </a:lnTo>
                  <a:lnTo>
                    <a:pt x="832103" y="114807"/>
                  </a:lnTo>
                  <a:lnTo>
                    <a:pt x="838453" y="121157"/>
                  </a:lnTo>
                  <a:lnTo>
                    <a:pt x="844931" y="125983"/>
                  </a:lnTo>
                  <a:lnTo>
                    <a:pt x="851281" y="129158"/>
                  </a:lnTo>
                  <a:lnTo>
                    <a:pt x="857631" y="132333"/>
                  </a:lnTo>
                  <a:lnTo>
                    <a:pt x="863981" y="137159"/>
                  </a:lnTo>
                  <a:lnTo>
                    <a:pt x="894334" y="162686"/>
                  </a:lnTo>
                  <a:lnTo>
                    <a:pt x="903859" y="169036"/>
                  </a:lnTo>
                  <a:lnTo>
                    <a:pt x="908685" y="175386"/>
                  </a:lnTo>
                  <a:lnTo>
                    <a:pt x="908685" y="181736"/>
                  </a:lnTo>
                  <a:lnTo>
                    <a:pt x="908685" y="188086"/>
                  </a:lnTo>
                  <a:lnTo>
                    <a:pt x="910209" y="191388"/>
                  </a:lnTo>
                  <a:lnTo>
                    <a:pt x="913384" y="191388"/>
                  </a:lnTo>
                  <a:lnTo>
                    <a:pt x="916559" y="191388"/>
                  </a:lnTo>
                  <a:lnTo>
                    <a:pt x="921385" y="192912"/>
                  </a:lnTo>
                  <a:lnTo>
                    <a:pt x="927735" y="196087"/>
                  </a:lnTo>
                  <a:lnTo>
                    <a:pt x="934085" y="199262"/>
                  </a:lnTo>
                  <a:lnTo>
                    <a:pt x="938911" y="202437"/>
                  </a:lnTo>
                  <a:lnTo>
                    <a:pt x="942086" y="205739"/>
                  </a:lnTo>
                  <a:lnTo>
                    <a:pt x="945261" y="208914"/>
                  </a:lnTo>
                  <a:lnTo>
                    <a:pt x="948436" y="212089"/>
                  </a:lnTo>
                  <a:lnTo>
                    <a:pt x="951738" y="215264"/>
                  </a:lnTo>
                  <a:lnTo>
                    <a:pt x="954913" y="218439"/>
                  </a:lnTo>
                  <a:lnTo>
                    <a:pt x="958088" y="219963"/>
                  </a:lnTo>
                  <a:lnTo>
                    <a:pt x="961263" y="219963"/>
                  </a:lnTo>
                  <a:lnTo>
                    <a:pt x="964438" y="219963"/>
                  </a:lnTo>
                  <a:lnTo>
                    <a:pt x="964438" y="219963"/>
                  </a:lnTo>
                  <a:lnTo>
                    <a:pt x="943737" y="219963"/>
                  </a:lnTo>
                  <a:lnTo>
                    <a:pt x="937387" y="219963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72078" y="4610480"/>
              <a:ext cx="184912" cy="10668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061079" y="4779390"/>
              <a:ext cx="1693545" cy="1291590"/>
            </a:xfrm>
            <a:custGeom>
              <a:avLst/>
              <a:gdLst/>
              <a:ahLst/>
              <a:cxnLst/>
              <a:rect l="l" t="t" r="r" b="b"/>
              <a:pathLst>
                <a:path w="1693545" h="1291589">
                  <a:moveTo>
                    <a:pt x="1693037" y="1291335"/>
                  </a:moveTo>
                  <a:lnTo>
                    <a:pt x="1640332" y="1281683"/>
                  </a:lnTo>
                  <a:lnTo>
                    <a:pt x="1592843" y="1267396"/>
                  </a:lnTo>
                  <a:lnTo>
                    <a:pt x="1547098" y="1250616"/>
                  </a:lnTo>
                  <a:lnTo>
                    <a:pt x="1511300" y="1233931"/>
                  </a:lnTo>
                  <a:lnTo>
                    <a:pt x="1491251" y="1224025"/>
                  </a:lnTo>
                  <a:lnTo>
                    <a:pt x="1469405" y="1213548"/>
                  </a:lnTo>
                  <a:lnTo>
                    <a:pt x="1445773" y="1202499"/>
                  </a:lnTo>
                  <a:lnTo>
                    <a:pt x="1420368" y="1190878"/>
                  </a:lnTo>
                  <a:lnTo>
                    <a:pt x="1393771" y="1178591"/>
                  </a:lnTo>
                  <a:lnTo>
                    <a:pt x="1366567" y="1165732"/>
                  </a:lnTo>
                  <a:lnTo>
                    <a:pt x="1338768" y="1152302"/>
                  </a:lnTo>
                  <a:lnTo>
                    <a:pt x="1310386" y="1138300"/>
                  </a:lnTo>
                  <a:lnTo>
                    <a:pt x="1282003" y="1124225"/>
                  </a:lnTo>
                  <a:lnTo>
                    <a:pt x="1254204" y="1110757"/>
                  </a:lnTo>
                  <a:lnTo>
                    <a:pt x="1200404" y="1085595"/>
                  </a:lnTo>
                  <a:lnTo>
                    <a:pt x="1148984" y="1062926"/>
                  </a:lnTo>
                  <a:lnTo>
                    <a:pt x="1099947" y="1042542"/>
                  </a:lnTo>
                  <a:lnTo>
                    <a:pt x="1048527" y="1022254"/>
                  </a:lnTo>
                  <a:lnTo>
                    <a:pt x="989965" y="999489"/>
                  </a:lnTo>
                  <a:lnTo>
                    <a:pt x="958840" y="986968"/>
                  </a:lnTo>
                  <a:lnTo>
                    <a:pt x="927750" y="973232"/>
                  </a:lnTo>
                  <a:lnTo>
                    <a:pt x="896685" y="958306"/>
                  </a:lnTo>
                  <a:lnTo>
                    <a:pt x="865632" y="942212"/>
                  </a:lnTo>
                  <a:lnTo>
                    <a:pt x="834794" y="926351"/>
                  </a:lnTo>
                  <a:lnTo>
                    <a:pt x="804576" y="912288"/>
                  </a:lnTo>
                  <a:lnTo>
                    <a:pt x="774977" y="900011"/>
                  </a:lnTo>
                  <a:lnTo>
                    <a:pt x="745998" y="889507"/>
                  </a:lnTo>
                  <a:lnTo>
                    <a:pt x="718518" y="879367"/>
                  </a:lnTo>
                  <a:lnTo>
                    <a:pt x="693420" y="868013"/>
                  </a:lnTo>
                  <a:lnTo>
                    <a:pt x="670702" y="855468"/>
                  </a:lnTo>
                  <a:lnTo>
                    <a:pt x="650367" y="841755"/>
                  </a:lnTo>
                  <a:lnTo>
                    <a:pt x="630031" y="827085"/>
                  </a:lnTo>
                  <a:lnTo>
                    <a:pt x="607314" y="811831"/>
                  </a:lnTo>
                  <a:lnTo>
                    <a:pt x="554736" y="779525"/>
                  </a:lnTo>
                  <a:lnTo>
                    <a:pt x="499713" y="748442"/>
                  </a:lnTo>
                  <a:lnTo>
                    <a:pt x="449453" y="722121"/>
                  </a:lnTo>
                  <a:lnTo>
                    <a:pt x="427351" y="711098"/>
                  </a:lnTo>
                  <a:lnTo>
                    <a:pt x="408844" y="701849"/>
                  </a:lnTo>
                  <a:lnTo>
                    <a:pt x="393910" y="694386"/>
                  </a:lnTo>
                  <a:lnTo>
                    <a:pt x="382524" y="688720"/>
                  </a:lnTo>
                  <a:lnTo>
                    <a:pt x="372094" y="683289"/>
                  </a:lnTo>
                  <a:lnTo>
                    <a:pt x="329946" y="660018"/>
                  </a:lnTo>
                  <a:lnTo>
                    <a:pt x="293155" y="636676"/>
                  </a:lnTo>
                  <a:lnTo>
                    <a:pt x="281515" y="626534"/>
                  </a:lnTo>
                  <a:lnTo>
                    <a:pt x="274923" y="621728"/>
                  </a:lnTo>
                  <a:lnTo>
                    <a:pt x="267140" y="616922"/>
                  </a:lnTo>
                  <a:lnTo>
                    <a:pt x="258191" y="612139"/>
                  </a:lnTo>
                  <a:lnTo>
                    <a:pt x="249241" y="606780"/>
                  </a:lnTo>
                  <a:lnTo>
                    <a:pt x="241458" y="600217"/>
                  </a:lnTo>
                  <a:lnTo>
                    <a:pt x="234866" y="592441"/>
                  </a:lnTo>
                  <a:lnTo>
                    <a:pt x="229488" y="583437"/>
                  </a:lnTo>
                  <a:lnTo>
                    <a:pt x="224418" y="574488"/>
                  </a:lnTo>
                  <a:lnTo>
                    <a:pt x="218741" y="566705"/>
                  </a:lnTo>
                  <a:lnTo>
                    <a:pt x="212469" y="560113"/>
                  </a:lnTo>
                  <a:lnTo>
                    <a:pt x="205612" y="554735"/>
                  </a:lnTo>
                  <a:lnTo>
                    <a:pt x="198106" y="548780"/>
                  </a:lnTo>
                  <a:lnTo>
                    <a:pt x="190039" y="540432"/>
                  </a:lnTo>
                  <a:lnTo>
                    <a:pt x="181377" y="529679"/>
                  </a:lnTo>
                  <a:lnTo>
                    <a:pt x="172085" y="516508"/>
                  </a:lnTo>
                  <a:lnTo>
                    <a:pt x="162540" y="502146"/>
                  </a:lnTo>
                  <a:lnTo>
                    <a:pt x="152971" y="487806"/>
                  </a:lnTo>
                  <a:lnTo>
                    <a:pt x="143402" y="473467"/>
                  </a:lnTo>
                  <a:lnTo>
                    <a:pt x="133858" y="459104"/>
                  </a:lnTo>
                  <a:lnTo>
                    <a:pt x="124313" y="445339"/>
                  </a:lnTo>
                  <a:lnTo>
                    <a:pt x="114744" y="432800"/>
                  </a:lnTo>
                  <a:lnTo>
                    <a:pt x="105175" y="421475"/>
                  </a:lnTo>
                  <a:lnTo>
                    <a:pt x="95631" y="411352"/>
                  </a:lnTo>
                  <a:lnTo>
                    <a:pt x="86030" y="401446"/>
                  </a:lnTo>
                  <a:lnTo>
                    <a:pt x="76454" y="390969"/>
                  </a:lnTo>
                  <a:lnTo>
                    <a:pt x="48635" y="356913"/>
                  </a:lnTo>
                  <a:lnTo>
                    <a:pt x="30712" y="322800"/>
                  </a:lnTo>
                  <a:lnTo>
                    <a:pt x="27416" y="315642"/>
                  </a:lnTo>
                  <a:lnTo>
                    <a:pt x="23524" y="308461"/>
                  </a:lnTo>
                  <a:lnTo>
                    <a:pt x="19050" y="301243"/>
                  </a:lnTo>
                  <a:lnTo>
                    <a:pt x="14882" y="294098"/>
                  </a:lnTo>
                  <a:lnTo>
                    <a:pt x="11906" y="286940"/>
                  </a:lnTo>
                  <a:lnTo>
                    <a:pt x="10120" y="279759"/>
                  </a:lnTo>
                  <a:lnTo>
                    <a:pt x="9525" y="272541"/>
                  </a:lnTo>
                  <a:lnTo>
                    <a:pt x="9525" y="263016"/>
                  </a:lnTo>
                  <a:lnTo>
                    <a:pt x="7874" y="256666"/>
                  </a:lnTo>
                  <a:lnTo>
                    <a:pt x="4699" y="253491"/>
                  </a:lnTo>
                  <a:lnTo>
                    <a:pt x="1524" y="250316"/>
                  </a:lnTo>
                  <a:lnTo>
                    <a:pt x="0" y="242315"/>
                  </a:lnTo>
                  <a:lnTo>
                    <a:pt x="0" y="86105"/>
                  </a:lnTo>
                  <a:lnTo>
                    <a:pt x="595" y="77102"/>
                  </a:lnTo>
                  <a:lnTo>
                    <a:pt x="2381" y="69326"/>
                  </a:lnTo>
                  <a:lnTo>
                    <a:pt x="5357" y="62763"/>
                  </a:lnTo>
                  <a:lnTo>
                    <a:pt x="9525" y="57403"/>
                  </a:lnTo>
                  <a:lnTo>
                    <a:pt x="14287" y="52621"/>
                  </a:lnTo>
                  <a:lnTo>
                    <a:pt x="19050" y="47815"/>
                  </a:lnTo>
                  <a:lnTo>
                    <a:pt x="57276" y="19176"/>
                  </a:lnTo>
                  <a:lnTo>
                    <a:pt x="81280" y="9524"/>
                  </a:lnTo>
                  <a:lnTo>
                    <a:pt x="84455" y="9524"/>
                  </a:lnTo>
                  <a:lnTo>
                    <a:pt x="92456" y="8000"/>
                  </a:lnTo>
                  <a:lnTo>
                    <a:pt x="139249" y="289"/>
                  </a:lnTo>
                  <a:lnTo>
                    <a:pt x="153035" y="0"/>
                  </a:lnTo>
                  <a:lnTo>
                    <a:pt x="166439" y="595"/>
                  </a:lnTo>
                  <a:lnTo>
                    <a:pt x="178069" y="2381"/>
                  </a:lnTo>
                  <a:lnTo>
                    <a:pt x="187914" y="5357"/>
                  </a:lnTo>
                  <a:lnTo>
                    <a:pt x="195961" y="9524"/>
                  </a:lnTo>
                  <a:lnTo>
                    <a:pt x="203485" y="13999"/>
                  </a:lnTo>
                  <a:lnTo>
                    <a:pt x="211581" y="17891"/>
                  </a:lnTo>
                  <a:lnTo>
                    <a:pt x="220249" y="21187"/>
                  </a:lnTo>
                  <a:lnTo>
                    <a:pt x="229488" y="23875"/>
                  </a:lnTo>
                  <a:lnTo>
                    <a:pt x="238492" y="26259"/>
                  </a:lnTo>
                  <a:lnTo>
                    <a:pt x="246268" y="28654"/>
                  </a:lnTo>
                  <a:lnTo>
                    <a:pt x="280622" y="46029"/>
                  </a:lnTo>
                  <a:lnTo>
                    <a:pt x="291719" y="52577"/>
                  </a:lnTo>
                  <a:lnTo>
                    <a:pt x="303339" y="59146"/>
                  </a:lnTo>
                  <a:lnTo>
                    <a:pt x="344009" y="73828"/>
                  </a:lnTo>
                  <a:lnTo>
                    <a:pt x="368173" y="76453"/>
                  </a:lnTo>
                  <a:lnTo>
                    <a:pt x="377825" y="76453"/>
                  </a:lnTo>
                  <a:lnTo>
                    <a:pt x="384175" y="76453"/>
                  </a:lnTo>
                  <a:lnTo>
                    <a:pt x="387350" y="76453"/>
                  </a:lnTo>
                  <a:lnTo>
                    <a:pt x="390525" y="76453"/>
                  </a:lnTo>
                  <a:lnTo>
                    <a:pt x="388874" y="76453"/>
                  </a:lnTo>
                  <a:lnTo>
                    <a:pt x="382524" y="76453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5991" y="4725161"/>
              <a:ext cx="251841" cy="204088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dirty="0" spc="335"/>
              <a:t> </a:t>
            </a:r>
            <a:r>
              <a:rPr dirty="0"/>
              <a:t>보험의</a:t>
            </a:r>
            <a:r>
              <a:rPr dirty="0" spc="340"/>
              <a:t> </a:t>
            </a:r>
            <a:r>
              <a:rPr dirty="0"/>
              <a:t>다른</a:t>
            </a:r>
            <a:r>
              <a:rPr dirty="0" spc="335"/>
              <a:t> </a:t>
            </a:r>
            <a:r>
              <a:rPr dirty="0"/>
              <a:t>사례:</a:t>
            </a:r>
            <a:r>
              <a:rPr dirty="0" spc="345"/>
              <a:t> </a:t>
            </a:r>
            <a:r>
              <a:rPr dirty="0" spc="-20"/>
              <a:t>종신연금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66636" y="2020737"/>
            <a:ext cx="75260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</a:tabLst>
            </a:pPr>
            <a:r>
              <a:rPr dirty="0" sz="2000" b="1">
                <a:latin typeface="Malgun Gothic"/>
                <a:cs typeface="Malgun Gothic"/>
              </a:rPr>
              <a:t>일시금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A를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매년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y원의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연금으로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제공하는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종신연금(annuity)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923886" y="2986421"/>
            <a:ext cx="868044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190" i="1">
                <a:latin typeface="Times New Roman"/>
                <a:cs typeface="Times New Roman"/>
              </a:rPr>
              <a:t>A</a:t>
            </a:r>
            <a:r>
              <a:rPr dirty="0" sz="2100" spc="-95" i="1">
                <a:latin typeface="Times New Roman"/>
                <a:cs typeface="Times New Roman"/>
              </a:rPr>
              <a:t> </a:t>
            </a: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sz="2000" spc="-40">
                <a:latin typeface="Microsoft Sans Serif"/>
                <a:cs typeface="Microsoft Sans Serif"/>
              </a:rPr>
              <a:t>y</a:t>
            </a:r>
            <a:r>
              <a:rPr dirty="0" sz="2000" spc="-245">
                <a:latin typeface="Microsoft Sans Serif"/>
                <a:cs typeface="Microsoft Sans Serif"/>
              </a:rPr>
              <a:t> </a:t>
            </a:r>
            <a:r>
              <a:rPr dirty="0" baseline="2777" sz="3000" spc="480">
                <a:latin typeface="Microsoft Sans Serif"/>
                <a:cs typeface="Microsoft Sans Serif"/>
              </a:rPr>
              <a:t>+</a:t>
            </a:r>
            <a:endParaRPr baseline="2777" sz="30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96665" y="2804258"/>
            <a:ext cx="824230" cy="69278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ctr" marL="33020">
              <a:lnSpc>
                <a:spcPct val="100000"/>
              </a:lnSpc>
              <a:spcBef>
                <a:spcPts val="325"/>
              </a:spcBef>
            </a:pPr>
            <a:r>
              <a:rPr dirty="0" sz="2000" spc="-50">
                <a:latin typeface="Microsoft Sans Serif"/>
                <a:cs typeface="Microsoft Sans Serif"/>
              </a:rPr>
              <a:t>y</a:t>
            </a:r>
            <a:endParaRPr sz="20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dirty="0" baseline="19444" sz="3000" spc="-555">
                <a:latin typeface="Microsoft Sans Serif"/>
                <a:cs typeface="Microsoft Sans Serif"/>
              </a:rPr>
              <a:t></a:t>
            </a:r>
            <a:r>
              <a:rPr dirty="0" baseline="2777" sz="3000" spc="-555">
                <a:latin typeface="Microsoft Sans Serif"/>
                <a:cs typeface="Microsoft Sans Serif"/>
              </a:rPr>
              <a:t>(</a:t>
            </a:r>
            <a:r>
              <a:rPr dirty="0" sz="2000" spc="-370">
                <a:latin typeface="Microsoft Sans Serif"/>
                <a:cs typeface="Microsoft Sans Serif"/>
              </a:rPr>
              <a:t>l</a:t>
            </a:r>
            <a:r>
              <a:rPr dirty="0" sz="2000" spc="-265">
                <a:latin typeface="Microsoft Sans Serif"/>
                <a:cs typeface="Microsoft Sans Serif"/>
              </a:rPr>
              <a:t> </a:t>
            </a:r>
            <a:r>
              <a:rPr dirty="0" baseline="2777" sz="3000" spc="502">
                <a:latin typeface="Microsoft Sans Serif"/>
                <a:cs typeface="Microsoft Sans Serif"/>
              </a:rPr>
              <a:t>+</a:t>
            </a:r>
            <a:r>
              <a:rPr dirty="0" sz="2000" spc="335">
                <a:latin typeface="Microsoft Sans Serif"/>
                <a:cs typeface="Microsoft Sans Serif"/>
              </a:rPr>
              <a:t>r</a:t>
            </a:r>
            <a:r>
              <a:rPr dirty="0" baseline="2777" sz="3000" spc="502">
                <a:latin typeface="Microsoft Sans Serif"/>
                <a:cs typeface="Microsoft Sans Serif"/>
              </a:rPr>
              <a:t>)</a:t>
            </a:r>
            <a:endParaRPr baseline="2777" sz="300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630425" y="2987953"/>
            <a:ext cx="2209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20">
                <a:latin typeface="Microsoft Sans Serif"/>
                <a:cs typeface="Microsoft Sans Serif"/>
              </a:rPr>
              <a:t>+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856211" y="3077821"/>
            <a:ext cx="2120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-855">
                <a:latin typeface="Microsoft Sans Serif"/>
                <a:cs typeface="Microsoft Sans Serif"/>
              </a:rPr>
              <a:t></a:t>
            </a:r>
            <a:r>
              <a:rPr dirty="0" baseline="-26388" sz="3000" spc="-1282">
                <a:latin typeface="Microsoft Sans Serif"/>
                <a:cs typeface="Microsoft Sans Serif"/>
              </a:rPr>
              <a:t>(</a:t>
            </a:r>
            <a:endParaRPr baseline="-26388" sz="300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14054" y="3208814"/>
            <a:ext cx="5245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15">
                <a:latin typeface="Microsoft Sans Serif"/>
                <a:cs typeface="Microsoft Sans Serif"/>
              </a:rPr>
              <a:t>l</a:t>
            </a:r>
            <a:r>
              <a:rPr dirty="0" baseline="2777" sz="3000" spc="772">
                <a:latin typeface="Microsoft Sans Serif"/>
                <a:cs typeface="Microsoft Sans Serif"/>
              </a:rPr>
              <a:t>+</a:t>
            </a:r>
            <a:r>
              <a:rPr dirty="0" sz="2000" spc="515">
                <a:latin typeface="Microsoft Sans Serif"/>
                <a:cs typeface="Microsoft Sans Serif"/>
              </a:rPr>
              <a:t>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06248" y="3097622"/>
            <a:ext cx="2584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2222" sz="3000" spc="-37">
                <a:latin typeface="Microsoft Sans Serif"/>
                <a:cs typeface="Microsoft Sans Serif"/>
              </a:rPr>
              <a:t>)</a:t>
            </a:r>
            <a:r>
              <a:rPr dirty="0" sz="1350" spc="-25">
                <a:latin typeface="Microsoft Sans Serif"/>
                <a:cs typeface="Microsoft Sans Serif"/>
              </a:rPr>
              <a:t>Z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254583" y="2832589"/>
            <a:ext cx="148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latin typeface="Microsoft Sans Serif"/>
                <a:cs typeface="Microsoft Sans Serif"/>
              </a:rPr>
              <a:t>y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75222" y="2987953"/>
            <a:ext cx="7461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70">
                <a:latin typeface="Microsoft Sans Serif"/>
                <a:cs typeface="Microsoft Sans Serif"/>
              </a:rPr>
              <a:t>+</a:t>
            </a:r>
            <a:r>
              <a:rPr dirty="0" sz="2000" spc="-65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...</a:t>
            </a:r>
            <a:r>
              <a:rPr dirty="0" sz="2000" spc="-60">
                <a:latin typeface="Microsoft Sans Serif"/>
                <a:cs typeface="Microsoft Sans Serif"/>
              </a:rPr>
              <a:t> </a:t>
            </a:r>
            <a:r>
              <a:rPr dirty="0" sz="2000" spc="320">
                <a:latin typeface="Microsoft Sans Serif"/>
                <a:cs typeface="Microsoft Sans Serif"/>
              </a:rPr>
              <a:t>+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526214" y="3077821"/>
            <a:ext cx="2120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-855">
                <a:latin typeface="Microsoft Sans Serif"/>
                <a:cs typeface="Microsoft Sans Serif"/>
              </a:rPr>
              <a:t></a:t>
            </a:r>
            <a:r>
              <a:rPr dirty="0" baseline="-26388" sz="3000" spc="-1282">
                <a:latin typeface="Microsoft Sans Serif"/>
                <a:cs typeface="Microsoft Sans Serif"/>
              </a:rPr>
              <a:t>(</a:t>
            </a:r>
            <a:endParaRPr baseline="-26388" sz="3000">
              <a:latin typeface="Microsoft Sans Serif"/>
              <a:cs typeface="Microsoft Sans Serif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843902" y="3198151"/>
            <a:ext cx="2209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20">
                <a:latin typeface="Microsoft Sans Serif"/>
                <a:cs typeface="Microsoft Sans Serif"/>
              </a:rPr>
              <a:t>+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685579" y="3208814"/>
            <a:ext cx="5226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6240" algn="l"/>
              </a:tabLst>
            </a:pPr>
            <a:r>
              <a:rPr dirty="0" sz="2000" spc="484">
                <a:latin typeface="Microsoft Sans Serif"/>
                <a:cs typeface="Microsoft Sans Serif"/>
              </a:rPr>
              <a:t>l</a:t>
            </a:r>
            <a:r>
              <a:rPr dirty="0" sz="2000">
                <a:latin typeface="Microsoft Sans Serif"/>
                <a:cs typeface="Microsoft Sans Serif"/>
              </a:rPr>
              <a:t>	</a:t>
            </a:r>
            <a:r>
              <a:rPr dirty="0" sz="2000" spc="175">
                <a:latin typeface="Microsoft Sans Serif"/>
                <a:cs typeface="Microsoft Sans Serif"/>
              </a:rPr>
              <a:t>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176251" y="3097622"/>
            <a:ext cx="542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2222" sz="3000" spc="112">
                <a:latin typeface="Microsoft Sans Serif"/>
                <a:cs typeface="Microsoft Sans Serif"/>
              </a:rPr>
              <a:t>)</a:t>
            </a:r>
            <a:r>
              <a:rPr dirty="0" sz="1350" spc="75">
                <a:latin typeface="Microsoft Sans Serif"/>
                <a:cs typeface="Microsoft Sans Serif"/>
              </a:rPr>
              <a:t>n</a:t>
            </a:r>
            <a:r>
              <a:rPr dirty="0" sz="1350" spc="-165">
                <a:latin typeface="Microsoft Sans Serif"/>
                <a:cs typeface="Microsoft Sans Serif"/>
              </a:rPr>
              <a:t> </a:t>
            </a:r>
            <a:r>
              <a:rPr dirty="0" baseline="4115" sz="2025" spc="352">
                <a:latin typeface="Microsoft Sans Serif"/>
                <a:cs typeface="Microsoft Sans Serif"/>
              </a:rPr>
              <a:t>—</a:t>
            </a:r>
            <a:r>
              <a:rPr dirty="0" baseline="4115" sz="2025" spc="-225">
                <a:latin typeface="Microsoft Sans Serif"/>
                <a:cs typeface="Microsoft Sans Serif"/>
              </a:rPr>
              <a:t> </a:t>
            </a:r>
            <a:r>
              <a:rPr dirty="0" sz="1350" spc="310">
                <a:latin typeface="Microsoft Sans Serif"/>
                <a:cs typeface="Microsoft Sans Serif"/>
              </a:rPr>
              <a:t>l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067686" y="2832589"/>
            <a:ext cx="1485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latin typeface="Microsoft Sans Serif"/>
                <a:cs typeface="Microsoft Sans Serif"/>
              </a:rPr>
              <a:t>y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66636" y="4025235"/>
            <a:ext cx="8549005" cy="2364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</a:tabLst>
            </a:pPr>
            <a:r>
              <a:rPr dirty="0" sz="2000" b="1">
                <a:latin typeface="Malgun Gothic"/>
                <a:cs typeface="Malgun Gothic"/>
              </a:rPr>
              <a:t>일정한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소득흐름(연금)에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대한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자본비용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000">
              <a:latin typeface="Malgun Gothic"/>
              <a:cs typeface="Malgun Gothic"/>
            </a:endParaRPr>
          </a:p>
          <a:p>
            <a:pPr algn="ctr" marL="1270">
              <a:lnSpc>
                <a:spcPct val="100000"/>
              </a:lnSpc>
            </a:pPr>
            <a:r>
              <a:rPr dirty="0" sz="2100" spc="190" i="1">
                <a:latin typeface="Times New Roman"/>
                <a:cs typeface="Times New Roman"/>
              </a:rPr>
              <a:t>A</a:t>
            </a:r>
            <a:r>
              <a:rPr dirty="0" sz="2100" spc="-95" i="1">
                <a:latin typeface="Times New Roman"/>
                <a:cs typeface="Times New Roman"/>
              </a:rPr>
              <a:t> </a:t>
            </a: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 spc="-217">
                <a:latin typeface="Microsoft Sans Serif"/>
                <a:cs typeface="Microsoft Sans Serif"/>
              </a:rPr>
              <a:t> </a:t>
            </a:r>
            <a:r>
              <a:rPr dirty="0" sz="2000" spc="-310">
                <a:latin typeface="Microsoft Sans Serif"/>
                <a:cs typeface="Microsoft Sans Serif"/>
              </a:rPr>
              <a:t>J</a:t>
            </a:r>
            <a:r>
              <a:rPr dirty="0" baseline="2777" sz="3000" spc="-465">
                <a:latin typeface="Microsoft Sans Serif"/>
                <a:cs typeface="Microsoft Sans Serif"/>
              </a:rPr>
              <a:t>(</a:t>
            </a:r>
            <a:r>
              <a:rPr dirty="0" sz="2000" spc="-310">
                <a:latin typeface="Microsoft Sans Serif"/>
                <a:cs typeface="Microsoft Sans Serif"/>
              </a:rPr>
              <a:t>y</a:t>
            </a:r>
            <a:r>
              <a:rPr dirty="0" baseline="2777" sz="3000" spc="-465">
                <a:latin typeface="Microsoft Sans Serif"/>
                <a:cs typeface="Microsoft Sans Serif"/>
              </a:rPr>
              <a:t></a:t>
            </a:r>
            <a:r>
              <a:rPr dirty="0" baseline="2777" sz="3000" spc="-247">
                <a:latin typeface="Microsoft Sans Serif"/>
                <a:cs typeface="Microsoft Sans Serif"/>
              </a:rPr>
              <a:t> </a:t>
            </a:r>
            <a:r>
              <a:rPr dirty="0" sz="2000" spc="-695">
                <a:latin typeface="Microsoft Sans Serif"/>
                <a:cs typeface="Microsoft Sans Serif"/>
              </a:rPr>
              <a:t>n</a:t>
            </a:r>
            <a:r>
              <a:rPr dirty="0" baseline="2777" sz="3000" spc="-1042">
                <a:latin typeface="Microsoft Sans Serif"/>
                <a:cs typeface="Microsoft Sans Serif"/>
              </a:rPr>
              <a:t></a:t>
            </a:r>
            <a:r>
              <a:rPr dirty="0" baseline="2777" sz="3000" spc="-247">
                <a:latin typeface="Microsoft Sans Serif"/>
                <a:cs typeface="Microsoft Sans Serif"/>
              </a:rPr>
              <a:t> </a:t>
            </a:r>
            <a:r>
              <a:rPr dirty="0" sz="2000" spc="215">
                <a:latin typeface="Microsoft Sans Serif"/>
                <a:cs typeface="Microsoft Sans Serif"/>
              </a:rPr>
              <a:t>r</a:t>
            </a:r>
            <a:r>
              <a:rPr dirty="0" baseline="2777" sz="3000" spc="322">
                <a:latin typeface="Microsoft Sans Serif"/>
                <a:cs typeface="Microsoft Sans Serif"/>
              </a:rPr>
              <a:t>)</a:t>
            </a:r>
            <a:endParaRPr baseline="2777" sz="3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431165" marR="5080" indent="-292735">
              <a:lnSpc>
                <a:spcPct val="133400"/>
              </a:lnSpc>
              <a:spcBef>
                <a:spcPts val="5"/>
              </a:spcBef>
              <a:tabLst>
                <a:tab pos="440055" algn="l"/>
                <a:tab pos="1849755" algn="l"/>
                <a:tab pos="2752725" algn="l"/>
                <a:tab pos="3909695" algn="l"/>
                <a:tab pos="5319395" algn="l"/>
                <a:tab pos="6221730" algn="l"/>
                <a:tab pos="7378700" algn="l"/>
                <a:tab pos="8027670" algn="l"/>
              </a:tabLst>
            </a:pPr>
            <a:r>
              <a:rPr dirty="0" sz="2000" spc="370" b="1">
                <a:latin typeface="Malgun Gothic"/>
                <a:cs typeface="Malgun Gothic"/>
              </a:rPr>
              <a:t>-</a:t>
            </a:r>
            <a:r>
              <a:rPr dirty="0" sz="2000" b="1">
                <a:latin typeface="Malgun Gothic"/>
                <a:cs typeface="Malgun Gothic"/>
              </a:rPr>
              <a:t>		</a:t>
            </a:r>
            <a:r>
              <a:rPr dirty="0" sz="2000" spc="-10" b="1">
                <a:latin typeface="Malgun Gothic"/>
                <a:cs typeface="Malgun Gothic"/>
              </a:rPr>
              <a:t>연금보험은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개인이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불확실한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생애기간의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소비를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충당하기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위해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마련 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55" b="1">
                <a:latin typeface="Malgun Gothic"/>
                <a:cs typeface="Malgun Gothic"/>
              </a:rPr>
              <a:t>A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금액을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일생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동안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확실한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소득을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보장하는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y의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연금으로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교환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2989707" y="3593338"/>
            <a:ext cx="4676140" cy="133985"/>
          </a:xfrm>
          <a:custGeom>
            <a:avLst/>
            <a:gdLst/>
            <a:ahLst/>
            <a:cxnLst/>
            <a:rect l="l" t="t" r="r" b="b"/>
            <a:pathLst>
              <a:path w="4676140" h="133985">
                <a:moveTo>
                  <a:pt x="0" y="133858"/>
                </a:moveTo>
                <a:lnTo>
                  <a:pt x="0" y="133858"/>
                </a:lnTo>
                <a:lnTo>
                  <a:pt x="401701" y="133858"/>
                </a:lnTo>
                <a:lnTo>
                  <a:pt x="446537" y="133568"/>
                </a:lnTo>
                <a:lnTo>
                  <a:pt x="485409" y="132683"/>
                </a:lnTo>
                <a:lnTo>
                  <a:pt x="518304" y="131179"/>
                </a:lnTo>
                <a:lnTo>
                  <a:pt x="545210" y="129032"/>
                </a:lnTo>
                <a:lnTo>
                  <a:pt x="569884" y="127127"/>
                </a:lnTo>
                <a:lnTo>
                  <a:pt x="652515" y="123317"/>
                </a:lnTo>
                <a:lnTo>
                  <a:pt x="710473" y="121412"/>
                </a:lnTo>
                <a:lnTo>
                  <a:pt x="779526" y="119507"/>
                </a:lnTo>
                <a:lnTo>
                  <a:pt x="840368" y="117919"/>
                </a:lnTo>
                <a:lnTo>
                  <a:pt x="898562" y="116332"/>
                </a:lnTo>
                <a:lnTo>
                  <a:pt x="954103" y="114744"/>
                </a:lnTo>
                <a:lnTo>
                  <a:pt x="1006987" y="113157"/>
                </a:lnTo>
                <a:lnTo>
                  <a:pt x="1057212" y="111569"/>
                </a:lnTo>
                <a:lnTo>
                  <a:pt x="1104772" y="109982"/>
                </a:lnTo>
                <a:lnTo>
                  <a:pt x="1159102" y="107879"/>
                </a:lnTo>
                <a:lnTo>
                  <a:pt x="1211140" y="105387"/>
                </a:lnTo>
                <a:lnTo>
                  <a:pt x="1260879" y="102511"/>
                </a:lnTo>
                <a:lnTo>
                  <a:pt x="1308314" y="99257"/>
                </a:lnTo>
                <a:lnTo>
                  <a:pt x="1353439" y="95631"/>
                </a:lnTo>
                <a:lnTo>
                  <a:pt x="1407515" y="90848"/>
                </a:lnTo>
                <a:lnTo>
                  <a:pt x="1459817" y="86042"/>
                </a:lnTo>
                <a:lnTo>
                  <a:pt x="1510333" y="81236"/>
                </a:lnTo>
                <a:lnTo>
                  <a:pt x="1559052" y="76453"/>
                </a:lnTo>
                <a:lnTo>
                  <a:pt x="1606579" y="71383"/>
                </a:lnTo>
                <a:lnTo>
                  <a:pt x="1653524" y="65706"/>
                </a:lnTo>
                <a:lnTo>
                  <a:pt x="1699873" y="59434"/>
                </a:lnTo>
                <a:lnTo>
                  <a:pt x="1745615" y="52577"/>
                </a:lnTo>
                <a:lnTo>
                  <a:pt x="1790453" y="46009"/>
                </a:lnTo>
                <a:lnTo>
                  <a:pt x="1834102" y="40608"/>
                </a:lnTo>
                <a:lnTo>
                  <a:pt x="1876559" y="36397"/>
                </a:lnTo>
                <a:lnTo>
                  <a:pt x="1917827" y="33400"/>
                </a:lnTo>
                <a:lnTo>
                  <a:pt x="1957883" y="31019"/>
                </a:lnTo>
                <a:lnTo>
                  <a:pt x="1996725" y="28638"/>
                </a:lnTo>
                <a:lnTo>
                  <a:pt x="2070862" y="23875"/>
                </a:lnTo>
                <a:lnTo>
                  <a:pt x="2138965" y="17891"/>
                </a:lnTo>
                <a:lnTo>
                  <a:pt x="2200021" y="9525"/>
                </a:lnTo>
                <a:lnTo>
                  <a:pt x="2230786" y="5357"/>
                </a:lnTo>
                <a:lnTo>
                  <a:pt x="2265743" y="2381"/>
                </a:lnTo>
                <a:lnTo>
                  <a:pt x="2304891" y="595"/>
                </a:lnTo>
                <a:lnTo>
                  <a:pt x="2348230" y="0"/>
                </a:lnTo>
                <a:lnTo>
                  <a:pt x="2389475" y="0"/>
                </a:lnTo>
                <a:lnTo>
                  <a:pt x="2422350" y="0"/>
                </a:lnTo>
                <a:lnTo>
                  <a:pt x="2955671" y="0"/>
                </a:lnTo>
                <a:lnTo>
                  <a:pt x="2969672" y="287"/>
                </a:lnTo>
                <a:lnTo>
                  <a:pt x="2983103" y="1158"/>
                </a:lnTo>
                <a:lnTo>
                  <a:pt x="2995961" y="2625"/>
                </a:lnTo>
                <a:lnTo>
                  <a:pt x="3008248" y="4699"/>
                </a:lnTo>
                <a:lnTo>
                  <a:pt x="3021675" y="6792"/>
                </a:lnTo>
                <a:lnTo>
                  <a:pt x="3038125" y="8302"/>
                </a:lnTo>
                <a:lnTo>
                  <a:pt x="3057576" y="9217"/>
                </a:lnTo>
                <a:lnTo>
                  <a:pt x="3080004" y="9525"/>
                </a:lnTo>
                <a:lnTo>
                  <a:pt x="3103008" y="9525"/>
                </a:lnTo>
                <a:lnTo>
                  <a:pt x="3124215" y="9525"/>
                </a:lnTo>
                <a:lnTo>
                  <a:pt x="3553460" y="9525"/>
                </a:lnTo>
                <a:lnTo>
                  <a:pt x="3565675" y="9832"/>
                </a:lnTo>
                <a:lnTo>
                  <a:pt x="3578510" y="10747"/>
                </a:lnTo>
                <a:lnTo>
                  <a:pt x="3591964" y="12257"/>
                </a:lnTo>
                <a:lnTo>
                  <a:pt x="3606038" y="14350"/>
                </a:lnTo>
                <a:lnTo>
                  <a:pt x="3620996" y="16732"/>
                </a:lnTo>
                <a:lnTo>
                  <a:pt x="3637121" y="19113"/>
                </a:lnTo>
                <a:lnTo>
                  <a:pt x="3654436" y="21494"/>
                </a:lnTo>
                <a:lnTo>
                  <a:pt x="3672967" y="23875"/>
                </a:lnTo>
                <a:lnTo>
                  <a:pt x="3692112" y="26257"/>
                </a:lnTo>
                <a:lnTo>
                  <a:pt x="3711257" y="28638"/>
                </a:lnTo>
                <a:lnTo>
                  <a:pt x="3749548" y="33400"/>
                </a:lnTo>
                <a:lnTo>
                  <a:pt x="3788997" y="37004"/>
                </a:lnTo>
                <a:lnTo>
                  <a:pt x="3830828" y="38226"/>
                </a:lnTo>
                <a:lnTo>
                  <a:pt x="3853852" y="38516"/>
                </a:lnTo>
                <a:lnTo>
                  <a:pt x="3879865" y="39401"/>
                </a:lnTo>
                <a:lnTo>
                  <a:pt x="3940810" y="43052"/>
                </a:lnTo>
                <a:lnTo>
                  <a:pt x="4001801" y="47815"/>
                </a:lnTo>
                <a:lnTo>
                  <a:pt x="4050792" y="52577"/>
                </a:lnTo>
                <a:lnTo>
                  <a:pt x="4090288" y="58562"/>
                </a:lnTo>
                <a:lnTo>
                  <a:pt x="4122547" y="66928"/>
                </a:lnTo>
                <a:lnTo>
                  <a:pt x="4137523" y="71096"/>
                </a:lnTo>
                <a:lnTo>
                  <a:pt x="4153677" y="74072"/>
                </a:lnTo>
                <a:lnTo>
                  <a:pt x="4170999" y="75858"/>
                </a:lnTo>
                <a:lnTo>
                  <a:pt x="4189476" y="76453"/>
                </a:lnTo>
                <a:lnTo>
                  <a:pt x="4209216" y="76453"/>
                </a:lnTo>
                <a:lnTo>
                  <a:pt x="4230147" y="76453"/>
                </a:lnTo>
                <a:lnTo>
                  <a:pt x="4675759" y="76453"/>
                </a:lnTo>
                <a:lnTo>
                  <a:pt x="4674108" y="76453"/>
                </a:lnTo>
                <a:lnTo>
                  <a:pt x="4667758" y="76453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6636" y="1108965"/>
            <a:ext cx="8549005" cy="4494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9560" marR="6350" indent="-277495">
              <a:lnSpc>
                <a:spcPct val="132900"/>
              </a:lnSpc>
              <a:spcBef>
                <a:spcPts val="100"/>
              </a:spcBef>
              <a:buFont typeface="Cambria"/>
              <a:buChar char="○"/>
              <a:tabLst>
                <a:tab pos="289560" algn="l"/>
                <a:tab pos="1199515" algn="l"/>
                <a:tab pos="2618740" algn="l"/>
                <a:tab pos="3208020" algn="l"/>
                <a:tab pos="4372610" algn="l"/>
                <a:tab pos="4850130" algn="l"/>
                <a:tab pos="6608445" algn="l"/>
                <a:tab pos="8027670" algn="l"/>
              </a:tabLst>
            </a:pPr>
            <a:r>
              <a:rPr dirty="0" sz="2000" spc="-25" b="1">
                <a:latin typeface="Malgun Gothic"/>
                <a:cs typeface="Malgun Gothic"/>
              </a:rPr>
              <a:t>개인의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노후자산이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A로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주어졌을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때,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연금급여(y)는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보험회사가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예상 </a:t>
            </a:r>
            <a:r>
              <a:rPr dirty="0" sz="2000" b="1">
                <a:latin typeface="Malgun Gothic"/>
                <a:cs typeface="Malgun Gothic"/>
              </a:rPr>
              <a:t>하는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가입자의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기대수명(n)과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예상이자율(r)에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의해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결정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75"/>
              </a:spcBef>
              <a:buFont typeface="Cambria"/>
              <a:buChar char="○"/>
            </a:pPr>
            <a:endParaRPr sz="2000">
              <a:latin typeface="Malgun Gothic"/>
              <a:cs typeface="Malgun Gothic"/>
            </a:endParaRPr>
          </a:p>
          <a:p>
            <a:pPr algn="ctr" marL="1270">
              <a:lnSpc>
                <a:spcPct val="100000"/>
              </a:lnSpc>
            </a:pPr>
            <a:r>
              <a:rPr dirty="0" sz="2000" spc="-40">
                <a:latin typeface="Microsoft Sans Serif"/>
                <a:cs typeface="Microsoft Sans Serif"/>
              </a:rPr>
              <a:t>y</a:t>
            </a:r>
            <a:r>
              <a:rPr dirty="0" sz="2000" spc="-110">
                <a:latin typeface="Microsoft Sans Serif"/>
                <a:cs typeface="Microsoft Sans Serif"/>
              </a:rPr>
              <a:t> </a:t>
            </a: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 spc="-217">
                <a:latin typeface="Microsoft Sans Serif"/>
                <a:cs typeface="Microsoft Sans Serif"/>
              </a:rPr>
              <a:t> </a:t>
            </a:r>
            <a:r>
              <a:rPr dirty="0" sz="2000" spc="-315">
                <a:latin typeface="Microsoft Sans Serif"/>
                <a:cs typeface="Microsoft Sans Serif"/>
              </a:rPr>
              <a:t>g</a:t>
            </a:r>
            <a:r>
              <a:rPr dirty="0" baseline="2777" sz="3000" spc="-472">
                <a:latin typeface="Microsoft Sans Serif"/>
                <a:cs typeface="Microsoft Sans Serif"/>
              </a:rPr>
              <a:t>(</a:t>
            </a:r>
            <a:r>
              <a:rPr dirty="0" sz="2100" spc="-315" i="1">
                <a:latin typeface="Times New Roman"/>
                <a:cs typeface="Times New Roman"/>
              </a:rPr>
              <a:t>A</a:t>
            </a:r>
            <a:r>
              <a:rPr dirty="0" baseline="2777" sz="3000" spc="-472">
                <a:latin typeface="Microsoft Sans Serif"/>
                <a:cs typeface="Microsoft Sans Serif"/>
              </a:rPr>
              <a:t></a:t>
            </a:r>
            <a:r>
              <a:rPr dirty="0" baseline="2777" sz="3000" spc="-247">
                <a:latin typeface="Microsoft Sans Serif"/>
                <a:cs typeface="Microsoft Sans Serif"/>
              </a:rPr>
              <a:t> </a:t>
            </a:r>
            <a:r>
              <a:rPr dirty="0" sz="2000" spc="-695">
                <a:latin typeface="Microsoft Sans Serif"/>
                <a:cs typeface="Microsoft Sans Serif"/>
              </a:rPr>
              <a:t>n</a:t>
            </a:r>
            <a:r>
              <a:rPr dirty="0" baseline="2777" sz="3000" spc="-1042">
                <a:latin typeface="Microsoft Sans Serif"/>
                <a:cs typeface="Microsoft Sans Serif"/>
              </a:rPr>
              <a:t></a:t>
            </a:r>
            <a:r>
              <a:rPr dirty="0" baseline="2777" sz="3000" spc="-247">
                <a:latin typeface="Microsoft Sans Serif"/>
                <a:cs typeface="Microsoft Sans Serif"/>
              </a:rPr>
              <a:t> </a:t>
            </a:r>
            <a:r>
              <a:rPr dirty="0" sz="2000" spc="215">
                <a:latin typeface="Microsoft Sans Serif"/>
                <a:cs typeface="Microsoft Sans Serif"/>
              </a:rPr>
              <a:t>r</a:t>
            </a:r>
            <a:r>
              <a:rPr dirty="0" baseline="2777" sz="3000" spc="322">
                <a:latin typeface="Microsoft Sans Serif"/>
                <a:cs typeface="Microsoft Sans Serif"/>
              </a:rPr>
              <a:t>)</a:t>
            </a:r>
            <a:endParaRPr baseline="2777" sz="3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35"/>
              </a:spcBef>
            </a:pPr>
            <a:endParaRPr sz="2000">
              <a:latin typeface="Microsoft Sans Serif"/>
              <a:cs typeface="Microsoft Sans Serif"/>
            </a:endParaRPr>
          </a:p>
          <a:p>
            <a:pPr lvl="1" marL="423545" indent="-285115">
              <a:lnSpc>
                <a:spcPct val="100000"/>
              </a:lnSpc>
              <a:buChar char="-"/>
              <a:tabLst>
                <a:tab pos="423545" algn="l"/>
              </a:tabLst>
            </a:pPr>
            <a:r>
              <a:rPr dirty="0" sz="2000" b="1">
                <a:latin typeface="Malgun Gothic"/>
                <a:cs typeface="Malgun Gothic"/>
              </a:rPr>
              <a:t>기대수명이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길수록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연금지급액은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작다:</a:t>
            </a:r>
            <a:r>
              <a:rPr dirty="0" sz="2000" spc="33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연령,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성별,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건강,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배우자</a:t>
            </a:r>
            <a:endParaRPr sz="2000">
              <a:latin typeface="Malgun Gothic"/>
              <a:cs typeface="Malgun Gothic"/>
            </a:endParaRPr>
          </a:p>
          <a:p>
            <a:pPr lvl="1" marL="472440" marR="5080" indent="-334010">
              <a:lnSpc>
                <a:spcPct val="133400"/>
              </a:lnSpc>
              <a:spcBef>
                <a:spcPts val="3190"/>
              </a:spcBef>
              <a:buChar char="-"/>
              <a:tabLst>
                <a:tab pos="472440" algn="l"/>
                <a:tab pos="1405255" algn="l"/>
                <a:tab pos="2848610" algn="l"/>
                <a:tab pos="3781425" algn="l"/>
                <a:tab pos="4716145" algn="l"/>
                <a:tab pos="5650865" algn="l"/>
                <a:tab pos="6331585" algn="l"/>
                <a:tab pos="7266305" algn="l"/>
              </a:tabLst>
            </a:pPr>
            <a:r>
              <a:rPr dirty="0" sz="2000" spc="-25" b="1">
                <a:latin typeface="Malgun Gothic"/>
                <a:cs typeface="Malgun Gothic"/>
              </a:rPr>
              <a:t>연금의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실질가치가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물가의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변동에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영향을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받지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않도록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운영하려면 </a:t>
            </a:r>
            <a:r>
              <a:rPr dirty="0" sz="2000" b="1">
                <a:latin typeface="Malgun Gothic"/>
                <a:cs typeface="Malgun Gothic"/>
              </a:rPr>
              <a:t>연금산정은</a:t>
            </a:r>
            <a:r>
              <a:rPr dirty="0" sz="2000" spc="409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실질이자율(명목이자율-물가상승률)에</a:t>
            </a:r>
            <a:r>
              <a:rPr dirty="0" sz="2000" spc="409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기초해야</a:t>
            </a:r>
            <a:r>
              <a:rPr dirty="0" sz="2000" spc="41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한다.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</a:pPr>
            <a:r>
              <a:rPr dirty="0" sz="2000" spc="1085" b="1">
                <a:solidFill>
                  <a:srgbClr val="0000FF"/>
                </a:solidFill>
                <a:latin typeface="Malgun Gothic"/>
                <a:cs typeface="Malgun Gothic"/>
              </a:rPr>
              <a:t>*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국민연금의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물가연동제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indexation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404867" y="2837688"/>
            <a:ext cx="1817370" cy="48260"/>
          </a:xfrm>
          <a:custGeom>
            <a:avLst/>
            <a:gdLst/>
            <a:ahLst/>
            <a:cxnLst/>
            <a:rect l="l" t="t" r="r" b="b"/>
            <a:pathLst>
              <a:path w="1817370" h="48260">
                <a:moveTo>
                  <a:pt x="0" y="47751"/>
                </a:moveTo>
                <a:lnTo>
                  <a:pt x="0" y="47751"/>
                </a:lnTo>
                <a:lnTo>
                  <a:pt x="1023493" y="47751"/>
                </a:lnTo>
                <a:lnTo>
                  <a:pt x="1060807" y="47464"/>
                </a:lnTo>
                <a:lnTo>
                  <a:pt x="1130149" y="45126"/>
                </a:lnTo>
                <a:lnTo>
                  <a:pt x="1194440" y="40003"/>
                </a:lnTo>
                <a:lnTo>
                  <a:pt x="1266207" y="30426"/>
                </a:lnTo>
                <a:lnTo>
                  <a:pt x="1305687" y="23875"/>
                </a:lnTo>
                <a:lnTo>
                  <a:pt x="1344189" y="17615"/>
                </a:lnTo>
                <a:lnTo>
                  <a:pt x="1378537" y="13128"/>
                </a:lnTo>
                <a:lnTo>
                  <a:pt x="1408717" y="10427"/>
                </a:lnTo>
                <a:lnTo>
                  <a:pt x="1434719" y="9525"/>
                </a:lnTo>
                <a:lnTo>
                  <a:pt x="1458031" y="9525"/>
                </a:lnTo>
                <a:lnTo>
                  <a:pt x="1480153" y="9525"/>
                </a:lnTo>
                <a:lnTo>
                  <a:pt x="1501084" y="9525"/>
                </a:lnTo>
                <a:lnTo>
                  <a:pt x="1520825" y="9525"/>
                </a:lnTo>
                <a:lnTo>
                  <a:pt x="1539662" y="9217"/>
                </a:lnTo>
                <a:lnTo>
                  <a:pt x="1557893" y="8302"/>
                </a:lnTo>
                <a:lnTo>
                  <a:pt x="1575528" y="6792"/>
                </a:lnTo>
                <a:lnTo>
                  <a:pt x="1592580" y="4699"/>
                </a:lnTo>
                <a:lnTo>
                  <a:pt x="1607843" y="2625"/>
                </a:lnTo>
                <a:lnTo>
                  <a:pt x="1620107" y="1158"/>
                </a:lnTo>
                <a:lnTo>
                  <a:pt x="1629370" y="287"/>
                </a:lnTo>
                <a:lnTo>
                  <a:pt x="1635633" y="0"/>
                </a:lnTo>
                <a:lnTo>
                  <a:pt x="1640992" y="0"/>
                </a:lnTo>
                <a:lnTo>
                  <a:pt x="1647555" y="0"/>
                </a:lnTo>
                <a:lnTo>
                  <a:pt x="1811020" y="0"/>
                </a:lnTo>
                <a:lnTo>
                  <a:pt x="1817370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제3절.</a:t>
            </a:r>
            <a:r>
              <a:rPr dirty="0" spc="315"/>
              <a:t> </a:t>
            </a:r>
            <a:r>
              <a:rPr dirty="0"/>
              <a:t>보험의</a:t>
            </a:r>
            <a:r>
              <a:rPr dirty="0" spc="320"/>
              <a:t> </a:t>
            </a:r>
            <a:r>
              <a:rPr dirty="0" spc="-20"/>
              <a:t>공급측면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53936" y="2020737"/>
            <a:ext cx="8598535" cy="4413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Malgun Gothic"/>
                <a:cs typeface="Malgun Gothic"/>
              </a:rPr>
              <a:t>1.</a:t>
            </a:r>
            <a:r>
              <a:rPr dirty="0" sz="2000" spc="32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보험의</a:t>
            </a:r>
            <a:r>
              <a:rPr dirty="0" sz="2000" spc="325" b="1">
                <a:latin typeface="Malgun Gothic"/>
                <a:cs typeface="Malgun Gothic"/>
              </a:rPr>
              <a:t> </a:t>
            </a:r>
            <a:r>
              <a:rPr dirty="0" sz="2000" spc="-35" b="1">
                <a:latin typeface="Malgun Gothic"/>
                <a:cs typeface="Malgun Gothic"/>
              </a:rPr>
              <a:t>공급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396875" indent="-371475">
              <a:lnSpc>
                <a:spcPct val="100000"/>
              </a:lnSpc>
              <a:buAutoNum type="arabicParenR"/>
              <a:tabLst>
                <a:tab pos="396875" algn="l"/>
              </a:tabLst>
            </a:pPr>
            <a:r>
              <a:rPr dirty="0" sz="2000" b="1">
                <a:latin typeface="Malgun Gothic"/>
                <a:cs typeface="Malgun Gothic"/>
              </a:rPr>
              <a:t>보험수리적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보험료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Font typeface="Malgun Gothic"/>
              <a:buAutoNum type="arabicParenR"/>
            </a:pPr>
            <a:endParaRPr sz="2000">
              <a:latin typeface="Malgun Gothic"/>
              <a:cs typeface="Malgun Gothic"/>
            </a:endParaRPr>
          </a:p>
          <a:p>
            <a:pPr lvl="1" marL="279400" indent="-254000">
              <a:lnSpc>
                <a:spcPct val="100000"/>
              </a:lnSpc>
              <a:buFont typeface="Cambria"/>
              <a:buChar char="○"/>
              <a:tabLst>
                <a:tab pos="279400" algn="l"/>
              </a:tabLst>
            </a:pPr>
            <a:r>
              <a:rPr dirty="0" sz="2000" b="1">
                <a:latin typeface="Malgun Gothic"/>
                <a:cs typeface="Malgun Gothic"/>
              </a:rPr>
              <a:t>1000만원의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귀중품을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도난보험에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가입,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도난당할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확률=1%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2000">
              <a:latin typeface="Malgun Gothic"/>
              <a:cs typeface="Malgun Gothic"/>
            </a:endParaRPr>
          </a:p>
          <a:p>
            <a:pPr algn="ctr" marR="19050">
              <a:lnSpc>
                <a:spcPct val="100000"/>
              </a:lnSpc>
            </a:pPr>
            <a:r>
              <a:rPr dirty="0" sz="2000" b="1">
                <a:latin typeface="Malgun Gothic"/>
                <a:cs typeface="Malgun Gothic"/>
              </a:rPr>
              <a:t>보험수리적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보험료</a:t>
            </a:r>
            <a:r>
              <a:rPr dirty="0" sz="2000" spc="325" b="1">
                <a:latin typeface="Malgun Gothic"/>
                <a:cs typeface="Malgun Gothic"/>
              </a:rPr>
              <a:t> </a:t>
            </a:r>
            <a:r>
              <a:rPr dirty="0" sz="2000" spc="440">
                <a:latin typeface="Microsoft Sans Serif"/>
                <a:cs typeface="Microsoft Sans Serif"/>
              </a:rPr>
              <a:t></a:t>
            </a:r>
            <a:r>
              <a:rPr dirty="0" baseline="-20576" sz="2025" spc="660">
                <a:latin typeface="Microsoft Sans Serif"/>
                <a:cs typeface="Microsoft Sans Serif"/>
              </a:rPr>
              <a:t></a:t>
            </a:r>
            <a:r>
              <a:rPr dirty="0" baseline="-20576" sz="2025" spc="337">
                <a:latin typeface="Microsoft Sans Serif"/>
                <a:cs typeface="Microsoft Sans Serif"/>
              </a:rPr>
              <a:t> </a:t>
            </a: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 spc="-225">
                <a:latin typeface="Microsoft Sans Serif"/>
                <a:cs typeface="Microsoft Sans Serif"/>
              </a:rPr>
              <a:t> </a:t>
            </a:r>
            <a:r>
              <a:rPr dirty="0" baseline="2777" sz="3000" spc="434">
                <a:latin typeface="Microsoft Sans Serif"/>
                <a:cs typeface="Microsoft Sans Serif"/>
              </a:rPr>
              <a:t>(</a:t>
            </a:r>
            <a:r>
              <a:rPr dirty="0" sz="2000" spc="290">
                <a:latin typeface="Microsoft Sans Serif"/>
                <a:cs typeface="Microsoft Sans Serif"/>
              </a:rPr>
              <a:t>l</a:t>
            </a:r>
            <a:r>
              <a:rPr dirty="0" baseline="2777" sz="3000" spc="434">
                <a:latin typeface="Microsoft Sans Serif"/>
                <a:cs typeface="Microsoft Sans Serif"/>
              </a:rPr>
              <a:t>+</a:t>
            </a:r>
            <a:r>
              <a:rPr dirty="0" sz="2000" spc="290">
                <a:latin typeface="Microsoft Sans Serif"/>
                <a:cs typeface="Microsoft Sans Serif"/>
              </a:rPr>
              <a:t></a:t>
            </a:r>
            <a:r>
              <a:rPr dirty="0" baseline="2777" sz="3000" spc="434">
                <a:latin typeface="Microsoft Sans Serif"/>
                <a:cs typeface="Microsoft Sans Serif"/>
              </a:rPr>
              <a:t>)</a:t>
            </a:r>
            <a:r>
              <a:rPr dirty="0" sz="2000" spc="290">
                <a:latin typeface="Microsoft Sans Serif"/>
                <a:cs typeface="Microsoft Sans Serif"/>
              </a:rPr>
              <a:t></a:t>
            </a:r>
            <a:r>
              <a:rPr dirty="0" baseline="-20576" sz="2025" spc="434">
                <a:latin typeface="Microsoft Sans Serif"/>
                <a:cs typeface="Microsoft Sans Serif"/>
              </a:rPr>
              <a:t></a:t>
            </a:r>
            <a:r>
              <a:rPr dirty="0" sz="2100" spc="290" i="1">
                <a:latin typeface="Times New Roman"/>
                <a:cs typeface="Times New Roman"/>
              </a:rPr>
              <a:t></a:t>
            </a:r>
            <a:endParaRPr sz="2100">
              <a:latin typeface="Times New Roman"/>
              <a:cs typeface="Times New Roman"/>
            </a:endParaRPr>
          </a:p>
          <a:p>
            <a:pPr marL="1555115">
              <a:lnSpc>
                <a:spcPct val="100000"/>
              </a:lnSpc>
              <a:spcBef>
                <a:spcPts val="1100"/>
              </a:spcBef>
            </a:pPr>
            <a:r>
              <a:rPr dirty="0" sz="2000" spc="165">
                <a:latin typeface="Microsoft Sans Serif"/>
                <a:cs typeface="Microsoft Sans Serif"/>
              </a:rPr>
              <a:t></a:t>
            </a:r>
            <a:r>
              <a:rPr dirty="0" baseline="-20576" sz="2025" spc="247">
                <a:latin typeface="Microsoft Sans Serif"/>
                <a:cs typeface="Microsoft Sans Serif"/>
              </a:rPr>
              <a:t></a:t>
            </a:r>
            <a:r>
              <a:rPr dirty="0" sz="2100" spc="165" i="1">
                <a:latin typeface="Times New Roman"/>
                <a:cs typeface="Times New Roman"/>
              </a:rPr>
              <a:t></a:t>
            </a:r>
            <a:r>
              <a:rPr dirty="0" sz="2100" spc="290" i="1">
                <a:latin typeface="Times New Roman"/>
                <a:cs typeface="Times New Roman"/>
              </a:rPr>
              <a:t> </a:t>
            </a:r>
            <a:r>
              <a:rPr dirty="0" sz="1600" spc="100" b="1">
                <a:latin typeface="Malgun Gothic"/>
                <a:cs typeface="Malgun Gothic"/>
              </a:rPr>
              <a:t>:</a:t>
            </a:r>
            <a:r>
              <a:rPr dirty="0" sz="1600" spc="275" b="1">
                <a:latin typeface="Malgun Gothic"/>
                <a:cs typeface="Malgun Gothic"/>
              </a:rPr>
              <a:t> </a:t>
            </a:r>
            <a:r>
              <a:rPr dirty="0" sz="2000" spc="345">
                <a:latin typeface="Microsoft Sans Serif"/>
                <a:cs typeface="Microsoft Sans Serif"/>
              </a:rPr>
              <a:t></a:t>
            </a:r>
            <a:r>
              <a:rPr dirty="0" sz="1600" spc="345" b="1">
                <a:latin typeface="Malgun Gothic"/>
                <a:cs typeface="Malgun Gothic"/>
              </a:rPr>
              <a:t>번째</a:t>
            </a:r>
            <a:r>
              <a:rPr dirty="0" sz="1600" spc="235" b="1">
                <a:latin typeface="Malgun Gothic"/>
                <a:cs typeface="Malgun Gothic"/>
              </a:rPr>
              <a:t> </a:t>
            </a:r>
            <a:r>
              <a:rPr dirty="0" sz="1600" b="1">
                <a:latin typeface="Malgun Gothic"/>
                <a:cs typeface="Malgun Gothic"/>
              </a:rPr>
              <a:t>개인의</a:t>
            </a:r>
            <a:r>
              <a:rPr dirty="0" sz="1600" spc="235" b="1">
                <a:latin typeface="Malgun Gothic"/>
                <a:cs typeface="Malgun Gothic"/>
              </a:rPr>
              <a:t> </a:t>
            </a:r>
            <a:r>
              <a:rPr dirty="0" sz="1600" spc="-20" b="1">
                <a:latin typeface="Malgun Gothic"/>
                <a:cs typeface="Malgun Gothic"/>
              </a:rPr>
              <a:t>예상손실</a:t>
            </a:r>
            <a:endParaRPr sz="1600">
              <a:latin typeface="Malgun Gothic"/>
              <a:cs typeface="Malgun Gothic"/>
            </a:endParaRPr>
          </a:p>
          <a:p>
            <a:pPr marL="1555115">
              <a:lnSpc>
                <a:spcPct val="100000"/>
              </a:lnSpc>
              <a:spcBef>
                <a:spcPts val="975"/>
              </a:spcBef>
            </a:pPr>
            <a:r>
              <a:rPr dirty="0" sz="2000" spc="200">
                <a:latin typeface="Microsoft Sans Serif"/>
                <a:cs typeface="Microsoft Sans Serif"/>
              </a:rPr>
              <a:t></a:t>
            </a:r>
            <a:r>
              <a:rPr dirty="0" baseline="-20576" sz="2025" spc="300">
                <a:latin typeface="Microsoft Sans Serif"/>
                <a:cs typeface="Microsoft Sans Serif"/>
              </a:rPr>
              <a:t></a:t>
            </a:r>
            <a:r>
              <a:rPr dirty="0" baseline="-20576" sz="2025" spc="719">
                <a:latin typeface="Microsoft Sans Serif"/>
                <a:cs typeface="Microsoft Sans Serif"/>
              </a:rPr>
              <a:t> </a:t>
            </a:r>
            <a:r>
              <a:rPr dirty="0" sz="1600" spc="100" b="1">
                <a:latin typeface="Malgun Gothic"/>
                <a:cs typeface="Malgun Gothic"/>
              </a:rPr>
              <a:t>:</a:t>
            </a:r>
            <a:r>
              <a:rPr dirty="0" sz="1600" spc="240" b="1">
                <a:latin typeface="Malgun Gothic"/>
                <a:cs typeface="Malgun Gothic"/>
              </a:rPr>
              <a:t> </a:t>
            </a:r>
            <a:r>
              <a:rPr dirty="0" sz="1600" spc="-10" b="1">
                <a:latin typeface="Malgun Gothic"/>
                <a:cs typeface="Malgun Gothic"/>
              </a:rPr>
              <a:t>위험발생확률</a:t>
            </a:r>
            <a:endParaRPr sz="1600">
              <a:latin typeface="Malgun Gothic"/>
              <a:cs typeface="Malgun Gothic"/>
            </a:endParaRPr>
          </a:p>
          <a:p>
            <a:pPr marL="2008505" marR="43180" indent="-454025">
              <a:lnSpc>
                <a:spcPct val="125600"/>
              </a:lnSpc>
              <a:spcBef>
                <a:spcPts val="370"/>
              </a:spcBef>
            </a:pPr>
            <a:r>
              <a:rPr dirty="0" sz="2000" spc="200">
                <a:latin typeface="Microsoft Sans Serif"/>
                <a:cs typeface="Microsoft Sans Serif"/>
              </a:rPr>
              <a:t></a:t>
            </a:r>
            <a:r>
              <a:rPr dirty="0" sz="2000" spc="335">
                <a:latin typeface="Microsoft Sans Serif"/>
                <a:cs typeface="Microsoft Sans Serif"/>
              </a:rPr>
              <a:t> </a:t>
            </a:r>
            <a:r>
              <a:rPr dirty="0" sz="1600" spc="100" b="1">
                <a:latin typeface="Malgun Gothic"/>
                <a:cs typeface="Malgun Gothic"/>
              </a:rPr>
              <a:t>:</a:t>
            </a:r>
            <a:r>
              <a:rPr dirty="0" sz="1600" spc="245" b="1">
                <a:latin typeface="Malgun Gothic"/>
                <a:cs typeface="Malgun Gothic"/>
              </a:rPr>
              <a:t> </a:t>
            </a:r>
            <a:r>
              <a:rPr dirty="0" sz="1600" b="1">
                <a:latin typeface="Malgun Gothic"/>
                <a:cs typeface="Malgun Gothic"/>
              </a:rPr>
              <a:t>보험회사가</a:t>
            </a:r>
            <a:r>
              <a:rPr dirty="0" sz="1600" spc="250" b="1">
                <a:latin typeface="Malgun Gothic"/>
                <a:cs typeface="Malgun Gothic"/>
              </a:rPr>
              <a:t> </a:t>
            </a:r>
            <a:r>
              <a:rPr dirty="0" sz="1600" b="1">
                <a:latin typeface="Malgun Gothic"/>
                <a:cs typeface="Malgun Gothic"/>
              </a:rPr>
              <a:t>관리비용과</a:t>
            </a:r>
            <a:r>
              <a:rPr dirty="0" sz="1600" spc="250" b="1">
                <a:latin typeface="Malgun Gothic"/>
                <a:cs typeface="Malgun Gothic"/>
              </a:rPr>
              <a:t> </a:t>
            </a:r>
            <a:r>
              <a:rPr dirty="0" sz="1600" b="1">
                <a:latin typeface="Malgun Gothic"/>
                <a:cs typeface="Malgun Gothic"/>
              </a:rPr>
              <a:t>정상이윤을</a:t>
            </a:r>
            <a:r>
              <a:rPr dirty="0" sz="1600" spc="250" b="1">
                <a:latin typeface="Malgun Gothic"/>
                <a:cs typeface="Malgun Gothic"/>
              </a:rPr>
              <a:t> </a:t>
            </a:r>
            <a:r>
              <a:rPr dirty="0" sz="1600" b="1">
                <a:latin typeface="Malgun Gothic"/>
                <a:cs typeface="Malgun Gothic"/>
              </a:rPr>
              <a:t>충당하기</a:t>
            </a:r>
            <a:r>
              <a:rPr dirty="0" sz="1600" spc="250" b="1">
                <a:latin typeface="Malgun Gothic"/>
                <a:cs typeface="Malgun Gothic"/>
              </a:rPr>
              <a:t> </a:t>
            </a:r>
            <a:r>
              <a:rPr dirty="0" sz="1600" b="1">
                <a:latin typeface="Malgun Gothic"/>
                <a:cs typeface="Malgun Gothic"/>
              </a:rPr>
              <a:t>위해</a:t>
            </a:r>
            <a:r>
              <a:rPr dirty="0" sz="1600" spc="250" b="1">
                <a:latin typeface="Malgun Gothic"/>
                <a:cs typeface="Malgun Gothic"/>
              </a:rPr>
              <a:t> </a:t>
            </a:r>
            <a:r>
              <a:rPr dirty="0" sz="1600" b="1">
                <a:latin typeface="Malgun Gothic"/>
                <a:cs typeface="Malgun Gothic"/>
              </a:rPr>
              <a:t>순보험료에</a:t>
            </a:r>
            <a:r>
              <a:rPr dirty="0" sz="1600" spc="250" b="1">
                <a:latin typeface="Malgun Gothic"/>
                <a:cs typeface="Malgun Gothic"/>
              </a:rPr>
              <a:t> </a:t>
            </a:r>
            <a:r>
              <a:rPr dirty="0" sz="1600" spc="-355" b="1">
                <a:latin typeface="Malgun Gothic"/>
                <a:cs typeface="Malgun Gothic"/>
              </a:rPr>
              <a:t>부가하 </a:t>
            </a:r>
            <a:r>
              <a:rPr dirty="0" sz="1600" b="1">
                <a:latin typeface="Malgun Gothic"/>
                <a:cs typeface="Malgun Gothic"/>
              </a:rPr>
              <a:t>는</a:t>
            </a:r>
            <a:r>
              <a:rPr dirty="0" sz="1600" spc="220" b="1">
                <a:latin typeface="Malgun Gothic"/>
                <a:cs typeface="Malgun Gothic"/>
              </a:rPr>
              <a:t> </a:t>
            </a:r>
            <a:r>
              <a:rPr dirty="0" sz="1600" spc="-10" b="1">
                <a:latin typeface="Malgun Gothic"/>
                <a:cs typeface="Malgun Gothic"/>
              </a:rPr>
              <a:t>부가보험료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956942" y="1536827"/>
            <a:ext cx="1875155" cy="57785"/>
          </a:xfrm>
          <a:custGeom>
            <a:avLst/>
            <a:gdLst/>
            <a:ahLst/>
            <a:cxnLst/>
            <a:rect l="l" t="t" r="r" b="b"/>
            <a:pathLst>
              <a:path w="1875154" h="57784">
                <a:moveTo>
                  <a:pt x="0" y="57403"/>
                </a:moveTo>
                <a:lnTo>
                  <a:pt x="0" y="57403"/>
                </a:lnTo>
                <a:lnTo>
                  <a:pt x="196087" y="57403"/>
                </a:lnTo>
                <a:lnTo>
                  <a:pt x="225714" y="57096"/>
                </a:lnTo>
                <a:lnTo>
                  <a:pt x="252317" y="56181"/>
                </a:lnTo>
                <a:lnTo>
                  <a:pt x="275919" y="54671"/>
                </a:lnTo>
                <a:lnTo>
                  <a:pt x="296544" y="52577"/>
                </a:lnTo>
                <a:lnTo>
                  <a:pt x="315690" y="50484"/>
                </a:lnTo>
                <a:lnTo>
                  <a:pt x="334835" y="48974"/>
                </a:lnTo>
                <a:lnTo>
                  <a:pt x="353980" y="48059"/>
                </a:lnTo>
                <a:lnTo>
                  <a:pt x="373125" y="47751"/>
                </a:lnTo>
                <a:lnTo>
                  <a:pt x="393154" y="47156"/>
                </a:lnTo>
                <a:lnTo>
                  <a:pt x="414956" y="45370"/>
                </a:lnTo>
                <a:lnTo>
                  <a:pt x="438544" y="42394"/>
                </a:lnTo>
                <a:lnTo>
                  <a:pt x="463931" y="38226"/>
                </a:lnTo>
                <a:lnTo>
                  <a:pt x="491124" y="34059"/>
                </a:lnTo>
                <a:lnTo>
                  <a:pt x="520128" y="31083"/>
                </a:lnTo>
                <a:lnTo>
                  <a:pt x="550941" y="29297"/>
                </a:lnTo>
                <a:lnTo>
                  <a:pt x="583564" y="28701"/>
                </a:lnTo>
                <a:lnTo>
                  <a:pt x="616710" y="28394"/>
                </a:lnTo>
                <a:lnTo>
                  <a:pt x="649271" y="27479"/>
                </a:lnTo>
                <a:lnTo>
                  <a:pt x="681237" y="25969"/>
                </a:lnTo>
                <a:lnTo>
                  <a:pt x="712596" y="23875"/>
                </a:lnTo>
                <a:lnTo>
                  <a:pt x="740743" y="21782"/>
                </a:lnTo>
                <a:lnTo>
                  <a:pt x="762888" y="20272"/>
                </a:lnTo>
                <a:lnTo>
                  <a:pt x="779033" y="19357"/>
                </a:lnTo>
                <a:lnTo>
                  <a:pt x="789177" y="19050"/>
                </a:lnTo>
                <a:lnTo>
                  <a:pt x="796631" y="19050"/>
                </a:lnTo>
                <a:lnTo>
                  <a:pt x="804703" y="19050"/>
                </a:lnTo>
                <a:lnTo>
                  <a:pt x="1023493" y="19050"/>
                </a:lnTo>
                <a:lnTo>
                  <a:pt x="1032803" y="18762"/>
                </a:lnTo>
                <a:lnTo>
                  <a:pt x="1041495" y="17891"/>
                </a:lnTo>
                <a:lnTo>
                  <a:pt x="1049567" y="16424"/>
                </a:lnTo>
                <a:lnTo>
                  <a:pt x="1057020" y="14350"/>
                </a:lnTo>
                <a:lnTo>
                  <a:pt x="1066545" y="11175"/>
                </a:lnTo>
                <a:lnTo>
                  <a:pt x="1074546" y="9525"/>
                </a:lnTo>
                <a:lnTo>
                  <a:pt x="1080896" y="9525"/>
                </a:lnTo>
                <a:lnTo>
                  <a:pt x="1087246" y="9525"/>
                </a:lnTo>
                <a:lnTo>
                  <a:pt x="1095248" y="9525"/>
                </a:lnTo>
                <a:lnTo>
                  <a:pt x="1104773" y="9525"/>
                </a:lnTo>
                <a:lnTo>
                  <a:pt x="1111990" y="9217"/>
                </a:lnTo>
                <a:lnTo>
                  <a:pt x="1119171" y="8302"/>
                </a:lnTo>
                <a:lnTo>
                  <a:pt x="1126329" y="6792"/>
                </a:lnTo>
                <a:lnTo>
                  <a:pt x="1133475" y="4699"/>
                </a:lnTo>
                <a:lnTo>
                  <a:pt x="1140999" y="2625"/>
                </a:lnTo>
                <a:lnTo>
                  <a:pt x="1149095" y="1158"/>
                </a:lnTo>
                <a:lnTo>
                  <a:pt x="1157763" y="287"/>
                </a:lnTo>
                <a:lnTo>
                  <a:pt x="1167002" y="0"/>
                </a:lnTo>
                <a:lnTo>
                  <a:pt x="1176547" y="0"/>
                </a:lnTo>
                <a:lnTo>
                  <a:pt x="1186116" y="0"/>
                </a:lnTo>
                <a:lnTo>
                  <a:pt x="1345565" y="0"/>
                </a:lnTo>
                <a:lnTo>
                  <a:pt x="1348740" y="1524"/>
                </a:lnTo>
                <a:lnTo>
                  <a:pt x="1348740" y="4699"/>
                </a:lnTo>
                <a:lnTo>
                  <a:pt x="1348740" y="7874"/>
                </a:lnTo>
                <a:lnTo>
                  <a:pt x="1353566" y="9525"/>
                </a:lnTo>
                <a:lnTo>
                  <a:pt x="1868423" y="9525"/>
                </a:lnTo>
                <a:lnTo>
                  <a:pt x="1874773" y="9525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622416" y="4855845"/>
            <a:ext cx="1804670" cy="29209"/>
          </a:xfrm>
          <a:custGeom>
            <a:avLst/>
            <a:gdLst/>
            <a:ahLst/>
            <a:cxnLst/>
            <a:rect l="l" t="t" r="r" b="b"/>
            <a:pathLst>
              <a:path w="1804670" h="29210">
                <a:moveTo>
                  <a:pt x="6350" y="28701"/>
                </a:moveTo>
                <a:lnTo>
                  <a:pt x="0" y="28701"/>
                </a:lnTo>
                <a:lnTo>
                  <a:pt x="0" y="27177"/>
                </a:lnTo>
                <a:lnTo>
                  <a:pt x="49403" y="19176"/>
                </a:lnTo>
                <a:lnTo>
                  <a:pt x="66147" y="19176"/>
                </a:lnTo>
                <a:lnTo>
                  <a:pt x="82867" y="19176"/>
                </a:lnTo>
                <a:lnTo>
                  <a:pt x="1154176" y="19176"/>
                </a:lnTo>
                <a:lnTo>
                  <a:pt x="1168249" y="18887"/>
                </a:lnTo>
                <a:lnTo>
                  <a:pt x="1181703" y="18002"/>
                </a:lnTo>
                <a:lnTo>
                  <a:pt x="1194538" y="16498"/>
                </a:lnTo>
                <a:lnTo>
                  <a:pt x="1206754" y="14350"/>
                </a:lnTo>
                <a:lnTo>
                  <a:pt x="1218445" y="12277"/>
                </a:lnTo>
                <a:lnTo>
                  <a:pt x="1229518" y="10810"/>
                </a:lnTo>
                <a:lnTo>
                  <a:pt x="1239972" y="9939"/>
                </a:lnTo>
                <a:lnTo>
                  <a:pt x="1249807" y="9651"/>
                </a:lnTo>
                <a:lnTo>
                  <a:pt x="1260308" y="9651"/>
                </a:lnTo>
                <a:lnTo>
                  <a:pt x="1272571" y="9651"/>
                </a:lnTo>
                <a:lnTo>
                  <a:pt x="1640459" y="9651"/>
                </a:lnTo>
                <a:lnTo>
                  <a:pt x="1648333" y="8000"/>
                </a:lnTo>
                <a:lnTo>
                  <a:pt x="1689842" y="307"/>
                </a:lnTo>
                <a:lnTo>
                  <a:pt x="1699387" y="0"/>
                </a:lnTo>
                <a:lnTo>
                  <a:pt x="1708985" y="0"/>
                </a:lnTo>
                <a:lnTo>
                  <a:pt x="1718548" y="0"/>
                </a:lnTo>
                <a:lnTo>
                  <a:pt x="1791497" y="0"/>
                </a:lnTo>
                <a:lnTo>
                  <a:pt x="1804669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492501" y="5802884"/>
            <a:ext cx="296545" cy="335280"/>
          </a:xfrm>
          <a:custGeom>
            <a:avLst/>
            <a:gdLst/>
            <a:ahLst/>
            <a:cxnLst/>
            <a:rect l="l" t="t" r="r" b="b"/>
            <a:pathLst>
              <a:path w="296544" h="335279">
                <a:moveTo>
                  <a:pt x="258191" y="334772"/>
                </a:moveTo>
                <a:lnTo>
                  <a:pt x="258191" y="334772"/>
                </a:lnTo>
                <a:lnTo>
                  <a:pt x="153035" y="334772"/>
                </a:lnTo>
                <a:lnTo>
                  <a:pt x="143724" y="334176"/>
                </a:lnTo>
                <a:lnTo>
                  <a:pt x="135032" y="332390"/>
                </a:lnTo>
                <a:lnTo>
                  <a:pt x="126960" y="329414"/>
                </a:lnTo>
                <a:lnTo>
                  <a:pt x="119506" y="325247"/>
                </a:lnTo>
                <a:lnTo>
                  <a:pt x="112343" y="320411"/>
                </a:lnTo>
                <a:lnTo>
                  <a:pt x="105156" y="315610"/>
                </a:lnTo>
                <a:lnTo>
                  <a:pt x="71999" y="289050"/>
                </a:lnTo>
                <a:lnTo>
                  <a:pt x="52534" y="255226"/>
                </a:lnTo>
                <a:lnTo>
                  <a:pt x="47752" y="243840"/>
                </a:lnTo>
                <a:lnTo>
                  <a:pt x="42681" y="231913"/>
                </a:lnTo>
                <a:lnTo>
                  <a:pt x="37004" y="219964"/>
                </a:lnTo>
                <a:lnTo>
                  <a:pt x="30732" y="208014"/>
                </a:lnTo>
                <a:lnTo>
                  <a:pt x="23875" y="196088"/>
                </a:lnTo>
                <a:lnTo>
                  <a:pt x="17307" y="183800"/>
                </a:lnTo>
                <a:lnTo>
                  <a:pt x="4699" y="143510"/>
                </a:lnTo>
                <a:lnTo>
                  <a:pt x="287" y="103094"/>
                </a:lnTo>
                <a:lnTo>
                  <a:pt x="0" y="90805"/>
                </a:lnTo>
                <a:lnTo>
                  <a:pt x="0" y="80069"/>
                </a:lnTo>
                <a:lnTo>
                  <a:pt x="0" y="71691"/>
                </a:lnTo>
                <a:lnTo>
                  <a:pt x="0" y="47752"/>
                </a:lnTo>
                <a:lnTo>
                  <a:pt x="1190" y="42989"/>
                </a:lnTo>
                <a:lnTo>
                  <a:pt x="4762" y="38227"/>
                </a:lnTo>
                <a:lnTo>
                  <a:pt x="10715" y="33464"/>
                </a:lnTo>
                <a:lnTo>
                  <a:pt x="19050" y="28702"/>
                </a:lnTo>
                <a:lnTo>
                  <a:pt x="28053" y="24227"/>
                </a:lnTo>
                <a:lnTo>
                  <a:pt x="35829" y="20335"/>
                </a:lnTo>
                <a:lnTo>
                  <a:pt x="76454" y="9525"/>
                </a:lnTo>
                <a:lnTo>
                  <a:pt x="85746" y="9235"/>
                </a:lnTo>
                <a:lnTo>
                  <a:pt x="94408" y="8350"/>
                </a:lnTo>
                <a:lnTo>
                  <a:pt x="102475" y="6846"/>
                </a:lnTo>
                <a:lnTo>
                  <a:pt x="109981" y="4699"/>
                </a:lnTo>
                <a:lnTo>
                  <a:pt x="119506" y="1524"/>
                </a:lnTo>
                <a:lnTo>
                  <a:pt x="125856" y="0"/>
                </a:lnTo>
                <a:lnTo>
                  <a:pt x="188087" y="0"/>
                </a:lnTo>
                <a:lnTo>
                  <a:pt x="194437" y="3175"/>
                </a:lnTo>
                <a:lnTo>
                  <a:pt x="200787" y="9525"/>
                </a:lnTo>
                <a:lnTo>
                  <a:pt x="207264" y="15875"/>
                </a:lnTo>
                <a:lnTo>
                  <a:pt x="211962" y="20701"/>
                </a:lnTo>
                <a:lnTo>
                  <a:pt x="229489" y="47752"/>
                </a:lnTo>
                <a:lnTo>
                  <a:pt x="234561" y="56755"/>
                </a:lnTo>
                <a:lnTo>
                  <a:pt x="240252" y="64531"/>
                </a:lnTo>
                <a:lnTo>
                  <a:pt x="246562" y="71094"/>
                </a:lnTo>
                <a:lnTo>
                  <a:pt x="253492" y="76454"/>
                </a:lnTo>
                <a:lnTo>
                  <a:pt x="259752" y="81885"/>
                </a:lnTo>
                <a:lnTo>
                  <a:pt x="264239" y="88471"/>
                </a:lnTo>
                <a:lnTo>
                  <a:pt x="266940" y="96224"/>
                </a:lnTo>
                <a:lnTo>
                  <a:pt x="267843" y="105156"/>
                </a:lnTo>
                <a:lnTo>
                  <a:pt x="268130" y="114466"/>
                </a:lnTo>
                <a:lnTo>
                  <a:pt x="269001" y="123158"/>
                </a:lnTo>
                <a:lnTo>
                  <a:pt x="270468" y="131230"/>
                </a:lnTo>
                <a:lnTo>
                  <a:pt x="272542" y="138684"/>
                </a:lnTo>
                <a:lnTo>
                  <a:pt x="274923" y="146135"/>
                </a:lnTo>
                <a:lnTo>
                  <a:pt x="277304" y="154193"/>
                </a:lnTo>
                <a:lnTo>
                  <a:pt x="279685" y="162847"/>
                </a:lnTo>
                <a:lnTo>
                  <a:pt x="282067" y="172085"/>
                </a:lnTo>
                <a:lnTo>
                  <a:pt x="284521" y="181395"/>
                </a:lnTo>
                <a:lnTo>
                  <a:pt x="286940" y="190087"/>
                </a:lnTo>
                <a:lnTo>
                  <a:pt x="289335" y="198159"/>
                </a:lnTo>
                <a:lnTo>
                  <a:pt x="291719" y="205613"/>
                </a:lnTo>
                <a:lnTo>
                  <a:pt x="293792" y="212776"/>
                </a:lnTo>
                <a:lnTo>
                  <a:pt x="295259" y="219964"/>
                </a:lnTo>
                <a:lnTo>
                  <a:pt x="296130" y="227151"/>
                </a:lnTo>
                <a:lnTo>
                  <a:pt x="296418" y="234315"/>
                </a:lnTo>
                <a:lnTo>
                  <a:pt x="296418" y="243840"/>
                </a:lnTo>
                <a:lnTo>
                  <a:pt x="296418" y="250317"/>
                </a:lnTo>
                <a:lnTo>
                  <a:pt x="296418" y="282194"/>
                </a:lnTo>
                <a:lnTo>
                  <a:pt x="294894" y="286893"/>
                </a:lnTo>
                <a:lnTo>
                  <a:pt x="274193" y="286893"/>
                </a:lnTo>
                <a:lnTo>
                  <a:pt x="267843" y="286893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147184" y="6099428"/>
            <a:ext cx="727075" cy="29209"/>
          </a:xfrm>
          <a:custGeom>
            <a:avLst/>
            <a:gdLst/>
            <a:ahLst/>
            <a:cxnLst/>
            <a:rect l="l" t="t" r="r" b="b"/>
            <a:pathLst>
              <a:path w="727075" h="29210">
                <a:moveTo>
                  <a:pt x="0" y="28702"/>
                </a:moveTo>
                <a:lnTo>
                  <a:pt x="0" y="28702"/>
                </a:lnTo>
                <a:lnTo>
                  <a:pt x="177037" y="28702"/>
                </a:lnTo>
                <a:lnTo>
                  <a:pt x="194323" y="28394"/>
                </a:lnTo>
                <a:lnTo>
                  <a:pt x="212836" y="27479"/>
                </a:lnTo>
                <a:lnTo>
                  <a:pt x="232562" y="25969"/>
                </a:lnTo>
                <a:lnTo>
                  <a:pt x="253491" y="23876"/>
                </a:lnTo>
                <a:lnTo>
                  <a:pt x="273230" y="21782"/>
                </a:lnTo>
                <a:lnTo>
                  <a:pt x="289385" y="20272"/>
                </a:lnTo>
                <a:lnTo>
                  <a:pt x="301944" y="19357"/>
                </a:lnTo>
                <a:lnTo>
                  <a:pt x="310895" y="19050"/>
                </a:lnTo>
                <a:lnTo>
                  <a:pt x="318654" y="19050"/>
                </a:lnTo>
                <a:lnTo>
                  <a:pt x="327628" y="19050"/>
                </a:lnTo>
                <a:lnTo>
                  <a:pt x="337792" y="19050"/>
                </a:lnTo>
                <a:lnTo>
                  <a:pt x="349123" y="19050"/>
                </a:lnTo>
                <a:lnTo>
                  <a:pt x="361122" y="18762"/>
                </a:lnTo>
                <a:lnTo>
                  <a:pt x="373110" y="17891"/>
                </a:lnTo>
                <a:lnTo>
                  <a:pt x="385073" y="16424"/>
                </a:lnTo>
                <a:lnTo>
                  <a:pt x="397001" y="14351"/>
                </a:lnTo>
                <a:lnTo>
                  <a:pt x="409289" y="12203"/>
                </a:lnTo>
                <a:lnTo>
                  <a:pt x="422147" y="10699"/>
                </a:lnTo>
                <a:lnTo>
                  <a:pt x="435578" y="9814"/>
                </a:lnTo>
                <a:lnTo>
                  <a:pt x="449579" y="9525"/>
                </a:lnTo>
                <a:lnTo>
                  <a:pt x="464845" y="9525"/>
                </a:lnTo>
                <a:lnTo>
                  <a:pt x="481885" y="9525"/>
                </a:lnTo>
                <a:lnTo>
                  <a:pt x="500711" y="9525"/>
                </a:lnTo>
                <a:lnTo>
                  <a:pt x="521335" y="9525"/>
                </a:lnTo>
                <a:lnTo>
                  <a:pt x="542553" y="9217"/>
                </a:lnTo>
                <a:lnTo>
                  <a:pt x="563165" y="8302"/>
                </a:lnTo>
                <a:lnTo>
                  <a:pt x="583182" y="6792"/>
                </a:lnTo>
                <a:lnTo>
                  <a:pt x="602614" y="4699"/>
                </a:lnTo>
                <a:lnTo>
                  <a:pt x="620567" y="2625"/>
                </a:lnTo>
                <a:lnTo>
                  <a:pt x="636127" y="1158"/>
                </a:lnTo>
                <a:lnTo>
                  <a:pt x="649281" y="287"/>
                </a:lnTo>
                <a:lnTo>
                  <a:pt x="660018" y="0"/>
                </a:lnTo>
                <a:lnTo>
                  <a:pt x="669617" y="0"/>
                </a:lnTo>
                <a:lnTo>
                  <a:pt x="679180" y="0"/>
                </a:lnTo>
                <a:lnTo>
                  <a:pt x="721588" y="0"/>
                </a:lnTo>
                <a:lnTo>
                  <a:pt x="72694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486400" y="6147180"/>
            <a:ext cx="660400" cy="19685"/>
          </a:xfrm>
          <a:custGeom>
            <a:avLst/>
            <a:gdLst/>
            <a:ahLst/>
            <a:cxnLst/>
            <a:rect l="l" t="t" r="r" b="b"/>
            <a:pathLst>
              <a:path w="660400" h="19685">
                <a:moveTo>
                  <a:pt x="0" y="9525"/>
                </a:moveTo>
                <a:lnTo>
                  <a:pt x="0" y="3175"/>
                </a:lnTo>
                <a:lnTo>
                  <a:pt x="4699" y="0"/>
                </a:lnTo>
                <a:lnTo>
                  <a:pt x="14350" y="0"/>
                </a:lnTo>
                <a:lnTo>
                  <a:pt x="21802" y="0"/>
                </a:lnTo>
                <a:lnTo>
                  <a:pt x="610488" y="0"/>
                </a:lnTo>
                <a:lnTo>
                  <a:pt x="615314" y="1651"/>
                </a:lnTo>
                <a:lnTo>
                  <a:pt x="621664" y="4826"/>
                </a:lnTo>
                <a:lnTo>
                  <a:pt x="628014" y="8001"/>
                </a:lnTo>
                <a:lnTo>
                  <a:pt x="632840" y="11176"/>
                </a:lnTo>
                <a:lnTo>
                  <a:pt x="636015" y="14351"/>
                </a:lnTo>
                <a:lnTo>
                  <a:pt x="639190" y="17526"/>
                </a:lnTo>
                <a:lnTo>
                  <a:pt x="642365" y="19177"/>
                </a:lnTo>
                <a:lnTo>
                  <a:pt x="645667" y="19177"/>
                </a:lnTo>
                <a:lnTo>
                  <a:pt x="648842" y="19177"/>
                </a:lnTo>
                <a:lnTo>
                  <a:pt x="653541" y="19177"/>
                </a:lnTo>
                <a:lnTo>
                  <a:pt x="660019" y="19177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935086" y="6137655"/>
            <a:ext cx="1525905" cy="9525"/>
          </a:xfrm>
          <a:custGeom>
            <a:avLst/>
            <a:gdLst/>
            <a:ahLst/>
            <a:cxnLst/>
            <a:rect l="l" t="t" r="r" b="b"/>
            <a:pathLst>
              <a:path w="1525904" h="9525">
                <a:moveTo>
                  <a:pt x="0" y="9525"/>
                </a:moveTo>
                <a:lnTo>
                  <a:pt x="0" y="9525"/>
                </a:lnTo>
                <a:lnTo>
                  <a:pt x="143383" y="9525"/>
                </a:lnTo>
                <a:lnTo>
                  <a:pt x="154789" y="9237"/>
                </a:lnTo>
                <a:lnTo>
                  <a:pt x="169767" y="8366"/>
                </a:lnTo>
                <a:lnTo>
                  <a:pt x="188317" y="6899"/>
                </a:lnTo>
                <a:lnTo>
                  <a:pt x="210439" y="4826"/>
                </a:lnTo>
                <a:lnTo>
                  <a:pt x="234942" y="2678"/>
                </a:lnTo>
                <a:lnTo>
                  <a:pt x="260635" y="1174"/>
                </a:lnTo>
                <a:lnTo>
                  <a:pt x="287520" y="289"/>
                </a:lnTo>
                <a:lnTo>
                  <a:pt x="315595" y="0"/>
                </a:lnTo>
                <a:lnTo>
                  <a:pt x="342479" y="0"/>
                </a:lnTo>
                <a:lnTo>
                  <a:pt x="365791" y="0"/>
                </a:lnTo>
                <a:lnTo>
                  <a:pt x="1525651" y="0"/>
                </a:lnTo>
                <a:lnTo>
                  <a:pt x="1525651" y="0"/>
                </a:lnTo>
                <a:lnTo>
                  <a:pt x="148259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028060" y="6434201"/>
            <a:ext cx="1014094" cy="19050"/>
          </a:xfrm>
          <a:custGeom>
            <a:avLst/>
            <a:gdLst/>
            <a:ahLst/>
            <a:cxnLst/>
            <a:rect l="l" t="t" r="r" b="b"/>
            <a:pathLst>
              <a:path w="1014095" h="19050">
                <a:moveTo>
                  <a:pt x="0" y="19050"/>
                </a:moveTo>
                <a:lnTo>
                  <a:pt x="0" y="19050"/>
                </a:lnTo>
                <a:lnTo>
                  <a:pt x="916686" y="19050"/>
                </a:lnTo>
                <a:lnTo>
                  <a:pt x="921512" y="17526"/>
                </a:lnTo>
                <a:lnTo>
                  <a:pt x="927862" y="14351"/>
                </a:lnTo>
                <a:lnTo>
                  <a:pt x="934212" y="11176"/>
                </a:lnTo>
                <a:lnTo>
                  <a:pt x="940562" y="9525"/>
                </a:lnTo>
                <a:lnTo>
                  <a:pt x="947038" y="9525"/>
                </a:lnTo>
                <a:lnTo>
                  <a:pt x="953388" y="9525"/>
                </a:lnTo>
                <a:lnTo>
                  <a:pt x="959738" y="7874"/>
                </a:lnTo>
                <a:lnTo>
                  <a:pt x="966088" y="4699"/>
                </a:lnTo>
                <a:lnTo>
                  <a:pt x="972565" y="1524"/>
                </a:lnTo>
                <a:lnTo>
                  <a:pt x="978915" y="0"/>
                </a:lnTo>
                <a:lnTo>
                  <a:pt x="985265" y="0"/>
                </a:lnTo>
                <a:lnTo>
                  <a:pt x="991615" y="0"/>
                </a:lnTo>
                <a:lnTo>
                  <a:pt x="996441" y="0"/>
                </a:lnTo>
                <a:lnTo>
                  <a:pt x="999616" y="0"/>
                </a:lnTo>
                <a:lnTo>
                  <a:pt x="1002791" y="0"/>
                </a:lnTo>
                <a:lnTo>
                  <a:pt x="1007617" y="0"/>
                </a:lnTo>
                <a:lnTo>
                  <a:pt x="1013967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2)</a:t>
            </a:r>
            <a:r>
              <a:rPr dirty="0" spc="300"/>
              <a:t> </a:t>
            </a:r>
            <a:r>
              <a:rPr dirty="0"/>
              <a:t>보험시장의</a:t>
            </a:r>
            <a:r>
              <a:rPr dirty="0" spc="300"/>
              <a:t> </a:t>
            </a:r>
            <a:r>
              <a:rPr dirty="0"/>
              <a:t>성립</a:t>
            </a:r>
            <a:r>
              <a:rPr dirty="0" spc="300"/>
              <a:t> </a:t>
            </a:r>
            <a:r>
              <a:rPr dirty="0" spc="-25"/>
              <a:t>요건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66636" y="1919294"/>
            <a:ext cx="8549005" cy="83883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000" b="1">
                <a:latin typeface="Malgun Gothic"/>
                <a:cs typeface="Malgun Gothic"/>
              </a:rPr>
              <a:t>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위험발생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확률의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독립성</a:t>
            </a:r>
            <a:endParaRPr sz="2000">
              <a:latin typeface="Malgun Gothic"/>
              <a:cs typeface="Malgun Gothic"/>
            </a:endParaRPr>
          </a:p>
          <a:p>
            <a:pPr marL="138430">
              <a:lnSpc>
                <a:spcPct val="100000"/>
              </a:lnSpc>
              <a:spcBef>
                <a:spcPts val="800"/>
              </a:spcBef>
              <a:tabLst>
                <a:tab pos="448945" algn="l"/>
                <a:tab pos="1360805" algn="l"/>
                <a:tab pos="2273300" algn="l"/>
                <a:tab pos="3185160" algn="l"/>
                <a:tab pos="3842385" algn="l"/>
                <a:tab pos="4501515" algn="l"/>
                <a:tab pos="5413375" algn="l"/>
                <a:tab pos="7722870" algn="l"/>
              </a:tabLst>
            </a:pPr>
            <a:r>
              <a:rPr dirty="0" sz="2000" spc="370" b="1">
                <a:latin typeface="Malgun Gothic"/>
                <a:cs typeface="Malgun Gothic"/>
              </a:rPr>
              <a:t>-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보험의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기능은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개별적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위험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또는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색다른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위험(idiosyncratic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risk)에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26382" y="2731146"/>
            <a:ext cx="6758940" cy="1245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100"/>
              </a:spcBef>
              <a:tabLst>
                <a:tab pos="1183005" algn="l"/>
                <a:tab pos="2101215" algn="l"/>
                <a:tab pos="2512060" algn="l"/>
                <a:tab pos="3503295" algn="l"/>
                <a:tab pos="4420870" algn="l"/>
                <a:tab pos="6188710" algn="l"/>
              </a:tabLst>
            </a:pPr>
            <a:r>
              <a:rPr dirty="0" sz="2000" spc="-20" b="1">
                <a:latin typeface="Malgun Gothic"/>
                <a:cs typeface="Malgun Gothic"/>
              </a:rPr>
              <a:t>대해서는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작동할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50" b="1">
                <a:latin typeface="Malgun Gothic"/>
                <a:cs typeface="Malgun Gothic"/>
              </a:rPr>
              <a:t>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있지만,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공동의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위험(common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40" b="1">
                <a:latin typeface="Malgun Gothic"/>
                <a:cs typeface="Malgun Gothic"/>
              </a:rPr>
              <a:t>risk) </a:t>
            </a:r>
            <a:r>
              <a:rPr dirty="0" sz="2000" b="1">
                <a:latin typeface="Malgun Gothic"/>
                <a:cs typeface="Malgun Gothic"/>
              </a:rPr>
              <a:t>적</a:t>
            </a:r>
            <a:r>
              <a:rPr dirty="0" sz="2000" spc="33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위험(systemic)에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대해서는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제대로</a:t>
            </a:r>
            <a:r>
              <a:rPr dirty="0" sz="2000" spc="33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기능할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없다.</a:t>
            </a:r>
            <a:endParaRPr sz="2000">
              <a:latin typeface="Malgun Gothic"/>
              <a:cs typeface="Malgun Gothic"/>
            </a:endParaRPr>
          </a:p>
          <a:p>
            <a:pPr marL="59690">
              <a:lnSpc>
                <a:spcPct val="100000"/>
              </a:lnSpc>
              <a:spcBef>
                <a:spcPts val="800"/>
              </a:spcBef>
            </a:pPr>
            <a:r>
              <a:rPr dirty="0" sz="2000" spc="70">
                <a:latin typeface="Cambria"/>
                <a:cs typeface="Cambria"/>
              </a:rPr>
              <a:t>▸</a:t>
            </a:r>
            <a:r>
              <a:rPr dirty="0" sz="2000" spc="70" b="1">
                <a:latin typeface="Malgun Gothic"/>
                <a:cs typeface="Malgun Gothic"/>
              </a:rPr>
              <a:t>전염병,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실업,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인플레이션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416476" y="2832589"/>
            <a:ext cx="11976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7545" algn="l"/>
              </a:tabLst>
            </a:pPr>
            <a:r>
              <a:rPr dirty="0" sz="2000" spc="-25" b="1">
                <a:latin typeface="Malgun Gothic"/>
                <a:cs typeface="Malgun Gothic"/>
              </a:rPr>
              <a:t>또는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구조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53936" y="4356374"/>
            <a:ext cx="7677784" cy="1653539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0"/>
              </a:spcBef>
            </a:pPr>
            <a:r>
              <a:rPr dirty="0" sz="2000" b="1">
                <a:latin typeface="Malgun Gothic"/>
                <a:cs typeface="Malgun Gothic"/>
              </a:rPr>
              <a:t>②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발생확률이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1보다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작을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0" b="1">
                <a:latin typeface="Malgun Gothic"/>
                <a:cs typeface="Malgun Gothic"/>
              </a:rPr>
              <a:t>것</a:t>
            </a:r>
            <a:endParaRPr sz="2000">
              <a:latin typeface="Malgun Gothic"/>
              <a:cs typeface="Malgun Gothic"/>
            </a:endParaRPr>
          </a:p>
          <a:p>
            <a:pPr marL="151130">
              <a:lnSpc>
                <a:spcPct val="100000"/>
              </a:lnSpc>
              <a:spcBef>
                <a:spcPts val="800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발생확률이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1보다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만성질병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3185">
                <a:latin typeface="Cambria"/>
                <a:cs typeface="Cambria"/>
              </a:rPr>
              <a:t>⟹</a:t>
            </a:r>
            <a:r>
              <a:rPr dirty="0" sz="2000" spc="540">
                <a:latin typeface="Cambria"/>
                <a:cs typeface="Cambria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보험적용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695" b="1">
                <a:latin typeface="Malgun Gothic"/>
                <a:cs typeface="Malgun Gothic"/>
              </a:rPr>
              <a:t>제</a:t>
            </a:r>
            <a:r>
              <a:rPr dirty="0" sz="2000" spc="-1695" b="1">
                <a:latin typeface="Malgun Gothic"/>
                <a:cs typeface="Malgun Gothic"/>
              </a:rPr>
              <a:t>외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000">
              <a:latin typeface="Malgun Gothic"/>
              <a:cs typeface="Malgun Gothic"/>
            </a:endParaRPr>
          </a:p>
          <a:p>
            <a:pPr marL="3217545">
              <a:lnSpc>
                <a:spcPct val="100000"/>
              </a:lnSpc>
              <a:spcBef>
                <a:spcPts val="5"/>
              </a:spcBef>
            </a:pPr>
            <a:r>
              <a:rPr dirty="0" sz="2000" spc="125">
                <a:latin typeface="Microsoft Sans Serif"/>
                <a:cs typeface="Microsoft Sans Serif"/>
              </a:rPr>
              <a:t>v</a:t>
            </a:r>
            <a:r>
              <a:rPr dirty="0" baseline="-22633" sz="2025" spc="187">
                <a:latin typeface="Microsoft Sans Serif"/>
                <a:cs typeface="Microsoft Sans Serif"/>
              </a:rPr>
              <a:t>i</a:t>
            </a:r>
            <a:r>
              <a:rPr dirty="0" baseline="-22633" sz="2025" spc="345">
                <a:latin typeface="Microsoft Sans Serif"/>
                <a:cs typeface="Microsoft Sans Serif"/>
              </a:rPr>
              <a:t> </a:t>
            </a:r>
            <a:r>
              <a:rPr dirty="0" baseline="2777" sz="3000" spc="-719">
                <a:latin typeface="Microsoft Sans Serif"/>
                <a:cs typeface="Microsoft Sans Serif"/>
              </a:rPr>
              <a:t></a:t>
            </a:r>
            <a:r>
              <a:rPr dirty="0" baseline="2777" sz="3000" spc="-217">
                <a:latin typeface="Microsoft Sans Serif"/>
                <a:cs typeface="Microsoft Sans Serif"/>
              </a:rPr>
              <a:t> </a:t>
            </a:r>
            <a:r>
              <a:rPr dirty="0" baseline="2777" sz="3000" spc="352">
                <a:latin typeface="Microsoft Sans Serif"/>
                <a:cs typeface="Microsoft Sans Serif"/>
              </a:rPr>
              <a:t>(</a:t>
            </a:r>
            <a:r>
              <a:rPr dirty="0" sz="2000" spc="235">
                <a:latin typeface="Microsoft Sans Serif"/>
                <a:cs typeface="Microsoft Sans Serif"/>
              </a:rPr>
              <a:t>l</a:t>
            </a:r>
            <a:r>
              <a:rPr dirty="0" baseline="2777" sz="3000" spc="352">
                <a:latin typeface="Microsoft Sans Serif"/>
                <a:cs typeface="Microsoft Sans Serif"/>
              </a:rPr>
              <a:t>+</a:t>
            </a:r>
            <a:r>
              <a:rPr dirty="0" sz="2000" spc="235">
                <a:latin typeface="Microsoft Sans Serif"/>
                <a:cs typeface="Microsoft Sans Serif"/>
              </a:rPr>
              <a:t>α</a:t>
            </a:r>
            <a:r>
              <a:rPr dirty="0" baseline="2777" sz="3000" spc="352">
                <a:latin typeface="Microsoft Sans Serif"/>
                <a:cs typeface="Microsoft Sans Serif"/>
              </a:rPr>
              <a:t>)</a:t>
            </a:r>
            <a:r>
              <a:rPr dirty="0" sz="2000" spc="235">
                <a:latin typeface="Microsoft Sans Serif"/>
                <a:cs typeface="Microsoft Sans Serif"/>
              </a:rPr>
              <a:t>p</a:t>
            </a:r>
            <a:r>
              <a:rPr dirty="0" baseline="-22633" sz="2025" spc="352">
                <a:latin typeface="Microsoft Sans Serif"/>
                <a:cs typeface="Microsoft Sans Serif"/>
              </a:rPr>
              <a:t>i</a:t>
            </a:r>
            <a:r>
              <a:rPr dirty="0" sz="2100" spc="235" i="1">
                <a:latin typeface="Times New Roman"/>
                <a:cs typeface="Times New Roman"/>
              </a:rPr>
              <a:t>L</a:t>
            </a:r>
            <a:r>
              <a:rPr dirty="0" sz="2100" spc="100" i="1">
                <a:latin typeface="Times New Roman"/>
                <a:cs typeface="Times New Roman"/>
              </a:rPr>
              <a:t> </a:t>
            </a:r>
            <a:r>
              <a:rPr dirty="0" baseline="2777" sz="3000" spc="-509">
                <a:latin typeface="Microsoft Sans Serif"/>
                <a:cs typeface="Microsoft Sans Serif"/>
              </a:rPr>
              <a:t></a:t>
            </a:r>
            <a:r>
              <a:rPr dirty="0" baseline="2777" sz="3000" spc="195">
                <a:latin typeface="Microsoft Sans Serif"/>
                <a:cs typeface="Microsoft Sans Serif"/>
              </a:rPr>
              <a:t> </a:t>
            </a:r>
            <a:r>
              <a:rPr dirty="0" sz="2100" spc="15" i="1">
                <a:latin typeface="Times New Roman"/>
                <a:cs typeface="Times New Roman"/>
              </a:rPr>
              <a:t>L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517141" y="2340229"/>
            <a:ext cx="2764790" cy="57785"/>
          </a:xfrm>
          <a:custGeom>
            <a:avLst/>
            <a:gdLst/>
            <a:ahLst/>
            <a:cxnLst/>
            <a:rect l="l" t="t" r="r" b="b"/>
            <a:pathLst>
              <a:path w="2764790" h="57785">
                <a:moveTo>
                  <a:pt x="0" y="57404"/>
                </a:moveTo>
                <a:lnTo>
                  <a:pt x="6350" y="57404"/>
                </a:lnTo>
                <a:lnTo>
                  <a:pt x="11176" y="55880"/>
                </a:lnTo>
                <a:lnTo>
                  <a:pt x="14351" y="52578"/>
                </a:lnTo>
                <a:lnTo>
                  <a:pt x="18232" y="50504"/>
                </a:lnTo>
                <a:lnTo>
                  <a:pt x="25114" y="49037"/>
                </a:lnTo>
                <a:lnTo>
                  <a:pt x="34996" y="48166"/>
                </a:lnTo>
                <a:lnTo>
                  <a:pt x="47879" y="47879"/>
                </a:lnTo>
                <a:lnTo>
                  <a:pt x="62783" y="47879"/>
                </a:lnTo>
                <a:lnTo>
                  <a:pt x="78914" y="47879"/>
                </a:lnTo>
                <a:lnTo>
                  <a:pt x="96260" y="47879"/>
                </a:lnTo>
                <a:lnTo>
                  <a:pt x="114808" y="47879"/>
                </a:lnTo>
                <a:lnTo>
                  <a:pt x="136028" y="47571"/>
                </a:lnTo>
                <a:lnTo>
                  <a:pt x="190996" y="45146"/>
                </a:lnTo>
                <a:lnTo>
                  <a:pt x="259433" y="40671"/>
                </a:lnTo>
                <a:lnTo>
                  <a:pt x="321623" y="35909"/>
                </a:lnTo>
                <a:lnTo>
                  <a:pt x="375124" y="30839"/>
                </a:lnTo>
                <a:lnTo>
                  <a:pt x="425364" y="23651"/>
                </a:lnTo>
                <a:lnTo>
                  <a:pt x="449580" y="19176"/>
                </a:lnTo>
                <a:lnTo>
                  <a:pt x="472584" y="15009"/>
                </a:lnTo>
                <a:lnTo>
                  <a:pt x="493791" y="12033"/>
                </a:lnTo>
                <a:lnTo>
                  <a:pt x="513212" y="10247"/>
                </a:lnTo>
                <a:lnTo>
                  <a:pt x="530860" y="9651"/>
                </a:lnTo>
                <a:lnTo>
                  <a:pt x="547622" y="9651"/>
                </a:lnTo>
                <a:lnTo>
                  <a:pt x="564372" y="9651"/>
                </a:lnTo>
                <a:lnTo>
                  <a:pt x="1152652" y="9651"/>
                </a:lnTo>
                <a:lnTo>
                  <a:pt x="1165175" y="9344"/>
                </a:lnTo>
                <a:lnTo>
                  <a:pt x="1178925" y="8429"/>
                </a:lnTo>
                <a:lnTo>
                  <a:pt x="1193889" y="6919"/>
                </a:lnTo>
                <a:lnTo>
                  <a:pt x="1210056" y="4825"/>
                </a:lnTo>
                <a:lnTo>
                  <a:pt x="1226439" y="2732"/>
                </a:lnTo>
                <a:lnTo>
                  <a:pt x="1242250" y="1222"/>
                </a:lnTo>
                <a:lnTo>
                  <a:pt x="1257490" y="307"/>
                </a:lnTo>
                <a:lnTo>
                  <a:pt x="1272159" y="0"/>
                </a:lnTo>
                <a:lnTo>
                  <a:pt x="1286521" y="0"/>
                </a:lnTo>
                <a:lnTo>
                  <a:pt x="1300861" y="0"/>
                </a:lnTo>
                <a:lnTo>
                  <a:pt x="1410843" y="0"/>
                </a:lnTo>
                <a:lnTo>
                  <a:pt x="1418844" y="1650"/>
                </a:lnTo>
                <a:lnTo>
                  <a:pt x="1425194" y="4825"/>
                </a:lnTo>
                <a:lnTo>
                  <a:pt x="1431544" y="8000"/>
                </a:lnTo>
                <a:lnTo>
                  <a:pt x="1439545" y="9651"/>
                </a:lnTo>
                <a:lnTo>
                  <a:pt x="1449070" y="9651"/>
                </a:lnTo>
                <a:lnTo>
                  <a:pt x="1458722" y="9651"/>
                </a:lnTo>
                <a:lnTo>
                  <a:pt x="1466596" y="11175"/>
                </a:lnTo>
                <a:lnTo>
                  <a:pt x="1473073" y="14350"/>
                </a:lnTo>
                <a:lnTo>
                  <a:pt x="1479423" y="17525"/>
                </a:lnTo>
                <a:lnTo>
                  <a:pt x="1487424" y="19176"/>
                </a:lnTo>
                <a:lnTo>
                  <a:pt x="2410460" y="19176"/>
                </a:lnTo>
                <a:lnTo>
                  <a:pt x="2419697" y="18869"/>
                </a:lnTo>
                <a:lnTo>
                  <a:pt x="2428351" y="17954"/>
                </a:lnTo>
                <a:lnTo>
                  <a:pt x="2436409" y="16444"/>
                </a:lnTo>
                <a:lnTo>
                  <a:pt x="2443861" y="14350"/>
                </a:lnTo>
                <a:lnTo>
                  <a:pt x="2453513" y="11175"/>
                </a:lnTo>
                <a:lnTo>
                  <a:pt x="2461387" y="9651"/>
                </a:lnTo>
                <a:lnTo>
                  <a:pt x="2694178" y="9651"/>
                </a:lnTo>
                <a:lnTo>
                  <a:pt x="2700528" y="8000"/>
                </a:lnTo>
                <a:lnTo>
                  <a:pt x="2707005" y="4825"/>
                </a:lnTo>
                <a:lnTo>
                  <a:pt x="2713355" y="1650"/>
                </a:lnTo>
                <a:lnTo>
                  <a:pt x="2719705" y="0"/>
                </a:lnTo>
                <a:lnTo>
                  <a:pt x="2757932" y="0"/>
                </a:lnTo>
                <a:lnTo>
                  <a:pt x="276428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209285" y="3086354"/>
            <a:ext cx="2716530" cy="67310"/>
          </a:xfrm>
          <a:custGeom>
            <a:avLst/>
            <a:gdLst/>
            <a:ahLst/>
            <a:cxnLst/>
            <a:rect l="l" t="t" r="r" b="b"/>
            <a:pathLst>
              <a:path w="2716529" h="67310">
                <a:moveTo>
                  <a:pt x="0" y="66929"/>
                </a:moveTo>
                <a:lnTo>
                  <a:pt x="0" y="66929"/>
                </a:lnTo>
                <a:lnTo>
                  <a:pt x="248665" y="66929"/>
                </a:lnTo>
                <a:lnTo>
                  <a:pt x="269599" y="66333"/>
                </a:lnTo>
                <a:lnTo>
                  <a:pt x="294116" y="64547"/>
                </a:lnTo>
                <a:lnTo>
                  <a:pt x="322228" y="61571"/>
                </a:lnTo>
                <a:lnTo>
                  <a:pt x="353949" y="57404"/>
                </a:lnTo>
                <a:lnTo>
                  <a:pt x="387998" y="52621"/>
                </a:lnTo>
                <a:lnTo>
                  <a:pt x="423275" y="47815"/>
                </a:lnTo>
                <a:lnTo>
                  <a:pt x="497459" y="38226"/>
                </a:lnTo>
                <a:lnTo>
                  <a:pt x="536271" y="33464"/>
                </a:lnTo>
                <a:lnTo>
                  <a:pt x="576310" y="28701"/>
                </a:lnTo>
                <a:lnTo>
                  <a:pt x="617563" y="23939"/>
                </a:lnTo>
                <a:lnTo>
                  <a:pt x="660018" y="19176"/>
                </a:lnTo>
                <a:lnTo>
                  <a:pt x="702169" y="14648"/>
                </a:lnTo>
                <a:lnTo>
                  <a:pt x="742521" y="10763"/>
                </a:lnTo>
                <a:lnTo>
                  <a:pt x="781087" y="7496"/>
                </a:lnTo>
                <a:lnTo>
                  <a:pt x="853713" y="2678"/>
                </a:lnTo>
                <a:lnTo>
                  <a:pt x="925429" y="289"/>
                </a:lnTo>
                <a:lnTo>
                  <a:pt x="961263" y="0"/>
                </a:lnTo>
                <a:lnTo>
                  <a:pt x="995961" y="0"/>
                </a:lnTo>
                <a:lnTo>
                  <a:pt x="1028255" y="0"/>
                </a:lnTo>
                <a:lnTo>
                  <a:pt x="1740915" y="0"/>
                </a:lnTo>
                <a:lnTo>
                  <a:pt x="1764516" y="289"/>
                </a:lnTo>
                <a:lnTo>
                  <a:pt x="1787509" y="1174"/>
                </a:lnTo>
                <a:lnTo>
                  <a:pt x="1809906" y="2678"/>
                </a:lnTo>
                <a:lnTo>
                  <a:pt x="1831720" y="4825"/>
                </a:lnTo>
                <a:lnTo>
                  <a:pt x="1852344" y="6899"/>
                </a:lnTo>
                <a:lnTo>
                  <a:pt x="1871170" y="8366"/>
                </a:lnTo>
                <a:lnTo>
                  <a:pt x="1888210" y="9237"/>
                </a:lnTo>
                <a:lnTo>
                  <a:pt x="1903475" y="9525"/>
                </a:lnTo>
                <a:lnTo>
                  <a:pt x="1918434" y="9525"/>
                </a:lnTo>
                <a:lnTo>
                  <a:pt x="1934559" y="9525"/>
                </a:lnTo>
                <a:lnTo>
                  <a:pt x="1951874" y="9525"/>
                </a:lnTo>
                <a:lnTo>
                  <a:pt x="1970405" y="9525"/>
                </a:lnTo>
                <a:lnTo>
                  <a:pt x="1988954" y="9832"/>
                </a:lnTo>
                <a:lnTo>
                  <a:pt x="2006314" y="10747"/>
                </a:lnTo>
                <a:lnTo>
                  <a:pt x="2022482" y="12257"/>
                </a:lnTo>
                <a:lnTo>
                  <a:pt x="2037461" y="14350"/>
                </a:lnTo>
                <a:lnTo>
                  <a:pt x="2052365" y="16444"/>
                </a:lnTo>
                <a:lnTo>
                  <a:pt x="2068496" y="17954"/>
                </a:lnTo>
                <a:lnTo>
                  <a:pt x="2085842" y="18869"/>
                </a:lnTo>
                <a:lnTo>
                  <a:pt x="2104390" y="19176"/>
                </a:lnTo>
                <a:lnTo>
                  <a:pt x="2122920" y="19772"/>
                </a:lnTo>
                <a:lnTo>
                  <a:pt x="2140235" y="21558"/>
                </a:lnTo>
                <a:lnTo>
                  <a:pt x="2156360" y="24534"/>
                </a:lnTo>
                <a:lnTo>
                  <a:pt x="2171318" y="28701"/>
                </a:lnTo>
                <a:lnTo>
                  <a:pt x="2185681" y="32869"/>
                </a:lnTo>
                <a:lnTo>
                  <a:pt x="2200020" y="35845"/>
                </a:lnTo>
                <a:lnTo>
                  <a:pt x="2214360" y="37631"/>
                </a:lnTo>
                <a:lnTo>
                  <a:pt x="2228722" y="38226"/>
                </a:lnTo>
                <a:lnTo>
                  <a:pt x="2243337" y="38226"/>
                </a:lnTo>
                <a:lnTo>
                  <a:pt x="2258583" y="38226"/>
                </a:lnTo>
                <a:lnTo>
                  <a:pt x="2710180" y="38226"/>
                </a:lnTo>
                <a:lnTo>
                  <a:pt x="2716530" y="38226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563234" y="3545459"/>
            <a:ext cx="2132965" cy="57785"/>
          </a:xfrm>
          <a:custGeom>
            <a:avLst/>
            <a:gdLst/>
            <a:ahLst/>
            <a:cxnLst/>
            <a:rect l="l" t="t" r="r" b="b"/>
            <a:pathLst>
              <a:path w="2132965" h="57785">
                <a:moveTo>
                  <a:pt x="0" y="47878"/>
                </a:moveTo>
                <a:lnTo>
                  <a:pt x="0" y="47878"/>
                </a:lnTo>
                <a:lnTo>
                  <a:pt x="109981" y="47878"/>
                </a:lnTo>
                <a:lnTo>
                  <a:pt x="131200" y="48166"/>
                </a:lnTo>
                <a:lnTo>
                  <a:pt x="151812" y="49037"/>
                </a:lnTo>
                <a:lnTo>
                  <a:pt x="171829" y="50504"/>
                </a:lnTo>
                <a:lnTo>
                  <a:pt x="191262" y="52577"/>
                </a:lnTo>
                <a:lnTo>
                  <a:pt x="210694" y="54671"/>
                </a:lnTo>
                <a:lnTo>
                  <a:pt x="230711" y="56181"/>
                </a:lnTo>
                <a:lnTo>
                  <a:pt x="251323" y="57096"/>
                </a:lnTo>
                <a:lnTo>
                  <a:pt x="272541" y="57403"/>
                </a:lnTo>
                <a:lnTo>
                  <a:pt x="293780" y="57403"/>
                </a:lnTo>
                <a:lnTo>
                  <a:pt x="314436" y="57403"/>
                </a:lnTo>
                <a:lnTo>
                  <a:pt x="459104" y="57403"/>
                </a:lnTo>
                <a:lnTo>
                  <a:pt x="492251" y="56808"/>
                </a:lnTo>
                <a:lnTo>
                  <a:pt x="524827" y="55022"/>
                </a:lnTo>
                <a:lnTo>
                  <a:pt x="556831" y="52046"/>
                </a:lnTo>
                <a:lnTo>
                  <a:pt x="588263" y="47878"/>
                </a:lnTo>
                <a:lnTo>
                  <a:pt x="619930" y="43638"/>
                </a:lnTo>
                <a:lnTo>
                  <a:pt x="652811" y="40624"/>
                </a:lnTo>
                <a:lnTo>
                  <a:pt x="686883" y="38824"/>
                </a:lnTo>
                <a:lnTo>
                  <a:pt x="722122" y="38226"/>
                </a:lnTo>
                <a:lnTo>
                  <a:pt x="758318" y="38226"/>
                </a:lnTo>
                <a:lnTo>
                  <a:pt x="795099" y="38226"/>
                </a:lnTo>
                <a:lnTo>
                  <a:pt x="1209929" y="38226"/>
                </a:lnTo>
                <a:lnTo>
                  <a:pt x="1252098" y="37939"/>
                </a:lnTo>
                <a:lnTo>
                  <a:pt x="1297257" y="37068"/>
                </a:lnTo>
                <a:lnTo>
                  <a:pt x="1345392" y="35601"/>
                </a:lnTo>
                <a:lnTo>
                  <a:pt x="1396491" y="33527"/>
                </a:lnTo>
                <a:lnTo>
                  <a:pt x="1446091" y="30839"/>
                </a:lnTo>
                <a:lnTo>
                  <a:pt x="1489725" y="27543"/>
                </a:lnTo>
                <a:lnTo>
                  <a:pt x="1559051" y="19176"/>
                </a:lnTo>
                <a:lnTo>
                  <a:pt x="1586605" y="14989"/>
                </a:lnTo>
                <a:lnTo>
                  <a:pt x="1611741" y="11969"/>
                </a:lnTo>
                <a:lnTo>
                  <a:pt x="1634472" y="10140"/>
                </a:lnTo>
                <a:lnTo>
                  <a:pt x="1654810" y="9525"/>
                </a:lnTo>
                <a:lnTo>
                  <a:pt x="1674189" y="9525"/>
                </a:lnTo>
                <a:lnTo>
                  <a:pt x="1694211" y="9525"/>
                </a:lnTo>
                <a:lnTo>
                  <a:pt x="1798192" y="9525"/>
                </a:lnTo>
                <a:lnTo>
                  <a:pt x="1808388" y="9237"/>
                </a:lnTo>
                <a:lnTo>
                  <a:pt x="1819751" y="8366"/>
                </a:lnTo>
                <a:lnTo>
                  <a:pt x="1832304" y="6899"/>
                </a:lnTo>
                <a:lnTo>
                  <a:pt x="1846071" y="4825"/>
                </a:lnTo>
                <a:lnTo>
                  <a:pt x="1860145" y="2732"/>
                </a:lnTo>
                <a:lnTo>
                  <a:pt x="1873599" y="1222"/>
                </a:lnTo>
                <a:lnTo>
                  <a:pt x="1886434" y="307"/>
                </a:lnTo>
                <a:lnTo>
                  <a:pt x="1898649" y="0"/>
                </a:lnTo>
                <a:lnTo>
                  <a:pt x="1910341" y="0"/>
                </a:lnTo>
                <a:lnTo>
                  <a:pt x="1921414" y="0"/>
                </a:lnTo>
                <a:lnTo>
                  <a:pt x="2123130" y="0"/>
                </a:lnTo>
                <a:lnTo>
                  <a:pt x="2132965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363214" y="2742057"/>
            <a:ext cx="1214755" cy="48260"/>
          </a:xfrm>
          <a:custGeom>
            <a:avLst/>
            <a:gdLst/>
            <a:ahLst/>
            <a:cxnLst/>
            <a:rect l="l" t="t" r="r" b="b"/>
            <a:pathLst>
              <a:path w="1214754" h="48260">
                <a:moveTo>
                  <a:pt x="0" y="38226"/>
                </a:moveTo>
                <a:lnTo>
                  <a:pt x="14362" y="38226"/>
                </a:lnTo>
                <a:lnTo>
                  <a:pt x="28701" y="38226"/>
                </a:lnTo>
                <a:lnTo>
                  <a:pt x="43041" y="38226"/>
                </a:lnTo>
                <a:lnTo>
                  <a:pt x="57403" y="38226"/>
                </a:lnTo>
                <a:lnTo>
                  <a:pt x="71766" y="38514"/>
                </a:lnTo>
                <a:lnTo>
                  <a:pt x="86106" y="39385"/>
                </a:lnTo>
                <a:lnTo>
                  <a:pt x="100445" y="40852"/>
                </a:lnTo>
                <a:lnTo>
                  <a:pt x="114808" y="42925"/>
                </a:lnTo>
                <a:lnTo>
                  <a:pt x="130307" y="45073"/>
                </a:lnTo>
                <a:lnTo>
                  <a:pt x="148224" y="46577"/>
                </a:lnTo>
                <a:lnTo>
                  <a:pt x="168546" y="47462"/>
                </a:lnTo>
                <a:lnTo>
                  <a:pt x="191262" y="47751"/>
                </a:lnTo>
                <a:lnTo>
                  <a:pt x="215171" y="47751"/>
                </a:lnTo>
                <a:lnTo>
                  <a:pt x="239093" y="47751"/>
                </a:lnTo>
                <a:lnTo>
                  <a:pt x="521335" y="47751"/>
                </a:lnTo>
                <a:lnTo>
                  <a:pt x="552696" y="47462"/>
                </a:lnTo>
                <a:lnTo>
                  <a:pt x="617275" y="45073"/>
                </a:lnTo>
                <a:lnTo>
                  <a:pt x="683946" y="40255"/>
                </a:lnTo>
                <a:lnTo>
                  <a:pt x="750899" y="33103"/>
                </a:lnTo>
                <a:lnTo>
                  <a:pt x="816613" y="24118"/>
                </a:lnTo>
                <a:lnTo>
                  <a:pt x="846518" y="20256"/>
                </a:lnTo>
                <a:lnTo>
                  <a:pt x="899160" y="14223"/>
                </a:lnTo>
                <a:lnTo>
                  <a:pt x="942197" y="10683"/>
                </a:lnTo>
                <a:lnTo>
                  <a:pt x="975613" y="9525"/>
                </a:lnTo>
                <a:lnTo>
                  <a:pt x="990284" y="9217"/>
                </a:lnTo>
                <a:lnTo>
                  <a:pt x="1005538" y="8302"/>
                </a:lnTo>
                <a:lnTo>
                  <a:pt x="1021387" y="6792"/>
                </a:lnTo>
                <a:lnTo>
                  <a:pt x="1037844" y="4698"/>
                </a:lnTo>
                <a:lnTo>
                  <a:pt x="1053107" y="2625"/>
                </a:lnTo>
                <a:lnTo>
                  <a:pt x="1065371" y="1158"/>
                </a:lnTo>
                <a:lnTo>
                  <a:pt x="1074634" y="287"/>
                </a:lnTo>
                <a:lnTo>
                  <a:pt x="1080897" y="0"/>
                </a:lnTo>
                <a:lnTo>
                  <a:pt x="1087247" y="0"/>
                </a:lnTo>
                <a:lnTo>
                  <a:pt x="1093597" y="0"/>
                </a:lnTo>
                <a:lnTo>
                  <a:pt x="1099947" y="0"/>
                </a:lnTo>
                <a:lnTo>
                  <a:pt x="1106424" y="0"/>
                </a:lnTo>
                <a:lnTo>
                  <a:pt x="1114298" y="1523"/>
                </a:lnTo>
                <a:lnTo>
                  <a:pt x="1154176" y="17525"/>
                </a:lnTo>
                <a:lnTo>
                  <a:pt x="1162177" y="19050"/>
                </a:lnTo>
                <a:lnTo>
                  <a:pt x="1208405" y="19050"/>
                </a:lnTo>
                <a:lnTo>
                  <a:pt x="1214755" y="1905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875407" y="3153282"/>
            <a:ext cx="1377315" cy="29209"/>
          </a:xfrm>
          <a:custGeom>
            <a:avLst/>
            <a:gdLst/>
            <a:ahLst/>
            <a:cxnLst/>
            <a:rect l="l" t="t" r="r" b="b"/>
            <a:pathLst>
              <a:path w="1377314" h="29210">
                <a:moveTo>
                  <a:pt x="0" y="9525"/>
                </a:moveTo>
                <a:lnTo>
                  <a:pt x="0" y="9525"/>
                </a:lnTo>
                <a:lnTo>
                  <a:pt x="899159" y="9525"/>
                </a:lnTo>
                <a:lnTo>
                  <a:pt x="909897" y="9237"/>
                </a:lnTo>
                <a:lnTo>
                  <a:pt x="923051" y="8366"/>
                </a:lnTo>
                <a:lnTo>
                  <a:pt x="938611" y="6899"/>
                </a:lnTo>
                <a:lnTo>
                  <a:pt x="956564" y="4825"/>
                </a:lnTo>
                <a:lnTo>
                  <a:pt x="975635" y="2732"/>
                </a:lnTo>
                <a:lnTo>
                  <a:pt x="994743" y="1222"/>
                </a:lnTo>
                <a:lnTo>
                  <a:pt x="1013874" y="307"/>
                </a:lnTo>
                <a:lnTo>
                  <a:pt x="1033018" y="0"/>
                </a:lnTo>
                <a:lnTo>
                  <a:pt x="1050970" y="307"/>
                </a:lnTo>
                <a:lnTo>
                  <a:pt x="1066530" y="1222"/>
                </a:lnTo>
                <a:lnTo>
                  <a:pt x="1079684" y="2732"/>
                </a:lnTo>
                <a:lnTo>
                  <a:pt x="1090421" y="4825"/>
                </a:lnTo>
                <a:lnTo>
                  <a:pt x="1100256" y="7207"/>
                </a:lnTo>
                <a:lnTo>
                  <a:pt x="1110710" y="9588"/>
                </a:lnTo>
                <a:lnTo>
                  <a:pt x="1121783" y="11969"/>
                </a:lnTo>
                <a:lnTo>
                  <a:pt x="1133475" y="14350"/>
                </a:lnTo>
                <a:lnTo>
                  <a:pt x="1145401" y="16732"/>
                </a:lnTo>
                <a:lnTo>
                  <a:pt x="1157351" y="19113"/>
                </a:lnTo>
                <a:lnTo>
                  <a:pt x="1169300" y="21494"/>
                </a:lnTo>
                <a:lnTo>
                  <a:pt x="1211766" y="28412"/>
                </a:lnTo>
                <a:lnTo>
                  <a:pt x="1219581" y="28701"/>
                </a:lnTo>
                <a:lnTo>
                  <a:pt x="1226726" y="28701"/>
                </a:lnTo>
                <a:lnTo>
                  <a:pt x="1233884" y="28701"/>
                </a:lnTo>
                <a:lnTo>
                  <a:pt x="1308862" y="28701"/>
                </a:lnTo>
                <a:lnTo>
                  <a:pt x="1315212" y="27177"/>
                </a:lnTo>
                <a:lnTo>
                  <a:pt x="1324737" y="23875"/>
                </a:lnTo>
                <a:lnTo>
                  <a:pt x="1334389" y="20700"/>
                </a:lnTo>
                <a:lnTo>
                  <a:pt x="1340739" y="19176"/>
                </a:lnTo>
                <a:lnTo>
                  <a:pt x="1343914" y="19176"/>
                </a:lnTo>
                <a:lnTo>
                  <a:pt x="1347089" y="19176"/>
                </a:lnTo>
                <a:lnTo>
                  <a:pt x="1350264" y="19176"/>
                </a:lnTo>
                <a:lnTo>
                  <a:pt x="1353439" y="19176"/>
                </a:lnTo>
                <a:lnTo>
                  <a:pt x="1356614" y="19176"/>
                </a:lnTo>
                <a:lnTo>
                  <a:pt x="1359789" y="17525"/>
                </a:lnTo>
                <a:lnTo>
                  <a:pt x="1363091" y="14350"/>
                </a:lnTo>
                <a:lnTo>
                  <a:pt x="1366266" y="11175"/>
                </a:lnTo>
                <a:lnTo>
                  <a:pt x="1370965" y="6350"/>
                </a:lnTo>
                <a:lnTo>
                  <a:pt x="137731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603247" y="4721986"/>
            <a:ext cx="3549015" cy="48260"/>
          </a:xfrm>
          <a:custGeom>
            <a:avLst/>
            <a:gdLst/>
            <a:ahLst/>
            <a:cxnLst/>
            <a:rect l="l" t="t" r="r" b="b"/>
            <a:pathLst>
              <a:path w="3549015" h="48260">
                <a:moveTo>
                  <a:pt x="0" y="47879"/>
                </a:moveTo>
                <a:lnTo>
                  <a:pt x="0" y="47879"/>
                </a:lnTo>
                <a:lnTo>
                  <a:pt x="564260" y="47879"/>
                </a:lnTo>
                <a:lnTo>
                  <a:pt x="593601" y="47571"/>
                </a:lnTo>
                <a:lnTo>
                  <a:pt x="624109" y="46656"/>
                </a:lnTo>
                <a:lnTo>
                  <a:pt x="655808" y="45146"/>
                </a:lnTo>
                <a:lnTo>
                  <a:pt x="688721" y="43052"/>
                </a:lnTo>
                <a:lnTo>
                  <a:pt x="720963" y="40959"/>
                </a:lnTo>
                <a:lnTo>
                  <a:pt x="750823" y="39449"/>
                </a:lnTo>
                <a:lnTo>
                  <a:pt x="778303" y="38534"/>
                </a:lnTo>
                <a:lnTo>
                  <a:pt x="803402" y="38226"/>
                </a:lnTo>
                <a:lnTo>
                  <a:pt x="826119" y="38226"/>
                </a:lnTo>
                <a:lnTo>
                  <a:pt x="846454" y="38226"/>
                </a:lnTo>
                <a:lnTo>
                  <a:pt x="942085" y="38226"/>
                </a:lnTo>
                <a:lnTo>
                  <a:pt x="960943" y="37939"/>
                </a:lnTo>
                <a:lnTo>
                  <a:pt x="983980" y="37068"/>
                </a:lnTo>
                <a:lnTo>
                  <a:pt x="1011183" y="35601"/>
                </a:lnTo>
                <a:lnTo>
                  <a:pt x="1042543" y="33527"/>
                </a:lnTo>
                <a:lnTo>
                  <a:pt x="1073070" y="31434"/>
                </a:lnTo>
                <a:lnTo>
                  <a:pt x="1097597" y="29924"/>
                </a:lnTo>
                <a:lnTo>
                  <a:pt x="1116123" y="29009"/>
                </a:lnTo>
                <a:lnTo>
                  <a:pt x="1128649" y="28701"/>
                </a:lnTo>
                <a:lnTo>
                  <a:pt x="1138247" y="28701"/>
                </a:lnTo>
                <a:lnTo>
                  <a:pt x="1147810" y="28701"/>
                </a:lnTo>
                <a:lnTo>
                  <a:pt x="1219581" y="28701"/>
                </a:lnTo>
                <a:lnTo>
                  <a:pt x="1236271" y="28394"/>
                </a:lnTo>
                <a:lnTo>
                  <a:pt x="1252997" y="27479"/>
                </a:lnTo>
                <a:lnTo>
                  <a:pt x="1269747" y="25969"/>
                </a:lnTo>
                <a:lnTo>
                  <a:pt x="1286510" y="23875"/>
                </a:lnTo>
                <a:lnTo>
                  <a:pt x="1303254" y="21802"/>
                </a:lnTo>
                <a:lnTo>
                  <a:pt x="1319974" y="20335"/>
                </a:lnTo>
                <a:lnTo>
                  <a:pt x="1336694" y="19464"/>
                </a:lnTo>
                <a:lnTo>
                  <a:pt x="1353439" y="19176"/>
                </a:lnTo>
                <a:lnTo>
                  <a:pt x="1369298" y="19176"/>
                </a:lnTo>
                <a:lnTo>
                  <a:pt x="1383347" y="19176"/>
                </a:lnTo>
                <a:lnTo>
                  <a:pt x="1395587" y="19176"/>
                </a:lnTo>
                <a:lnTo>
                  <a:pt x="1406017" y="19176"/>
                </a:lnTo>
                <a:lnTo>
                  <a:pt x="1416212" y="18869"/>
                </a:lnTo>
                <a:lnTo>
                  <a:pt x="1427575" y="17954"/>
                </a:lnTo>
                <a:lnTo>
                  <a:pt x="1440128" y="16444"/>
                </a:lnTo>
                <a:lnTo>
                  <a:pt x="1453896" y="14350"/>
                </a:lnTo>
                <a:lnTo>
                  <a:pt x="1468258" y="12257"/>
                </a:lnTo>
                <a:lnTo>
                  <a:pt x="1482598" y="10747"/>
                </a:lnTo>
                <a:lnTo>
                  <a:pt x="1496937" y="9832"/>
                </a:lnTo>
                <a:lnTo>
                  <a:pt x="1511300" y="9525"/>
                </a:lnTo>
                <a:lnTo>
                  <a:pt x="1525012" y="9237"/>
                </a:lnTo>
                <a:lnTo>
                  <a:pt x="1537557" y="8366"/>
                </a:lnTo>
                <a:lnTo>
                  <a:pt x="1548911" y="6899"/>
                </a:lnTo>
                <a:lnTo>
                  <a:pt x="1559052" y="4825"/>
                </a:lnTo>
                <a:lnTo>
                  <a:pt x="1569843" y="2732"/>
                </a:lnTo>
                <a:lnTo>
                  <a:pt x="1582991" y="1222"/>
                </a:lnTo>
                <a:lnTo>
                  <a:pt x="1598521" y="307"/>
                </a:lnTo>
                <a:lnTo>
                  <a:pt x="1616456" y="0"/>
                </a:lnTo>
                <a:lnTo>
                  <a:pt x="1635005" y="0"/>
                </a:lnTo>
                <a:lnTo>
                  <a:pt x="1652365" y="0"/>
                </a:lnTo>
                <a:lnTo>
                  <a:pt x="1668533" y="0"/>
                </a:lnTo>
                <a:lnTo>
                  <a:pt x="1683512" y="0"/>
                </a:lnTo>
                <a:lnTo>
                  <a:pt x="1698704" y="307"/>
                </a:lnTo>
                <a:lnTo>
                  <a:pt x="1715706" y="1222"/>
                </a:lnTo>
                <a:lnTo>
                  <a:pt x="1734518" y="2732"/>
                </a:lnTo>
                <a:lnTo>
                  <a:pt x="1755139" y="4825"/>
                </a:lnTo>
                <a:lnTo>
                  <a:pt x="1775475" y="6899"/>
                </a:lnTo>
                <a:lnTo>
                  <a:pt x="1793430" y="8366"/>
                </a:lnTo>
                <a:lnTo>
                  <a:pt x="1809003" y="9237"/>
                </a:lnTo>
                <a:lnTo>
                  <a:pt x="1822196" y="9525"/>
                </a:lnTo>
                <a:lnTo>
                  <a:pt x="1833816" y="9832"/>
                </a:lnTo>
                <a:lnTo>
                  <a:pt x="1844865" y="10747"/>
                </a:lnTo>
                <a:lnTo>
                  <a:pt x="1855343" y="12257"/>
                </a:lnTo>
                <a:lnTo>
                  <a:pt x="1865249" y="14350"/>
                </a:lnTo>
                <a:lnTo>
                  <a:pt x="1875081" y="16444"/>
                </a:lnTo>
                <a:lnTo>
                  <a:pt x="1885521" y="17954"/>
                </a:lnTo>
                <a:lnTo>
                  <a:pt x="1896556" y="18869"/>
                </a:lnTo>
                <a:lnTo>
                  <a:pt x="1908175" y="19176"/>
                </a:lnTo>
                <a:lnTo>
                  <a:pt x="1920174" y="19176"/>
                </a:lnTo>
                <a:lnTo>
                  <a:pt x="1932162" y="19176"/>
                </a:lnTo>
                <a:lnTo>
                  <a:pt x="2467737" y="19176"/>
                </a:lnTo>
                <a:lnTo>
                  <a:pt x="2482407" y="19464"/>
                </a:lnTo>
                <a:lnTo>
                  <a:pt x="2497661" y="20335"/>
                </a:lnTo>
                <a:lnTo>
                  <a:pt x="2513510" y="21802"/>
                </a:lnTo>
                <a:lnTo>
                  <a:pt x="2529966" y="23875"/>
                </a:lnTo>
                <a:lnTo>
                  <a:pt x="2546711" y="25969"/>
                </a:lnTo>
                <a:lnTo>
                  <a:pt x="2563431" y="27479"/>
                </a:lnTo>
                <a:lnTo>
                  <a:pt x="2580151" y="28394"/>
                </a:lnTo>
                <a:lnTo>
                  <a:pt x="2596896" y="28701"/>
                </a:lnTo>
                <a:lnTo>
                  <a:pt x="2613352" y="28701"/>
                </a:lnTo>
                <a:lnTo>
                  <a:pt x="2629201" y="28701"/>
                </a:lnTo>
                <a:lnTo>
                  <a:pt x="3539396" y="28701"/>
                </a:lnTo>
                <a:lnTo>
                  <a:pt x="3548634" y="28701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③</a:t>
            </a:r>
            <a:r>
              <a:rPr dirty="0" spc="270"/>
              <a:t> </a:t>
            </a:r>
            <a:r>
              <a:rPr dirty="0"/>
              <a:t>사고발생확률의</a:t>
            </a:r>
            <a:r>
              <a:rPr dirty="0" spc="280"/>
              <a:t> </a:t>
            </a:r>
            <a:r>
              <a:rPr dirty="0"/>
              <a:t>측정</a:t>
            </a:r>
            <a:r>
              <a:rPr dirty="0" spc="280"/>
              <a:t> </a:t>
            </a:r>
            <a:r>
              <a:rPr dirty="0" spc="-25"/>
              <a:t>가능성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143" rIns="0" bIns="0" rtlCol="0" vert="horz">
            <a:spAutoFit/>
          </a:bodyPr>
          <a:lstStyle/>
          <a:p>
            <a:pPr marL="423545" indent="-285115">
              <a:lnSpc>
                <a:spcPct val="100000"/>
              </a:lnSpc>
              <a:spcBef>
                <a:spcPts val="100"/>
              </a:spcBef>
              <a:buChar char="-"/>
              <a:tabLst>
                <a:tab pos="424180" algn="l"/>
              </a:tabLst>
            </a:pPr>
            <a:r>
              <a:rPr dirty="0"/>
              <a:t>보험사고에</a:t>
            </a:r>
            <a:r>
              <a:rPr dirty="0" spc="270"/>
              <a:t> </a:t>
            </a:r>
            <a:r>
              <a:rPr dirty="0"/>
              <a:t>대한</a:t>
            </a:r>
            <a:r>
              <a:rPr dirty="0" spc="280"/>
              <a:t> </a:t>
            </a:r>
            <a:r>
              <a:rPr dirty="0"/>
              <a:t>확률은</a:t>
            </a:r>
            <a:r>
              <a:rPr dirty="0" spc="280"/>
              <a:t> </a:t>
            </a:r>
            <a:r>
              <a:rPr dirty="0"/>
              <a:t>예측</a:t>
            </a:r>
            <a:r>
              <a:rPr dirty="0" spc="280"/>
              <a:t> </a:t>
            </a:r>
            <a:r>
              <a:rPr dirty="0"/>
              <a:t>가능하고</a:t>
            </a:r>
            <a:r>
              <a:rPr dirty="0" spc="280"/>
              <a:t> </a:t>
            </a:r>
            <a:r>
              <a:rPr dirty="0"/>
              <a:t>알려진</a:t>
            </a:r>
            <a:r>
              <a:rPr dirty="0" spc="280"/>
              <a:t> </a:t>
            </a:r>
            <a:r>
              <a:rPr dirty="0"/>
              <a:t>값이</a:t>
            </a:r>
            <a:r>
              <a:rPr dirty="0" spc="280"/>
              <a:t> </a:t>
            </a:r>
            <a:r>
              <a:rPr dirty="0"/>
              <a:t>되어야</a:t>
            </a:r>
            <a:r>
              <a:rPr dirty="0" spc="285"/>
              <a:t> </a:t>
            </a:r>
            <a:r>
              <a:rPr dirty="0" spc="-25"/>
              <a:t>한다.</a:t>
            </a:r>
          </a:p>
          <a:p>
            <a:pPr marL="429259" marR="5080" indent="-291465">
              <a:lnSpc>
                <a:spcPct val="133400"/>
              </a:lnSpc>
              <a:spcBef>
                <a:spcPts val="3190"/>
              </a:spcBef>
              <a:buChar char="-"/>
              <a:tabLst>
                <a:tab pos="431165" algn="l"/>
              </a:tabLst>
            </a:pPr>
            <a:r>
              <a:rPr dirty="0"/>
              <a:t>보험은</a:t>
            </a:r>
            <a:r>
              <a:rPr dirty="0" spc="330"/>
              <a:t> </a:t>
            </a:r>
            <a:r>
              <a:rPr dirty="0"/>
              <a:t>위험에</a:t>
            </a:r>
            <a:r>
              <a:rPr dirty="0" spc="320"/>
              <a:t> </a:t>
            </a:r>
            <a:r>
              <a:rPr dirty="0"/>
              <a:t>대해서는</a:t>
            </a:r>
            <a:r>
              <a:rPr dirty="0" spc="330"/>
              <a:t> </a:t>
            </a:r>
            <a:r>
              <a:rPr dirty="0"/>
              <a:t>적절하게</a:t>
            </a:r>
            <a:r>
              <a:rPr dirty="0" spc="330"/>
              <a:t> </a:t>
            </a:r>
            <a:r>
              <a:rPr dirty="0"/>
              <a:t>대응하는</a:t>
            </a:r>
            <a:r>
              <a:rPr dirty="0" spc="320"/>
              <a:t> </a:t>
            </a:r>
            <a:r>
              <a:rPr dirty="0"/>
              <a:t>반면,</a:t>
            </a:r>
            <a:r>
              <a:rPr dirty="0" spc="325"/>
              <a:t> </a:t>
            </a:r>
            <a:r>
              <a:rPr dirty="0"/>
              <a:t>확실성이나</a:t>
            </a:r>
            <a:r>
              <a:rPr dirty="0" spc="320"/>
              <a:t> </a:t>
            </a:r>
            <a:r>
              <a:rPr dirty="0" spc="-25"/>
              <a:t>불확실 </a:t>
            </a:r>
            <a:r>
              <a:rPr dirty="0" spc="-25"/>
              <a:t>	</a:t>
            </a:r>
            <a:r>
              <a:rPr dirty="0"/>
              <a:t>성</a:t>
            </a:r>
            <a:r>
              <a:rPr dirty="0" spc="270"/>
              <a:t> </a:t>
            </a:r>
            <a:r>
              <a:rPr dirty="0"/>
              <a:t>문제에</a:t>
            </a:r>
            <a:r>
              <a:rPr dirty="0" spc="285"/>
              <a:t> </a:t>
            </a:r>
            <a:r>
              <a:rPr dirty="0"/>
              <a:t>대해서는</a:t>
            </a:r>
            <a:r>
              <a:rPr dirty="0" spc="280"/>
              <a:t> </a:t>
            </a:r>
            <a:r>
              <a:rPr dirty="0"/>
              <a:t>제대로</a:t>
            </a:r>
            <a:r>
              <a:rPr dirty="0" spc="285"/>
              <a:t> </a:t>
            </a:r>
            <a:r>
              <a:rPr dirty="0"/>
              <a:t>기능할</a:t>
            </a:r>
            <a:r>
              <a:rPr dirty="0" spc="280"/>
              <a:t> </a:t>
            </a:r>
            <a:r>
              <a:rPr dirty="0"/>
              <a:t>수</a:t>
            </a:r>
            <a:r>
              <a:rPr dirty="0" spc="285"/>
              <a:t> </a:t>
            </a:r>
            <a:r>
              <a:rPr dirty="0" spc="-25"/>
              <a:t>없다.</a:t>
            </a:r>
          </a:p>
          <a:p>
            <a:pPr marL="125730">
              <a:lnSpc>
                <a:spcPct val="100000"/>
              </a:lnSpc>
              <a:spcBef>
                <a:spcPts val="365"/>
              </a:spcBef>
            </a:pPr>
          </a:p>
          <a:p>
            <a:pPr marL="392430">
              <a:lnSpc>
                <a:spcPct val="100000"/>
              </a:lnSpc>
              <a:spcBef>
                <a:spcPts val="5"/>
              </a:spcBef>
            </a:pPr>
            <a:r>
              <a:rPr dirty="0" b="0">
                <a:latin typeface="Cambria"/>
                <a:cs typeface="Cambria"/>
              </a:rPr>
              <a:t>▸</a:t>
            </a:r>
            <a:r>
              <a:rPr dirty="0"/>
              <a:t>사고발생건수가</a:t>
            </a:r>
            <a:r>
              <a:rPr dirty="0" spc="325"/>
              <a:t> </a:t>
            </a:r>
            <a:r>
              <a:rPr dirty="0"/>
              <a:t>매우</a:t>
            </a:r>
            <a:r>
              <a:rPr dirty="0" spc="330"/>
              <a:t> </a:t>
            </a:r>
            <a:r>
              <a:rPr dirty="0"/>
              <a:t>제한적이어서</a:t>
            </a:r>
            <a:r>
              <a:rPr dirty="0" spc="325"/>
              <a:t> </a:t>
            </a:r>
            <a:r>
              <a:rPr dirty="0"/>
              <a:t>계산된</a:t>
            </a:r>
            <a:r>
              <a:rPr dirty="0" spc="330"/>
              <a:t> </a:t>
            </a:r>
            <a:r>
              <a:rPr dirty="0"/>
              <a:t>확률에</a:t>
            </a:r>
            <a:r>
              <a:rPr dirty="0" spc="330"/>
              <a:t> </a:t>
            </a:r>
            <a:r>
              <a:rPr dirty="0"/>
              <a:t>상당한</a:t>
            </a:r>
            <a:r>
              <a:rPr dirty="0" spc="325"/>
              <a:t> </a:t>
            </a:r>
            <a:r>
              <a:rPr dirty="0" spc="-25"/>
              <a:t>편차</a:t>
            </a:r>
          </a:p>
          <a:p>
            <a:pPr marL="392430">
              <a:lnSpc>
                <a:spcPct val="100000"/>
              </a:lnSpc>
              <a:spcBef>
                <a:spcPts val="800"/>
              </a:spcBef>
            </a:pPr>
            <a:r>
              <a:rPr dirty="0" spc="75" b="0">
                <a:latin typeface="Cambria"/>
                <a:cs typeface="Cambria"/>
              </a:rPr>
              <a:t>▸</a:t>
            </a:r>
            <a:r>
              <a:rPr dirty="0" spc="75"/>
              <a:t>미래의</a:t>
            </a:r>
            <a:r>
              <a:rPr dirty="0" spc="290"/>
              <a:t> </a:t>
            </a:r>
            <a:r>
              <a:rPr dirty="0"/>
              <a:t>상황을</a:t>
            </a:r>
            <a:r>
              <a:rPr dirty="0" spc="290"/>
              <a:t> </a:t>
            </a:r>
            <a:r>
              <a:rPr dirty="0"/>
              <a:t>예측하기</a:t>
            </a:r>
            <a:r>
              <a:rPr dirty="0" spc="290"/>
              <a:t> </a:t>
            </a:r>
            <a:r>
              <a:rPr dirty="0"/>
              <a:t>어렵다</a:t>
            </a:r>
            <a:r>
              <a:rPr dirty="0" spc="290"/>
              <a:t> </a:t>
            </a:r>
            <a:r>
              <a:rPr dirty="0" spc="135"/>
              <a:t>:</a:t>
            </a:r>
            <a:r>
              <a:rPr dirty="0" spc="295"/>
              <a:t> </a:t>
            </a:r>
            <a:r>
              <a:rPr dirty="0"/>
              <a:t>인플레이션,</a:t>
            </a:r>
            <a:r>
              <a:rPr dirty="0" spc="290"/>
              <a:t> </a:t>
            </a:r>
            <a:r>
              <a:rPr dirty="0" spc="-25"/>
              <a:t>치매</a:t>
            </a:r>
          </a:p>
          <a:p>
            <a:pPr marL="392430">
              <a:lnSpc>
                <a:spcPct val="100000"/>
              </a:lnSpc>
              <a:spcBef>
                <a:spcPts val="800"/>
              </a:spcBef>
            </a:pPr>
            <a:r>
              <a:rPr dirty="0" spc="75" b="0">
                <a:latin typeface="Cambria"/>
                <a:cs typeface="Cambria"/>
              </a:rPr>
              <a:t>▸</a:t>
            </a:r>
            <a:r>
              <a:rPr dirty="0" spc="75"/>
              <a:t>위험의</a:t>
            </a:r>
            <a:r>
              <a:rPr dirty="0" spc="275"/>
              <a:t> </a:t>
            </a:r>
            <a:r>
              <a:rPr dirty="0"/>
              <a:t>특성상</a:t>
            </a:r>
            <a:r>
              <a:rPr dirty="0" spc="280"/>
              <a:t> </a:t>
            </a:r>
            <a:r>
              <a:rPr dirty="0"/>
              <a:t>보험계약이</a:t>
            </a:r>
            <a:r>
              <a:rPr dirty="0" spc="280"/>
              <a:t> </a:t>
            </a:r>
            <a:r>
              <a:rPr dirty="0"/>
              <a:t>아주</a:t>
            </a:r>
            <a:r>
              <a:rPr dirty="0" spc="280"/>
              <a:t> </a:t>
            </a:r>
            <a:r>
              <a:rPr dirty="0"/>
              <a:t>장기간</a:t>
            </a:r>
            <a:r>
              <a:rPr dirty="0" spc="280"/>
              <a:t> </a:t>
            </a:r>
            <a:r>
              <a:rPr dirty="0"/>
              <a:t>지속되어야</a:t>
            </a:r>
            <a:r>
              <a:rPr dirty="0" spc="280"/>
              <a:t> </a:t>
            </a:r>
            <a:r>
              <a:rPr dirty="0"/>
              <a:t>하는</a:t>
            </a:r>
            <a:r>
              <a:rPr dirty="0" spc="280"/>
              <a:t> </a:t>
            </a:r>
            <a:r>
              <a:rPr dirty="0" spc="-25"/>
              <a:t>경우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746630" y="1508125"/>
            <a:ext cx="2630805" cy="57785"/>
          </a:xfrm>
          <a:custGeom>
            <a:avLst/>
            <a:gdLst/>
            <a:ahLst/>
            <a:cxnLst/>
            <a:rect l="l" t="t" r="r" b="b"/>
            <a:pathLst>
              <a:path w="2630804" h="57784">
                <a:moveTo>
                  <a:pt x="0" y="19050"/>
                </a:moveTo>
                <a:lnTo>
                  <a:pt x="5667" y="19050"/>
                </a:lnTo>
                <a:lnTo>
                  <a:pt x="13144" y="19050"/>
                </a:lnTo>
                <a:lnTo>
                  <a:pt x="22431" y="19050"/>
                </a:lnTo>
                <a:lnTo>
                  <a:pt x="33527" y="19050"/>
                </a:lnTo>
                <a:lnTo>
                  <a:pt x="46049" y="19647"/>
                </a:lnTo>
                <a:lnTo>
                  <a:pt x="59785" y="21447"/>
                </a:lnTo>
                <a:lnTo>
                  <a:pt x="74711" y="24461"/>
                </a:lnTo>
                <a:lnTo>
                  <a:pt x="90805" y="28701"/>
                </a:lnTo>
                <a:lnTo>
                  <a:pt x="107261" y="33176"/>
                </a:lnTo>
                <a:lnTo>
                  <a:pt x="123110" y="37068"/>
                </a:lnTo>
                <a:lnTo>
                  <a:pt x="167705" y="45126"/>
                </a:lnTo>
                <a:lnTo>
                  <a:pt x="215264" y="47751"/>
                </a:lnTo>
                <a:lnTo>
                  <a:pt x="232550" y="48059"/>
                </a:lnTo>
                <a:lnTo>
                  <a:pt x="251063" y="48974"/>
                </a:lnTo>
                <a:lnTo>
                  <a:pt x="270789" y="50484"/>
                </a:lnTo>
                <a:lnTo>
                  <a:pt x="291719" y="52577"/>
                </a:lnTo>
                <a:lnTo>
                  <a:pt x="313553" y="54671"/>
                </a:lnTo>
                <a:lnTo>
                  <a:pt x="335994" y="56181"/>
                </a:lnTo>
                <a:lnTo>
                  <a:pt x="359030" y="57096"/>
                </a:lnTo>
                <a:lnTo>
                  <a:pt x="382650" y="57403"/>
                </a:lnTo>
                <a:lnTo>
                  <a:pt x="406558" y="57403"/>
                </a:lnTo>
                <a:lnTo>
                  <a:pt x="430466" y="57403"/>
                </a:lnTo>
                <a:lnTo>
                  <a:pt x="703071" y="57403"/>
                </a:lnTo>
                <a:lnTo>
                  <a:pt x="739503" y="57096"/>
                </a:lnTo>
                <a:lnTo>
                  <a:pt x="816032" y="54671"/>
                </a:lnTo>
                <a:lnTo>
                  <a:pt x="856107" y="52577"/>
                </a:lnTo>
                <a:lnTo>
                  <a:pt x="896469" y="50196"/>
                </a:lnTo>
                <a:lnTo>
                  <a:pt x="936212" y="47815"/>
                </a:lnTo>
                <a:lnTo>
                  <a:pt x="975336" y="45434"/>
                </a:lnTo>
                <a:lnTo>
                  <a:pt x="1013841" y="43052"/>
                </a:lnTo>
                <a:lnTo>
                  <a:pt x="1054514" y="40364"/>
                </a:lnTo>
                <a:lnTo>
                  <a:pt x="1099962" y="37068"/>
                </a:lnTo>
                <a:lnTo>
                  <a:pt x="1150197" y="33176"/>
                </a:lnTo>
                <a:lnTo>
                  <a:pt x="1205230" y="28701"/>
                </a:lnTo>
                <a:lnTo>
                  <a:pt x="1259899" y="24173"/>
                </a:lnTo>
                <a:lnTo>
                  <a:pt x="1309211" y="20288"/>
                </a:lnTo>
                <a:lnTo>
                  <a:pt x="1353141" y="17021"/>
                </a:lnTo>
                <a:lnTo>
                  <a:pt x="1391666" y="14350"/>
                </a:lnTo>
                <a:lnTo>
                  <a:pt x="1426364" y="11949"/>
                </a:lnTo>
                <a:lnTo>
                  <a:pt x="1458658" y="9525"/>
                </a:lnTo>
                <a:lnTo>
                  <a:pt x="1488570" y="7100"/>
                </a:lnTo>
                <a:lnTo>
                  <a:pt x="1516126" y="4699"/>
                </a:lnTo>
                <a:lnTo>
                  <a:pt x="1542107" y="2625"/>
                </a:lnTo>
                <a:lnTo>
                  <a:pt x="1567481" y="1158"/>
                </a:lnTo>
                <a:lnTo>
                  <a:pt x="1592260" y="287"/>
                </a:lnTo>
                <a:lnTo>
                  <a:pt x="1616456" y="0"/>
                </a:lnTo>
                <a:lnTo>
                  <a:pt x="1639768" y="0"/>
                </a:lnTo>
                <a:lnTo>
                  <a:pt x="1661890" y="0"/>
                </a:lnTo>
                <a:lnTo>
                  <a:pt x="2070861" y="0"/>
                </a:lnTo>
                <a:lnTo>
                  <a:pt x="2083385" y="287"/>
                </a:lnTo>
                <a:lnTo>
                  <a:pt x="2097135" y="1158"/>
                </a:lnTo>
                <a:lnTo>
                  <a:pt x="2112099" y="2625"/>
                </a:lnTo>
                <a:lnTo>
                  <a:pt x="2128266" y="4699"/>
                </a:lnTo>
                <a:lnTo>
                  <a:pt x="2143817" y="6792"/>
                </a:lnTo>
                <a:lnTo>
                  <a:pt x="2156952" y="8302"/>
                </a:lnTo>
                <a:lnTo>
                  <a:pt x="2167681" y="9217"/>
                </a:lnTo>
                <a:lnTo>
                  <a:pt x="2176018" y="9525"/>
                </a:lnTo>
                <a:lnTo>
                  <a:pt x="2184427" y="9525"/>
                </a:lnTo>
                <a:lnTo>
                  <a:pt x="2195195" y="9525"/>
                </a:lnTo>
                <a:lnTo>
                  <a:pt x="2573020" y="9525"/>
                </a:lnTo>
                <a:lnTo>
                  <a:pt x="2582312" y="9832"/>
                </a:lnTo>
                <a:lnTo>
                  <a:pt x="2590974" y="10747"/>
                </a:lnTo>
                <a:lnTo>
                  <a:pt x="2599041" y="12257"/>
                </a:lnTo>
                <a:lnTo>
                  <a:pt x="2606547" y="14350"/>
                </a:lnTo>
                <a:lnTo>
                  <a:pt x="2616072" y="17525"/>
                </a:lnTo>
                <a:lnTo>
                  <a:pt x="2624073" y="19050"/>
                </a:lnTo>
                <a:lnTo>
                  <a:pt x="2630423" y="1905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535298" y="2359405"/>
            <a:ext cx="1616710" cy="19050"/>
          </a:xfrm>
          <a:custGeom>
            <a:avLst/>
            <a:gdLst/>
            <a:ahLst/>
            <a:cxnLst/>
            <a:rect l="l" t="t" r="r" b="b"/>
            <a:pathLst>
              <a:path w="1616710" h="19050">
                <a:moveTo>
                  <a:pt x="0" y="19050"/>
                </a:moveTo>
                <a:lnTo>
                  <a:pt x="0" y="19050"/>
                </a:lnTo>
                <a:lnTo>
                  <a:pt x="287020" y="19050"/>
                </a:lnTo>
                <a:lnTo>
                  <a:pt x="310330" y="18762"/>
                </a:lnTo>
                <a:lnTo>
                  <a:pt x="332438" y="17891"/>
                </a:lnTo>
                <a:lnTo>
                  <a:pt x="353331" y="16424"/>
                </a:lnTo>
                <a:lnTo>
                  <a:pt x="372999" y="14351"/>
                </a:lnTo>
                <a:lnTo>
                  <a:pt x="391548" y="12257"/>
                </a:lnTo>
                <a:lnTo>
                  <a:pt x="408908" y="10747"/>
                </a:lnTo>
                <a:lnTo>
                  <a:pt x="425076" y="9832"/>
                </a:lnTo>
                <a:lnTo>
                  <a:pt x="440054" y="9525"/>
                </a:lnTo>
                <a:lnTo>
                  <a:pt x="454669" y="9525"/>
                </a:lnTo>
                <a:lnTo>
                  <a:pt x="469915" y="9525"/>
                </a:lnTo>
                <a:lnTo>
                  <a:pt x="1251458" y="9525"/>
                </a:lnTo>
                <a:lnTo>
                  <a:pt x="1259459" y="8001"/>
                </a:lnTo>
                <a:lnTo>
                  <a:pt x="1300859" y="289"/>
                </a:lnTo>
                <a:lnTo>
                  <a:pt x="1310386" y="0"/>
                </a:lnTo>
                <a:lnTo>
                  <a:pt x="1320581" y="0"/>
                </a:lnTo>
                <a:lnTo>
                  <a:pt x="1331944" y="0"/>
                </a:lnTo>
                <a:lnTo>
                  <a:pt x="1610105" y="0"/>
                </a:lnTo>
                <a:lnTo>
                  <a:pt x="1616583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060566" y="2330704"/>
            <a:ext cx="803910" cy="38735"/>
          </a:xfrm>
          <a:custGeom>
            <a:avLst/>
            <a:gdLst/>
            <a:ahLst/>
            <a:cxnLst/>
            <a:rect l="l" t="t" r="r" b="b"/>
            <a:pathLst>
              <a:path w="803909" h="38735">
                <a:moveTo>
                  <a:pt x="0" y="38226"/>
                </a:moveTo>
                <a:lnTo>
                  <a:pt x="0" y="38226"/>
                </a:lnTo>
                <a:lnTo>
                  <a:pt x="162560" y="38226"/>
                </a:lnTo>
                <a:lnTo>
                  <a:pt x="176922" y="37939"/>
                </a:lnTo>
                <a:lnTo>
                  <a:pt x="191262" y="37068"/>
                </a:lnTo>
                <a:lnTo>
                  <a:pt x="205601" y="35601"/>
                </a:lnTo>
                <a:lnTo>
                  <a:pt x="219963" y="33528"/>
                </a:lnTo>
                <a:lnTo>
                  <a:pt x="234037" y="31380"/>
                </a:lnTo>
                <a:lnTo>
                  <a:pt x="247491" y="29876"/>
                </a:lnTo>
                <a:lnTo>
                  <a:pt x="260326" y="28991"/>
                </a:lnTo>
                <a:lnTo>
                  <a:pt x="272542" y="28701"/>
                </a:lnTo>
                <a:lnTo>
                  <a:pt x="285118" y="28701"/>
                </a:lnTo>
                <a:lnTo>
                  <a:pt x="298862" y="28701"/>
                </a:lnTo>
                <a:lnTo>
                  <a:pt x="313797" y="28701"/>
                </a:lnTo>
                <a:lnTo>
                  <a:pt x="329946" y="28701"/>
                </a:lnTo>
                <a:lnTo>
                  <a:pt x="345805" y="28394"/>
                </a:lnTo>
                <a:lnTo>
                  <a:pt x="359854" y="27479"/>
                </a:lnTo>
                <a:lnTo>
                  <a:pt x="372094" y="25969"/>
                </a:lnTo>
                <a:lnTo>
                  <a:pt x="382524" y="23875"/>
                </a:lnTo>
                <a:lnTo>
                  <a:pt x="392430" y="21802"/>
                </a:lnTo>
                <a:lnTo>
                  <a:pt x="402907" y="20335"/>
                </a:lnTo>
                <a:lnTo>
                  <a:pt x="413956" y="19464"/>
                </a:lnTo>
                <a:lnTo>
                  <a:pt x="425577" y="19176"/>
                </a:lnTo>
                <a:lnTo>
                  <a:pt x="437268" y="19176"/>
                </a:lnTo>
                <a:lnTo>
                  <a:pt x="448341" y="19176"/>
                </a:lnTo>
                <a:lnTo>
                  <a:pt x="458795" y="19176"/>
                </a:lnTo>
                <a:lnTo>
                  <a:pt x="468630" y="19176"/>
                </a:lnTo>
                <a:lnTo>
                  <a:pt x="478228" y="18869"/>
                </a:lnTo>
                <a:lnTo>
                  <a:pt x="487791" y="17954"/>
                </a:lnTo>
                <a:lnTo>
                  <a:pt x="497330" y="16444"/>
                </a:lnTo>
                <a:lnTo>
                  <a:pt x="506857" y="14350"/>
                </a:lnTo>
                <a:lnTo>
                  <a:pt x="516763" y="12257"/>
                </a:lnTo>
                <a:lnTo>
                  <a:pt x="527240" y="10747"/>
                </a:lnTo>
                <a:lnTo>
                  <a:pt x="538289" y="9832"/>
                </a:lnTo>
                <a:lnTo>
                  <a:pt x="549910" y="9525"/>
                </a:lnTo>
                <a:lnTo>
                  <a:pt x="561891" y="9525"/>
                </a:lnTo>
                <a:lnTo>
                  <a:pt x="573849" y="9525"/>
                </a:lnTo>
                <a:lnTo>
                  <a:pt x="698246" y="9525"/>
                </a:lnTo>
                <a:lnTo>
                  <a:pt x="707790" y="9237"/>
                </a:lnTo>
                <a:lnTo>
                  <a:pt x="717359" y="8366"/>
                </a:lnTo>
                <a:lnTo>
                  <a:pt x="726928" y="6899"/>
                </a:lnTo>
                <a:lnTo>
                  <a:pt x="736473" y="4825"/>
                </a:lnTo>
                <a:lnTo>
                  <a:pt x="746017" y="2678"/>
                </a:lnTo>
                <a:lnTo>
                  <a:pt x="755586" y="1174"/>
                </a:lnTo>
                <a:lnTo>
                  <a:pt x="765155" y="289"/>
                </a:lnTo>
                <a:lnTo>
                  <a:pt x="774700" y="0"/>
                </a:lnTo>
                <a:lnTo>
                  <a:pt x="783703" y="0"/>
                </a:lnTo>
                <a:lnTo>
                  <a:pt x="791479" y="0"/>
                </a:lnTo>
                <a:lnTo>
                  <a:pt x="798042" y="0"/>
                </a:lnTo>
                <a:lnTo>
                  <a:pt x="80340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④</a:t>
            </a:r>
            <a:r>
              <a:rPr dirty="0" spc="280"/>
              <a:t> </a:t>
            </a:r>
            <a:r>
              <a:rPr dirty="0"/>
              <a:t>정보문제의</a:t>
            </a:r>
            <a:r>
              <a:rPr dirty="0" spc="285"/>
              <a:t> </a:t>
            </a:r>
            <a:r>
              <a:rPr dirty="0" spc="-25"/>
              <a:t>해결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92990" y="1919294"/>
            <a:ext cx="8422640" cy="36810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98780" marR="5080" indent="-386715">
              <a:lnSpc>
                <a:spcPct val="133200"/>
              </a:lnSpc>
              <a:spcBef>
                <a:spcPts val="105"/>
              </a:spcBef>
              <a:buClr>
                <a:srgbClr val="000000"/>
              </a:buClr>
              <a:buChar char="-"/>
              <a:tabLst>
                <a:tab pos="414020" algn="l"/>
              </a:tabLst>
            </a:pP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정보의</a:t>
            </a:r>
            <a:r>
              <a:rPr dirty="0" sz="2000" spc="160" b="1">
                <a:solidFill>
                  <a:srgbClr val="0000FF"/>
                </a:solidFill>
                <a:latin typeface="Malgun Gothic"/>
                <a:cs typeface="Malgun Gothic"/>
              </a:rPr>
              <a:t> 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비대칭(asymmetric</a:t>
            </a:r>
            <a:r>
              <a:rPr dirty="0" sz="2000" spc="165" b="1">
                <a:solidFill>
                  <a:srgbClr val="0000FF"/>
                </a:solidFill>
                <a:latin typeface="Malgun Gothic"/>
                <a:cs typeface="Malgun Gothic"/>
              </a:rPr>
              <a:t> 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information)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spc="175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발생할</a:t>
            </a:r>
            <a:r>
              <a:rPr dirty="0" sz="2000" spc="160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경우,</a:t>
            </a:r>
            <a:r>
              <a:rPr dirty="0" sz="2000" spc="165" b="1">
                <a:latin typeface="Malgun Gothic"/>
                <a:cs typeface="Malgun Gothic"/>
              </a:rPr>
              <a:t>  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역선택 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(adverse</a:t>
            </a:r>
            <a:r>
              <a:rPr dirty="0" sz="2000" spc="33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selection)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문제와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도덕적</a:t>
            </a:r>
            <a:r>
              <a:rPr dirty="0" sz="2000" spc="33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해이(moral</a:t>
            </a:r>
            <a:r>
              <a:rPr dirty="0" sz="2000" spc="31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hazard)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문제가 </a:t>
            </a:r>
            <a:r>
              <a:rPr dirty="0" sz="2000" spc="-25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발생하여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공급이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효율적으로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이루어질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없다.</a:t>
            </a:r>
            <a:endParaRPr sz="2000">
              <a:latin typeface="Malgun Gothic"/>
              <a:cs typeface="Malgun Gothic"/>
            </a:endParaRPr>
          </a:p>
          <a:p>
            <a:pPr marL="320040" marR="6350" indent="-307975">
              <a:lnSpc>
                <a:spcPct val="132900"/>
              </a:lnSpc>
              <a:spcBef>
                <a:spcPts val="3215"/>
              </a:spcBef>
              <a:buChar char="-"/>
              <a:tabLst>
                <a:tab pos="1228725" algn="l"/>
                <a:tab pos="1461770" algn="l"/>
                <a:tab pos="2117725" algn="l"/>
                <a:tab pos="3281045" algn="l"/>
                <a:tab pos="4189729" algn="l"/>
                <a:tab pos="5098415" algn="l"/>
                <a:tab pos="6007100" algn="l"/>
                <a:tab pos="7170420" algn="l"/>
                <a:tab pos="7901305" algn="l"/>
              </a:tabLst>
            </a:pPr>
            <a:r>
              <a:rPr dirty="0" sz="2000" spc="-25" b="1">
                <a:latin typeface="Malgun Gothic"/>
                <a:cs typeface="Malgun Gothic"/>
              </a:rPr>
              <a:t>역선택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85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보험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수요자가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위험을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숨기고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보험에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가입하는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경우,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정보 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	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의</a:t>
            </a:r>
            <a:r>
              <a:rPr dirty="0" sz="2000" spc="27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은폐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가능한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영역에서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발생</a:t>
            </a:r>
            <a:endParaRPr sz="2000">
              <a:latin typeface="Malgun Gothic"/>
              <a:cs typeface="Malgun Gothic"/>
            </a:endParaRPr>
          </a:p>
          <a:p>
            <a:pPr algn="just" marL="300355" marR="5080" indent="-288290">
              <a:lnSpc>
                <a:spcPct val="132900"/>
              </a:lnSpc>
              <a:spcBef>
                <a:spcPts val="3215"/>
              </a:spcBef>
              <a:buChar char="-"/>
              <a:tabLst>
                <a:tab pos="301625" algn="l"/>
              </a:tabLst>
            </a:pPr>
            <a:r>
              <a:rPr dirty="0" sz="2000" b="1">
                <a:latin typeface="Malgun Gothic"/>
                <a:cs typeface="Malgun Gothic"/>
              </a:rPr>
              <a:t>도덕적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해이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은폐된</a:t>
            </a:r>
            <a:r>
              <a:rPr dirty="0" sz="2000" spc="30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행동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가능한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분야로서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보험사고의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확률을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spc="-50" b="1">
                <a:latin typeface="Malgun Gothic"/>
                <a:cs typeface="Malgun Gothic"/>
              </a:rPr>
              <a:t>임 </a:t>
            </a:r>
            <a:r>
              <a:rPr dirty="0" sz="2000" spc="-5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의로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조작할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발생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실업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578096" y="3985514"/>
            <a:ext cx="3099435" cy="57785"/>
          </a:xfrm>
          <a:custGeom>
            <a:avLst/>
            <a:gdLst/>
            <a:ahLst/>
            <a:cxnLst/>
            <a:rect l="l" t="t" r="r" b="b"/>
            <a:pathLst>
              <a:path w="3099434" h="57785">
                <a:moveTo>
                  <a:pt x="0" y="0"/>
                </a:moveTo>
                <a:lnTo>
                  <a:pt x="0" y="0"/>
                </a:lnTo>
                <a:lnTo>
                  <a:pt x="401700" y="0"/>
                </a:lnTo>
                <a:lnTo>
                  <a:pt x="439971" y="287"/>
                </a:lnTo>
                <a:lnTo>
                  <a:pt x="478218" y="1158"/>
                </a:lnTo>
                <a:lnTo>
                  <a:pt x="516465" y="2625"/>
                </a:lnTo>
                <a:lnTo>
                  <a:pt x="554736" y="4699"/>
                </a:lnTo>
                <a:lnTo>
                  <a:pt x="593314" y="6792"/>
                </a:lnTo>
                <a:lnTo>
                  <a:pt x="632475" y="8302"/>
                </a:lnTo>
                <a:lnTo>
                  <a:pt x="672232" y="9217"/>
                </a:lnTo>
                <a:lnTo>
                  <a:pt x="712596" y="9525"/>
                </a:lnTo>
                <a:lnTo>
                  <a:pt x="754749" y="9525"/>
                </a:lnTo>
                <a:lnTo>
                  <a:pt x="799877" y="9525"/>
                </a:lnTo>
                <a:lnTo>
                  <a:pt x="848006" y="9525"/>
                </a:lnTo>
                <a:lnTo>
                  <a:pt x="899159" y="9525"/>
                </a:lnTo>
                <a:lnTo>
                  <a:pt x="948164" y="9832"/>
                </a:lnTo>
                <a:lnTo>
                  <a:pt x="990012" y="10747"/>
                </a:lnTo>
                <a:lnTo>
                  <a:pt x="1024693" y="12257"/>
                </a:lnTo>
                <a:lnTo>
                  <a:pt x="1052194" y="14350"/>
                </a:lnTo>
                <a:lnTo>
                  <a:pt x="1075199" y="16424"/>
                </a:lnTo>
                <a:lnTo>
                  <a:pt x="1096406" y="17891"/>
                </a:lnTo>
                <a:lnTo>
                  <a:pt x="1115827" y="18762"/>
                </a:lnTo>
                <a:lnTo>
                  <a:pt x="1133475" y="19050"/>
                </a:lnTo>
                <a:lnTo>
                  <a:pt x="1149929" y="19050"/>
                </a:lnTo>
                <a:lnTo>
                  <a:pt x="1165764" y="19050"/>
                </a:lnTo>
                <a:lnTo>
                  <a:pt x="1515999" y="19050"/>
                </a:lnTo>
                <a:lnTo>
                  <a:pt x="1528288" y="19357"/>
                </a:lnTo>
                <a:lnTo>
                  <a:pt x="1541160" y="20272"/>
                </a:lnTo>
                <a:lnTo>
                  <a:pt x="1554628" y="21782"/>
                </a:lnTo>
                <a:lnTo>
                  <a:pt x="1568703" y="23875"/>
                </a:lnTo>
                <a:lnTo>
                  <a:pt x="1583608" y="25969"/>
                </a:lnTo>
                <a:lnTo>
                  <a:pt x="1599739" y="27479"/>
                </a:lnTo>
                <a:lnTo>
                  <a:pt x="1617085" y="28394"/>
                </a:lnTo>
                <a:lnTo>
                  <a:pt x="1635632" y="28701"/>
                </a:lnTo>
                <a:lnTo>
                  <a:pt x="1653567" y="28701"/>
                </a:lnTo>
                <a:lnTo>
                  <a:pt x="1669097" y="28701"/>
                </a:lnTo>
                <a:lnTo>
                  <a:pt x="2089911" y="28701"/>
                </a:lnTo>
                <a:lnTo>
                  <a:pt x="2093557" y="28989"/>
                </a:lnTo>
                <a:lnTo>
                  <a:pt x="2138997" y="38179"/>
                </a:lnTo>
                <a:lnTo>
                  <a:pt x="2157519" y="45434"/>
                </a:lnTo>
                <a:lnTo>
                  <a:pt x="2164111" y="47815"/>
                </a:lnTo>
                <a:lnTo>
                  <a:pt x="2212205" y="57096"/>
                </a:lnTo>
                <a:lnTo>
                  <a:pt x="2223897" y="57403"/>
                </a:lnTo>
                <a:lnTo>
                  <a:pt x="2235823" y="57403"/>
                </a:lnTo>
                <a:lnTo>
                  <a:pt x="2247773" y="57403"/>
                </a:lnTo>
                <a:lnTo>
                  <a:pt x="2386456" y="57403"/>
                </a:lnTo>
                <a:lnTo>
                  <a:pt x="2393963" y="57096"/>
                </a:lnTo>
                <a:lnTo>
                  <a:pt x="2402030" y="56181"/>
                </a:lnTo>
                <a:lnTo>
                  <a:pt x="2410692" y="54671"/>
                </a:lnTo>
                <a:lnTo>
                  <a:pt x="2419984" y="52577"/>
                </a:lnTo>
                <a:lnTo>
                  <a:pt x="2430125" y="50196"/>
                </a:lnTo>
                <a:lnTo>
                  <a:pt x="2441479" y="47815"/>
                </a:lnTo>
                <a:lnTo>
                  <a:pt x="2481812" y="40905"/>
                </a:lnTo>
                <a:lnTo>
                  <a:pt x="2520442" y="38226"/>
                </a:lnTo>
                <a:lnTo>
                  <a:pt x="2532062" y="38226"/>
                </a:lnTo>
                <a:lnTo>
                  <a:pt x="2543111" y="38226"/>
                </a:lnTo>
                <a:lnTo>
                  <a:pt x="2807334" y="38226"/>
                </a:lnTo>
                <a:lnTo>
                  <a:pt x="2818719" y="37919"/>
                </a:lnTo>
                <a:lnTo>
                  <a:pt x="2828877" y="37004"/>
                </a:lnTo>
                <a:lnTo>
                  <a:pt x="2837820" y="35494"/>
                </a:lnTo>
                <a:lnTo>
                  <a:pt x="2845561" y="33400"/>
                </a:lnTo>
                <a:lnTo>
                  <a:pt x="2853971" y="31327"/>
                </a:lnTo>
                <a:lnTo>
                  <a:pt x="2864738" y="29860"/>
                </a:lnTo>
                <a:lnTo>
                  <a:pt x="2877887" y="28989"/>
                </a:lnTo>
                <a:lnTo>
                  <a:pt x="2893440" y="28701"/>
                </a:lnTo>
                <a:lnTo>
                  <a:pt x="2909300" y="28701"/>
                </a:lnTo>
                <a:lnTo>
                  <a:pt x="2923349" y="28701"/>
                </a:lnTo>
                <a:lnTo>
                  <a:pt x="2935589" y="28701"/>
                </a:lnTo>
                <a:lnTo>
                  <a:pt x="2946019" y="28701"/>
                </a:lnTo>
                <a:lnTo>
                  <a:pt x="2956522" y="28394"/>
                </a:lnTo>
                <a:lnTo>
                  <a:pt x="2968799" y="27479"/>
                </a:lnTo>
                <a:lnTo>
                  <a:pt x="2982862" y="25969"/>
                </a:lnTo>
                <a:lnTo>
                  <a:pt x="2998724" y="23875"/>
                </a:lnTo>
                <a:lnTo>
                  <a:pt x="3014817" y="21782"/>
                </a:lnTo>
                <a:lnTo>
                  <a:pt x="3029743" y="20272"/>
                </a:lnTo>
                <a:lnTo>
                  <a:pt x="3043479" y="19357"/>
                </a:lnTo>
                <a:lnTo>
                  <a:pt x="3056001" y="19050"/>
                </a:lnTo>
                <a:lnTo>
                  <a:pt x="3067692" y="19050"/>
                </a:lnTo>
                <a:lnTo>
                  <a:pt x="3078765" y="19050"/>
                </a:lnTo>
                <a:lnTo>
                  <a:pt x="3089219" y="19050"/>
                </a:lnTo>
                <a:lnTo>
                  <a:pt x="3099054" y="1905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805671" y="1938527"/>
            <a:ext cx="813435" cy="488315"/>
          </a:xfrm>
          <a:custGeom>
            <a:avLst/>
            <a:gdLst/>
            <a:ahLst/>
            <a:cxnLst/>
            <a:rect l="l" t="t" r="r" b="b"/>
            <a:pathLst>
              <a:path w="813434" h="488314">
                <a:moveTo>
                  <a:pt x="353949" y="487807"/>
                </a:moveTo>
                <a:lnTo>
                  <a:pt x="353949" y="487807"/>
                </a:lnTo>
                <a:lnTo>
                  <a:pt x="234442" y="487807"/>
                </a:lnTo>
                <a:lnTo>
                  <a:pt x="222750" y="487211"/>
                </a:lnTo>
                <a:lnTo>
                  <a:pt x="211677" y="485425"/>
                </a:lnTo>
                <a:lnTo>
                  <a:pt x="201223" y="482449"/>
                </a:lnTo>
                <a:lnTo>
                  <a:pt x="191388" y="478282"/>
                </a:lnTo>
                <a:lnTo>
                  <a:pt x="181790" y="473807"/>
                </a:lnTo>
                <a:lnTo>
                  <a:pt x="172227" y="469915"/>
                </a:lnTo>
                <a:lnTo>
                  <a:pt x="162688" y="466619"/>
                </a:lnTo>
                <a:lnTo>
                  <a:pt x="153161" y="463931"/>
                </a:lnTo>
                <a:lnTo>
                  <a:pt x="143561" y="460934"/>
                </a:lnTo>
                <a:lnTo>
                  <a:pt x="133984" y="456723"/>
                </a:lnTo>
                <a:lnTo>
                  <a:pt x="124408" y="451322"/>
                </a:lnTo>
                <a:lnTo>
                  <a:pt x="114807" y="444754"/>
                </a:lnTo>
                <a:lnTo>
                  <a:pt x="105570" y="438493"/>
                </a:lnTo>
                <a:lnTo>
                  <a:pt x="96916" y="434006"/>
                </a:lnTo>
                <a:lnTo>
                  <a:pt x="88858" y="431305"/>
                </a:lnTo>
                <a:lnTo>
                  <a:pt x="81406" y="430402"/>
                </a:lnTo>
                <a:lnTo>
                  <a:pt x="74189" y="429517"/>
                </a:lnTo>
                <a:lnTo>
                  <a:pt x="43052" y="406526"/>
                </a:lnTo>
                <a:lnTo>
                  <a:pt x="38353" y="400176"/>
                </a:lnTo>
                <a:lnTo>
                  <a:pt x="38353" y="397001"/>
                </a:lnTo>
                <a:lnTo>
                  <a:pt x="38353" y="393700"/>
                </a:lnTo>
                <a:lnTo>
                  <a:pt x="35178" y="389000"/>
                </a:lnTo>
                <a:lnTo>
                  <a:pt x="28701" y="382650"/>
                </a:lnTo>
                <a:lnTo>
                  <a:pt x="24245" y="377525"/>
                </a:lnTo>
                <a:lnTo>
                  <a:pt x="20383" y="371840"/>
                </a:lnTo>
                <a:lnTo>
                  <a:pt x="17093" y="365559"/>
                </a:lnTo>
                <a:lnTo>
                  <a:pt x="14350" y="358648"/>
                </a:lnTo>
                <a:lnTo>
                  <a:pt x="11969" y="351791"/>
                </a:lnTo>
                <a:lnTo>
                  <a:pt x="9588" y="345519"/>
                </a:lnTo>
                <a:lnTo>
                  <a:pt x="7207" y="339842"/>
                </a:lnTo>
                <a:lnTo>
                  <a:pt x="4825" y="334772"/>
                </a:lnTo>
                <a:lnTo>
                  <a:pt x="1650" y="328422"/>
                </a:lnTo>
                <a:lnTo>
                  <a:pt x="0" y="322072"/>
                </a:lnTo>
                <a:lnTo>
                  <a:pt x="0" y="253492"/>
                </a:lnTo>
                <a:lnTo>
                  <a:pt x="615" y="241800"/>
                </a:lnTo>
                <a:lnTo>
                  <a:pt x="2444" y="230727"/>
                </a:lnTo>
                <a:lnTo>
                  <a:pt x="5464" y="220273"/>
                </a:lnTo>
                <a:lnTo>
                  <a:pt x="9651" y="210438"/>
                </a:lnTo>
                <a:lnTo>
                  <a:pt x="14126" y="201146"/>
                </a:lnTo>
                <a:lnTo>
                  <a:pt x="18018" y="192484"/>
                </a:lnTo>
                <a:lnTo>
                  <a:pt x="31146" y="152747"/>
                </a:lnTo>
                <a:lnTo>
                  <a:pt x="33527" y="143510"/>
                </a:lnTo>
                <a:lnTo>
                  <a:pt x="36812" y="134199"/>
                </a:lnTo>
                <a:lnTo>
                  <a:pt x="41894" y="125507"/>
                </a:lnTo>
                <a:lnTo>
                  <a:pt x="48762" y="117435"/>
                </a:lnTo>
                <a:lnTo>
                  <a:pt x="57403" y="109982"/>
                </a:lnTo>
                <a:lnTo>
                  <a:pt x="68195" y="101933"/>
                </a:lnTo>
                <a:lnTo>
                  <a:pt x="81343" y="92075"/>
                </a:lnTo>
                <a:lnTo>
                  <a:pt x="96873" y="80406"/>
                </a:lnTo>
                <a:lnTo>
                  <a:pt x="114807" y="66929"/>
                </a:lnTo>
                <a:lnTo>
                  <a:pt x="132760" y="53522"/>
                </a:lnTo>
                <a:lnTo>
                  <a:pt x="148320" y="41878"/>
                </a:lnTo>
                <a:lnTo>
                  <a:pt x="161474" y="31996"/>
                </a:lnTo>
                <a:lnTo>
                  <a:pt x="172211" y="23875"/>
                </a:lnTo>
                <a:lnTo>
                  <a:pt x="181810" y="17615"/>
                </a:lnTo>
                <a:lnTo>
                  <a:pt x="191373" y="13128"/>
                </a:lnTo>
                <a:lnTo>
                  <a:pt x="200912" y="10427"/>
                </a:lnTo>
                <a:lnTo>
                  <a:pt x="210438" y="9525"/>
                </a:lnTo>
                <a:lnTo>
                  <a:pt x="220039" y="9525"/>
                </a:lnTo>
                <a:lnTo>
                  <a:pt x="229616" y="9525"/>
                </a:lnTo>
                <a:lnTo>
                  <a:pt x="239192" y="9525"/>
                </a:lnTo>
                <a:lnTo>
                  <a:pt x="248793" y="9525"/>
                </a:lnTo>
                <a:lnTo>
                  <a:pt x="258337" y="9237"/>
                </a:lnTo>
                <a:lnTo>
                  <a:pt x="267906" y="8366"/>
                </a:lnTo>
                <a:lnTo>
                  <a:pt x="277475" y="6899"/>
                </a:lnTo>
                <a:lnTo>
                  <a:pt x="287020" y="4825"/>
                </a:lnTo>
                <a:lnTo>
                  <a:pt x="296564" y="2678"/>
                </a:lnTo>
                <a:lnTo>
                  <a:pt x="306133" y="1174"/>
                </a:lnTo>
                <a:lnTo>
                  <a:pt x="315702" y="289"/>
                </a:lnTo>
                <a:lnTo>
                  <a:pt x="325247" y="0"/>
                </a:lnTo>
                <a:lnTo>
                  <a:pt x="335152" y="0"/>
                </a:lnTo>
                <a:lnTo>
                  <a:pt x="345630" y="0"/>
                </a:lnTo>
                <a:lnTo>
                  <a:pt x="487933" y="0"/>
                </a:lnTo>
                <a:lnTo>
                  <a:pt x="501935" y="289"/>
                </a:lnTo>
                <a:lnTo>
                  <a:pt x="540511" y="4825"/>
                </a:lnTo>
                <a:lnTo>
                  <a:pt x="581749" y="20006"/>
                </a:lnTo>
                <a:lnTo>
                  <a:pt x="614316" y="37939"/>
                </a:lnTo>
                <a:lnTo>
                  <a:pt x="630158" y="46593"/>
                </a:lnTo>
                <a:lnTo>
                  <a:pt x="673786" y="69032"/>
                </a:lnTo>
                <a:lnTo>
                  <a:pt x="707898" y="86106"/>
                </a:lnTo>
                <a:lnTo>
                  <a:pt x="717135" y="90868"/>
                </a:lnTo>
                <a:lnTo>
                  <a:pt x="750951" y="111633"/>
                </a:lnTo>
                <a:lnTo>
                  <a:pt x="760476" y="119507"/>
                </a:lnTo>
                <a:lnTo>
                  <a:pt x="763651" y="122682"/>
                </a:lnTo>
                <a:lnTo>
                  <a:pt x="766826" y="124333"/>
                </a:lnTo>
                <a:lnTo>
                  <a:pt x="770001" y="124333"/>
                </a:lnTo>
                <a:lnTo>
                  <a:pt x="773302" y="124333"/>
                </a:lnTo>
                <a:lnTo>
                  <a:pt x="796032" y="157489"/>
                </a:lnTo>
                <a:lnTo>
                  <a:pt x="803528" y="176911"/>
                </a:lnTo>
                <a:lnTo>
                  <a:pt x="803528" y="186562"/>
                </a:lnTo>
                <a:lnTo>
                  <a:pt x="803836" y="194014"/>
                </a:lnTo>
                <a:lnTo>
                  <a:pt x="804751" y="202072"/>
                </a:lnTo>
                <a:lnTo>
                  <a:pt x="806261" y="210726"/>
                </a:lnTo>
                <a:lnTo>
                  <a:pt x="808354" y="219963"/>
                </a:lnTo>
                <a:lnTo>
                  <a:pt x="810428" y="229256"/>
                </a:lnTo>
                <a:lnTo>
                  <a:pt x="811895" y="237918"/>
                </a:lnTo>
                <a:lnTo>
                  <a:pt x="812766" y="245985"/>
                </a:lnTo>
                <a:lnTo>
                  <a:pt x="813053" y="253492"/>
                </a:lnTo>
                <a:lnTo>
                  <a:pt x="813053" y="260943"/>
                </a:lnTo>
                <a:lnTo>
                  <a:pt x="813053" y="269001"/>
                </a:lnTo>
                <a:lnTo>
                  <a:pt x="813053" y="277655"/>
                </a:lnTo>
                <a:lnTo>
                  <a:pt x="813053" y="286893"/>
                </a:lnTo>
                <a:lnTo>
                  <a:pt x="812766" y="296493"/>
                </a:lnTo>
                <a:lnTo>
                  <a:pt x="805358" y="334178"/>
                </a:lnTo>
                <a:lnTo>
                  <a:pt x="772445" y="364696"/>
                </a:lnTo>
                <a:lnTo>
                  <a:pt x="738066" y="384988"/>
                </a:lnTo>
                <a:lnTo>
                  <a:pt x="688721" y="406526"/>
                </a:lnTo>
                <a:lnTo>
                  <a:pt x="650494" y="419655"/>
                </a:lnTo>
                <a:lnTo>
                  <a:pt x="612267" y="430402"/>
                </a:lnTo>
                <a:lnTo>
                  <a:pt x="573976" y="438769"/>
                </a:lnTo>
                <a:lnTo>
                  <a:pt x="535685" y="444754"/>
                </a:lnTo>
                <a:lnTo>
                  <a:pt x="516848" y="447135"/>
                </a:lnTo>
                <a:lnTo>
                  <a:pt x="498617" y="449516"/>
                </a:lnTo>
                <a:lnTo>
                  <a:pt x="480982" y="451897"/>
                </a:lnTo>
                <a:lnTo>
                  <a:pt x="463930" y="454279"/>
                </a:lnTo>
                <a:lnTo>
                  <a:pt x="447530" y="456426"/>
                </a:lnTo>
                <a:lnTo>
                  <a:pt x="431688" y="457930"/>
                </a:lnTo>
                <a:lnTo>
                  <a:pt x="416442" y="458815"/>
                </a:lnTo>
                <a:lnTo>
                  <a:pt x="401827" y="459105"/>
                </a:lnTo>
                <a:lnTo>
                  <a:pt x="387157" y="459105"/>
                </a:lnTo>
                <a:lnTo>
                  <a:pt x="371903" y="459105"/>
                </a:lnTo>
                <a:lnTo>
                  <a:pt x="302807" y="459105"/>
                </a:lnTo>
                <a:lnTo>
                  <a:pt x="296545" y="459105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006585" y="3880230"/>
            <a:ext cx="564515" cy="143510"/>
          </a:xfrm>
          <a:custGeom>
            <a:avLst/>
            <a:gdLst/>
            <a:ahLst/>
            <a:cxnLst/>
            <a:rect l="l" t="t" r="r" b="b"/>
            <a:pathLst>
              <a:path w="564515" h="143510">
                <a:moveTo>
                  <a:pt x="0" y="143510"/>
                </a:moveTo>
                <a:lnTo>
                  <a:pt x="14670" y="134217"/>
                </a:lnTo>
                <a:lnTo>
                  <a:pt x="29924" y="125555"/>
                </a:lnTo>
                <a:lnTo>
                  <a:pt x="45773" y="117488"/>
                </a:lnTo>
                <a:lnTo>
                  <a:pt x="62230" y="109982"/>
                </a:lnTo>
                <a:lnTo>
                  <a:pt x="78920" y="102240"/>
                </a:lnTo>
                <a:lnTo>
                  <a:pt x="95646" y="93297"/>
                </a:lnTo>
                <a:lnTo>
                  <a:pt x="112396" y="83139"/>
                </a:lnTo>
                <a:lnTo>
                  <a:pt x="129159" y="71755"/>
                </a:lnTo>
                <a:lnTo>
                  <a:pt x="146806" y="60424"/>
                </a:lnTo>
                <a:lnTo>
                  <a:pt x="187434" y="41286"/>
                </a:lnTo>
                <a:lnTo>
                  <a:pt x="233751" y="26616"/>
                </a:lnTo>
                <a:lnTo>
                  <a:pt x="276804" y="14650"/>
                </a:lnTo>
                <a:lnTo>
                  <a:pt x="315092" y="5357"/>
                </a:lnTo>
                <a:lnTo>
                  <a:pt x="363474" y="0"/>
                </a:lnTo>
                <a:lnTo>
                  <a:pt x="377836" y="0"/>
                </a:lnTo>
                <a:lnTo>
                  <a:pt x="392175" y="0"/>
                </a:lnTo>
                <a:lnTo>
                  <a:pt x="516509" y="0"/>
                </a:lnTo>
                <a:lnTo>
                  <a:pt x="526704" y="595"/>
                </a:lnTo>
                <a:lnTo>
                  <a:pt x="538067" y="2381"/>
                </a:lnTo>
                <a:lnTo>
                  <a:pt x="550620" y="5357"/>
                </a:lnTo>
                <a:lnTo>
                  <a:pt x="564388" y="9525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703195" y="4329810"/>
            <a:ext cx="736600" cy="67310"/>
          </a:xfrm>
          <a:custGeom>
            <a:avLst/>
            <a:gdLst/>
            <a:ahLst/>
            <a:cxnLst/>
            <a:rect l="l" t="t" r="r" b="b"/>
            <a:pathLst>
              <a:path w="736600" h="67310">
                <a:moveTo>
                  <a:pt x="0" y="0"/>
                </a:moveTo>
                <a:lnTo>
                  <a:pt x="12700" y="0"/>
                </a:lnTo>
                <a:lnTo>
                  <a:pt x="20700" y="1650"/>
                </a:lnTo>
                <a:lnTo>
                  <a:pt x="23875" y="4825"/>
                </a:lnTo>
                <a:lnTo>
                  <a:pt x="27449" y="6899"/>
                </a:lnTo>
                <a:lnTo>
                  <a:pt x="33416" y="8366"/>
                </a:lnTo>
                <a:lnTo>
                  <a:pt x="41788" y="9237"/>
                </a:lnTo>
                <a:lnTo>
                  <a:pt x="52578" y="9525"/>
                </a:lnTo>
                <a:lnTo>
                  <a:pt x="67194" y="9832"/>
                </a:lnTo>
                <a:lnTo>
                  <a:pt x="87217" y="10747"/>
                </a:lnTo>
                <a:lnTo>
                  <a:pt x="143382" y="14350"/>
                </a:lnTo>
                <a:lnTo>
                  <a:pt x="211581" y="20335"/>
                </a:lnTo>
                <a:lnTo>
                  <a:pt x="282067" y="28701"/>
                </a:lnTo>
                <a:lnTo>
                  <a:pt x="349059" y="38242"/>
                </a:lnTo>
                <a:lnTo>
                  <a:pt x="406527" y="47878"/>
                </a:lnTo>
                <a:lnTo>
                  <a:pt x="431913" y="52335"/>
                </a:lnTo>
                <a:lnTo>
                  <a:pt x="455501" y="56197"/>
                </a:lnTo>
                <a:lnTo>
                  <a:pt x="497331" y="62230"/>
                </a:lnTo>
                <a:lnTo>
                  <a:pt x="538587" y="66641"/>
                </a:lnTo>
                <a:lnTo>
                  <a:pt x="545211" y="66928"/>
                </a:lnTo>
                <a:lnTo>
                  <a:pt x="551560" y="66928"/>
                </a:lnTo>
                <a:lnTo>
                  <a:pt x="556259" y="66928"/>
                </a:lnTo>
                <a:lnTo>
                  <a:pt x="715771" y="66928"/>
                </a:lnTo>
                <a:lnTo>
                  <a:pt x="718946" y="65405"/>
                </a:lnTo>
                <a:lnTo>
                  <a:pt x="722121" y="62230"/>
                </a:lnTo>
                <a:lnTo>
                  <a:pt x="725296" y="58927"/>
                </a:lnTo>
                <a:lnTo>
                  <a:pt x="730122" y="57403"/>
                </a:lnTo>
                <a:lnTo>
                  <a:pt x="736472" y="57403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756155" y="2302001"/>
            <a:ext cx="1492250" cy="95885"/>
          </a:xfrm>
          <a:custGeom>
            <a:avLst/>
            <a:gdLst/>
            <a:ahLst/>
            <a:cxnLst/>
            <a:rect l="l" t="t" r="r" b="b"/>
            <a:pathLst>
              <a:path w="1492250" h="95885">
                <a:moveTo>
                  <a:pt x="0" y="95631"/>
                </a:moveTo>
                <a:lnTo>
                  <a:pt x="0" y="89281"/>
                </a:lnTo>
                <a:lnTo>
                  <a:pt x="6350" y="84455"/>
                </a:lnTo>
                <a:lnTo>
                  <a:pt x="46672" y="76517"/>
                </a:lnTo>
                <a:lnTo>
                  <a:pt x="90931" y="71755"/>
                </a:lnTo>
                <a:lnTo>
                  <a:pt x="137525" y="68151"/>
                </a:lnTo>
                <a:lnTo>
                  <a:pt x="187765" y="66641"/>
                </a:lnTo>
                <a:lnTo>
                  <a:pt x="205676" y="65770"/>
                </a:lnTo>
                <a:lnTo>
                  <a:pt x="225968" y="64303"/>
                </a:lnTo>
                <a:lnTo>
                  <a:pt x="248666" y="62230"/>
                </a:lnTo>
                <a:lnTo>
                  <a:pt x="272647" y="60082"/>
                </a:lnTo>
                <a:lnTo>
                  <a:pt x="296592" y="58578"/>
                </a:lnTo>
                <a:lnTo>
                  <a:pt x="320514" y="57693"/>
                </a:lnTo>
                <a:lnTo>
                  <a:pt x="344424" y="57403"/>
                </a:lnTo>
                <a:lnTo>
                  <a:pt x="367734" y="57403"/>
                </a:lnTo>
                <a:lnTo>
                  <a:pt x="389842" y="57403"/>
                </a:lnTo>
                <a:lnTo>
                  <a:pt x="640842" y="57403"/>
                </a:lnTo>
                <a:lnTo>
                  <a:pt x="646580" y="57096"/>
                </a:lnTo>
                <a:lnTo>
                  <a:pt x="654081" y="56181"/>
                </a:lnTo>
                <a:lnTo>
                  <a:pt x="663344" y="54671"/>
                </a:lnTo>
                <a:lnTo>
                  <a:pt x="674369" y="52577"/>
                </a:lnTo>
                <a:lnTo>
                  <a:pt x="685754" y="50504"/>
                </a:lnTo>
                <a:lnTo>
                  <a:pt x="695912" y="49037"/>
                </a:lnTo>
                <a:lnTo>
                  <a:pt x="704855" y="48166"/>
                </a:lnTo>
                <a:lnTo>
                  <a:pt x="712596" y="47878"/>
                </a:lnTo>
                <a:lnTo>
                  <a:pt x="720411" y="47878"/>
                </a:lnTo>
                <a:lnTo>
                  <a:pt x="729392" y="47878"/>
                </a:lnTo>
                <a:lnTo>
                  <a:pt x="937387" y="47878"/>
                </a:lnTo>
                <a:lnTo>
                  <a:pt x="946987" y="47571"/>
                </a:lnTo>
                <a:lnTo>
                  <a:pt x="956563" y="46656"/>
                </a:lnTo>
                <a:lnTo>
                  <a:pt x="966140" y="45146"/>
                </a:lnTo>
                <a:lnTo>
                  <a:pt x="975741" y="43052"/>
                </a:lnTo>
                <a:lnTo>
                  <a:pt x="988441" y="39877"/>
                </a:lnTo>
                <a:lnTo>
                  <a:pt x="996442" y="38226"/>
                </a:lnTo>
                <a:lnTo>
                  <a:pt x="999617" y="38226"/>
                </a:lnTo>
                <a:lnTo>
                  <a:pt x="1003496" y="37939"/>
                </a:lnTo>
                <a:lnTo>
                  <a:pt x="1010364" y="37068"/>
                </a:lnTo>
                <a:lnTo>
                  <a:pt x="1020208" y="35601"/>
                </a:lnTo>
                <a:lnTo>
                  <a:pt x="1033018" y="33527"/>
                </a:lnTo>
                <a:lnTo>
                  <a:pt x="1046495" y="31380"/>
                </a:lnTo>
                <a:lnTo>
                  <a:pt x="1058164" y="29876"/>
                </a:lnTo>
                <a:lnTo>
                  <a:pt x="1068022" y="28991"/>
                </a:lnTo>
                <a:lnTo>
                  <a:pt x="1076070" y="28701"/>
                </a:lnTo>
                <a:lnTo>
                  <a:pt x="1083595" y="28701"/>
                </a:lnTo>
                <a:lnTo>
                  <a:pt x="1091692" y="28701"/>
                </a:lnTo>
                <a:lnTo>
                  <a:pt x="1100359" y="28701"/>
                </a:lnTo>
                <a:lnTo>
                  <a:pt x="1109599" y="28701"/>
                </a:lnTo>
                <a:lnTo>
                  <a:pt x="1120028" y="28394"/>
                </a:lnTo>
                <a:lnTo>
                  <a:pt x="1132268" y="27479"/>
                </a:lnTo>
                <a:lnTo>
                  <a:pt x="1146317" y="25969"/>
                </a:lnTo>
                <a:lnTo>
                  <a:pt x="1162177" y="23875"/>
                </a:lnTo>
                <a:lnTo>
                  <a:pt x="1178343" y="21802"/>
                </a:lnTo>
                <a:lnTo>
                  <a:pt x="1193307" y="20335"/>
                </a:lnTo>
                <a:lnTo>
                  <a:pt x="1207057" y="19464"/>
                </a:lnTo>
                <a:lnTo>
                  <a:pt x="1219581" y="19176"/>
                </a:lnTo>
                <a:lnTo>
                  <a:pt x="1231272" y="19176"/>
                </a:lnTo>
                <a:lnTo>
                  <a:pt x="1242345" y="19176"/>
                </a:lnTo>
                <a:lnTo>
                  <a:pt x="1372616" y="19176"/>
                </a:lnTo>
                <a:lnTo>
                  <a:pt x="1384307" y="18869"/>
                </a:lnTo>
                <a:lnTo>
                  <a:pt x="1395380" y="17954"/>
                </a:lnTo>
                <a:lnTo>
                  <a:pt x="1405834" y="16444"/>
                </a:lnTo>
                <a:lnTo>
                  <a:pt x="1415669" y="14350"/>
                </a:lnTo>
                <a:lnTo>
                  <a:pt x="1424961" y="12257"/>
                </a:lnTo>
                <a:lnTo>
                  <a:pt x="1433623" y="10747"/>
                </a:lnTo>
                <a:lnTo>
                  <a:pt x="1441690" y="9832"/>
                </a:lnTo>
                <a:lnTo>
                  <a:pt x="1449196" y="9525"/>
                </a:lnTo>
                <a:lnTo>
                  <a:pt x="1458721" y="9525"/>
                </a:lnTo>
                <a:lnTo>
                  <a:pt x="1466723" y="8000"/>
                </a:lnTo>
                <a:lnTo>
                  <a:pt x="1473073" y="4825"/>
                </a:lnTo>
                <a:lnTo>
                  <a:pt x="1479423" y="1650"/>
                </a:lnTo>
                <a:lnTo>
                  <a:pt x="1485773" y="0"/>
                </a:lnTo>
                <a:lnTo>
                  <a:pt x="1492250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323966" y="2407157"/>
            <a:ext cx="2381885" cy="363855"/>
          </a:xfrm>
          <a:custGeom>
            <a:avLst/>
            <a:gdLst/>
            <a:ahLst/>
            <a:cxnLst/>
            <a:rect l="l" t="t" r="r" b="b"/>
            <a:pathLst>
              <a:path w="2381884" h="363855">
                <a:moveTo>
                  <a:pt x="0" y="306196"/>
                </a:moveTo>
                <a:lnTo>
                  <a:pt x="0" y="306196"/>
                </a:lnTo>
                <a:lnTo>
                  <a:pt x="320421" y="306196"/>
                </a:lnTo>
                <a:lnTo>
                  <a:pt x="347974" y="305889"/>
                </a:lnTo>
                <a:lnTo>
                  <a:pt x="410128" y="303464"/>
                </a:lnTo>
                <a:lnTo>
                  <a:pt x="479758" y="298682"/>
                </a:lnTo>
                <a:lnTo>
                  <a:pt x="544337" y="291494"/>
                </a:lnTo>
                <a:lnTo>
                  <a:pt x="605347" y="282255"/>
                </a:lnTo>
                <a:lnTo>
                  <a:pt x="642127" y="277479"/>
                </a:lnTo>
                <a:lnTo>
                  <a:pt x="684266" y="272678"/>
                </a:lnTo>
                <a:lnTo>
                  <a:pt x="731774" y="267842"/>
                </a:lnTo>
                <a:lnTo>
                  <a:pt x="778396" y="263675"/>
                </a:lnTo>
                <a:lnTo>
                  <a:pt x="817864" y="260699"/>
                </a:lnTo>
                <a:lnTo>
                  <a:pt x="875284" y="258317"/>
                </a:lnTo>
                <a:lnTo>
                  <a:pt x="897098" y="258317"/>
                </a:lnTo>
                <a:lnTo>
                  <a:pt x="919495" y="258317"/>
                </a:lnTo>
                <a:lnTo>
                  <a:pt x="2375408" y="258317"/>
                </a:lnTo>
                <a:lnTo>
                  <a:pt x="2381758" y="258317"/>
                </a:lnTo>
              </a:path>
              <a:path w="2381884" h="363855">
                <a:moveTo>
                  <a:pt x="545211" y="363474"/>
                </a:moveTo>
                <a:lnTo>
                  <a:pt x="545211" y="363474"/>
                </a:lnTo>
                <a:lnTo>
                  <a:pt x="397002" y="363474"/>
                </a:lnTo>
                <a:lnTo>
                  <a:pt x="384714" y="363186"/>
                </a:lnTo>
                <a:lnTo>
                  <a:pt x="344424" y="358775"/>
                </a:lnTo>
                <a:lnTo>
                  <a:pt x="304008" y="348898"/>
                </a:lnTo>
                <a:lnTo>
                  <a:pt x="278600" y="339353"/>
                </a:lnTo>
                <a:lnTo>
                  <a:pt x="263064" y="333676"/>
                </a:lnTo>
                <a:lnTo>
                  <a:pt x="224790" y="320547"/>
                </a:lnTo>
                <a:lnTo>
                  <a:pt x="176391" y="304349"/>
                </a:lnTo>
                <a:lnTo>
                  <a:pt x="167386" y="301370"/>
                </a:lnTo>
                <a:lnTo>
                  <a:pt x="160529" y="298682"/>
                </a:lnTo>
                <a:lnTo>
                  <a:pt x="154257" y="295386"/>
                </a:lnTo>
                <a:lnTo>
                  <a:pt x="148580" y="291494"/>
                </a:lnTo>
                <a:lnTo>
                  <a:pt x="143510" y="287019"/>
                </a:lnTo>
                <a:lnTo>
                  <a:pt x="137160" y="280669"/>
                </a:lnTo>
                <a:lnTo>
                  <a:pt x="132334" y="275843"/>
                </a:lnTo>
                <a:lnTo>
                  <a:pt x="116459" y="259968"/>
                </a:lnTo>
                <a:lnTo>
                  <a:pt x="113284" y="256666"/>
                </a:lnTo>
                <a:lnTo>
                  <a:pt x="109982" y="253491"/>
                </a:lnTo>
                <a:lnTo>
                  <a:pt x="106807" y="250316"/>
                </a:lnTo>
                <a:lnTo>
                  <a:pt x="105283" y="245617"/>
                </a:lnTo>
                <a:lnTo>
                  <a:pt x="105283" y="239140"/>
                </a:lnTo>
                <a:lnTo>
                  <a:pt x="105283" y="232790"/>
                </a:lnTo>
                <a:lnTo>
                  <a:pt x="105283" y="227964"/>
                </a:lnTo>
                <a:lnTo>
                  <a:pt x="105283" y="224789"/>
                </a:lnTo>
                <a:lnTo>
                  <a:pt x="105878" y="221505"/>
                </a:lnTo>
                <a:lnTo>
                  <a:pt x="129159" y="180625"/>
                </a:lnTo>
                <a:lnTo>
                  <a:pt x="167110" y="146240"/>
                </a:lnTo>
                <a:lnTo>
                  <a:pt x="205740" y="114807"/>
                </a:lnTo>
                <a:lnTo>
                  <a:pt x="246923" y="86125"/>
                </a:lnTo>
                <a:lnTo>
                  <a:pt x="280376" y="67631"/>
                </a:lnTo>
                <a:lnTo>
                  <a:pt x="318666" y="53256"/>
                </a:lnTo>
                <a:lnTo>
                  <a:pt x="363507" y="43114"/>
                </a:lnTo>
                <a:lnTo>
                  <a:pt x="425662" y="33537"/>
                </a:lnTo>
                <a:lnTo>
                  <a:pt x="463931" y="28701"/>
                </a:lnTo>
                <a:lnTo>
                  <a:pt x="504602" y="24245"/>
                </a:lnTo>
                <a:lnTo>
                  <a:pt x="545274" y="20383"/>
                </a:lnTo>
                <a:lnTo>
                  <a:pt x="585946" y="17093"/>
                </a:lnTo>
                <a:lnTo>
                  <a:pt x="626618" y="14350"/>
                </a:lnTo>
                <a:lnTo>
                  <a:pt x="667523" y="11969"/>
                </a:lnTo>
                <a:lnTo>
                  <a:pt x="709072" y="9588"/>
                </a:lnTo>
                <a:lnTo>
                  <a:pt x="751240" y="7207"/>
                </a:lnTo>
                <a:lnTo>
                  <a:pt x="794004" y="4825"/>
                </a:lnTo>
                <a:lnTo>
                  <a:pt x="837291" y="2732"/>
                </a:lnTo>
                <a:lnTo>
                  <a:pt x="881221" y="1222"/>
                </a:lnTo>
                <a:lnTo>
                  <a:pt x="925770" y="307"/>
                </a:lnTo>
                <a:lnTo>
                  <a:pt x="970915" y="0"/>
                </a:lnTo>
                <a:lnTo>
                  <a:pt x="1012160" y="0"/>
                </a:lnTo>
                <a:lnTo>
                  <a:pt x="1045035" y="0"/>
                </a:lnTo>
                <a:lnTo>
                  <a:pt x="1069552" y="0"/>
                </a:lnTo>
                <a:lnTo>
                  <a:pt x="1085723" y="0"/>
                </a:lnTo>
                <a:lnTo>
                  <a:pt x="1098841" y="615"/>
                </a:lnTo>
                <a:lnTo>
                  <a:pt x="1114377" y="2444"/>
                </a:lnTo>
                <a:lnTo>
                  <a:pt x="1132318" y="5464"/>
                </a:lnTo>
                <a:lnTo>
                  <a:pt x="1152652" y="9651"/>
                </a:lnTo>
                <a:lnTo>
                  <a:pt x="1173275" y="14126"/>
                </a:lnTo>
                <a:lnTo>
                  <a:pt x="1192101" y="18018"/>
                </a:lnTo>
                <a:lnTo>
                  <a:pt x="1209141" y="21314"/>
                </a:lnTo>
                <a:lnTo>
                  <a:pt x="1224407" y="24002"/>
                </a:lnTo>
                <a:lnTo>
                  <a:pt x="1237216" y="26673"/>
                </a:lnTo>
                <a:lnTo>
                  <a:pt x="1262634" y="51053"/>
                </a:lnTo>
                <a:lnTo>
                  <a:pt x="1262634" y="57403"/>
                </a:lnTo>
                <a:lnTo>
                  <a:pt x="1262634" y="63880"/>
                </a:lnTo>
                <a:lnTo>
                  <a:pt x="1262634" y="105282"/>
                </a:lnTo>
                <a:lnTo>
                  <a:pt x="1262038" y="110950"/>
                </a:lnTo>
                <a:lnTo>
                  <a:pt x="1248634" y="149834"/>
                </a:lnTo>
                <a:lnTo>
                  <a:pt x="1228881" y="189231"/>
                </a:lnTo>
                <a:lnTo>
                  <a:pt x="1199296" y="223055"/>
                </a:lnTo>
                <a:lnTo>
                  <a:pt x="1162192" y="253555"/>
                </a:lnTo>
                <a:lnTo>
                  <a:pt x="1127537" y="271510"/>
                </a:lnTo>
                <a:lnTo>
                  <a:pt x="1085723" y="287019"/>
                </a:lnTo>
                <a:lnTo>
                  <a:pt x="1027144" y="304926"/>
                </a:lnTo>
                <a:lnTo>
                  <a:pt x="956563" y="320547"/>
                </a:lnTo>
                <a:lnTo>
                  <a:pt x="917082" y="326808"/>
                </a:lnTo>
                <a:lnTo>
                  <a:pt x="875220" y="331295"/>
                </a:lnTo>
                <a:lnTo>
                  <a:pt x="830976" y="333996"/>
                </a:lnTo>
                <a:lnTo>
                  <a:pt x="784352" y="334899"/>
                </a:lnTo>
                <a:lnTo>
                  <a:pt x="741015" y="334899"/>
                </a:lnTo>
                <a:lnTo>
                  <a:pt x="706643" y="334899"/>
                </a:lnTo>
                <a:lnTo>
                  <a:pt x="604730" y="334899"/>
                </a:lnTo>
                <a:lnTo>
                  <a:pt x="573913" y="33489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257930" y="4674108"/>
            <a:ext cx="1645285" cy="564515"/>
          </a:xfrm>
          <a:custGeom>
            <a:avLst/>
            <a:gdLst/>
            <a:ahLst/>
            <a:cxnLst/>
            <a:rect l="l" t="t" r="r" b="b"/>
            <a:pathLst>
              <a:path w="1645285" h="564514">
                <a:moveTo>
                  <a:pt x="1157351" y="516636"/>
                </a:moveTo>
                <a:lnTo>
                  <a:pt x="1151685" y="517826"/>
                </a:lnTo>
                <a:lnTo>
                  <a:pt x="1144222" y="521398"/>
                </a:lnTo>
                <a:lnTo>
                  <a:pt x="1134973" y="527351"/>
                </a:lnTo>
                <a:lnTo>
                  <a:pt x="1123950" y="535686"/>
                </a:lnTo>
                <a:lnTo>
                  <a:pt x="1109277" y="544381"/>
                </a:lnTo>
                <a:lnTo>
                  <a:pt x="1063835" y="556295"/>
                </a:lnTo>
                <a:lnTo>
                  <a:pt x="1001063" y="561709"/>
                </a:lnTo>
                <a:lnTo>
                  <a:pt x="946060" y="564098"/>
                </a:lnTo>
                <a:lnTo>
                  <a:pt x="923036" y="564388"/>
                </a:lnTo>
                <a:lnTo>
                  <a:pt x="900606" y="564388"/>
                </a:lnTo>
                <a:lnTo>
                  <a:pt x="876379" y="564388"/>
                </a:lnTo>
                <a:lnTo>
                  <a:pt x="459105" y="564388"/>
                </a:lnTo>
                <a:lnTo>
                  <a:pt x="411884" y="563792"/>
                </a:lnTo>
                <a:lnTo>
                  <a:pt x="365855" y="562006"/>
                </a:lnTo>
                <a:lnTo>
                  <a:pt x="321016" y="559030"/>
                </a:lnTo>
                <a:lnTo>
                  <a:pt x="277368" y="554863"/>
                </a:lnTo>
                <a:lnTo>
                  <a:pt x="235815" y="549790"/>
                </a:lnTo>
                <a:lnTo>
                  <a:pt x="197262" y="544099"/>
                </a:lnTo>
                <a:lnTo>
                  <a:pt x="129159" y="530860"/>
                </a:lnTo>
                <a:lnTo>
                  <a:pt x="76485" y="516572"/>
                </a:lnTo>
                <a:lnTo>
                  <a:pt x="31956" y="495663"/>
                </a:lnTo>
                <a:lnTo>
                  <a:pt x="22669" y="490267"/>
                </a:lnTo>
                <a:lnTo>
                  <a:pt x="15192" y="486086"/>
                </a:lnTo>
                <a:lnTo>
                  <a:pt x="9525" y="483108"/>
                </a:lnTo>
                <a:lnTo>
                  <a:pt x="5357" y="479823"/>
                </a:lnTo>
                <a:lnTo>
                  <a:pt x="2381" y="474741"/>
                </a:lnTo>
                <a:lnTo>
                  <a:pt x="595" y="467873"/>
                </a:lnTo>
                <a:lnTo>
                  <a:pt x="0" y="459232"/>
                </a:lnTo>
                <a:lnTo>
                  <a:pt x="0" y="449326"/>
                </a:lnTo>
                <a:lnTo>
                  <a:pt x="0" y="438848"/>
                </a:lnTo>
                <a:lnTo>
                  <a:pt x="0" y="373126"/>
                </a:lnTo>
                <a:lnTo>
                  <a:pt x="1192" y="362334"/>
                </a:lnTo>
                <a:lnTo>
                  <a:pt x="19177" y="315722"/>
                </a:lnTo>
                <a:lnTo>
                  <a:pt x="43053" y="278653"/>
                </a:lnTo>
                <a:lnTo>
                  <a:pt x="76454" y="243967"/>
                </a:lnTo>
                <a:lnTo>
                  <a:pt x="115966" y="212883"/>
                </a:lnTo>
                <a:lnTo>
                  <a:pt x="157861" y="186563"/>
                </a:lnTo>
                <a:lnTo>
                  <a:pt x="208057" y="161464"/>
                </a:lnTo>
                <a:lnTo>
                  <a:pt x="272542" y="133985"/>
                </a:lnTo>
                <a:lnTo>
                  <a:pt x="308738" y="119911"/>
                </a:lnTo>
                <a:lnTo>
                  <a:pt x="345519" y="106457"/>
                </a:lnTo>
                <a:lnTo>
                  <a:pt x="382895" y="93622"/>
                </a:lnTo>
                <a:lnTo>
                  <a:pt x="420878" y="81407"/>
                </a:lnTo>
                <a:lnTo>
                  <a:pt x="460954" y="69715"/>
                </a:lnTo>
                <a:lnTo>
                  <a:pt x="504602" y="58642"/>
                </a:lnTo>
                <a:lnTo>
                  <a:pt x="551822" y="48188"/>
                </a:lnTo>
                <a:lnTo>
                  <a:pt x="602615" y="38354"/>
                </a:lnTo>
                <a:lnTo>
                  <a:pt x="655212" y="29350"/>
                </a:lnTo>
                <a:lnTo>
                  <a:pt x="707834" y="21574"/>
                </a:lnTo>
                <a:lnTo>
                  <a:pt x="760456" y="15011"/>
                </a:lnTo>
                <a:lnTo>
                  <a:pt x="813054" y="9652"/>
                </a:lnTo>
                <a:lnTo>
                  <a:pt x="865939" y="5464"/>
                </a:lnTo>
                <a:lnTo>
                  <a:pt x="919432" y="2444"/>
                </a:lnTo>
                <a:lnTo>
                  <a:pt x="973520" y="615"/>
                </a:lnTo>
                <a:lnTo>
                  <a:pt x="1028192" y="0"/>
                </a:lnTo>
                <a:lnTo>
                  <a:pt x="1083226" y="615"/>
                </a:lnTo>
                <a:lnTo>
                  <a:pt x="1138237" y="2444"/>
                </a:lnTo>
                <a:lnTo>
                  <a:pt x="1193248" y="5464"/>
                </a:lnTo>
                <a:lnTo>
                  <a:pt x="1248283" y="9652"/>
                </a:lnTo>
                <a:lnTo>
                  <a:pt x="1302359" y="14722"/>
                </a:lnTo>
                <a:lnTo>
                  <a:pt x="1354661" y="20399"/>
                </a:lnTo>
                <a:lnTo>
                  <a:pt x="1405177" y="26671"/>
                </a:lnTo>
                <a:lnTo>
                  <a:pt x="1453896" y="33528"/>
                </a:lnTo>
                <a:lnTo>
                  <a:pt x="1498135" y="40691"/>
                </a:lnTo>
                <a:lnTo>
                  <a:pt x="1565088" y="55066"/>
                </a:lnTo>
                <a:lnTo>
                  <a:pt x="1605111" y="69086"/>
                </a:lnTo>
                <a:lnTo>
                  <a:pt x="1639800" y="91483"/>
                </a:lnTo>
                <a:lnTo>
                  <a:pt x="1645158" y="114808"/>
                </a:lnTo>
                <a:lnTo>
                  <a:pt x="1645158" y="124406"/>
                </a:lnTo>
                <a:lnTo>
                  <a:pt x="1645158" y="133969"/>
                </a:lnTo>
                <a:lnTo>
                  <a:pt x="1645158" y="143508"/>
                </a:lnTo>
                <a:lnTo>
                  <a:pt x="1645158" y="153035"/>
                </a:lnTo>
                <a:lnTo>
                  <a:pt x="1643967" y="162635"/>
                </a:lnTo>
                <a:lnTo>
                  <a:pt x="1640395" y="172212"/>
                </a:lnTo>
                <a:lnTo>
                  <a:pt x="1634442" y="181788"/>
                </a:lnTo>
                <a:lnTo>
                  <a:pt x="1626108" y="191389"/>
                </a:lnTo>
                <a:lnTo>
                  <a:pt x="1616797" y="201223"/>
                </a:lnTo>
                <a:lnTo>
                  <a:pt x="1608105" y="211677"/>
                </a:lnTo>
                <a:lnTo>
                  <a:pt x="1600033" y="222750"/>
                </a:lnTo>
                <a:lnTo>
                  <a:pt x="1592580" y="234442"/>
                </a:lnTo>
                <a:lnTo>
                  <a:pt x="1583628" y="247560"/>
                </a:lnTo>
                <a:lnTo>
                  <a:pt x="1554914" y="281037"/>
                </a:lnTo>
                <a:lnTo>
                  <a:pt x="1513957" y="321704"/>
                </a:lnTo>
                <a:lnTo>
                  <a:pt x="1473328" y="355181"/>
                </a:lnTo>
                <a:lnTo>
                  <a:pt x="1434463" y="379089"/>
                </a:lnTo>
                <a:lnTo>
                  <a:pt x="1393834" y="393428"/>
                </a:lnTo>
                <a:lnTo>
                  <a:pt x="1350186" y="399095"/>
                </a:lnTo>
                <a:lnTo>
                  <a:pt x="1299946" y="401520"/>
                </a:lnTo>
                <a:lnTo>
                  <a:pt x="1272159" y="401828"/>
                </a:lnTo>
                <a:lnTo>
                  <a:pt x="1242278" y="401828"/>
                </a:lnTo>
                <a:lnTo>
                  <a:pt x="1209992" y="401828"/>
                </a:lnTo>
                <a:lnTo>
                  <a:pt x="1175325" y="401828"/>
                </a:lnTo>
                <a:lnTo>
                  <a:pt x="1138301" y="401828"/>
                </a:lnTo>
                <a:lnTo>
                  <a:pt x="1099415" y="401520"/>
                </a:lnTo>
                <a:lnTo>
                  <a:pt x="1059338" y="400605"/>
                </a:lnTo>
                <a:lnTo>
                  <a:pt x="1018071" y="399095"/>
                </a:lnTo>
                <a:lnTo>
                  <a:pt x="975614" y="397002"/>
                </a:lnTo>
                <a:lnTo>
                  <a:pt x="934061" y="394908"/>
                </a:lnTo>
                <a:lnTo>
                  <a:pt x="895508" y="393398"/>
                </a:lnTo>
                <a:lnTo>
                  <a:pt x="859956" y="392483"/>
                </a:lnTo>
                <a:lnTo>
                  <a:pt x="827405" y="392176"/>
                </a:lnTo>
                <a:lnTo>
                  <a:pt x="796875" y="392176"/>
                </a:lnTo>
                <a:lnTo>
                  <a:pt x="767572" y="392176"/>
                </a:lnTo>
                <a:lnTo>
                  <a:pt x="636016" y="392176"/>
                </a:lnTo>
                <a:lnTo>
                  <a:pt x="625588" y="392791"/>
                </a:lnTo>
                <a:lnTo>
                  <a:pt x="618124" y="394620"/>
                </a:lnTo>
                <a:lnTo>
                  <a:pt x="613638" y="397640"/>
                </a:lnTo>
                <a:lnTo>
                  <a:pt x="612140" y="40182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dirty="0" spc="325"/>
              <a:t> </a:t>
            </a:r>
            <a:r>
              <a:rPr dirty="0"/>
              <a:t>정보의</a:t>
            </a:r>
            <a:r>
              <a:rPr dirty="0" spc="325"/>
              <a:t> </a:t>
            </a:r>
            <a:r>
              <a:rPr dirty="0" spc="-25"/>
              <a:t>비대칭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53936" y="2020737"/>
            <a:ext cx="8573135" cy="3749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6875" indent="-37147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396875" algn="l"/>
              </a:tabLst>
            </a:pPr>
            <a:r>
              <a:rPr dirty="0" sz="2000" b="1">
                <a:latin typeface="Malgun Gothic"/>
                <a:cs typeface="Malgun Gothic"/>
              </a:rPr>
              <a:t>역선택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lemons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Malgun Gothic"/>
              <a:buAutoNum type="arabicParenR"/>
            </a:pPr>
            <a:endParaRPr sz="2000">
              <a:latin typeface="Malgun Gothic"/>
              <a:cs typeface="Malgun Gothic"/>
            </a:endParaRPr>
          </a:p>
          <a:p>
            <a:pPr lvl="1" marL="279400" indent="-254000">
              <a:lnSpc>
                <a:spcPct val="100000"/>
              </a:lnSpc>
              <a:buFont typeface="Cambria"/>
              <a:buChar char="○"/>
              <a:tabLst>
                <a:tab pos="279400" algn="l"/>
              </a:tabLst>
            </a:pPr>
            <a:r>
              <a:rPr dirty="0" sz="2000" b="1">
                <a:latin typeface="Malgun Gothic"/>
                <a:cs typeface="Malgun Gothic"/>
              </a:rPr>
              <a:t>역선택의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대응한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보험회사의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행동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전략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380"/>
              </a:spcBef>
              <a:buFont typeface="Cambria"/>
              <a:buChar char="○"/>
            </a:pPr>
            <a:endParaRPr sz="2000">
              <a:latin typeface="Malgun Gothic"/>
              <a:cs typeface="Malgun Gothic"/>
            </a:endParaRPr>
          </a:p>
          <a:p>
            <a:pPr lvl="2" marL="436245" indent="-285115">
              <a:lnSpc>
                <a:spcPct val="100000"/>
              </a:lnSpc>
              <a:buChar char="-"/>
              <a:tabLst>
                <a:tab pos="436245" algn="l"/>
              </a:tabLst>
            </a:pPr>
            <a:r>
              <a:rPr dirty="0" sz="2000" spc="55" b="1">
                <a:latin typeface="Malgun Gothic"/>
                <a:cs typeface="Malgun Gothic"/>
              </a:rPr>
              <a:t>A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가입하지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않은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획득할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소득의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조합</a:t>
            </a:r>
            <a:endParaRPr sz="2000">
              <a:latin typeface="Malgun Gothic"/>
              <a:cs typeface="Malgun Gothic"/>
            </a:endParaRPr>
          </a:p>
          <a:p>
            <a:pPr lvl="2" marL="454659" marR="17780" indent="-303530">
              <a:lnSpc>
                <a:spcPct val="133400"/>
              </a:lnSpc>
              <a:spcBef>
                <a:spcPts val="3190"/>
              </a:spcBef>
              <a:buChar char="-"/>
              <a:tabLst>
                <a:tab pos="454659" algn="l"/>
                <a:tab pos="850265" algn="l"/>
                <a:tab pos="1499870" algn="l"/>
                <a:tab pos="1865630" algn="l"/>
                <a:tab pos="2402840" algn="l"/>
                <a:tab pos="3305810" algn="l"/>
                <a:tab pos="3333115" algn="l"/>
                <a:tab pos="4057650" algn="l"/>
                <a:tab pos="4210050" algn="l"/>
                <a:tab pos="5112385" algn="l"/>
                <a:tab pos="5470525" algn="l"/>
                <a:tab pos="6016625" algn="l"/>
                <a:tab pos="6739890" algn="l"/>
                <a:tab pos="7136130" algn="l"/>
                <a:tab pos="7390130" algn="l"/>
                <a:tab pos="8040370" algn="l"/>
              </a:tabLst>
            </a:pPr>
            <a:r>
              <a:rPr dirty="0" sz="2000" spc="-10" b="1">
                <a:latin typeface="Malgun Gothic"/>
                <a:cs typeface="Malgun Gothic"/>
              </a:rPr>
              <a:t>보험회사의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행정비용=0</a:t>
            </a:r>
            <a:r>
              <a:rPr dirty="0" sz="2000" b="1">
                <a:latin typeface="Malgun Gothic"/>
                <a:cs typeface="Malgun Gothic"/>
              </a:rPr>
              <a:t>		</a:t>
            </a:r>
            <a:r>
              <a:rPr dirty="0" sz="2000" spc="-25" b="1">
                <a:latin typeface="Malgun Gothic"/>
                <a:cs typeface="Malgun Gothic"/>
              </a:rPr>
              <a:t>이고,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합리적이고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위험회피적인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개인이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피해 </a:t>
            </a:r>
            <a:r>
              <a:rPr dirty="0" sz="2000" spc="-50" b="1">
                <a:solidFill>
                  <a:srgbClr val="0000FF"/>
                </a:solidFill>
                <a:latin typeface="Malgun Gothic"/>
                <a:cs typeface="Malgun Gothic"/>
              </a:rPr>
              <a:t>에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대해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완전한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보상을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해주는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보험에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가입할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경우,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일할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때나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아플</a:t>
            </a:r>
            <a:endParaRPr sz="2000">
              <a:latin typeface="Malgun Gothic"/>
              <a:cs typeface="Malgun Gothic"/>
            </a:endParaRPr>
          </a:p>
          <a:p>
            <a:pPr marL="454659">
              <a:lnSpc>
                <a:spcPts val="2080"/>
              </a:lnSpc>
              <a:spcBef>
                <a:spcPts val="1205"/>
              </a:spcBef>
              <a:tabLst>
                <a:tab pos="2997835" algn="l"/>
                <a:tab pos="3447415" algn="l"/>
              </a:tabLst>
            </a:pP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때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나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소득은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동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일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3185">
                <a:latin typeface="Cambria"/>
                <a:cs typeface="Cambria"/>
              </a:rPr>
              <a:t>⟹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400" spc="-835">
                <a:solidFill>
                  <a:srgbClr val="0000FF"/>
                </a:solidFill>
                <a:latin typeface="Microsoft Sans Serif"/>
                <a:cs typeface="Microsoft Sans Serif"/>
              </a:rPr>
              <a:t></a:t>
            </a:r>
            <a:r>
              <a:rPr dirty="0" sz="2400">
                <a:solidFill>
                  <a:srgbClr val="0000FF"/>
                </a:solidFill>
                <a:latin typeface="Microsoft Sans Serif"/>
                <a:cs typeface="Microsoft Sans Serif"/>
              </a:rPr>
              <a:t>	</a:t>
            </a:r>
            <a:r>
              <a:rPr dirty="0" baseline="3472" sz="3600" spc="-930">
                <a:solidFill>
                  <a:srgbClr val="0000FF"/>
                </a:solidFill>
                <a:latin typeface="Microsoft Sans Serif"/>
                <a:cs typeface="Microsoft Sans Serif"/>
              </a:rPr>
              <a:t>(</a:t>
            </a:r>
            <a:r>
              <a:rPr dirty="0" sz="2400" spc="-620">
                <a:solidFill>
                  <a:srgbClr val="0000FF"/>
                </a:solidFill>
                <a:latin typeface="Microsoft Sans Serif"/>
                <a:cs typeface="Microsoft Sans Serif"/>
              </a:rPr>
              <a:t></a:t>
            </a:r>
            <a:r>
              <a:rPr dirty="0" baseline="39930" sz="2400" spc="-930">
                <a:solidFill>
                  <a:srgbClr val="0000FF"/>
                </a:solidFill>
                <a:latin typeface="Microsoft Sans Serif"/>
                <a:cs typeface="Microsoft Sans Serif"/>
              </a:rPr>
              <a:t>o</a:t>
            </a:r>
            <a:r>
              <a:rPr dirty="0" baseline="39930" sz="2400" spc="-22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3472" sz="3600" spc="52">
                <a:solidFill>
                  <a:srgbClr val="0000FF"/>
                </a:solidFill>
                <a:latin typeface="Microsoft Sans Serif"/>
                <a:cs typeface="Microsoft Sans Serif"/>
              </a:rPr>
              <a:t>)</a:t>
            </a:r>
            <a:r>
              <a:rPr dirty="0" sz="2000" spc="35" b="1">
                <a:latin typeface="Malgun Gothic"/>
                <a:cs typeface="Malgun Gothic"/>
              </a:rPr>
              <a:t>선상의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조</a:t>
            </a:r>
            <a:r>
              <a:rPr dirty="0" sz="2000" b="1">
                <a:latin typeface="Malgun Gothic"/>
                <a:cs typeface="Malgun Gothic"/>
              </a:rPr>
              <a:t>합</a:t>
            </a:r>
            <a:endParaRPr sz="2000">
              <a:latin typeface="Malgun Gothic"/>
              <a:cs typeface="Malgun Gothic"/>
            </a:endParaRPr>
          </a:p>
          <a:p>
            <a:pPr algn="ctr" marR="1866264">
              <a:lnSpc>
                <a:spcPts val="1240"/>
              </a:lnSpc>
            </a:pPr>
            <a:r>
              <a:rPr dirty="0" sz="1700" spc="15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035415" y="4760214"/>
            <a:ext cx="392430" cy="48260"/>
          </a:xfrm>
          <a:custGeom>
            <a:avLst/>
            <a:gdLst/>
            <a:ahLst/>
            <a:cxnLst/>
            <a:rect l="l" t="t" r="r" b="b"/>
            <a:pathLst>
              <a:path w="392429" h="48260">
                <a:moveTo>
                  <a:pt x="0" y="47879"/>
                </a:moveTo>
                <a:lnTo>
                  <a:pt x="4825" y="46228"/>
                </a:lnTo>
                <a:lnTo>
                  <a:pt x="14350" y="43053"/>
                </a:lnTo>
                <a:lnTo>
                  <a:pt x="52577" y="33528"/>
                </a:lnTo>
                <a:lnTo>
                  <a:pt x="95630" y="28702"/>
                </a:lnTo>
                <a:lnTo>
                  <a:pt x="106422" y="28106"/>
                </a:lnTo>
                <a:lnTo>
                  <a:pt x="119570" y="26320"/>
                </a:lnTo>
                <a:lnTo>
                  <a:pt x="135100" y="23344"/>
                </a:lnTo>
                <a:lnTo>
                  <a:pt x="153034" y="19177"/>
                </a:lnTo>
                <a:lnTo>
                  <a:pt x="171872" y="15009"/>
                </a:lnTo>
                <a:lnTo>
                  <a:pt x="190103" y="12033"/>
                </a:lnTo>
                <a:lnTo>
                  <a:pt x="207738" y="10247"/>
                </a:lnTo>
                <a:lnTo>
                  <a:pt x="224789" y="9652"/>
                </a:lnTo>
                <a:lnTo>
                  <a:pt x="242129" y="9652"/>
                </a:lnTo>
                <a:lnTo>
                  <a:pt x="260635" y="9652"/>
                </a:lnTo>
                <a:lnTo>
                  <a:pt x="368300" y="9652"/>
                </a:lnTo>
                <a:lnTo>
                  <a:pt x="374650" y="8000"/>
                </a:lnTo>
                <a:lnTo>
                  <a:pt x="377825" y="4825"/>
                </a:lnTo>
                <a:lnTo>
                  <a:pt x="381000" y="1650"/>
                </a:lnTo>
                <a:lnTo>
                  <a:pt x="385825" y="0"/>
                </a:lnTo>
                <a:lnTo>
                  <a:pt x="39217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664967" y="5171566"/>
            <a:ext cx="1090930" cy="19685"/>
          </a:xfrm>
          <a:custGeom>
            <a:avLst/>
            <a:gdLst/>
            <a:ahLst/>
            <a:cxnLst/>
            <a:rect l="l" t="t" r="r" b="b"/>
            <a:pathLst>
              <a:path w="1090929" h="19685">
                <a:moveTo>
                  <a:pt x="0" y="19176"/>
                </a:moveTo>
                <a:lnTo>
                  <a:pt x="0" y="19176"/>
                </a:lnTo>
                <a:lnTo>
                  <a:pt x="62230" y="19176"/>
                </a:lnTo>
                <a:lnTo>
                  <a:pt x="78325" y="18869"/>
                </a:lnTo>
                <a:lnTo>
                  <a:pt x="93265" y="17954"/>
                </a:lnTo>
                <a:lnTo>
                  <a:pt x="107039" y="16444"/>
                </a:lnTo>
                <a:lnTo>
                  <a:pt x="119633" y="14350"/>
                </a:lnTo>
                <a:lnTo>
                  <a:pt x="132445" y="12257"/>
                </a:lnTo>
                <a:lnTo>
                  <a:pt x="147065" y="10747"/>
                </a:lnTo>
                <a:lnTo>
                  <a:pt x="163496" y="9832"/>
                </a:lnTo>
                <a:lnTo>
                  <a:pt x="181737" y="9524"/>
                </a:lnTo>
                <a:lnTo>
                  <a:pt x="200574" y="9524"/>
                </a:lnTo>
                <a:lnTo>
                  <a:pt x="218805" y="9524"/>
                </a:lnTo>
                <a:lnTo>
                  <a:pt x="934211" y="9524"/>
                </a:lnTo>
                <a:lnTo>
                  <a:pt x="937386" y="8000"/>
                </a:lnTo>
                <a:lnTo>
                  <a:pt x="937386" y="4825"/>
                </a:lnTo>
                <a:lnTo>
                  <a:pt x="937386" y="1523"/>
                </a:lnTo>
                <a:lnTo>
                  <a:pt x="940561" y="0"/>
                </a:lnTo>
                <a:lnTo>
                  <a:pt x="947039" y="0"/>
                </a:lnTo>
                <a:lnTo>
                  <a:pt x="953389" y="0"/>
                </a:lnTo>
                <a:lnTo>
                  <a:pt x="959739" y="0"/>
                </a:lnTo>
                <a:lnTo>
                  <a:pt x="966089" y="0"/>
                </a:lnTo>
                <a:lnTo>
                  <a:pt x="971466" y="289"/>
                </a:lnTo>
                <a:lnTo>
                  <a:pt x="1013952" y="9588"/>
                </a:lnTo>
                <a:lnTo>
                  <a:pt x="1033018" y="14350"/>
                </a:lnTo>
                <a:lnTo>
                  <a:pt x="1045844" y="17525"/>
                </a:lnTo>
                <a:lnTo>
                  <a:pt x="1053845" y="19176"/>
                </a:lnTo>
                <a:lnTo>
                  <a:pt x="1057020" y="19176"/>
                </a:lnTo>
                <a:lnTo>
                  <a:pt x="1060195" y="19176"/>
                </a:lnTo>
                <a:lnTo>
                  <a:pt x="1064895" y="19176"/>
                </a:lnTo>
                <a:lnTo>
                  <a:pt x="1071371" y="19176"/>
                </a:lnTo>
                <a:lnTo>
                  <a:pt x="1077721" y="19176"/>
                </a:lnTo>
                <a:lnTo>
                  <a:pt x="1084071" y="19176"/>
                </a:lnTo>
                <a:lnTo>
                  <a:pt x="1090421" y="1917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107553" y="5123688"/>
            <a:ext cx="1521460" cy="67310"/>
          </a:xfrm>
          <a:custGeom>
            <a:avLst/>
            <a:gdLst/>
            <a:ahLst/>
            <a:cxnLst/>
            <a:rect l="l" t="t" r="r" b="b"/>
            <a:pathLst>
              <a:path w="1521459" h="67310">
                <a:moveTo>
                  <a:pt x="0" y="67056"/>
                </a:moveTo>
                <a:lnTo>
                  <a:pt x="0" y="67056"/>
                </a:lnTo>
                <a:lnTo>
                  <a:pt x="191389" y="67056"/>
                </a:lnTo>
                <a:lnTo>
                  <a:pt x="215584" y="66748"/>
                </a:lnTo>
                <a:lnTo>
                  <a:pt x="240363" y="65833"/>
                </a:lnTo>
                <a:lnTo>
                  <a:pt x="265737" y="64323"/>
                </a:lnTo>
                <a:lnTo>
                  <a:pt x="291719" y="62230"/>
                </a:lnTo>
                <a:lnTo>
                  <a:pt x="318676" y="59848"/>
                </a:lnTo>
                <a:lnTo>
                  <a:pt x="346789" y="57467"/>
                </a:lnTo>
                <a:lnTo>
                  <a:pt x="376068" y="55086"/>
                </a:lnTo>
                <a:lnTo>
                  <a:pt x="406526" y="52705"/>
                </a:lnTo>
                <a:lnTo>
                  <a:pt x="437346" y="50250"/>
                </a:lnTo>
                <a:lnTo>
                  <a:pt x="467534" y="47831"/>
                </a:lnTo>
                <a:lnTo>
                  <a:pt x="497127" y="45436"/>
                </a:lnTo>
                <a:lnTo>
                  <a:pt x="526161" y="43053"/>
                </a:lnTo>
                <a:lnTo>
                  <a:pt x="555428" y="40671"/>
                </a:lnTo>
                <a:lnTo>
                  <a:pt x="617583" y="35909"/>
                </a:lnTo>
                <a:lnTo>
                  <a:pt x="684543" y="31146"/>
                </a:lnTo>
                <a:lnTo>
                  <a:pt x="756310" y="26384"/>
                </a:lnTo>
                <a:lnTo>
                  <a:pt x="794003" y="24003"/>
                </a:lnTo>
                <a:lnTo>
                  <a:pt x="831913" y="21548"/>
                </a:lnTo>
                <a:lnTo>
                  <a:pt x="869251" y="19129"/>
                </a:lnTo>
                <a:lnTo>
                  <a:pt x="906018" y="16734"/>
                </a:lnTo>
                <a:lnTo>
                  <a:pt x="942213" y="14350"/>
                </a:lnTo>
                <a:lnTo>
                  <a:pt x="978408" y="11969"/>
                </a:lnTo>
                <a:lnTo>
                  <a:pt x="1052512" y="7207"/>
                </a:lnTo>
                <a:lnTo>
                  <a:pt x="1127519" y="2732"/>
                </a:lnTo>
                <a:lnTo>
                  <a:pt x="1194524" y="307"/>
                </a:lnTo>
                <a:lnTo>
                  <a:pt x="1224406" y="0"/>
                </a:lnTo>
                <a:lnTo>
                  <a:pt x="1253079" y="0"/>
                </a:lnTo>
                <a:lnTo>
                  <a:pt x="1281763" y="0"/>
                </a:lnTo>
                <a:lnTo>
                  <a:pt x="1425194" y="0"/>
                </a:lnTo>
                <a:lnTo>
                  <a:pt x="1439269" y="307"/>
                </a:lnTo>
                <a:lnTo>
                  <a:pt x="1452737" y="1222"/>
                </a:lnTo>
                <a:lnTo>
                  <a:pt x="1465609" y="2732"/>
                </a:lnTo>
                <a:lnTo>
                  <a:pt x="1477899" y="4825"/>
                </a:lnTo>
                <a:lnTo>
                  <a:pt x="1489519" y="6919"/>
                </a:lnTo>
                <a:lnTo>
                  <a:pt x="1500568" y="8429"/>
                </a:lnTo>
                <a:lnTo>
                  <a:pt x="1511046" y="9344"/>
                </a:lnTo>
                <a:lnTo>
                  <a:pt x="1520952" y="9651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879722" y="5764657"/>
            <a:ext cx="1310640" cy="0"/>
          </a:xfrm>
          <a:custGeom>
            <a:avLst/>
            <a:gdLst/>
            <a:ahLst/>
            <a:cxnLst/>
            <a:rect l="l" t="t" r="r" b="b"/>
            <a:pathLst>
              <a:path w="1310639" h="0">
                <a:moveTo>
                  <a:pt x="0" y="0"/>
                </a:moveTo>
                <a:lnTo>
                  <a:pt x="0" y="0"/>
                </a:lnTo>
                <a:lnTo>
                  <a:pt x="1300607" y="0"/>
                </a:lnTo>
                <a:lnTo>
                  <a:pt x="1310513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421511" y="5688076"/>
            <a:ext cx="995044" cy="57785"/>
          </a:xfrm>
          <a:custGeom>
            <a:avLst/>
            <a:gdLst/>
            <a:ahLst/>
            <a:cxnLst/>
            <a:rect l="l" t="t" r="r" b="b"/>
            <a:pathLst>
              <a:path w="995044" h="57785">
                <a:moveTo>
                  <a:pt x="0" y="57404"/>
                </a:moveTo>
                <a:lnTo>
                  <a:pt x="6350" y="51054"/>
                </a:lnTo>
                <a:lnTo>
                  <a:pt x="11175" y="46228"/>
                </a:lnTo>
                <a:lnTo>
                  <a:pt x="14350" y="43053"/>
                </a:lnTo>
                <a:lnTo>
                  <a:pt x="17525" y="39878"/>
                </a:lnTo>
                <a:lnTo>
                  <a:pt x="22351" y="38226"/>
                </a:lnTo>
                <a:lnTo>
                  <a:pt x="28701" y="38226"/>
                </a:lnTo>
                <a:lnTo>
                  <a:pt x="34674" y="37631"/>
                </a:lnTo>
                <a:lnTo>
                  <a:pt x="43053" y="35845"/>
                </a:lnTo>
                <a:lnTo>
                  <a:pt x="53812" y="32869"/>
                </a:lnTo>
                <a:lnTo>
                  <a:pt x="66928" y="28701"/>
                </a:lnTo>
                <a:lnTo>
                  <a:pt x="81599" y="24227"/>
                </a:lnTo>
                <a:lnTo>
                  <a:pt x="129158" y="14350"/>
                </a:lnTo>
                <a:lnTo>
                  <a:pt x="187434" y="9832"/>
                </a:lnTo>
                <a:lnTo>
                  <a:pt x="233751" y="9237"/>
                </a:lnTo>
                <a:lnTo>
                  <a:pt x="255873" y="8366"/>
                </a:lnTo>
                <a:lnTo>
                  <a:pt x="276804" y="6899"/>
                </a:lnTo>
                <a:lnTo>
                  <a:pt x="296544" y="4825"/>
                </a:lnTo>
                <a:lnTo>
                  <a:pt x="316573" y="2732"/>
                </a:lnTo>
                <a:lnTo>
                  <a:pt x="338375" y="1222"/>
                </a:lnTo>
                <a:lnTo>
                  <a:pt x="361963" y="307"/>
                </a:lnTo>
                <a:lnTo>
                  <a:pt x="387350" y="0"/>
                </a:lnTo>
                <a:lnTo>
                  <a:pt x="413404" y="0"/>
                </a:lnTo>
                <a:lnTo>
                  <a:pt x="438816" y="0"/>
                </a:lnTo>
                <a:lnTo>
                  <a:pt x="988440" y="0"/>
                </a:lnTo>
                <a:lnTo>
                  <a:pt x="994790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48970">
              <a:lnSpc>
                <a:spcPct val="100000"/>
              </a:lnSpc>
              <a:spcBef>
                <a:spcPts val="100"/>
              </a:spcBef>
            </a:pPr>
            <a:r>
              <a:rPr dirty="0"/>
              <a:t>&lt;그림</a:t>
            </a:r>
            <a:r>
              <a:rPr dirty="0" spc="225"/>
              <a:t> </a:t>
            </a:r>
            <a:r>
              <a:rPr dirty="0" spc="220"/>
              <a:t>5-</a:t>
            </a:r>
            <a:r>
              <a:rPr dirty="0"/>
              <a:t>2&gt;</a:t>
            </a:r>
            <a:r>
              <a:rPr dirty="0" spc="235"/>
              <a:t> </a:t>
            </a:r>
            <a:r>
              <a:rPr dirty="0"/>
              <a:t>역선택의</a:t>
            </a:r>
            <a:r>
              <a:rPr dirty="0" spc="229"/>
              <a:t> </a:t>
            </a:r>
            <a:r>
              <a:rPr dirty="0"/>
              <a:t>문제가</a:t>
            </a:r>
            <a:r>
              <a:rPr dirty="0" spc="229"/>
              <a:t> </a:t>
            </a:r>
            <a:r>
              <a:rPr dirty="0"/>
              <a:t>보험시장의</a:t>
            </a:r>
            <a:r>
              <a:rPr dirty="0" spc="229"/>
              <a:t> </a:t>
            </a:r>
            <a:r>
              <a:rPr dirty="0"/>
              <a:t>균형에</a:t>
            </a:r>
            <a:r>
              <a:rPr dirty="0" spc="225"/>
              <a:t> </a:t>
            </a:r>
            <a:r>
              <a:rPr dirty="0"/>
              <a:t>미치는</a:t>
            </a:r>
            <a:r>
              <a:rPr dirty="0" spc="229"/>
              <a:t> </a:t>
            </a:r>
            <a:r>
              <a:rPr dirty="0" spc="-25"/>
              <a:t>영향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428299" y="2018283"/>
            <a:ext cx="5936615" cy="4196080"/>
            <a:chOff x="2428299" y="2018283"/>
            <a:chExt cx="5936615" cy="41960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8299" y="2071522"/>
              <a:ext cx="5936589" cy="414222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190494" y="3248913"/>
              <a:ext cx="3740150" cy="1397000"/>
            </a:xfrm>
            <a:custGeom>
              <a:avLst/>
              <a:gdLst/>
              <a:ahLst/>
              <a:cxnLst/>
              <a:rect l="l" t="t" r="r" b="b"/>
              <a:pathLst>
                <a:path w="3740150" h="1397000">
                  <a:moveTo>
                    <a:pt x="411226" y="28701"/>
                  </a:moveTo>
                  <a:lnTo>
                    <a:pt x="430966" y="28701"/>
                  </a:lnTo>
                  <a:lnTo>
                    <a:pt x="451897" y="28701"/>
                  </a:lnTo>
                  <a:lnTo>
                    <a:pt x="474019" y="28701"/>
                  </a:lnTo>
                  <a:lnTo>
                    <a:pt x="497331" y="28701"/>
                  </a:lnTo>
                </a:path>
                <a:path w="3740150" h="1397000">
                  <a:moveTo>
                    <a:pt x="1004316" y="47878"/>
                  </a:moveTo>
                  <a:lnTo>
                    <a:pt x="1004316" y="47878"/>
                  </a:lnTo>
                  <a:lnTo>
                    <a:pt x="1129297" y="47878"/>
                  </a:lnTo>
                  <a:lnTo>
                    <a:pt x="1138301" y="47878"/>
                  </a:lnTo>
                </a:path>
                <a:path w="3740150" h="1397000">
                  <a:moveTo>
                    <a:pt x="1606931" y="19176"/>
                  </a:moveTo>
                  <a:lnTo>
                    <a:pt x="1620101" y="23344"/>
                  </a:lnTo>
                  <a:lnTo>
                    <a:pt x="1630854" y="26320"/>
                  </a:lnTo>
                  <a:lnTo>
                    <a:pt x="1639202" y="28106"/>
                  </a:lnTo>
                  <a:lnTo>
                    <a:pt x="1645158" y="28701"/>
                  </a:lnTo>
                  <a:lnTo>
                    <a:pt x="1651634" y="28701"/>
                  </a:lnTo>
                  <a:lnTo>
                    <a:pt x="1657984" y="30352"/>
                  </a:lnTo>
                  <a:lnTo>
                    <a:pt x="1664334" y="33527"/>
                  </a:lnTo>
                  <a:lnTo>
                    <a:pt x="1670684" y="36702"/>
                  </a:lnTo>
                  <a:lnTo>
                    <a:pt x="1675510" y="38353"/>
                  </a:lnTo>
                  <a:lnTo>
                    <a:pt x="1678685" y="38353"/>
                  </a:lnTo>
                  <a:lnTo>
                    <a:pt x="1683758" y="38353"/>
                  </a:lnTo>
                  <a:lnTo>
                    <a:pt x="1694211" y="38353"/>
                  </a:lnTo>
                  <a:lnTo>
                    <a:pt x="1710047" y="38353"/>
                  </a:lnTo>
                  <a:lnTo>
                    <a:pt x="1731264" y="38353"/>
                  </a:lnTo>
                </a:path>
                <a:path w="3740150" h="1397000">
                  <a:moveTo>
                    <a:pt x="2180844" y="57403"/>
                  </a:moveTo>
                  <a:lnTo>
                    <a:pt x="2180844" y="57403"/>
                  </a:lnTo>
                  <a:lnTo>
                    <a:pt x="2277123" y="57403"/>
                  </a:lnTo>
                  <a:lnTo>
                    <a:pt x="2286127" y="57403"/>
                  </a:lnTo>
                </a:path>
                <a:path w="3740150" h="1397000">
                  <a:moveTo>
                    <a:pt x="2506091" y="76581"/>
                  </a:moveTo>
                  <a:lnTo>
                    <a:pt x="2511161" y="80748"/>
                  </a:lnTo>
                  <a:lnTo>
                    <a:pt x="2516838" y="83724"/>
                  </a:lnTo>
                  <a:lnTo>
                    <a:pt x="2523110" y="85510"/>
                  </a:lnTo>
                  <a:lnTo>
                    <a:pt x="2529967" y="86106"/>
                  </a:lnTo>
                  <a:lnTo>
                    <a:pt x="2539492" y="86106"/>
                  </a:lnTo>
                  <a:lnTo>
                    <a:pt x="2547493" y="86106"/>
                  </a:lnTo>
                  <a:lnTo>
                    <a:pt x="2628772" y="86106"/>
                  </a:lnTo>
                  <a:lnTo>
                    <a:pt x="2633598" y="89281"/>
                  </a:lnTo>
                  <a:lnTo>
                    <a:pt x="2639948" y="95631"/>
                  </a:lnTo>
                </a:path>
                <a:path w="3740150" h="1397000">
                  <a:moveTo>
                    <a:pt x="2754757" y="95631"/>
                  </a:moveTo>
                  <a:lnTo>
                    <a:pt x="2754757" y="95631"/>
                  </a:lnTo>
                  <a:lnTo>
                    <a:pt x="2837688" y="95631"/>
                  </a:lnTo>
                  <a:lnTo>
                    <a:pt x="2850388" y="95631"/>
                  </a:lnTo>
                </a:path>
                <a:path w="3740150" h="1397000">
                  <a:moveTo>
                    <a:pt x="3099054" y="105283"/>
                  </a:moveTo>
                  <a:lnTo>
                    <a:pt x="3099054" y="105283"/>
                  </a:lnTo>
                  <a:lnTo>
                    <a:pt x="3161284" y="105283"/>
                  </a:lnTo>
                  <a:lnTo>
                    <a:pt x="3169285" y="103632"/>
                  </a:lnTo>
                  <a:lnTo>
                    <a:pt x="3175635" y="100457"/>
                  </a:lnTo>
                  <a:lnTo>
                    <a:pt x="3181985" y="97282"/>
                  </a:lnTo>
                  <a:lnTo>
                    <a:pt x="3188335" y="95631"/>
                  </a:lnTo>
                  <a:lnTo>
                    <a:pt x="3194811" y="95631"/>
                  </a:lnTo>
                  <a:lnTo>
                    <a:pt x="3201362" y="95631"/>
                  </a:lnTo>
                  <a:lnTo>
                    <a:pt x="3211496" y="95631"/>
                  </a:lnTo>
                  <a:lnTo>
                    <a:pt x="3225226" y="95631"/>
                  </a:lnTo>
                  <a:lnTo>
                    <a:pt x="3242564" y="95631"/>
                  </a:lnTo>
                </a:path>
                <a:path w="3740150" h="1397000">
                  <a:moveTo>
                    <a:pt x="3606037" y="57403"/>
                  </a:moveTo>
                  <a:lnTo>
                    <a:pt x="3606037" y="57403"/>
                  </a:lnTo>
                  <a:lnTo>
                    <a:pt x="3726850" y="57403"/>
                  </a:lnTo>
                  <a:lnTo>
                    <a:pt x="3740023" y="57403"/>
                  </a:lnTo>
                </a:path>
                <a:path w="3740150" h="1397000">
                  <a:moveTo>
                    <a:pt x="296544" y="621791"/>
                  </a:moveTo>
                  <a:lnTo>
                    <a:pt x="296544" y="628141"/>
                  </a:lnTo>
                  <a:lnTo>
                    <a:pt x="301244" y="631316"/>
                  </a:lnTo>
                  <a:lnTo>
                    <a:pt x="310895" y="631316"/>
                  </a:lnTo>
                  <a:lnTo>
                    <a:pt x="320420" y="631316"/>
                  </a:lnTo>
                  <a:lnTo>
                    <a:pt x="350646" y="631316"/>
                  </a:lnTo>
                  <a:lnTo>
                    <a:pt x="363473" y="631316"/>
                  </a:lnTo>
                </a:path>
                <a:path w="3740150" h="1397000">
                  <a:moveTo>
                    <a:pt x="497331" y="621791"/>
                  </a:moveTo>
                  <a:lnTo>
                    <a:pt x="497331" y="621791"/>
                  </a:lnTo>
                  <a:lnTo>
                    <a:pt x="597789" y="621791"/>
                  </a:lnTo>
                  <a:lnTo>
                    <a:pt x="601073" y="622387"/>
                  </a:lnTo>
                  <a:lnTo>
                    <a:pt x="606155" y="624173"/>
                  </a:lnTo>
                  <a:lnTo>
                    <a:pt x="613023" y="627149"/>
                  </a:lnTo>
                  <a:lnTo>
                    <a:pt x="621665" y="631316"/>
                  </a:lnTo>
                </a:path>
                <a:path w="3740150" h="1397000">
                  <a:moveTo>
                    <a:pt x="1004316" y="669544"/>
                  </a:moveTo>
                  <a:lnTo>
                    <a:pt x="1044971" y="668385"/>
                  </a:lnTo>
                  <a:lnTo>
                    <a:pt x="1084071" y="661670"/>
                  </a:lnTo>
                  <a:lnTo>
                    <a:pt x="1092072" y="660019"/>
                  </a:lnTo>
                  <a:lnTo>
                    <a:pt x="1134998" y="660019"/>
                  </a:lnTo>
                  <a:lnTo>
                    <a:pt x="1147826" y="660019"/>
                  </a:lnTo>
                </a:path>
                <a:path w="3740150" h="1397000">
                  <a:moveTo>
                    <a:pt x="1252982" y="660019"/>
                  </a:moveTo>
                  <a:lnTo>
                    <a:pt x="1252982" y="660019"/>
                  </a:lnTo>
                  <a:lnTo>
                    <a:pt x="1350452" y="660019"/>
                  </a:lnTo>
                  <a:lnTo>
                    <a:pt x="1367790" y="660019"/>
                  </a:lnTo>
                </a:path>
                <a:path w="3740150" h="1397000">
                  <a:moveTo>
                    <a:pt x="1779143" y="669544"/>
                  </a:moveTo>
                  <a:lnTo>
                    <a:pt x="1779143" y="669544"/>
                  </a:lnTo>
                  <a:lnTo>
                    <a:pt x="1899884" y="669544"/>
                  </a:lnTo>
                  <a:lnTo>
                    <a:pt x="1913001" y="669544"/>
                  </a:lnTo>
                </a:path>
                <a:path w="3740150" h="1397000">
                  <a:moveTo>
                    <a:pt x="2161667" y="669544"/>
                  </a:moveTo>
                  <a:lnTo>
                    <a:pt x="2161667" y="669544"/>
                  </a:lnTo>
                  <a:lnTo>
                    <a:pt x="2263068" y="669544"/>
                  </a:lnTo>
                  <a:lnTo>
                    <a:pt x="2276475" y="669544"/>
                  </a:lnTo>
                </a:path>
                <a:path w="3740150" h="1397000">
                  <a:moveTo>
                    <a:pt x="2553843" y="660019"/>
                  </a:moveTo>
                  <a:lnTo>
                    <a:pt x="2553843" y="660019"/>
                  </a:lnTo>
                  <a:lnTo>
                    <a:pt x="2598547" y="660019"/>
                  </a:lnTo>
                  <a:lnTo>
                    <a:pt x="2611247" y="660019"/>
                  </a:lnTo>
                </a:path>
                <a:path w="3740150" h="1397000">
                  <a:moveTo>
                    <a:pt x="2678176" y="650494"/>
                  </a:moveTo>
                  <a:lnTo>
                    <a:pt x="2678176" y="650494"/>
                  </a:lnTo>
                  <a:lnTo>
                    <a:pt x="2730881" y="650494"/>
                  </a:lnTo>
                  <a:lnTo>
                    <a:pt x="2738332" y="649896"/>
                  </a:lnTo>
                  <a:lnTo>
                    <a:pt x="2746390" y="648096"/>
                  </a:lnTo>
                  <a:lnTo>
                    <a:pt x="2755044" y="645082"/>
                  </a:lnTo>
                  <a:lnTo>
                    <a:pt x="2764282" y="640841"/>
                  </a:lnTo>
                </a:path>
                <a:path w="3740150" h="1397000">
                  <a:moveTo>
                    <a:pt x="296544" y="1396492"/>
                  </a:moveTo>
                  <a:lnTo>
                    <a:pt x="305476" y="1395896"/>
                  </a:lnTo>
                  <a:lnTo>
                    <a:pt x="313229" y="1394110"/>
                  </a:lnTo>
                  <a:lnTo>
                    <a:pt x="319815" y="1391134"/>
                  </a:lnTo>
                  <a:lnTo>
                    <a:pt x="325246" y="1386967"/>
                  </a:lnTo>
                </a:path>
                <a:path w="3740150" h="1397000">
                  <a:moveTo>
                    <a:pt x="640842" y="1339215"/>
                  </a:moveTo>
                  <a:lnTo>
                    <a:pt x="640842" y="1339215"/>
                  </a:lnTo>
                  <a:lnTo>
                    <a:pt x="865026" y="1339215"/>
                  </a:lnTo>
                  <a:lnTo>
                    <a:pt x="870457" y="1339215"/>
                  </a:lnTo>
                </a:path>
                <a:path w="3740150" h="1397000">
                  <a:moveTo>
                    <a:pt x="985139" y="1339215"/>
                  </a:moveTo>
                  <a:lnTo>
                    <a:pt x="989965" y="1339215"/>
                  </a:lnTo>
                  <a:lnTo>
                    <a:pt x="1093596" y="1339215"/>
                  </a:lnTo>
                  <a:lnTo>
                    <a:pt x="1099946" y="1339215"/>
                  </a:lnTo>
                </a:path>
                <a:path w="3740150" h="1397000">
                  <a:moveTo>
                    <a:pt x="1291335" y="1329563"/>
                  </a:moveTo>
                  <a:lnTo>
                    <a:pt x="1291335" y="1329563"/>
                  </a:lnTo>
                  <a:lnTo>
                    <a:pt x="1417435" y="1329563"/>
                  </a:lnTo>
                  <a:lnTo>
                    <a:pt x="1434719" y="1329563"/>
                  </a:lnTo>
                </a:path>
                <a:path w="3740150" h="1397000">
                  <a:moveTo>
                    <a:pt x="1635633" y="1320038"/>
                  </a:moveTo>
                  <a:lnTo>
                    <a:pt x="1635633" y="1320038"/>
                  </a:lnTo>
                  <a:lnTo>
                    <a:pt x="1763141" y="1320038"/>
                  </a:lnTo>
                  <a:lnTo>
                    <a:pt x="1769491" y="1320038"/>
                  </a:lnTo>
                </a:path>
                <a:path w="3740150" h="1397000">
                  <a:moveTo>
                    <a:pt x="1874773" y="1320038"/>
                  </a:moveTo>
                  <a:lnTo>
                    <a:pt x="1874773" y="1320038"/>
                  </a:lnTo>
                  <a:lnTo>
                    <a:pt x="1948053" y="1320038"/>
                  </a:lnTo>
                  <a:lnTo>
                    <a:pt x="1960880" y="1320038"/>
                  </a:lnTo>
                </a:path>
                <a:path w="3740150" h="1397000">
                  <a:moveTo>
                    <a:pt x="210439" y="0"/>
                  </a:moveTo>
                  <a:lnTo>
                    <a:pt x="204089" y="0"/>
                  </a:lnTo>
                  <a:lnTo>
                    <a:pt x="199263" y="0"/>
                  </a:lnTo>
                  <a:lnTo>
                    <a:pt x="196088" y="0"/>
                  </a:lnTo>
                  <a:lnTo>
                    <a:pt x="192913" y="0"/>
                  </a:lnTo>
                  <a:lnTo>
                    <a:pt x="189738" y="1650"/>
                  </a:lnTo>
                  <a:lnTo>
                    <a:pt x="186563" y="4825"/>
                  </a:lnTo>
                  <a:lnTo>
                    <a:pt x="183260" y="8000"/>
                  </a:lnTo>
                  <a:lnTo>
                    <a:pt x="181736" y="11175"/>
                  </a:lnTo>
                  <a:lnTo>
                    <a:pt x="181736" y="14350"/>
                  </a:lnTo>
                  <a:lnTo>
                    <a:pt x="181736" y="17525"/>
                  </a:lnTo>
                  <a:lnTo>
                    <a:pt x="180085" y="19176"/>
                  </a:lnTo>
                  <a:lnTo>
                    <a:pt x="164210" y="19176"/>
                  </a:lnTo>
                  <a:lnTo>
                    <a:pt x="161035" y="20700"/>
                  </a:lnTo>
                  <a:lnTo>
                    <a:pt x="157860" y="24002"/>
                  </a:lnTo>
                  <a:lnTo>
                    <a:pt x="154685" y="27177"/>
                  </a:lnTo>
                  <a:lnTo>
                    <a:pt x="151383" y="30352"/>
                  </a:lnTo>
                  <a:lnTo>
                    <a:pt x="148208" y="33527"/>
                  </a:lnTo>
                  <a:lnTo>
                    <a:pt x="145033" y="36702"/>
                  </a:lnTo>
                  <a:lnTo>
                    <a:pt x="140334" y="39877"/>
                  </a:lnTo>
                  <a:lnTo>
                    <a:pt x="133857" y="43052"/>
                  </a:lnTo>
                  <a:lnTo>
                    <a:pt x="127507" y="46227"/>
                  </a:lnTo>
                  <a:lnTo>
                    <a:pt x="121157" y="51053"/>
                  </a:lnTo>
                  <a:lnTo>
                    <a:pt x="114807" y="57403"/>
                  </a:lnTo>
                  <a:lnTo>
                    <a:pt x="108331" y="63753"/>
                  </a:lnTo>
                  <a:lnTo>
                    <a:pt x="105156" y="68580"/>
                  </a:lnTo>
                  <a:lnTo>
                    <a:pt x="105156" y="71755"/>
                  </a:lnTo>
                  <a:lnTo>
                    <a:pt x="105156" y="74930"/>
                  </a:lnTo>
                  <a:lnTo>
                    <a:pt x="103631" y="78105"/>
                  </a:lnTo>
                  <a:lnTo>
                    <a:pt x="100456" y="81280"/>
                  </a:lnTo>
                  <a:lnTo>
                    <a:pt x="97281" y="84582"/>
                  </a:lnTo>
                  <a:lnTo>
                    <a:pt x="94106" y="87757"/>
                  </a:lnTo>
                  <a:lnTo>
                    <a:pt x="90805" y="90932"/>
                  </a:lnTo>
                  <a:lnTo>
                    <a:pt x="87630" y="94107"/>
                  </a:lnTo>
                  <a:lnTo>
                    <a:pt x="84455" y="97282"/>
                  </a:lnTo>
                  <a:lnTo>
                    <a:pt x="81280" y="100457"/>
                  </a:lnTo>
                  <a:lnTo>
                    <a:pt x="78105" y="103632"/>
                  </a:lnTo>
                  <a:lnTo>
                    <a:pt x="76454" y="108458"/>
                  </a:lnTo>
                  <a:lnTo>
                    <a:pt x="76454" y="132334"/>
                  </a:lnTo>
                  <a:lnTo>
                    <a:pt x="74930" y="133985"/>
                  </a:lnTo>
                  <a:lnTo>
                    <a:pt x="71755" y="133985"/>
                  </a:lnTo>
                  <a:lnTo>
                    <a:pt x="68580" y="133985"/>
                  </a:lnTo>
                  <a:lnTo>
                    <a:pt x="66929" y="135509"/>
                  </a:lnTo>
                  <a:lnTo>
                    <a:pt x="66929" y="170561"/>
                  </a:lnTo>
                  <a:lnTo>
                    <a:pt x="65405" y="173862"/>
                  </a:lnTo>
                  <a:lnTo>
                    <a:pt x="62103" y="177037"/>
                  </a:lnTo>
                  <a:lnTo>
                    <a:pt x="58928" y="180212"/>
                  </a:lnTo>
                  <a:lnTo>
                    <a:pt x="57404" y="186562"/>
                  </a:lnTo>
                  <a:lnTo>
                    <a:pt x="57404" y="196087"/>
                  </a:lnTo>
                  <a:lnTo>
                    <a:pt x="57404" y="205739"/>
                  </a:lnTo>
                  <a:lnTo>
                    <a:pt x="57404" y="371475"/>
                  </a:lnTo>
                  <a:lnTo>
                    <a:pt x="58928" y="376300"/>
                  </a:lnTo>
                  <a:lnTo>
                    <a:pt x="62103" y="382650"/>
                  </a:lnTo>
                  <a:lnTo>
                    <a:pt x="65405" y="389000"/>
                  </a:lnTo>
                  <a:lnTo>
                    <a:pt x="66929" y="393826"/>
                  </a:lnTo>
                  <a:lnTo>
                    <a:pt x="66929" y="409701"/>
                  </a:lnTo>
                  <a:lnTo>
                    <a:pt x="68580" y="412876"/>
                  </a:lnTo>
                  <a:lnTo>
                    <a:pt x="71755" y="416178"/>
                  </a:lnTo>
                  <a:lnTo>
                    <a:pt x="74930" y="419353"/>
                  </a:lnTo>
                  <a:lnTo>
                    <a:pt x="79756" y="424052"/>
                  </a:lnTo>
                  <a:lnTo>
                    <a:pt x="86106" y="430530"/>
                  </a:lnTo>
                  <a:lnTo>
                    <a:pt x="92456" y="436880"/>
                  </a:lnTo>
                  <a:lnTo>
                    <a:pt x="95631" y="443230"/>
                  </a:lnTo>
                  <a:lnTo>
                    <a:pt x="95631" y="449580"/>
                  </a:lnTo>
                  <a:lnTo>
                    <a:pt x="95631" y="455930"/>
                  </a:lnTo>
                  <a:lnTo>
                    <a:pt x="97281" y="460756"/>
                  </a:lnTo>
                  <a:lnTo>
                    <a:pt x="100456" y="463931"/>
                  </a:lnTo>
                  <a:lnTo>
                    <a:pt x="103631" y="467106"/>
                  </a:lnTo>
                  <a:lnTo>
                    <a:pt x="106806" y="471932"/>
                  </a:lnTo>
                  <a:lnTo>
                    <a:pt x="109981" y="478282"/>
                  </a:lnTo>
                  <a:lnTo>
                    <a:pt x="113156" y="484632"/>
                  </a:lnTo>
                  <a:lnTo>
                    <a:pt x="116331" y="491109"/>
                  </a:lnTo>
                  <a:lnTo>
                    <a:pt x="119506" y="497459"/>
                  </a:lnTo>
                  <a:lnTo>
                    <a:pt x="122681" y="503809"/>
                  </a:lnTo>
                  <a:lnTo>
                    <a:pt x="125983" y="508635"/>
                  </a:lnTo>
                  <a:lnTo>
                    <a:pt x="129158" y="511810"/>
                  </a:lnTo>
                  <a:lnTo>
                    <a:pt x="132135" y="514786"/>
                  </a:lnTo>
                  <a:lnTo>
                    <a:pt x="136302" y="518953"/>
                  </a:lnTo>
                  <a:lnTo>
                    <a:pt x="141660" y="524311"/>
                  </a:lnTo>
                  <a:lnTo>
                    <a:pt x="148208" y="530860"/>
                  </a:lnTo>
                  <a:lnTo>
                    <a:pt x="155120" y="537481"/>
                  </a:lnTo>
                  <a:lnTo>
                    <a:pt x="161401" y="542877"/>
                  </a:lnTo>
                  <a:lnTo>
                    <a:pt x="167086" y="547058"/>
                  </a:lnTo>
                  <a:lnTo>
                    <a:pt x="172211" y="550037"/>
                  </a:lnTo>
                  <a:lnTo>
                    <a:pt x="178561" y="553212"/>
                  </a:lnTo>
                  <a:lnTo>
                    <a:pt x="184911" y="556387"/>
                  </a:lnTo>
                  <a:lnTo>
                    <a:pt x="191261" y="559562"/>
                  </a:lnTo>
                  <a:lnTo>
                    <a:pt x="197611" y="562737"/>
                  </a:lnTo>
                  <a:lnTo>
                    <a:pt x="202438" y="566038"/>
                  </a:lnTo>
                  <a:lnTo>
                    <a:pt x="205613" y="569213"/>
                  </a:lnTo>
                  <a:lnTo>
                    <a:pt x="208788" y="572388"/>
                  </a:lnTo>
                  <a:lnTo>
                    <a:pt x="213614" y="573913"/>
                  </a:lnTo>
                  <a:lnTo>
                    <a:pt x="219964" y="573913"/>
                  </a:lnTo>
                </a:path>
                <a:path w="3740150" h="1397000">
                  <a:moveTo>
                    <a:pt x="258191" y="1329563"/>
                  </a:moveTo>
                  <a:lnTo>
                    <a:pt x="258191" y="1329563"/>
                  </a:lnTo>
                  <a:lnTo>
                    <a:pt x="183260" y="1329563"/>
                  </a:lnTo>
                  <a:lnTo>
                    <a:pt x="178561" y="1328039"/>
                  </a:lnTo>
                  <a:lnTo>
                    <a:pt x="141352" y="1305081"/>
                  </a:lnTo>
                  <a:lnTo>
                    <a:pt x="119858" y="1272807"/>
                  </a:lnTo>
                  <a:lnTo>
                    <a:pt x="115966" y="1265031"/>
                  </a:lnTo>
                  <a:lnTo>
                    <a:pt x="112670" y="1258468"/>
                  </a:lnTo>
                  <a:lnTo>
                    <a:pt x="109981" y="1253109"/>
                  </a:lnTo>
                  <a:lnTo>
                    <a:pt x="106806" y="1246759"/>
                  </a:lnTo>
                  <a:lnTo>
                    <a:pt x="103631" y="1243457"/>
                  </a:lnTo>
                  <a:lnTo>
                    <a:pt x="100456" y="1243457"/>
                  </a:lnTo>
                  <a:lnTo>
                    <a:pt x="97281" y="1243457"/>
                  </a:lnTo>
                  <a:lnTo>
                    <a:pt x="92456" y="1237107"/>
                  </a:lnTo>
                  <a:lnTo>
                    <a:pt x="74443" y="1195706"/>
                  </a:lnTo>
                  <a:lnTo>
                    <a:pt x="69371" y="1177464"/>
                  </a:lnTo>
                  <a:lnTo>
                    <a:pt x="66976" y="1170559"/>
                  </a:lnTo>
                  <a:lnTo>
                    <a:pt x="64557" y="1165463"/>
                  </a:lnTo>
                  <a:lnTo>
                    <a:pt x="62103" y="1162177"/>
                  </a:lnTo>
                  <a:lnTo>
                    <a:pt x="58928" y="1159002"/>
                  </a:lnTo>
                  <a:lnTo>
                    <a:pt x="54229" y="1152652"/>
                  </a:lnTo>
                  <a:lnTo>
                    <a:pt x="33400" y="1119124"/>
                  </a:lnTo>
                  <a:lnTo>
                    <a:pt x="28701" y="1106424"/>
                  </a:lnTo>
                  <a:lnTo>
                    <a:pt x="28701" y="1100074"/>
                  </a:lnTo>
                  <a:lnTo>
                    <a:pt x="28106" y="1094948"/>
                  </a:lnTo>
                  <a:lnTo>
                    <a:pt x="26320" y="1089263"/>
                  </a:lnTo>
                  <a:lnTo>
                    <a:pt x="23344" y="1082982"/>
                  </a:lnTo>
                  <a:lnTo>
                    <a:pt x="19176" y="1076071"/>
                  </a:lnTo>
                  <a:lnTo>
                    <a:pt x="14648" y="1069214"/>
                  </a:lnTo>
                  <a:lnTo>
                    <a:pt x="10763" y="1062942"/>
                  </a:lnTo>
                  <a:lnTo>
                    <a:pt x="7496" y="1057265"/>
                  </a:lnTo>
                  <a:lnTo>
                    <a:pt x="4825" y="1052195"/>
                  </a:lnTo>
                  <a:lnTo>
                    <a:pt x="1524" y="1045845"/>
                  </a:lnTo>
                  <a:lnTo>
                    <a:pt x="0" y="1037844"/>
                  </a:lnTo>
                  <a:lnTo>
                    <a:pt x="0" y="1028319"/>
                  </a:lnTo>
                  <a:lnTo>
                    <a:pt x="0" y="1018666"/>
                  </a:lnTo>
                  <a:lnTo>
                    <a:pt x="0" y="875284"/>
                  </a:lnTo>
                  <a:lnTo>
                    <a:pt x="595" y="868066"/>
                  </a:lnTo>
                  <a:lnTo>
                    <a:pt x="20700" y="830580"/>
                  </a:lnTo>
                  <a:lnTo>
                    <a:pt x="23875" y="827405"/>
                  </a:lnTo>
                  <a:lnTo>
                    <a:pt x="27050" y="824230"/>
                  </a:lnTo>
                  <a:lnTo>
                    <a:pt x="28701" y="819403"/>
                  </a:lnTo>
                  <a:lnTo>
                    <a:pt x="28701" y="813053"/>
                  </a:lnTo>
                  <a:lnTo>
                    <a:pt x="28701" y="806703"/>
                  </a:lnTo>
                  <a:lnTo>
                    <a:pt x="31876" y="800353"/>
                  </a:lnTo>
                  <a:lnTo>
                    <a:pt x="38226" y="794003"/>
                  </a:lnTo>
                  <a:lnTo>
                    <a:pt x="44576" y="787526"/>
                  </a:lnTo>
                  <a:lnTo>
                    <a:pt x="49403" y="784351"/>
                  </a:lnTo>
                  <a:lnTo>
                    <a:pt x="52578" y="784351"/>
                  </a:lnTo>
                  <a:lnTo>
                    <a:pt x="55753" y="784351"/>
                  </a:lnTo>
                  <a:lnTo>
                    <a:pt x="58928" y="782827"/>
                  </a:lnTo>
                  <a:lnTo>
                    <a:pt x="62103" y="779652"/>
                  </a:lnTo>
                  <a:lnTo>
                    <a:pt x="65405" y="776351"/>
                  </a:lnTo>
                  <a:lnTo>
                    <a:pt x="66929" y="771651"/>
                  </a:lnTo>
                  <a:lnTo>
                    <a:pt x="66929" y="765301"/>
                  </a:lnTo>
                  <a:lnTo>
                    <a:pt x="66929" y="758825"/>
                  </a:lnTo>
                  <a:lnTo>
                    <a:pt x="70104" y="754126"/>
                  </a:lnTo>
                  <a:lnTo>
                    <a:pt x="76454" y="750951"/>
                  </a:lnTo>
                  <a:lnTo>
                    <a:pt x="82931" y="747776"/>
                  </a:lnTo>
                  <a:lnTo>
                    <a:pt x="89281" y="742950"/>
                  </a:lnTo>
                  <a:lnTo>
                    <a:pt x="119506" y="717423"/>
                  </a:lnTo>
                  <a:lnTo>
                    <a:pt x="126724" y="712658"/>
                  </a:lnTo>
                  <a:lnTo>
                    <a:pt x="133905" y="707882"/>
                  </a:lnTo>
                  <a:lnTo>
                    <a:pt x="141063" y="703081"/>
                  </a:lnTo>
                  <a:lnTo>
                    <a:pt x="148208" y="698246"/>
                  </a:lnTo>
                  <a:lnTo>
                    <a:pt x="157860" y="691896"/>
                  </a:lnTo>
                  <a:lnTo>
                    <a:pt x="164210" y="687197"/>
                  </a:lnTo>
                  <a:lnTo>
                    <a:pt x="167385" y="683895"/>
                  </a:lnTo>
                  <a:lnTo>
                    <a:pt x="170560" y="680720"/>
                  </a:lnTo>
                  <a:lnTo>
                    <a:pt x="176910" y="677545"/>
                  </a:lnTo>
                  <a:lnTo>
                    <a:pt x="186563" y="674370"/>
                  </a:lnTo>
                  <a:lnTo>
                    <a:pt x="196088" y="671195"/>
                  </a:lnTo>
                  <a:lnTo>
                    <a:pt x="202438" y="669544"/>
                  </a:lnTo>
                  <a:lnTo>
                    <a:pt x="205613" y="669544"/>
                  </a:lnTo>
                  <a:lnTo>
                    <a:pt x="208788" y="669544"/>
                  </a:lnTo>
                  <a:lnTo>
                    <a:pt x="213614" y="669544"/>
                  </a:lnTo>
                  <a:lnTo>
                    <a:pt x="219964" y="669544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13678" y="2955670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0" y="6350"/>
                  </a:moveTo>
                  <a:lnTo>
                    <a:pt x="1859" y="1859"/>
                  </a:lnTo>
                  <a:lnTo>
                    <a:pt x="6350" y="0"/>
                  </a:lnTo>
                  <a:lnTo>
                    <a:pt x="10840" y="1859"/>
                  </a:lnTo>
                  <a:lnTo>
                    <a:pt x="12700" y="6350"/>
                  </a:lnTo>
                  <a:lnTo>
                    <a:pt x="10840" y="10840"/>
                  </a:lnTo>
                  <a:lnTo>
                    <a:pt x="6350" y="12700"/>
                  </a:lnTo>
                  <a:lnTo>
                    <a:pt x="1859" y="1084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284597" y="2024633"/>
              <a:ext cx="727075" cy="1597660"/>
            </a:xfrm>
            <a:custGeom>
              <a:avLst/>
              <a:gdLst/>
              <a:ahLst/>
              <a:cxnLst/>
              <a:rect l="l" t="t" r="r" b="b"/>
              <a:pathLst>
                <a:path w="727075" h="1597660">
                  <a:moveTo>
                    <a:pt x="344297" y="1597405"/>
                  </a:moveTo>
                  <a:lnTo>
                    <a:pt x="342645" y="1597405"/>
                  </a:lnTo>
                  <a:lnTo>
                    <a:pt x="309244" y="1597405"/>
                  </a:lnTo>
                  <a:lnTo>
                    <a:pt x="302894" y="1595754"/>
                  </a:lnTo>
                  <a:lnTo>
                    <a:pt x="278891" y="1579879"/>
                  </a:lnTo>
                  <a:lnTo>
                    <a:pt x="272541" y="1578228"/>
                  </a:lnTo>
                  <a:lnTo>
                    <a:pt x="263016" y="1578228"/>
                  </a:lnTo>
                  <a:lnTo>
                    <a:pt x="255799" y="1577633"/>
                  </a:lnTo>
                  <a:lnTo>
                    <a:pt x="248618" y="1575847"/>
                  </a:lnTo>
                  <a:lnTo>
                    <a:pt x="241460" y="1572871"/>
                  </a:lnTo>
                  <a:lnTo>
                    <a:pt x="234314" y="1568703"/>
                  </a:lnTo>
                  <a:lnTo>
                    <a:pt x="227151" y="1563868"/>
                  </a:lnTo>
                  <a:lnTo>
                    <a:pt x="219963" y="1559067"/>
                  </a:lnTo>
                  <a:lnTo>
                    <a:pt x="212776" y="1554291"/>
                  </a:lnTo>
                  <a:lnTo>
                    <a:pt x="205612" y="1549527"/>
                  </a:lnTo>
                  <a:lnTo>
                    <a:pt x="198756" y="1545359"/>
                  </a:lnTo>
                  <a:lnTo>
                    <a:pt x="192484" y="1542383"/>
                  </a:lnTo>
                  <a:lnTo>
                    <a:pt x="186807" y="1540597"/>
                  </a:lnTo>
                  <a:lnTo>
                    <a:pt x="181737" y="1540002"/>
                  </a:lnTo>
                  <a:lnTo>
                    <a:pt x="175260" y="1540002"/>
                  </a:lnTo>
                  <a:lnTo>
                    <a:pt x="168910" y="1540002"/>
                  </a:lnTo>
                  <a:lnTo>
                    <a:pt x="162560" y="1540002"/>
                  </a:lnTo>
                  <a:lnTo>
                    <a:pt x="156210" y="1540002"/>
                  </a:lnTo>
                  <a:lnTo>
                    <a:pt x="151383" y="1538351"/>
                  </a:lnTo>
                  <a:lnTo>
                    <a:pt x="105155" y="1492123"/>
                  </a:lnTo>
                  <a:lnTo>
                    <a:pt x="100391" y="1487360"/>
                  </a:lnTo>
                  <a:lnTo>
                    <a:pt x="95615" y="1482598"/>
                  </a:lnTo>
                  <a:lnTo>
                    <a:pt x="90814" y="1477835"/>
                  </a:lnTo>
                  <a:lnTo>
                    <a:pt x="85978" y="1473073"/>
                  </a:lnTo>
                  <a:lnTo>
                    <a:pt x="81522" y="1466738"/>
                  </a:lnTo>
                  <a:lnTo>
                    <a:pt x="77660" y="1457452"/>
                  </a:lnTo>
                  <a:lnTo>
                    <a:pt x="74370" y="1445212"/>
                  </a:lnTo>
                  <a:lnTo>
                    <a:pt x="71627" y="1430019"/>
                  </a:lnTo>
                  <a:lnTo>
                    <a:pt x="68959" y="1414158"/>
                  </a:lnTo>
                  <a:lnTo>
                    <a:pt x="65706" y="1400095"/>
                  </a:lnTo>
                  <a:lnTo>
                    <a:pt x="61858" y="1387818"/>
                  </a:lnTo>
                  <a:lnTo>
                    <a:pt x="57403" y="1377314"/>
                  </a:lnTo>
                  <a:lnTo>
                    <a:pt x="52875" y="1367770"/>
                  </a:lnTo>
                  <a:lnTo>
                    <a:pt x="48990" y="1358201"/>
                  </a:lnTo>
                  <a:lnTo>
                    <a:pt x="45723" y="1348632"/>
                  </a:lnTo>
                  <a:lnTo>
                    <a:pt x="43052" y="1339088"/>
                  </a:lnTo>
                  <a:lnTo>
                    <a:pt x="40598" y="1330446"/>
                  </a:lnTo>
                  <a:lnTo>
                    <a:pt x="38179" y="1323578"/>
                  </a:lnTo>
                  <a:lnTo>
                    <a:pt x="35784" y="1318496"/>
                  </a:lnTo>
                  <a:lnTo>
                    <a:pt x="33400" y="1315212"/>
                  </a:lnTo>
                  <a:lnTo>
                    <a:pt x="30225" y="1312037"/>
                  </a:lnTo>
                  <a:lnTo>
                    <a:pt x="27050" y="1305560"/>
                  </a:lnTo>
                  <a:lnTo>
                    <a:pt x="23875" y="1296035"/>
                  </a:lnTo>
                  <a:lnTo>
                    <a:pt x="20700" y="1286510"/>
                  </a:lnTo>
                  <a:lnTo>
                    <a:pt x="19050" y="1278508"/>
                  </a:lnTo>
                  <a:lnTo>
                    <a:pt x="19050" y="1272158"/>
                  </a:lnTo>
                  <a:lnTo>
                    <a:pt x="19050" y="1265808"/>
                  </a:lnTo>
                  <a:lnTo>
                    <a:pt x="17525" y="1257807"/>
                  </a:lnTo>
                  <a:lnTo>
                    <a:pt x="4699" y="1214754"/>
                  </a:lnTo>
                  <a:lnTo>
                    <a:pt x="0" y="1176527"/>
                  </a:lnTo>
                  <a:lnTo>
                    <a:pt x="0" y="1167524"/>
                  </a:lnTo>
                  <a:lnTo>
                    <a:pt x="0" y="1159748"/>
                  </a:lnTo>
                  <a:lnTo>
                    <a:pt x="0" y="969263"/>
                  </a:lnTo>
                  <a:lnTo>
                    <a:pt x="1524" y="966088"/>
                  </a:lnTo>
                  <a:lnTo>
                    <a:pt x="4699" y="966088"/>
                  </a:lnTo>
                  <a:lnTo>
                    <a:pt x="7874" y="966088"/>
                  </a:lnTo>
                  <a:lnTo>
                    <a:pt x="11049" y="964438"/>
                  </a:lnTo>
                  <a:lnTo>
                    <a:pt x="14350" y="961263"/>
                  </a:lnTo>
                  <a:lnTo>
                    <a:pt x="17525" y="958088"/>
                  </a:lnTo>
                  <a:lnTo>
                    <a:pt x="22225" y="954913"/>
                  </a:lnTo>
                  <a:lnTo>
                    <a:pt x="57403" y="946912"/>
                  </a:lnTo>
                  <a:lnTo>
                    <a:pt x="70103" y="946912"/>
                  </a:lnTo>
                  <a:lnTo>
                    <a:pt x="78104" y="946912"/>
                  </a:lnTo>
                  <a:lnTo>
                    <a:pt x="81279" y="946912"/>
                  </a:lnTo>
                  <a:lnTo>
                    <a:pt x="84454" y="946912"/>
                  </a:lnTo>
                  <a:lnTo>
                    <a:pt x="92455" y="946912"/>
                  </a:lnTo>
                  <a:lnTo>
                    <a:pt x="105155" y="946912"/>
                  </a:lnTo>
                  <a:lnTo>
                    <a:pt x="114448" y="947219"/>
                  </a:lnTo>
                  <a:lnTo>
                    <a:pt x="151812" y="956500"/>
                  </a:lnTo>
                  <a:lnTo>
                    <a:pt x="168910" y="964438"/>
                  </a:lnTo>
                  <a:lnTo>
                    <a:pt x="175260" y="966088"/>
                  </a:lnTo>
                  <a:lnTo>
                    <a:pt x="181737" y="966088"/>
                  </a:lnTo>
                  <a:lnTo>
                    <a:pt x="188087" y="966088"/>
                  </a:lnTo>
                  <a:lnTo>
                    <a:pt x="192786" y="967613"/>
                  </a:lnTo>
                  <a:lnTo>
                    <a:pt x="196087" y="970788"/>
                  </a:lnTo>
                  <a:lnTo>
                    <a:pt x="199262" y="973963"/>
                  </a:lnTo>
                  <a:lnTo>
                    <a:pt x="205612" y="978788"/>
                  </a:lnTo>
                  <a:lnTo>
                    <a:pt x="215137" y="985138"/>
                  </a:lnTo>
                  <a:lnTo>
                    <a:pt x="222355" y="989974"/>
                  </a:lnTo>
                  <a:lnTo>
                    <a:pt x="229536" y="994775"/>
                  </a:lnTo>
                  <a:lnTo>
                    <a:pt x="236694" y="999551"/>
                  </a:lnTo>
                  <a:lnTo>
                    <a:pt x="243839" y="1004315"/>
                  </a:lnTo>
                  <a:lnTo>
                    <a:pt x="253364" y="1010665"/>
                  </a:lnTo>
                  <a:lnTo>
                    <a:pt x="259841" y="1015491"/>
                  </a:lnTo>
                  <a:lnTo>
                    <a:pt x="263016" y="1018666"/>
                  </a:lnTo>
                  <a:lnTo>
                    <a:pt x="266191" y="1021841"/>
                  </a:lnTo>
                  <a:lnTo>
                    <a:pt x="271017" y="1025016"/>
                  </a:lnTo>
                  <a:lnTo>
                    <a:pt x="277367" y="1028191"/>
                  </a:lnTo>
                  <a:lnTo>
                    <a:pt x="283717" y="1031366"/>
                  </a:lnTo>
                  <a:lnTo>
                    <a:pt x="288543" y="1034668"/>
                  </a:lnTo>
                  <a:lnTo>
                    <a:pt x="333120" y="1079245"/>
                  </a:lnTo>
                  <a:lnTo>
                    <a:pt x="336295" y="1084071"/>
                  </a:lnTo>
                  <a:lnTo>
                    <a:pt x="339470" y="1090421"/>
                  </a:lnTo>
                  <a:lnTo>
                    <a:pt x="342645" y="1096771"/>
                  </a:lnTo>
                  <a:lnTo>
                    <a:pt x="344297" y="1104773"/>
                  </a:lnTo>
                  <a:lnTo>
                    <a:pt x="344297" y="1114298"/>
                  </a:lnTo>
                  <a:lnTo>
                    <a:pt x="344297" y="1123823"/>
                  </a:lnTo>
                  <a:lnTo>
                    <a:pt x="345948" y="1131824"/>
                  </a:lnTo>
                  <a:lnTo>
                    <a:pt x="349123" y="1138174"/>
                  </a:lnTo>
                  <a:lnTo>
                    <a:pt x="352298" y="1144651"/>
                  </a:lnTo>
                  <a:lnTo>
                    <a:pt x="355473" y="1151001"/>
                  </a:lnTo>
                  <a:lnTo>
                    <a:pt x="371348" y="1190878"/>
                  </a:lnTo>
                  <a:lnTo>
                    <a:pt x="372999" y="1197228"/>
                  </a:lnTo>
                  <a:lnTo>
                    <a:pt x="372999" y="1200403"/>
                  </a:lnTo>
                  <a:lnTo>
                    <a:pt x="372999" y="1203578"/>
                  </a:lnTo>
                  <a:lnTo>
                    <a:pt x="374650" y="1209928"/>
                  </a:lnTo>
                  <a:lnTo>
                    <a:pt x="377825" y="1219580"/>
                  </a:lnTo>
                  <a:lnTo>
                    <a:pt x="379898" y="1227032"/>
                  </a:lnTo>
                  <a:lnTo>
                    <a:pt x="381365" y="1235090"/>
                  </a:lnTo>
                  <a:lnTo>
                    <a:pt x="382236" y="1243744"/>
                  </a:lnTo>
                  <a:lnTo>
                    <a:pt x="382524" y="1252981"/>
                  </a:lnTo>
                  <a:lnTo>
                    <a:pt x="382524" y="1265808"/>
                  </a:lnTo>
                  <a:lnTo>
                    <a:pt x="382524" y="1273682"/>
                  </a:lnTo>
                  <a:lnTo>
                    <a:pt x="382524" y="1538351"/>
                  </a:lnTo>
                  <a:lnTo>
                    <a:pt x="382524" y="1535176"/>
                  </a:lnTo>
                  <a:lnTo>
                    <a:pt x="382524" y="1532001"/>
                  </a:lnTo>
                  <a:lnTo>
                    <a:pt x="381000" y="1528826"/>
                  </a:lnTo>
                  <a:lnTo>
                    <a:pt x="377825" y="1525651"/>
                  </a:lnTo>
                  <a:lnTo>
                    <a:pt x="374650" y="1522476"/>
                  </a:lnTo>
                  <a:lnTo>
                    <a:pt x="371348" y="1517650"/>
                  </a:lnTo>
                  <a:lnTo>
                    <a:pt x="368173" y="1511300"/>
                  </a:lnTo>
                  <a:lnTo>
                    <a:pt x="366099" y="1505327"/>
                  </a:lnTo>
                  <a:lnTo>
                    <a:pt x="364632" y="1496949"/>
                  </a:lnTo>
                  <a:lnTo>
                    <a:pt x="363761" y="1486189"/>
                  </a:lnTo>
                  <a:lnTo>
                    <a:pt x="363474" y="1473073"/>
                  </a:lnTo>
                </a:path>
                <a:path w="727075" h="1597660">
                  <a:moveTo>
                    <a:pt x="210438" y="1052194"/>
                  </a:moveTo>
                  <a:lnTo>
                    <a:pt x="216788" y="1052194"/>
                  </a:lnTo>
                  <a:lnTo>
                    <a:pt x="221487" y="1050543"/>
                  </a:lnTo>
                  <a:lnTo>
                    <a:pt x="234314" y="1018666"/>
                  </a:lnTo>
                  <a:lnTo>
                    <a:pt x="237003" y="1006975"/>
                  </a:lnTo>
                  <a:lnTo>
                    <a:pt x="240299" y="995902"/>
                  </a:lnTo>
                  <a:lnTo>
                    <a:pt x="244191" y="985448"/>
                  </a:lnTo>
                  <a:lnTo>
                    <a:pt x="248665" y="975613"/>
                  </a:lnTo>
                  <a:lnTo>
                    <a:pt x="253140" y="965779"/>
                  </a:lnTo>
                  <a:lnTo>
                    <a:pt x="257032" y="955325"/>
                  </a:lnTo>
                  <a:lnTo>
                    <a:pt x="260328" y="944252"/>
                  </a:lnTo>
                  <a:lnTo>
                    <a:pt x="263016" y="932561"/>
                  </a:lnTo>
                  <a:lnTo>
                    <a:pt x="265993" y="920345"/>
                  </a:lnTo>
                  <a:lnTo>
                    <a:pt x="270160" y="907510"/>
                  </a:lnTo>
                  <a:lnTo>
                    <a:pt x="275518" y="894056"/>
                  </a:lnTo>
                  <a:lnTo>
                    <a:pt x="282066" y="879982"/>
                  </a:lnTo>
                  <a:lnTo>
                    <a:pt x="288996" y="865024"/>
                  </a:lnTo>
                  <a:lnTo>
                    <a:pt x="295306" y="848899"/>
                  </a:lnTo>
                  <a:lnTo>
                    <a:pt x="300997" y="831584"/>
                  </a:lnTo>
                  <a:lnTo>
                    <a:pt x="306069" y="813053"/>
                  </a:lnTo>
                  <a:lnTo>
                    <a:pt x="311140" y="793908"/>
                  </a:lnTo>
                  <a:lnTo>
                    <a:pt x="316817" y="774763"/>
                  </a:lnTo>
                  <a:lnTo>
                    <a:pt x="323089" y="755618"/>
                  </a:lnTo>
                  <a:lnTo>
                    <a:pt x="329945" y="736473"/>
                  </a:lnTo>
                  <a:lnTo>
                    <a:pt x="337109" y="717040"/>
                  </a:lnTo>
                  <a:lnTo>
                    <a:pt x="344297" y="697023"/>
                  </a:lnTo>
                  <a:lnTo>
                    <a:pt x="358648" y="655192"/>
                  </a:lnTo>
                  <a:lnTo>
                    <a:pt x="370617" y="616918"/>
                  </a:lnTo>
                  <a:lnTo>
                    <a:pt x="377825" y="588263"/>
                  </a:lnTo>
                  <a:lnTo>
                    <a:pt x="381091" y="575073"/>
                  </a:lnTo>
                  <a:lnTo>
                    <a:pt x="401700" y="521335"/>
                  </a:lnTo>
                  <a:lnTo>
                    <a:pt x="424370" y="473455"/>
                  </a:lnTo>
                  <a:lnTo>
                    <a:pt x="454278" y="416051"/>
                  </a:lnTo>
                  <a:lnTo>
                    <a:pt x="488965" y="355107"/>
                  </a:lnTo>
                  <a:lnTo>
                    <a:pt x="526033" y="296544"/>
                  </a:lnTo>
                  <a:lnTo>
                    <a:pt x="564324" y="240299"/>
                  </a:lnTo>
                  <a:lnTo>
                    <a:pt x="602614" y="186436"/>
                  </a:lnTo>
                  <a:lnTo>
                    <a:pt x="621091" y="160742"/>
                  </a:lnTo>
                  <a:lnTo>
                    <a:pt x="638413" y="136239"/>
                  </a:lnTo>
                  <a:lnTo>
                    <a:pt x="654567" y="112926"/>
                  </a:lnTo>
                  <a:lnTo>
                    <a:pt x="669543" y="90804"/>
                  </a:lnTo>
                  <a:lnTo>
                    <a:pt x="682950" y="70778"/>
                  </a:lnTo>
                  <a:lnTo>
                    <a:pt x="694594" y="53752"/>
                  </a:lnTo>
                  <a:lnTo>
                    <a:pt x="704476" y="39727"/>
                  </a:lnTo>
                  <a:lnTo>
                    <a:pt x="712597" y="28701"/>
                  </a:lnTo>
                  <a:lnTo>
                    <a:pt x="718857" y="19698"/>
                  </a:lnTo>
                  <a:lnTo>
                    <a:pt x="723344" y="11922"/>
                  </a:lnTo>
                  <a:lnTo>
                    <a:pt x="726045" y="5359"/>
                  </a:lnTo>
                  <a:lnTo>
                    <a:pt x="726948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80861" y="2027808"/>
              <a:ext cx="137033" cy="194437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(1)</a:t>
            </a:r>
            <a:r>
              <a:rPr dirty="0" spc="320"/>
              <a:t> </a:t>
            </a:r>
            <a:r>
              <a:rPr dirty="0"/>
              <a:t>보험시장의</a:t>
            </a:r>
            <a:r>
              <a:rPr dirty="0" spc="325"/>
              <a:t> </a:t>
            </a:r>
            <a:r>
              <a:rPr dirty="0" spc="-25"/>
              <a:t>균형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77736" y="2020737"/>
            <a:ext cx="7650480" cy="4329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Malgun Gothic"/>
                <a:cs typeface="Malgun Gothic"/>
              </a:rPr>
              <a:t>①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보험회사가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숙지한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marL="386080" marR="55880" indent="-285115">
              <a:lnSpc>
                <a:spcPct val="141400"/>
              </a:lnSpc>
              <a:spcBef>
                <a:spcPts val="2610"/>
              </a:spcBef>
              <a:buChar char="-"/>
              <a:tabLst>
                <a:tab pos="1243330" algn="l"/>
              </a:tabLst>
            </a:pPr>
            <a:r>
              <a:rPr dirty="0" sz="2000" b="1">
                <a:latin typeface="Malgun Gothic"/>
                <a:cs typeface="Malgun Gothic"/>
              </a:rPr>
              <a:t>가정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질병의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발생확률이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낮은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60" b="1">
                <a:latin typeface="Malgun Gothic"/>
                <a:cs typeface="Malgun Gothic"/>
              </a:rPr>
              <a:t>집단(</a:t>
            </a:r>
            <a:r>
              <a:rPr dirty="0" sz="2500" spc="60" i="1">
                <a:solidFill>
                  <a:srgbClr val="0000FF"/>
                </a:solidFill>
                <a:latin typeface="Times New Roman"/>
                <a:cs typeface="Times New Roman"/>
              </a:rPr>
              <a:t></a:t>
            </a:r>
            <a:r>
              <a:rPr dirty="0" baseline="-19607" sz="2550" spc="89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dirty="0" sz="2000" spc="60" b="1">
                <a:latin typeface="Malgun Gothic"/>
                <a:cs typeface="Malgun Gothic"/>
              </a:rPr>
              <a:t>)과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높은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50" b="1">
                <a:latin typeface="Malgun Gothic"/>
                <a:cs typeface="Malgun Gothic"/>
              </a:rPr>
              <a:t>집단(</a:t>
            </a:r>
            <a:r>
              <a:rPr dirty="0" sz="2500" spc="50" i="1">
                <a:solidFill>
                  <a:srgbClr val="0000FF"/>
                </a:solidFill>
                <a:latin typeface="Times New Roman"/>
                <a:cs typeface="Times New Roman"/>
              </a:rPr>
              <a:t></a:t>
            </a:r>
            <a:r>
              <a:rPr dirty="0" baseline="-19607" sz="2550" spc="75" i="1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r>
              <a:rPr dirty="0" sz="2000" spc="50" b="1">
                <a:latin typeface="Malgun Gothic"/>
                <a:cs typeface="Malgun Gothic"/>
              </a:rPr>
              <a:t>) </a:t>
            </a:r>
            <a:r>
              <a:rPr dirty="0" sz="2000" spc="5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보험회사가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개인들의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위험에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따라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보험료를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달리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책정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Malgun Gothic"/>
              <a:buChar char="-"/>
            </a:pPr>
            <a:endParaRPr sz="2000">
              <a:latin typeface="Malgun Gothic"/>
              <a:cs typeface="Malgun Gothic"/>
            </a:endParaRPr>
          </a:p>
          <a:p>
            <a:pPr marL="386715" indent="-285115">
              <a:lnSpc>
                <a:spcPct val="100000"/>
              </a:lnSpc>
              <a:buChar char="-"/>
              <a:tabLst>
                <a:tab pos="386715" algn="l"/>
              </a:tabLst>
            </a:pPr>
            <a:r>
              <a:rPr dirty="0" sz="2000" b="1">
                <a:latin typeface="Malgun Gothic"/>
                <a:cs typeface="Malgun Gothic"/>
              </a:rPr>
              <a:t>개별집단의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보험료</a:t>
            </a:r>
            <a:endParaRPr sz="2000">
              <a:latin typeface="Malgun Gothic"/>
              <a:cs typeface="Malgun Gothic"/>
            </a:endParaRPr>
          </a:p>
          <a:p>
            <a:pPr marL="3317875">
              <a:lnSpc>
                <a:spcPct val="100000"/>
              </a:lnSpc>
              <a:spcBef>
                <a:spcPts val="640"/>
              </a:spcBef>
            </a:pPr>
            <a:r>
              <a:rPr dirty="0" sz="2400" spc="100">
                <a:solidFill>
                  <a:srgbClr val="0000FF"/>
                </a:solidFill>
                <a:latin typeface="Microsoft Sans Serif"/>
                <a:cs typeface="Microsoft Sans Serif"/>
              </a:rPr>
              <a:t>v</a:t>
            </a:r>
            <a:r>
              <a:rPr dirty="0" baseline="-19607" sz="2550" spc="150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dirty="0" baseline="-19607" sz="2550" spc="48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2314" sz="3600" spc="-832">
                <a:solidFill>
                  <a:srgbClr val="0000FF"/>
                </a:solidFill>
                <a:latin typeface="Microsoft Sans Serif"/>
                <a:cs typeface="Microsoft Sans Serif"/>
              </a:rPr>
              <a:t></a:t>
            </a:r>
            <a:r>
              <a:rPr dirty="0" baseline="2314" sz="3600" spc="-187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2314" sz="3600" spc="405">
                <a:solidFill>
                  <a:srgbClr val="0000FF"/>
                </a:solidFill>
                <a:latin typeface="Microsoft Sans Serif"/>
                <a:cs typeface="Microsoft Sans Serif"/>
              </a:rPr>
              <a:t>(</a:t>
            </a:r>
            <a:r>
              <a:rPr dirty="0" sz="2400" spc="270">
                <a:solidFill>
                  <a:srgbClr val="0000FF"/>
                </a:solidFill>
                <a:latin typeface="Microsoft Sans Serif"/>
                <a:cs typeface="Microsoft Sans Serif"/>
              </a:rPr>
              <a:t>l</a:t>
            </a:r>
            <a:r>
              <a:rPr dirty="0" baseline="2314" sz="3600" spc="405">
                <a:solidFill>
                  <a:srgbClr val="0000FF"/>
                </a:solidFill>
                <a:latin typeface="Microsoft Sans Serif"/>
                <a:cs typeface="Microsoft Sans Serif"/>
              </a:rPr>
              <a:t>+</a:t>
            </a:r>
            <a:r>
              <a:rPr dirty="0" sz="2400" spc="270">
                <a:solidFill>
                  <a:srgbClr val="0000FF"/>
                </a:solidFill>
                <a:latin typeface="Microsoft Sans Serif"/>
                <a:cs typeface="Microsoft Sans Serif"/>
              </a:rPr>
              <a:t>α</a:t>
            </a:r>
            <a:r>
              <a:rPr dirty="0" baseline="2314" sz="3600" spc="405">
                <a:solidFill>
                  <a:srgbClr val="0000FF"/>
                </a:solidFill>
                <a:latin typeface="Microsoft Sans Serif"/>
                <a:cs typeface="Microsoft Sans Serif"/>
              </a:rPr>
              <a:t>)</a:t>
            </a:r>
            <a:r>
              <a:rPr dirty="0" sz="2400" spc="270">
                <a:solidFill>
                  <a:srgbClr val="0000FF"/>
                </a:solidFill>
                <a:latin typeface="Microsoft Sans Serif"/>
                <a:cs typeface="Microsoft Sans Serif"/>
              </a:rPr>
              <a:t>p</a:t>
            </a:r>
            <a:r>
              <a:rPr dirty="0" baseline="-19607" sz="2550" spc="405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dirty="0" sz="2500" spc="270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endParaRPr sz="2500">
              <a:latin typeface="Times New Roman"/>
              <a:cs typeface="Times New Roman"/>
            </a:endParaRPr>
          </a:p>
          <a:p>
            <a:pPr marL="3289300">
              <a:lnSpc>
                <a:spcPct val="100000"/>
              </a:lnSpc>
              <a:spcBef>
                <a:spcPts val="1100"/>
              </a:spcBef>
            </a:pPr>
            <a:r>
              <a:rPr dirty="0" sz="2400" spc="60">
                <a:solidFill>
                  <a:srgbClr val="0000FF"/>
                </a:solidFill>
                <a:latin typeface="Microsoft Sans Serif"/>
                <a:cs typeface="Microsoft Sans Serif"/>
              </a:rPr>
              <a:t>v</a:t>
            </a:r>
            <a:r>
              <a:rPr dirty="0" baseline="-19607" sz="2550" spc="89" i="1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r>
              <a:rPr dirty="0" baseline="-19607" sz="2550" spc="51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2314" sz="3600" spc="-832">
                <a:solidFill>
                  <a:srgbClr val="0000FF"/>
                </a:solidFill>
                <a:latin typeface="Microsoft Sans Serif"/>
                <a:cs typeface="Microsoft Sans Serif"/>
              </a:rPr>
              <a:t></a:t>
            </a:r>
            <a:r>
              <a:rPr dirty="0" baseline="2314" sz="3600" spc="-187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2314" sz="3600" spc="397">
                <a:solidFill>
                  <a:srgbClr val="0000FF"/>
                </a:solidFill>
                <a:latin typeface="Microsoft Sans Serif"/>
                <a:cs typeface="Microsoft Sans Serif"/>
              </a:rPr>
              <a:t>(</a:t>
            </a:r>
            <a:r>
              <a:rPr dirty="0" sz="2400" spc="265">
                <a:solidFill>
                  <a:srgbClr val="0000FF"/>
                </a:solidFill>
                <a:latin typeface="Microsoft Sans Serif"/>
                <a:cs typeface="Microsoft Sans Serif"/>
              </a:rPr>
              <a:t>l</a:t>
            </a:r>
            <a:r>
              <a:rPr dirty="0" baseline="2314" sz="3600" spc="397">
                <a:solidFill>
                  <a:srgbClr val="0000FF"/>
                </a:solidFill>
                <a:latin typeface="Microsoft Sans Serif"/>
                <a:cs typeface="Microsoft Sans Serif"/>
              </a:rPr>
              <a:t>+</a:t>
            </a:r>
            <a:r>
              <a:rPr dirty="0" sz="2400" spc="265">
                <a:solidFill>
                  <a:srgbClr val="0000FF"/>
                </a:solidFill>
                <a:latin typeface="Microsoft Sans Serif"/>
                <a:cs typeface="Microsoft Sans Serif"/>
              </a:rPr>
              <a:t>α</a:t>
            </a:r>
            <a:r>
              <a:rPr dirty="0" baseline="2314" sz="3600" spc="397">
                <a:solidFill>
                  <a:srgbClr val="0000FF"/>
                </a:solidFill>
                <a:latin typeface="Microsoft Sans Serif"/>
                <a:cs typeface="Microsoft Sans Serif"/>
              </a:rPr>
              <a:t>)</a:t>
            </a:r>
            <a:r>
              <a:rPr dirty="0" sz="2400" spc="265">
                <a:solidFill>
                  <a:srgbClr val="0000FF"/>
                </a:solidFill>
                <a:latin typeface="Microsoft Sans Serif"/>
                <a:cs typeface="Microsoft Sans Serif"/>
              </a:rPr>
              <a:t>p</a:t>
            </a:r>
            <a:r>
              <a:rPr dirty="0" baseline="-19607" sz="2550" spc="397" i="1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r>
              <a:rPr dirty="0" sz="2500" spc="265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0"/>
              </a:spcBef>
            </a:pPr>
            <a:endParaRPr sz="2400">
              <a:latin typeface="Times New Roman"/>
              <a:cs typeface="Times New Roman"/>
            </a:endParaRPr>
          </a:p>
          <a:p>
            <a:pPr marL="386715" indent="-285115">
              <a:lnSpc>
                <a:spcPct val="100000"/>
              </a:lnSpc>
              <a:buChar char="-"/>
              <a:tabLst>
                <a:tab pos="386715" algn="l"/>
              </a:tabLst>
            </a:pPr>
            <a:r>
              <a:rPr dirty="0" sz="2000" b="1">
                <a:latin typeface="Malgun Gothic"/>
                <a:cs typeface="Malgun Gothic"/>
              </a:rPr>
              <a:t>정보의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비대칭으로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인한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역선택의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발생하지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않음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243835" y="3229864"/>
            <a:ext cx="593090" cy="0"/>
          </a:xfrm>
          <a:custGeom>
            <a:avLst/>
            <a:gdLst/>
            <a:ahLst/>
            <a:cxnLst/>
            <a:rect l="l" t="t" r="r" b="b"/>
            <a:pathLst>
              <a:path w="593089" h="0">
                <a:moveTo>
                  <a:pt x="0" y="0"/>
                </a:moveTo>
                <a:lnTo>
                  <a:pt x="0" y="0"/>
                </a:lnTo>
                <a:lnTo>
                  <a:pt x="586613" y="0"/>
                </a:lnTo>
                <a:lnTo>
                  <a:pt x="593089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635119" y="3210686"/>
            <a:ext cx="889635" cy="19685"/>
          </a:xfrm>
          <a:custGeom>
            <a:avLst/>
            <a:gdLst/>
            <a:ahLst/>
            <a:cxnLst/>
            <a:rect l="l" t="t" r="r" b="b"/>
            <a:pathLst>
              <a:path w="889635" h="19685">
                <a:moveTo>
                  <a:pt x="0" y="19176"/>
                </a:moveTo>
                <a:lnTo>
                  <a:pt x="1650" y="19176"/>
                </a:lnTo>
                <a:lnTo>
                  <a:pt x="514984" y="19176"/>
                </a:lnTo>
                <a:lnTo>
                  <a:pt x="519683" y="17525"/>
                </a:lnTo>
                <a:lnTo>
                  <a:pt x="526160" y="14350"/>
                </a:lnTo>
                <a:lnTo>
                  <a:pt x="532510" y="11175"/>
                </a:lnTo>
                <a:lnTo>
                  <a:pt x="538860" y="9525"/>
                </a:lnTo>
                <a:lnTo>
                  <a:pt x="583564" y="9525"/>
                </a:lnTo>
                <a:lnTo>
                  <a:pt x="589825" y="9237"/>
                </a:lnTo>
                <a:lnTo>
                  <a:pt x="599074" y="8366"/>
                </a:lnTo>
                <a:lnTo>
                  <a:pt x="611300" y="6899"/>
                </a:lnTo>
                <a:lnTo>
                  <a:pt x="626490" y="4825"/>
                </a:lnTo>
                <a:lnTo>
                  <a:pt x="642352" y="2732"/>
                </a:lnTo>
                <a:lnTo>
                  <a:pt x="656415" y="1222"/>
                </a:lnTo>
                <a:lnTo>
                  <a:pt x="668692" y="307"/>
                </a:lnTo>
                <a:lnTo>
                  <a:pt x="679195" y="0"/>
                </a:lnTo>
                <a:lnTo>
                  <a:pt x="689030" y="0"/>
                </a:lnTo>
                <a:lnTo>
                  <a:pt x="699484" y="0"/>
                </a:lnTo>
                <a:lnTo>
                  <a:pt x="883157" y="0"/>
                </a:lnTo>
                <a:lnTo>
                  <a:pt x="889634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601208" y="2808985"/>
            <a:ext cx="411480" cy="459105"/>
          </a:xfrm>
          <a:custGeom>
            <a:avLst/>
            <a:gdLst/>
            <a:ahLst/>
            <a:cxnLst/>
            <a:rect l="l" t="t" r="r" b="b"/>
            <a:pathLst>
              <a:path w="411479" h="459104">
                <a:moveTo>
                  <a:pt x="411352" y="449579"/>
                </a:moveTo>
                <a:lnTo>
                  <a:pt x="363474" y="454278"/>
                </a:lnTo>
                <a:lnTo>
                  <a:pt x="350357" y="456372"/>
                </a:lnTo>
                <a:lnTo>
                  <a:pt x="339597" y="457882"/>
                </a:lnTo>
                <a:lnTo>
                  <a:pt x="331219" y="458797"/>
                </a:lnTo>
                <a:lnTo>
                  <a:pt x="325246" y="459104"/>
                </a:lnTo>
                <a:lnTo>
                  <a:pt x="318081" y="458509"/>
                </a:lnTo>
                <a:lnTo>
                  <a:pt x="267842" y="449579"/>
                </a:lnTo>
                <a:lnTo>
                  <a:pt x="227187" y="439943"/>
                </a:lnTo>
                <a:lnTo>
                  <a:pt x="190718" y="425025"/>
                </a:lnTo>
                <a:lnTo>
                  <a:pt x="153034" y="401700"/>
                </a:lnTo>
                <a:lnTo>
                  <a:pt x="139033" y="392751"/>
                </a:lnTo>
                <a:lnTo>
                  <a:pt x="125602" y="384968"/>
                </a:lnTo>
                <a:lnTo>
                  <a:pt x="112744" y="378376"/>
                </a:lnTo>
                <a:lnTo>
                  <a:pt x="100456" y="372999"/>
                </a:lnTo>
                <a:lnTo>
                  <a:pt x="88475" y="366428"/>
                </a:lnTo>
                <a:lnTo>
                  <a:pt x="52577" y="325119"/>
                </a:lnTo>
                <a:lnTo>
                  <a:pt x="32305" y="289321"/>
                </a:lnTo>
                <a:lnTo>
                  <a:pt x="14702" y="244478"/>
                </a:lnTo>
                <a:lnTo>
                  <a:pt x="2732" y="199647"/>
                </a:lnTo>
                <a:lnTo>
                  <a:pt x="0" y="153035"/>
                </a:lnTo>
                <a:lnTo>
                  <a:pt x="595" y="134487"/>
                </a:lnTo>
                <a:lnTo>
                  <a:pt x="9525" y="86105"/>
                </a:lnTo>
                <a:lnTo>
                  <a:pt x="28701" y="43052"/>
                </a:lnTo>
                <a:lnTo>
                  <a:pt x="66928" y="14350"/>
                </a:lnTo>
                <a:lnTo>
                  <a:pt x="109981" y="0"/>
                </a:lnTo>
                <a:lnTo>
                  <a:pt x="118102" y="0"/>
                </a:lnTo>
                <a:lnTo>
                  <a:pt x="127984" y="0"/>
                </a:lnTo>
                <a:lnTo>
                  <a:pt x="139628" y="0"/>
                </a:lnTo>
                <a:lnTo>
                  <a:pt x="153034" y="0"/>
                </a:lnTo>
                <a:lnTo>
                  <a:pt x="168011" y="1190"/>
                </a:lnTo>
                <a:lnTo>
                  <a:pt x="219963" y="19050"/>
                </a:lnTo>
                <a:lnTo>
                  <a:pt x="266630" y="45124"/>
                </a:lnTo>
                <a:lnTo>
                  <a:pt x="303442" y="79474"/>
                </a:lnTo>
                <a:lnTo>
                  <a:pt x="325246" y="115950"/>
                </a:lnTo>
                <a:lnTo>
                  <a:pt x="346761" y="157763"/>
                </a:lnTo>
                <a:lnTo>
                  <a:pt x="353949" y="172132"/>
                </a:lnTo>
                <a:lnTo>
                  <a:pt x="374848" y="214572"/>
                </a:lnTo>
                <a:lnTo>
                  <a:pt x="390651" y="261365"/>
                </a:lnTo>
                <a:lnTo>
                  <a:pt x="392175" y="269366"/>
                </a:lnTo>
                <a:lnTo>
                  <a:pt x="392175" y="272541"/>
                </a:lnTo>
                <a:lnTo>
                  <a:pt x="392175" y="275716"/>
                </a:lnTo>
                <a:lnTo>
                  <a:pt x="392175" y="280542"/>
                </a:lnTo>
                <a:lnTo>
                  <a:pt x="392175" y="286892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854317" y="2907891"/>
            <a:ext cx="1387475" cy="417830"/>
          </a:xfrm>
          <a:custGeom>
            <a:avLst/>
            <a:gdLst/>
            <a:ahLst/>
            <a:cxnLst/>
            <a:rect l="l" t="t" r="r" b="b"/>
            <a:pathLst>
              <a:path w="1387475" h="417829">
                <a:moveTo>
                  <a:pt x="0" y="417603"/>
                </a:moveTo>
                <a:lnTo>
                  <a:pt x="41521" y="410396"/>
                </a:lnTo>
                <a:lnTo>
                  <a:pt x="51403" y="408015"/>
                </a:lnTo>
                <a:lnTo>
                  <a:pt x="91430" y="401159"/>
                </a:lnTo>
                <a:lnTo>
                  <a:pt x="143382" y="398426"/>
                </a:lnTo>
                <a:lnTo>
                  <a:pt x="162835" y="398139"/>
                </a:lnTo>
                <a:lnTo>
                  <a:pt x="182895" y="397267"/>
                </a:lnTo>
                <a:lnTo>
                  <a:pt x="224789" y="393727"/>
                </a:lnTo>
                <a:lnTo>
                  <a:pt x="265398" y="388854"/>
                </a:lnTo>
                <a:lnTo>
                  <a:pt x="318006" y="381694"/>
                </a:lnTo>
                <a:lnTo>
                  <a:pt x="368173" y="374550"/>
                </a:lnTo>
                <a:lnTo>
                  <a:pt x="415732" y="367407"/>
                </a:lnTo>
                <a:lnTo>
                  <a:pt x="430402" y="365025"/>
                </a:lnTo>
                <a:lnTo>
                  <a:pt x="444115" y="362878"/>
                </a:lnTo>
                <a:lnTo>
                  <a:pt x="456660" y="361374"/>
                </a:lnTo>
                <a:lnTo>
                  <a:pt x="468014" y="360489"/>
                </a:lnTo>
                <a:lnTo>
                  <a:pt x="478154" y="360199"/>
                </a:lnTo>
                <a:lnTo>
                  <a:pt x="488946" y="359892"/>
                </a:lnTo>
                <a:lnTo>
                  <a:pt x="502094" y="358977"/>
                </a:lnTo>
                <a:lnTo>
                  <a:pt x="517624" y="357467"/>
                </a:lnTo>
                <a:lnTo>
                  <a:pt x="535558" y="355373"/>
                </a:lnTo>
                <a:lnTo>
                  <a:pt x="553801" y="353300"/>
                </a:lnTo>
                <a:lnTo>
                  <a:pt x="570245" y="351833"/>
                </a:lnTo>
                <a:lnTo>
                  <a:pt x="584904" y="350962"/>
                </a:lnTo>
                <a:lnTo>
                  <a:pt x="597788" y="350674"/>
                </a:lnTo>
                <a:lnTo>
                  <a:pt x="609119" y="350674"/>
                </a:lnTo>
                <a:lnTo>
                  <a:pt x="619283" y="350674"/>
                </a:lnTo>
                <a:lnTo>
                  <a:pt x="628257" y="350674"/>
                </a:lnTo>
                <a:lnTo>
                  <a:pt x="636015" y="350674"/>
                </a:lnTo>
                <a:lnTo>
                  <a:pt x="644064" y="350367"/>
                </a:lnTo>
                <a:lnTo>
                  <a:pt x="653922" y="349452"/>
                </a:lnTo>
                <a:lnTo>
                  <a:pt x="665591" y="347942"/>
                </a:lnTo>
                <a:lnTo>
                  <a:pt x="679068" y="345848"/>
                </a:lnTo>
                <a:lnTo>
                  <a:pt x="691951" y="343755"/>
                </a:lnTo>
                <a:lnTo>
                  <a:pt x="701833" y="342245"/>
                </a:lnTo>
                <a:lnTo>
                  <a:pt x="708715" y="341330"/>
                </a:lnTo>
                <a:lnTo>
                  <a:pt x="712597" y="341022"/>
                </a:lnTo>
                <a:lnTo>
                  <a:pt x="715772" y="341022"/>
                </a:lnTo>
                <a:lnTo>
                  <a:pt x="720471" y="341022"/>
                </a:lnTo>
                <a:lnTo>
                  <a:pt x="726948" y="341022"/>
                </a:lnTo>
              </a:path>
              <a:path w="1387475" h="417829">
                <a:moveTo>
                  <a:pt x="1080769" y="379376"/>
                </a:moveTo>
                <a:lnTo>
                  <a:pt x="1035121" y="376644"/>
                </a:lnTo>
                <a:lnTo>
                  <a:pt x="985154" y="368565"/>
                </a:lnTo>
                <a:lnTo>
                  <a:pt x="935281" y="355417"/>
                </a:lnTo>
                <a:lnTo>
                  <a:pt x="889507" y="341022"/>
                </a:lnTo>
                <a:lnTo>
                  <a:pt x="841109" y="324002"/>
                </a:lnTo>
                <a:lnTo>
                  <a:pt x="822578" y="317146"/>
                </a:lnTo>
                <a:lnTo>
                  <a:pt x="804031" y="310290"/>
                </a:lnTo>
                <a:lnTo>
                  <a:pt x="786685" y="304018"/>
                </a:lnTo>
                <a:lnTo>
                  <a:pt x="770554" y="298340"/>
                </a:lnTo>
                <a:lnTo>
                  <a:pt x="755650" y="293270"/>
                </a:lnTo>
                <a:lnTo>
                  <a:pt x="743075" y="287839"/>
                </a:lnTo>
                <a:lnTo>
                  <a:pt x="734107" y="281253"/>
                </a:lnTo>
                <a:lnTo>
                  <a:pt x="728735" y="273500"/>
                </a:lnTo>
                <a:lnTo>
                  <a:pt x="726948" y="264568"/>
                </a:lnTo>
                <a:lnTo>
                  <a:pt x="726948" y="254968"/>
                </a:lnTo>
                <a:lnTo>
                  <a:pt x="726948" y="245391"/>
                </a:lnTo>
                <a:lnTo>
                  <a:pt x="726948" y="235815"/>
                </a:lnTo>
                <a:lnTo>
                  <a:pt x="726948" y="226214"/>
                </a:lnTo>
                <a:lnTo>
                  <a:pt x="730829" y="216092"/>
                </a:lnTo>
                <a:lnTo>
                  <a:pt x="761880" y="192228"/>
                </a:lnTo>
                <a:lnTo>
                  <a:pt x="818082" y="165292"/>
                </a:lnTo>
                <a:lnTo>
                  <a:pt x="863524" y="146190"/>
                </a:lnTo>
                <a:lnTo>
                  <a:pt x="879982" y="140235"/>
                </a:lnTo>
                <a:lnTo>
                  <a:pt x="894887" y="134804"/>
                </a:lnTo>
                <a:lnTo>
                  <a:pt x="911018" y="128218"/>
                </a:lnTo>
                <a:lnTo>
                  <a:pt x="928364" y="120465"/>
                </a:lnTo>
                <a:lnTo>
                  <a:pt x="946911" y="111533"/>
                </a:lnTo>
                <a:lnTo>
                  <a:pt x="970533" y="100742"/>
                </a:lnTo>
                <a:lnTo>
                  <a:pt x="1044638" y="72064"/>
                </a:lnTo>
                <a:lnTo>
                  <a:pt x="1095121" y="54129"/>
                </a:lnTo>
                <a:lnTo>
                  <a:pt x="1147175" y="36772"/>
                </a:lnTo>
                <a:lnTo>
                  <a:pt x="1193228" y="22998"/>
                </a:lnTo>
                <a:lnTo>
                  <a:pt x="1233281" y="12821"/>
                </a:lnTo>
                <a:lnTo>
                  <a:pt x="1295118" y="2373"/>
                </a:lnTo>
                <a:lnTo>
                  <a:pt x="1331019" y="0"/>
                </a:lnTo>
                <a:lnTo>
                  <a:pt x="1339087" y="1551"/>
                </a:lnTo>
                <a:lnTo>
                  <a:pt x="1369278" y="37068"/>
                </a:lnTo>
                <a:lnTo>
                  <a:pt x="1377314" y="97182"/>
                </a:lnTo>
                <a:lnTo>
                  <a:pt x="1377622" y="123166"/>
                </a:lnTo>
                <a:lnTo>
                  <a:pt x="1378537" y="148554"/>
                </a:lnTo>
                <a:lnTo>
                  <a:pt x="1380047" y="173370"/>
                </a:lnTo>
                <a:lnTo>
                  <a:pt x="1382140" y="197639"/>
                </a:lnTo>
                <a:lnTo>
                  <a:pt x="1384234" y="219741"/>
                </a:lnTo>
                <a:lnTo>
                  <a:pt x="1385744" y="238248"/>
                </a:lnTo>
                <a:lnTo>
                  <a:pt x="1386659" y="253182"/>
                </a:lnTo>
                <a:lnTo>
                  <a:pt x="1386966" y="264568"/>
                </a:lnTo>
                <a:lnTo>
                  <a:pt x="1386966" y="274113"/>
                </a:lnTo>
                <a:lnTo>
                  <a:pt x="1386966" y="283682"/>
                </a:lnTo>
                <a:lnTo>
                  <a:pt x="1386966" y="293250"/>
                </a:lnTo>
                <a:lnTo>
                  <a:pt x="1386966" y="302795"/>
                </a:lnTo>
                <a:lnTo>
                  <a:pt x="1386659" y="312340"/>
                </a:lnTo>
                <a:lnTo>
                  <a:pt x="1379162" y="350025"/>
                </a:lnTo>
                <a:lnTo>
                  <a:pt x="1353438" y="376074"/>
                </a:lnTo>
                <a:lnTo>
                  <a:pt x="1347088" y="380900"/>
                </a:lnTo>
                <a:lnTo>
                  <a:pt x="1343913" y="384075"/>
                </a:lnTo>
                <a:lnTo>
                  <a:pt x="1340611" y="387250"/>
                </a:lnTo>
                <a:lnTo>
                  <a:pt x="1339087" y="392076"/>
                </a:lnTo>
                <a:lnTo>
                  <a:pt x="1339087" y="39842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28536" y="1108965"/>
            <a:ext cx="8650605" cy="448691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algn="just" marL="304165" indent="-253365">
              <a:lnSpc>
                <a:spcPct val="100000"/>
              </a:lnSpc>
              <a:spcBef>
                <a:spcPts val="890"/>
              </a:spcBef>
              <a:buFont typeface="Cambria"/>
              <a:buChar char="○"/>
              <a:tabLst>
                <a:tab pos="304165" algn="l"/>
              </a:tabLst>
            </a:pPr>
            <a:r>
              <a:rPr dirty="0" sz="2000" b="1">
                <a:latin typeface="Malgun Gothic"/>
                <a:cs typeface="Malgun Gothic"/>
              </a:rPr>
              <a:t>위험수준이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낮은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집단</a:t>
            </a:r>
            <a:endParaRPr sz="2000">
              <a:latin typeface="Malgun Gothic"/>
              <a:cs typeface="Malgun Gothic"/>
            </a:endParaRPr>
          </a:p>
          <a:p>
            <a:pPr algn="just" lvl="1" marL="466090" marR="68580" indent="-289560">
              <a:lnSpc>
                <a:spcPts val="3200"/>
              </a:lnSpc>
              <a:spcBef>
                <a:spcPts val="229"/>
              </a:spcBef>
              <a:buChar char="-"/>
              <a:tabLst>
                <a:tab pos="466090" algn="l"/>
                <a:tab pos="487045" algn="l"/>
              </a:tabLst>
            </a:pPr>
            <a:r>
              <a:rPr dirty="0" sz="2000" b="1">
                <a:latin typeface="Malgun Gothic"/>
                <a:cs typeface="Malgun Gothic"/>
              </a:rPr>
              <a:t>	A점에서</a:t>
            </a:r>
            <a:r>
              <a:rPr dirty="0" sz="2000" spc="4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자신에게</a:t>
            </a:r>
            <a:r>
              <a:rPr dirty="0" sz="2000" spc="484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유리한</a:t>
            </a:r>
            <a:r>
              <a:rPr dirty="0" sz="2000" spc="4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조건으로</a:t>
            </a:r>
            <a:r>
              <a:rPr dirty="0" sz="2000" spc="484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보험회사와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거래</a:t>
            </a:r>
            <a:r>
              <a:rPr dirty="0" sz="2000" spc="475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4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일하고</a:t>
            </a:r>
            <a:r>
              <a:rPr dirty="0" sz="2000" spc="484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있을 </a:t>
            </a:r>
            <a:r>
              <a:rPr dirty="0" sz="2000" b="1">
                <a:latin typeface="Malgun Gothic"/>
                <a:cs typeface="Malgun Gothic"/>
              </a:rPr>
              <a:t>때</a:t>
            </a:r>
            <a:r>
              <a:rPr dirty="0" sz="2000" spc="4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소득</a:t>
            </a:r>
            <a:r>
              <a:rPr dirty="0" sz="2000" spc="4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중</a:t>
            </a:r>
            <a:r>
              <a:rPr dirty="0" sz="2000" spc="45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적은</a:t>
            </a:r>
            <a:r>
              <a:rPr dirty="0" sz="2000" spc="4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부분을</a:t>
            </a:r>
            <a:r>
              <a:rPr dirty="0" sz="2000" spc="4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보험료로</a:t>
            </a:r>
            <a:r>
              <a:rPr dirty="0" sz="2000" spc="4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납부하고</a:t>
            </a:r>
            <a:r>
              <a:rPr dirty="0" sz="2000" spc="4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질병이</a:t>
            </a:r>
            <a:r>
              <a:rPr dirty="0" sz="2000" spc="4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발생할</a:t>
            </a:r>
            <a:r>
              <a:rPr dirty="0" sz="2000" spc="4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475" b="1">
                <a:latin typeface="Malgun Gothic"/>
                <a:cs typeface="Malgun Gothic"/>
              </a:rPr>
              <a:t> </a:t>
            </a:r>
            <a:r>
              <a:rPr dirty="0" sz="2000" spc="-50" b="1">
                <a:latin typeface="Malgun Gothic"/>
                <a:cs typeface="Malgun Gothic"/>
              </a:rPr>
              <a:t>관 </a:t>
            </a:r>
            <a:r>
              <a:rPr dirty="0" sz="2000" b="1">
                <a:latin typeface="Malgun Gothic"/>
                <a:cs typeface="Malgun Gothic"/>
              </a:rPr>
              <a:t>대한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보험급여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수급</a:t>
            </a:r>
            <a:endParaRPr sz="2000">
              <a:latin typeface="Malgun Gothic"/>
              <a:cs typeface="Malgun Gothic"/>
            </a:endParaRPr>
          </a:p>
          <a:p>
            <a:pPr lvl="1" marL="461645" indent="-285115">
              <a:lnSpc>
                <a:spcPct val="100000"/>
              </a:lnSpc>
              <a:spcBef>
                <a:spcPts val="414"/>
              </a:spcBef>
              <a:buChar char="-"/>
              <a:tabLst>
                <a:tab pos="461645" algn="l"/>
              </a:tabLst>
            </a:pPr>
            <a:r>
              <a:rPr dirty="0" sz="2000" b="1">
                <a:latin typeface="Malgun Gothic"/>
                <a:cs typeface="Malgun Gothic"/>
              </a:rPr>
              <a:t>예산제약선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500" spc="-25" i="1">
                <a:solidFill>
                  <a:srgbClr val="0000FF"/>
                </a:solidFill>
                <a:latin typeface="Times New Roman"/>
                <a:cs typeface="Times New Roman"/>
              </a:rPr>
              <a:t>A</a:t>
            </a:r>
            <a:r>
              <a:rPr dirty="0" baseline="-19607" sz="2550" spc="-37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endParaRPr baseline="-19607" sz="2550">
              <a:latin typeface="Times New Roman"/>
              <a:cs typeface="Times New Roman"/>
            </a:endParaRPr>
          </a:p>
          <a:p>
            <a:pPr lvl="1" marL="461645" indent="-285115">
              <a:lnSpc>
                <a:spcPct val="100000"/>
              </a:lnSpc>
              <a:spcBef>
                <a:spcPts val="1100"/>
              </a:spcBef>
              <a:buChar char="-"/>
              <a:tabLst>
                <a:tab pos="461645" algn="l"/>
                <a:tab pos="4022090" algn="l"/>
              </a:tabLst>
            </a:pPr>
            <a:r>
              <a:rPr dirty="0" sz="2000" b="1">
                <a:latin typeface="Malgun Gothic"/>
                <a:cs typeface="Malgun Gothic"/>
              </a:rPr>
              <a:t>위험회피적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성향을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500" spc="-70" i="1">
                <a:solidFill>
                  <a:srgbClr val="0000FF"/>
                </a:solidFill>
                <a:latin typeface="Times New Roman"/>
                <a:cs typeface="Times New Roman"/>
              </a:rPr>
              <a:t></a:t>
            </a:r>
            <a:r>
              <a:rPr dirty="0" baseline="-19607" sz="2550" spc="-104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dirty="0" sz="2000" spc="-70" b="1">
                <a:latin typeface="Malgun Gothic"/>
                <a:cs typeface="Malgun Gothic"/>
              </a:rPr>
              <a:t>점에서</a:t>
            </a:r>
            <a:r>
              <a:rPr dirty="0" sz="2000" spc="13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보험계약을</a:t>
            </a:r>
            <a:r>
              <a:rPr dirty="0" sz="2000" spc="13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체결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805"/>
              </a:spcBef>
              <a:buFont typeface="Malgun Gothic"/>
              <a:buChar char="-"/>
            </a:pPr>
            <a:endParaRPr sz="2000">
              <a:latin typeface="Malgun Gothic"/>
              <a:cs typeface="Malgun Gothic"/>
            </a:endParaRPr>
          </a:p>
          <a:p>
            <a:pPr algn="just" marL="304165" indent="-253365">
              <a:lnSpc>
                <a:spcPct val="100000"/>
              </a:lnSpc>
              <a:buFont typeface="Cambria"/>
              <a:buChar char="○"/>
              <a:tabLst>
                <a:tab pos="304165" algn="l"/>
              </a:tabLst>
            </a:pPr>
            <a:r>
              <a:rPr dirty="0" sz="2000" b="1">
                <a:latin typeface="Malgun Gothic"/>
                <a:cs typeface="Malgun Gothic"/>
              </a:rPr>
              <a:t>위험수준이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높은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집단</a:t>
            </a:r>
            <a:endParaRPr sz="2000">
              <a:latin typeface="Malgun Gothic"/>
              <a:cs typeface="Malgun Gothic"/>
            </a:endParaRPr>
          </a:p>
          <a:p>
            <a:pPr lvl="1" marL="461645" indent="-285115">
              <a:lnSpc>
                <a:spcPct val="100000"/>
              </a:lnSpc>
              <a:spcBef>
                <a:spcPts val="660"/>
              </a:spcBef>
              <a:buChar char="-"/>
              <a:tabLst>
                <a:tab pos="461645" algn="l"/>
              </a:tabLst>
            </a:pPr>
            <a:r>
              <a:rPr dirty="0" sz="2000" b="1">
                <a:latin typeface="Malgun Gothic"/>
                <a:cs typeface="Malgun Gothic"/>
              </a:rPr>
              <a:t>예산제약선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500" spc="-25" i="1">
                <a:solidFill>
                  <a:srgbClr val="0000FF"/>
                </a:solidFill>
                <a:latin typeface="Times New Roman"/>
                <a:cs typeface="Times New Roman"/>
              </a:rPr>
              <a:t>A</a:t>
            </a:r>
            <a:r>
              <a:rPr dirty="0" baseline="-19607" sz="2550" spc="-37" i="1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endParaRPr baseline="-19607" sz="2550">
              <a:latin typeface="Times New Roman"/>
              <a:cs typeface="Times New Roman"/>
            </a:endParaRPr>
          </a:p>
          <a:p>
            <a:pPr lvl="1" marL="470534" indent="-294005">
              <a:lnSpc>
                <a:spcPct val="100000"/>
              </a:lnSpc>
              <a:spcBef>
                <a:spcPts val="1090"/>
              </a:spcBef>
              <a:buClr>
                <a:srgbClr val="000000"/>
              </a:buClr>
              <a:buSzPct val="80000"/>
              <a:buFont typeface="Malgun Gothic"/>
              <a:buChar char="-"/>
              <a:tabLst>
                <a:tab pos="470534" algn="l"/>
              </a:tabLst>
            </a:pPr>
            <a:r>
              <a:rPr dirty="0" sz="2500" spc="-80" i="1">
                <a:solidFill>
                  <a:srgbClr val="0000FF"/>
                </a:solidFill>
                <a:latin typeface="Times New Roman"/>
                <a:cs typeface="Times New Roman"/>
              </a:rPr>
              <a:t></a:t>
            </a:r>
            <a:r>
              <a:rPr dirty="0" baseline="-19607" sz="2550" spc="-120" i="1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r>
              <a:rPr dirty="0" sz="2000" spc="-80" b="1">
                <a:latin typeface="Malgun Gothic"/>
                <a:cs typeface="Malgun Gothic"/>
              </a:rPr>
              <a:t>점에서</a:t>
            </a:r>
            <a:r>
              <a:rPr dirty="0" sz="2000" spc="1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보험계약을</a:t>
            </a:r>
            <a:r>
              <a:rPr dirty="0" sz="2000" spc="12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체결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641475" y="1488947"/>
            <a:ext cx="1807845" cy="29209"/>
          </a:xfrm>
          <a:custGeom>
            <a:avLst/>
            <a:gdLst/>
            <a:ahLst/>
            <a:cxnLst/>
            <a:rect l="l" t="t" r="r" b="b"/>
            <a:pathLst>
              <a:path w="1807845" h="29209">
                <a:moveTo>
                  <a:pt x="0" y="19176"/>
                </a:moveTo>
                <a:lnTo>
                  <a:pt x="0" y="19176"/>
                </a:lnTo>
                <a:lnTo>
                  <a:pt x="100456" y="19176"/>
                </a:lnTo>
                <a:lnTo>
                  <a:pt x="108457" y="17525"/>
                </a:lnTo>
                <a:lnTo>
                  <a:pt x="114807" y="14350"/>
                </a:lnTo>
                <a:lnTo>
                  <a:pt x="121157" y="11175"/>
                </a:lnTo>
                <a:lnTo>
                  <a:pt x="125983" y="9525"/>
                </a:lnTo>
                <a:lnTo>
                  <a:pt x="176911" y="9525"/>
                </a:lnTo>
                <a:lnTo>
                  <a:pt x="185320" y="9237"/>
                </a:lnTo>
                <a:lnTo>
                  <a:pt x="196087" y="8366"/>
                </a:lnTo>
                <a:lnTo>
                  <a:pt x="209236" y="6899"/>
                </a:lnTo>
                <a:lnTo>
                  <a:pt x="224789" y="4825"/>
                </a:lnTo>
                <a:lnTo>
                  <a:pt x="241246" y="2732"/>
                </a:lnTo>
                <a:lnTo>
                  <a:pt x="257095" y="1222"/>
                </a:lnTo>
                <a:lnTo>
                  <a:pt x="272349" y="307"/>
                </a:lnTo>
                <a:lnTo>
                  <a:pt x="287019" y="0"/>
                </a:lnTo>
                <a:lnTo>
                  <a:pt x="300732" y="0"/>
                </a:lnTo>
                <a:lnTo>
                  <a:pt x="313277" y="0"/>
                </a:lnTo>
                <a:lnTo>
                  <a:pt x="980439" y="0"/>
                </a:lnTo>
                <a:lnTo>
                  <a:pt x="988441" y="1650"/>
                </a:lnTo>
                <a:lnTo>
                  <a:pt x="1023493" y="9525"/>
                </a:lnTo>
                <a:lnTo>
                  <a:pt x="1032442" y="9525"/>
                </a:lnTo>
                <a:lnTo>
                  <a:pt x="1040225" y="9525"/>
                </a:lnTo>
                <a:lnTo>
                  <a:pt x="1173352" y="9525"/>
                </a:lnTo>
                <a:lnTo>
                  <a:pt x="1181354" y="11175"/>
                </a:lnTo>
                <a:lnTo>
                  <a:pt x="1229106" y="19176"/>
                </a:lnTo>
                <a:lnTo>
                  <a:pt x="1240490" y="19464"/>
                </a:lnTo>
                <a:lnTo>
                  <a:pt x="1250648" y="20335"/>
                </a:lnTo>
                <a:lnTo>
                  <a:pt x="1259591" y="21802"/>
                </a:lnTo>
                <a:lnTo>
                  <a:pt x="1267333" y="23875"/>
                </a:lnTo>
                <a:lnTo>
                  <a:pt x="1274550" y="25969"/>
                </a:lnTo>
                <a:lnTo>
                  <a:pt x="1281731" y="27479"/>
                </a:lnTo>
                <a:lnTo>
                  <a:pt x="1288889" y="28394"/>
                </a:lnTo>
                <a:lnTo>
                  <a:pt x="1296035" y="28701"/>
                </a:lnTo>
                <a:lnTo>
                  <a:pt x="1304752" y="28701"/>
                </a:lnTo>
                <a:lnTo>
                  <a:pt x="1316434" y="28701"/>
                </a:lnTo>
                <a:lnTo>
                  <a:pt x="1693037" y="28701"/>
                </a:lnTo>
                <a:lnTo>
                  <a:pt x="1707110" y="28394"/>
                </a:lnTo>
                <a:lnTo>
                  <a:pt x="1745614" y="23875"/>
                </a:lnTo>
                <a:lnTo>
                  <a:pt x="1789602" y="14053"/>
                </a:lnTo>
                <a:lnTo>
                  <a:pt x="1807845" y="9525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794510" y="3162807"/>
            <a:ext cx="765175" cy="48260"/>
          </a:xfrm>
          <a:custGeom>
            <a:avLst/>
            <a:gdLst/>
            <a:ahLst/>
            <a:cxnLst/>
            <a:rect l="l" t="t" r="r" b="b"/>
            <a:pathLst>
              <a:path w="765175" h="48260">
                <a:moveTo>
                  <a:pt x="0" y="47878"/>
                </a:moveTo>
                <a:lnTo>
                  <a:pt x="0" y="47878"/>
                </a:lnTo>
                <a:lnTo>
                  <a:pt x="181737" y="47878"/>
                </a:lnTo>
                <a:lnTo>
                  <a:pt x="211619" y="47283"/>
                </a:lnTo>
                <a:lnTo>
                  <a:pt x="278624" y="42521"/>
                </a:lnTo>
                <a:lnTo>
                  <a:pt x="354534" y="33228"/>
                </a:lnTo>
                <a:lnTo>
                  <a:pt x="394573" y="27543"/>
                </a:lnTo>
                <a:lnTo>
                  <a:pt x="435826" y="21262"/>
                </a:lnTo>
                <a:lnTo>
                  <a:pt x="478281" y="14350"/>
                </a:lnTo>
                <a:lnTo>
                  <a:pt x="518931" y="8090"/>
                </a:lnTo>
                <a:lnTo>
                  <a:pt x="554783" y="3603"/>
                </a:lnTo>
                <a:lnTo>
                  <a:pt x="585849" y="902"/>
                </a:lnTo>
                <a:lnTo>
                  <a:pt x="612139" y="0"/>
                </a:lnTo>
                <a:lnTo>
                  <a:pt x="635452" y="0"/>
                </a:lnTo>
                <a:lnTo>
                  <a:pt x="657574" y="0"/>
                </a:lnTo>
                <a:lnTo>
                  <a:pt x="758825" y="0"/>
                </a:lnTo>
                <a:lnTo>
                  <a:pt x="765175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018917" y="2866389"/>
            <a:ext cx="535940" cy="427355"/>
          </a:xfrm>
          <a:custGeom>
            <a:avLst/>
            <a:gdLst/>
            <a:ahLst/>
            <a:cxnLst/>
            <a:rect l="l" t="t" r="r" b="b"/>
            <a:pathLst>
              <a:path w="535939" h="427354">
                <a:moveTo>
                  <a:pt x="497331" y="372999"/>
                </a:moveTo>
                <a:lnTo>
                  <a:pt x="444754" y="387350"/>
                </a:lnTo>
                <a:lnTo>
                  <a:pt x="427394" y="394206"/>
                </a:lnTo>
                <a:lnTo>
                  <a:pt x="408844" y="400478"/>
                </a:lnTo>
                <a:lnTo>
                  <a:pt x="368172" y="411225"/>
                </a:lnTo>
                <a:lnTo>
                  <a:pt x="309594" y="419592"/>
                </a:lnTo>
                <a:lnTo>
                  <a:pt x="268660" y="422888"/>
                </a:lnTo>
                <a:lnTo>
                  <a:pt x="219963" y="425576"/>
                </a:lnTo>
                <a:lnTo>
                  <a:pt x="171862" y="427075"/>
                </a:lnTo>
                <a:lnTo>
                  <a:pt x="132714" y="426799"/>
                </a:lnTo>
                <a:lnTo>
                  <a:pt x="81280" y="420877"/>
                </a:lnTo>
                <a:lnTo>
                  <a:pt x="41810" y="403786"/>
                </a:lnTo>
                <a:lnTo>
                  <a:pt x="14350" y="372999"/>
                </a:lnTo>
                <a:lnTo>
                  <a:pt x="1158" y="332327"/>
                </a:lnTo>
                <a:lnTo>
                  <a:pt x="0" y="310769"/>
                </a:lnTo>
                <a:lnTo>
                  <a:pt x="0" y="297054"/>
                </a:lnTo>
                <a:lnTo>
                  <a:pt x="0" y="279733"/>
                </a:lnTo>
                <a:lnTo>
                  <a:pt x="0" y="258816"/>
                </a:lnTo>
                <a:lnTo>
                  <a:pt x="0" y="234314"/>
                </a:lnTo>
                <a:lnTo>
                  <a:pt x="595" y="210101"/>
                </a:lnTo>
                <a:lnTo>
                  <a:pt x="2381" y="190055"/>
                </a:lnTo>
                <a:lnTo>
                  <a:pt x="5357" y="174200"/>
                </a:lnTo>
                <a:lnTo>
                  <a:pt x="9525" y="162560"/>
                </a:lnTo>
                <a:lnTo>
                  <a:pt x="14595" y="151822"/>
                </a:lnTo>
                <a:lnTo>
                  <a:pt x="20272" y="138668"/>
                </a:lnTo>
                <a:lnTo>
                  <a:pt x="26544" y="123108"/>
                </a:lnTo>
                <a:lnTo>
                  <a:pt x="33400" y="105156"/>
                </a:lnTo>
                <a:lnTo>
                  <a:pt x="40618" y="87221"/>
                </a:lnTo>
                <a:lnTo>
                  <a:pt x="62102" y="47751"/>
                </a:lnTo>
                <a:lnTo>
                  <a:pt x="91410" y="14575"/>
                </a:lnTo>
                <a:lnTo>
                  <a:pt x="136239" y="1158"/>
                </a:lnTo>
                <a:lnTo>
                  <a:pt x="162559" y="0"/>
                </a:lnTo>
                <a:lnTo>
                  <a:pt x="176327" y="0"/>
                </a:lnTo>
                <a:lnTo>
                  <a:pt x="188880" y="0"/>
                </a:lnTo>
                <a:lnTo>
                  <a:pt x="200243" y="0"/>
                </a:lnTo>
                <a:lnTo>
                  <a:pt x="210438" y="0"/>
                </a:lnTo>
                <a:lnTo>
                  <a:pt x="220273" y="885"/>
                </a:lnTo>
                <a:lnTo>
                  <a:pt x="267206" y="22994"/>
                </a:lnTo>
                <a:lnTo>
                  <a:pt x="305444" y="49283"/>
                </a:lnTo>
                <a:lnTo>
                  <a:pt x="354449" y="85169"/>
                </a:lnTo>
                <a:lnTo>
                  <a:pt x="392739" y="116220"/>
                </a:lnTo>
                <a:lnTo>
                  <a:pt x="430403" y="155400"/>
                </a:lnTo>
                <a:lnTo>
                  <a:pt x="454279" y="186436"/>
                </a:lnTo>
                <a:lnTo>
                  <a:pt x="477043" y="218741"/>
                </a:lnTo>
                <a:lnTo>
                  <a:pt x="506335" y="262685"/>
                </a:lnTo>
                <a:lnTo>
                  <a:pt x="526033" y="301244"/>
                </a:lnTo>
                <a:lnTo>
                  <a:pt x="535558" y="334772"/>
                </a:lnTo>
                <a:lnTo>
                  <a:pt x="535558" y="341122"/>
                </a:lnTo>
                <a:lnTo>
                  <a:pt x="535558" y="349123"/>
                </a:lnTo>
                <a:lnTo>
                  <a:pt x="535558" y="358648"/>
                </a:lnTo>
                <a:lnTo>
                  <a:pt x="535558" y="368173"/>
                </a:lnTo>
                <a:lnTo>
                  <a:pt x="534034" y="374650"/>
                </a:lnTo>
                <a:lnTo>
                  <a:pt x="530859" y="377825"/>
                </a:lnTo>
                <a:lnTo>
                  <a:pt x="527684" y="381000"/>
                </a:lnTo>
                <a:lnTo>
                  <a:pt x="522858" y="384175"/>
                </a:lnTo>
                <a:lnTo>
                  <a:pt x="516508" y="387350"/>
                </a:lnTo>
                <a:lnTo>
                  <a:pt x="510158" y="390525"/>
                </a:lnTo>
                <a:lnTo>
                  <a:pt x="505332" y="392175"/>
                </a:lnTo>
                <a:lnTo>
                  <a:pt x="484631" y="392175"/>
                </a:lnTo>
                <a:lnTo>
                  <a:pt x="478155" y="392175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903215" y="3382898"/>
            <a:ext cx="459105" cy="497840"/>
          </a:xfrm>
          <a:custGeom>
            <a:avLst/>
            <a:gdLst/>
            <a:ahLst/>
            <a:cxnLst/>
            <a:rect l="l" t="t" r="r" b="b"/>
            <a:pathLst>
              <a:path w="459104" h="497839">
                <a:moveTo>
                  <a:pt x="459105" y="468629"/>
                </a:moveTo>
                <a:lnTo>
                  <a:pt x="416051" y="482980"/>
                </a:lnTo>
                <a:lnTo>
                  <a:pt x="372189" y="490178"/>
                </a:lnTo>
                <a:lnTo>
                  <a:pt x="314436" y="496173"/>
                </a:lnTo>
                <a:lnTo>
                  <a:pt x="272542" y="497331"/>
                </a:lnTo>
                <a:lnTo>
                  <a:pt x="251973" y="496446"/>
                </a:lnTo>
                <a:lnTo>
                  <a:pt x="200913" y="482980"/>
                </a:lnTo>
                <a:lnTo>
                  <a:pt x="157819" y="461496"/>
                </a:lnTo>
                <a:lnTo>
                  <a:pt x="112379" y="437594"/>
                </a:lnTo>
                <a:lnTo>
                  <a:pt x="76581" y="416051"/>
                </a:lnTo>
                <a:lnTo>
                  <a:pt x="44275" y="393287"/>
                </a:lnTo>
                <a:lnTo>
                  <a:pt x="17327" y="363454"/>
                </a:lnTo>
                <a:lnTo>
                  <a:pt x="2732" y="325173"/>
                </a:lnTo>
                <a:lnTo>
                  <a:pt x="0" y="296545"/>
                </a:lnTo>
                <a:lnTo>
                  <a:pt x="0" y="286349"/>
                </a:lnTo>
                <a:lnTo>
                  <a:pt x="0" y="274986"/>
                </a:lnTo>
                <a:lnTo>
                  <a:pt x="0" y="262433"/>
                </a:lnTo>
                <a:lnTo>
                  <a:pt x="0" y="248665"/>
                </a:lnTo>
                <a:lnTo>
                  <a:pt x="1192" y="233092"/>
                </a:lnTo>
                <a:lnTo>
                  <a:pt x="10769" y="194802"/>
                </a:lnTo>
                <a:lnTo>
                  <a:pt x="28703" y="149080"/>
                </a:lnTo>
                <a:lnTo>
                  <a:pt x="47805" y="108452"/>
                </a:lnTo>
                <a:lnTo>
                  <a:pt x="66948" y="74945"/>
                </a:lnTo>
                <a:lnTo>
                  <a:pt x="95631" y="38226"/>
                </a:lnTo>
                <a:lnTo>
                  <a:pt x="133858" y="14350"/>
                </a:lnTo>
                <a:lnTo>
                  <a:pt x="143168" y="11949"/>
                </a:lnTo>
                <a:lnTo>
                  <a:pt x="151860" y="9525"/>
                </a:lnTo>
                <a:lnTo>
                  <a:pt x="159932" y="7100"/>
                </a:lnTo>
                <a:lnTo>
                  <a:pt x="167386" y="4699"/>
                </a:lnTo>
                <a:lnTo>
                  <a:pt x="176911" y="1524"/>
                </a:lnTo>
                <a:lnTo>
                  <a:pt x="183387" y="0"/>
                </a:lnTo>
                <a:lnTo>
                  <a:pt x="186562" y="0"/>
                </a:lnTo>
                <a:lnTo>
                  <a:pt x="189737" y="0"/>
                </a:lnTo>
                <a:lnTo>
                  <a:pt x="194437" y="1524"/>
                </a:lnTo>
                <a:lnTo>
                  <a:pt x="219963" y="33400"/>
                </a:lnTo>
                <a:lnTo>
                  <a:pt x="225341" y="46880"/>
                </a:lnTo>
                <a:lnTo>
                  <a:pt x="231933" y="63325"/>
                </a:lnTo>
                <a:lnTo>
                  <a:pt x="239716" y="82746"/>
                </a:lnTo>
                <a:lnTo>
                  <a:pt x="248666" y="105155"/>
                </a:lnTo>
                <a:lnTo>
                  <a:pt x="257669" y="127583"/>
                </a:lnTo>
                <a:lnTo>
                  <a:pt x="265445" y="147034"/>
                </a:lnTo>
                <a:lnTo>
                  <a:pt x="272008" y="163484"/>
                </a:lnTo>
                <a:lnTo>
                  <a:pt x="277368" y="176911"/>
                </a:lnTo>
                <a:lnTo>
                  <a:pt x="282150" y="189487"/>
                </a:lnTo>
                <a:lnTo>
                  <a:pt x="286956" y="203231"/>
                </a:lnTo>
                <a:lnTo>
                  <a:pt x="291762" y="218166"/>
                </a:lnTo>
                <a:lnTo>
                  <a:pt x="296545" y="234314"/>
                </a:lnTo>
                <a:lnTo>
                  <a:pt x="301307" y="250174"/>
                </a:lnTo>
                <a:lnTo>
                  <a:pt x="306070" y="264223"/>
                </a:lnTo>
                <a:lnTo>
                  <a:pt x="310832" y="276463"/>
                </a:lnTo>
                <a:lnTo>
                  <a:pt x="315595" y="286892"/>
                </a:lnTo>
                <a:lnTo>
                  <a:pt x="320430" y="296491"/>
                </a:lnTo>
                <a:lnTo>
                  <a:pt x="325231" y="306054"/>
                </a:lnTo>
                <a:lnTo>
                  <a:pt x="330007" y="315593"/>
                </a:lnTo>
                <a:lnTo>
                  <a:pt x="334772" y="325120"/>
                </a:lnTo>
                <a:lnTo>
                  <a:pt x="339536" y="334430"/>
                </a:lnTo>
                <a:lnTo>
                  <a:pt x="344312" y="343122"/>
                </a:lnTo>
                <a:lnTo>
                  <a:pt x="349113" y="351194"/>
                </a:lnTo>
                <a:lnTo>
                  <a:pt x="353949" y="358648"/>
                </a:lnTo>
                <a:lnTo>
                  <a:pt x="358423" y="365811"/>
                </a:lnTo>
                <a:lnTo>
                  <a:pt x="362315" y="372999"/>
                </a:lnTo>
                <a:lnTo>
                  <a:pt x="365611" y="380186"/>
                </a:lnTo>
                <a:lnTo>
                  <a:pt x="368300" y="387350"/>
                </a:lnTo>
                <a:lnTo>
                  <a:pt x="371475" y="396875"/>
                </a:lnTo>
                <a:lnTo>
                  <a:pt x="374650" y="403351"/>
                </a:lnTo>
                <a:lnTo>
                  <a:pt x="377825" y="406526"/>
                </a:lnTo>
                <a:lnTo>
                  <a:pt x="381000" y="409701"/>
                </a:lnTo>
                <a:lnTo>
                  <a:pt x="382650" y="412876"/>
                </a:lnTo>
                <a:lnTo>
                  <a:pt x="382650" y="416051"/>
                </a:lnTo>
                <a:lnTo>
                  <a:pt x="382650" y="419226"/>
                </a:lnTo>
                <a:lnTo>
                  <a:pt x="382650" y="424052"/>
                </a:lnTo>
                <a:lnTo>
                  <a:pt x="382650" y="430402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711060" y="3583685"/>
            <a:ext cx="1645285" cy="191770"/>
          </a:xfrm>
          <a:custGeom>
            <a:avLst/>
            <a:gdLst/>
            <a:ahLst/>
            <a:cxnLst/>
            <a:rect l="l" t="t" r="r" b="b"/>
            <a:pathLst>
              <a:path w="1645284" h="191770">
                <a:moveTo>
                  <a:pt x="0" y="191388"/>
                </a:moveTo>
                <a:lnTo>
                  <a:pt x="9834" y="191388"/>
                </a:lnTo>
                <a:lnTo>
                  <a:pt x="20288" y="191388"/>
                </a:lnTo>
                <a:lnTo>
                  <a:pt x="31361" y="191388"/>
                </a:lnTo>
                <a:lnTo>
                  <a:pt x="43053" y="191388"/>
                </a:lnTo>
                <a:lnTo>
                  <a:pt x="54673" y="190791"/>
                </a:lnTo>
                <a:lnTo>
                  <a:pt x="65722" y="188991"/>
                </a:lnTo>
                <a:lnTo>
                  <a:pt x="76200" y="185977"/>
                </a:lnTo>
                <a:lnTo>
                  <a:pt x="86106" y="181737"/>
                </a:lnTo>
                <a:lnTo>
                  <a:pt x="96535" y="176974"/>
                </a:lnTo>
                <a:lnTo>
                  <a:pt x="108775" y="172212"/>
                </a:lnTo>
                <a:lnTo>
                  <a:pt x="155735" y="158212"/>
                </a:lnTo>
                <a:lnTo>
                  <a:pt x="210439" y="148336"/>
                </a:lnTo>
                <a:lnTo>
                  <a:pt x="228679" y="145647"/>
                </a:lnTo>
                <a:lnTo>
                  <a:pt x="245110" y="142351"/>
                </a:lnTo>
                <a:lnTo>
                  <a:pt x="259730" y="138459"/>
                </a:lnTo>
                <a:lnTo>
                  <a:pt x="272542" y="133985"/>
                </a:lnTo>
                <a:lnTo>
                  <a:pt x="287214" y="129510"/>
                </a:lnTo>
                <a:lnTo>
                  <a:pt x="307244" y="125618"/>
                </a:lnTo>
                <a:lnTo>
                  <a:pt x="332656" y="122322"/>
                </a:lnTo>
                <a:lnTo>
                  <a:pt x="363474" y="119634"/>
                </a:lnTo>
                <a:lnTo>
                  <a:pt x="398119" y="116349"/>
                </a:lnTo>
                <a:lnTo>
                  <a:pt x="435181" y="111267"/>
                </a:lnTo>
                <a:lnTo>
                  <a:pt x="474648" y="104399"/>
                </a:lnTo>
                <a:lnTo>
                  <a:pt x="516509" y="95758"/>
                </a:lnTo>
                <a:lnTo>
                  <a:pt x="560157" y="86447"/>
                </a:lnTo>
                <a:lnTo>
                  <a:pt x="604996" y="77755"/>
                </a:lnTo>
                <a:lnTo>
                  <a:pt x="651025" y="69683"/>
                </a:lnTo>
                <a:lnTo>
                  <a:pt x="698246" y="62229"/>
                </a:lnTo>
                <a:lnTo>
                  <a:pt x="746369" y="55373"/>
                </a:lnTo>
                <a:lnTo>
                  <a:pt x="795099" y="49101"/>
                </a:lnTo>
                <a:lnTo>
                  <a:pt x="844424" y="43424"/>
                </a:lnTo>
                <a:lnTo>
                  <a:pt x="894334" y="38353"/>
                </a:lnTo>
                <a:lnTo>
                  <a:pt x="936213" y="34297"/>
                </a:lnTo>
                <a:lnTo>
                  <a:pt x="981537" y="29886"/>
                </a:lnTo>
                <a:lnTo>
                  <a:pt x="1030305" y="25104"/>
                </a:lnTo>
                <a:lnTo>
                  <a:pt x="1082517" y="19931"/>
                </a:lnTo>
                <a:lnTo>
                  <a:pt x="1138174" y="14350"/>
                </a:lnTo>
                <a:lnTo>
                  <a:pt x="1205781" y="8090"/>
                </a:lnTo>
                <a:lnTo>
                  <a:pt x="1264983" y="3603"/>
                </a:lnTo>
                <a:lnTo>
                  <a:pt x="1315803" y="902"/>
                </a:lnTo>
                <a:lnTo>
                  <a:pt x="1358265" y="0"/>
                </a:lnTo>
                <a:lnTo>
                  <a:pt x="1395579" y="0"/>
                </a:lnTo>
                <a:lnTo>
                  <a:pt x="1431131" y="0"/>
                </a:lnTo>
                <a:lnTo>
                  <a:pt x="1638589" y="0"/>
                </a:lnTo>
                <a:lnTo>
                  <a:pt x="164515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884932" y="4597653"/>
            <a:ext cx="746125" cy="612140"/>
          </a:xfrm>
          <a:custGeom>
            <a:avLst/>
            <a:gdLst/>
            <a:ahLst/>
            <a:cxnLst/>
            <a:rect l="l" t="t" r="r" b="b"/>
            <a:pathLst>
              <a:path w="746125" h="612139">
                <a:moveTo>
                  <a:pt x="746125" y="593090"/>
                </a:moveTo>
                <a:lnTo>
                  <a:pt x="740747" y="593685"/>
                </a:lnTo>
                <a:lnTo>
                  <a:pt x="734155" y="595471"/>
                </a:lnTo>
                <a:lnTo>
                  <a:pt x="726372" y="598447"/>
                </a:lnTo>
                <a:lnTo>
                  <a:pt x="717422" y="602615"/>
                </a:lnTo>
                <a:lnTo>
                  <a:pt x="707588" y="606782"/>
                </a:lnTo>
                <a:lnTo>
                  <a:pt x="697134" y="609758"/>
                </a:lnTo>
                <a:lnTo>
                  <a:pt x="686061" y="611544"/>
                </a:lnTo>
                <a:lnTo>
                  <a:pt x="674369" y="612140"/>
                </a:lnTo>
                <a:lnTo>
                  <a:pt x="662388" y="612140"/>
                </a:lnTo>
                <a:lnTo>
                  <a:pt x="650430" y="612140"/>
                </a:lnTo>
                <a:lnTo>
                  <a:pt x="573913" y="612140"/>
                </a:lnTo>
                <a:lnTo>
                  <a:pt x="559008" y="611544"/>
                </a:lnTo>
                <a:lnTo>
                  <a:pt x="506983" y="602615"/>
                </a:lnTo>
                <a:lnTo>
                  <a:pt x="469915" y="593026"/>
                </a:lnTo>
                <a:lnTo>
                  <a:pt x="418177" y="578367"/>
                </a:lnTo>
                <a:lnTo>
                  <a:pt x="363474" y="559562"/>
                </a:lnTo>
                <a:lnTo>
                  <a:pt x="326405" y="544036"/>
                </a:lnTo>
                <a:lnTo>
                  <a:pt x="291719" y="526034"/>
                </a:lnTo>
                <a:lnTo>
                  <a:pt x="275623" y="517102"/>
                </a:lnTo>
                <a:lnTo>
                  <a:pt x="260683" y="509349"/>
                </a:lnTo>
                <a:lnTo>
                  <a:pt x="246909" y="502763"/>
                </a:lnTo>
                <a:lnTo>
                  <a:pt x="234315" y="497332"/>
                </a:lnTo>
                <a:lnTo>
                  <a:pt x="221793" y="491666"/>
                </a:lnTo>
                <a:lnTo>
                  <a:pt x="177037" y="463931"/>
                </a:lnTo>
                <a:lnTo>
                  <a:pt x="147113" y="439991"/>
                </a:lnTo>
                <a:lnTo>
                  <a:pt x="113903" y="403528"/>
                </a:lnTo>
                <a:lnTo>
                  <a:pt x="101663" y="389778"/>
                </a:lnTo>
                <a:lnTo>
                  <a:pt x="87614" y="374814"/>
                </a:lnTo>
                <a:lnTo>
                  <a:pt x="71755" y="358648"/>
                </a:lnTo>
                <a:lnTo>
                  <a:pt x="56798" y="342842"/>
                </a:lnTo>
                <a:lnTo>
                  <a:pt x="45450" y="328787"/>
                </a:lnTo>
                <a:lnTo>
                  <a:pt x="37697" y="316517"/>
                </a:lnTo>
                <a:lnTo>
                  <a:pt x="33528" y="306070"/>
                </a:lnTo>
                <a:lnTo>
                  <a:pt x="30839" y="296525"/>
                </a:lnTo>
                <a:lnTo>
                  <a:pt x="27543" y="286956"/>
                </a:lnTo>
                <a:lnTo>
                  <a:pt x="23651" y="277387"/>
                </a:lnTo>
                <a:lnTo>
                  <a:pt x="19176" y="267843"/>
                </a:lnTo>
                <a:lnTo>
                  <a:pt x="14702" y="258242"/>
                </a:lnTo>
                <a:lnTo>
                  <a:pt x="2732" y="220251"/>
                </a:lnTo>
                <a:lnTo>
                  <a:pt x="0" y="196088"/>
                </a:lnTo>
                <a:lnTo>
                  <a:pt x="0" y="188924"/>
                </a:lnTo>
                <a:lnTo>
                  <a:pt x="0" y="181737"/>
                </a:lnTo>
                <a:lnTo>
                  <a:pt x="0" y="174549"/>
                </a:lnTo>
                <a:lnTo>
                  <a:pt x="0" y="167386"/>
                </a:lnTo>
                <a:lnTo>
                  <a:pt x="902" y="159932"/>
                </a:lnTo>
                <a:lnTo>
                  <a:pt x="21514" y="124620"/>
                </a:lnTo>
                <a:lnTo>
                  <a:pt x="51409" y="92642"/>
                </a:lnTo>
                <a:lnTo>
                  <a:pt x="90931" y="62103"/>
                </a:lnTo>
                <a:lnTo>
                  <a:pt x="138420" y="34367"/>
                </a:lnTo>
                <a:lnTo>
                  <a:pt x="184165" y="20335"/>
                </a:lnTo>
                <a:lnTo>
                  <a:pt x="238819" y="12257"/>
                </a:lnTo>
                <a:lnTo>
                  <a:pt x="291719" y="9525"/>
                </a:lnTo>
                <a:lnTo>
                  <a:pt x="309078" y="9525"/>
                </a:lnTo>
                <a:lnTo>
                  <a:pt x="327628" y="9525"/>
                </a:lnTo>
                <a:lnTo>
                  <a:pt x="347368" y="9525"/>
                </a:lnTo>
                <a:lnTo>
                  <a:pt x="368300" y="9525"/>
                </a:lnTo>
                <a:lnTo>
                  <a:pt x="389826" y="9237"/>
                </a:lnTo>
                <a:lnTo>
                  <a:pt x="411353" y="8366"/>
                </a:lnTo>
                <a:lnTo>
                  <a:pt x="432879" y="6899"/>
                </a:lnTo>
                <a:lnTo>
                  <a:pt x="454406" y="4826"/>
                </a:lnTo>
                <a:lnTo>
                  <a:pt x="475335" y="2678"/>
                </a:lnTo>
                <a:lnTo>
                  <a:pt x="495061" y="1174"/>
                </a:lnTo>
                <a:lnTo>
                  <a:pt x="513574" y="289"/>
                </a:lnTo>
                <a:lnTo>
                  <a:pt x="530859" y="0"/>
                </a:lnTo>
                <a:lnTo>
                  <a:pt x="547622" y="595"/>
                </a:lnTo>
                <a:lnTo>
                  <a:pt x="597789" y="9525"/>
                </a:lnTo>
                <a:lnTo>
                  <a:pt x="634579" y="23919"/>
                </a:lnTo>
                <a:lnTo>
                  <a:pt x="645967" y="33176"/>
                </a:lnTo>
                <a:lnTo>
                  <a:pt x="651652" y="37068"/>
                </a:lnTo>
                <a:lnTo>
                  <a:pt x="657933" y="40364"/>
                </a:lnTo>
                <a:lnTo>
                  <a:pt x="664844" y="43053"/>
                </a:lnTo>
                <a:lnTo>
                  <a:pt x="674369" y="46228"/>
                </a:lnTo>
                <a:lnTo>
                  <a:pt x="679195" y="52578"/>
                </a:lnTo>
                <a:lnTo>
                  <a:pt x="679195" y="239141"/>
                </a:lnTo>
                <a:lnTo>
                  <a:pt x="678598" y="249281"/>
                </a:lnTo>
                <a:lnTo>
                  <a:pt x="676798" y="260635"/>
                </a:lnTo>
                <a:lnTo>
                  <a:pt x="673784" y="273180"/>
                </a:lnTo>
                <a:lnTo>
                  <a:pt x="669544" y="286893"/>
                </a:lnTo>
                <a:lnTo>
                  <a:pt x="664781" y="301563"/>
                </a:lnTo>
                <a:lnTo>
                  <a:pt x="660019" y="316817"/>
                </a:lnTo>
                <a:lnTo>
                  <a:pt x="655256" y="332666"/>
                </a:lnTo>
                <a:lnTo>
                  <a:pt x="650494" y="349123"/>
                </a:lnTo>
                <a:lnTo>
                  <a:pt x="645116" y="366480"/>
                </a:lnTo>
                <a:lnTo>
                  <a:pt x="630741" y="404719"/>
                </a:lnTo>
                <a:lnTo>
                  <a:pt x="612193" y="445315"/>
                </a:lnTo>
                <a:lnTo>
                  <a:pt x="583565" y="482981"/>
                </a:lnTo>
                <a:lnTo>
                  <a:pt x="575157" y="489892"/>
                </a:lnTo>
                <a:lnTo>
                  <a:pt x="569166" y="496173"/>
                </a:lnTo>
                <a:lnTo>
                  <a:pt x="565580" y="501858"/>
                </a:lnTo>
                <a:lnTo>
                  <a:pt x="564388" y="506984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526666" y="5276722"/>
            <a:ext cx="392430" cy="411480"/>
          </a:xfrm>
          <a:custGeom>
            <a:avLst/>
            <a:gdLst/>
            <a:ahLst/>
            <a:cxnLst/>
            <a:rect l="l" t="t" r="r" b="b"/>
            <a:pathLst>
              <a:path w="392430" h="411479">
                <a:moveTo>
                  <a:pt x="306070" y="401827"/>
                </a:moveTo>
                <a:lnTo>
                  <a:pt x="284563" y="405995"/>
                </a:lnTo>
                <a:lnTo>
                  <a:pt x="267843" y="408971"/>
                </a:lnTo>
                <a:lnTo>
                  <a:pt x="255885" y="410757"/>
                </a:lnTo>
                <a:lnTo>
                  <a:pt x="248665" y="411352"/>
                </a:lnTo>
                <a:lnTo>
                  <a:pt x="241212" y="411352"/>
                </a:lnTo>
                <a:lnTo>
                  <a:pt x="228377" y="411352"/>
                </a:lnTo>
                <a:lnTo>
                  <a:pt x="109982" y="411352"/>
                </a:lnTo>
                <a:lnTo>
                  <a:pt x="98361" y="410757"/>
                </a:lnTo>
                <a:lnTo>
                  <a:pt x="57999" y="396702"/>
                </a:lnTo>
                <a:lnTo>
                  <a:pt x="31877" y="368300"/>
                </a:lnTo>
                <a:lnTo>
                  <a:pt x="27178" y="361950"/>
                </a:lnTo>
                <a:lnTo>
                  <a:pt x="9652" y="320420"/>
                </a:lnTo>
                <a:lnTo>
                  <a:pt x="597" y="278344"/>
                </a:lnTo>
                <a:lnTo>
                  <a:pt x="0" y="267843"/>
                </a:lnTo>
                <a:lnTo>
                  <a:pt x="0" y="257702"/>
                </a:lnTo>
                <a:lnTo>
                  <a:pt x="0" y="246348"/>
                </a:lnTo>
                <a:lnTo>
                  <a:pt x="0" y="172212"/>
                </a:lnTo>
                <a:lnTo>
                  <a:pt x="597" y="163262"/>
                </a:lnTo>
                <a:lnTo>
                  <a:pt x="22780" y="131587"/>
                </a:lnTo>
                <a:lnTo>
                  <a:pt x="55340" y="105263"/>
                </a:lnTo>
                <a:lnTo>
                  <a:pt x="95631" y="76581"/>
                </a:lnTo>
                <a:lnTo>
                  <a:pt x="129159" y="56245"/>
                </a:lnTo>
                <a:lnTo>
                  <a:pt x="172212" y="33527"/>
                </a:lnTo>
                <a:lnTo>
                  <a:pt x="212867" y="14366"/>
                </a:lnTo>
                <a:lnTo>
                  <a:pt x="251968" y="1650"/>
                </a:lnTo>
                <a:lnTo>
                  <a:pt x="259841" y="0"/>
                </a:lnTo>
                <a:lnTo>
                  <a:pt x="263016" y="0"/>
                </a:lnTo>
                <a:lnTo>
                  <a:pt x="266319" y="0"/>
                </a:lnTo>
                <a:lnTo>
                  <a:pt x="269494" y="0"/>
                </a:lnTo>
                <a:lnTo>
                  <a:pt x="272669" y="0"/>
                </a:lnTo>
                <a:lnTo>
                  <a:pt x="275844" y="0"/>
                </a:lnTo>
                <a:lnTo>
                  <a:pt x="280670" y="1650"/>
                </a:lnTo>
                <a:lnTo>
                  <a:pt x="310905" y="31454"/>
                </a:lnTo>
                <a:lnTo>
                  <a:pt x="330011" y="67599"/>
                </a:lnTo>
                <a:lnTo>
                  <a:pt x="344424" y="105282"/>
                </a:lnTo>
                <a:lnTo>
                  <a:pt x="349186" y="119302"/>
                </a:lnTo>
                <a:lnTo>
                  <a:pt x="353949" y="132762"/>
                </a:lnTo>
                <a:lnTo>
                  <a:pt x="368256" y="169245"/>
                </a:lnTo>
                <a:lnTo>
                  <a:pt x="389001" y="205739"/>
                </a:lnTo>
                <a:lnTo>
                  <a:pt x="392176" y="212089"/>
                </a:lnTo>
                <a:lnTo>
                  <a:pt x="392176" y="242315"/>
                </a:lnTo>
                <a:lnTo>
                  <a:pt x="392176" y="248793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053936" y="1208885"/>
            <a:ext cx="7153909" cy="4446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Malgun Gothic"/>
                <a:cs typeface="Malgun Gothic"/>
              </a:rPr>
              <a:t>②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보험회사가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숙지하지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못한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35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25400">
              <a:lnSpc>
                <a:spcPct val="100000"/>
              </a:lnSpc>
            </a:pP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a)</a:t>
            </a:r>
            <a:r>
              <a:rPr dirty="0" sz="2000" spc="1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공동균형(pooling</a:t>
            </a:r>
            <a:r>
              <a:rPr dirty="0" sz="2000" spc="1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equilibrium)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151130">
              <a:lnSpc>
                <a:spcPct val="100000"/>
              </a:lnSpc>
              <a:spcBef>
                <a:spcPts val="5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보험회사가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평균위험을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토대로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보험료를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부과하는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전략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2000">
              <a:latin typeface="Malgun Gothic"/>
              <a:cs typeface="Malgun Gothic"/>
            </a:endParaRPr>
          </a:p>
          <a:p>
            <a:pPr algn="ctr" marL="1434465">
              <a:lnSpc>
                <a:spcPct val="100000"/>
              </a:lnSpc>
            </a:pPr>
            <a:r>
              <a:rPr dirty="0" baseline="11574" sz="3600" spc="-1350">
                <a:solidFill>
                  <a:srgbClr val="0000FF"/>
                </a:solidFill>
                <a:latin typeface="Microsoft Sans Serif"/>
                <a:cs typeface="Microsoft Sans Serif"/>
              </a:rPr>
              <a:t></a:t>
            </a:r>
            <a:r>
              <a:rPr dirty="0" baseline="-2314" sz="3600" spc="-1350">
                <a:solidFill>
                  <a:srgbClr val="0000FF"/>
                </a:solidFill>
                <a:latin typeface="Microsoft Sans Serif"/>
                <a:cs typeface="Microsoft Sans Serif"/>
              </a:rPr>
              <a:t>v</a:t>
            </a:r>
            <a:r>
              <a:rPr dirty="0" sz="2400" spc="-900">
                <a:solidFill>
                  <a:srgbClr val="0000FF"/>
                </a:solidFill>
                <a:latin typeface="Microsoft Sans Serif"/>
                <a:cs typeface="Microsoft Sans Serif"/>
              </a:rPr>
              <a:t></a:t>
            </a:r>
            <a:r>
              <a:rPr dirty="0" sz="2400" spc="-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0000FF"/>
                </a:solidFill>
                <a:latin typeface="Microsoft Sans Serif"/>
                <a:cs typeface="Microsoft Sans Serif"/>
              </a:rPr>
              <a:t>(</a:t>
            </a:r>
            <a:r>
              <a:rPr dirty="0" baseline="-2314" sz="3600">
                <a:solidFill>
                  <a:srgbClr val="0000FF"/>
                </a:solidFill>
                <a:latin typeface="Microsoft Sans Serif"/>
                <a:cs typeface="Microsoft Sans Serif"/>
              </a:rPr>
              <a:t>l</a:t>
            </a:r>
            <a:r>
              <a:rPr dirty="0" sz="2400">
                <a:solidFill>
                  <a:srgbClr val="0000FF"/>
                </a:solidFill>
                <a:latin typeface="Microsoft Sans Serif"/>
                <a:cs typeface="Microsoft Sans Serif"/>
              </a:rPr>
              <a:t>+</a:t>
            </a:r>
            <a:r>
              <a:rPr dirty="0" baseline="-2314" sz="3600">
                <a:solidFill>
                  <a:srgbClr val="0000FF"/>
                </a:solidFill>
                <a:latin typeface="Microsoft Sans Serif"/>
                <a:cs typeface="Microsoft Sans Serif"/>
              </a:rPr>
              <a:t>α</a:t>
            </a:r>
            <a:r>
              <a:rPr dirty="0" sz="2400">
                <a:solidFill>
                  <a:srgbClr val="0000FF"/>
                </a:solidFill>
                <a:latin typeface="Microsoft Sans Serif"/>
                <a:cs typeface="Microsoft Sans Serif"/>
              </a:rPr>
              <a:t>)</a:t>
            </a:r>
            <a:r>
              <a:rPr dirty="0" baseline="-2314" sz="3600">
                <a:solidFill>
                  <a:srgbClr val="0000FF"/>
                </a:solidFill>
                <a:latin typeface="Microsoft Sans Serif"/>
                <a:cs typeface="Microsoft Sans Serif"/>
              </a:rPr>
              <a:t>8</a:t>
            </a:r>
            <a:r>
              <a:rPr dirty="0" baseline="-2222" sz="3750" i="1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dirty="0" baseline="-22875" sz="2550" i="1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r>
              <a:rPr dirty="0" baseline="-22875" sz="2550" spc="33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spc="560">
                <a:solidFill>
                  <a:srgbClr val="0000FF"/>
                </a:solidFill>
                <a:latin typeface="Microsoft Sans Serif"/>
                <a:cs typeface="Microsoft Sans Serif"/>
              </a:rPr>
              <a:t>+(</a:t>
            </a:r>
            <a:r>
              <a:rPr dirty="0" baseline="-2314" sz="3600" spc="839">
                <a:solidFill>
                  <a:srgbClr val="0000FF"/>
                </a:solidFill>
                <a:latin typeface="Microsoft Sans Serif"/>
                <a:cs typeface="Microsoft Sans Serif"/>
              </a:rPr>
              <a:t>l</a:t>
            </a:r>
            <a:r>
              <a:rPr dirty="0" sz="2400" spc="560">
                <a:solidFill>
                  <a:srgbClr val="0000FF"/>
                </a:solidFill>
                <a:latin typeface="Microsoft Sans Serif"/>
                <a:cs typeface="Microsoft Sans Serif"/>
              </a:rPr>
              <a:t>—</a:t>
            </a:r>
            <a:r>
              <a:rPr dirty="0" sz="2400" spc="-24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-2314" sz="3600" spc="75">
                <a:solidFill>
                  <a:srgbClr val="0000FF"/>
                </a:solidFill>
                <a:latin typeface="Microsoft Sans Serif"/>
                <a:cs typeface="Microsoft Sans Serif"/>
              </a:rPr>
              <a:t>8</a:t>
            </a:r>
            <a:r>
              <a:rPr dirty="0" sz="2400" spc="50">
                <a:solidFill>
                  <a:srgbClr val="0000FF"/>
                </a:solidFill>
                <a:latin typeface="Microsoft Sans Serif"/>
                <a:cs typeface="Microsoft Sans Serif"/>
              </a:rPr>
              <a:t>)</a:t>
            </a:r>
            <a:r>
              <a:rPr dirty="0" baseline="-2222" sz="3750" spc="75" i="1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dirty="0" baseline="-22875" sz="2550" spc="75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dirty="0" baseline="-22875" sz="2550" spc="-12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spc="-850">
                <a:solidFill>
                  <a:srgbClr val="0000FF"/>
                </a:solidFill>
                <a:latin typeface="Microsoft Sans Serif"/>
                <a:cs typeface="Microsoft Sans Serif"/>
              </a:rPr>
              <a:t></a:t>
            </a:r>
            <a:r>
              <a:rPr dirty="0" baseline="-2222" sz="3750" spc="-1275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endParaRPr baseline="-2222" sz="3750">
              <a:latin typeface="Times New Roman"/>
              <a:cs typeface="Times New Roman"/>
            </a:endParaRPr>
          </a:p>
          <a:p>
            <a:pPr algn="ctr" marL="1426845">
              <a:lnSpc>
                <a:spcPct val="100000"/>
              </a:lnSpc>
              <a:spcBef>
                <a:spcPts val="1235"/>
              </a:spcBef>
              <a:tabLst>
                <a:tab pos="1931670" algn="l"/>
              </a:tabLst>
            </a:pPr>
            <a:r>
              <a:rPr dirty="0" sz="2500" spc="-25" i="1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dirty="0" baseline="-19607" sz="2550" spc="-37" i="1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r>
              <a:rPr dirty="0" baseline="-19607" sz="255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위험수준이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높은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집단의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발생확률</a:t>
            </a:r>
            <a:endParaRPr sz="2000">
              <a:latin typeface="Malgun Gothic"/>
              <a:cs typeface="Malgun Gothic"/>
            </a:endParaRPr>
          </a:p>
          <a:p>
            <a:pPr algn="ctr" marL="1428115">
              <a:lnSpc>
                <a:spcPct val="100000"/>
              </a:lnSpc>
              <a:spcBef>
                <a:spcPts val="1100"/>
              </a:spcBef>
              <a:tabLst>
                <a:tab pos="1904364" algn="l"/>
              </a:tabLst>
            </a:pPr>
            <a:r>
              <a:rPr dirty="0" sz="2500" spc="55" i="1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dirty="0" baseline="-19607" sz="2550" spc="82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dirty="0" baseline="-19607" sz="255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위험수준이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낮은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집단의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발생확률</a:t>
            </a:r>
            <a:endParaRPr sz="2000">
              <a:latin typeface="Malgun Gothic"/>
              <a:cs typeface="Malgun Gothic"/>
            </a:endParaRPr>
          </a:p>
          <a:p>
            <a:pPr algn="ctr" marL="1426845">
              <a:lnSpc>
                <a:spcPct val="100000"/>
              </a:lnSpc>
              <a:spcBef>
                <a:spcPts val="1205"/>
              </a:spcBef>
              <a:tabLst>
                <a:tab pos="1703705" algn="l"/>
                <a:tab pos="2653665" algn="l"/>
              </a:tabLst>
            </a:pPr>
            <a:r>
              <a:rPr dirty="0" sz="2400" spc="-50">
                <a:solidFill>
                  <a:srgbClr val="0000FF"/>
                </a:solidFill>
                <a:latin typeface="Microsoft Sans Serif"/>
                <a:cs typeface="Microsoft Sans Serif"/>
              </a:rPr>
              <a:t>8</a:t>
            </a:r>
            <a:r>
              <a:rPr dirty="0" sz="2400">
                <a:solidFill>
                  <a:srgbClr val="0000FF"/>
                </a:solidFill>
                <a:latin typeface="Microsoft Sans Serif"/>
                <a:cs typeface="Microsoft Sans Serif"/>
              </a:rPr>
              <a:t>	</a:t>
            </a:r>
            <a:r>
              <a:rPr dirty="0" sz="2000" spc="55" b="1">
                <a:latin typeface="Malgun Gothic"/>
                <a:cs typeface="Malgun Gothic"/>
              </a:rPr>
              <a:t>,</a:t>
            </a:r>
            <a:r>
              <a:rPr dirty="0" sz="2000" spc="345" b="1">
                <a:latin typeface="Malgun Gothic"/>
                <a:cs typeface="Malgun Gothic"/>
              </a:rPr>
              <a:t> </a:t>
            </a:r>
            <a:r>
              <a:rPr dirty="0" sz="2400" spc="685">
                <a:solidFill>
                  <a:srgbClr val="0000FF"/>
                </a:solidFill>
                <a:latin typeface="Microsoft Sans Serif"/>
                <a:cs typeface="Microsoft Sans Serif"/>
              </a:rPr>
              <a:t>l</a:t>
            </a:r>
            <a:r>
              <a:rPr dirty="0" baseline="3472" sz="3600" spc="1027">
                <a:solidFill>
                  <a:srgbClr val="0000FF"/>
                </a:solidFill>
                <a:latin typeface="Microsoft Sans Serif"/>
                <a:cs typeface="Microsoft Sans Serif"/>
              </a:rPr>
              <a:t>—</a:t>
            </a:r>
            <a:r>
              <a:rPr dirty="0" baseline="3472" sz="3600" spc="-48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0">
                <a:solidFill>
                  <a:srgbClr val="0000FF"/>
                </a:solidFill>
                <a:latin typeface="Microsoft Sans Serif"/>
                <a:cs typeface="Microsoft Sans Serif"/>
              </a:rPr>
              <a:t>8</a:t>
            </a:r>
            <a:r>
              <a:rPr dirty="0" sz="2400">
                <a:solidFill>
                  <a:srgbClr val="0000FF"/>
                </a:solidFill>
                <a:latin typeface="Microsoft Sans Serif"/>
                <a:cs typeface="Microsoft Sans Serif"/>
              </a:rPr>
              <a:t>	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개별집단이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전체에서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차지하는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비중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25"/>
              </a:spcBef>
            </a:pPr>
            <a:r>
              <a:rPr dirty="0" spc="420"/>
              <a:t>-</a:t>
            </a:r>
            <a:r>
              <a:rPr dirty="0" spc="290"/>
              <a:t> </a:t>
            </a:r>
            <a:r>
              <a:rPr dirty="0"/>
              <a:t>예산제약선</a:t>
            </a:r>
            <a:r>
              <a:rPr dirty="0" spc="285"/>
              <a:t> </a:t>
            </a:r>
            <a:r>
              <a:rPr dirty="0" spc="135"/>
              <a:t>:</a:t>
            </a:r>
            <a:r>
              <a:rPr dirty="0" spc="335"/>
              <a:t> </a:t>
            </a:r>
            <a:r>
              <a:rPr dirty="0" sz="2500" spc="-30" b="0" i="1">
                <a:solidFill>
                  <a:srgbClr val="0000FF"/>
                </a:solidFill>
                <a:latin typeface="Times New Roman"/>
                <a:cs typeface="Times New Roman"/>
              </a:rPr>
              <a:t>A</a:t>
            </a:r>
            <a:r>
              <a:rPr dirty="0" spc="-30"/>
              <a:t>선(평균위험)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92990" y="1969559"/>
            <a:ext cx="8422640" cy="205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01625" marR="5080" indent="-289560">
              <a:lnSpc>
                <a:spcPct val="133400"/>
              </a:lnSpc>
              <a:spcBef>
                <a:spcPts val="100"/>
              </a:spcBef>
              <a:buChar char="-"/>
              <a:tabLst>
                <a:tab pos="301625" algn="l"/>
                <a:tab pos="324485" algn="l"/>
              </a:tabLst>
            </a:pP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평균위험에</a:t>
            </a:r>
            <a:r>
              <a:rPr dirty="0" sz="2000" spc="4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근거하여</a:t>
            </a:r>
            <a:r>
              <a:rPr dirty="0" sz="2000" spc="4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보험료가</a:t>
            </a:r>
            <a:r>
              <a:rPr dirty="0" sz="2000" spc="4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책정될</a:t>
            </a:r>
            <a:r>
              <a:rPr dirty="0" sz="2000" spc="4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경우</a:t>
            </a:r>
            <a:r>
              <a:rPr dirty="0" sz="2000" spc="4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위험이</a:t>
            </a:r>
            <a:r>
              <a:rPr dirty="0" sz="2000" spc="4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높은</a:t>
            </a:r>
            <a:r>
              <a:rPr dirty="0" sz="2000" spc="4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개인은</a:t>
            </a:r>
            <a:r>
              <a:rPr dirty="0" sz="2000" spc="49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0" b="1">
                <a:solidFill>
                  <a:srgbClr val="0000FF"/>
                </a:solidFill>
                <a:latin typeface="Malgun Gothic"/>
                <a:cs typeface="Malgun Gothic"/>
              </a:rPr>
              <a:t>보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험을</a:t>
            </a:r>
            <a:r>
              <a:rPr dirty="0" sz="2000" spc="41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가능한</a:t>
            </a:r>
            <a:r>
              <a:rPr dirty="0" sz="2000" spc="415" b="1">
                <a:solidFill>
                  <a:srgbClr val="0000FF"/>
                </a:solidFill>
                <a:latin typeface="Malgun Gothic"/>
                <a:cs typeface="Malgun Gothic"/>
              </a:rPr>
              <a:t> 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많이</a:t>
            </a:r>
            <a:r>
              <a:rPr dirty="0" sz="2000" spc="42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구입하려는</a:t>
            </a:r>
            <a:r>
              <a:rPr dirty="0" sz="2000" spc="40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유인을</a:t>
            </a:r>
            <a:r>
              <a:rPr dirty="0" sz="2000" spc="41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갖고,</a:t>
            </a:r>
            <a:r>
              <a:rPr dirty="0" sz="2000" spc="42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위험이</a:t>
            </a:r>
            <a:r>
              <a:rPr dirty="0" sz="2000" spc="42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낮은</a:t>
            </a:r>
            <a:r>
              <a:rPr dirty="0" sz="2000" spc="41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집단은</a:t>
            </a:r>
            <a:r>
              <a:rPr dirty="0" sz="2000" spc="42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0" b="1">
                <a:solidFill>
                  <a:srgbClr val="0000FF"/>
                </a:solidFill>
                <a:latin typeface="Malgun Gothic"/>
                <a:cs typeface="Malgun Gothic"/>
              </a:rPr>
              <a:t>가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능한</a:t>
            </a:r>
            <a:r>
              <a:rPr dirty="0" sz="2000" spc="27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적게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구입하고자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할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가능성이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높다.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Malgun Gothic"/>
              <a:buChar char="-"/>
            </a:pPr>
            <a:endParaRPr sz="2000">
              <a:latin typeface="Malgun Gothic"/>
              <a:cs typeface="Malgun Gothic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dirty="0" sz="2000" b="1">
                <a:latin typeface="Malgun Gothic"/>
                <a:cs typeface="Malgun Gothic"/>
              </a:rPr>
              <a:t>보험회사에게는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위험별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분리적용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방식에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비해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비효율적인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전략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152775" y="1068069"/>
            <a:ext cx="507365" cy="660400"/>
          </a:xfrm>
          <a:custGeom>
            <a:avLst/>
            <a:gdLst/>
            <a:ahLst/>
            <a:cxnLst/>
            <a:rect l="l" t="t" r="r" b="b"/>
            <a:pathLst>
              <a:path w="507364" h="660400">
                <a:moveTo>
                  <a:pt x="363474" y="660018"/>
                </a:moveTo>
                <a:lnTo>
                  <a:pt x="363474" y="660018"/>
                </a:lnTo>
                <a:lnTo>
                  <a:pt x="248665" y="660018"/>
                </a:lnTo>
                <a:lnTo>
                  <a:pt x="234953" y="659423"/>
                </a:lnTo>
                <a:lnTo>
                  <a:pt x="222408" y="657637"/>
                </a:lnTo>
                <a:lnTo>
                  <a:pt x="211054" y="654661"/>
                </a:lnTo>
                <a:lnTo>
                  <a:pt x="200913" y="650493"/>
                </a:lnTo>
                <a:lnTo>
                  <a:pt x="191313" y="645658"/>
                </a:lnTo>
                <a:lnTo>
                  <a:pt x="181737" y="640857"/>
                </a:lnTo>
                <a:lnTo>
                  <a:pt x="172160" y="636081"/>
                </a:lnTo>
                <a:lnTo>
                  <a:pt x="162560" y="631316"/>
                </a:lnTo>
                <a:lnTo>
                  <a:pt x="153322" y="625939"/>
                </a:lnTo>
                <a:lnTo>
                  <a:pt x="121941" y="592780"/>
                </a:lnTo>
                <a:lnTo>
                  <a:pt x="100457" y="559562"/>
                </a:lnTo>
                <a:lnTo>
                  <a:pt x="81579" y="518324"/>
                </a:lnTo>
                <a:lnTo>
                  <a:pt x="71096" y="484564"/>
                </a:lnTo>
                <a:lnTo>
                  <a:pt x="64547" y="465137"/>
                </a:lnTo>
                <a:lnTo>
                  <a:pt x="56808" y="443900"/>
                </a:lnTo>
                <a:lnTo>
                  <a:pt x="47879" y="420877"/>
                </a:lnTo>
                <a:lnTo>
                  <a:pt x="38875" y="397873"/>
                </a:lnTo>
                <a:lnTo>
                  <a:pt x="31099" y="376666"/>
                </a:lnTo>
                <a:lnTo>
                  <a:pt x="19176" y="339597"/>
                </a:lnTo>
                <a:lnTo>
                  <a:pt x="7496" y="294717"/>
                </a:lnTo>
                <a:lnTo>
                  <a:pt x="1174" y="255873"/>
                </a:lnTo>
                <a:lnTo>
                  <a:pt x="0" y="224789"/>
                </a:lnTo>
                <a:lnTo>
                  <a:pt x="289" y="209236"/>
                </a:lnTo>
                <a:lnTo>
                  <a:pt x="7496" y="169459"/>
                </a:lnTo>
                <a:lnTo>
                  <a:pt x="25132" y="133911"/>
                </a:lnTo>
                <a:lnTo>
                  <a:pt x="57404" y="105282"/>
                </a:lnTo>
                <a:lnTo>
                  <a:pt x="105785" y="73850"/>
                </a:lnTo>
                <a:lnTo>
                  <a:pt x="143765" y="50843"/>
                </a:lnTo>
                <a:lnTo>
                  <a:pt x="184394" y="31690"/>
                </a:lnTo>
                <a:lnTo>
                  <a:pt x="226236" y="17327"/>
                </a:lnTo>
                <a:lnTo>
                  <a:pt x="277367" y="4825"/>
                </a:lnTo>
                <a:lnTo>
                  <a:pt x="315595" y="0"/>
                </a:lnTo>
                <a:lnTo>
                  <a:pt x="321026" y="0"/>
                </a:lnTo>
                <a:lnTo>
                  <a:pt x="327612" y="0"/>
                </a:lnTo>
                <a:lnTo>
                  <a:pt x="335365" y="0"/>
                </a:lnTo>
                <a:lnTo>
                  <a:pt x="344297" y="0"/>
                </a:lnTo>
                <a:lnTo>
                  <a:pt x="353607" y="307"/>
                </a:lnTo>
                <a:lnTo>
                  <a:pt x="390953" y="13192"/>
                </a:lnTo>
                <a:lnTo>
                  <a:pt x="407078" y="39439"/>
                </a:lnTo>
                <a:lnTo>
                  <a:pt x="413670" y="52593"/>
                </a:lnTo>
                <a:lnTo>
                  <a:pt x="440001" y="105538"/>
                </a:lnTo>
                <a:lnTo>
                  <a:pt x="459103" y="146167"/>
                </a:lnTo>
                <a:lnTo>
                  <a:pt x="477633" y="189507"/>
                </a:lnTo>
                <a:lnTo>
                  <a:pt x="491972" y="237323"/>
                </a:lnTo>
                <a:lnTo>
                  <a:pt x="501572" y="287230"/>
                </a:lnTo>
                <a:lnTo>
                  <a:pt x="506984" y="334771"/>
                </a:lnTo>
                <a:lnTo>
                  <a:pt x="506984" y="343775"/>
                </a:lnTo>
                <a:lnTo>
                  <a:pt x="506984" y="351551"/>
                </a:lnTo>
                <a:lnTo>
                  <a:pt x="506984" y="358114"/>
                </a:lnTo>
                <a:lnTo>
                  <a:pt x="506984" y="363474"/>
                </a:lnTo>
                <a:lnTo>
                  <a:pt x="506984" y="369824"/>
                </a:lnTo>
                <a:lnTo>
                  <a:pt x="505333" y="376300"/>
                </a:lnTo>
                <a:lnTo>
                  <a:pt x="502158" y="382650"/>
                </a:lnTo>
                <a:lnTo>
                  <a:pt x="498983" y="389000"/>
                </a:lnTo>
                <a:lnTo>
                  <a:pt x="495808" y="393826"/>
                </a:lnTo>
                <a:lnTo>
                  <a:pt x="459988" y="415520"/>
                </a:lnTo>
                <a:lnTo>
                  <a:pt x="444753" y="420877"/>
                </a:lnTo>
                <a:lnTo>
                  <a:pt x="441578" y="420877"/>
                </a:lnTo>
                <a:lnTo>
                  <a:pt x="436752" y="420877"/>
                </a:lnTo>
                <a:lnTo>
                  <a:pt x="430402" y="420877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65807" y="2435860"/>
            <a:ext cx="4352290" cy="86360"/>
          </a:xfrm>
          <a:custGeom>
            <a:avLst/>
            <a:gdLst/>
            <a:ahLst/>
            <a:cxnLst/>
            <a:rect l="l" t="t" r="r" b="b"/>
            <a:pathLst>
              <a:path w="4352290" h="86360">
                <a:moveTo>
                  <a:pt x="0" y="86105"/>
                </a:moveTo>
                <a:lnTo>
                  <a:pt x="6350" y="79755"/>
                </a:lnTo>
                <a:lnTo>
                  <a:pt x="12700" y="74929"/>
                </a:lnTo>
                <a:lnTo>
                  <a:pt x="19177" y="71754"/>
                </a:lnTo>
                <a:lnTo>
                  <a:pt x="25527" y="68579"/>
                </a:lnTo>
                <a:lnTo>
                  <a:pt x="31877" y="67055"/>
                </a:lnTo>
                <a:lnTo>
                  <a:pt x="38227" y="67055"/>
                </a:lnTo>
                <a:lnTo>
                  <a:pt x="44543" y="66748"/>
                </a:lnTo>
                <a:lnTo>
                  <a:pt x="53800" y="65833"/>
                </a:lnTo>
                <a:lnTo>
                  <a:pt x="66034" y="64323"/>
                </a:lnTo>
                <a:lnTo>
                  <a:pt x="81280" y="62229"/>
                </a:lnTo>
                <a:lnTo>
                  <a:pt x="100427" y="60136"/>
                </a:lnTo>
                <a:lnTo>
                  <a:pt x="124348" y="58626"/>
                </a:lnTo>
                <a:lnTo>
                  <a:pt x="153056" y="57711"/>
                </a:lnTo>
                <a:lnTo>
                  <a:pt x="186562" y="57403"/>
                </a:lnTo>
                <a:lnTo>
                  <a:pt x="221801" y="57403"/>
                </a:lnTo>
                <a:lnTo>
                  <a:pt x="255873" y="57403"/>
                </a:lnTo>
                <a:lnTo>
                  <a:pt x="669544" y="57403"/>
                </a:lnTo>
                <a:lnTo>
                  <a:pt x="688689" y="57116"/>
                </a:lnTo>
                <a:lnTo>
                  <a:pt x="707834" y="56245"/>
                </a:lnTo>
                <a:lnTo>
                  <a:pt x="726979" y="54778"/>
                </a:lnTo>
                <a:lnTo>
                  <a:pt x="746125" y="52704"/>
                </a:lnTo>
                <a:lnTo>
                  <a:pt x="764655" y="50611"/>
                </a:lnTo>
                <a:lnTo>
                  <a:pt x="781970" y="49101"/>
                </a:lnTo>
                <a:lnTo>
                  <a:pt x="798095" y="48186"/>
                </a:lnTo>
                <a:lnTo>
                  <a:pt x="813054" y="47878"/>
                </a:lnTo>
                <a:lnTo>
                  <a:pt x="827724" y="47878"/>
                </a:lnTo>
                <a:lnTo>
                  <a:pt x="842978" y="47878"/>
                </a:lnTo>
                <a:lnTo>
                  <a:pt x="942213" y="47878"/>
                </a:lnTo>
                <a:lnTo>
                  <a:pt x="958903" y="47571"/>
                </a:lnTo>
                <a:lnTo>
                  <a:pt x="975629" y="46656"/>
                </a:lnTo>
                <a:lnTo>
                  <a:pt x="992379" y="45146"/>
                </a:lnTo>
                <a:lnTo>
                  <a:pt x="1009142" y="43052"/>
                </a:lnTo>
                <a:lnTo>
                  <a:pt x="1025596" y="40979"/>
                </a:lnTo>
                <a:lnTo>
                  <a:pt x="1041431" y="39512"/>
                </a:lnTo>
                <a:lnTo>
                  <a:pt x="1056647" y="38641"/>
                </a:lnTo>
                <a:lnTo>
                  <a:pt x="1071245" y="38353"/>
                </a:lnTo>
                <a:lnTo>
                  <a:pt x="1085320" y="38353"/>
                </a:lnTo>
                <a:lnTo>
                  <a:pt x="1098788" y="38353"/>
                </a:lnTo>
                <a:lnTo>
                  <a:pt x="2439162" y="38353"/>
                </a:lnTo>
                <a:lnTo>
                  <a:pt x="2461877" y="38046"/>
                </a:lnTo>
                <a:lnTo>
                  <a:pt x="2482199" y="37131"/>
                </a:lnTo>
                <a:lnTo>
                  <a:pt x="2500116" y="35621"/>
                </a:lnTo>
                <a:lnTo>
                  <a:pt x="2515616" y="33527"/>
                </a:lnTo>
                <a:lnTo>
                  <a:pt x="2531189" y="31434"/>
                </a:lnTo>
                <a:lnTo>
                  <a:pt x="2549144" y="29924"/>
                </a:lnTo>
                <a:lnTo>
                  <a:pt x="2569479" y="29009"/>
                </a:lnTo>
                <a:lnTo>
                  <a:pt x="2592197" y="28701"/>
                </a:lnTo>
                <a:lnTo>
                  <a:pt x="2615797" y="28701"/>
                </a:lnTo>
                <a:lnTo>
                  <a:pt x="2638790" y="28701"/>
                </a:lnTo>
                <a:lnTo>
                  <a:pt x="2845689" y="28701"/>
                </a:lnTo>
                <a:lnTo>
                  <a:pt x="2874051" y="28414"/>
                </a:lnTo>
                <a:lnTo>
                  <a:pt x="2897044" y="27543"/>
                </a:lnTo>
                <a:lnTo>
                  <a:pt x="2914679" y="26076"/>
                </a:lnTo>
                <a:lnTo>
                  <a:pt x="2926969" y="24002"/>
                </a:lnTo>
                <a:lnTo>
                  <a:pt x="2936513" y="21909"/>
                </a:lnTo>
                <a:lnTo>
                  <a:pt x="2946082" y="20399"/>
                </a:lnTo>
                <a:lnTo>
                  <a:pt x="2955651" y="19484"/>
                </a:lnTo>
                <a:lnTo>
                  <a:pt x="2965196" y="19176"/>
                </a:lnTo>
                <a:lnTo>
                  <a:pt x="2975987" y="19176"/>
                </a:lnTo>
                <a:lnTo>
                  <a:pt x="2989135" y="19176"/>
                </a:lnTo>
                <a:lnTo>
                  <a:pt x="3864355" y="19176"/>
                </a:lnTo>
                <a:lnTo>
                  <a:pt x="3875399" y="18869"/>
                </a:lnTo>
                <a:lnTo>
                  <a:pt x="3889454" y="17954"/>
                </a:lnTo>
                <a:lnTo>
                  <a:pt x="3906486" y="16444"/>
                </a:lnTo>
                <a:lnTo>
                  <a:pt x="3926458" y="14350"/>
                </a:lnTo>
                <a:lnTo>
                  <a:pt x="3947697" y="12277"/>
                </a:lnTo>
                <a:lnTo>
                  <a:pt x="3968353" y="10810"/>
                </a:lnTo>
                <a:lnTo>
                  <a:pt x="3988413" y="9939"/>
                </a:lnTo>
                <a:lnTo>
                  <a:pt x="4007866" y="9651"/>
                </a:lnTo>
                <a:lnTo>
                  <a:pt x="4028436" y="9651"/>
                </a:lnTo>
                <a:lnTo>
                  <a:pt x="4052030" y="9651"/>
                </a:lnTo>
                <a:lnTo>
                  <a:pt x="4289933" y="9651"/>
                </a:lnTo>
                <a:lnTo>
                  <a:pt x="4295673" y="9054"/>
                </a:lnTo>
                <a:lnTo>
                  <a:pt x="4307951" y="7254"/>
                </a:lnTo>
                <a:lnTo>
                  <a:pt x="4326776" y="4240"/>
                </a:lnTo>
                <a:lnTo>
                  <a:pt x="4352163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596253" y="2330704"/>
            <a:ext cx="172720" cy="248920"/>
          </a:xfrm>
          <a:custGeom>
            <a:avLst/>
            <a:gdLst/>
            <a:ahLst/>
            <a:cxnLst/>
            <a:rect l="l" t="t" r="r" b="b"/>
            <a:pathLst>
              <a:path w="172720" h="248919">
                <a:moveTo>
                  <a:pt x="172212" y="0"/>
                </a:moveTo>
                <a:lnTo>
                  <a:pt x="144924" y="39131"/>
                </a:lnTo>
                <a:lnTo>
                  <a:pt x="139842" y="51371"/>
                </a:lnTo>
                <a:lnTo>
                  <a:pt x="114498" y="97736"/>
                </a:lnTo>
                <a:lnTo>
                  <a:pt x="81279" y="143510"/>
                </a:lnTo>
                <a:lnTo>
                  <a:pt x="69949" y="157819"/>
                </a:lnTo>
                <a:lnTo>
                  <a:pt x="43052" y="200913"/>
                </a:lnTo>
                <a:lnTo>
                  <a:pt x="23875" y="239141"/>
                </a:lnTo>
                <a:lnTo>
                  <a:pt x="20700" y="245491"/>
                </a:lnTo>
                <a:lnTo>
                  <a:pt x="17525" y="248666"/>
                </a:lnTo>
                <a:lnTo>
                  <a:pt x="14350" y="248666"/>
                </a:lnTo>
                <a:lnTo>
                  <a:pt x="11175" y="248666"/>
                </a:lnTo>
                <a:lnTo>
                  <a:pt x="8000" y="248666"/>
                </a:lnTo>
                <a:lnTo>
                  <a:pt x="4825" y="248666"/>
                </a:lnTo>
                <a:lnTo>
                  <a:pt x="1524" y="248666"/>
                </a:lnTo>
                <a:lnTo>
                  <a:pt x="0" y="245491"/>
                </a:lnTo>
                <a:lnTo>
                  <a:pt x="0" y="239141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72781" y="2014982"/>
            <a:ext cx="526415" cy="459740"/>
          </a:xfrm>
          <a:custGeom>
            <a:avLst/>
            <a:gdLst/>
            <a:ahLst/>
            <a:cxnLst/>
            <a:rect l="l" t="t" r="r" b="b"/>
            <a:pathLst>
              <a:path w="526415" h="459739">
                <a:moveTo>
                  <a:pt x="353822" y="440054"/>
                </a:moveTo>
                <a:lnTo>
                  <a:pt x="308173" y="445412"/>
                </a:lnTo>
                <a:lnTo>
                  <a:pt x="275262" y="453820"/>
                </a:lnTo>
                <a:lnTo>
                  <a:pt x="259413" y="456834"/>
                </a:lnTo>
                <a:lnTo>
                  <a:pt x="244159" y="458634"/>
                </a:lnTo>
                <a:lnTo>
                  <a:pt x="229489" y="459231"/>
                </a:lnTo>
                <a:lnTo>
                  <a:pt x="215487" y="459231"/>
                </a:lnTo>
                <a:lnTo>
                  <a:pt x="202057" y="459231"/>
                </a:lnTo>
                <a:lnTo>
                  <a:pt x="189198" y="459231"/>
                </a:lnTo>
                <a:lnTo>
                  <a:pt x="176911" y="459231"/>
                </a:lnTo>
                <a:lnTo>
                  <a:pt x="165887" y="458634"/>
                </a:lnTo>
                <a:lnTo>
                  <a:pt x="156638" y="456834"/>
                </a:lnTo>
                <a:lnTo>
                  <a:pt x="149175" y="453820"/>
                </a:lnTo>
                <a:lnTo>
                  <a:pt x="143510" y="449579"/>
                </a:lnTo>
                <a:lnTo>
                  <a:pt x="137771" y="444220"/>
                </a:lnTo>
                <a:lnTo>
                  <a:pt x="130270" y="437657"/>
                </a:lnTo>
                <a:lnTo>
                  <a:pt x="98290" y="412236"/>
                </a:lnTo>
                <a:lnTo>
                  <a:pt x="58287" y="394620"/>
                </a:lnTo>
                <a:lnTo>
                  <a:pt x="51419" y="392239"/>
                </a:lnTo>
                <a:lnTo>
                  <a:pt x="46337" y="389858"/>
                </a:lnTo>
                <a:lnTo>
                  <a:pt x="43052" y="387476"/>
                </a:lnTo>
                <a:lnTo>
                  <a:pt x="39877" y="384301"/>
                </a:lnTo>
                <a:lnTo>
                  <a:pt x="35051" y="381126"/>
                </a:lnTo>
                <a:lnTo>
                  <a:pt x="28701" y="377825"/>
                </a:lnTo>
                <a:lnTo>
                  <a:pt x="22351" y="374650"/>
                </a:lnTo>
                <a:lnTo>
                  <a:pt x="19050" y="371475"/>
                </a:lnTo>
                <a:lnTo>
                  <a:pt x="19050" y="368300"/>
                </a:lnTo>
                <a:lnTo>
                  <a:pt x="19050" y="365125"/>
                </a:lnTo>
                <a:lnTo>
                  <a:pt x="17525" y="360298"/>
                </a:lnTo>
                <a:lnTo>
                  <a:pt x="2625" y="321716"/>
                </a:lnTo>
                <a:lnTo>
                  <a:pt x="0" y="282193"/>
                </a:lnTo>
                <a:lnTo>
                  <a:pt x="595" y="266098"/>
                </a:lnTo>
                <a:lnTo>
                  <a:pt x="9525" y="224789"/>
                </a:lnTo>
                <a:lnTo>
                  <a:pt x="29277" y="191642"/>
                </a:lnTo>
                <a:lnTo>
                  <a:pt x="48061" y="171307"/>
                </a:lnTo>
                <a:lnTo>
                  <a:pt x="58515" y="159067"/>
                </a:lnTo>
                <a:lnTo>
                  <a:pt x="69588" y="145018"/>
                </a:lnTo>
                <a:lnTo>
                  <a:pt x="81279" y="129158"/>
                </a:lnTo>
                <a:lnTo>
                  <a:pt x="92610" y="113607"/>
                </a:lnTo>
                <a:lnTo>
                  <a:pt x="102774" y="100472"/>
                </a:lnTo>
                <a:lnTo>
                  <a:pt x="142287" y="63404"/>
                </a:lnTo>
                <a:lnTo>
                  <a:pt x="181737" y="38353"/>
                </a:lnTo>
                <a:lnTo>
                  <a:pt x="225948" y="15589"/>
                </a:lnTo>
                <a:lnTo>
                  <a:pt x="263017" y="4825"/>
                </a:lnTo>
                <a:lnTo>
                  <a:pt x="302486" y="307"/>
                </a:lnTo>
                <a:lnTo>
                  <a:pt x="310896" y="0"/>
                </a:lnTo>
                <a:lnTo>
                  <a:pt x="319845" y="1210"/>
                </a:lnTo>
                <a:lnTo>
                  <a:pt x="332390" y="4825"/>
                </a:lnTo>
                <a:lnTo>
                  <a:pt x="348507" y="10822"/>
                </a:lnTo>
                <a:lnTo>
                  <a:pt x="368173" y="19176"/>
                </a:lnTo>
                <a:lnTo>
                  <a:pt x="388508" y="28180"/>
                </a:lnTo>
                <a:lnTo>
                  <a:pt x="406463" y="35956"/>
                </a:lnTo>
                <a:lnTo>
                  <a:pt x="422036" y="42519"/>
                </a:lnTo>
                <a:lnTo>
                  <a:pt x="435228" y="47878"/>
                </a:lnTo>
                <a:lnTo>
                  <a:pt x="446849" y="53256"/>
                </a:lnTo>
                <a:lnTo>
                  <a:pt x="478282" y="76580"/>
                </a:lnTo>
                <a:lnTo>
                  <a:pt x="494966" y="93313"/>
                </a:lnTo>
                <a:lnTo>
                  <a:pt x="501552" y="99905"/>
                </a:lnTo>
                <a:lnTo>
                  <a:pt x="524875" y="136382"/>
                </a:lnTo>
                <a:lnTo>
                  <a:pt x="526034" y="153162"/>
                </a:lnTo>
                <a:lnTo>
                  <a:pt x="526034" y="162399"/>
                </a:lnTo>
                <a:lnTo>
                  <a:pt x="526034" y="171053"/>
                </a:lnTo>
                <a:lnTo>
                  <a:pt x="526034" y="179111"/>
                </a:lnTo>
                <a:lnTo>
                  <a:pt x="526034" y="186562"/>
                </a:lnTo>
                <a:lnTo>
                  <a:pt x="525438" y="194919"/>
                </a:lnTo>
                <a:lnTo>
                  <a:pt x="516509" y="234441"/>
                </a:lnTo>
                <a:lnTo>
                  <a:pt x="497332" y="272668"/>
                </a:lnTo>
                <a:lnTo>
                  <a:pt x="492261" y="275953"/>
                </a:lnTo>
                <a:lnTo>
                  <a:pt x="486584" y="281035"/>
                </a:lnTo>
                <a:lnTo>
                  <a:pt x="480312" y="287903"/>
                </a:lnTo>
                <a:lnTo>
                  <a:pt x="473455" y="296544"/>
                </a:lnTo>
                <a:lnTo>
                  <a:pt x="466599" y="305242"/>
                </a:lnTo>
                <a:lnTo>
                  <a:pt x="460327" y="312118"/>
                </a:lnTo>
                <a:lnTo>
                  <a:pt x="424398" y="324959"/>
                </a:lnTo>
                <a:lnTo>
                  <a:pt x="411225" y="32524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622297" y="2761107"/>
            <a:ext cx="2544445" cy="29209"/>
          </a:xfrm>
          <a:custGeom>
            <a:avLst/>
            <a:gdLst/>
            <a:ahLst/>
            <a:cxnLst/>
            <a:rect l="l" t="t" r="r" b="b"/>
            <a:pathLst>
              <a:path w="2544445" h="29210">
                <a:moveTo>
                  <a:pt x="0" y="28701"/>
                </a:moveTo>
                <a:lnTo>
                  <a:pt x="0" y="28701"/>
                </a:lnTo>
                <a:lnTo>
                  <a:pt x="62229" y="28701"/>
                </a:lnTo>
                <a:lnTo>
                  <a:pt x="80472" y="28412"/>
                </a:lnTo>
                <a:lnTo>
                  <a:pt x="101679" y="27527"/>
                </a:lnTo>
                <a:lnTo>
                  <a:pt x="125862" y="26023"/>
                </a:lnTo>
                <a:lnTo>
                  <a:pt x="153034" y="23875"/>
                </a:lnTo>
                <a:lnTo>
                  <a:pt x="180588" y="21802"/>
                </a:lnTo>
                <a:lnTo>
                  <a:pt x="205724" y="20335"/>
                </a:lnTo>
                <a:lnTo>
                  <a:pt x="228455" y="19464"/>
                </a:lnTo>
                <a:lnTo>
                  <a:pt x="248793" y="19176"/>
                </a:lnTo>
                <a:lnTo>
                  <a:pt x="268172" y="19176"/>
                </a:lnTo>
                <a:lnTo>
                  <a:pt x="288194" y="19176"/>
                </a:lnTo>
                <a:lnTo>
                  <a:pt x="616966" y="19176"/>
                </a:lnTo>
                <a:lnTo>
                  <a:pt x="642659" y="18579"/>
                </a:lnTo>
                <a:lnTo>
                  <a:pt x="667162" y="16779"/>
                </a:lnTo>
                <a:lnTo>
                  <a:pt x="690475" y="13765"/>
                </a:lnTo>
                <a:lnTo>
                  <a:pt x="712597" y="9525"/>
                </a:lnTo>
                <a:lnTo>
                  <a:pt x="735026" y="5357"/>
                </a:lnTo>
                <a:lnTo>
                  <a:pt x="759253" y="2381"/>
                </a:lnTo>
                <a:lnTo>
                  <a:pt x="785266" y="595"/>
                </a:lnTo>
                <a:lnTo>
                  <a:pt x="813054" y="0"/>
                </a:lnTo>
                <a:lnTo>
                  <a:pt x="842936" y="0"/>
                </a:lnTo>
                <a:lnTo>
                  <a:pt x="875236" y="0"/>
                </a:lnTo>
                <a:lnTo>
                  <a:pt x="1214755" y="0"/>
                </a:lnTo>
                <a:lnTo>
                  <a:pt x="1225258" y="307"/>
                </a:lnTo>
                <a:lnTo>
                  <a:pt x="1237535" y="1222"/>
                </a:lnTo>
                <a:lnTo>
                  <a:pt x="1251598" y="2732"/>
                </a:lnTo>
                <a:lnTo>
                  <a:pt x="1267460" y="4825"/>
                </a:lnTo>
                <a:lnTo>
                  <a:pt x="1283265" y="6899"/>
                </a:lnTo>
                <a:lnTo>
                  <a:pt x="1297320" y="8366"/>
                </a:lnTo>
                <a:lnTo>
                  <a:pt x="1309590" y="9237"/>
                </a:lnTo>
                <a:lnTo>
                  <a:pt x="1320038" y="9525"/>
                </a:lnTo>
                <a:lnTo>
                  <a:pt x="1329582" y="9525"/>
                </a:lnTo>
                <a:lnTo>
                  <a:pt x="1339151" y="9525"/>
                </a:lnTo>
                <a:lnTo>
                  <a:pt x="1587881" y="9525"/>
                </a:lnTo>
                <a:lnTo>
                  <a:pt x="1604591" y="9237"/>
                </a:lnTo>
                <a:lnTo>
                  <a:pt x="1626123" y="8366"/>
                </a:lnTo>
                <a:lnTo>
                  <a:pt x="1652442" y="6899"/>
                </a:lnTo>
                <a:lnTo>
                  <a:pt x="1683512" y="4825"/>
                </a:lnTo>
                <a:lnTo>
                  <a:pt x="1714581" y="2732"/>
                </a:lnTo>
                <a:lnTo>
                  <a:pt x="1740900" y="1222"/>
                </a:lnTo>
                <a:lnTo>
                  <a:pt x="1762432" y="307"/>
                </a:lnTo>
                <a:lnTo>
                  <a:pt x="1779142" y="0"/>
                </a:lnTo>
                <a:lnTo>
                  <a:pt x="1792620" y="0"/>
                </a:lnTo>
                <a:lnTo>
                  <a:pt x="1804289" y="0"/>
                </a:lnTo>
                <a:lnTo>
                  <a:pt x="2530605" y="0"/>
                </a:lnTo>
                <a:lnTo>
                  <a:pt x="2544317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772781" y="2579370"/>
            <a:ext cx="411480" cy="316230"/>
          </a:xfrm>
          <a:custGeom>
            <a:avLst/>
            <a:gdLst/>
            <a:ahLst/>
            <a:cxnLst/>
            <a:rect l="l" t="t" r="r" b="b"/>
            <a:pathLst>
              <a:path w="411479" h="316230">
                <a:moveTo>
                  <a:pt x="344297" y="306069"/>
                </a:moveTo>
                <a:lnTo>
                  <a:pt x="330277" y="306377"/>
                </a:lnTo>
                <a:lnTo>
                  <a:pt x="316817" y="307292"/>
                </a:lnTo>
                <a:lnTo>
                  <a:pt x="303952" y="308802"/>
                </a:lnTo>
                <a:lnTo>
                  <a:pt x="291719" y="310895"/>
                </a:lnTo>
                <a:lnTo>
                  <a:pt x="279431" y="312989"/>
                </a:lnTo>
                <a:lnTo>
                  <a:pt x="266573" y="314499"/>
                </a:lnTo>
                <a:lnTo>
                  <a:pt x="253142" y="315414"/>
                </a:lnTo>
                <a:lnTo>
                  <a:pt x="239141" y="315721"/>
                </a:lnTo>
                <a:lnTo>
                  <a:pt x="223875" y="315414"/>
                </a:lnTo>
                <a:lnTo>
                  <a:pt x="167386" y="310895"/>
                </a:lnTo>
                <a:lnTo>
                  <a:pt x="127936" y="304911"/>
                </a:lnTo>
                <a:lnTo>
                  <a:pt x="81557" y="291167"/>
                </a:lnTo>
                <a:lnTo>
                  <a:pt x="43052" y="267842"/>
                </a:lnTo>
                <a:lnTo>
                  <a:pt x="15192" y="231070"/>
                </a:lnTo>
                <a:lnTo>
                  <a:pt x="2381" y="184134"/>
                </a:lnTo>
                <a:lnTo>
                  <a:pt x="0" y="157860"/>
                </a:lnTo>
                <a:lnTo>
                  <a:pt x="0" y="145879"/>
                </a:lnTo>
                <a:lnTo>
                  <a:pt x="0" y="133921"/>
                </a:lnTo>
                <a:lnTo>
                  <a:pt x="0" y="121963"/>
                </a:lnTo>
                <a:lnTo>
                  <a:pt x="0" y="109981"/>
                </a:lnTo>
                <a:lnTo>
                  <a:pt x="287" y="98651"/>
                </a:lnTo>
                <a:lnTo>
                  <a:pt x="16732" y="56229"/>
                </a:lnTo>
                <a:lnTo>
                  <a:pt x="59743" y="29295"/>
                </a:lnTo>
                <a:lnTo>
                  <a:pt x="109982" y="9525"/>
                </a:lnTo>
                <a:lnTo>
                  <a:pt x="160166" y="595"/>
                </a:lnTo>
                <a:lnTo>
                  <a:pt x="176911" y="0"/>
                </a:lnTo>
                <a:lnTo>
                  <a:pt x="192770" y="0"/>
                </a:lnTo>
                <a:lnTo>
                  <a:pt x="206819" y="0"/>
                </a:lnTo>
                <a:lnTo>
                  <a:pt x="219059" y="0"/>
                </a:lnTo>
                <a:lnTo>
                  <a:pt x="229489" y="0"/>
                </a:lnTo>
                <a:lnTo>
                  <a:pt x="239684" y="1498"/>
                </a:lnTo>
                <a:lnTo>
                  <a:pt x="251047" y="5984"/>
                </a:lnTo>
                <a:lnTo>
                  <a:pt x="263600" y="13448"/>
                </a:lnTo>
                <a:lnTo>
                  <a:pt x="277368" y="23875"/>
                </a:lnTo>
                <a:lnTo>
                  <a:pt x="290845" y="34972"/>
                </a:lnTo>
                <a:lnTo>
                  <a:pt x="302514" y="44259"/>
                </a:lnTo>
                <a:lnTo>
                  <a:pt x="312372" y="51736"/>
                </a:lnTo>
                <a:lnTo>
                  <a:pt x="320421" y="57403"/>
                </a:lnTo>
                <a:lnTo>
                  <a:pt x="327277" y="62474"/>
                </a:lnTo>
                <a:lnTo>
                  <a:pt x="333549" y="68151"/>
                </a:lnTo>
                <a:lnTo>
                  <a:pt x="339226" y="74423"/>
                </a:lnTo>
                <a:lnTo>
                  <a:pt x="344297" y="81279"/>
                </a:lnTo>
                <a:lnTo>
                  <a:pt x="350269" y="89997"/>
                </a:lnTo>
                <a:lnTo>
                  <a:pt x="358648" y="101679"/>
                </a:lnTo>
                <a:lnTo>
                  <a:pt x="369407" y="116337"/>
                </a:lnTo>
                <a:lnTo>
                  <a:pt x="382524" y="133984"/>
                </a:lnTo>
                <a:lnTo>
                  <a:pt x="395098" y="150961"/>
                </a:lnTo>
                <a:lnTo>
                  <a:pt x="404066" y="163782"/>
                </a:lnTo>
                <a:lnTo>
                  <a:pt x="409438" y="172436"/>
                </a:lnTo>
                <a:lnTo>
                  <a:pt x="411225" y="176910"/>
                </a:lnTo>
                <a:lnTo>
                  <a:pt x="411225" y="180212"/>
                </a:lnTo>
                <a:lnTo>
                  <a:pt x="411225" y="183387"/>
                </a:lnTo>
                <a:lnTo>
                  <a:pt x="411225" y="208914"/>
                </a:lnTo>
                <a:lnTo>
                  <a:pt x="408050" y="212089"/>
                </a:lnTo>
                <a:lnTo>
                  <a:pt x="401700" y="215264"/>
                </a:lnTo>
                <a:lnTo>
                  <a:pt x="395350" y="218439"/>
                </a:lnTo>
                <a:lnTo>
                  <a:pt x="389000" y="219963"/>
                </a:lnTo>
                <a:lnTo>
                  <a:pt x="382524" y="219963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574546" y="3153282"/>
            <a:ext cx="1109980" cy="38735"/>
          </a:xfrm>
          <a:custGeom>
            <a:avLst/>
            <a:gdLst/>
            <a:ahLst/>
            <a:cxnLst/>
            <a:rect l="l" t="t" r="r" b="b"/>
            <a:pathLst>
              <a:path w="1109980" h="38735">
                <a:moveTo>
                  <a:pt x="0" y="38226"/>
                </a:moveTo>
                <a:lnTo>
                  <a:pt x="5665" y="37939"/>
                </a:lnTo>
                <a:lnTo>
                  <a:pt x="13128" y="37068"/>
                </a:lnTo>
                <a:lnTo>
                  <a:pt x="22377" y="35601"/>
                </a:lnTo>
                <a:lnTo>
                  <a:pt x="33400" y="33527"/>
                </a:lnTo>
                <a:lnTo>
                  <a:pt x="46285" y="31434"/>
                </a:lnTo>
                <a:lnTo>
                  <a:pt x="60944" y="29924"/>
                </a:lnTo>
                <a:lnTo>
                  <a:pt x="77388" y="29009"/>
                </a:lnTo>
                <a:lnTo>
                  <a:pt x="95630" y="28701"/>
                </a:lnTo>
                <a:lnTo>
                  <a:pt x="114774" y="28701"/>
                </a:lnTo>
                <a:lnTo>
                  <a:pt x="133905" y="28701"/>
                </a:lnTo>
                <a:lnTo>
                  <a:pt x="153013" y="28701"/>
                </a:lnTo>
                <a:lnTo>
                  <a:pt x="172084" y="28701"/>
                </a:lnTo>
                <a:lnTo>
                  <a:pt x="192422" y="28412"/>
                </a:lnTo>
                <a:lnTo>
                  <a:pt x="215153" y="27527"/>
                </a:lnTo>
                <a:lnTo>
                  <a:pt x="240289" y="26023"/>
                </a:lnTo>
                <a:lnTo>
                  <a:pt x="267842" y="23875"/>
                </a:lnTo>
                <a:lnTo>
                  <a:pt x="295322" y="21802"/>
                </a:lnTo>
                <a:lnTo>
                  <a:pt x="320421" y="20335"/>
                </a:lnTo>
                <a:lnTo>
                  <a:pt x="343138" y="19464"/>
                </a:lnTo>
                <a:lnTo>
                  <a:pt x="363473" y="19176"/>
                </a:lnTo>
                <a:lnTo>
                  <a:pt x="382906" y="18869"/>
                </a:lnTo>
                <a:lnTo>
                  <a:pt x="402923" y="17954"/>
                </a:lnTo>
                <a:lnTo>
                  <a:pt x="423535" y="16444"/>
                </a:lnTo>
                <a:lnTo>
                  <a:pt x="444753" y="14350"/>
                </a:lnTo>
                <a:lnTo>
                  <a:pt x="466568" y="12257"/>
                </a:lnTo>
                <a:lnTo>
                  <a:pt x="488965" y="10747"/>
                </a:lnTo>
                <a:lnTo>
                  <a:pt x="511958" y="9832"/>
                </a:lnTo>
                <a:lnTo>
                  <a:pt x="535559" y="9525"/>
                </a:lnTo>
                <a:lnTo>
                  <a:pt x="559486" y="9237"/>
                </a:lnTo>
                <a:lnTo>
                  <a:pt x="583438" y="8366"/>
                </a:lnTo>
                <a:lnTo>
                  <a:pt x="607389" y="6899"/>
                </a:lnTo>
                <a:lnTo>
                  <a:pt x="631316" y="4825"/>
                </a:lnTo>
                <a:lnTo>
                  <a:pt x="653418" y="2732"/>
                </a:lnTo>
                <a:lnTo>
                  <a:pt x="671925" y="1222"/>
                </a:lnTo>
                <a:lnTo>
                  <a:pt x="686859" y="307"/>
                </a:lnTo>
                <a:lnTo>
                  <a:pt x="698246" y="0"/>
                </a:lnTo>
                <a:lnTo>
                  <a:pt x="707195" y="0"/>
                </a:lnTo>
                <a:lnTo>
                  <a:pt x="714978" y="0"/>
                </a:lnTo>
                <a:lnTo>
                  <a:pt x="836929" y="0"/>
                </a:lnTo>
                <a:lnTo>
                  <a:pt x="849163" y="307"/>
                </a:lnTo>
                <a:lnTo>
                  <a:pt x="862028" y="1222"/>
                </a:lnTo>
                <a:lnTo>
                  <a:pt x="875488" y="2732"/>
                </a:lnTo>
                <a:lnTo>
                  <a:pt x="889508" y="4825"/>
                </a:lnTo>
                <a:lnTo>
                  <a:pt x="902985" y="6899"/>
                </a:lnTo>
                <a:lnTo>
                  <a:pt x="914654" y="8366"/>
                </a:lnTo>
                <a:lnTo>
                  <a:pt x="924512" y="9237"/>
                </a:lnTo>
                <a:lnTo>
                  <a:pt x="932560" y="9525"/>
                </a:lnTo>
                <a:lnTo>
                  <a:pt x="942085" y="9525"/>
                </a:lnTo>
                <a:lnTo>
                  <a:pt x="948562" y="9525"/>
                </a:lnTo>
                <a:lnTo>
                  <a:pt x="1104112" y="9525"/>
                </a:lnTo>
                <a:lnTo>
                  <a:pt x="1109472" y="9525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9341484" y="2770632"/>
            <a:ext cx="382905" cy="67310"/>
          </a:xfrm>
          <a:custGeom>
            <a:avLst/>
            <a:gdLst/>
            <a:ahLst/>
            <a:cxnLst/>
            <a:rect l="l" t="t" r="r" b="b"/>
            <a:pathLst>
              <a:path w="382904" h="67310">
                <a:moveTo>
                  <a:pt x="0" y="67055"/>
                </a:moveTo>
                <a:lnTo>
                  <a:pt x="3175" y="67055"/>
                </a:lnTo>
                <a:lnTo>
                  <a:pt x="109982" y="67055"/>
                </a:lnTo>
                <a:lnTo>
                  <a:pt x="118030" y="66458"/>
                </a:lnTo>
                <a:lnTo>
                  <a:pt x="127889" y="64658"/>
                </a:lnTo>
                <a:lnTo>
                  <a:pt x="139557" y="61644"/>
                </a:lnTo>
                <a:lnTo>
                  <a:pt x="153035" y="57403"/>
                </a:lnTo>
                <a:lnTo>
                  <a:pt x="167649" y="52641"/>
                </a:lnTo>
                <a:lnTo>
                  <a:pt x="182895" y="47878"/>
                </a:lnTo>
                <a:lnTo>
                  <a:pt x="232189" y="33879"/>
                </a:lnTo>
                <a:lnTo>
                  <a:pt x="286893" y="24002"/>
                </a:lnTo>
                <a:lnTo>
                  <a:pt x="304845" y="21619"/>
                </a:lnTo>
                <a:lnTo>
                  <a:pt x="320405" y="19224"/>
                </a:lnTo>
                <a:lnTo>
                  <a:pt x="333559" y="16805"/>
                </a:lnTo>
                <a:lnTo>
                  <a:pt x="344297" y="14350"/>
                </a:lnTo>
                <a:lnTo>
                  <a:pt x="356997" y="11175"/>
                </a:lnTo>
                <a:lnTo>
                  <a:pt x="364998" y="9651"/>
                </a:lnTo>
                <a:lnTo>
                  <a:pt x="381000" y="9651"/>
                </a:lnTo>
                <a:lnTo>
                  <a:pt x="382524" y="6476"/>
                </a:lnTo>
                <a:lnTo>
                  <a:pt x="382524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192990" y="1127996"/>
            <a:ext cx="8422640" cy="411797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740"/>
              </a:spcBef>
              <a:buFont typeface="Cambria"/>
              <a:buChar char="○"/>
              <a:tabLst>
                <a:tab pos="300355" algn="l"/>
                <a:tab pos="2235200" algn="l"/>
                <a:tab pos="2903220" algn="l"/>
                <a:tab pos="4331335" algn="l"/>
                <a:tab pos="5625465" algn="l"/>
                <a:tab pos="6725920" algn="l"/>
                <a:tab pos="7646670" algn="l"/>
              </a:tabLst>
            </a:pPr>
            <a:r>
              <a:rPr dirty="0" sz="2000" spc="-10" b="1">
                <a:latin typeface="Malgun Gothic"/>
                <a:cs typeface="Malgun Gothic"/>
              </a:rPr>
              <a:t>공동균형전략에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따라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보험회사가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AD선상의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B점에서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보험을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제공하</a:t>
            </a:r>
            <a:endParaRPr sz="2000">
              <a:latin typeface="Malgun Gothic"/>
              <a:cs typeface="Malgun Gothic"/>
            </a:endParaRPr>
          </a:p>
          <a:p>
            <a:pPr marL="300355">
              <a:lnSpc>
                <a:spcPct val="100000"/>
              </a:lnSpc>
              <a:spcBef>
                <a:spcPts val="760"/>
              </a:spcBef>
            </a:pPr>
            <a:r>
              <a:rPr dirty="0" sz="2000" b="1">
                <a:latin typeface="Malgun Gothic"/>
                <a:cs typeface="Malgun Gothic"/>
              </a:rPr>
              <a:t>고,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모든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가입자가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동일한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보험료(</a:t>
            </a:r>
            <a:r>
              <a:rPr dirty="0" sz="2400">
                <a:solidFill>
                  <a:srgbClr val="0000FF"/>
                </a:solidFill>
                <a:latin typeface="Microsoft Sans Serif"/>
                <a:cs typeface="Microsoft Sans Serif"/>
              </a:rPr>
              <a:t>v</a:t>
            </a:r>
            <a:r>
              <a:rPr dirty="0" sz="2000" b="1">
                <a:latin typeface="Malgun Gothic"/>
                <a:cs typeface="Malgun Gothic"/>
              </a:rPr>
              <a:t>)를</a:t>
            </a:r>
            <a:r>
              <a:rPr dirty="0" sz="2000" spc="34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적용받을</a:t>
            </a:r>
            <a:r>
              <a:rPr dirty="0" sz="2000" spc="34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000">
              <a:latin typeface="Malgun Gothic"/>
              <a:cs typeface="Malgun Gothic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dirty="0" sz="2000" b="1">
                <a:latin typeface="Malgun Gothic"/>
                <a:cs typeface="Malgun Gothic"/>
              </a:rPr>
              <a:t>위험이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낮은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집단의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어떠한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보험계약도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불리한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전략</a:t>
            </a:r>
            <a:endParaRPr sz="2000">
              <a:latin typeface="Malgun Gothic"/>
              <a:cs typeface="Malgun Gothic"/>
            </a:endParaRPr>
          </a:p>
          <a:p>
            <a:pPr marL="300355" marR="6350" indent="-288290">
              <a:lnSpc>
                <a:spcPct val="133400"/>
              </a:lnSpc>
              <a:spcBef>
                <a:spcPts val="3195"/>
              </a:spcBef>
              <a:buChar char="-"/>
              <a:tabLst>
                <a:tab pos="300355" algn="l"/>
                <a:tab pos="306070" algn="l"/>
                <a:tab pos="946785" algn="l"/>
                <a:tab pos="4393565" algn="l"/>
                <a:tab pos="5288915" algn="l"/>
                <a:tab pos="7974330" algn="l"/>
              </a:tabLst>
            </a:pP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다른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보험회사가</a:t>
            </a:r>
            <a:r>
              <a:rPr dirty="0" sz="2000" spc="32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전략적</a:t>
            </a:r>
            <a:r>
              <a:rPr dirty="0" sz="2000" spc="33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20" b="1">
                <a:solidFill>
                  <a:srgbClr val="0000FF"/>
                </a:solidFill>
                <a:latin typeface="Malgun Gothic"/>
                <a:cs typeface="Malgun Gothic"/>
              </a:rPr>
              <a:t>차원에서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위험이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낮은</a:t>
            </a:r>
            <a:r>
              <a:rPr dirty="0" sz="2000" spc="32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집단을</a:t>
            </a:r>
            <a:r>
              <a:rPr dirty="0" sz="2000" spc="33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20" b="1">
                <a:solidFill>
                  <a:srgbClr val="0000FF"/>
                </a:solidFill>
                <a:latin typeface="Malgun Gothic"/>
                <a:cs typeface="Malgun Gothic"/>
              </a:rPr>
              <a:t>대상으로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40" b="1">
                <a:solidFill>
                  <a:srgbClr val="0000FF"/>
                </a:solidFill>
                <a:latin typeface="Malgun Gothic"/>
                <a:cs typeface="Malgun Gothic"/>
              </a:rPr>
              <a:t>B점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위의</a:t>
            </a:r>
            <a:r>
              <a:rPr dirty="0" sz="2000" spc="26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사선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영역에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해당하는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새로운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보험계약을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제시</a:t>
            </a:r>
            <a:endParaRPr sz="2000">
              <a:latin typeface="Malgun Gothic"/>
              <a:cs typeface="Malgun Gothic"/>
            </a:endParaRPr>
          </a:p>
          <a:p>
            <a:pPr marL="346075" marR="5080" indent="-334010">
              <a:lnSpc>
                <a:spcPct val="133400"/>
              </a:lnSpc>
              <a:spcBef>
                <a:spcPts val="3190"/>
              </a:spcBef>
              <a:buChar char="-"/>
              <a:tabLst>
                <a:tab pos="346075" algn="l"/>
                <a:tab pos="1278890" algn="l"/>
                <a:tab pos="2722245" algn="l"/>
                <a:tab pos="3655060" algn="l"/>
                <a:tab pos="4337050" algn="l"/>
                <a:tab pos="5270500" algn="l"/>
                <a:tab pos="6459220" algn="l"/>
                <a:tab pos="7646670" algn="l"/>
              </a:tabLst>
            </a:pPr>
            <a:r>
              <a:rPr dirty="0" sz="2000" spc="-25" b="1">
                <a:latin typeface="Malgun Gothic"/>
                <a:cs typeface="Malgun Gothic"/>
              </a:rPr>
              <a:t>기존의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보험에서는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위험이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높은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집단만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잔류하는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역선택의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문제가 발생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b)</a:t>
            </a:r>
            <a:r>
              <a:rPr dirty="0" spc="204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분리균형(separating</a:t>
            </a:r>
            <a:r>
              <a:rPr dirty="0" spc="21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FF"/>
                </a:solidFill>
              </a:rPr>
              <a:t>equilibrium)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92990" y="2020737"/>
            <a:ext cx="8422640" cy="2767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-"/>
              <a:tabLst>
                <a:tab pos="297815" algn="l"/>
              </a:tabLst>
            </a:pPr>
            <a:r>
              <a:rPr dirty="0" sz="2000" b="1">
                <a:latin typeface="Malgun Gothic"/>
                <a:cs typeface="Malgun Gothic"/>
              </a:rPr>
              <a:t>보험회사가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차이가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집단을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분리하는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정책</a:t>
            </a:r>
            <a:endParaRPr sz="2000">
              <a:latin typeface="Malgun Gothic"/>
              <a:cs typeface="Malgun Gothic"/>
            </a:endParaRPr>
          </a:p>
          <a:p>
            <a:pPr marL="313690" marR="5080" indent="-301625">
              <a:lnSpc>
                <a:spcPct val="133400"/>
              </a:lnSpc>
              <a:spcBef>
                <a:spcPts val="3190"/>
              </a:spcBef>
              <a:buChar char="-"/>
              <a:tabLst>
                <a:tab pos="346075" algn="l"/>
                <a:tab pos="1723389" algn="l"/>
                <a:tab pos="2626360" algn="l"/>
                <a:tab pos="4036060" algn="l"/>
                <a:tab pos="5193030" algn="l"/>
                <a:tab pos="6350000" algn="l"/>
                <a:tab pos="7252334" algn="l"/>
                <a:tab pos="8155305" algn="l"/>
              </a:tabLst>
            </a:pPr>
            <a:r>
              <a:rPr dirty="0" sz="2000" spc="-10" b="1">
                <a:latin typeface="Malgun Gothic"/>
                <a:cs typeface="Malgun Gothic"/>
              </a:rPr>
              <a:t>보험계약에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별도의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유인장치를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마련하여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개인들이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스스로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자신의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50" b="1">
                <a:latin typeface="Malgun Gothic"/>
                <a:cs typeface="Malgun Gothic"/>
              </a:rPr>
              <a:t>위 </a:t>
            </a:r>
            <a:r>
              <a:rPr dirty="0" sz="2000" spc="-5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험수준을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드러내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있도록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유도</a:t>
            </a:r>
            <a:endParaRPr sz="2000">
              <a:latin typeface="Malgun Gothic"/>
              <a:cs typeface="Malgun Gothic"/>
            </a:endParaRPr>
          </a:p>
          <a:p>
            <a:pPr marL="318135" marR="6350" indent="-306070">
              <a:lnSpc>
                <a:spcPct val="133400"/>
              </a:lnSpc>
              <a:spcBef>
                <a:spcPts val="3195"/>
              </a:spcBef>
              <a:buClr>
                <a:srgbClr val="000000"/>
              </a:buClr>
              <a:buChar char="-"/>
              <a:tabLst>
                <a:tab pos="318135" algn="l"/>
                <a:tab pos="1734185" algn="l"/>
                <a:tab pos="2559050" algn="l"/>
                <a:tab pos="3213735" algn="l"/>
                <a:tab pos="4121150" algn="l"/>
                <a:tab pos="5029835" algn="l"/>
                <a:tab pos="5430520" algn="l"/>
                <a:tab pos="6085205" algn="l"/>
                <a:tab pos="6991984" algn="l"/>
                <a:tab pos="8154034" algn="l"/>
              </a:tabLst>
            </a:pP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보험회사는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60" b="1">
                <a:solidFill>
                  <a:srgbClr val="0000FF"/>
                </a:solidFill>
                <a:latin typeface="Malgun Gothic"/>
                <a:cs typeface="Malgun Gothic"/>
              </a:rPr>
              <a:t>E점의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왼쪽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영역에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해당될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50" b="1">
                <a:solidFill>
                  <a:srgbClr val="0000FF"/>
                </a:solidFill>
                <a:latin typeface="Malgun Gothic"/>
                <a:cs typeface="Malgun Gothic"/>
              </a:rPr>
              <a:t>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있는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보험을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0" b="1">
                <a:solidFill>
                  <a:srgbClr val="0000FF"/>
                </a:solidFill>
                <a:latin typeface="Malgun Gothic"/>
                <a:cs typeface="Malgun Gothic"/>
              </a:rPr>
              <a:t>제공하여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50" b="1">
                <a:solidFill>
                  <a:srgbClr val="0000FF"/>
                </a:solidFill>
                <a:latin typeface="Malgun Gothic"/>
                <a:cs typeface="Malgun Gothic"/>
              </a:rPr>
              <a:t>위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험이</a:t>
            </a:r>
            <a:r>
              <a:rPr dirty="0" sz="2000" spc="26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낮은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집단들만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가입하도록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유도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92990" y="5269669"/>
            <a:ext cx="21907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105" algn="l"/>
                <a:tab pos="747395" algn="l"/>
                <a:tab pos="1416050" algn="l"/>
              </a:tabLst>
            </a:pPr>
            <a:r>
              <a:rPr dirty="0" sz="2000" spc="370" b="1">
                <a:latin typeface="Malgun Gothic"/>
                <a:cs typeface="Malgun Gothic"/>
              </a:rPr>
              <a:t>-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5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위험이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519120" y="5269669"/>
            <a:ext cx="60953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0720" algn="l"/>
                <a:tab pos="1603375" algn="l"/>
                <a:tab pos="2457450" algn="l"/>
                <a:tab pos="2788920" algn="l"/>
                <a:tab pos="3711575" algn="l"/>
                <a:tab pos="5395595" algn="l"/>
              </a:tabLst>
            </a:pPr>
            <a:r>
              <a:rPr dirty="0" sz="2000" spc="-25" b="1">
                <a:latin typeface="Malgun Gothic"/>
                <a:cs typeface="Malgun Gothic"/>
              </a:rPr>
              <a:t>낮은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집단은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A에서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215" b="1">
                <a:latin typeface="Malgun Gothic"/>
                <a:cs typeface="Malgun Gothic"/>
              </a:rPr>
              <a:t>E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사이의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보험계약보다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B점과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98979" y="5574913"/>
            <a:ext cx="8117205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100"/>
              </a:spcBef>
              <a:tabLst>
                <a:tab pos="674370" algn="l"/>
                <a:tab pos="2606675" algn="l"/>
                <a:tab pos="3014345" algn="l"/>
                <a:tab pos="3930650" algn="l"/>
                <a:tab pos="4338955" algn="l"/>
                <a:tab pos="5075555" algn="l"/>
                <a:tab pos="6244590" algn="l"/>
                <a:tab pos="7595234" algn="l"/>
              </a:tabLst>
            </a:pPr>
            <a:r>
              <a:rPr dirty="0" sz="2000" spc="-25" b="1">
                <a:latin typeface="Malgun Gothic"/>
                <a:cs typeface="Malgun Gothic"/>
              </a:rPr>
              <a:t>같은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공동균형전략을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50" b="1">
                <a:latin typeface="Malgun Gothic"/>
                <a:cs typeface="Malgun Gothic"/>
              </a:rPr>
              <a:t>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선호할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50" b="1">
                <a:latin typeface="Malgun Gothic"/>
                <a:cs typeface="Malgun Gothic"/>
              </a:rPr>
              <a:t>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있다.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왜냐하면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B점에서의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효용 </a:t>
            </a:r>
            <a:r>
              <a:rPr dirty="0" sz="2000" b="1">
                <a:latin typeface="Malgun Gothic"/>
                <a:cs typeface="Malgun Gothic"/>
              </a:rPr>
              <a:t>수준이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높기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때문이다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6636" y="1208885"/>
            <a:ext cx="8549005" cy="520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</a:tabLst>
            </a:pPr>
            <a:r>
              <a:rPr dirty="0" sz="2000" b="1">
                <a:latin typeface="Malgun Gothic"/>
                <a:cs typeface="Malgun Gothic"/>
              </a:rPr>
              <a:t>분리균형이나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공동균형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모두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균형의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상태가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유지될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없는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한계</a:t>
            </a:r>
            <a:endParaRPr sz="2000">
              <a:latin typeface="Malgun Gothic"/>
              <a:cs typeface="Malgun Gothic"/>
            </a:endParaRPr>
          </a:p>
          <a:p>
            <a:pPr marL="452120" marR="5080" indent="-313690">
              <a:lnSpc>
                <a:spcPct val="133400"/>
              </a:lnSpc>
              <a:spcBef>
                <a:spcPts val="3190"/>
              </a:spcBef>
              <a:tabLst>
                <a:tab pos="452120" algn="l"/>
                <a:tab pos="1367155" algn="l"/>
                <a:tab pos="3043555" algn="l"/>
                <a:tab pos="3957954" algn="l"/>
                <a:tab pos="4620260" algn="l"/>
                <a:tab pos="5535295" algn="l"/>
                <a:tab pos="6197600" algn="l"/>
                <a:tab pos="7112634" algn="l"/>
                <a:tab pos="8027670" algn="l"/>
              </a:tabLst>
            </a:pPr>
            <a:r>
              <a:rPr dirty="0" sz="2000" spc="370" b="1">
                <a:latin typeface="Malgun Gothic"/>
                <a:cs typeface="Malgun Gothic"/>
              </a:rPr>
              <a:t>-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균형이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존재하더라도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위험이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낮은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집단의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충분한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수준의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보험 </a:t>
            </a:r>
            <a:r>
              <a:rPr dirty="0" sz="2000" b="1">
                <a:latin typeface="Malgun Gothic"/>
                <a:cs typeface="Malgun Gothic"/>
              </a:rPr>
              <a:t>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구입할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없는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비효율성의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발생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480059" indent="-467359">
              <a:lnSpc>
                <a:spcPct val="100000"/>
              </a:lnSpc>
              <a:spcBef>
                <a:spcPts val="5"/>
              </a:spcBef>
              <a:buAutoNum type="arabicParenBoth" startAt="2"/>
              <a:tabLst>
                <a:tab pos="480059" algn="l"/>
              </a:tabLst>
            </a:pPr>
            <a:r>
              <a:rPr dirty="0" sz="2000" b="1">
                <a:latin typeface="Malgun Gothic"/>
                <a:cs typeface="Malgun Gothic"/>
              </a:rPr>
              <a:t>역선택의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결과</a:t>
            </a:r>
            <a:endParaRPr sz="2000">
              <a:latin typeface="Malgun Gothic"/>
              <a:cs typeface="Malgun Gothic"/>
            </a:endParaRPr>
          </a:p>
          <a:p>
            <a:pPr lvl="1" marL="299085" marR="6350" indent="-287020">
              <a:lnSpc>
                <a:spcPct val="133400"/>
              </a:lnSpc>
              <a:spcBef>
                <a:spcPts val="3190"/>
              </a:spcBef>
              <a:buChar char="-"/>
              <a:tabLst>
                <a:tab pos="300355" algn="l"/>
              </a:tabLst>
            </a:pPr>
            <a:r>
              <a:rPr dirty="0" sz="2000" b="1">
                <a:latin typeface="Malgun Gothic"/>
                <a:cs typeface="Malgun Gothic"/>
              </a:rPr>
              <a:t>거품</a:t>
            </a:r>
            <a:r>
              <a:rPr dirty="0" sz="2000" spc="32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걷어내기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(cream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skimming),</a:t>
            </a:r>
            <a:r>
              <a:rPr dirty="0" sz="2000" spc="33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위험의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선별작업(risk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selection)에 </a:t>
            </a:r>
            <a:r>
              <a:rPr dirty="0" sz="2000" spc="-1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직면</a:t>
            </a:r>
            <a:endParaRPr sz="2000">
              <a:latin typeface="Malgun Gothic"/>
              <a:cs typeface="Malgun Gothic"/>
            </a:endParaRPr>
          </a:p>
          <a:p>
            <a:pPr lvl="1" marL="315595" marR="6350" indent="-303530">
              <a:lnSpc>
                <a:spcPct val="133400"/>
              </a:lnSpc>
              <a:spcBef>
                <a:spcPts val="3190"/>
              </a:spcBef>
              <a:buClr>
                <a:srgbClr val="000000"/>
              </a:buClr>
              <a:buChar char="-"/>
              <a:tabLst>
                <a:tab pos="315595" algn="l"/>
                <a:tab pos="1726564" algn="l"/>
                <a:tab pos="3139440" algn="l"/>
                <a:tab pos="4043679" algn="l"/>
                <a:tab pos="5455920" algn="l"/>
                <a:tab pos="6868795" algn="l"/>
                <a:tab pos="8280400" algn="l"/>
              </a:tabLst>
            </a:pP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보험가입의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강제적용은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양질의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위험집단이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위험분산의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기구로부터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50" b="1">
                <a:solidFill>
                  <a:srgbClr val="0000FF"/>
                </a:solidFill>
                <a:latin typeface="Malgun Gothic"/>
                <a:cs typeface="Malgun Gothic"/>
              </a:rPr>
              <a:t>이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탈하는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역선택의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문제를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방지하는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효과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0"/>
              </a:spcBef>
            </a:pPr>
            <a:r>
              <a:rPr dirty="0" sz="2000" spc="1145">
                <a:solidFill>
                  <a:srgbClr val="0000FF"/>
                </a:solidFill>
                <a:latin typeface="Cambria"/>
                <a:cs typeface="Cambria"/>
              </a:rPr>
              <a:t>*</a:t>
            </a:r>
            <a:r>
              <a:rPr dirty="0" sz="2000" spc="54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사회보험의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근거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60" b="1">
                <a:solidFill>
                  <a:srgbClr val="0000FF"/>
                </a:solidFill>
                <a:latin typeface="Malgun Gothic"/>
                <a:cs typeface="Malgun Gothic"/>
              </a:rPr>
              <a:t>risk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pooling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45057" y="5573267"/>
            <a:ext cx="2266950" cy="38735"/>
          </a:xfrm>
          <a:custGeom>
            <a:avLst/>
            <a:gdLst/>
            <a:ahLst/>
            <a:cxnLst/>
            <a:rect l="l" t="t" r="r" b="b"/>
            <a:pathLst>
              <a:path w="2266950" h="38735">
                <a:moveTo>
                  <a:pt x="0" y="38226"/>
                </a:moveTo>
                <a:lnTo>
                  <a:pt x="6350" y="38226"/>
                </a:lnTo>
                <a:lnTo>
                  <a:pt x="1525651" y="38226"/>
                </a:lnTo>
                <a:lnTo>
                  <a:pt x="1543534" y="37939"/>
                </a:lnTo>
                <a:lnTo>
                  <a:pt x="1563846" y="37068"/>
                </a:lnTo>
                <a:lnTo>
                  <a:pt x="1586587" y="35601"/>
                </a:lnTo>
                <a:lnTo>
                  <a:pt x="1611757" y="33527"/>
                </a:lnTo>
                <a:lnTo>
                  <a:pt x="1636547" y="31434"/>
                </a:lnTo>
                <a:lnTo>
                  <a:pt x="1658350" y="29924"/>
                </a:lnTo>
                <a:lnTo>
                  <a:pt x="1677175" y="29009"/>
                </a:lnTo>
                <a:lnTo>
                  <a:pt x="1693037" y="28701"/>
                </a:lnTo>
                <a:lnTo>
                  <a:pt x="1711535" y="28412"/>
                </a:lnTo>
                <a:lnTo>
                  <a:pt x="1738439" y="27527"/>
                </a:lnTo>
                <a:lnTo>
                  <a:pt x="1817370" y="23875"/>
                </a:lnTo>
                <a:lnTo>
                  <a:pt x="1861591" y="21205"/>
                </a:lnTo>
                <a:lnTo>
                  <a:pt x="1928508" y="14053"/>
                </a:lnTo>
                <a:lnTo>
                  <a:pt x="1970373" y="5357"/>
                </a:lnTo>
                <a:lnTo>
                  <a:pt x="1989518" y="2381"/>
                </a:lnTo>
                <a:lnTo>
                  <a:pt x="2008663" y="595"/>
                </a:lnTo>
                <a:lnTo>
                  <a:pt x="2027808" y="0"/>
                </a:lnTo>
                <a:lnTo>
                  <a:pt x="2046952" y="0"/>
                </a:lnTo>
                <a:lnTo>
                  <a:pt x="2066083" y="0"/>
                </a:lnTo>
                <a:lnTo>
                  <a:pt x="2260600" y="0"/>
                </a:lnTo>
                <a:lnTo>
                  <a:pt x="2266950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341484" y="5630671"/>
            <a:ext cx="382905" cy="29209"/>
          </a:xfrm>
          <a:custGeom>
            <a:avLst/>
            <a:gdLst/>
            <a:ahLst/>
            <a:cxnLst/>
            <a:rect l="l" t="t" r="r" b="b"/>
            <a:pathLst>
              <a:path w="382904" h="29210">
                <a:moveTo>
                  <a:pt x="0" y="19176"/>
                </a:moveTo>
                <a:lnTo>
                  <a:pt x="3175" y="19176"/>
                </a:lnTo>
                <a:lnTo>
                  <a:pt x="27178" y="19176"/>
                </a:lnTo>
                <a:lnTo>
                  <a:pt x="30353" y="20700"/>
                </a:lnTo>
                <a:lnTo>
                  <a:pt x="33528" y="23875"/>
                </a:lnTo>
                <a:lnTo>
                  <a:pt x="36703" y="27050"/>
                </a:lnTo>
                <a:lnTo>
                  <a:pt x="44704" y="28701"/>
                </a:lnTo>
                <a:lnTo>
                  <a:pt x="157861" y="28701"/>
                </a:lnTo>
                <a:lnTo>
                  <a:pt x="173720" y="28394"/>
                </a:lnTo>
                <a:lnTo>
                  <a:pt x="187769" y="27479"/>
                </a:lnTo>
                <a:lnTo>
                  <a:pt x="200009" y="25969"/>
                </a:lnTo>
                <a:lnTo>
                  <a:pt x="210439" y="23875"/>
                </a:lnTo>
                <a:lnTo>
                  <a:pt x="221230" y="21802"/>
                </a:lnTo>
                <a:lnTo>
                  <a:pt x="234378" y="20335"/>
                </a:lnTo>
                <a:lnTo>
                  <a:pt x="249908" y="19464"/>
                </a:lnTo>
                <a:lnTo>
                  <a:pt x="267843" y="19176"/>
                </a:lnTo>
                <a:lnTo>
                  <a:pt x="285488" y="19176"/>
                </a:lnTo>
                <a:lnTo>
                  <a:pt x="300132" y="19176"/>
                </a:lnTo>
                <a:lnTo>
                  <a:pt x="311777" y="19176"/>
                </a:lnTo>
                <a:lnTo>
                  <a:pt x="320421" y="19176"/>
                </a:lnTo>
                <a:lnTo>
                  <a:pt x="327945" y="18869"/>
                </a:lnTo>
                <a:lnTo>
                  <a:pt x="336042" y="17954"/>
                </a:lnTo>
                <a:lnTo>
                  <a:pt x="344709" y="16444"/>
                </a:lnTo>
                <a:lnTo>
                  <a:pt x="353949" y="14350"/>
                </a:lnTo>
                <a:lnTo>
                  <a:pt x="366649" y="11175"/>
                </a:lnTo>
                <a:lnTo>
                  <a:pt x="374650" y="9525"/>
                </a:lnTo>
                <a:lnTo>
                  <a:pt x="377825" y="9525"/>
                </a:lnTo>
                <a:lnTo>
                  <a:pt x="381000" y="9525"/>
                </a:lnTo>
                <a:lnTo>
                  <a:pt x="382650" y="6350"/>
                </a:lnTo>
                <a:lnTo>
                  <a:pt x="382650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263267" y="5955919"/>
            <a:ext cx="2534920" cy="48260"/>
          </a:xfrm>
          <a:custGeom>
            <a:avLst/>
            <a:gdLst/>
            <a:ahLst/>
            <a:cxnLst/>
            <a:rect l="l" t="t" r="r" b="b"/>
            <a:pathLst>
              <a:path w="2534920" h="48260">
                <a:moveTo>
                  <a:pt x="0" y="47751"/>
                </a:moveTo>
                <a:lnTo>
                  <a:pt x="0" y="47751"/>
                </a:lnTo>
                <a:lnTo>
                  <a:pt x="296544" y="47751"/>
                </a:lnTo>
                <a:lnTo>
                  <a:pt x="313904" y="47464"/>
                </a:lnTo>
                <a:lnTo>
                  <a:pt x="337216" y="46593"/>
                </a:lnTo>
                <a:lnTo>
                  <a:pt x="366482" y="45126"/>
                </a:lnTo>
                <a:lnTo>
                  <a:pt x="401700" y="43052"/>
                </a:lnTo>
                <a:lnTo>
                  <a:pt x="439683" y="40959"/>
                </a:lnTo>
                <a:lnTo>
                  <a:pt x="477059" y="39449"/>
                </a:lnTo>
                <a:lnTo>
                  <a:pt x="513840" y="38534"/>
                </a:lnTo>
                <a:lnTo>
                  <a:pt x="550037" y="38226"/>
                </a:lnTo>
                <a:lnTo>
                  <a:pt x="585565" y="38226"/>
                </a:lnTo>
                <a:lnTo>
                  <a:pt x="620521" y="38226"/>
                </a:lnTo>
                <a:lnTo>
                  <a:pt x="654907" y="38226"/>
                </a:lnTo>
                <a:lnTo>
                  <a:pt x="688720" y="38226"/>
                </a:lnTo>
                <a:lnTo>
                  <a:pt x="721578" y="37937"/>
                </a:lnTo>
                <a:lnTo>
                  <a:pt x="753268" y="37052"/>
                </a:lnTo>
                <a:lnTo>
                  <a:pt x="783768" y="35548"/>
                </a:lnTo>
                <a:lnTo>
                  <a:pt x="813053" y="33400"/>
                </a:lnTo>
                <a:lnTo>
                  <a:pt x="840245" y="31327"/>
                </a:lnTo>
                <a:lnTo>
                  <a:pt x="864473" y="29860"/>
                </a:lnTo>
                <a:lnTo>
                  <a:pt x="885723" y="28989"/>
                </a:lnTo>
                <a:lnTo>
                  <a:pt x="903985" y="28701"/>
                </a:lnTo>
                <a:lnTo>
                  <a:pt x="920676" y="28701"/>
                </a:lnTo>
                <a:lnTo>
                  <a:pt x="937402" y="28701"/>
                </a:lnTo>
                <a:lnTo>
                  <a:pt x="1937004" y="28701"/>
                </a:lnTo>
                <a:lnTo>
                  <a:pt x="1953099" y="28394"/>
                </a:lnTo>
                <a:lnTo>
                  <a:pt x="1968039" y="27479"/>
                </a:lnTo>
                <a:lnTo>
                  <a:pt x="1981813" y="25969"/>
                </a:lnTo>
                <a:lnTo>
                  <a:pt x="1994408" y="23875"/>
                </a:lnTo>
                <a:lnTo>
                  <a:pt x="2006623" y="21782"/>
                </a:lnTo>
                <a:lnTo>
                  <a:pt x="2019458" y="20272"/>
                </a:lnTo>
                <a:lnTo>
                  <a:pt x="2032912" y="19357"/>
                </a:lnTo>
                <a:lnTo>
                  <a:pt x="2046985" y="19049"/>
                </a:lnTo>
                <a:lnTo>
                  <a:pt x="2061600" y="18762"/>
                </a:lnTo>
                <a:lnTo>
                  <a:pt x="2076846" y="17891"/>
                </a:lnTo>
                <a:lnTo>
                  <a:pt x="2092688" y="16424"/>
                </a:lnTo>
                <a:lnTo>
                  <a:pt x="2109088" y="14350"/>
                </a:lnTo>
                <a:lnTo>
                  <a:pt x="2125853" y="12257"/>
                </a:lnTo>
                <a:lnTo>
                  <a:pt x="2142617" y="10747"/>
                </a:lnTo>
                <a:lnTo>
                  <a:pt x="2159381" y="9832"/>
                </a:lnTo>
                <a:lnTo>
                  <a:pt x="2176145" y="9524"/>
                </a:lnTo>
                <a:lnTo>
                  <a:pt x="2192835" y="9235"/>
                </a:lnTo>
                <a:lnTo>
                  <a:pt x="2209561" y="8350"/>
                </a:lnTo>
                <a:lnTo>
                  <a:pt x="2226311" y="6846"/>
                </a:lnTo>
                <a:lnTo>
                  <a:pt x="2243073" y="4698"/>
                </a:lnTo>
                <a:lnTo>
                  <a:pt x="2259818" y="2625"/>
                </a:lnTo>
                <a:lnTo>
                  <a:pt x="2276538" y="1158"/>
                </a:lnTo>
                <a:lnTo>
                  <a:pt x="2293258" y="287"/>
                </a:lnTo>
                <a:lnTo>
                  <a:pt x="2310003" y="0"/>
                </a:lnTo>
                <a:lnTo>
                  <a:pt x="2326765" y="0"/>
                </a:lnTo>
                <a:lnTo>
                  <a:pt x="2343515" y="0"/>
                </a:lnTo>
                <a:lnTo>
                  <a:pt x="2528443" y="0"/>
                </a:lnTo>
                <a:lnTo>
                  <a:pt x="2534793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345057" y="6032372"/>
            <a:ext cx="545465" cy="10160"/>
          </a:xfrm>
          <a:custGeom>
            <a:avLst/>
            <a:gdLst/>
            <a:ahLst/>
            <a:cxnLst/>
            <a:rect l="l" t="t" r="r" b="b"/>
            <a:pathLst>
              <a:path w="545464" h="10160">
                <a:moveTo>
                  <a:pt x="0" y="9651"/>
                </a:moveTo>
                <a:lnTo>
                  <a:pt x="6350" y="9651"/>
                </a:lnTo>
                <a:lnTo>
                  <a:pt x="11176" y="8000"/>
                </a:lnTo>
                <a:lnTo>
                  <a:pt x="14351" y="4825"/>
                </a:lnTo>
                <a:lnTo>
                  <a:pt x="17924" y="2732"/>
                </a:lnTo>
                <a:lnTo>
                  <a:pt x="23891" y="1222"/>
                </a:lnTo>
                <a:lnTo>
                  <a:pt x="32263" y="307"/>
                </a:lnTo>
                <a:lnTo>
                  <a:pt x="43053" y="0"/>
                </a:lnTo>
                <a:lnTo>
                  <a:pt x="54979" y="0"/>
                </a:lnTo>
                <a:lnTo>
                  <a:pt x="66929" y="0"/>
                </a:lnTo>
                <a:lnTo>
                  <a:pt x="538861" y="0"/>
                </a:lnTo>
                <a:lnTo>
                  <a:pt x="545211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2)</a:t>
            </a:r>
            <a:r>
              <a:rPr dirty="0" spc="26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도덕적</a:t>
            </a:r>
            <a:r>
              <a:rPr dirty="0" spc="265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해이(moral</a:t>
            </a:r>
            <a:r>
              <a:rPr dirty="0" spc="265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FF"/>
                </a:solidFill>
              </a:rPr>
              <a:t>hazard)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143" rIns="0" bIns="0" rtlCol="0" vert="horz">
            <a:spAutoFit/>
          </a:bodyPr>
          <a:lstStyle/>
          <a:p>
            <a:pPr marL="480059" indent="-467359">
              <a:lnSpc>
                <a:spcPct val="100000"/>
              </a:lnSpc>
              <a:spcBef>
                <a:spcPts val="100"/>
              </a:spcBef>
              <a:buAutoNum type="arabicParenBoth"/>
              <a:tabLst>
                <a:tab pos="480059" algn="l"/>
              </a:tabLst>
            </a:pPr>
            <a:r>
              <a:rPr dirty="0"/>
              <a:t>도덕적</a:t>
            </a:r>
            <a:r>
              <a:rPr dirty="0" spc="275"/>
              <a:t> </a:t>
            </a:r>
            <a:r>
              <a:rPr dirty="0" spc="-25"/>
              <a:t>해이</a:t>
            </a:r>
          </a:p>
          <a:p>
            <a:pPr>
              <a:lnSpc>
                <a:spcPct val="100000"/>
              </a:lnSpc>
              <a:spcBef>
                <a:spcPts val="365"/>
              </a:spcBef>
              <a:buFont typeface="Malgun Gothic"/>
              <a:buAutoNum type="arabicParenBoth"/>
            </a:pPr>
          </a:p>
          <a:p>
            <a:pPr lvl="1" marL="266700" indent="-254000">
              <a:lnSpc>
                <a:spcPct val="100000"/>
              </a:lnSpc>
              <a:buFont typeface="Cambria"/>
              <a:buChar char="○"/>
              <a:tabLst>
                <a:tab pos="266700" algn="l"/>
              </a:tabLst>
            </a:pPr>
            <a:r>
              <a:rPr dirty="0" sz="2000" b="1">
                <a:latin typeface="Malgun Gothic"/>
                <a:cs typeface="Malgun Gothic"/>
              </a:rPr>
              <a:t>도덕적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해이의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방지할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조건</a:t>
            </a:r>
            <a:endParaRPr sz="2000">
              <a:latin typeface="Malgun Gothic"/>
              <a:cs typeface="Malgun Gothic"/>
            </a:endParaRPr>
          </a:p>
          <a:p>
            <a:pPr lvl="2" marL="452120" marR="6350" indent="-313690">
              <a:lnSpc>
                <a:spcPct val="124600"/>
              </a:lnSpc>
              <a:spcBef>
                <a:spcPts val="3130"/>
              </a:spcBef>
              <a:buChar char="-"/>
              <a:tabLst>
                <a:tab pos="452120" algn="l"/>
                <a:tab pos="1368425" algn="l"/>
                <a:tab pos="2792095" algn="l"/>
                <a:tab pos="4377055" algn="l"/>
                <a:tab pos="5039360" algn="l"/>
                <a:tab pos="6856730" algn="l"/>
                <a:tab pos="7773034" algn="l"/>
              </a:tabLst>
            </a:pPr>
            <a:r>
              <a:rPr dirty="0" sz="2000" spc="-25" b="1">
                <a:latin typeface="Malgun Gothic"/>
                <a:cs typeface="Malgun Gothic"/>
              </a:rPr>
              <a:t>개인이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보험사고의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발생확률(</a:t>
            </a:r>
            <a:r>
              <a:rPr dirty="0" sz="2500" spc="-10" i="1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dirty="0" sz="2000" spc="-10" b="1">
                <a:latin typeface="Malgun Gothic"/>
                <a:cs typeface="Malgun Gothic"/>
              </a:rPr>
              <a:t>)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또는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피해규모(</a:t>
            </a:r>
            <a:r>
              <a:rPr dirty="0" sz="2500" spc="-10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dirty="0" sz="2000" spc="-10" b="1">
                <a:latin typeface="Malgun Gothic"/>
                <a:cs typeface="Malgun Gothic"/>
              </a:rPr>
              <a:t>)를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임의로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조작할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없는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외생적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조건이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갖추어진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lvl="2" marL="452120" marR="5080" indent="-313690">
              <a:lnSpc>
                <a:spcPct val="133400"/>
              </a:lnSpc>
              <a:spcBef>
                <a:spcPts val="3190"/>
              </a:spcBef>
              <a:buChar char="-"/>
              <a:tabLst>
                <a:tab pos="452120" algn="l"/>
                <a:tab pos="1367155" algn="l"/>
                <a:tab pos="2282190" algn="l"/>
                <a:tab pos="3705225" algn="l"/>
                <a:tab pos="4620260" algn="l"/>
                <a:tab pos="5789295" algn="l"/>
                <a:tab pos="6958965" algn="l"/>
                <a:tab pos="7619365" algn="l"/>
                <a:tab pos="8027670" algn="l"/>
              </a:tabLst>
            </a:pPr>
            <a:r>
              <a:rPr dirty="0" sz="2000" spc="-25" b="1">
                <a:latin typeface="Malgun Gothic"/>
                <a:cs typeface="Malgun Gothic"/>
              </a:rPr>
              <a:t>개인이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사고나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피해규모를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임의로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조작하는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과정에서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겪게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50" b="1">
                <a:latin typeface="Malgun Gothic"/>
                <a:cs typeface="Malgun Gothic"/>
              </a:rPr>
              <a:t>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피해 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그것으로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예상되는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기대이익을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초과하게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되는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469389" y="1555877"/>
            <a:ext cx="2994025" cy="133985"/>
          </a:xfrm>
          <a:custGeom>
            <a:avLst/>
            <a:gdLst/>
            <a:ahLst/>
            <a:cxnLst/>
            <a:rect l="l" t="t" r="r" b="b"/>
            <a:pathLst>
              <a:path w="2994025" h="133985">
                <a:moveTo>
                  <a:pt x="0" y="133985"/>
                </a:moveTo>
                <a:lnTo>
                  <a:pt x="5052" y="133387"/>
                </a:lnTo>
                <a:lnTo>
                  <a:pt x="10699" y="131587"/>
                </a:lnTo>
                <a:lnTo>
                  <a:pt x="16966" y="128573"/>
                </a:lnTo>
                <a:lnTo>
                  <a:pt x="23875" y="124333"/>
                </a:lnTo>
                <a:lnTo>
                  <a:pt x="31924" y="119876"/>
                </a:lnTo>
                <a:lnTo>
                  <a:pt x="82428" y="107600"/>
                </a:lnTo>
                <a:lnTo>
                  <a:pt x="120667" y="102838"/>
                </a:lnTo>
                <a:lnTo>
                  <a:pt x="166405" y="98363"/>
                </a:lnTo>
                <a:lnTo>
                  <a:pt x="207069" y="95938"/>
                </a:lnTo>
                <a:lnTo>
                  <a:pt x="241714" y="95343"/>
                </a:lnTo>
                <a:lnTo>
                  <a:pt x="259349" y="94472"/>
                </a:lnTo>
                <a:lnTo>
                  <a:pt x="277580" y="93005"/>
                </a:lnTo>
                <a:lnTo>
                  <a:pt x="296417" y="90932"/>
                </a:lnTo>
                <a:lnTo>
                  <a:pt x="316753" y="88548"/>
                </a:lnTo>
                <a:lnTo>
                  <a:pt x="339471" y="86153"/>
                </a:lnTo>
                <a:lnTo>
                  <a:pt x="392048" y="81280"/>
                </a:lnTo>
                <a:lnTo>
                  <a:pt x="453104" y="77739"/>
                </a:lnTo>
                <a:lnTo>
                  <a:pt x="521208" y="76581"/>
                </a:lnTo>
                <a:lnTo>
                  <a:pt x="556807" y="76581"/>
                </a:lnTo>
                <a:lnTo>
                  <a:pt x="591788" y="76581"/>
                </a:lnTo>
                <a:lnTo>
                  <a:pt x="1358137" y="76581"/>
                </a:lnTo>
                <a:lnTo>
                  <a:pt x="1377590" y="75983"/>
                </a:lnTo>
                <a:lnTo>
                  <a:pt x="1397650" y="74183"/>
                </a:lnTo>
                <a:lnTo>
                  <a:pt x="1418306" y="71169"/>
                </a:lnTo>
                <a:lnTo>
                  <a:pt x="1439545" y="66928"/>
                </a:lnTo>
                <a:lnTo>
                  <a:pt x="1461359" y="62761"/>
                </a:lnTo>
                <a:lnTo>
                  <a:pt x="1483756" y="59785"/>
                </a:lnTo>
                <a:lnTo>
                  <a:pt x="1506749" y="57999"/>
                </a:lnTo>
                <a:lnTo>
                  <a:pt x="1530349" y="57403"/>
                </a:lnTo>
                <a:lnTo>
                  <a:pt x="1554257" y="56808"/>
                </a:lnTo>
                <a:lnTo>
                  <a:pt x="1578165" y="55022"/>
                </a:lnTo>
                <a:lnTo>
                  <a:pt x="1602073" y="52046"/>
                </a:lnTo>
                <a:lnTo>
                  <a:pt x="1625980" y="47878"/>
                </a:lnTo>
                <a:lnTo>
                  <a:pt x="1648102" y="43711"/>
                </a:lnTo>
                <a:lnTo>
                  <a:pt x="1666652" y="40735"/>
                </a:lnTo>
                <a:lnTo>
                  <a:pt x="1681630" y="38949"/>
                </a:lnTo>
                <a:lnTo>
                  <a:pt x="1693037" y="38353"/>
                </a:lnTo>
                <a:lnTo>
                  <a:pt x="1703772" y="38046"/>
                </a:lnTo>
                <a:lnTo>
                  <a:pt x="1716913" y="37131"/>
                </a:lnTo>
                <a:lnTo>
                  <a:pt x="1732434" y="35621"/>
                </a:lnTo>
                <a:lnTo>
                  <a:pt x="1750314" y="33527"/>
                </a:lnTo>
                <a:lnTo>
                  <a:pt x="1769169" y="31434"/>
                </a:lnTo>
                <a:lnTo>
                  <a:pt x="1787429" y="29924"/>
                </a:lnTo>
                <a:lnTo>
                  <a:pt x="1805070" y="29009"/>
                </a:lnTo>
                <a:lnTo>
                  <a:pt x="1822069" y="28701"/>
                </a:lnTo>
                <a:lnTo>
                  <a:pt x="1837332" y="28701"/>
                </a:lnTo>
                <a:lnTo>
                  <a:pt x="1849596" y="28701"/>
                </a:lnTo>
                <a:lnTo>
                  <a:pt x="1903349" y="28701"/>
                </a:lnTo>
                <a:lnTo>
                  <a:pt x="1917729" y="28414"/>
                </a:lnTo>
                <a:lnTo>
                  <a:pt x="1932098" y="27543"/>
                </a:lnTo>
                <a:lnTo>
                  <a:pt x="1946443" y="26076"/>
                </a:lnTo>
                <a:lnTo>
                  <a:pt x="1960752" y="24002"/>
                </a:lnTo>
                <a:lnTo>
                  <a:pt x="1975423" y="21855"/>
                </a:lnTo>
                <a:lnTo>
                  <a:pt x="1990677" y="20351"/>
                </a:lnTo>
                <a:lnTo>
                  <a:pt x="2006526" y="19466"/>
                </a:lnTo>
                <a:lnTo>
                  <a:pt x="2022983" y="19176"/>
                </a:lnTo>
                <a:lnTo>
                  <a:pt x="2039727" y="19176"/>
                </a:lnTo>
                <a:lnTo>
                  <a:pt x="2056447" y="19176"/>
                </a:lnTo>
                <a:lnTo>
                  <a:pt x="2305177" y="19176"/>
                </a:lnTo>
                <a:lnTo>
                  <a:pt x="2319791" y="18869"/>
                </a:lnTo>
                <a:lnTo>
                  <a:pt x="2367280" y="14350"/>
                </a:lnTo>
                <a:lnTo>
                  <a:pt x="2409481" y="7207"/>
                </a:lnTo>
                <a:lnTo>
                  <a:pt x="2419985" y="4825"/>
                </a:lnTo>
                <a:lnTo>
                  <a:pt x="2429511" y="2732"/>
                </a:lnTo>
                <a:lnTo>
                  <a:pt x="2439050" y="1222"/>
                </a:lnTo>
                <a:lnTo>
                  <a:pt x="2448613" y="307"/>
                </a:lnTo>
                <a:lnTo>
                  <a:pt x="2458212" y="0"/>
                </a:lnTo>
                <a:lnTo>
                  <a:pt x="2470912" y="0"/>
                </a:lnTo>
                <a:lnTo>
                  <a:pt x="2478913" y="0"/>
                </a:lnTo>
                <a:lnTo>
                  <a:pt x="2987421" y="0"/>
                </a:lnTo>
                <a:lnTo>
                  <a:pt x="299389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004055" y="3995039"/>
            <a:ext cx="1176655" cy="19685"/>
          </a:xfrm>
          <a:custGeom>
            <a:avLst/>
            <a:gdLst/>
            <a:ahLst/>
            <a:cxnLst/>
            <a:rect l="l" t="t" r="r" b="b"/>
            <a:pathLst>
              <a:path w="1176654" h="19685">
                <a:moveTo>
                  <a:pt x="0" y="19176"/>
                </a:moveTo>
                <a:lnTo>
                  <a:pt x="9906" y="14936"/>
                </a:lnTo>
                <a:lnTo>
                  <a:pt x="20383" y="11922"/>
                </a:lnTo>
                <a:lnTo>
                  <a:pt x="31432" y="10122"/>
                </a:lnTo>
                <a:lnTo>
                  <a:pt x="43053" y="9525"/>
                </a:lnTo>
                <a:lnTo>
                  <a:pt x="55937" y="9525"/>
                </a:lnTo>
                <a:lnTo>
                  <a:pt x="70596" y="9525"/>
                </a:lnTo>
                <a:lnTo>
                  <a:pt x="794004" y="9525"/>
                </a:lnTo>
                <a:lnTo>
                  <a:pt x="826843" y="9237"/>
                </a:lnTo>
                <a:lnTo>
                  <a:pt x="858504" y="8366"/>
                </a:lnTo>
                <a:lnTo>
                  <a:pt x="888998" y="6899"/>
                </a:lnTo>
                <a:lnTo>
                  <a:pt x="918337" y="4825"/>
                </a:lnTo>
                <a:lnTo>
                  <a:pt x="947009" y="2732"/>
                </a:lnTo>
                <a:lnTo>
                  <a:pt x="975693" y="1222"/>
                </a:lnTo>
                <a:lnTo>
                  <a:pt x="1004401" y="307"/>
                </a:lnTo>
                <a:lnTo>
                  <a:pt x="1033145" y="0"/>
                </a:lnTo>
                <a:lnTo>
                  <a:pt x="1059721" y="0"/>
                </a:lnTo>
                <a:lnTo>
                  <a:pt x="1082119" y="0"/>
                </a:lnTo>
                <a:lnTo>
                  <a:pt x="1170178" y="0"/>
                </a:lnTo>
                <a:lnTo>
                  <a:pt x="117652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357111" y="4023740"/>
            <a:ext cx="966469" cy="29209"/>
          </a:xfrm>
          <a:custGeom>
            <a:avLst/>
            <a:gdLst/>
            <a:ahLst/>
            <a:cxnLst/>
            <a:rect l="l" t="t" r="r" b="b"/>
            <a:pathLst>
              <a:path w="966470" h="29210">
                <a:moveTo>
                  <a:pt x="0" y="0"/>
                </a:moveTo>
                <a:lnTo>
                  <a:pt x="6350" y="0"/>
                </a:lnTo>
                <a:lnTo>
                  <a:pt x="12826" y="0"/>
                </a:lnTo>
                <a:lnTo>
                  <a:pt x="19176" y="0"/>
                </a:lnTo>
                <a:lnTo>
                  <a:pt x="25526" y="0"/>
                </a:lnTo>
                <a:lnTo>
                  <a:pt x="33527" y="1524"/>
                </a:lnTo>
                <a:lnTo>
                  <a:pt x="71754" y="9525"/>
                </a:lnTo>
                <a:lnTo>
                  <a:pt x="79803" y="9832"/>
                </a:lnTo>
                <a:lnTo>
                  <a:pt x="89662" y="10747"/>
                </a:lnTo>
                <a:lnTo>
                  <a:pt x="101330" y="12257"/>
                </a:lnTo>
                <a:lnTo>
                  <a:pt x="114808" y="14350"/>
                </a:lnTo>
                <a:lnTo>
                  <a:pt x="129170" y="16732"/>
                </a:lnTo>
                <a:lnTo>
                  <a:pt x="143510" y="19113"/>
                </a:lnTo>
                <a:lnTo>
                  <a:pt x="157849" y="21494"/>
                </a:lnTo>
                <a:lnTo>
                  <a:pt x="209280" y="27479"/>
                </a:lnTo>
                <a:lnTo>
                  <a:pt x="263016" y="28701"/>
                </a:lnTo>
                <a:lnTo>
                  <a:pt x="292048" y="28701"/>
                </a:lnTo>
                <a:lnTo>
                  <a:pt x="316864" y="28701"/>
                </a:lnTo>
                <a:lnTo>
                  <a:pt x="955659" y="28701"/>
                </a:lnTo>
                <a:lnTo>
                  <a:pt x="966088" y="28701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973694" y="4033265"/>
            <a:ext cx="1635760" cy="57785"/>
          </a:xfrm>
          <a:custGeom>
            <a:avLst/>
            <a:gdLst/>
            <a:ahLst/>
            <a:cxnLst/>
            <a:rect l="l" t="t" r="r" b="b"/>
            <a:pathLst>
              <a:path w="1635759" h="57785">
                <a:moveTo>
                  <a:pt x="0" y="19176"/>
                </a:moveTo>
                <a:lnTo>
                  <a:pt x="34671" y="45481"/>
                </a:lnTo>
                <a:lnTo>
                  <a:pt x="43052" y="47879"/>
                </a:lnTo>
                <a:lnTo>
                  <a:pt x="46227" y="47879"/>
                </a:lnTo>
                <a:lnTo>
                  <a:pt x="52577" y="49403"/>
                </a:lnTo>
                <a:lnTo>
                  <a:pt x="91749" y="57114"/>
                </a:lnTo>
                <a:lnTo>
                  <a:pt x="105155" y="57404"/>
                </a:lnTo>
                <a:lnTo>
                  <a:pt x="119826" y="57404"/>
                </a:lnTo>
                <a:lnTo>
                  <a:pt x="135080" y="57404"/>
                </a:lnTo>
                <a:lnTo>
                  <a:pt x="150929" y="57404"/>
                </a:lnTo>
                <a:lnTo>
                  <a:pt x="167385" y="57404"/>
                </a:lnTo>
                <a:lnTo>
                  <a:pt x="184384" y="57114"/>
                </a:lnTo>
                <a:lnTo>
                  <a:pt x="202025" y="56229"/>
                </a:lnTo>
                <a:lnTo>
                  <a:pt x="220285" y="54725"/>
                </a:lnTo>
                <a:lnTo>
                  <a:pt x="239140" y="52578"/>
                </a:lnTo>
                <a:lnTo>
                  <a:pt x="259115" y="50504"/>
                </a:lnTo>
                <a:lnTo>
                  <a:pt x="280924" y="49037"/>
                </a:lnTo>
                <a:lnTo>
                  <a:pt x="304542" y="48166"/>
                </a:lnTo>
                <a:lnTo>
                  <a:pt x="329946" y="47879"/>
                </a:lnTo>
                <a:lnTo>
                  <a:pt x="358330" y="47571"/>
                </a:lnTo>
                <a:lnTo>
                  <a:pt x="390905" y="46656"/>
                </a:lnTo>
                <a:lnTo>
                  <a:pt x="468629" y="43053"/>
                </a:lnTo>
                <a:lnTo>
                  <a:pt x="511375" y="40671"/>
                </a:lnTo>
                <a:lnTo>
                  <a:pt x="553513" y="38290"/>
                </a:lnTo>
                <a:lnTo>
                  <a:pt x="595056" y="35909"/>
                </a:lnTo>
                <a:lnTo>
                  <a:pt x="636015" y="33528"/>
                </a:lnTo>
                <a:lnTo>
                  <a:pt x="676380" y="30839"/>
                </a:lnTo>
                <a:lnTo>
                  <a:pt x="716137" y="27543"/>
                </a:lnTo>
                <a:lnTo>
                  <a:pt x="755298" y="23651"/>
                </a:lnTo>
                <a:lnTo>
                  <a:pt x="793876" y="19176"/>
                </a:lnTo>
                <a:lnTo>
                  <a:pt x="833953" y="14702"/>
                </a:lnTo>
                <a:lnTo>
                  <a:pt x="877601" y="10810"/>
                </a:lnTo>
                <a:lnTo>
                  <a:pt x="924821" y="7514"/>
                </a:lnTo>
                <a:lnTo>
                  <a:pt x="975613" y="4825"/>
                </a:lnTo>
                <a:lnTo>
                  <a:pt x="1027904" y="2732"/>
                </a:lnTo>
                <a:lnTo>
                  <a:pt x="1079611" y="1222"/>
                </a:lnTo>
                <a:lnTo>
                  <a:pt x="1130722" y="307"/>
                </a:lnTo>
                <a:lnTo>
                  <a:pt x="1181227" y="0"/>
                </a:lnTo>
                <a:lnTo>
                  <a:pt x="1222787" y="0"/>
                </a:lnTo>
                <a:lnTo>
                  <a:pt x="1267005" y="0"/>
                </a:lnTo>
                <a:lnTo>
                  <a:pt x="1629062" y="0"/>
                </a:lnTo>
                <a:lnTo>
                  <a:pt x="163563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066636" y="1108965"/>
            <a:ext cx="8547735" cy="2054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7730" marR="5080" indent="-875665">
              <a:lnSpc>
                <a:spcPct val="132900"/>
              </a:lnSpc>
              <a:spcBef>
                <a:spcPts val="100"/>
              </a:spcBef>
            </a:pPr>
            <a:r>
              <a:rPr dirty="0" sz="2000" b="1">
                <a:latin typeface="Malgun Gothic"/>
                <a:cs typeface="Malgun Gothic"/>
              </a:rPr>
              <a:t>사례1:</a:t>
            </a:r>
            <a:r>
              <a:rPr dirty="0" sz="2000" spc="34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비록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위험의</a:t>
            </a:r>
            <a:r>
              <a:rPr dirty="0" sz="2000" spc="32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발생확률이</a:t>
            </a:r>
            <a:r>
              <a:rPr dirty="0" sz="2000" spc="33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내생적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특성을</a:t>
            </a:r>
            <a:r>
              <a:rPr dirty="0" sz="2000" spc="33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보이지만</a:t>
            </a:r>
            <a:r>
              <a:rPr dirty="0" sz="2000" spc="32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이에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따라</a:t>
            </a:r>
            <a:r>
              <a:rPr dirty="0" sz="2000" spc="33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상당 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심리적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비용을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수반하는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marL="1184910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1184910" algn="l"/>
              </a:tabLst>
            </a:pPr>
            <a:r>
              <a:rPr dirty="0" sz="2000" spc="-25" b="1">
                <a:latin typeface="Malgun Gothic"/>
                <a:cs typeface="Malgun Gothic"/>
              </a:rPr>
              <a:t>자살</a:t>
            </a:r>
            <a:endParaRPr sz="2000">
              <a:latin typeface="Malgun Gothic"/>
              <a:cs typeface="Malgun Gothic"/>
            </a:endParaRPr>
          </a:p>
          <a:p>
            <a:pPr marL="1154430" marR="224154" indent="-254635">
              <a:lnSpc>
                <a:spcPct val="132900"/>
              </a:lnSpc>
              <a:spcBef>
                <a:spcPts val="15"/>
              </a:spcBef>
              <a:buChar char="-"/>
              <a:tabLst>
                <a:tab pos="1154430" algn="l"/>
                <a:tab pos="1184910" algn="l"/>
              </a:tabLst>
            </a:pPr>
            <a:r>
              <a:rPr dirty="0" sz="2000" b="1">
                <a:latin typeface="Malgun Gothic"/>
                <a:cs typeface="Malgun Gothic"/>
              </a:rPr>
              <a:t>	보험가입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1년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이내의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자살에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대해서는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보험적용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제외전략 </a:t>
            </a:r>
            <a:r>
              <a:rPr dirty="0" sz="2000" b="1">
                <a:latin typeface="Malgun Gothic"/>
                <a:cs typeface="Malgun Gothic"/>
              </a:rPr>
              <a:t>도덕적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해이의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문제는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그다지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심각하지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않음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6636" y="3949686"/>
            <a:ext cx="8549005" cy="1245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2969" marR="5080" indent="-890905">
              <a:lnSpc>
                <a:spcPct val="133400"/>
              </a:lnSpc>
              <a:spcBef>
                <a:spcPts val="100"/>
              </a:spcBef>
              <a:tabLst>
                <a:tab pos="902969" algn="l"/>
                <a:tab pos="1813560" algn="l"/>
                <a:tab pos="3228975" algn="l"/>
                <a:tab pos="4645025" algn="l"/>
                <a:tab pos="5553710" algn="l"/>
                <a:tab pos="6464300" algn="l"/>
                <a:tab pos="7118350" algn="l"/>
                <a:tab pos="8027670" algn="l"/>
              </a:tabLst>
            </a:pPr>
            <a:r>
              <a:rPr dirty="0" sz="2000" spc="-20" b="1">
                <a:latin typeface="Malgun Gothic"/>
                <a:cs typeface="Malgun Gothic"/>
              </a:rPr>
              <a:t>사례2: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위험의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발생확률이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내생적이고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동시에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사고에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따른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심리적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비용 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심각하지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않을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marL="899794">
              <a:lnSpc>
                <a:spcPct val="100000"/>
              </a:lnSpc>
              <a:spcBef>
                <a:spcPts val="800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자동차사고보험의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가입자가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사고예방노력을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게을리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하는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800100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사례3:</a:t>
            </a:r>
            <a:r>
              <a:rPr dirty="0" spc="310"/>
              <a:t> </a:t>
            </a:r>
            <a:r>
              <a:rPr dirty="0"/>
              <a:t>발생확률이</a:t>
            </a:r>
            <a:r>
              <a:rPr dirty="0" spc="295"/>
              <a:t> </a:t>
            </a:r>
            <a:r>
              <a:rPr dirty="0"/>
              <a:t>내생적이며</a:t>
            </a:r>
            <a:r>
              <a:rPr dirty="0" spc="295"/>
              <a:t> </a:t>
            </a:r>
            <a:r>
              <a:rPr dirty="0"/>
              <a:t>상당한</a:t>
            </a:r>
            <a:r>
              <a:rPr dirty="0" spc="300"/>
              <a:t> </a:t>
            </a:r>
            <a:r>
              <a:rPr dirty="0"/>
              <a:t>심리적</a:t>
            </a:r>
            <a:r>
              <a:rPr dirty="0" spc="295"/>
              <a:t> </a:t>
            </a:r>
            <a:r>
              <a:rPr dirty="0"/>
              <a:t>이익을</a:t>
            </a:r>
            <a:r>
              <a:rPr dirty="0" spc="295"/>
              <a:t> </a:t>
            </a:r>
            <a:r>
              <a:rPr dirty="0"/>
              <a:t>수반하는</a:t>
            </a:r>
            <a:r>
              <a:rPr dirty="0" spc="295"/>
              <a:t> </a:t>
            </a:r>
            <a:r>
              <a:rPr dirty="0" spc="-25"/>
              <a:t>사고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66636" y="1512606"/>
            <a:ext cx="8549005" cy="495173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algn="just" marL="1184910" indent="-285115">
              <a:lnSpc>
                <a:spcPct val="100000"/>
              </a:lnSpc>
              <a:spcBef>
                <a:spcPts val="900"/>
              </a:spcBef>
              <a:buChar char="-"/>
              <a:tabLst>
                <a:tab pos="1184910" algn="l"/>
              </a:tabLst>
            </a:pPr>
            <a:r>
              <a:rPr dirty="0" sz="2000" b="1">
                <a:latin typeface="Malgun Gothic"/>
                <a:cs typeface="Malgun Gothic"/>
              </a:rPr>
              <a:t>자발적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임신,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고가의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선택적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의료(모발이식,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성형수술)</a:t>
            </a:r>
            <a:endParaRPr sz="2000">
              <a:latin typeface="Malgun Gothic"/>
              <a:cs typeface="Malgun Gothic"/>
            </a:endParaRPr>
          </a:p>
          <a:p>
            <a:pPr algn="just" marL="1190625" marR="5080" indent="-291465">
              <a:lnSpc>
                <a:spcPct val="133200"/>
              </a:lnSpc>
              <a:spcBef>
                <a:spcPts val="5"/>
              </a:spcBef>
              <a:buChar char="-"/>
              <a:tabLst>
                <a:tab pos="1191895" algn="l"/>
              </a:tabLst>
            </a:pPr>
            <a:r>
              <a:rPr dirty="0" sz="2000" b="1">
                <a:latin typeface="Malgun Gothic"/>
                <a:cs typeface="Malgun Gothic"/>
              </a:rPr>
              <a:t>아주</a:t>
            </a:r>
            <a:r>
              <a:rPr dirty="0" sz="2000" spc="33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적은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비용으로</a:t>
            </a:r>
            <a:r>
              <a:rPr dirty="0" sz="2000" spc="33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발생확률을</a:t>
            </a:r>
            <a:r>
              <a:rPr dirty="0" sz="2000" spc="33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조절,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보험회사의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예상손 </a:t>
            </a:r>
            <a:r>
              <a:rPr dirty="0" sz="2000" spc="-25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실</a:t>
            </a:r>
            <a:r>
              <a:rPr dirty="0" sz="2000" spc="3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추정</a:t>
            </a:r>
            <a:r>
              <a:rPr dirty="0" sz="2000" spc="3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및</a:t>
            </a:r>
            <a:r>
              <a:rPr dirty="0" sz="2000" spc="3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보험료</a:t>
            </a:r>
            <a:r>
              <a:rPr dirty="0" sz="2000" spc="3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수준의</a:t>
            </a:r>
            <a:r>
              <a:rPr dirty="0" sz="2000" spc="3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산정이</a:t>
            </a:r>
            <a:r>
              <a:rPr dirty="0" sz="2000" spc="3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어려움</a:t>
            </a:r>
            <a:r>
              <a:rPr dirty="0" sz="2000" spc="375" b="1">
                <a:latin typeface="Malgun Gothic"/>
                <a:cs typeface="Malgun Gothic"/>
              </a:rPr>
              <a:t> </a:t>
            </a:r>
            <a:r>
              <a:rPr dirty="0" sz="2000" spc="790">
                <a:latin typeface="Cambria"/>
                <a:cs typeface="Cambria"/>
              </a:rPr>
              <a:t>⟹</a:t>
            </a:r>
            <a:r>
              <a:rPr dirty="0" sz="2000" spc="790" b="1">
                <a:latin typeface="Malgun Gothic"/>
                <a:cs typeface="Malgun Gothic"/>
              </a:rPr>
              <a:t>보험의</a:t>
            </a:r>
            <a:r>
              <a:rPr dirty="0" sz="2000" spc="375" b="1">
                <a:latin typeface="Malgun Gothic"/>
                <a:cs typeface="Malgun Gothic"/>
              </a:rPr>
              <a:t> </a:t>
            </a:r>
            <a:r>
              <a:rPr dirty="0" sz="2000" spc="-125" b="1">
                <a:latin typeface="Malgun Gothic"/>
                <a:cs typeface="Malgun Gothic"/>
              </a:rPr>
              <a:t>성립이</a:t>
            </a:r>
            <a:r>
              <a:rPr dirty="0" sz="2000" spc="-125" b="1">
                <a:latin typeface="Malgun Gothic"/>
                <a:cs typeface="Malgun Gothic"/>
              </a:rPr>
              <a:t> </a:t>
            </a:r>
            <a:r>
              <a:rPr dirty="0" sz="2000" spc="-125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불 </a:t>
            </a:r>
            <a:r>
              <a:rPr dirty="0" sz="2000" spc="-25" b="1">
                <a:latin typeface="Malgun Gothic"/>
                <a:cs typeface="Malgun Gothic"/>
              </a:rPr>
              <a:t>가능</a:t>
            </a:r>
            <a:endParaRPr sz="2000">
              <a:latin typeface="Malgun Gothic"/>
              <a:cs typeface="Malgun Gothic"/>
            </a:endParaRPr>
          </a:p>
          <a:p>
            <a:pPr algn="just" marL="1184910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1184910" algn="l"/>
              </a:tabLst>
            </a:pPr>
            <a:r>
              <a:rPr dirty="0" sz="2000" b="1">
                <a:latin typeface="Malgun Gothic"/>
                <a:cs typeface="Malgun Gothic"/>
              </a:rPr>
              <a:t>강제적으로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운영될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문제해결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가능</a:t>
            </a:r>
            <a:endParaRPr sz="2000">
              <a:latin typeface="Malgun Gothic"/>
              <a:cs typeface="Malgun Gothic"/>
            </a:endParaRPr>
          </a:p>
          <a:p>
            <a:pPr algn="just" marL="904240" marR="5080" indent="-892175">
              <a:lnSpc>
                <a:spcPct val="128800"/>
              </a:lnSpc>
              <a:spcBef>
                <a:spcPts val="3000"/>
              </a:spcBef>
            </a:pPr>
            <a:r>
              <a:rPr dirty="0" sz="2000" b="1">
                <a:latin typeface="Malgun Gothic"/>
                <a:cs typeface="Malgun Gothic"/>
              </a:rPr>
              <a:t>사례4:</a:t>
            </a:r>
            <a:r>
              <a:rPr dirty="0" sz="2000" spc="-95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피해규모(</a:t>
            </a:r>
            <a:r>
              <a:rPr dirty="0" sz="2500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latin typeface="Malgun Gothic"/>
                <a:cs typeface="Malgun Gothic"/>
              </a:rPr>
              <a:t>)가</a:t>
            </a:r>
            <a:r>
              <a:rPr dirty="0" sz="2000" spc="-95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내생적인</a:t>
            </a:r>
            <a:r>
              <a:rPr dirty="0" sz="2000" spc="-100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사고로서</a:t>
            </a:r>
            <a:r>
              <a:rPr dirty="0" sz="2000" spc="-100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개인적</a:t>
            </a:r>
            <a:r>
              <a:rPr dirty="0" sz="2000" spc="-100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차원에서</a:t>
            </a:r>
            <a:r>
              <a:rPr dirty="0" sz="2000" spc="-100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부담해야</a:t>
            </a:r>
            <a:r>
              <a:rPr dirty="0" sz="2000" spc="-95" b="1">
                <a:latin typeface="Malgun Gothic"/>
                <a:cs typeface="Malgun Gothic"/>
              </a:rPr>
              <a:t>  </a:t>
            </a:r>
            <a:r>
              <a:rPr dirty="0" sz="2000" spc="-50" b="1">
                <a:latin typeface="Malgun Gothic"/>
                <a:cs typeface="Malgun Gothic"/>
              </a:rPr>
              <a:t>할 </a:t>
            </a:r>
            <a:r>
              <a:rPr dirty="0" sz="2000" b="1">
                <a:latin typeface="Malgun Gothic"/>
                <a:cs typeface="Malgun Gothic"/>
              </a:rPr>
              <a:t>비용이</a:t>
            </a:r>
            <a:r>
              <a:rPr dirty="0" sz="2000" spc="-65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경미하거나</a:t>
            </a:r>
            <a:r>
              <a:rPr dirty="0" sz="2000" spc="-60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전혀</a:t>
            </a:r>
            <a:r>
              <a:rPr dirty="0" sz="2000" spc="-60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없게</a:t>
            </a:r>
            <a:r>
              <a:rPr dirty="0" sz="2000" spc="-60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될</a:t>
            </a:r>
            <a:r>
              <a:rPr dirty="0" sz="2000" spc="-60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-60" b="1">
                <a:latin typeface="Malgun Gothic"/>
                <a:cs typeface="Malgun Gothic"/>
              </a:rPr>
              <a:t>  </a:t>
            </a: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-55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소위</a:t>
            </a:r>
            <a:r>
              <a:rPr dirty="0" sz="2000" spc="-60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제3자</a:t>
            </a:r>
            <a:r>
              <a:rPr dirty="0" sz="2000" spc="-60" b="1">
                <a:latin typeface="Malgun Gothic"/>
                <a:cs typeface="Malgun Gothic"/>
              </a:rPr>
              <a:t>  </a:t>
            </a:r>
            <a:r>
              <a:rPr dirty="0" sz="2000" spc="-20" b="1">
                <a:latin typeface="Malgun Gothic"/>
                <a:cs typeface="Malgun Gothic"/>
              </a:rPr>
              <a:t>지불방식 </a:t>
            </a:r>
            <a:r>
              <a:rPr dirty="0" sz="2000" spc="45" b="1">
                <a:latin typeface="Malgun Gothic"/>
                <a:cs typeface="Malgun Gothic"/>
              </a:rPr>
              <a:t>(third-</a:t>
            </a:r>
            <a:r>
              <a:rPr dirty="0" sz="2000" spc="65" b="1">
                <a:latin typeface="Malgun Gothic"/>
                <a:cs typeface="Malgun Gothic"/>
              </a:rPr>
              <a:t>party-</a:t>
            </a:r>
            <a:r>
              <a:rPr dirty="0" sz="2000" b="1">
                <a:latin typeface="Malgun Gothic"/>
                <a:cs typeface="Malgun Gothic"/>
              </a:rPr>
              <a:t>payment)의</a:t>
            </a:r>
            <a:r>
              <a:rPr dirty="0" sz="2000" spc="6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문제점</a:t>
            </a:r>
            <a:endParaRPr sz="2000">
              <a:latin typeface="Malgun Gothic"/>
              <a:cs typeface="Malgun Gothic"/>
            </a:endParaRPr>
          </a:p>
          <a:p>
            <a:pPr marL="1184910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1184910" algn="l"/>
              </a:tabLst>
            </a:pPr>
            <a:r>
              <a:rPr dirty="0" sz="2000" b="1">
                <a:latin typeface="Malgun Gothic"/>
                <a:cs typeface="Malgun Gothic"/>
              </a:rPr>
              <a:t>본인부담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없는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의료보험</a:t>
            </a:r>
            <a:endParaRPr sz="2000">
              <a:latin typeface="Malgun Gothic"/>
              <a:cs typeface="Malgun Gothic"/>
            </a:endParaRPr>
          </a:p>
          <a:p>
            <a:pPr marL="1184910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1184910" algn="l"/>
              </a:tabLst>
            </a:pPr>
            <a:r>
              <a:rPr dirty="0" sz="2000" b="1">
                <a:latin typeface="Malgun Gothic"/>
                <a:cs typeface="Malgun Gothic"/>
              </a:rPr>
              <a:t>개인적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비용과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사회적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비용의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괴리로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의료소비가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팽창</a:t>
            </a:r>
            <a:endParaRPr sz="2000">
              <a:latin typeface="Malgun Gothic"/>
              <a:cs typeface="Malgun Gothic"/>
            </a:endParaRPr>
          </a:p>
          <a:p>
            <a:pPr marL="1184910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1184910" algn="l"/>
              </a:tabLst>
            </a:pPr>
            <a:r>
              <a:rPr dirty="0" sz="2000" b="1">
                <a:latin typeface="Malgun Gothic"/>
                <a:cs typeface="Malgun Gothic"/>
              </a:rPr>
              <a:t>의료보험료의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과도한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인상을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초래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066636" y="1208885"/>
            <a:ext cx="8547735" cy="520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</a:tabLst>
            </a:pPr>
            <a:r>
              <a:rPr dirty="0" sz="2000" b="1">
                <a:latin typeface="Malgun Gothic"/>
                <a:cs typeface="Malgun Gothic"/>
              </a:rPr>
              <a:t>도덕적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해이는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과다소비의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문제를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초래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480059" indent="-467359">
              <a:lnSpc>
                <a:spcPct val="100000"/>
              </a:lnSpc>
              <a:buAutoNum type="arabicParenBoth" startAt="2"/>
              <a:tabLst>
                <a:tab pos="480059" algn="l"/>
              </a:tabLst>
            </a:pPr>
            <a:r>
              <a:rPr dirty="0" sz="2000" spc="-25" b="1">
                <a:latin typeface="Malgun Gothic"/>
                <a:cs typeface="Malgun Gothic"/>
              </a:rPr>
              <a:t>대책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Malgun Gothic"/>
              <a:buAutoNum type="arabicParenBoth" startAt="2"/>
            </a:pPr>
            <a:endParaRPr sz="2000">
              <a:latin typeface="Malgun Gothic"/>
              <a:cs typeface="Malgun Gothic"/>
            </a:endParaRPr>
          </a:p>
          <a:p>
            <a:pPr lvl="1" marL="266700" indent="-254000">
              <a:lnSpc>
                <a:spcPct val="100000"/>
              </a:lnSpc>
              <a:spcBef>
                <a:spcPts val="5"/>
              </a:spcBef>
              <a:buFont typeface="Cambria"/>
              <a:buChar char="○"/>
              <a:tabLst>
                <a:tab pos="266700" algn="l"/>
              </a:tabLst>
            </a:pPr>
            <a:r>
              <a:rPr dirty="0" sz="2000" b="1">
                <a:latin typeface="Malgun Gothic"/>
                <a:cs typeface="Malgun Gothic"/>
              </a:rPr>
              <a:t>규제의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형태로서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조사(inspection)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375"/>
              </a:spcBef>
              <a:buFont typeface="Cambria"/>
              <a:buChar char="○"/>
            </a:pPr>
            <a:endParaRPr sz="2000">
              <a:latin typeface="Malgun Gothic"/>
              <a:cs typeface="Malgun Gothic"/>
            </a:endParaRPr>
          </a:p>
          <a:p>
            <a:pPr lvl="1" marL="266700" indent="-254000">
              <a:lnSpc>
                <a:spcPct val="100000"/>
              </a:lnSpc>
              <a:buFont typeface="Cambria"/>
              <a:buChar char="○"/>
              <a:tabLst>
                <a:tab pos="266700" algn="l"/>
              </a:tabLst>
            </a:pPr>
            <a:r>
              <a:rPr dirty="0" sz="2000" spc="-10" b="1">
                <a:latin typeface="Malgun Gothic"/>
                <a:cs typeface="Malgun Gothic"/>
              </a:rPr>
              <a:t>유인(incentive)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365"/>
              </a:spcBef>
              <a:buFont typeface="Cambria"/>
              <a:buChar char="○"/>
            </a:pPr>
            <a:endParaRPr sz="2000">
              <a:latin typeface="Malgun Gothic"/>
              <a:cs typeface="Malgun Gothic"/>
            </a:endParaRPr>
          </a:p>
          <a:p>
            <a:pPr algn="ctr" lvl="2" marL="421005" indent="-295275">
              <a:lnSpc>
                <a:spcPct val="100000"/>
              </a:lnSpc>
              <a:buChar char="-"/>
              <a:tabLst>
                <a:tab pos="421005" algn="l"/>
                <a:tab pos="3954779" algn="l"/>
                <a:tab pos="4175125" algn="l"/>
                <a:tab pos="5071745" algn="l"/>
                <a:tab pos="6475730" algn="l"/>
                <a:tab pos="7118350" algn="l"/>
                <a:tab pos="8267700" algn="l"/>
              </a:tabLst>
            </a:pPr>
            <a:r>
              <a:rPr dirty="0" sz="2000" b="1">
                <a:latin typeface="Malgun Gothic"/>
                <a:cs typeface="Malgun Gothic"/>
              </a:rPr>
              <a:t>경험요율(experience</a:t>
            </a:r>
            <a:r>
              <a:rPr dirty="0" sz="2000" spc="-25" b="1">
                <a:latin typeface="Malgun Gothic"/>
                <a:cs typeface="Malgun Gothic"/>
              </a:rPr>
              <a:t>  </a:t>
            </a:r>
            <a:r>
              <a:rPr dirty="0" sz="2000" spc="-10" b="1">
                <a:latin typeface="Malgun Gothic"/>
                <a:cs typeface="Malgun Gothic"/>
              </a:rPr>
              <a:t>rating)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85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사고의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발생비율에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따라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보험료를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50" b="1">
                <a:latin typeface="Malgun Gothic"/>
                <a:cs typeface="Malgun Gothic"/>
              </a:rPr>
              <a:t>차</a:t>
            </a:r>
            <a:endParaRPr sz="2000">
              <a:latin typeface="Malgun Gothic"/>
              <a:cs typeface="Malgun Gothic"/>
            </a:endParaRPr>
          </a:p>
          <a:p>
            <a:pPr algn="ctr" marL="590550">
              <a:lnSpc>
                <a:spcPct val="100000"/>
              </a:lnSpc>
              <a:spcBef>
                <a:spcPts val="805"/>
              </a:spcBef>
            </a:pPr>
            <a:r>
              <a:rPr dirty="0" sz="2000" spc="-25" b="1">
                <a:latin typeface="Malgun Gothic"/>
                <a:cs typeface="Malgun Gothic"/>
              </a:rPr>
              <a:t>등적용</a:t>
            </a:r>
            <a:endParaRPr sz="2000">
              <a:latin typeface="Malgun Gothic"/>
              <a:cs typeface="Malgun Gothic"/>
            </a:endParaRPr>
          </a:p>
          <a:p>
            <a:pPr algn="ctr" lvl="2" marL="451484" indent="-325755">
              <a:lnSpc>
                <a:spcPct val="100000"/>
              </a:lnSpc>
              <a:spcBef>
                <a:spcPts val="790"/>
              </a:spcBef>
              <a:buChar char="-"/>
              <a:tabLst>
                <a:tab pos="451484" algn="l"/>
                <a:tab pos="3208655" algn="l"/>
                <a:tab pos="3460115" algn="l"/>
                <a:tab pos="4134485" algn="l"/>
                <a:tab pos="4808855" algn="l"/>
                <a:tab pos="5230495" algn="l"/>
                <a:tab pos="6157595" algn="l"/>
                <a:tab pos="6831965" algn="l"/>
                <a:tab pos="7760334" algn="l"/>
              </a:tabLst>
            </a:pPr>
            <a:r>
              <a:rPr dirty="0" sz="2000" spc="-10" b="1">
                <a:latin typeface="Malgun Gothic"/>
                <a:cs typeface="Malgun Gothic"/>
              </a:rPr>
              <a:t>기초공제(deductibles)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85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피해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금액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50" b="1">
                <a:latin typeface="Malgun Gothic"/>
                <a:cs typeface="Malgun Gothic"/>
              </a:rPr>
              <a:t>중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처음의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일정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부분을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가입자</a:t>
            </a:r>
            <a:endParaRPr sz="2000">
              <a:latin typeface="Malgun Gothic"/>
              <a:cs typeface="Malgun Gothic"/>
            </a:endParaRPr>
          </a:p>
          <a:p>
            <a:pPr algn="ctr" marR="368300">
              <a:lnSpc>
                <a:spcPct val="100000"/>
              </a:lnSpc>
              <a:spcBef>
                <a:spcPts val="800"/>
              </a:spcBef>
            </a:pPr>
            <a:r>
              <a:rPr dirty="0" sz="2000" b="1">
                <a:latin typeface="Malgun Gothic"/>
                <a:cs typeface="Malgun Gothic"/>
              </a:rPr>
              <a:t>본인이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부담</a:t>
            </a:r>
            <a:endParaRPr sz="2000">
              <a:latin typeface="Malgun Gothic"/>
              <a:cs typeface="Malgun Gothic"/>
            </a:endParaRPr>
          </a:p>
          <a:p>
            <a:pPr algn="ctr" lvl="2" marL="285115" marR="534035" indent="-285115">
              <a:lnSpc>
                <a:spcPct val="100000"/>
              </a:lnSpc>
              <a:spcBef>
                <a:spcPts val="805"/>
              </a:spcBef>
              <a:buChar char="-"/>
              <a:tabLst>
                <a:tab pos="285115" algn="l"/>
              </a:tabLst>
            </a:pPr>
            <a:r>
              <a:rPr dirty="0" sz="2000" b="1">
                <a:latin typeface="Malgun Gothic"/>
                <a:cs typeface="Malgun Gothic"/>
              </a:rPr>
              <a:t>공동부담(coinsurance)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피해액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중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일정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비율은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가입자가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부담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제4절</a:t>
            </a:r>
            <a:r>
              <a:rPr dirty="0" spc="315"/>
              <a:t> </a:t>
            </a:r>
            <a:r>
              <a:rPr dirty="0"/>
              <a:t>전체</a:t>
            </a:r>
            <a:r>
              <a:rPr dirty="0" spc="315"/>
              <a:t> </a:t>
            </a:r>
            <a:r>
              <a:rPr dirty="0"/>
              <a:t>보험시장:</a:t>
            </a:r>
            <a:r>
              <a:rPr dirty="0" spc="320"/>
              <a:t> </a:t>
            </a:r>
            <a:r>
              <a:rPr dirty="0"/>
              <a:t>민영보험과</a:t>
            </a:r>
            <a:r>
              <a:rPr dirty="0" spc="315"/>
              <a:t> </a:t>
            </a:r>
            <a:r>
              <a:rPr dirty="0" spc="-20"/>
              <a:t>사회보험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41236" y="2020737"/>
            <a:ext cx="6556375" cy="3692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Malgun Gothic"/>
                <a:cs typeface="Malgun Gothic"/>
              </a:rPr>
              <a:t>1.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민영보험시장의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성립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요건과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효율성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>
              <a:latin typeface="Malgun Gothic"/>
              <a:cs typeface="Malgun Gothic"/>
            </a:endParaRPr>
          </a:p>
          <a:p>
            <a:pPr marL="38100">
              <a:lnSpc>
                <a:spcPct val="100000"/>
              </a:lnSpc>
            </a:pP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1)</a:t>
            </a:r>
            <a:r>
              <a:rPr dirty="0" sz="2000" spc="29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민영보험시장의</a:t>
            </a:r>
            <a:r>
              <a:rPr dirty="0" sz="2000" spc="29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성립</a:t>
            </a:r>
            <a:r>
              <a:rPr dirty="0" sz="2000" spc="29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요건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2000">
              <a:latin typeface="Malgun Gothic"/>
              <a:cs typeface="Malgun Gothic"/>
            </a:endParaRPr>
          </a:p>
          <a:p>
            <a:pPr marL="38100">
              <a:lnSpc>
                <a:spcPct val="100000"/>
              </a:lnSpc>
            </a:pPr>
            <a:r>
              <a:rPr dirty="0" sz="2000" b="1">
                <a:latin typeface="Malgun Gothic"/>
                <a:cs typeface="Malgun Gothic"/>
              </a:rPr>
              <a:t>①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수요가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존재해야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한다.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2000">
              <a:latin typeface="Malgun Gothic"/>
              <a:cs typeface="Malgun Gothic"/>
            </a:endParaRPr>
          </a:p>
          <a:p>
            <a:pPr algn="ctr" marL="2035810">
              <a:lnSpc>
                <a:spcPct val="100000"/>
              </a:lnSpc>
              <a:tabLst>
                <a:tab pos="3818254" algn="l"/>
              </a:tabLst>
            </a:pP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확실성의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가치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500" spc="-725" i="1">
                <a:solidFill>
                  <a:srgbClr val="0000FF"/>
                </a:solidFill>
                <a:latin typeface="Times New Roman"/>
                <a:cs typeface="Times New Roman"/>
              </a:rPr>
              <a:t></a:t>
            </a:r>
            <a:r>
              <a:rPr dirty="0" sz="2500" spc="-12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472" sz="3600" spc="-832">
                <a:solidFill>
                  <a:srgbClr val="0000FF"/>
                </a:solidFill>
                <a:latin typeface="Microsoft Sans Serif"/>
                <a:cs typeface="Microsoft Sans Serif"/>
              </a:rPr>
              <a:t></a:t>
            </a:r>
            <a:r>
              <a:rPr dirty="0" baseline="3472" sz="3600" spc="-7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640">
                <a:solidFill>
                  <a:srgbClr val="0000FF"/>
                </a:solidFill>
                <a:latin typeface="Microsoft Sans Serif"/>
                <a:cs typeface="Microsoft Sans Serif"/>
              </a:rPr>
              <a:t>y</a:t>
            </a:r>
            <a:r>
              <a:rPr dirty="0" baseline="13888" sz="3600" spc="-960">
                <a:solidFill>
                  <a:srgbClr val="0000FF"/>
                </a:solidFill>
                <a:latin typeface="Microsoft Sans Serif"/>
                <a:cs typeface="Microsoft Sans Serif"/>
              </a:rPr>
              <a:t></a:t>
            </a:r>
            <a:r>
              <a:rPr dirty="0" baseline="3472" sz="3600" spc="-960">
                <a:solidFill>
                  <a:srgbClr val="0000FF"/>
                </a:solidFill>
                <a:latin typeface="Microsoft Sans Serif"/>
                <a:cs typeface="Microsoft Sans Serif"/>
              </a:rPr>
              <a:t>—</a:t>
            </a:r>
            <a:r>
              <a:rPr dirty="0" baseline="3472" sz="3600" spc="-48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409">
                <a:solidFill>
                  <a:srgbClr val="0000FF"/>
                </a:solidFill>
                <a:latin typeface="Microsoft Sans Serif"/>
                <a:cs typeface="Microsoft Sans Serif"/>
              </a:rPr>
              <a:t>y</a:t>
            </a:r>
            <a:r>
              <a:rPr dirty="0" baseline="39930" sz="2400" spc="-615">
                <a:solidFill>
                  <a:srgbClr val="0000FF"/>
                </a:solidFill>
                <a:latin typeface="Microsoft Sans Serif"/>
                <a:cs typeface="Microsoft Sans Serif"/>
              </a:rPr>
              <a:t></a:t>
            </a:r>
            <a:r>
              <a:rPr dirty="0" baseline="39930" sz="2400" spc="46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3472" sz="3600" spc="-577">
                <a:solidFill>
                  <a:srgbClr val="0000FF"/>
                </a:solidFill>
                <a:latin typeface="Microsoft Sans Serif"/>
                <a:cs typeface="Microsoft Sans Serif"/>
              </a:rPr>
              <a:t></a:t>
            </a:r>
            <a:r>
              <a:rPr dirty="0" baseline="3472" sz="3600" spc="247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0">
                <a:solidFill>
                  <a:srgbClr val="0000FF"/>
                </a:solidFill>
                <a:latin typeface="Microsoft Sans Serif"/>
                <a:cs typeface="Microsoft Sans Serif"/>
              </a:rPr>
              <a:t>0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2400">
              <a:latin typeface="Microsoft Sans Serif"/>
              <a:cs typeface="Microsoft Sans Serif"/>
            </a:endParaRPr>
          </a:p>
          <a:p>
            <a:pPr algn="ctr" marL="2043430">
              <a:lnSpc>
                <a:spcPct val="100000"/>
              </a:lnSpc>
            </a:pPr>
            <a:r>
              <a:rPr dirty="0" sz="2000" b="1">
                <a:latin typeface="Malgun Gothic"/>
                <a:cs typeface="Malgun Gothic"/>
              </a:rPr>
              <a:t>즉,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개인이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위험회피적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성향을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갖는다.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029461" y="3143757"/>
            <a:ext cx="3338829" cy="86360"/>
          </a:xfrm>
          <a:custGeom>
            <a:avLst/>
            <a:gdLst/>
            <a:ahLst/>
            <a:cxnLst/>
            <a:rect l="l" t="t" r="r" b="b"/>
            <a:pathLst>
              <a:path w="3338829" h="86360">
                <a:moveTo>
                  <a:pt x="0" y="86105"/>
                </a:moveTo>
                <a:lnTo>
                  <a:pt x="36760" y="76166"/>
                </a:lnTo>
                <a:lnTo>
                  <a:pt x="51419" y="75295"/>
                </a:lnTo>
                <a:lnTo>
                  <a:pt x="67863" y="73828"/>
                </a:lnTo>
                <a:lnTo>
                  <a:pt x="86106" y="71754"/>
                </a:lnTo>
                <a:lnTo>
                  <a:pt x="105251" y="69353"/>
                </a:lnTo>
                <a:lnTo>
                  <a:pt x="124396" y="66928"/>
                </a:lnTo>
                <a:lnTo>
                  <a:pt x="143541" y="64504"/>
                </a:lnTo>
                <a:lnTo>
                  <a:pt x="197310" y="58562"/>
                </a:lnTo>
                <a:lnTo>
                  <a:pt x="224790" y="57403"/>
                </a:lnTo>
                <a:lnTo>
                  <a:pt x="240653" y="57403"/>
                </a:lnTo>
                <a:lnTo>
                  <a:pt x="264255" y="57403"/>
                </a:lnTo>
                <a:lnTo>
                  <a:pt x="295620" y="57403"/>
                </a:lnTo>
                <a:lnTo>
                  <a:pt x="334772" y="57403"/>
                </a:lnTo>
                <a:lnTo>
                  <a:pt x="376326" y="57691"/>
                </a:lnTo>
                <a:lnTo>
                  <a:pt x="414893" y="58562"/>
                </a:lnTo>
                <a:lnTo>
                  <a:pt x="450482" y="60029"/>
                </a:lnTo>
                <a:lnTo>
                  <a:pt x="483107" y="62102"/>
                </a:lnTo>
                <a:lnTo>
                  <a:pt x="513871" y="64196"/>
                </a:lnTo>
                <a:lnTo>
                  <a:pt x="544052" y="65706"/>
                </a:lnTo>
                <a:lnTo>
                  <a:pt x="573637" y="66621"/>
                </a:lnTo>
                <a:lnTo>
                  <a:pt x="602614" y="66928"/>
                </a:lnTo>
                <a:lnTo>
                  <a:pt x="631594" y="67236"/>
                </a:lnTo>
                <a:lnTo>
                  <a:pt x="661193" y="68151"/>
                </a:lnTo>
                <a:lnTo>
                  <a:pt x="691411" y="69661"/>
                </a:lnTo>
                <a:lnTo>
                  <a:pt x="722249" y="71754"/>
                </a:lnTo>
                <a:lnTo>
                  <a:pt x="752417" y="73828"/>
                </a:lnTo>
                <a:lnTo>
                  <a:pt x="780811" y="75295"/>
                </a:lnTo>
                <a:lnTo>
                  <a:pt x="807420" y="76166"/>
                </a:lnTo>
                <a:lnTo>
                  <a:pt x="832231" y="76453"/>
                </a:lnTo>
                <a:lnTo>
                  <a:pt x="855235" y="76453"/>
                </a:lnTo>
                <a:lnTo>
                  <a:pt x="876442" y="76453"/>
                </a:lnTo>
                <a:lnTo>
                  <a:pt x="1764792" y="76453"/>
                </a:lnTo>
                <a:lnTo>
                  <a:pt x="1781248" y="76166"/>
                </a:lnTo>
                <a:lnTo>
                  <a:pt x="1797097" y="75295"/>
                </a:lnTo>
                <a:lnTo>
                  <a:pt x="1812351" y="73828"/>
                </a:lnTo>
                <a:lnTo>
                  <a:pt x="1827021" y="71754"/>
                </a:lnTo>
                <a:lnTo>
                  <a:pt x="1841619" y="69661"/>
                </a:lnTo>
                <a:lnTo>
                  <a:pt x="1856835" y="68151"/>
                </a:lnTo>
                <a:lnTo>
                  <a:pt x="1872670" y="67236"/>
                </a:lnTo>
                <a:lnTo>
                  <a:pt x="1889125" y="66928"/>
                </a:lnTo>
                <a:lnTo>
                  <a:pt x="1904984" y="66928"/>
                </a:lnTo>
                <a:lnTo>
                  <a:pt x="1919033" y="66928"/>
                </a:lnTo>
                <a:lnTo>
                  <a:pt x="2329179" y="66928"/>
                </a:lnTo>
                <a:lnTo>
                  <a:pt x="2341991" y="66621"/>
                </a:lnTo>
                <a:lnTo>
                  <a:pt x="2356612" y="65706"/>
                </a:lnTo>
                <a:lnTo>
                  <a:pt x="2373042" y="64196"/>
                </a:lnTo>
                <a:lnTo>
                  <a:pt x="2391283" y="62102"/>
                </a:lnTo>
                <a:lnTo>
                  <a:pt x="2413119" y="59721"/>
                </a:lnTo>
                <a:lnTo>
                  <a:pt x="2440336" y="57340"/>
                </a:lnTo>
                <a:lnTo>
                  <a:pt x="2472936" y="54959"/>
                </a:lnTo>
                <a:lnTo>
                  <a:pt x="2510916" y="52577"/>
                </a:lnTo>
                <a:lnTo>
                  <a:pt x="2548229" y="50196"/>
                </a:lnTo>
                <a:lnTo>
                  <a:pt x="2579004" y="47815"/>
                </a:lnTo>
                <a:lnTo>
                  <a:pt x="2603232" y="45434"/>
                </a:lnTo>
                <a:lnTo>
                  <a:pt x="2620899" y="43052"/>
                </a:lnTo>
                <a:lnTo>
                  <a:pt x="2639089" y="40364"/>
                </a:lnTo>
                <a:lnTo>
                  <a:pt x="2665079" y="37068"/>
                </a:lnTo>
                <a:lnTo>
                  <a:pt x="2740405" y="28701"/>
                </a:lnTo>
                <a:lnTo>
                  <a:pt x="2783746" y="24227"/>
                </a:lnTo>
                <a:lnTo>
                  <a:pt x="2822908" y="20335"/>
                </a:lnTo>
                <a:lnTo>
                  <a:pt x="2888741" y="14350"/>
                </a:lnTo>
                <a:lnTo>
                  <a:pt x="2916529" y="11967"/>
                </a:lnTo>
                <a:lnTo>
                  <a:pt x="2942542" y="9572"/>
                </a:lnTo>
                <a:lnTo>
                  <a:pt x="2966769" y="7153"/>
                </a:lnTo>
                <a:lnTo>
                  <a:pt x="2989199" y="4699"/>
                </a:lnTo>
                <a:lnTo>
                  <a:pt x="3010056" y="2625"/>
                </a:lnTo>
                <a:lnTo>
                  <a:pt x="3029759" y="1158"/>
                </a:lnTo>
                <a:lnTo>
                  <a:pt x="3048295" y="287"/>
                </a:lnTo>
                <a:lnTo>
                  <a:pt x="3065653" y="0"/>
                </a:lnTo>
                <a:lnTo>
                  <a:pt x="3081801" y="0"/>
                </a:lnTo>
                <a:lnTo>
                  <a:pt x="3096736" y="0"/>
                </a:lnTo>
                <a:lnTo>
                  <a:pt x="3329318" y="0"/>
                </a:lnTo>
                <a:lnTo>
                  <a:pt x="333832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583432" y="4932426"/>
            <a:ext cx="3702050" cy="76835"/>
          </a:xfrm>
          <a:custGeom>
            <a:avLst/>
            <a:gdLst/>
            <a:ahLst/>
            <a:cxnLst/>
            <a:rect l="l" t="t" r="r" b="b"/>
            <a:pathLst>
              <a:path w="3702050" h="76835">
                <a:moveTo>
                  <a:pt x="0" y="57404"/>
                </a:moveTo>
                <a:lnTo>
                  <a:pt x="6858" y="56808"/>
                </a:lnTo>
                <a:lnTo>
                  <a:pt x="17907" y="55022"/>
                </a:lnTo>
                <a:lnTo>
                  <a:pt x="33147" y="52046"/>
                </a:lnTo>
                <a:lnTo>
                  <a:pt x="52577" y="47879"/>
                </a:lnTo>
                <a:lnTo>
                  <a:pt x="73796" y="43350"/>
                </a:lnTo>
                <a:lnTo>
                  <a:pt x="114425" y="36198"/>
                </a:lnTo>
                <a:lnTo>
                  <a:pt x="154193" y="31073"/>
                </a:lnTo>
                <a:lnTo>
                  <a:pt x="202009" y="26259"/>
                </a:lnTo>
                <a:lnTo>
                  <a:pt x="256680" y="21802"/>
                </a:lnTo>
                <a:lnTo>
                  <a:pt x="302158" y="19464"/>
                </a:lnTo>
                <a:lnTo>
                  <a:pt x="320420" y="19176"/>
                </a:lnTo>
                <a:lnTo>
                  <a:pt x="336226" y="19176"/>
                </a:lnTo>
                <a:lnTo>
                  <a:pt x="350281" y="19176"/>
                </a:lnTo>
                <a:lnTo>
                  <a:pt x="559562" y="19176"/>
                </a:lnTo>
                <a:lnTo>
                  <a:pt x="575349" y="18869"/>
                </a:lnTo>
                <a:lnTo>
                  <a:pt x="589375" y="17954"/>
                </a:lnTo>
                <a:lnTo>
                  <a:pt x="601638" y="16444"/>
                </a:lnTo>
                <a:lnTo>
                  <a:pt x="612139" y="14350"/>
                </a:lnTo>
                <a:lnTo>
                  <a:pt x="622569" y="12257"/>
                </a:lnTo>
                <a:lnTo>
                  <a:pt x="634809" y="10747"/>
                </a:lnTo>
                <a:lnTo>
                  <a:pt x="648858" y="9832"/>
                </a:lnTo>
                <a:lnTo>
                  <a:pt x="664717" y="9525"/>
                </a:lnTo>
                <a:lnTo>
                  <a:pt x="680866" y="9525"/>
                </a:lnTo>
                <a:lnTo>
                  <a:pt x="695801" y="9525"/>
                </a:lnTo>
                <a:lnTo>
                  <a:pt x="865631" y="9525"/>
                </a:lnTo>
                <a:lnTo>
                  <a:pt x="886255" y="9237"/>
                </a:lnTo>
                <a:lnTo>
                  <a:pt x="905081" y="8366"/>
                </a:lnTo>
                <a:lnTo>
                  <a:pt x="922121" y="6899"/>
                </a:lnTo>
                <a:lnTo>
                  <a:pt x="937387" y="4825"/>
                </a:lnTo>
                <a:lnTo>
                  <a:pt x="951388" y="2732"/>
                </a:lnTo>
                <a:lnTo>
                  <a:pt x="964819" y="1222"/>
                </a:lnTo>
                <a:lnTo>
                  <a:pt x="977677" y="307"/>
                </a:lnTo>
                <a:lnTo>
                  <a:pt x="989964" y="0"/>
                </a:lnTo>
                <a:lnTo>
                  <a:pt x="1001585" y="0"/>
                </a:lnTo>
                <a:lnTo>
                  <a:pt x="1012634" y="0"/>
                </a:lnTo>
                <a:lnTo>
                  <a:pt x="1477771" y="0"/>
                </a:lnTo>
                <a:lnTo>
                  <a:pt x="1494823" y="595"/>
                </a:lnTo>
                <a:lnTo>
                  <a:pt x="1512458" y="2381"/>
                </a:lnTo>
                <a:lnTo>
                  <a:pt x="1530689" y="5357"/>
                </a:lnTo>
                <a:lnTo>
                  <a:pt x="1549527" y="9525"/>
                </a:lnTo>
                <a:lnTo>
                  <a:pt x="1567461" y="13765"/>
                </a:lnTo>
                <a:lnTo>
                  <a:pt x="1582991" y="16779"/>
                </a:lnTo>
                <a:lnTo>
                  <a:pt x="1596139" y="18579"/>
                </a:lnTo>
                <a:lnTo>
                  <a:pt x="1606930" y="19176"/>
                </a:lnTo>
                <a:lnTo>
                  <a:pt x="1615880" y="19176"/>
                </a:lnTo>
                <a:lnTo>
                  <a:pt x="1623663" y="19176"/>
                </a:lnTo>
                <a:lnTo>
                  <a:pt x="1630255" y="19176"/>
                </a:lnTo>
                <a:lnTo>
                  <a:pt x="1635632" y="19176"/>
                </a:lnTo>
                <a:lnTo>
                  <a:pt x="1641982" y="19176"/>
                </a:lnTo>
                <a:lnTo>
                  <a:pt x="1648332" y="20700"/>
                </a:lnTo>
                <a:lnTo>
                  <a:pt x="1683384" y="28701"/>
                </a:lnTo>
                <a:lnTo>
                  <a:pt x="1696212" y="28701"/>
                </a:lnTo>
                <a:lnTo>
                  <a:pt x="1704213" y="28701"/>
                </a:lnTo>
                <a:lnTo>
                  <a:pt x="1803018" y="28701"/>
                </a:lnTo>
                <a:lnTo>
                  <a:pt x="1810777" y="28991"/>
                </a:lnTo>
                <a:lnTo>
                  <a:pt x="1819751" y="29876"/>
                </a:lnTo>
                <a:lnTo>
                  <a:pt x="1829915" y="31380"/>
                </a:lnTo>
                <a:lnTo>
                  <a:pt x="1841245" y="33528"/>
                </a:lnTo>
                <a:lnTo>
                  <a:pt x="1853227" y="35601"/>
                </a:lnTo>
                <a:lnTo>
                  <a:pt x="1865185" y="37068"/>
                </a:lnTo>
                <a:lnTo>
                  <a:pt x="1877143" y="37939"/>
                </a:lnTo>
                <a:lnTo>
                  <a:pt x="1889125" y="38226"/>
                </a:lnTo>
                <a:lnTo>
                  <a:pt x="1901340" y="38226"/>
                </a:lnTo>
                <a:lnTo>
                  <a:pt x="1914175" y="38226"/>
                </a:lnTo>
                <a:lnTo>
                  <a:pt x="2238247" y="38226"/>
                </a:lnTo>
                <a:lnTo>
                  <a:pt x="2256488" y="38534"/>
                </a:lnTo>
                <a:lnTo>
                  <a:pt x="2272918" y="39449"/>
                </a:lnTo>
                <a:lnTo>
                  <a:pt x="2287539" y="40959"/>
                </a:lnTo>
                <a:lnTo>
                  <a:pt x="2300351" y="43053"/>
                </a:lnTo>
                <a:lnTo>
                  <a:pt x="2311735" y="45146"/>
                </a:lnTo>
                <a:lnTo>
                  <a:pt x="2321893" y="46656"/>
                </a:lnTo>
                <a:lnTo>
                  <a:pt x="2330836" y="47571"/>
                </a:lnTo>
                <a:lnTo>
                  <a:pt x="2338578" y="47879"/>
                </a:lnTo>
                <a:lnTo>
                  <a:pt x="2347295" y="47879"/>
                </a:lnTo>
                <a:lnTo>
                  <a:pt x="2358977" y="47879"/>
                </a:lnTo>
                <a:lnTo>
                  <a:pt x="2463038" y="47879"/>
                </a:lnTo>
                <a:lnTo>
                  <a:pt x="2480034" y="48166"/>
                </a:lnTo>
                <a:lnTo>
                  <a:pt x="2497661" y="49037"/>
                </a:lnTo>
                <a:lnTo>
                  <a:pt x="2515883" y="50504"/>
                </a:lnTo>
                <a:lnTo>
                  <a:pt x="2534666" y="52578"/>
                </a:lnTo>
                <a:lnTo>
                  <a:pt x="2554118" y="54671"/>
                </a:lnTo>
                <a:lnTo>
                  <a:pt x="2574178" y="56181"/>
                </a:lnTo>
                <a:lnTo>
                  <a:pt x="2594834" y="57096"/>
                </a:lnTo>
                <a:lnTo>
                  <a:pt x="2616072" y="57404"/>
                </a:lnTo>
                <a:lnTo>
                  <a:pt x="2636099" y="57404"/>
                </a:lnTo>
                <a:lnTo>
                  <a:pt x="2653125" y="57404"/>
                </a:lnTo>
                <a:lnTo>
                  <a:pt x="2667150" y="57404"/>
                </a:lnTo>
                <a:lnTo>
                  <a:pt x="2678176" y="57404"/>
                </a:lnTo>
                <a:lnTo>
                  <a:pt x="2688081" y="57693"/>
                </a:lnTo>
                <a:lnTo>
                  <a:pt x="2698559" y="58578"/>
                </a:lnTo>
                <a:lnTo>
                  <a:pt x="2709608" y="60082"/>
                </a:lnTo>
                <a:lnTo>
                  <a:pt x="2721229" y="62230"/>
                </a:lnTo>
                <a:lnTo>
                  <a:pt x="2733210" y="64303"/>
                </a:lnTo>
                <a:lnTo>
                  <a:pt x="2745168" y="65770"/>
                </a:lnTo>
                <a:lnTo>
                  <a:pt x="2757126" y="66641"/>
                </a:lnTo>
                <a:lnTo>
                  <a:pt x="2769107" y="66929"/>
                </a:lnTo>
                <a:lnTo>
                  <a:pt x="2781323" y="67236"/>
                </a:lnTo>
                <a:lnTo>
                  <a:pt x="2794158" y="68151"/>
                </a:lnTo>
                <a:lnTo>
                  <a:pt x="2807612" y="69661"/>
                </a:lnTo>
                <a:lnTo>
                  <a:pt x="2821685" y="71755"/>
                </a:lnTo>
                <a:lnTo>
                  <a:pt x="2835453" y="73848"/>
                </a:lnTo>
                <a:lnTo>
                  <a:pt x="2848006" y="75358"/>
                </a:lnTo>
                <a:lnTo>
                  <a:pt x="2859369" y="76273"/>
                </a:lnTo>
                <a:lnTo>
                  <a:pt x="2869565" y="76581"/>
                </a:lnTo>
                <a:lnTo>
                  <a:pt x="2879994" y="76581"/>
                </a:lnTo>
                <a:lnTo>
                  <a:pt x="2892234" y="76581"/>
                </a:lnTo>
                <a:lnTo>
                  <a:pt x="3165983" y="76581"/>
                </a:lnTo>
                <a:lnTo>
                  <a:pt x="3180363" y="76273"/>
                </a:lnTo>
                <a:lnTo>
                  <a:pt x="3194732" y="75358"/>
                </a:lnTo>
                <a:lnTo>
                  <a:pt x="3209077" y="73848"/>
                </a:lnTo>
                <a:lnTo>
                  <a:pt x="3223387" y="71755"/>
                </a:lnTo>
                <a:lnTo>
                  <a:pt x="3237767" y="69661"/>
                </a:lnTo>
                <a:lnTo>
                  <a:pt x="3252136" y="68151"/>
                </a:lnTo>
                <a:lnTo>
                  <a:pt x="3266481" y="67236"/>
                </a:lnTo>
                <a:lnTo>
                  <a:pt x="3280791" y="66929"/>
                </a:lnTo>
                <a:lnTo>
                  <a:pt x="3296364" y="66641"/>
                </a:lnTo>
                <a:lnTo>
                  <a:pt x="3314318" y="65770"/>
                </a:lnTo>
                <a:lnTo>
                  <a:pt x="3334654" y="64303"/>
                </a:lnTo>
                <a:lnTo>
                  <a:pt x="3357371" y="62230"/>
                </a:lnTo>
                <a:lnTo>
                  <a:pt x="3379473" y="60082"/>
                </a:lnTo>
                <a:lnTo>
                  <a:pt x="3397980" y="58578"/>
                </a:lnTo>
                <a:lnTo>
                  <a:pt x="3412914" y="57693"/>
                </a:lnTo>
                <a:lnTo>
                  <a:pt x="3424300" y="57404"/>
                </a:lnTo>
                <a:lnTo>
                  <a:pt x="3434441" y="57404"/>
                </a:lnTo>
                <a:lnTo>
                  <a:pt x="3445795" y="57404"/>
                </a:lnTo>
                <a:lnTo>
                  <a:pt x="3458340" y="57404"/>
                </a:lnTo>
                <a:lnTo>
                  <a:pt x="3472052" y="57404"/>
                </a:lnTo>
                <a:lnTo>
                  <a:pt x="3486128" y="57096"/>
                </a:lnTo>
                <a:lnTo>
                  <a:pt x="3499596" y="56181"/>
                </a:lnTo>
                <a:lnTo>
                  <a:pt x="3512468" y="54671"/>
                </a:lnTo>
                <a:lnTo>
                  <a:pt x="3524758" y="52578"/>
                </a:lnTo>
                <a:lnTo>
                  <a:pt x="3537281" y="50504"/>
                </a:lnTo>
                <a:lnTo>
                  <a:pt x="3551031" y="49037"/>
                </a:lnTo>
                <a:lnTo>
                  <a:pt x="3565995" y="48166"/>
                </a:lnTo>
                <a:lnTo>
                  <a:pt x="3582162" y="47879"/>
                </a:lnTo>
                <a:lnTo>
                  <a:pt x="3597949" y="47571"/>
                </a:lnTo>
                <a:lnTo>
                  <a:pt x="3611975" y="46656"/>
                </a:lnTo>
                <a:lnTo>
                  <a:pt x="3624238" y="45146"/>
                </a:lnTo>
                <a:lnTo>
                  <a:pt x="3634740" y="43053"/>
                </a:lnTo>
                <a:lnTo>
                  <a:pt x="3643977" y="40959"/>
                </a:lnTo>
                <a:lnTo>
                  <a:pt x="3652631" y="39449"/>
                </a:lnTo>
                <a:lnTo>
                  <a:pt x="3660689" y="38534"/>
                </a:lnTo>
                <a:lnTo>
                  <a:pt x="3668141" y="38226"/>
                </a:lnTo>
                <a:lnTo>
                  <a:pt x="3677792" y="38226"/>
                </a:lnTo>
                <a:lnTo>
                  <a:pt x="3684142" y="38226"/>
                </a:lnTo>
                <a:lnTo>
                  <a:pt x="3687317" y="38226"/>
                </a:lnTo>
                <a:lnTo>
                  <a:pt x="3690492" y="38226"/>
                </a:lnTo>
                <a:lnTo>
                  <a:pt x="3695318" y="38226"/>
                </a:lnTo>
                <a:lnTo>
                  <a:pt x="3701668" y="3822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②</a:t>
            </a:r>
            <a:r>
              <a:rPr dirty="0" spc="265"/>
              <a:t> </a:t>
            </a:r>
            <a:r>
              <a:rPr dirty="0"/>
              <a:t>보험상품의</a:t>
            </a:r>
            <a:r>
              <a:rPr dirty="0" spc="280"/>
              <a:t> </a:t>
            </a:r>
            <a:r>
              <a:rPr dirty="0"/>
              <a:t>생산이</a:t>
            </a:r>
            <a:r>
              <a:rPr dirty="0" spc="275"/>
              <a:t> </a:t>
            </a:r>
            <a:r>
              <a:rPr dirty="0"/>
              <a:t>기술적으로</a:t>
            </a:r>
            <a:r>
              <a:rPr dirty="0" spc="280"/>
              <a:t> </a:t>
            </a:r>
            <a:r>
              <a:rPr dirty="0"/>
              <a:t>가능해야</a:t>
            </a:r>
            <a:r>
              <a:rPr dirty="0" spc="280"/>
              <a:t> </a:t>
            </a:r>
            <a:r>
              <a:rPr dirty="0" spc="-25"/>
              <a:t>한다.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41236" y="2020737"/>
            <a:ext cx="8599805" cy="38627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3830">
              <a:lnSpc>
                <a:spcPct val="100000"/>
              </a:lnSpc>
              <a:spcBef>
                <a:spcPts val="100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민영보험의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성립을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제약하는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어떠한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존재하지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않아야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한다.</a:t>
            </a:r>
            <a:endParaRPr sz="2000">
              <a:latin typeface="Malgun Gothic"/>
              <a:cs typeface="Malgun Gothic"/>
            </a:endParaRPr>
          </a:p>
          <a:p>
            <a:pPr marL="433705" marR="30480" indent="-396240">
              <a:lnSpc>
                <a:spcPct val="133400"/>
              </a:lnSpc>
              <a:spcBef>
                <a:spcPts val="3190"/>
              </a:spcBef>
              <a:tabLst>
                <a:tab pos="433705" algn="l"/>
                <a:tab pos="1590675" algn="l"/>
                <a:tab pos="2493010" algn="l"/>
                <a:tab pos="3395979" algn="l"/>
                <a:tab pos="4046220" algn="l"/>
                <a:tab pos="4948555" algn="l"/>
                <a:tab pos="6105525" algn="l"/>
                <a:tab pos="7008495" algn="l"/>
                <a:tab pos="7911465" algn="l"/>
                <a:tab pos="8307070" algn="l"/>
              </a:tabLst>
            </a:pPr>
            <a:r>
              <a:rPr dirty="0" sz="2000" spc="-50" b="1">
                <a:latin typeface="Malgun Gothic"/>
                <a:cs typeface="Malgun Gothic"/>
              </a:rPr>
              <a:t>③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수요자가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지불할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용의가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있는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수준의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가격에서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보험이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제공될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50" b="1">
                <a:latin typeface="Malgun Gothic"/>
                <a:cs typeface="Malgun Gothic"/>
              </a:rPr>
              <a:t>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50" b="1">
                <a:latin typeface="Malgun Gothic"/>
                <a:cs typeface="Malgun Gothic"/>
              </a:rPr>
              <a:t>있 </a:t>
            </a:r>
            <a:r>
              <a:rPr dirty="0" sz="2000" b="1">
                <a:latin typeface="Malgun Gothic"/>
                <a:cs typeface="Malgun Gothic"/>
              </a:rPr>
              <a:t>어야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한다.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2000">
              <a:latin typeface="Malgun Gothic"/>
              <a:cs typeface="Malgun Gothic"/>
            </a:endParaRPr>
          </a:p>
          <a:p>
            <a:pPr marL="274955">
              <a:lnSpc>
                <a:spcPct val="100000"/>
              </a:lnSpc>
            </a:pPr>
            <a:r>
              <a:rPr dirty="0" sz="2000" b="1">
                <a:latin typeface="Malgun Gothic"/>
                <a:cs typeface="Malgun Gothic"/>
              </a:rPr>
              <a:t>보험의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수요가격(확실성의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170" b="1">
                <a:latin typeface="Malgun Gothic"/>
                <a:cs typeface="Malgun Gothic"/>
              </a:rPr>
              <a:t>가격)</a:t>
            </a:r>
            <a:r>
              <a:rPr dirty="0" sz="2500" spc="-170" i="1">
                <a:solidFill>
                  <a:srgbClr val="0000FF"/>
                </a:solidFill>
                <a:latin typeface="Times New Roman"/>
                <a:cs typeface="Times New Roman"/>
              </a:rPr>
              <a:t></a:t>
            </a:r>
            <a:r>
              <a:rPr dirty="0" sz="2500" spc="-12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472" sz="3600" spc="-832">
                <a:solidFill>
                  <a:srgbClr val="0000FF"/>
                </a:solidFill>
                <a:latin typeface="Microsoft Sans Serif"/>
                <a:cs typeface="Microsoft Sans Serif"/>
              </a:rPr>
              <a:t></a:t>
            </a:r>
            <a:r>
              <a:rPr dirty="0" baseline="3472" sz="3600" spc="-7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640">
                <a:solidFill>
                  <a:srgbClr val="0000FF"/>
                </a:solidFill>
                <a:latin typeface="Microsoft Sans Serif"/>
                <a:cs typeface="Microsoft Sans Serif"/>
              </a:rPr>
              <a:t>y</a:t>
            </a:r>
            <a:r>
              <a:rPr dirty="0" baseline="13888" sz="3600" spc="-960">
                <a:solidFill>
                  <a:srgbClr val="0000FF"/>
                </a:solidFill>
                <a:latin typeface="Microsoft Sans Serif"/>
                <a:cs typeface="Microsoft Sans Serif"/>
              </a:rPr>
              <a:t></a:t>
            </a:r>
            <a:r>
              <a:rPr dirty="0" baseline="3472" sz="3600" spc="-960">
                <a:solidFill>
                  <a:srgbClr val="0000FF"/>
                </a:solidFill>
                <a:latin typeface="Microsoft Sans Serif"/>
                <a:cs typeface="Microsoft Sans Serif"/>
              </a:rPr>
              <a:t>—</a:t>
            </a:r>
            <a:r>
              <a:rPr dirty="0" baseline="3472" sz="3600" spc="-48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409">
                <a:solidFill>
                  <a:srgbClr val="0000FF"/>
                </a:solidFill>
                <a:latin typeface="Microsoft Sans Serif"/>
                <a:cs typeface="Microsoft Sans Serif"/>
              </a:rPr>
              <a:t>y</a:t>
            </a:r>
            <a:r>
              <a:rPr dirty="0" baseline="38194" sz="2400" spc="-615">
                <a:solidFill>
                  <a:srgbClr val="0000FF"/>
                </a:solidFill>
                <a:latin typeface="Microsoft Sans Serif"/>
                <a:cs typeface="Microsoft Sans Serif"/>
              </a:rPr>
              <a:t></a:t>
            </a:r>
            <a:r>
              <a:rPr dirty="0" baseline="38194" sz="2400" spc="46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990">
                <a:solidFill>
                  <a:srgbClr val="0000FF"/>
                </a:solidFill>
                <a:latin typeface="Microsoft Sans Serif"/>
                <a:cs typeface="Microsoft Sans Serif"/>
              </a:rPr>
              <a:t>≥</a:t>
            </a:r>
            <a:r>
              <a:rPr dirty="0" sz="2400" spc="17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0000FF"/>
                </a:solidFill>
                <a:latin typeface="Microsoft Sans Serif"/>
                <a:cs typeface="Microsoft Sans Serif"/>
              </a:rPr>
              <a:t></a:t>
            </a:r>
            <a:r>
              <a:rPr dirty="0" sz="2000" spc="-10" b="1">
                <a:latin typeface="Malgun Gothic"/>
                <a:cs typeface="Malgun Gothic"/>
              </a:rPr>
              <a:t>순공급가격(순보험료)</a:t>
            </a:r>
            <a:endParaRPr sz="20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dirty="0" sz="2400" spc="-985">
                <a:solidFill>
                  <a:srgbClr val="0000FF"/>
                </a:solidFill>
                <a:latin typeface="Microsoft Sans Serif"/>
                <a:cs typeface="Microsoft Sans Serif"/>
              </a:rPr>
              <a:t></a:t>
            </a:r>
            <a:r>
              <a:rPr dirty="0" sz="2400" spc="-14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3472" sz="3600" spc="-832">
                <a:solidFill>
                  <a:srgbClr val="0000FF"/>
                </a:solidFill>
                <a:latin typeface="Microsoft Sans Serif"/>
                <a:cs typeface="Microsoft Sans Serif"/>
              </a:rPr>
              <a:t></a:t>
            </a:r>
            <a:r>
              <a:rPr dirty="0" baseline="3472" sz="3600" spc="-15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430">
                <a:solidFill>
                  <a:srgbClr val="0000FF"/>
                </a:solidFill>
                <a:latin typeface="Microsoft Sans Serif"/>
                <a:cs typeface="Microsoft Sans Serif"/>
              </a:rPr>
              <a:t>v</a:t>
            </a:r>
            <a:r>
              <a:rPr dirty="0" baseline="3472" sz="3600" spc="644">
                <a:solidFill>
                  <a:srgbClr val="0000FF"/>
                </a:solidFill>
                <a:latin typeface="Microsoft Sans Serif"/>
                <a:cs typeface="Microsoft Sans Serif"/>
              </a:rPr>
              <a:t>—</a:t>
            </a:r>
            <a:r>
              <a:rPr dirty="0" baseline="3472" sz="3600" spc="-46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50">
                <a:solidFill>
                  <a:srgbClr val="0000FF"/>
                </a:solidFill>
                <a:latin typeface="Microsoft Sans Serif"/>
                <a:cs typeface="Microsoft Sans Serif"/>
              </a:rPr>
              <a:t>p</a:t>
            </a:r>
            <a:r>
              <a:rPr dirty="0" sz="2500" spc="50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dirty="0" sz="2000" spc="50" b="1">
                <a:latin typeface="Malgun Gothic"/>
                <a:cs typeface="Malgun Gothic"/>
              </a:rPr>
              <a:t>(총보험료-</a:t>
            </a:r>
            <a:r>
              <a:rPr dirty="0" sz="2000" spc="-10" b="1">
                <a:latin typeface="Malgun Gothic"/>
                <a:cs typeface="Malgun Gothic"/>
              </a:rPr>
              <a:t>기대급여)=</a:t>
            </a:r>
            <a:r>
              <a:rPr dirty="0" sz="2400" spc="-10">
                <a:solidFill>
                  <a:srgbClr val="0000FF"/>
                </a:solidFill>
                <a:latin typeface="Microsoft Sans Serif"/>
                <a:cs typeface="Microsoft Sans Serif"/>
              </a:rPr>
              <a:t>αp</a:t>
            </a:r>
            <a:r>
              <a:rPr dirty="0" sz="2500" spc="-10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64"/>
              </a:spcBef>
            </a:pPr>
            <a:endParaRPr sz="2000">
              <a:latin typeface="Times New Roman"/>
              <a:cs typeface="Times New Roman"/>
            </a:endParaRPr>
          </a:p>
          <a:p>
            <a:pPr algn="ctr" marL="22225">
              <a:lnSpc>
                <a:spcPct val="100000"/>
              </a:lnSpc>
            </a:pPr>
            <a:r>
              <a:rPr dirty="0" sz="2400" spc="-640">
                <a:solidFill>
                  <a:srgbClr val="0000FF"/>
                </a:solidFill>
                <a:latin typeface="Microsoft Sans Serif"/>
                <a:cs typeface="Microsoft Sans Serif"/>
              </a:rPr>
              <a:t>y</a:t>
            </a:r>
            <a:r>
              <a:rPr dirty="0" baseline="13888" sz="3600" spc="-960">
                <a:solidFill>
                  <a:srgbClr val="0000FF"/>
                </a:solidFill>
                <a:latin typeface="Microsoft Sans Serif"/>
                <a:cs typeface="Microsoft Sans Serif"/>
              </a:rPr>
              <a:t></a:t>
            </a:r>
            <a:r>
              <a:rPr dirty="0" baseline="3472" sz="3600" spc="-960">
                <a:solidFill>
                  <a:srgbClr val="0000FF"/>
                </a:solidFill>
                <a:latin typeface="Microsoft Sans Serif"/>
                <a:cs typeface="Microsoft Sans Serif"/>
              </a:rPr>
              <a:t>—</a:t>
            </a:r>
            <a:r>
              <a:rPr dirty="0" baseline="3472" sz="3600" spc="-472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409">
                <a:solidFill>
                  <a:srgbClr val="0000FF"/>
                </a:solidFill>
                <a:latin typeface="Microsoft Sans Serif"/>
                <a:cs typeface="Microsoft Sans Serif"/>
              </a:rPr>
              <a:t>y</a:t>
            </a:r>
            <a:r>
              <a:rPr dirty="0" baseline="39930" sz="2400" spc="-615">
                <a:solidFill>
                  <a:srgbClr val="0000FF"/>
                </a:solidFill>
                <a:latin typeface="Microsoft Sans Serif"/>
                <a:cs typeface="Microsoft Sans Serif"/>
              </a:rPr>
              <a:t></a:t>
            </a:r>
            <a:r>
              <a:rPr dirty="0" baseline="39930" sz="2400" spc="457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990">
                <a:solidFill>
                  <a:srgbClr val="0000FF"/>
                </a:solidFill>
                <a:latin typeface="Microsoft Sans Serif"/>
                <a:cs typeface="Microsoft Sans Serif"/>
              </a:rPr>
              <a:t>≥</a:t>
            </a:r>
            <a:r>
              <a:rPr dirty="0" sz="2400" spc="18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0000FF"/>
                </a:solidFill>
                <a:latin typeface="Microsoft Sans Serif"/>
                <a:cs typeface="Microsoft Sans Serif"/>
              </a:rPr>
              <a:t>αp</a:t>
            </a:r>
            <a:r>
              <a:rPr dirty="0" sz="2500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dirty="0" sz="2000" b="1">
                <a:latin typeface="Malgun Gothic"/>
                <a:cs typeface="Malgun Gothic"/>
              </a:rPr>
              <a:t>(보험회사의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이윤을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포함한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경상비용)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2)</a:t>
            </a:r>
            <a:r>
              <a:rPr dirty="0" spc="295"/>
              <a:t> </a:t>
            </a:r>
            <a:r>
              <a:rPr dirty="0"/>
              <a:t>보험은</a:t>
            </a:r>
            <a:r>
              <a:rPr dirty="0" spc="295"/>
              <a:t> </a:t>
            </a:r>
            <a:r>
              <a:rPr dirty="0"/>
              <a:t>경쟁적이어야</a:t>
            </a:r>
            <a:r>
              <a:rPr dirty="0" spc="295"/>
              <a:t> </a:t>
            </a:r>
            <a:r>
              <a:rPr dirty="0" spc="-20"/>
              <a:t>하는가?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9245" marR="6350" indent="-297180">
              <a:lnSpc>
                <a:spcPct val="133400"/>
              </a:lnSpc>
              <a:spcBef>
                <a:spcPts val="100"/>
              </a:spcBef>
              <a:tabLst>
                <a:tab pos="309245" algn="l"/>
                <a:tab pos="1207135" algn="l"/>
                <a:tab pos="2105660" algn="l"/>
                <a:tab pos="3258185" algn="l"/>
                <a:tab pos="3903345" algn="l"/>
                <a:tab pos="4549140" algn="l"/>
                <a:tab pos="5193030" algn="l"/>
                <a:tab pos="5838190" algn="l"/>
                <a:tab pos="6229350" algn="l"/>
                <a:tab pos="7127875" algn="l"/>
                <a:tab pos="8027670" algn="l"/>
              </a:tabLst>
            </a:pPr>
            <a:r>
              <a:rPr dirty="0" spc="370"/>
              <a:t>-</a:t>
            </a:r>
            <a:r>
              <a:rPr dirty="0"/>
              <a:t>	</a:t>
            </a:r>
            <a:r>
              <a:rPr dirty="0" spc="-25"/>
              <a:t>교장이</a:t>
            </a:r>
            <a:r>
              <a:rPr dirty="0"/>
              <a:t>	</a:t>
            </a:r>
            <a:r>
              <a:rPr dirty="0" spc="-25"/>
              <a:t>학교의</a:t>
            </a:r>
            <a:r>
              <a:rPr dirty="0"/>
              <a:t>	</a:t>
            </a:r>
            <a:r>
              <a:rPr dirty="0" spc="-20"/>
              <a:t>모금행사</a:t>
            </a:r>
            <a:r>
              <a:rPr dirty="0"/>
              <a:t>	</a:t>
            </a:r>
            <a:r>
              <a:rPr dirty="0" spc="-25"/>
              <a:t>당일</a:t>
            </a:r>
            <a:r>
              <a:rPr dirty="0"/>
              <a:t>	</a:t>
            </a:r>
            <a:r>
              <a:rPr dirty="0" spc="-25"/>
              <a:t>비가</a:t>
            </a:r>
            <a:r>
              <a:rPr dirty="0"/>
              <a:t>	</a:t>
            </a:r>
            <a:r>
              <a:rPr dirty="0" spc="-25"/>
              <a:t>와서</a:t>
            </a:r>
            <a:r>
              <a:rPr dirty="0"/>
              <a:t>	</a:t>
            </a:r>
            <a:r>
              <a:rPr dirty="0" spc="-25"/>
              <a:t>입게</a:t>
            </a:r>
            <a:r>
              <a:rPr dirty="0"/>
              <a:t>	</a:t>
            </a:r>
            <a:r>
              <a:rPr dirty="0" spc="-50"/>
              <a:t>될</a:t>
            </a:r>
            <a:r>
              <a:rPr dirty="0"/>
              <a:t>	</a:t>
            </a:r>
            <a:r>
              <a:rPr dirty="0" spc="-25"/>
              <a:t>경제적</a:t>
            </a:r>
            <a:r>
              <a:rPr dirty="0"/>
              <a:t>	</a:t>
            </a:r>
            <a:r>
              <a:rPr dirty="0" spc="-25"/>
              <a:t>손실에</a:t>
            </a:r>
            <a:r>
              <a:rPr dirty="0"/>
              <a:t>	</a:t>
            </a:r>
            <a:r>
              <a:rPr dirty="0" spc="-25"/>
              <a:t>대비 </a:t>
            </a:r>
            <a:r>
              <a:rPr dirty="0"/>
              <a:t>해</a:t>
            </a:r>
            <a:r>
              <a:rPr dirty="0" spc="280"/>
              <a:t> </a:t>
            </a:r>
            <a:r>
              <a:rPr dirty="0"/>
              <a:t>보험을</a:t>
            </a:r>
            <a:r>
              <a:rPr dirty="0" spc="280"/>
              <a:t> </a:t>
            </a:r>
            <a:r>
              <a:rPr dirty="0"/>
              <a:t>가입하는</a:t>
            </a:r>
            <a:r>
              <a:rPr dirty="0" spc="280"/>
              <a:t> </a:t>
            </a:r>
            <a:r>
              <a:rPr dirty="0" spc="-25"/>
              <a:t>경우</a:t>
            </a:r>
          </a:p>
          <a:p>
            <a:pPr marL="269875" marR="6350" indent="-257810">
              <a:lnSpc>
                <a:spcPct val="133400"/>
              </a:lnSpc>
              <a:spcBef>
                <a:spcPts val="3190"/>
              </a:spcBef>
              <a:buFont typeface="Cambria"/>
              <a:buChar char="○"/>
              <a:tabLst>
                <a:tab pos="269875" algn="l"/>
              </a:tabLst>
            </a:pPr>
            <a:r>
              <a:rPr dirty="0"/>
              <a:t>경쟁적</a:t>
            </a:r>
            <a:r>
              <a:rPr dirty="0" spc="295"/>
              <a:t> </a:t>
            </a:r>
            <a:r>
              <a:rPr dirty="0"/>
              <a:t>민영보험시장의</a:t>
            </a:r>
            <a:r>
              <a:rPr dirty="0" spc="300"/>
              <a:t> </a:t>
            </a:r>
            <a:r>
              <a:rPr dirty="0"/>
              <a:t>성립을</a:t>
            </a:r>
            <a:r>
              <a:rPr dirty="0" spc="295"/>
              <a:t> </a:t>
            </a:r>
            <a:r>
              <a:rPr dirty="0"/>
              <a:t>위한</a:t>
            </a:r>
            <a:r>
              <a:rPr dirty="0" spc="300"/>
              <a:t> </a:t>
            </a:r>
            <a:r>
              <a:rPr dirty="0"/>
              <a:t>전제조건이</a:t>
            </a:r>
            <a:r>
              <a:rPr dirty="0" spc="295"/>
              <a:t> </a:t>
            </a:r>
            <a:r>
              <a:rPr dirty="0"/>
              <a:t>취약하거나</a:t>
            </a:r>
            <a:r>
              <a:rPr dirty="0" spc="300"/>
              <a:t> </a:t>
            </a:r>
            <a:r>
              <a:rPr dirty="0"/>
              <a:t>지켜질</a:t>
            </a:r>
            <a:r>
              <a:rPr dirty="0" spc="285"/>
              <a:t> </a:t>
            </a:r>
            <a:r>
              <a:rPr dirty="0" spc="-50"/>
              <a:t>수 </a:t>
            </a:r>
            <a:r>
              <a:rPr dirty="0"/>
              <a:t>없는</a:t>
            </a:r>
            <a:r>
              <a:rPr dirty="0" spc="275"/>
              <a:t> </a:t>
            </a:r>
            <a:r>
              <a:rPr dirty="0"/>
              <a:t>경우</a:t>
            </a:r>
            <a:r>
              <a:rPr dirty="0" spc="275"/>
              <a:t> </a:t>
            </a:r>
            <a:r>
              <a:rPr dirty="0"/>
              <a:t>민영보험은</a:t>
            </a:r>
            <a:r>
              <a:rPr dirty="0" spc="280"/>
              <a:t> </a:t>
            </a:r>
            <a:r>
              <a:rPr dirty="0"/>
              <a:t>비효율적인</a:t>
            </a:r>
            <a:r>
              <a:rPr dirty="0" spc="275"/>
              <a:t> </a:t>
            </a:r>
            <a:r>
              <a:rPr dirty="0"/>
              <a:t>결과를</a:t>
            </a:r>
            <a:r>
              <a:rPr dirty="0" spc="280"/>
              <a:t> </a:t>
            </a:r>
            <a:r>
              <a:rPr dirty="0"/>
              <a:t>초래하거나</a:t>
            </a:r>
            <a:r>
              <a:rPr dirty="0" spc="275"/>
              <a:t> </a:t>
            </a:r>
            <a:r>
              <a:rPr dirty="0"/>
              <a:t>공급이</a:t>
            </a:r>
            <a:r>
              <a:rPr dirty="0" spc="280"/>
              <a:t> </a:t>
            </a:r>
            <a:r>
              <a:rPr dirty="0" spc="-25"/>
              <a:t>불가능</a:t>
            </a:r>
          </a:p>
          <a:p>
            <a:pPr lvl="1" marL="423545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423545" algn="l"/>
              </a:tabLst>
            </a:pPr>
            <a:r>
              <a:rPr dirty="0" sz="2000" b="1">
                <a:latin typeface="Malgun Gothic"/>
                <a:cs typeface="Malgun Gothic"/>
              </a:rPr>
              <a:t>소비자가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불완전한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정보를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소유하게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장기요양보험</a:t>
            </a:r>
            <a:endParaRPr sz="2000">
              <a:latin typeface="Malgun Gothic"/>
              <a:cs typeface="Malgun Gothic"/>
            </a:endParaRPr>
          </a:p>
          <a:p>
            <a:pPr lvl="1" marL="423545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dirty="0" sz="2000" b="1">
                <a:latin typeface="Malgun Gothic"/>
                <a:cs typeface="Malgun Gothic"/>
              </a:rPr>
              <a:t>보험회사가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불완전한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정보를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소유하게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5"/>
              </a:spcBef>
            </a:pPr>
            <a:r>
              <a:rPr dirty="0" spc="75" b="0">
                <a:latin typeface="Cambria"/>
                <a:cs typeface="Cambria"/>
              </a:rPr>
              <a:t>▸</a:t>
            </a:r>
            <a:r>
              <a:rPr dirty="0" spc="75"/>
              <a:t>위험의</a:t>
            </a:r>
            <a:r>
              <a:rPr dirty="0" spc="225"/>
              <a:t> </a:t>
            </a:r>
            <a:r>
              <a:rPr dirty="0"/>
              <a:t>선별작업(cream</a:t>
            </a:r>
            <a:r>
              <a:rPr dirty="0" spc="240"/>
              <a:t> </a:t>
            </a:r>
            <a:r>
              <a:rPr dirty="0"/>
              <a:t>skimming)에</a:t>
            </a:r>
            <a:r>
              <a:rPr dirty="0" spc="240"/>
              <a:t> </a:t>
            </a:r>
            <a:r>
              <a:rPr dirty="0"/>
              <a:t>따른</a:t>
            </a:r>
            <a:r>
              <a:rPr dirty="0" spc="240"/>
              <a:t> </a:t>
            </a:r>
            <a:r>
              <a:rPr dirty="0">
                <a:solidFill>
                  <a:srgbClr val="0000FF"/>
                </a:solidFill>
              </a:rPr>
              <a:t>보장의</a:t>
            </a:r>
            <a:r>
              <a:rPr dirty="0" spc="240">
                <a:solidFill>
                  <a:srgbClr val="0000FF"/>
                </a:solidFill>
              </a:rPr>
              <a:t> </a:t>
            </a:r>
            <a:r>
              <a:rPr dirty="0" spc="-20">
                <a:solidFill>
                  <a:srgbClr val="0000FF"/>
                </a:solidFill>
              </a:rPr>
              <a:t>사각지대</a:t>
            </a:r>
          </a:p>
          <a:p>
            <a:pPr lvl="1" marL="440055" marR="5080" indent="-301625">
              <a:lnSpc>
                <a:spcPct val="125899"/>
              </a:lnSpc>
              <a:spcBef>
                <a:spcPts val="15"/>
              </a:spcBef>
              <a:buChar char="-"/>
              <a:tabLst>
                <a:tab pos="440055" algn="l"/>
                <a:tab pos="2356485" algn="l"/>
                <a:tab pos="3259454" algn="l"/>
                <a:tab pos="3909695" algn="l"/>
                <a:tab pos="4812030" algn="l"/>
                <a:tab pos="5967730" algn="l"/>
                <a:tab pos="8281670" algn="l"/>
              </a:tabLst>
            </a:pPr>
            <a:r>
              <a:rPr dirty="0" sz="2000" spc="-10" b="1">
                <a:latin typeface="Malgun Gothic"/>
                <a:cs typeface="Malgun Gothic"/>
              </a:rPr>
              <a:t>행정관리비용의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충당을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위해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별도로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부과하는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부가보험요율(</a:t>
            </a:r>
            <a:r>
              <a:rPr dirty="0" sz="2400" spc="-10">
                <a:solidFill>
                  <a:srgbClr val="0000FF"/>
                </a:solidFill>
                <a:latin typeface="Microsoft Sans Serif"/>
                <a:cs typeface="Microsoft Sans Serif"/>
              </a:rPr>
              <a:t>α</a:t>
            </a:r>
            <a:r>
              <a:rPr dirty="0" sz="2000" spc="-10" b="1">
                <a:latin typeface="Malgun Gothic"/>
                <a:cs typeface="Malgun Gothic"/>
              </a:rPr>
              <a:t>)이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50" b="1">
                <a:latin typeface="Malgun Gothic"/>
                <a:cs typeface="Malgun Gothic"/>
              </a:rPr>
              <a:t>과 </a:t>
            </a:r>
            <a:r>
              <a:rPr dirty="0" sz="2000" b="1">
                <a:latin typeface="Malgun Gothic"/>
                <a:cs typeface="Malgun Gothic"/>
              </a:rPr>
              <a:t>도하게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높아질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957948" y="5209794"/>
            <a:ext cx="1463675" cy="57785"/>
          </a:xfrm>
          <a:custGeom>
            <a:avLst/>
            <a:gdLst/>
            <a:ahLst/>
            <a:cxnLst/>
            <a:rect l="l" t="t" r="r" b="b"/>
            <a:pathLst>
              <a:path w="1463675" h="57785">
                <a:moveTo>
                  <a:pt x="0" y="57403"/>
                </a:moveTo>
                <a:lnTo>
                  <a:pt x="0" y="44703"/>
                </a:lnTo>
                <a:lnTo>
                  <a:pt x="3175" y="38226"/>
                </a:lnTo>
                <a:lnTo>
                  <a:pt x="9525" y="38226"/>
                </a:lnTo>
                <a:lnTo>
                  <a:pt x="15875" y="38226"/>
                </a:lnTo>
                <a:lnTo>
                  <a:pt x="20700" y="38226"/>
                </a:lnTo>
                <a:lnTo>
                  <a:pt x="23875" y="38226"/>
                </a:lnTo>
                <a:lnTo>
                  <a:pt x="27050" y="38226"/>
                </a:lnTo>
                <a:lnTo>
                  <a:pt x="31876" y="36702"/>
                </a:lnTo>
                <a:lnTo>
                  <a:pt x="76763" y="21494"/>
                </a:lnTo>
                <a:lnTo>
                  <a:pt x="109981" y="14350"/>
                </a:lnTo>
                <a:lnTo>
                  <a:pt x="121312" y="11969"/>
                </a:lnTo>
                <a:lnTo>
                  <a:pt x="131476" y="9588"/>
                </a:lnTo>
                <a:lnTo>
                  <a:pt x="140450" y="7207"/>
                </a:lnTo>
                <a:lnTo>
                  <a:pt x="148208" y="4825"/>
                </a:lnTo>
                <a:lnTo>
                  <a:pt x="155967" y="2732"/>
                </a:lnTo>
                <a:lnTo>
                  <a:pt x="164941" y="1222"/>
                </a:lnTo>
                <a:lnTo>
                  <a:pt x="175105" y="307"/>
                </a:lnTo>
                <a:lnTo>
                  <a:pt x="186435" y="0"/>
                </a:lnTo>
                <a:lnTo>
                  <a:pt x="199012" y="0"/>
                </a:lnTo>
                <a:lnTo>
                  <a:pt x="212756" y="0"/>
                </a:lnTo>
                <a:lnTo>
                  <a:pt x="760349" y="0"/>
                </a:lnTo>
                <a:lnTo>
                  <a:pt x="772636" y="307"/>
                </a:lnTo>
                <a:lnTo>
                  <a:pt x="785495" y="1222"/>
                </a:lnTo>
                <a:lnTo>
                  <a:pt x="798925" y="2732"/>
                </a:lnTo>
                <a:lnTo>
                  <a:pt x="812926" y="4825"/>
                </a:lnTo>
                <a:lnTo>
                  <a:pt x="827905" y="7207"/>
                </a:lnTo>
                <a:lnTo>
                  <a:pt x="844073" y="9588"/>
                </a:lnTo>
                <a:lnTo>
                  <a:pt x="897574" y="16444"/>
                </a:lnTo>
                <a:lnTo>
                  <a:pt x="932560" y="19176"/>
                </a:lnTo>
                <a:lnTo>
                  <a:pt x="940319" y="19464"/>
                </a:lnTo>
                <a:lnTo>
                  <a:pt x="949293" y="20335"/>
                </a:lnTo>
                <a:lnTo>
                  <a:pt x="959457" y="21802"/>
                </a:lnTo>
                <a:lnTo>
                  <a:pt x="970787" y="23875"/>
                </a:lnTo>
                <a:lnTo>
                  <a:pt x="982769" y="26023"/>
                </a:lnTo>
                <a:lnTo>
                  <a:pt x="994727" y="27527"/>
                </a:lnTo>
                <a:lnTo>
                  <a:pt x="1006685" y="28412"/>
                </a:lnTo>
                <a:lnTo>
                  <a:pt x="1018667" y="28701"/>
                </a:lnTo>
                <a:lnTo>
                  <a:pt x="1030287" y="29009"/>
                </a:lnTo>
                <a:lnTo>
                  <a:pt x="1041336" y="29924"/>
                </a:lnTo>
                <a:lnTo>
                  <a:pt x="1051814" y="31434"/>
                </a:lnTo>
                <a:lnTo>
                  <a:pt x="1061720" y="33527"/>
                </a:lnTo>
                <a:lnTo>
                  <a:pt x="1071246" y="35601"/>
                </a:lnTo>
                <a:lnTo>
                  <a:pt x="1080785" y="37068"/>
                </a:lnTo>
                <a:lnTo>
                  <a:pt x="1090348" y="37939"/>
                </a:lnTo>
                <a:lnTo>
                  <a:pt x="1099947" y="38226"/>
                </a:lnTo>
                <a:lnTo>
                  <a:pt x="1109781" y="38226"/>
                </a:lnTo>
                <a:lnTo>
                  <a:pt x="1120235" y="38226"/>
                </a:lnTo>
                <a:lnTo>
                  <a:pt x="1450721" y="38226"/>
                </a:lnTo>
                <a:lnTo>
                  <a:pt x="1463421" y="3822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3)</a:t>
            </a:r>
            <a:r>
              <a:rPr dirty="0" spc="300"/>
              <a:t> </a:t>
            </a:r>
            <a:r>
              <a:rPr dirty="0"/>
              <a:t>보험료의</a:t>
            </a:r>
            <a:r>
              <a:rPr dirty="0" spc="300"/>
              <a:t> </a:t>
            </a:r>
            <a:r>
              <a:rPr dirty="0"/>
              <a:t>차등화</a:t>
            </a:r>
            <a:r>
              <a:rPr dirty="0" spc="300"/>
              <a:t> </a:t>
            </a:r>
            <a:r>
              <a:rPr dirty="0" spc="-25"/>
              <a:t>방안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66636" y="1919294"/>
            <a:ext cx="7543165" cy="205740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900"/>
              </a:spcBef>
              <a:buFont typeface="Cambria"/>
              <a:buChar char="○"/>
              <a:tabLst>
                <a:tab pos="266700" algn="l"/>
              </a:tabLst>
            </a:pPr>
            <a:r>
              <a:rPr dirty="0" sz="2000" b="1">
                <a:latin typeface="Malgun Gothic"/>
                <a:cs typeface="Malgun Gothic"/>
              </a:rPr>
              <a:t>자발적으로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보험가입이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이루어지는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lvl="1" marL="423545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dirty="0" sz="2000" b="1">
                <a:latin typeface="Malgun Gothic"/>
                <a:cs typeface="Malgun Gothic"/>
              </a:rPr>
              <a:t>위험발생확률에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따라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차등적으로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보험료를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부과할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때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효율적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365"/>
              </a:spcBef>
              <a:buFont typeface="Malgun Gothic"/>
              <a:buChar char="-"/>
            </a:pPr>
            <a:endParaRPr sz="2000">
              <a:latin typeface="Malgun Gothic"/>
              <a:cs typeface="Malgun Gothic"/>
            </a:endParaRPr>
          </a:p>
          <a:p>
            <a:pPr marL="266700" indent="-254000">
              <a:lnSpc>
                <a:spcPct val="100000"/>
              </a:lnSpc>
              <a:spcBef>
                <a:spcPts val="5"/>
              </a:spcBef>
              <a:buFont typeface="Cambria"/>
              <a:buChar char="○"/>
              <a:tabLst>
                <a:tab pos="266700" algn="l"/>
              </a:tabLst>
            </a:pPr>
            <a:r>
              <a:rPr dirty="0" sz="2000" b="1">
                <a:latin typeface="Malgun Gothic"/>
                <a:cs typeface="Malgun Gothic"/>
              </a:rPr>
              <a:t>보험가입의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강제성이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적용될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lvl="1" marL="423545" indent="-285115">
              <a:lnSpc>
                <a:spcPct val="100000"/>
              </a:lnSpc>
              <a:spcBef>
                <a:spcPts val="800"/>
              </a:spcBef>
              <a:buChar char="-"/>
              <a:tabLst>
                <a:tab pos="423545" algn="l"/>
              </a:tabLst>
            </a:pPr>
            <a:r>
              <a:rPr dirty="0" sz="2000" b="1">
                <a:latin typeface="Malgun Gothic"/>
                <a:cs typeface="Malgun Gothic"/>
              </a:rPr>
              <a:t>위험이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높은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집단과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낮은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집단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위험분산이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가능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92990" y="3949686"/>
            <a:ext cx="8421370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3375" marR="5080" indent="-321310">
              <a:lnSpc>
                <a:spcPct val="133400"/>
              </a:lnSpc>
              <a:spcBef>
                <a:spcPts val="100"/>
              </a:spcBef>
              <a:tabLst>
                <a:tab pos="333375" algn="l"/>
                <a:tab pos="1510030" algn="l"/>
                <a:tab pos="3448050" algn="l"/>
                <a:tab pos="4624705" algn="l"/>
                <a:tab pos="5801995" algn="l"/>
                <a:tab pos="6724015" algn="l"/>
                <a:tab pos="7901305" algn="l"/>
              </a:tabLst>
            </a:pPr>
            <a:r>
              <a:rPr dirty="0" sz="2000" spc="370" b="1">
                <a:latin typeface="Malgun Gothic"/>
                <a:cs typeface="Malgun Gothic"/>
              </a:rPr>
              <a:t>-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평균적인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위험발생확률에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근거하여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모두에게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동일한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수준으로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보험 </a:t>
            </a:r>
            <a:r>
              <a:rPr dirty="0" sz="2000" b="1">
                <a:latin typeface="Malgun Gothic"/>
                <a:cs typeface="Malgun Gothic"/>
              </a:rPr>
              <a:t>료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부과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67590" y="4667287"/>
            <a:ext cx="6548120" cy="1515110"/>
          </a:xfrm>
          <a:prstGeom prst="rect">
            <a:avLst/>
          </a:prstGeom>
        </p:spPr>
        <p:txBody>
          <a:bodyPr wrap="square" lIns="0" tIns="234950" rIns="0" bIns="0" rtlCol="0" vert="horz">
            <a:spAutoFit/>
          </a:bodyPr>
          <a:lstStyle/>
          <a:p>
            <a:pPr marL="2254250">
              <a:lnSpc>
                <a:spcPct val="100000"/>
              </a:lnSpc>
              <a:spcBef>
                <a:spcPts val="1850"/>
              </a:spcBef>
            </a:pPr>
            <a:r>
              <a:rPr dirty="0" baseline="11574" sz="3600" spc="-1350">
                <a:solidFill>
                  <a:srgbClr val="0000FF"/>
                </a:solidFill>
                <a:latin typeface="Microsoft Sans Serif"/>
                <a:cs typeface="Microsoft Sans Serif"/>
              </a:rPr>
              <a:t></a:t>
            </a:r>
            <a:r>
              <a:rPr dirty="0" baseline="-2314" sz="3600" spc="-1350">
                <a:solidFill>
                  <a:srgbClr val="0000FF"/>
                </a:solidFill>
                <a:latin typeface="Microsoft Sans Serif"/>
                <a:cs typeface="Microsoft Sans Serif"/>
              </a:rPr>
              <a:t>v</a:t>
            </a:r>
            <a:r>
              <a:rPr dirty="0" sz="2400" spc="-900">
                <a:solidFill>
                  <a:srgbClr val="0000FF"/>
                </a:solidFill>
                <a:latin typeface="Microsoft Sans Serif"/>
                <a:cs typeface="Microsoft Sans Serif"/>
              </a:rPr>
              <a:t></a:t>
            </a:r>
            <a:r>
              <a:rPr dirty="0" sz="2400" spc="-5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0000FF"/>
                </a:solidFill>
                <a:latin typeface="Microsoft Sans Serif"/>
                <a:cs typeface="Microsoft Sans Serif"/>
              </a:rPr>
              <a:t>(</a:t>
            </a:r>
            <a:r>
              <a:rPr dirty="0" baseline="-2314" sz="3600">
                <a:solidFill>
                  <a:srgbClr val="0000FF"/>
                </a:solidFill>
                <a:latin typeface="Microsoft Sans Serif"/>
                <a:cs typeface="Microsoft Sans Serif"/>
              </a:rPr>
              <a:t>l</a:t>
            </a:r>
            <a:r>
              <a:rPr dirty="0" sz="2400">
                <a:solidFill>
                  <a:srgbClr val="0000FF"/>
                </a:solidFill>
                <a:latin typeface="Microsoft Sans Serif"/>
                <a:cs typeface="Microsoft Sans Serif"/>
              </a:rPr>
              <a:t>+</a:t>
            </a:r>
            <a:r>
              <a:rPr dirty="0" baseline="-2314" sz="3600">
                <a:solidFill>
                  <a:srgbClr val="0000FF"/>
                </a:solidFill>
                <a:latin typeface="Microsoft Sans Serif"/>
                <a:cs typeface="Microsoft Sans Serif"/>
              </a:rPr>
              <a:t>α</a:t>
            </a:r>
            <a:r>
              <a:rPr dirty="0" sz="2400">
                <a:solidFill>
                  <a:srgbClr val="0000FF"/>
                </a:solidFill>
                <a:latin typeface="Microsoft Sans Serif"/>
                <a:cs typeface="Microsoft Sans Serif"/>
              </a:rPr>
              <a:t>)</a:t>
            </a:r>
            <a:r>
              <a:rPr dirty="0" baseline="-2314" sz="3600">
                <a:solidFill>
                  <a:srgbClr val="0000FF"/>
                </a:solidFill>
                <a:latin typeface="Microsoft Sans Serif"/>
                <a:cs typeface="Microsoft Sans Serif"/>
              </a:rPr>
              <a:t>8</a:t>
            </a:r>
            <a:r>
              <a:rPr dirty="0" baseline="-2222" sz="3750" i="1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dirty="0" baseline="-22875" sz="2550" i="1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r>
              <a:rPr dirty="0" baseline="-22875" sz="2550" spc="33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spc="560">
                <a:solidFill>
                  <a:srgbClr val="0000FF"/>
                </a:solidFill>
                <a:latin typeface="Microsoft Sans Serif"/>
                <a:cs typeface="Microsoft Sans Serif"/>
              </a:rPr>
              <a:t>+(</a:t>
            </a:r>
            <a:r>
              <a:rPr dirty="0" baseline="-2314" sz="3600" spc="839">
                <a:solidFill>
                  <a:srgbClr val="0000FF"/>
                </a:solidFill>
                <a:latin typeface="Microsoft Sans Serif"/>
                <a:cs typeface="Microsoft Sans Serif"/>
              </a:rPr>
              <a:t>l</a:t>
            </a:r>
            <a:r>
              <a:rPr dirty="0" sz="2400" spc="560">
                <a:solidFill>
                  <a:srgbClr val="0000FF"/>
                </a:solidFill>
                <a:latin typeface="Microsoft Sans Serif"/>
                <a:cs typeface="Microsoft Sans Serif"/>
              </a:rPr>
              <a:t>—</a:t>
            </a:r>
            <a:r>
              <a:rPr dirty="0" sz="2400" spc="-24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dirty="0" baseline="-2314" sz="3600" spc="75">
                <a:solidFill>
                  <a:srgbClr val="0000FF"/>
                </a:solidFill>
                <a:latin typeface="Microsoft Sans Serif"/>
                <a:cs typeface="Microsoft Sans Serif"/>
              </a:rPr>
              <a:t>8</a:t>
            </a:r>
            <a:r>
              <a:rPr dirty="0" sz="2400" spc="50">
                <a:solidFill>
                  <a:srgbClr val="0000FF"/>
                </a:solidFill>
                <a:latin typeface="Microsoft Sans Serif"/>
                <a:cs typeface="Microsoft Sans Serif"/>
              </a:rPr>
              <a:t>)</a:t>
            </a:r>
            <a:r>
              <a:rPr dirty="0" baseline="-2222" sz="3750" spc="75" i="1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dirty="0" baseline="-22875" sz="2550" spc="75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dirty="0" baseline="-22875" sz="2550" spc="-12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spc="-850">
                <a:solidFill>
                  <a:srgbClr val="0000FF"/>
                </a:solidFill>
                <a:latin typeface="Microsoft Sans Serif"/>
                <a:cs typeface="Microsoft Sans Serif"/>
              </a:rPr>
              <a:t></a:t>
            </a:r>
            <a:r>
              <a:rPr dirty="0" baseline="-2222" sz="3750" spc="-1275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endParaRPr baseline="-2222" sz="37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375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1946년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영국의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spc="45" b="1">
                <a:latin typeface="Malgun Gothic"/>
                <a:cs typeface="Malgun Gothic"/>
              </a:rPr>
              <a:t>국민보험법(1948-</a:t>
            </a:r>
            <a:r>
              <a:rPr dirty="0" sz="2000" spc="-10" b="1">
                <a:latin typeface="Malgun Gothic"/>
                <a:cs typeface="Malgun Gothic"/>
              </a:rPr>
              <a:t>1975)</a:t>
            </a:r>
            <a:endParaRPr sz="2000">
              <a:latin typeface="Malgun Gothic"/>
              <a:cs typeface="Malgun Gothic"/>
            </a:endParaRPr>
          </a:p>
          <a:p>
            <a:pPr marL="292100">
              <a:lnSpc>
                <a:spcPct val="100000"/>
              </a:lnSpc>
              <a:spcBef>
                <a:spcPts val="800"/>
              </a:spcBef>
            </a:pPr>
            <a:r>
              <a:rPr dirty="0" sz="2000" spc="315">
                <a:latin typeface="Cambria"/>
                <a:cs typeface="Cambria"/>
              </a:rPr>
              <a:t>▸</a:t>
            </a:r>
            <a:r>
              <a:rPr dirty="0" sz="2000" spc="45">
                <a:latin typeface="Cambria"/>
                <a:cs typeface="Cambria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모든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경제활동연령의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남성들은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정액보험료를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납부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400805" y="4922901"/>
            <a:ext cx="3970020" cy="507365"/>
          </a:xfrm>
          <a:custGeom>
            <a:avLst/>
            <a:gdLst/>
            <a:ahLst/>
            <a:cxnLst/>
            <a:rect l="l" t="t" r="r" b="b"/>
            <a:pathLst>
              <a:path w="3970020" h="507364">
                <a:moveTo>
                  <a:pt x="0" y="487806"/>
                </a:moveTo>
                <a:lnTo>
                  <a:pt x="0" y="487806"/>
                </a:lnTo>
                <a:lnTo>
                  <a:pt x="449580" y="487806"/>
                </a:lnTo>
                <a:lnTo>
                  <a:pt x="459178" y="488094"/>
                </a:lnTo>
                <a:lnTo>
                  <a:pt x="468741" y="488965"/>
                </a:lnTo>
                <a:lnTo>
                  <a:pt x="478280" y="490432"/>
                </a:lnTo>
                <a:lnTo>
                  <a:pt x="487807" y="492506"/>
                </a:lnTo>
                <a:lnTo>
                  <a:pt x="497407" y="494653"/>
                </a:lnTo>
                <a:lnTo>
                  <a:pt x="506984" y="496157"/>
                </a:lnTo>
                <a:lnTo>
                  <a:pt x="516560" y="497042"/>
                </a:lnTo>
                <a:lnTo>
                  <a:pt x="526161" y="497331"/>
                </a:lnTo>
                <a:lnTo>
                  <a:pt x="535995" y="497331"/>
                </a:lnTo>
                <a:lnTo>
                  <a:pt x="546449" y="497331"/>
                </a:lnTo>
                <a:lnTo>
                  <a:pt x="1186180" y="497331"/>
                </a:lnTo>
                <a:lnTo>
                  <a:pt x="1199892" y="497042"/>
                </a:lnTo>
                <a:lnTo>
                  <a:pt x="1212437" y="496157"/>
                </a:lnTo>
                <a:lnTo>
                  <a:pt x="1223791" y="494653"/>
                </a:lnTo>
                <a:lnTo>
                  <a:pt x="1233932" y="492506"/>
                </a:lnTo>
                <a:lnTo>
                  <a:pt x="1243530" y="490432"/>
                </a:lnTo>
                <a:lnTo>
                  <a:pt x="1253093" y="488965"/>
                </a:lnTo>
                <a:lnTo>
                  <a:pt x="1262632" y="488094"/>
                </a:lnTo>
                <a:lnTo>
                  <a:pt x="1272159" y="487806"/>
                </a:lnTo>
                <a:lnTo>
                  <a:pt x="1282064" y="487499"/>
                </a:lnTo>
                <a:lnTo>
                  <a:pt x="1292542" y="486584"/>
                </a:lnTo>
                <a:lnTo>
                  <a:pt x="1303591" y="485074"/>
                </a:lnTo>
                <a:lnTo>
                  <a:pt x="1315212" y="482981"/>
                </a:lnTo>
                <a:lnTo>
                  <a:pt x="1326903" y="480887"/>
                </a:lnTo>
                <a:lnTo>
                  <a:pt x="1337976" y="479377"/>
                </a:lnTo>
                <a:lnTo>
                  <a:pt x="1348430" y="478462"/>
                </a:lnTo>
                <a:lnTo>
                  <a:pt x="1358265" y="478155"/>
                </a:lnTo>
                <a:lnTo>
                  <a:pt x="1367268" y="478155"/>
                </a:lnTo>
                <a:lnTo>
                  <a:pt x="1375044" y="478155"/>
                </a:lnTo>
                <a:lnTo>
                  <a:pt x="2974848" y="478155"/>
                </a:lnTo>
                <a:lnTo>
                  <a:pt x="2984392" y="478462"/>
                </a:lnTo>
                <a:lnTo>
                  <a:pt x="2993961" y="479377"/>
                </a:lnTo>
                <a:lnTo>
                  <a:pt x="3003530" y="480887"/>
                </a:lnTo>
                <a:lnTo>
                  <a:pt x="3013075" y="482981"/>
                </a:lnTo>
                <a:lnTo>
                  <a:pt x="3022619" y="485074"/>
                </a:lnTo>
                <a:lnTo>
                  <a:pt x="3032188" y="486584"/>
                </a:lnTo>
                <a:lnTo>
                  <a:pt x="3041757" y="487499"/>
                </a:lnTo>
                <a:lnTo>
                  <a:pt x="3051302" y="487806"/>
                </a:lnTo>
                <a:lnTo>
                  <a:pt x="3060902" y="488094"/>
                </a:lnTo>
                <a:lnTo>
                  <a:pt x="3070479" y="488965"/>
                </a:lnTo>
                <a:lnTo>
                  <a:pt x="3080055" y="490432"/>
                </a:lnTo>
                <a:lnTo>
                  <a:pt x="3089656" y="492506"/>
                </a:lnTo>
                <a:lnTo>
                  <a:pt x="3099182" y="494653"/>
                </a:lnTo>
                <a:lnTo>
                  <a:pt x="3108721" y="496157"/>
                </a:lnTo>
                <a:lnTo>
                  <a:pt x="3118284" y="497042"/>
                </a:lnTo>
                <a:lnTo>
                  <a:pt x="3127883" y="497331"/>
                </a:lnTo>
                <a:lnTo>
                  <a:pt x="3136832" y="497331"/>
                </a:lnTo>
                <a:lnTo>
                  <a:pt x="3144615" y="497331"/>
                </a:lnTo>
                <a:lnTo>
                  <a:pt x="3247390" y="497331"/>
                </a:lnTo>
                <a:lnTo>
                  <a:pt x="3255391" y="498982"/>
                </a:lnTo>
                <a:lnTo>
                  <a:pt x="3295269" y="506856"/>
                </a:lnTo>
                <a:lnTo>
                  <a:pt x="3306292" y="506856"/>
                </a:lnTo>
                <a:lnTo>
                  <a:pt x="3315541" y="506856"/>
                </a:lnTo>
                <a:lnTo>
                  <a:pt x="3625215" y="506856"/>
                </a:lnTo>
                <a:lnTo>
                  <a:pt x="3636313" y="506569"/>
                </a:lnTo>
                <a:lnTo>
                  <a:pt x="3650376" y="505698"/>
                </a:lnTo>
                <a:lnTo>
                  <a:pt x="3667416" y="504231"/>
                </a:lnTo>
                <a:lnTo>
                  <a:pt x="3687445" y="502157"/>
                </a:lnTo>
                <a:lnTo>
                  <a:pt x="3707471" y="500064"/>
                </a:lnTo>
                <a:lnTo>
                  <a:pt x="3724497" y="498554"/>
                </a:lnTo>
                <a:lnTo>
                  <a:pt x="3738522" y="497639"/>
                </a:lnTo>
                <a:lnTo>
                  <a:pt x="3749548" y="497331"/>
                </a:lnTo>
                <a:lnTo>
                  <a:pt x="3759148" y="497331"/>
                </a:lnTo>
                <a:lnTo>
                  <a:pt x="3768725" y="497331"/>
                </a:lnTo>
                <a:lnTo>
                  <a:pt x="3907409" y="497331"/>
                </a:lnTo>
                <a:lnTo>
                  <a:pt x="3912235" y="494156"/>
                </a:lnTo>
                <a:lnTo>
                  <a:pt x="3912235" y="487806"/>
                </a:lnTo>
              </a:path>
              <a:path w="3970020" h="507364">
                <a:moveTo>
                  <a:pt x="3921760" y="506856"/>
                </a:moveTo>
                <a:lnTo>
                  <a:pt x="3937269" y="439943"/>
                </a:lnTo>
                <a:lnTo>
                  <a:pt x="3945636" y="392175"/>
                </a:lnTo>
                <a:lnTo>
                  <a:pt x="3950462" y="345503"/>
                </a:lnTo>
                <a:lnTo>
                  <a:pt x="3955288" y="282067"/>
                </a:lnTo>
                <a:lnTo>
                  <a:pt x="3957669" y="246828"/>
                </a:lnTo>
                <a:lnTo>
                  <a:pt x="3960050" y="212756"/>
                </a:lnTo>
                <a:lnTo>
                  <a:pt x="3962431" y="179875"/>
                </a:lnTo>
                <a:lnTo>
                  <a:pt x="3964813" y="148209"/>
                </a:lnTo>
                <a:lnTo>
                  <a:pt x="3966906" y="118943"/>
                </a:lnTo>
                <a:lnTo>
                  <a:pt x="3968416" y="93249"/>
                </a:lnTo>
                <a:lnTo>
                  <a:pt x="3969331" y="71127"/>
                </a:lnTo>
                <a:lnTo>
                  <a:pt x="3969639" y="52578"/>
                </a:lnTo>
                <a:lnTo>
                  <a:pt x="3969639" y="36718"/>
                </a:lnTo>
                <a:lnTo>
                  <a:pt x="3969639" y="22669"/>
                </a:lnTo>
                <a:lnTo>
                  <a:pt x="3969639" y="10429"/>
                </a:lnTo>
                <a:lnTo>
                  <a:pt x="3969639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4)</a:t>
            </a:r>
            <a:r>
              <a:rPr dirty="0" spc="310"/>
              <a:t> </a:t>
            </a:r>
            <a:r>
              <a:rPr dirty="0"/>
              <a:t>잘못된</a:t>
            </a:r>
            <a:r>
              <a:rPr dirty="0" spc="315"/>
              <a:t> </a:t>
            </a:r>
            <a:r>
              <a:rPr dirty="0" spc="-35"/>
              <a:t>주장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3210" marR="5080" indent="-271145">
              <a:lnSpc>
                <a:spcPct val="133400"/>
              </a:lnSpc>
              <a:spcBef>
                <a:spcPts val="100"/>
              </a:spcBef>
              <a:buFont typeface="Cambria"/>
              <a:buChar char="○"/>
              <a:tabLst>
                <a:tab pos="283210" algn="l"/>
                <a:tab pos="1187450" algn="l"/>
                <a:tab pos="2091689" algn="l"/>
                <a:tab pos="3250565" algn="l"/>
                <a:tab pos="3902075" algn="l"/>
                <a:tab pos="5567045" algn="l"/>
                <a:tab pos="5964555" algn="l"/>
                <a:tab pos="6868795" algn="l"/>
                <a:tab pos="8281670" algn="l"/>
              </a:tabLst>
            </a:pPr>
            <a:r>
              <a:rPr dirty="0" spc="-25"/>
              <a:t>보험은</a:t>
            </a:r>
            <a:r>
              <a:rPr dirty="0"/>
              <a:t>	</a:t>
            </a:r>
            <a:r>
              <a:rPr dirty="0" spc="-25"/>
              <a:t>급여를</a:t>
            </a:r>
            <a:r>
              <a:rPr dirty="0"/>
              <a:t>	</a:t>
            </a:r>
            <a:r>
              <a:rPr dirty="0" spc="-20"/>
              <a:t>청구하지</a:t>
            </a:r>
            <a:r>
              <a:rPr dirty="0"/>
              <a:t>	</a:t>
            </a:r>
            <a:r>
              <a:rPr dirty="0" spc="-25"/>
              <a:t>않은</a:t>
            </a:r>
            <a:r>
              <a:rPr dirty="0"/>
              <a:t>	</a:t>
            </a:r>
            <a:r>
              <a:rPr dirty="0" spc="-10"/>
              <a:t>사람들로부터</a:t>
            </a:r>
            <a:r>
              <a:rPr dirty="0"/>
              <a:t>	</a:t>
            </a:r>
            <a:r>
              <a:rPr dirty="0" spc="-50"/>
              <a:t>그</a:t>
            </a:r>
            <a:r>
              <a:rPr dirty="0"/>
              <a:t>	</a:t>
            </a:r>
            <a:r>
              <a:rPr dirty="0" spc="-25"/>
              <a:t>반대의</a:t>
            </a:r>
            <a:r>
              <a:rPr dirty="0"/>
              <a:t>	</a:t>
            </a:r>
            <a:r>
              <a:rPr dirty="0" spc="-20"/>
              <a:t>사람들에게</a:t>
            </a:r>
            <a:r>
              <a:rPr dirty="0"/>
              <a:t>	</a:t>
            </a:r>
            <a:r>
              <a:rPr dirty="0" spc="-50"/>
              <a:t>소 </a:t>
            </a:r>
            <a:r>
              <a:rPr dirty="0"/>
              <a:t>득을</a:t>
            </a:r>
            <a:r>
              <a:rPr dirty="0" spc="270"/>
              <a:t> </a:t>
            </a:r>
            <a:r>
              <a:rPr dirty="0"/>
              <a:t>이전하는</a:t>
            </a:r>
            <a:r>
              <a:rPr dirty="0" spc="280"/>
              <a:t> </a:t>
            </a:r>
            <a:r>
              <a:rPr dirty="0"/>
              <a:t>기능을</a:t>
            </a:r>
            <a:r>
              <a:rPr dirty="0" spc="280"/>
              <a:t> </a:t>
            </a:r>
            <a:r>
              <a:rPr dirty="0"/>
              <a:t>하기</a:t>
            </a:r>
            <a:r>
              <a:rPr dirty="0" spc="280"/>
              <a:t> </a:t>
            </a:r>
            <a:r>
              <a:rPr dirty="0"/>
              <a:t>때문에</a:t>
            </a:r>
            <a:r>
              <a:rPr dirty="0" spc="280"/>
              <a:t> </a:t>
            </a:r>
            <a:r>
              <a:rPr dirty="0"/>
              <a:t>불공평한</a:t>
            </a:r>
            <a:r>
              <a:rPr dirty="0" spc="280"/>
              <a:t> </a:t>
            </a:r>
            <a:r>
              <a:rPr dirty="0" spc="-20"/>
              <a:t>제도다.</a:t>
            </a:r>
          </a:p>
          <a:p>
            <a:pPr lvl="1" marL="423545" indent="-285115">
              <a:lnSpc>
                <a:spcPct val="100000"/>
              </a:lnSpc>
              <a:spcBef>
                <a:spcPts val="790"/>
              </a:spcBef>
              <a:buChar char="-"/>
              <a:tabLst>
                <a:tab pos="423545" algn="l"/>
              </a:tabLst>
            </a:pPr>
            <a:r>
              <a:rPr dirty="0" sz="2000" b="1">
                <a:latin typeface="Malgun Gothic"/>
                <a:cs typeface="Malgun Gothic"/>
              </a:rPr>
              <a:t>보험의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핵심원리에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부족</a:t>
            </a:r>
            <a:endParaRPr sz="2000">
              <a:latin typeface="Malgun Gothic"/>
              <a:cs typeface="Malgun Gothic"/>
            </a:endParaRPr>
          </a:p>
          <a:p>
            <a:pPr marL="267970" marR="5080" indent="-255904">
              <a:lnSpc>
                <a:spcPct val="132900"/>
              </a:lnSpc>
              <a:spcBef>
                <a:spcPts val="3215"/>
              </a:spcBef>
              <a:buFont typeface="Cambria"/>
              <a:buChar char="○"/>
              <a:tabLst>
                <a:tab pos="283210" algn="l"/>
              </a:tabLst>
            </a:pPr>
            <a:r>
              <a:rPr dirty="0"/>
              <a:t>가난한</a:t>
            </a:r>
            <a:r>
              <a:rPr dirty="0" spc="290"/>
              <a:t> </a:t>
            </a:r>
            <a:r>
              <a:rPr dirty="0"/>
              <a:t>사람이</a:t>
            </a:r>
            <a:r>
              <a:rPr dirty="0" spc="305"/>
              <a:t> </a:t>
            </a:r>
            <a:r>
              <a:rPr dirty="0"/>
              <a:t>적절한</a:t>
            </a:r>
            <a:r>
              <a:rPr dirty="0" spc="305"/>
              <a:t> </a:t>
            </a:r>
            <a:r>
              <a:rPr dirty="0"/>
              <a:t>보호를</a:t>
            </a:r>
            <a:r>
              <a:rPr dirty="0" spc="300"/>
              <a:t> </a:t>
            </a:r>
            <a:r>
              <a:rPr dirty="0"/>
              <a:t>받기</a:t>
            </a:r>
            <a:r>
              <a:rPr dirty="0" spc="305"/>
              <a:t> </a:t>
            </a:r>
            <a:r>
              <a:rPr dirty="0"/>
              <a:t>위하여</a:t>
            </a:r>
            <a:r>
              <a:rPr dirty="0" spc="305"/>
              <a:t> </a:t>
            </a:r>
            <a:r>
              <a:rPr dirty="0"/>
              <a:t>보험에</a:t>
            </a:r>
            <a:r>
              <a:rPr dirty="0" spc="290"/>
              <a:t> </a:t>
            </a:r>
            <a:r>
              <a:rPr dirty="0"/>
              <a:t>가입할</a:t>
            </a:r>
            <a:r>
              <a:rPr dirty="0" spc="290"/>
              <a:t> </a:t>
            </a:r>
            <a:r>
              <a:rPr dirty="0"/>
              <a:t>만한</a:t>
            </a:r>
            <a:r>
              <a:rPr dirty="0" spc="295"/>
              <a:t> </a:t>
            </a:r>
            <a:r>
              <a:rPr dirty="0" spc="-25"/>
              <a:t>경제적 </a:t>
            </a:r>
            <a:r>
              <a:rPr dirty="0" spc="-25"/>
              <a:t>	</a:t>
            </a:r>
            <a:r>
              <a:rPr dirty="0"/>
              <a:t>여력이</a:t>
            </a:r>
            <a:r>
              <a:rPr dirty="0" spc="265"/>
              <a:t> </a:t>
            </a:r>
            <a:r>
              <a:rPr dirty="0"/>
              <a:t>없기</a:t>
            </a:r>
            <a:r>
              <a:rPr dirty="0" spc="280"/>
              <a:t> </a:t>
            </a:r>
            <a:r>
              <a:rPr dirty="0"/>
              <a:t>때문에</a:t>
            </a:r>
            <a:r>
              <a:rPr dirty="0" spc="280"/>
              <a:t> </a:t>
            </a:r>
            <a:r>
              <a:rPr dirty="0"/>
              <a:t>민영보험은</a:t>
            </a:r>
            <a:r>
              <a:rPr dirty="0" spc="280"/>
              <a:t> </a:t>
            </a:r>
            <a:r>
              <a:rPr dirty="0" spc="-10"/>
              <a:t>불공정하다.</a:t>
            </a:r>
          </a:p>
          <a:p>
            <a:pPr lvl="1" marL="436880" marR="6350" indent="-298450">
              <a:lnSpc>
                <a:spcPct val="133400"/>
              </a:lnSpc>
              <a:buChar char="-"/>
              <a:tabLst>
                <a:tab pos="436880" algn="l"/>
                <a:tab pos="1082675" algn="l"/>
                <a:tab pos="1982470" algn="l"/>
                <a:tab pos="2627630" algn="l"/>
                <a:tab pos="3527425" algn="l"/>
                <a:tab pos="4681220" algn="l"/>
                <a:tab pos="5581015" algn="l"/>
                <a:tab pos="6734809" algn="l"/>
                <a:tab pos="7380605" algn="l"/>
                <a:tab pos="8280400" algn="l"/>
              </a:tabLst>
            </a:pPr>
            <a:r>
              <a:rPr dirty="0" sz="2000" spc="-25" b="1">
                <a:latin typeface="Malgun Gothic"/>
                <a:cs typeface="Malgun Gothic"/>
              </a:rPr>
              <a:t>만약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가난한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자의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유일한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어려움이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경제적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문제라면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35" b="1">
                <a:latin typeface="Malgun Gothic"/>
                <a:cs typeface="Malgun Gothic"/>
              </a:rPr>
              <a:t>이는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시장의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50" b="1">
                <a:latin typeface="Malgun Gothic"/>
                <a:cs typeface="Malgun Gothic"/>
              </a:rPr>
              <a:t>자 </a:t>
            </a:r>
            <a:r>
              <a:rPr dirty="0" sz="2000" b="1">
                <a:latin typeface="Malgun Gothic"/>
                <a:cs typeface="Malgun Gothic"/>
              </a:rPr>
              <a:t>원배분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기능의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아니라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소득분배의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문제이다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3185">
                <a:latin typeface="Cambria"/>
                <a:cs typeface="Cambria"/>
              </a:rPr>
              <a:t>⟹</a:t>
            </a:r>
            <a:r>
              <a:rPr dirty="0" sz="2000" spc="535">
                <a:latin typeface="Cambria"/>
                <a:cs typeface="Cambria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현금이전</a:t>
            </a:r>
            <a:endParaRPr sz="2000">
              <a:latin typeface="Malgun Gothic"/>
              <a:cs typeface="Malgun Gothic"/>
            </a:endParaRPr>
          </a:p>
          <a:p>
            <a:pPr lvl="1" marL="459740" marR="6350" indent="-321310">
              <a:lnSpc>
                <a:spcPts val="3200"/>
              </a:lnSpc>
              <a:spcBef>
                <a:spcPts val="95"/>
              </a:spcBef>
              <a:buChar char="-"/>
              <a:tabLst>
                <a:tab pos="459740" algn="l"/>
                <a:tab pos="1891030" algn="l"/>
                <a:tab pos="3320415" algn="l"/>
                <a:tab pos="4751070" algn="l"/>
                <a:tab pos="5673725" algn="l"/>
                <a:tab pos="7105015" algn="l"/>
                <a:tab pos="8280400" algn="l"/>
              </a:tabLst>
            </a:pPr>
            <a:r>
              <a:rPr dirty="0" sz="2000" spc="-10" b="1">
                <a:latin typeface="Malgun Gothic"/>
                <a:cs typeface="Malgun Gothic"/>
              </a:rPr>
              <a:t>공적보험은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민영보험이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비효율성의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문제를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초래하거나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개인들이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50" b="1">
                <a:latin typeface="Malgun Gothic"/>
                <a:cs typeface="Malgun Gothic"/>
              </a:rPr>
              <a:t>불 </a:t>
            </a:r>
            <a:r>
              <a:rPr dirty="0" sz="2000" b="1">
                <a:latin typeface="Malgun Gothic"/>
                <a:cs typeface="Malgun Gothic"/>
              </a:rPr>
              <a:t>완전한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정보를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갖게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경우에만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정당성을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갖는다.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dirty="0" spc="360"/>
              <a:t> </a:t>
            </a:r>
            <a:r>
              <a:rPr dirty="0" spc="-20"/>
              <a:t>사회보험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143" rIns="0" bIns="0" rtlCol="0" vert="horz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384175" algn="l"/>
              </a:tabLst>
            </a:pPr>
            <a:r>
              <a:rPr dirty="0"/>
              <a:t>정보의</a:t>
            </a:r>
            <a:r>
              <a:rPr dirty="0" spc="275"/>
              <a:t> </a:t>
            </a:r>
            <a:r>
              <a:rPr dirty="0"/>
              <a:t>실패에</a:t>
            </a:r>
            <a:r>
              <a:rPr dirty="0" spc="280"/>
              <a:t> </a:t>
            </a:r>
            <a:r>
              <a:rPr dirty="0"/>
              <a:t>대한</a:t>
            </a:r>
            <a:r>
              <a:rPr dirty="0" spc="280"/>
              <a:t> </a:t>
            </a:r>
            <a:r>
              <a:rPr dirty="0"/>
              <a:t>대응으로서</a:t>
            </a:r>
            <a:r>
              <a:rPr dirty="0" spc="280"/>
              <a:t> </a:t>
            </a:r>
            <a:r>
              <a:rPr dirty="0" spc="-20"/>
              <a:t>사회보험</a:t>
            </a:r>
          </a:p>
          <a:p>
            <a:pPr algn="just" lvl="1" marL="299085" marR="6350" indent="-287020">
              <a:lnSpc>
                <a:spcPct val="133400"/>
              </a:lnSpc>
              <a:spcBef>
                <a:spcPts val="3190"/>
              </a:spcBef>
              <a:buChar char="-"/>
              <a:tabLst>
                <a:tab pos="1386840" algn="l"/>
              </a:tabLst>
            </a:pPr>
            <a:r>
              <a:rPr dirty="0" sz="2000" b="1">
                <a:latin typeface="Malgun Gothic"/>
                <a:cs typeface="Malgun Gothic"/>
              </a:rPr>
              <a:t>Hayek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간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정보의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차이는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마치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생산기술에서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개인별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차이와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spc="-50" b="1">
                <a:latin typeface="Malgun Gothic"/>
                <a:cs typeface="Malgun Gothic"/>
              </a:rPr>
              <a:t>같 </a:t>
            </a:r>
            <a:r>
              <a:rPr dirty="0" sz="2000" spc="-5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spc="4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시장기구에</a:t>
            </a:r>
            <a:r>
              <a:rPr dirty="0" sz="2000" spc="4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의한</a:t>
            </a:r>
            <a:r>
              <a:rPr dirty="0" sz="2000" spc="4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거래를</a:t>
            </a:r>
            <a:r>
              <a:rPr dirty="0" sz="2000" spc="4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통하여</a:t>
            </a:r>
            <a:r>
              <a:rPr dirty="0" sz="2000" spc="4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상호보완적</a:t>
            </a:r>
            <a:r>
              <a:rPr dirty="0" sz="2000" spc="4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기능을</a:t>
            </a:r>
            <a:r>
              <a:rPr dirty="0" sz="2000" spc="47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수행 </a:t>
            </a:r>
            <a:r>
              <a:rPr dirty="0" sz="2000" spc="-25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하고,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긍정적인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결과를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초래한다.</a:t>
            </a:r>
            <a:endParaRPr sz="2000">
              <a:latin typeface="Malgun Gothic"/>
              <a:cs typeface="Malgun Gothic"/>
            </a:endParaRPr>
          </a:p>
          <a:p>
            <a:pPr algn="just" lvl="1" marL="309245" marR="6350" indent="-297180">
              <a:lnSpc>
                <a:spcPct val="133400"/>
              </a:lnSpc>
              <a:spcBef>
                <a:spcPts val="3195"/>
              </a:spcBef>
              <a:buChar char="-"/>
              <a:tabLst>
                <a:tab pos="1438910" algn="l"/>
              </a:tabLst>
            </a:pPr>
            <a:r>
              <a:rPr dirty="0" sz="2000" b="1">
                <a:latin typeface="Malgun Gothic"/>
                <a:cs typeface="Malgun Gothic"/>
              </a:rPr>
              <a:t>Arrow</a:t>
            </a:r>
            <a:r>
              <a:rPr dirty="0" sz="2000" spc="400" b="1">
                <a:latin typeface="Malgun Gothic"/>
                <a:cs typeface="Malgun Gothic"/>
              </a:rPr>
              <a:t> </a:t>
            </a:r>
            <a:r>
              <a:rPr dirty="0" sz="2000" spc="135" b="1">
                <a:latin typeface="Malgun Gothic"/>
                <a:cs typeface="Malgun Gothic"/>
              </a:rPr>
              <a:t>:</a:t>
            </a:r>
            <a:r>
              <a:rPr dirty="0" sz="2000" spc="3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시장은</a:t>
            </a:r>
            <a:r>
              <a:rPr dirty="0" sz="2000" spc="4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개인들</a:t>
            </a:r>
            <a:r>
              <a:rPr dirty="0" sz="2000" spc="4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상호</a:t>
            </a:r>
            <a:r>
              <a:rPr dirty="0" sz="2000" spc="3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간</a:t>
            </a:r>
            <a:r>
              <a:rPr dirty="0" sz="2000" spc="4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중요한</a:t>
            </a:r>
            <a:r>
              <a:rPr dirty="0" sz="2000" spc="4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정보의</a:t>
            </a:r>
            <a:r>
              <a:rPr dirty="0" sz="2000" spc="40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차이를</a:t>
            </a:r>
            <a:r>
              <a:rPr dirty="0" sz="2000" spc="4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조절해</a:t>
            </a:r>
            <a:r>
              <a:rPr dirty="0" sz="2000" spc="3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줄</a:t>
            </a:r>
            <a:r>
              <a:rPr dirty="0" sz="2000" spc="400" b="1">
                <a:latin typeface="Malgun Gothic"/>
                <a:cs typeface="Malgun Gothic"/>
              </a:rPr>
              <a:t> </a:t>
            </a:r>
            <a:r>
              <a:rPr dirty="0" sz="2000" spc="-50" b="1">
                <a:latin typeface="Malgun Gothic"/>
                <a:cs typeface="Malgun Gothic"/>
              </a:rPr>
              <a:t>수 </a:t>
            </a:r>
            <a:r>
              <a:rPr dirty="0" sz="2000" spc="-5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없는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비효율적인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기구이다.</a:t>
            </a:r>
            <a:endParaRPr sz="2000">
              <a:latin typeface="Malgun Gothic"/>
              <a:cs typeface="Malgun Gothic"/>
            </a:endParaRPr>
          </a:p>
          <a:p>
            <a:pPr lvl="1" marL="328930" marR="5080" indent="-316865">
              <a:lnSpc>
                <a:spcPct val="133400"/>
              </a:lnSpc>
              <a:spcBef>
                <a:spcPts val="3190"/>
              </a:spcBef>
              <a:buChar char="-"/>
              <a:tabLst>
                <a:tab pos="328930" algn="l"/>
                <a:tab pos="1501140" algn="l"/>
                <a:tab pos="2419350" algn="l"/>
                <a:tab pos="3338829" algn="l"/>
                <a:tab pos="4256405" algn="l"/>
                <a:tab pos="5175885" algn="l"/>
                <a:tab pos="5840095" algn="l"/>
                <a:tab pos="7266305" algn="l"/>
              </a:tabLst>
            </a:pPr>
            <a:r>
              <a:rPr dirty="0" sz="2000" spc="-20" b="1">
                <a:latin typeface="Malgun Gothic"/>
                <a:cs typeface="Malgun Gothic"/>
              </a:rPr>
              <a:t>개인별로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소유한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정보를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토대로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경쟁을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하는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시장제도는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위험분산의 </a:t>
            </a:r>
            <a:r>
              <a:rPr dirty="0" sz="2000" b="1">
                <a:latin typeface="Malgun Gothic"/>
                <a:cs typeface="Malgun Gothic"/>
              </a:rPr>
              <a:t>기능을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제대로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없기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때문에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사회보험의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필요성이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제기된다.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6636" y="1208885"/>
            <a:ext cx="8549005" cy="2767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</a:tabLst>
            </a:pPr>
            <a:r>
              <a:rPr dirty="0" sz="2000" b="1">
                <a:latin typeface="Malgun Gothic"/>
                <a:cs typeface="Malgun Gothic"/>
              </a:rPr>
              <a:t>사회보험의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필요성</a:t>
            </a:r>
            <a:endParaRPr sz="2000">
              <a:latin typeface="Malgun Gothic"/>
              <a:cs typeface="Malgun Gothic"/>
            </a:endParaRPr>
          </a:p>
          <a:p>
            <a:pPr lvl="1" marL="440055" marR="5080" indent="-301625">
              <a:lnSpc>
                <a:spcPct val="133400"/>
              </a:lnSpc>
              <a:spcBef>
                <a:spcPts val="3190"/>
              </a:spcBef>
              <a:buChar char="-"/>
              <a:tabLst>
                <a:tab pos="440055" algn="l"/>
                <a:tab pos="1343025" algn="l"/>
                <a:tab pos="2245360" algn="l"/>
                <a:tab pos="3655060" algn="l"/>
                <a:tab pos="5064760" algn="l"/>
                <a:tab pos="5967730" algn="l"/>
                <a:tab pos="6617970" algn="l"/>
                <a:tab pos="7773034" algn="l"/>
              </a:tabLst>
            </a:pPr>
            <a:r>
              <a:rPr dirty="0" sz="2000" spc="-25" b="1">
                <a:latin typeface="Malgun Gothic"/>
                <a:cs typeface="Malgun Gothic"/>
              </a:rPr>
              <a:t>취업과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실업의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선택문제는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사회구조적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요인에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의해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발생하는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사회적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산물</a:t>
            </a:r>
            <a:r>
              <a:rPr dirty="0" sz="2000" b="1">
                <a:latin typeface="Malgun Gothic"/>
                <a:cs typeface="Malgun Gothic"/>
              </a:rPr>
              <a:t>이기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때문에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사회보험이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바람직한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정책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대안</a:t>
            </a:r>
            <a:endParaRPr sz="2000">
              <a:latin typeface="Malgun Gothic"/>
              <a:cs typeface="Malgun Gothic"/>
            </a:endParaRPr>
          </a:p>
          <a:p>
            <a:pPr lvl="1" marL="459740" marR="6350" indent="-321310">
              <a:lnSpc>
                <a:spcPct val="133400"/>
              </a:lnSpc>
              <a:spcBef>
                <a:spcPts val="3195"/>
              </a:spcBef>
              <a:buChar char="-"/>
              <a:tabLst>
                <a:tab pos="459740" algn="l"/>
                <a:tab pos="2143760" algn="l"/>
                <a:tab pos="3066415" algn="l"/>
                <a:tab pos="4497070" algn="l"/>
                <a:tab pos="5928360" algn="l"/>
                <a:tab pos="6596380" algn="l"/>
                <a:tab pos="8027670" algn="l"/>
              </a:tabLst>
            </a:pPr>
            <a:r>
              <a:rPr dirty="0" sz="2000" spc="-10" b="1">
                <a:latin typeface="Malgun Gothic"/>
                <a:cs typeface="Malgun Gothic"/>
              </a:rPr>
              <a:t>공급측면에서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solidFill>
                  <a:srgbClr val="0000FF"/>
                </a:solidFill>
                <a:latin typeface="Malgun Gothic"/>
                <a:cs typeface="Malgun Gothic"/>
              </a:rPr>
              <a:t>정보의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실패문제</a:t>
            </a:r>
            <a:r>
              <a:rPr dirty="0" sz="2000" spc="-10" b="1">
                <a:latin typeface="Malgun Gothic"/>
                <a:cs typeface="Malgun Gothic"/>
              </a:rPr>
              <a:t>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사회보험을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통한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국가개입의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정당 </a:t>
            </a:r>
            <a:r>
              <a:rPr dirty="0" sz="2000" b="1">
                <a:latin typeface="Malgun Gothic"/>
                <a:cs typeface="Malgun Gothic"/>
              </a:rPr>
              <a:t>성을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이론적으로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뒷받침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920606" y="2235073"/>
            <a:ext cx="679450" cy="133985"/>
          </a:xfrm>
          <a:custGeom>
            <a:avLst/>
            <a:gdLst/>
            <a:ahLst/>
            <a:cxnLst/>
            <a:rect l="l" t="t" r="r" b="b"/>
            <a:pathLst>
              <a:path w="679450" h="133985">
                <a:moveTo>
                  <a:pt x="0" y="133857"/>
                </a:moveTo>
                <a:lnTo>
                  <a:pt x="28701" y="105155"/>
                </a:lnTo>
                <a:lnTo>
                  <a:pt x="43606" y="100085"/>
                </a:lnTo>
                <a:lnTo>
                  <a:pt x="59737" y="94408"/>
                </a:lnTo>
                <a:lnTo>
                  <a:pt x="77083" y="88136"/>
                </a:lnTo>
                <a:lnTo>
                  <a:pt x="95631" y="81279"/>
                </a:lnTo>
                <a:lnTo>
                  <a:pt x="114161" y="74423"/>
                </a:lnTo>
                <a:lnTo>
                  <a:pt x="131476" y="68151"/>
                </a:lnTo>
                <a:lnTo>
                  <a:pt x="177518" y="52568"/>
                </a:lnTo>
                <a:lnTo>
                  <a:pt x="229489" y="38226"/>
                </a:lnTo>
                <a:lnTo>
                  <a:pt x="268985" y="29860"/>
                </a:lnTo>
                <a:lnTo>
                  <a:pt x="310769" y="23875"/>
                </a:lnTo>
                <a:lnTo>
                  <a:pt x="332603" y="21187"/>
                </a:lnTo>
                <a:lnTo>
                  <a:pt x="355044" y="17891"/>
                </a:lnTo>
                <a:lnTo>
                  <a:pt x="378080" y="13999"/>
                </a:lnTo>
                <a:lnTo>
                  <a:pt x="401700" y="9525"/>
                </a:lnTo>
                <a:lnTo>
                  <a:pt x="423515" y="5357"/>
                </a:lnTo>
                <a:lnTo>
                  <a:pt x="441150" y="2381"/>
                </a:lnTo>
                <a:lnTo>
                  <a:pt x="454618" y="595"/>
                </a:lnTo>
                <a:lnTo>
                  <a:pt x="463931" y="0"/>
                </a:lnTo>
                <a:lnTo>
                  <a:pt x="473456" y="0"/>
                </a:lnTo>
                <a:lnTo>
                  <a:pt x="481457" y="0"/>
                </a:lnTo>
                <a:lnTo>
                  <a:pt x="583438" y="0"/>
                </a:lnTo>
                <a:lnTo>
                  <a:pt x="588815" y="287"/>
                </a:lnTo>
                <a:lnTo>
                  <a:pt x="628872" y="10683"/>
                </a:lnTo>
                <a:lnTo>
                  <a:pt x="647192" y="25526"/>
                </a:lnTo>
                <a:lnTo>
                  <a:pt x="652018" y="28701"/>
                </a:lnTo>
                <a:lnTo>
                  <a:pt x="672719" y="28701"/>
                </a:lnTo>
                <a:lnTo>
                  <a:pt x="679069" y="28701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93596" y="2684652"/>
            <a:ext cx="440055" cy="29209"/>
          </a:xfrm>
          <a:custGeom>
            <a:avLst/>
            <a:gdLst/>
            <a:ahLst/>
            <a:cxnLst/>
            <a:rect l="l" t="t" r="r" b="b"/>
            <a:pathLst>
              <a:path w="440055" h="29210">
                <a:moveTo>
                  <a:pt x="0" y="0"/>
                </a:moveTo>
                <a:lnTo>
                  <a:pt x="0" y="0"/>
                </a:lnTo>
                <a:lnTo>
                  <a:pt x="36703" y="0"/>
                </a:lnTo>
                <a:lnTo>
                  <a:pt x="43053" y="1524"/>
                </a:lnTo>
                <a:lnTo>
                  <a:pt x="90263" y="11896"/>
                </a:lnTo>
                <a:lnTo>
                  <a:pt x="129414" y="16424"/>
                </a:lnTo>
                <a:lnTo>
                  <a:pt x="162686" y="19050"/>
                </a:lnTo>
                <a:lnTo>
                  <a:pt x="169237" y="19357"/>
                </a:lnTo>
                <a:lnTo>
                  <a:pt x="179371" y="20272"/>
                </a:lnTo>
                <a:lnTo>
                  <a:pt x="193101" y="21782"/>
                </a:lnTo>
                <a:lnTo>
                  <a:pt x="210439" y="23875"/>
                </a:lnTo>
                <a:lnTo>
                  <a:pt x="229276" y="25969"/>
                </a:lnTo>
                <a:lnTo>
                  <a:pt x="247507" y="27479"/>
                </a:lnTo>
                <a:lnTo>
                  <a:pt x="265142" y="28394"/>
                </a:lnTo>
                <a:lnTo>
                  <a:pt x="282193" y="28701"/>
                </a:lnTo>
                <a:lnTo>
                  <a:pt x="298956" y="28701"/>
                </a:lnTo>
                <a:lnTo>
                  <a:pt x="315706" y="28701"/>
                </a:lnTo>
                <a:lnTo>
                  <a:pt x="434387" y="28701"/>
                </a:lnTo>
                <a:lnTo>
                  <a:pt x="440054" y="28701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382264" y="3526282"/>
            <a:ext cx="1501775" cy="48260"/>
          </a:xfrm>
          <a:custGeom>
            <a:avLst/>
            <a:gdLst/>
            <a:ahLst/>
            <a:cxnLst/>
            <a:rect l="l" t="t" r="r" b="b"/>
            <a:pathLst>
              <a:path w="1501775" h="48260">
                <a:moveTo>
                  <a:pt x="0" y="9651"/>
                </a:moveTo>
                <a:lnTo>
                  <a:pt x="0" y="9651"/>
                </a:lnTo>
                <a:lnTo>
                  <a:pt x="334899" y="9651"/>
                </a:lnTo>
                <a:lnTo>
                  <a:pt x="380908" y="9344"/>
                </a:lnTo>
                <a:lnTo>
                  <a:pt x="423322" y="8429"/>
                </a:lnTo>
                <a:lnTo>
                  <a:pt x="462164" y="6919"/>
                </a:lnTo>
                <a:lnTo>
                  <a:pt x="497459" y="4825"/>
                </a:lnTo>
                <a:lnTo>
                  <a:pt x="530008" y="2732"/>
                </a:lnTo>
                <a:lnTo>
                  <a:pt x="560784" y="1222"/>
                </a:lnTo>
                <a:lnTo>
                  <a:pt x="589774" y="307"/>
                </a:lnTo>
                <a:lnTo>
                  <a:pt x="616965" y="0"/>
                </a:lnTo>
                <a:lnTo>
                  <a:pt x="642425" y="0"/>
                </a:lnTo>
                <a:lnTo>
                  <a:pt x="666051" y="0"/>
                </a:lnTo>
                <a:lnTo>
                  <a:pt x="1028319" y="0"/>
                </a:lnTo>
                <a:lnTo>
                  <a:pt x="1045370" y="1210"/>
                </a:lnTo>
                <a:lnTo>
                  <a:pt x="1063005" y="4825"/>
                </a:lnTo>
                <a:lnTo>
                  <a:pt x="1081236" y="10822"/>
                </a:lnTo>
                <a:lnTo>
                  <a:pt x="1100074" y="19176"/>
                </a:lnTo>
                <a:lnTo>
                  <a:pt x="1118604" y="27584"/>
                </a:lnTo>
                <a:lnTo>
                  <a:pt x="1135919" y="33575"/>
                </a:lnTo>
                <a:lnTo>
                  <a:pt x="1152044" y="37161"/>
                </a:lnTo>
                <a:lnTo>
                  <a:pt x="1167002" y="38353"/>
                </a:lnTo>
                <a:lnTo>
                  <a:pt x="1181961" y="38641"/>
                </a:lnTo>
                <a:lnTo>
                  <a:pt x="1198086" y="39512"/>
                </a:lnTo>
                <a:lnTo>
                  <a:pt x="1215401" y="40979"/>
                </a:lnTo>
                <a:lnTo>
                  <a:pt x="1233932" y="43052"/>
                </a:lnTo>
                <a:lnTo>
                  <a:pt x="1252481" y="45146"/>
                </a:lnTo>
                <a:lnTo>
                  <a:pt x="1269841" y="46656"/>
                </a:lnTo>
                <a:lnTo>
                  <a:pt x="1286009" y="47571"/>
                </a:lnTo>
                <a:lnTo>
                  <a:pt x="1300988" y="47878"/>
                </a:lnTo>
                <a:lnTo>
                  <a:pt x="1315892" y="47878"/>
                </a:lnTo>
                <a:lnTo>
                  <a:pt x="1332023" y="47878"/>
                </a:lnTo>
                <a:lnTo>
                  <a:pt x="1495425" y="47878"/>
                </a:lnTo>
                <a:lnTo>
                  <a:pt x="1501775" y="4787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2)</a:t>
            </a:r>
            <a:r>
              <a:rPr dirty="0" spc="295"/>
              <a:t> </a:t>
            </a:r>
            <a:r>
              <a:rPr dirty="0"/>
              <a:t>사회보험의</a:t>
            </a:r>
            <a:r>
              <a:rPr dirty="0" spc="295"/>
              <a:t> </a:t>
            </a:r>
            <a:r>
              <a:rPr dirty="0"/>
              <a:t>기본적</a:t>
            </a:r>
            <a:r>
              <a:rPr dirty="0" spc="295"/>
              <a:t> </a:t>
            </a:r>
            <a:r>
              <a:rPr dirty="0" spc="-25"/>
              <a:t>특징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3210" marR="5080" indent="-271145">
              <a:lnSpc>
                <a:spcPct val="133400"/>
              </a:lnSpc>
              <a:spcBef>
                <a:spcPts val="100"/>
              </a:spcBef>
              <a:buFont typeface="Cambria"/>
              <a:buChar char="○"/>
              <a:tabLst>
                <a:tab pos="283210" algn="l"/>
                <a:tab pos="1187450" algn="l"/>
                <a:tab pos="2346325" algn="l"/>
                <a:tab pos="3757295" algn="l"/>
                <a:tab pos="4915535" algn="l"/>
                <a:tab pos="5313045" algn="l"/>
                <a:tab pos="5964555" algn="l"/>
                <a:tab pos="6868795" algn="l"/>
                <a:tab pos="8281670" algn="l"/>
              </a:tabLst>
            </a:pPr>
            <a:r>
              <a:rPr dirty="0" spc="-25"/>
              <a:t>가입의</a:t>
            </a:r>
            <a:r>
              <a:rPr dirty="0"/>
              <a:t>	</a:t>
            </a:r>
            <a:r>
              <a:rPr dirty="0" spc="-20"/>
              <a:t>강제성은</a:t>
            </a:r>
            <a:r>
              <a:rPr dirty="0"/>
              <a:t>	</a:t>
            </a:r>
            <a:r>
              <a:rPr dirty="0" spc="-10"/>
              <a:t>사회문제의</a:t>
            </a:r>
            <a:r>
              <a:rPr dirty="0"/>
              <a:t>	</a:t>
            </a:r>
            <a:r>
              <a:rPr dirty="0" spc="-20"/>
              <a:t>해결에서</a:t>
            </a:r>
            <a:r>
              <a:rPr dirty="0"/>
              <a:t>	</a:t>
            </a:r>
            <a:r>
              <a:rPr dirty="0" spc="-50"/>
              <a:t>세</a:t>
            </a:r>
            <a:r>
              <a:rPr dirty="0"/>
              <a:t>	</a:t>
            </a:r>
            <a:r>
              <a:rPr dirty="0" spc="-25"/>
              <a:t>가지</a:t>
            </a:r>
            <a:r>
              <a:rPr dirty="0"/>
              <a:t>	</a:t>
            </a:r>
            <a:r>
              <a:rPr dirty="0" spc="-25"/>
              <a:t>제도적</a:t>
            </a:r>
            <a:r>
              <a:rPr dirty="0"/>
              <a:t>	</a:t>
            </a:r>
            <a:r>
              <a:rPr dirty="0" spc="-20"/>
              <a:t>대처방안을</a:t>
            </a:r>
            <a:r>
              <a:rPr dirty="0"/>
              <a:t>	</a:t>
            </a:r>
            <a:r>
              <a:rPr dirty="0" spc="-50"/>
              <a:t>제 </a:t>
            </a:r>
            <a:r>
              <a:rPr dirty="0"/>
              <a:t>시할</a:t>
            </a:r>
            <a:r>
              <a:rPr dirty="0" spc="280"/>
              <a:t> </a:t>
            </a:r>
            <a:r>
              <a:rPr dirty="0"/>
              <a:t>수</a:t>
            </a:r>
            <a:r>
              <a:rPr dirty="0" spc="285"/>
              <a:t> </a:t>
            </a:r>
            <a:r>
              <a:rPr dirty="0" spc="-25"/>
              <a:t>있다.</a:t>
            </a:r>
          </a:p>
          <a:p>
            <a:pPr>
              <a:lnSpc>
                <a:spcPct val="100000"/>
              </a:lnSpc>
              <a:spcBef>
                <a:spcPts val="365"/>
              </a:spcBef>
              <a:buFont typeface="Cambria"/>
              <a:buChar char="○"/>
            </a:pPr>
          </a:p>
          <a:p>
            <a:pPr algn="ctr" lvl="1" marL="418465" indent="-294005">
              <a:lnSpc>
                <a:spcPct val="100000"/>
              </a:lnSpc>
              <a:buChar char="-"/>
              <a:tabLst>
                <a:tab pos="418465" algn="l"/>
                <a:tab pos="2365375" algn="l"/>
                <a:tab pos="3983354" algn="l"/>
                <a:tab pos="5740400" algn="l"/>
                <a:tab pos="6635750" algn="l"/>
                <a:tab pos="8037830" algn="l"/>
              </a:tabLst>
            </a:pPr>
            <a:r>
              <a:rPr dirty="0" sz="2000" spc="-10" b="1">
                <a:latin typeface="Malgun Gothic"/>
                <a:cs typeface="Malgun Gothic"/>
              </a:rPr>
              <a:t>사회보험(social</a:t>
            </a:r>
            <a:r>
              <a:rPr dirty="0" sz="2000" b="1">
                <a:latin typeface="Malgun Gothic"/>
                <a:cs typeface="Malgun Gothic"/>
              </a:rPr>
              <a:t>	insurance)</a:t>
            </a:r>
            <a:r>
              <a:rPr dirty="0" sz="2000" spc="465" b="1">
                <a:latin typeface="Malgun Gothic"/>
                <a:cs typeface="Malgun Gothic"/>
              </a:rPr>
              <a:t> </a:t>
            </a:r>
            <a:r>
              <a:rPr dirty="0" sz="2000" spc="85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95" b="1">
                <a:latin typeface="Malgun Gothic"/>
                <a:cs typeface="Malgun Gothic"/>
              </a:rPr>
              <a:t>1948-</a:t>
            </a:r>
            <a:r>
              <a:rPr dirty="0" sz="2000" spc="-10" b="1">
                <a:latin typeface="Malgun Gothic"/>
                <a:cs typeface="Malgun Gothic"/>
              </a:rPr>
              <a:t>1975년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영국의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정액보험료</a:t>
            </a:r>
            <a:r>
              <a:rPr dirty="0" sz="2000" b="1">
                <a:latin typeface="Malgun Gothic"/>
                <a:cs typeface="Malgun Gothic"/>
              </a:rPr>
              <a:t>	/</a:t>
            </a:r>
            <a:r>
              <a:rPr dirty="0" sz="2000" spc="204" b="1">
                <a:latin typeface="Malgun Gothic"/>
                <a:cs typeface="Malgun Gothic"/>
              </a:rPr>
              <a:t> </a:t>
            </a:r>
            <a:r>
              <a:rPr dirty="0" sz="2000" spc="-50" b="1">
                <a:latin typeface="Malgun Gothic"/>
                <a:cs typeface="Malgun Gothic"/>
              </a:rPr>
              <a:t>소</a:t>
            </a:r>
            <a:endParaRPr sz="2000">
              <a:latin typeface="Malgun Gothic"/>
              <a:cs typeface="Malgun Gothic"/>
            </a:endParaRPr>
          </a:p>
          <a:p>
            <a:pPr marL="3997960">
              <a:lnSpc>
                <a:spcPct val="100000"/>
              </a:lnSpc>
              <a:spcBef>
                <a:spcPts val="800"/>
              </a:spcBef>
            </a:pPr>
            <a:r>
              <a:rPr dirty="0"/>
              <a:t>득비례</a:t>
            </a:r>
            <a:r>
              <a:rPr dirty="0" spc="275"/>
              <a:t> </a:t>
            </a:r>
            <a:r>
              <a:rPr dirty="0" spc="-25"/>
              <a:t>보험료</a:t>
            </a:r>
          </a:p>
          <a:p>
            <a:pPr>
              <a:lnSpc>
                <a:spcPct val="100000"/>
              </a:lnSpc>
              <a:spcBef>
                <a:spcPts val="365"/>
              </a:spcBef>
            </a:pPr>
          </a:p>
          <a:p>
            <a:pPr algn="ctr" lvl="1" marL="430530" indent="-304800">
              <a:lnSpc>
                <a:spcPct val="100000"/>
              </a:lnSpc>
              <a:buChar char="-"/>
              <a:tabLst>
                <a:tab pos="430530" algn="l"/>
                <a:tab pos="1337945" algn="l"/>
                <a:tab pos="3195320" algn="l"/>
                <a:tab pos="4408170" algn="l"/>
                <a:tab pos="4638040" algn="l"/>
                <a:tab pos="5545455" algn="l"/>
                <a:tab pos="6273165" algn="l"/>
                <a:tab pos="7507605" algn="l"/>
              </a:tabLst>
            </a:pPr>
            <a:r>
              <a:rPr dirty="0" sz="2000" spc="-25" b="1">
                <a:latin typeface="Malgun Gothic"/>
                <a:cs typeface="Malgun Gothic"/>
              </a:rPr>
              <a:t>보편적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급여(universal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benefits)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85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조세를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재원,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기초연금,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0" b="1">
                <a:latin typeface="Malgun Gothic"/>
                <a:cs typeface="Malgun Gothic"/>
              </a:rPr>
              <a:t>무상의료</a:t>
            </a:r>
            <a:endParaRPr sz="2000">
              <a:latin typeface="Malgun Gothic"/>
              <a:cs typeface="Malgun Gothic"/>
            </a:endParaRPr>
          </a:p>
          <a:p>
            <a:pPr algn="ctr" marL="1768475">
              <a:lnSpc>
                <a:spcPct val="100000"/>
              </a:lnSpc>
              <a:spcBef>
                <a:spcPts val="805"/>
              </a:spcBef>
            </a:pPr>
            <a:r>
              <a:rPr dirty="0" spc="-20"/>
              <a:t>보장제도</a:t>
            </a:r>
          </a:p>
          <a:p>
            <a:pPr>
              <a:lnSpc>
                <a:spcPct val="100000"/>
              </a:lnSpc>
              <a:spcBef>
                <a:spcPts val="365"/>
              </a:spcBef>
            </a:pPr>
          </a:p>
          <a:p>
            <a:pPr algn="ctr" lvl="1" marL="424180" indent="-299720">
              <a:lnSpc>
                <a:spcPct val="100000"/>
              </a:lnSpc>
              <a:buChar char="-"/>
              <a:tabLst>
                <a:tab pos="424180" algn="l"/>
                <a:tab pos="2377440" algn="l"/>
                <a:tab pos="3877310" algn="l"/>
                <a:tab pos="4102100" algn="l"/>
                <a:tab pos="5003800" algn="l"/>
                <a:tab pos="6603365" algn="l"/>
                <a:tab pos="8013065" algn="l"/>
              </a:tabLst>
            </a:pPr>
            <a:r>
              <a:rPr dirty="0" sz="2000" spc="-10" b="1">
                <a:latin typeface="Malgun Gothic"/>
                <a:cs typeface="Malgun Gothic"/>
              </a:rPr>
              <a:t>사회부조(social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assistance)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85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특정한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상황(빈곤)과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0" b="1">
                <a:latin typeface="Malgun Gothic"/>
                <a:cs typeface="Malgun Gothic"/>
              </a:rPr>
              <a:t>소득조사에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25" b="1">
                <a:latin typeface="Malgun Gothic"/>
                <a:cs typeface="Malgun Gothic"/>
              </a:rPr>
              <a:t>기초</a:t>
            </a:r>
            <a:endParaRPr sz="2000">
              <a:latin typeface="Malgun Gothic"/>
              <a:cs typeface="Malgun Gothic"/>
            </a:endParaRPr>
          </a:p>
          <a:p>
            <a:pPr marL="4116704">
              <a:lnSpc>
                <a:spcPct val="100000"/>
              </a:lnSpc>
              <a:spcBef>
                <a:spcPts val="800"/>
              </a:spcBef>
            </a:pPr>
            <a:r>
              <a:rPr dirty="0"/>
              <a:t>하여</a:t>
            </a:r>
            <a:r>
              <a:rPr dirty="0" spc="290"/>
              <a:t> </a:t>
            </a:r>
            <a:r>
              <a:rPr dirty="0" spc="-25"/>
              <a:t>제공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421511" y="2302001"/>
            <a:ext cx="1377950" cy="48260"/>
          </a:xfrm>
          <a:custGeom>
            <a:avLst/>
            <a:gdLst/>
            <a:ahLst/>
            <a:cxnLst/>
            <a:rect l="l" t="t" r="r" b="b"/>
            <a:pathLst>
              <a:path w="1377950" h="48260">
                <a:moveTo>
                  <a:pt x="0" y="0"/>
                </a:moveTo>
                <a:lnTo>
                  <a:pt x="25691" y="8641"/>
                </a:lnTo>
                <a:lnTo>
                  <a:pt x="45418" y="15509"/>
                </a:lnTo>
                <a:lnTo>
                  <a:pt x="59168" y="20591"/>
                </a:lnTo>
                <a:lnTo>
                  <a:pt x="66928" y="23875"/>
                </a:lnTo>
                <a:lnTo>
                  <a:pt x="74094" y="26259"/>
                </a:lnTo>
                <a:lnTo>
                  <a:pt x="124332" y="33527"/>
                </a:lnTo>
                <a:lnTo>
                  <a:pt x="163782" y="37068"/>
                </a:lnTo>
                <a:lnTo>
                  <a:pt x="186562" y="38226"/>
                </a:lnTo>
                <a:lnTo>
                  <a:pt x="195514" y="38226"/>
                </a:lnTo>
                <a:lnTo>
                  <a:pt x="208073" y="38226"/>
                </a:lnTo>
                <a:lnTo>
                  <a:pt x="224228" y="38226"/>
                </a:lnTo>
                <a:lnTo>
                  <a:pt x="243966" y="38226"/>
                </a:lnTo>
                <a:lnTo>
                  <a:pt x="265185" y="38534"/>
                </a:lnTo>
                <a:lnTo>
                  <a:pt x="285797" y="39449"/>
                </a:lnTo>
                <a:lnTo>
                  <a:pt x="305814" y="40959"/>
                </a:lnTo>
                <a:lnTo>
                  <a:pt x="325246" y="43052"/>
                </a:lnTo>
                <a:lnTo>
                  <a:pt x="344084" y="45146"/>
                </a:lnTo>
                <a:lnTo>
                  <a:pt x="362315" y="46656"/>
                </a:lnTo>
                <a:lnTo>
                  <a:pt x="379950" y="47571"/>
                </a:lnTo>
                <a:lnTo>
                  <a:pt x="397001" y="47878"/>
                </a:lnTo>
                <a:lnTo>
                  <a:pt x="414287" y="47878"/>
                </a:lnTo>
                <a:lnTo>
                  <a:pt x="432800" y="47878"/>
                </a:lnTo>
                <a:lnTo>
                  <a:pt x="1375790" y="47878"/>
                </a:lnTo>
                <a:lnTo>
                  <a:pt x="1377441" y="44576"/>
                </a:lnTo>
                <a:lnTo>
                  <a:pt x="1377441" y="3822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804161" y="3526282"/>
            <a:ext cx="507365" cy="19685"/>
          </a:xfrm>
          <a:custGeom>
            <a:avLst/>
            <a:gdLst/>
            <a:ahLst/>
            <a:cxnLst/>
            <a:rect l="l" t="t" r="r" b="b"/>
            <a:pathLst>
              <a:path w="507364" h="19685">
                <a:moveTo>
                  <a:pt x="0" y="19176"/>
                </a:moveTo>
                <a:lnTo>
                  <a:pt x="0" y="19176"/>
                </a:lnTo>
                <a:lnTo>
                  <a:pt x="181737" y="19176"/>
                </a:lnTo>
                <a:lnTo>
                  <a:pt x="195738" y="18887"/>
                </a:lnTo>
                <a:lnTo>
                  <a:pt x="209169" y="18002"/>
                </a:lnTo>
                <a:lnTo>
                  <a:pt x="222027" y="16498"/>
                </a:lnTo>
                <a:lnTo>
                  <a:pt x="234314" y="14350"/>
                </a:lnTo>
                <a:lnTo>
                  <a:pt x="246891" y="12277"/>
                </a:lnTo>
                <a:lnTo>
                  <a:pt x="260635" y="10810"/>
                </a:lnTo>
                <a:lnTo>
                  <a:pt x="275570" y="9939"/>
                </a:lnTo>
                <a:lnTo>
                  <a:pt x="291719" y="9651"/>
                </a:lnTo>
                <a:lnTo>
                  <a:pt x="307578" y="9344"/>
                </a:lnTo>
                <a:lnTo>
                  <a:pt x="321627" y="8429"/>
                </a:lnTo>
                <a:lnTo>
                  <a:pt x="333867" y="6919"/>
                </a:lnTo>
                <a:lnTo>
                  <a:pt x="344296" y="4825"/>
                </a:lnTo>
                <a:lnTo>
                  <a:pt x="353589" y="2732"/>
                </a:lnTo>
                <a:lnTo>
                  <a:pt x="362251" y="1222"/>
                </a:lnTo>
                <a:lnTo>
                  <a:pt x="370318" y="307"/>
                </a:lnTo>
                <a:lnTo>
                  <a:pt x="377825" y="0"/>
                </a:lnTo>
                <a:lnTo>
                  <a:pt x="385276" y="0"/>
                </a:lnTo>
                <a:lnTo>
                  <a:pt x="393334" y="0"/>
                </a:lnTo>
                <a:lnTo>
                  <a:pt x="500506" y="0"/>
                </a:lnTo>
                <a:lnTo>
                  <a:pt x="506856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871091" y="4702809"/>
            <a:ext cx="870585" cy="19685"/>
          </a:xfrm>
          <a:custGeom>
            <a:avLst/>
            <a:gdLst/>
            <a:ahLst/>
            <a:cxnLst/>
            <a:rect l="l" t="t" r="r" b="b"/>
            <a:pathLst>
              <a:path w="870585" h="19685">
                <a:moveTo>
                  <a:pt x="0" y="0"/>
                </a:moveTo>
                <a:lnTo>
                  <a:pt x="0" y="0"/>
                </a:lnTo>
                <a:lnTo>
                  <a:pt x="114807" y="0"/>
                </a:lnTo>
                <a:lnTo>
                  <a:pt x="143190" y="307"/>
                </a:lnTo>
                <a:lnTo>
                  <a:pt x="170989" y="1222"/>
                </a:lnTo>
                <a:lnTo>
                  <a:pt x="198193" y="2732"/>
                </a:lnTo>
                <a:lnTo>
                  <a:pt x="224789" y="4825"/>
                </a:lnTo>
                <a:lnTo>
                  <a:pt x="250193" y="6919"/>
                </a:lnTo>
                <a:lnTo>
                  <a:pt x="273812" y="8429"/>
                </a:lnTo>
                <a:lnTo>
                  <a:pt x="295620" y="9344"/>
                </a:lnTo>
                <a:lnTo>
                  <a:pt x="315594" y="9651"/>
                </a:lnTo>
                <a:lnTo>
                  <a:pt x="334740" y="9651"/>
                </a:lnTo>
                <a:lnTo>
                  <a:pt x="353885" y="9651"/>
                </a:lnTo>
                <a:lnTo>
                  <a:pt x="765175" y="9651"/>
                </a:lnTo>
                <a:lnTo>
                  <a:pt x="774485" y="9939"/>
                </a:lnTo>
                <a:lnTo>
                  <a:pt x="783177" y="10810"/>
                </a:lnTo>
                <a:lnTo>
                  <a:pt x="791249" y="12277"/>
                </a:lnTo>
                <a:lnTo>
                  <a:pt x="798702" y="14350"/>
                </a:lnTo>
                <a:lnTo>
                  <a:pt x="806154" y="16444"/>
                </a:lnTo>
                <a:lnTo>
                  <a:pt x="814212" y="17954"/>
                </a:lnTo>
                <a:lnTo>
                  <a:pt x="822866" y="18869"/>
                </a:lnTo>
                <a:lnTo>
                  <a:pt x="832103" y="19176"/>
                </a:lnTo>
                <a:lnTo>
                  <a:pt x="841704" y="19176"/>
                </a:lnTo>
                <a:lnTo>
                  <a:pt x="851281" y="19176"/>
                </a:lnTo>
                <a:lnTo>
                  <a:pt x="860857" y="19176"/>
                </a:lnTo>
                <a:lnTo>
                  <a:pt x="870457" y="1917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804161" y="6070727"/>
            <a:ext cx="602615" cy="0"/>
          </a:xfrm>
          <a:custGeom>
            <a:avLst/>
            <a:gdLst/>
            <a:ahLst/>
            <a:cxnLst/>
            <a:rect l="l" t="t" r="r" b="b"/>
            <a:pathLst>
              <a:path w="602614" h="0">
                <a:moveTo>
                  <a:pt x="0" y="0"/>
                </a:moveTo>
                <a:lnTo>
                  <a:pt x="0" y="0"/>
                </a:lnTo>
                <a:lnTo>
                  <a:pt x="584967" y="0"/>
                </a:lnTo>
                <a:lnTo>
                  <a:pt x="602614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6636" y="1208885"/>
            <a:ext cx="8549005" cy="41198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</a:tabLst>
            </a:pPr>
            <a:r>
              <a:rPr dirty="0" sz="2000" b="1">
                <a:latin typeface="Malgun Gothic"/>
                <a:cs typeface="Malgun Gothic"/>
              </a:rPr>
              <a:t>사회보험과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민영보험의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차이</a:t>
            </a:r>
            <a:endParaRPr sz="2000">
              <a:latin typeface="Malgun Gothic"/>
              <a:cs typeface="Malgun Gothic"/>
            </a:endParaRPr>
          </a:p>
          <a:p>
            <a:pPr algn="just" lvl="1" marL="438784" marR="5080" indent="-300355">
              <a:lnSpc>
                <a:spcPct val="133200"/>
              </a:lnSpc>
              <a:spcBef>
                <a:spcPts val="3195"/>
              </a:spcBef>
              <a:buChar char="-"/>
              <a:tabLst>
                <a:tab pos="440055" algn="l"/>
              </a:tabLst>
            </a:pPr>
            <a:r>
              <a:rPr dirty="0" sz="2000" b="1">
                <a:latin typeface="Malgun Gothic"/>
                <a:cs typeface="Malgun Gothic"/>
              </a:rPr>
              <a:t>가입의</a:t>
            </a:r>
            <a:r>
              <a:rPr dirty="0" sz="2000" spc="3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강제성으로</a:t>
            </a:r>
            <a:r>
              <a:rPr dirty="0" sz="2000" spc="3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인해</a:t>
            </a:r>
            <a:r>
              <a:rPr dirty="0" sz="2000" spc="3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반드시</a:t>
            </a:r>
            <a:r>
              <a:rPr dirty="0" sz="2000" spc="3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보험수리적으로</a:t>
            </a:r>
            <a:r>
              <a:rPr dirty="0" sz="2000" spc="3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보험료가</a:t>
            </a:r>
            <a:r>
              <a:rPr dirty="0" sz="2000" spc="3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책정될</a:t>
            </a:r>
            <a:r>
              <a:rPr dirty="0" sz="2000" spc="390" b="1">
                <a:latin typeface="Malgun Gothic"/>
                <a:cs typeface="Malgun Gothic"/>
              </a:rPr>
              <a:t> </a:t>
            </a:r>
            <a:r>
              <a:rPr dirty="0" sz="2000" spc="-50" b="1">
                <a:latin typeface="Malgun Gothic"/>
                <a:cs typeface="Malgun Gothic"/>
              </a:rPr>
              <a:t>필 </a:t>
            </a:r>
            <a:r>
              <a:rPr dirty="0" sz="2000" spc="-5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요가</a:t>
            </a:r>
            <a:r>
              <a:rPr dirty="0" sz="2000" spc="-50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없다.</a:t>
            </a:r>
            <a:r>
              <a:rPr dirty="0" sz="2000" spc="-50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따라서</a:t>
            </a:r>
            <a:r>
              <a:rPr dirty="0" sz="2000" spc="-50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사회보험에서</a:t>
            </a:r>
            <a:r>
              <a:rPr dirty="0" sz="2000" spc="-55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위험분산의</a:t>
            </a:r>
            <a:r>
              <a:rPr dirty="0" sz="2000" spc="-45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기능은</a:t>
            </a:r>
            <a:r>
              <a:rPr dirty="0" sz="2000" spc="-55" b="1">
                <a:latin typeface="Malgun Gothic"/>
                <a:cs typeface="Malgun Gothic"/>
              </a:rPr>
              <a:t>  </a:t>
            </a:r>
            <a:r>
              <a:rPr dirty="0" sz="2000" b="1">
                <a:latin typeface="Malgun Gothic"/>
                <a:cs typeface="Malgun Gothic"/>
              </a:rPr>
              <a:t>선택사안이</a:t>
            </a:r>
            <a:r>
              <a:rPr dirty="0" sz="2000" spc="-50" b="1">
                <a:latin typeface="Malgun Gothic"/>
                <a:cs typeface="Malgun Gothic"/>
              </a:rPr>
              <a:t>  될 </a:t>
            </a:r>
            <a:r>
              <a:rPr dirty="0" sz="2000" spc="-5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380"/>
              </a:spcBef>
              <a:buFont typeface="Malgun Gothic"/>
              <a:buChar char="-"/>
            </a:pPr>
            <a:endParaRPr sz="2000">
              <a:latin typeface="Malgun Gothic"/>
              <a:cs typeface="Malgun Gothic"/>
            </a:endParaRPr>
          </a:p>
          <a:p>
            <a:pPr algn="just" lvl="1" marL="423545" indent="-285115">
              <a:lnSpc>
                <a:spcPct val="100000"/>
              </a:lnSpc>
              <a:buChar char="-"/>
              <a:tabLst>
                <a:tab pos="423545" algn="l"/>
              </a:tabLst>
            </a:pPr>
            <a:r>
              <a:rPr dirty="0" sz="2000" b="1">
                <a:latin typeface="Malgun Gothic"/>
                <a:cs typeface="Malgun Gothic"/>
              </a:rPr>
              <a:t>사회보험에서의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계약내용은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구체적이지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않다</a:t>
            </a:r>
            <a:endParaRPr sz="2000">
              <a:latin typeface="Malgun Gothic"/>
              <a:cs typeface="Malgun Gothic"/>
            </a:endParaRPr>
          </a:p>
          <a:p>
            <a:pPr algn="just" marL="647065" marR="6350" indent="-254635">
              <a:lnSpc>
                <a:spcPct val="132000"/>
              </a:lnSpc>
              <a:spcBef>
                <a:spcPts val="20"/>
              </a:spcBef>
            </a:pPr>
            <a:r>
              <a:rPr dirty="0" sz="2000">
                <a:latin typeface="Cambria"/>
                <a:cs typeface="Cambria"/>
              </a:rPr>
              <a:t>▸</a:t>
            </a:r>
            <a:r>
              <a:rPr dirty="0" sz="2000" b="1">
                <a:latin typeface="Malgun Gothic"/>
                <a:cs typeface="Malgun Gothic"/>
              </a:rPr>
              <a:t>사회보험은</a:t>
            </a:r>
            <a:r>
              <a:rPr dirty="0" sz="2000" spc="4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민간시장에서는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보험의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성립이</a:t>
            </a:r>
            <a:r>
              <a:rPr dirty="0" sz="2000" spc="4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불가능한</a:t>
            </a:r>
            <a:r>
              <a:rPr dirty="0" sz="2000" spc="4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위험(실업,</a:t>
            </a:r>
            <a:r>
              <a:rPr dirty="0" sz="2000" spc="470" b="1">
                <a:latin typeface="Malgun Gothic"/>
                <a:cs typeface="Malgun Gothic"/>
              </a:rPr>
              <a:t> </a:t>
            </a:r>
            <a:r>
              <a:rPr dirty="0" sz="2000" spc="-50" b="1">
                <a:latin typeface="Malgun Gothic"/>
                <a:cs typeface="Malgun Gothic"/>
              </a:rPr>
              <a:t>전 </a:t>
            </a:r>
            <a:r>
              <a:rPr dirty="0" sz="2000" b="1">
                <a:latin typeface="Malgun Gothic"/>
                <a:cs typeface="Malgun Gothic"/>
              </a:rPr>
              <a:t>염병),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시간의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경과에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따라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본질이나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특성이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변화하여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400" spc="-25" b="1">
                <a:solidFill>
                  <a:srgbClr val="0000FF"/>
                </a:solidFill>
                <a:latin typeface="Malgun Gothic"/>
                <a:cs typeface="Malgun Gothic"/>
              </a:rPr>
              <a:t>불확 </a:t>
            </a:r>
            <a:r>
              <a:rPr dirty="0" sz="2400" b="1">
                <a:solidFill>
                  <a:srgbClr val="0000FF"/>
                </a:solidFill>
                <a:latin typeface="Malgun Gothic"/>
                <a:cs typeface="Malgun Gothic"/>
              </a:rPr>
              <a:t>실성</a:t>
            </a:r>
            <a:r>
              <a:rPr dirty="0" sz="2000" b="1">
                <a:latin typeface="Malgun Gothic"/>
                <a:cs typeface="Malgun Gothic"/>
              </a:rPr>
              <a:t>을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보이는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장기성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위험에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대해서도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보장할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006713" y="4846320"/>
            <a:ext cx="526415" cy="38735"/>
          </a:xfrm>
          <a:custGeom>
            <a:avLst/>
            <a:gdLst/>
            <a:ahLst/>
            <a:cxnLst/>
            <a:rect l="l" t="t" r="r" b="b"/>
            <a:pathLst>
              <a:path w="526415" h="38735">
                <a:moveTo>
                  <a:pt x="0" y="38226"/>
                </a:moveTo>
                <a:lnTo>
                  <a:pt x="5955" y="37939"/>
                </a:lnTo>
                <a:lnTo>
                  <a:pt x="14303" y="37068"/>
                </a:lnTo>
                <a:lnTo>
                  <a:pt x="25056" y="35601"/>
                </a:lnTo>
                <a:lnTo>
                  <a:pt x="38226" y="33527"/>
                </a:lnTo>
                <a:lnTo>
                  <a:pt x="53131" y="31434"/>
                </a:lnTo>
                <a:lnTo>
                  <a:pt x="69262" y="29924"/>
                </a:lnTo>
                <a:lnTo>
                  <a:pt x="86608" y="29009"/>
                </a:lnTo>
                <a:lnTo>
                  <a:pt x="105155" y="28701"/>
                </a:lnTo>
                <a:lnTo>
                  <a:pt x="124588" y="28701"/>
                </a:lnTo>
                <a:lnTo>
                  <a:pt x="144605" y="28701"/>
                </a:lnTo>
                <a:lnTo>
                  <a:pt x="392048" y="28701"/>
                </a:lnTo>
                <a:lnTo>
                  <a:pt x="405834" y="28412"/>
                </a:lnTo>
                <a:lnTo>
                  <a:pt x="449167" y="21494"/>
                </a:lnTo>
                <a:lnTo>
                  <a:pt x="473455" y="14350"/>
                </a:lnTo>
                <a:lnTo>
                  <a:pt x="480907" y="12257"/>
                </a:lnTo>
                <a:lnTo>
                  <a:pt x="488965" y="10747"/>
                </a:lnTo>
                <a:lnTo>
                  <a:pt x="497619" y="9832"/>
                </a:lnTo>
                <a:lnTo>
                  <a:pt x="506856" y="9524"/>
                </a:lnTo>
                <a:lnTo>
                  <a:pt x="519683" y="9524"/>
                </a:lnTo>
                <a:lnTo>
                  <a:pt x="526033" y="8000"/>
                </a:lnTo>
                <a:lnTo>
                  <a:pt x="526033" y="4825"/>
                </a:lnTo>
                <a:lnTo>
                  <a:pt x="526033" y="1650"/>
                </a:lnTo>
                <a:lnTo>
                  <a:pt x="522858" y="0"/>
                </a:lnTo>
                <a:lnTo>
                  <a:pt x="51650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612772" y="5324602"/>
            <a:ext cx="765175" cy="29209"/>
          </a:xfrm>
          <a:custGeom>
            <a:avLst/>
            <a:gdLst/>
            <a:ahLst/>
            <a:cxnLst/>
            <a:rect l="l" t="t" r="r" b="b"/>
            <a:pathLst>
              <a:path w="765175" h="29210">
                <a:moveTo>
                  <a:pt x="0" y="0"/>
                </a:moveTo>
                <a:lnTo>
                  <a:pt x="0" y="6350"/>
                </a:lnTo>
                <a:lnTo>
                  <a:pt x="3175" y="9525"/>
                </a:lnTo>
                <a:lnTo>
                  <a:pt x="9525" y="9525"/>
                </a:lnTo>
                <a:lnTo>
                  <a:pt x="16690" y="9832"/>
                </a:lnTo>
                <a:lnTo>
                  <a:pt x="66928" y="14350"/>
                </a:lnTo>
                <a:lnTo>
                  <a:pt x="108759" y="19113"/>
                </a:lnTo>
                <a:lnTo>
                  <a:pt x="138684" y="23875"/>
                </a:lnTo>
                <a:lnTo>
                  <a:pt x="151207" y="25969"/>
                </a:lnTo>
                <a:lnTo>
                  <a:pt x="164957" y="27479"/>
                </a:lnTo>
                <a:lnTo>
                  <a:pt x="179921" y="28394"/>
                </a:lnTo>
                <a:lnTo>
                  <a:pt x="196088" y="28702"/>
                </a:lnTo>
                <a:lnTo>
                  <a:pt x="213139" y="28702"/>
                </a:lnTo>
                <a:lnTo>
                  <a:pt x="230774" y="28702"/>
                </a:lnTo>
                <a:lnTo>
                  <a:pt x="759219" y="28702"/>
                </a:lnTo>
                <a:lnTo>
                  <a:pt x="765175" y="28702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0"/>
              <a:t>-</a:t>
            </a:r>
            <a:r>
              <a:rPr dirty="0" spc="225"/>
              <a:t> </a:t>
            </a:r>
            <a:fld id="{81D60167-4931-47E6-BA6A-407CBD079E47}" type="slidenum">
              <a:rPr dirty="0"/>
              <a:t>10</a:t>
            </a:fld>
            <a:r>
              <a:rPr dirty="0" spc="245"/>
              <a:t> </a:t>
            </a:r>
            <a:r>
              <a:rPr dirty="0" spc="229"/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2024-11-26T20:52:51Z</dcterms:created>
  <dcterms:modified xsi:type="dcterms:W3CDTF">2024-11-26T20:52:51Z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Call PDF</vt:lpwstr>
  </property>
  <property fmtid="{D5CDD505-2E9C-101B-9397-08002B2CF9AE}" pid="3" name="Producer">
    <vt:lpwstr>Call PDF v 2.4</vt:lpwstr>
  </property>
</Properties>
</file>