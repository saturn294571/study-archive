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  <p:sldMasterId id="2147483756" r:id="rId2"/>
  </p:sldMasterIdLst>
  <p:notesMasterIdLst>
    <p:notesMasterId r:id="rId38"/>
  </p:notesMasterIdLst>
  <p:sldIdLst>
    <p:sldId id="504" r:id="rId3"/>
    <p:sldId id="525" r:id="rId4"/>
    <p:sldId id="505" r:id="rId5"/>
    <p:sldId id="479" r:id="rId6"/>
    <p:sldId id="506" r:id="rId7"/>
    <p:sldId id="472" r:id="rId8"/>
    <p:sldId id="528" r:id="rId9"/>
    <p:sldId id="389" r:id="rId10"/>
    <p:sldId id="509" r:id="rId11"/>
    <p:sldId id="492" r:id="rId12"/>
    <p:sldId id="510" r:id="rId13"/>
    <p:sldId id="498" r:id="rId14"/>
    <p:sldId id="526" r:id="rId15"/>
    <p:sldId id="511" r:id="rId16"/>
    <p:sldId id="463" r:id="rId17"/>
    <p:sldId id="512" r:id="rId18"/>
    <p:sldId id="499" r:id="rId19"/>
    <p:sldId id="470" r:id="rId20"/>
    <p:sldId id="466" r:id="rId21"/>
    <p:sldId id="513" r:id="rId22"/>
    <p:sldId id="527" r:id="rId23"/>
    <p:sldId id="500" r:id="rId24"/>
    <p:sldId id="514" r:id="rId25"/>
    <p:sldId id="517" r:id="rId26"/>
    <p:sldId id="516" r:id="rId27"/>
    <p:sldId id="518" r:id="rId28"/>
    <p:sldId id="520" r:id="rId29"/>
    <p:sldId id="519" r:id="rId30"/>
    <p:sldId id="477" r:id="rId31"/>
    <p:sldId id="523" r:id="rId32"/>
    <p:sldId id="524" r:id="rId33"/>
    <p:sldId id="478" r:id="rId34"/>
    <p:sldId id="469" r:id="rId35"/>
    <p:sldId id="521" r:id="rId36"/>
    <p:sldId id="522" r:id="rId3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F06"/>
    <a:srgbClr val="A023AD"/>
    <a:srgbClr val="3399FF"/>
    <a:srgbClr val="FF66FF"/>
    <a:srgbClr val="0C6CF8"/>
    <a:srgbClr val="2D15DB"/>
    <a:srgbClr val="45E30D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C2C5AE-BCE5-48F3-AE11-2CE8C118AC64}" v="31" dt="2021-10-23T03:47:41.7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55" autoAdjust="0"/>
    <p:restoredTop sz="99732" autoAdjust="0"/>
  </p:normalViewPr>
  <p:slideViewPr>
    <p:cSldViewPr>
      <p:cViewPr varScale="1">
        <p:scale>
          <a:sx n="67" d="100"/>
          <a:sy n="67" d="100"/>
        </p:scale>
        <p:origin x="9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45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4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박진화" userId="92eb4c3a-09df-4608-b9c9-92d107705cdc" providerId="ADAL" clId="{FFC2C5AE-BCE5-48F3-AE11-2CE8C118AC64}"/>
    <pc:docChg chg="undo custSel addSld modSld">
      <pc:chgData name="박진화" userId="92eb4c3a-09df-4608-b9c9-92d107705cdc" providerId="ADAL" clId="{FFC2C5AE-BCE5-48F3-AE11-2CE8C118AC64}" dt="2021-10-23T03:49:21.231" v="436" actId="14100"/>
      <pc:docMkLst>
        <pc:docMk/>
      </pc:docMkLst>
      <pc:sldChg chg="modSp mod">
        <pc:chgData name="박진화" userId="92eb4c3a-09df-4608-b9c9-92d107705cdc" providerId="ADAL" clId="{FFC2C5AE-BCE5-48F3-AE11-2CE8C118AC64}" dt="2021-10-22T08:35:20.210" v="27" actId="20577"/>
        <pc:sldMkLst>
          <pc:docMk/>
          <pc:sldMk cId="3479293023" sldId="389"/>
        </pc:sldMkLst>
        <pc:graphicFrameChg chg="mod modGraphic">
          <ac:chgData name="박진화" userId="92eb4c3a-09df-4608-b9c9-92d107705cdc" providerId="ADAL" clId="{FFC2C5AE-BCE5-48F3-AE11-2CE8C118AC64}" dt="2021-10-22T08:35:20.210" v="27" actId="20577"/>
          <ac:graphicFrameMkLst>
            <pc:docMk/>
            <pc:sldMk cId="3479293023" sldId="389"/>
            <ac:graphicFrameMk id="4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FFC2C5AE-BCE5-48F3-AE11-2CE8C118AC64}" dt="2021-10-22T08:37:35.339" v="33" actId="20577"/>
        <pc:sldMkLst>
          <pc:docMk/>
          <pc:sldMk cId="1342081214" sldId="463"/>
        </pc:sldMkLst>
        <pc:graphicFrameChg chg="modGraphic">
          <ac:chgData name="박진화" userId="92eb4c3a-09df-4608-b9c9-92d107705cdc" providerId="ADAL" clId="{FFC2C5AE-BCE5-48F3-AE11-2CE8C118AC64}" dt="2021-10-22T08:37:35.339" v="33" actId="20577"/>
          <ac:graphicFrameMkLst>
            <pc:docMk/>
            <pc:sldMk cId="1342081214" sldId="463"/>
            <ac:graphicFrameMk id="6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FFC2C5AE-BCE5-48F3-AE11-2CE8C118AC64}" dt="2021-10-22T08:38:46.725" v="42" actId="14734"/>
        <pc:sldMkLst>
          <pc:docMk/>
          <pc:sldMk cId="528578066" sldId="466"/>
        </pc:sldMkLst>
        <pc:graphicFrameChg chg="modGraphic">
          <ac:chgData name="박진화" userId="92eb4c3a-09df-4608-b9c9-92d107705cdc" providerId="ADAL" clId="{FFC2C5AE-BCE5-48F3-AE11-2CE8C118AC64}" dt="2021-10-22T08:38:46.725" v="42" actId="14734"/>
          <ac:graphicFrameMkLst>
            <pc:docMk/>
            <pc:sldMk cId="528578066" sldId="466"/>
            <ac:graphicFrameMk id="6" creationId="{00000000-0000-0000-0000-000000000000}"/>
          </ac:graphicFrameMkLst>
        </pc:graphicFrameChg>
      </pc:sldChg>
      <pc:sldChg chg="addSp delSp modSp mod">
        <pc:chgData name="박진화" userId="92eb4c3a-09df-4608-b9c9-92d107705cdc" providerId="ADAL" clId="{FFC2C5AE-BCE5-48F3-AE11-2CE8C118AC64}" dt="2021-10-23T03:24:35.674" v="279" actId="14100"/>
        <pc:sldMkLst>
          <pc:docMk/>
          <pc:sldMk cId="1905414006" sldId="472"/>
        </pc:sldMkLst>
        <pc:graphicFrameChg chg="add del mod modGraphic">
          <ac:chgData name="박진화" userId="92eb4c3a-09df-4608-b9c9-92d107705cdc" providerId="ADAL" clId="{FFC2C5AE-BCE5-48F3-AE11-2CE8C118AC64}" dt="2021-10-23T03:24:35.674" v="279" actId="14100"/>
          <ac:graphicFrameMkLst>
            <pc:docMk/>
            <pc:sldMk cId="1905414006" sldId="472"/>
            <ac:graphicFrameMk id="4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FFC2C5AE-BCE5-48F3-AE11-2CE8C118AC64}" dt="2021-10-22T08:42:15.842" v="270" actId="20577"/>
        <pc:sldMkLst>
          <pc:docMk/>
          <pc:sldMk cId="1833312659" sldId="500"/>
        </pc:sldMkLst>
        <pc:graphicFrameChg chg="mod modGraphic">
          <ac:chgData name="박진화" userId="92eb4c3a-09df-4608-b9c9-92d107705cdc" providerId="ADAL" clId="{FFC2C5AE-BCE5-48F3-AE11-2CE8C118AC64}" dt="2021-10-22T08:42:15.842" v="270" actId="20577"/>
          <ac:graphicFrameMkLst>
            <pc:docMk/>
            <pc:sldMk cId="1833312659" sldId="500"/>
            <ac:graphicFrameMk id="6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FFC2C5AE-BCE5-48F3-AE11-2CE8C118AC64}" dt="2021-10-22T08:36:04.881" v="32" actId="14100"/>
        <pc:sldMkLst>
          <pc:docMk/>
          <pc:sldMk cId="590808030" sldId="509"/>
        </pc:sldMkLst>
        <pc:graphicFrameChg chg="modGraphic">
          <ac:chgData name="박진화" userId="92eb4c3a-09df-4608-b9c9-92d107705cdc" providerId="ADAL" clId="{FFC2C5AE-BCE5-48F3-AE11-2CE8C118AC64}" dt="2021-10-22T08:36:04.881" v="32" actId="14100"/>
          <ac:graphicFrameMkLst>
            <pc:docMk/>
            <pc:sldMk cId="590808030" sldId="509"/>
            <ac:graphicFrameMk id="4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FFC2C5AE-BCE5-48F3-AE11-2CE8C118AC64}" dt="2021-10-22T08:42:27.690" v="271" actId="20577"/>
        <pc:sldMkLst>
          <pc:docMk/>
          <pc:sldMk cId="2672135700" sldId="514"/>
        </pc:sldMkLst>
        <pc:graphicFrameChg chg="modGraphic">
          <ac:chgData name="박진화" userId="92eb4c3a-09df-4608-b9c9-92d107705cdc" providerId="ADAL" clId="{FFC2C5AE-BCE5-48F3-AE11-2CE8C118AC64}" dt="2021-10-22T08:42:27.690" v="271" actId="20577"/>
          <ac:graphicFrameMkLst>
            <pc:docMk/>
            <pc:sldMk cId="2672135700" sldId="514"/>
            <ac:graphicFrameMk id="6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FFC2C5AE-BCE5-48F3-AE11-2CE8C118AC64}" dt="2021-10-22T08:43:25.625" v="273" actId="20577"/>
        <pc:sldMkLst>
          <pc:docMk/>
          <pc:sldMk cId="2562631614" sldId="521"/>
        </pc:sldMkLst>
        <pc:graphicFrameChg chg="modGraphic">
          <ac:chgData name="박진화" userId="92eb4c3a-09df-4608-b9c9-92d107705cdc" providerId="ADAL" clId="{FFC2C5AE-BCE5-48F3-AE11-2CE8C118AC64}" dt="2021-10-22T08:43:25.625" v="273" actId="20577"/>
          <ac:graphicFrameMkLst>
            <pc:docMk/>
            <pc:sldMk cId="2562631614" sldId="521"/>
            <ac:graphicFrameMk id="3" creationId="{00000000-0000-0000-0000-000000000000}"/>
          </ac:graphicFrameMkLst>
        </pc:graphicFrameChg>
      </pc:sldChg>
      <pc:sldChg chg="modSp add mod">
        <pc:chgData name="박진화" userId="92eb4c3a-09df-4608-b9c9-92d107705cdc" providerId="ADAL" clId="{FFC2C5AE-BCE5-48F3-AE11-2CE8C118AC64}" dt="2021-10-23T03:49:21.231" v="436" actId="14100"/>
        <pc:sldMkLst>
          <pc:docMk/>
          <pc:sldMk cId="184587718" sldId="528"/>
        </pc:sldMkLst>
        <pc:graphicFrameChg chg="mod modGraphic">
          <ac:chgData name="박진화" userId="92eb4c3a-09df-4608-b9c9-92d107705cdc" providerId="ADAL" clId="{FFC2C5AE-BCE5-48F3-AE11-2CE8C118AC64}" dt="2021-10-23T03:49:21.231" v="436" actId="14100"/>
          <ac:graphicFrameMkLst>
            <pc:docMk/>
            <pc:sldMk cId="184587718" sldId="528"/>
            <ac:graphicFrameMk id="4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9FB78-2087-48E7-A297-280F5EFD347C}" type="datetimeFigureOut">
              <a:rPr lang="ko-KR" altLang="en-US" smtClean="0"/>
              <a:t>2022-11-21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C0B801-CA2D-4ADF-9C19-FA669F2B45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094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2022-11-21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2022-11-21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2022-11-21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2022-11-21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2022-11-21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2022-11-21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2022-11-21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2022-11-21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2022-11-21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2022-11-21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2022-11-21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0444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11706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8907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3026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31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5842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2023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1477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2535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2410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810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DEEF3-857F-4874-AA1A-D8F1248EFAA6}" type="datetimeFigureOut">
              <a:rPr lang="ko-KR" altLang="en-US" smtClean="0"/>
              <a:pPr/>
              <a:t>2022-11-21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298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1010509" y="1381512"/>
            <a:ext cx="931665" cy="400110"/>
          </a:xfrm>
        </p:spPr>
        <p:txBody>
          <a:bodyPr wrap="none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</a:t>
            </a:r>
            <a:r>
              <a:rPr lang="en-US" altLang="ko-KR" sz="2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11</a:t>
            </a:r>
            <a:r>
              <a:rPr lang="ko-KR" altLang="en-US" sz="2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장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611560" y="1800378"/>
            <a:ext cx="20313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2400" dirty="0">
                <a:solidFill>
                  <a:srgbClr val="FFFF00"/>
                </a:solidFill>
                <a:ea typeface="나눔스퀘어 ExtraBold" panose="020B0600000101010101" pitchFamily="50" charset="-127"/>
              </a:rPr>
              <a:t>고용보험제도</a:t>
            </a:r>
            <a:endParaRPr lang="ko-KR" altLang="en-US" sz="2400" dirty="0">
              <a:solidFill>
                <a:srgbClr val="FFFF00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18127" y="260648"/>
            <a:ext cx="19303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en-US" altLang="ko-KR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Ⅰ</a:t>
            </a:r>
            <a:r>
              <a:rPr lang="ko-KR" altLang="en-US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제 </a:t>
            </a:r>
            <a:r>
              <a:rPr lang="en-US" altLang="ko-KR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</a:t>
            </a:r>
            <a:r>
              <a:rPr lang="ko-KR" altLang="en-US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부 사회보장의 총론</a:t>
            </a:r>
            <a:r>
              <a:rPr lang="en-US" altLang="ko-KR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Ⅰ</a:t>
            </a:r>
            <a:endParaRPr lang="ko-KR" altLang="en-US" sz="1200" dirty="0">
              <a:solidFill>
                <a:prstClr val="white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724547" y="3356992"/>
            <a:ext cx="6095925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rgbClr val="7030A0"/>
                </a:solidFill>
                <a:latin typeface="HY울릉도M"/>
                <a:ea typeface="HY울릉도M"/>
              </a:rPr>
              <a:t>                        ▲ 수업목표</a:t>
            </a:r>
            <a:endParaRPr lang="en-US" altLang="ko-KR" sz="2000" dirty="0">
              <a:solidFill>
                <a:srgbClr val="7030A0"/>
              </a:solidFill>
              <a:latin typeface="HY울릉도M"/>
              <a:ea typeface="HY울릉도M"/>
            </a:endParaRPr>
          </a:p>
          <a:p>
            <a:endParaRPr lang="en-US" altLang="ko-KR" sz="2000" dirty="0">
              <a:solidFill>
                <a:srgbClr val="7030A0"/>
              </a:solidFill>
              <a:latin typeface="HY울릉도M"/>
              <a:ea typeface="HY울릉도M"/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고용보험제도의 의의와 목적을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</a:p>
          <a:p>
            <a:pPr marL="342900" indent="18000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고용보험제도의 도입배경 및 발전과정을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</a:p>
          <a:p>
            <a:pPr marL="342900" indent="18000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고용보험제도의 적용대상과 급여내용을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</a:p>
          <a:p>
            <a:pPr marL="342900" indent="18000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고용보험제도의 재원조달과 운영체계를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  <a:endParaRPr lang="ko-KR" altLang="en-US" sz="16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6479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08304" y="476672"/>
            <a:ext cx="1149674" cy="523220"/>
          </a:xfrm>
        </p:spPr>
        <p:txBody>
          <a:bodyPr wrap="none">
            <a:spAutoFit/>
          </a:bodyPr>
          <a:lstStyle/>
          <a:p>
            <a:pPr algn="l"/>
            <a:r>
              <a:rPr lang="en-US" altLang="ko-KR" sz="2800" dirty="0">
                <a:solidFill>
                  <a:srgbClr val="FFFF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content</a:t>
            </a:r>
            <a:endParaRPr lang="ko-KR" altLang="en-US" sz="2800" dirty="0">
              <a:solidFill>
                <a:srgbClr val="FFFF0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63" name="Group 24"/>
          <p:cNvGrpSpPr>
            <a:grpSpLocks/>
          </p:cNvGrpSpPr>
          <p:nvPr/>
        </p:nvGrpSpPr>
        <p:grpSpPr bwMode="auto">
          <a:xfrm>
            <a:off x="2127137" y="1994611"/>
            <a:ext cx="443696" cy="408976"/>
            <a:chOff x="2078" y="1680"/>
            <a:chExt cx="1615" cy="1615"/>
          </a:xfrm>
        </p:grpSpPr>
        <p:sp>
          <p:nvSpPr>
            <p:cNvPr id="64" name="Oval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5" name="Oval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63529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63529"/>
                    <a:invGamma/>
                  </a:srgbClr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6" name="Oval 27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7" name="Oval 28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8" name="Oval 29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9" name="Oval 30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8627"/>
                    <a:invGamma/>
                  </a:srgb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71" name="Group 30"/>
          <p:cNvGrpSpPr>
            <a:grpSpLocks/>
          </p:cNvGrpSpPr>
          <p:nvPr/>
        </p:nvGrpSpPr>
        <p:grpSpPr bwMode="auto">
          <a:xfrm>
            <a:off x="2133961" y="2637526"/>
            <a:ext cx="432778" cy="428048"/>
            <a:chOff x="2078" y="1680"/>
            <a:chExt cx="1615" cy="1615"/>
          </a:xfrm>
        </p:grpSpPr>
        <p:sp>
          <p:nvSpPr>
            <p:cNvPr id="72" name="Oval 3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3" name="Oval 3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4" name="Oval 33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5" name="Oval 3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6" name="Oval 35"/>
            <p:cNvSpPr>
              <a:spLocks noChangeArrowheads="1"/>
            </p:cNvSpPr>
            <p:nvPr/>
          </p:nvSpPr>
          <p:spPr bwMode="gray">
            <a:xfrm>
              <a:off x="2335" y="1937"/>
              <a:ext cx="1100" cy="110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7" name="Oval 36"/>
            <p:cNvSpPr>
              <a:spLocks noChangeArrowheads="1"/>
            </p:cNvSpPr>
            <p:nvPr/>
          </p:nvSpPr>
          <p:spPr bwMode="gray">
            <a:xfrm>
              <a:off x="2337" y="1948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79" name="Group 37"/>
          <p:cNvGrpSpPr>
            <a:grpSpLocks/>
          </p:cNvGrpSpPr>
          <p:nvPr/>
        </p:nvGrpSpPr>
        <p:grpSpPr bwMode="auto">
          <a:xfrm>
            <a:off x="2132830" y="3243513"/>
            <a:ext cx="432778" cy="417872"/>
            <a:chOff x="2078" y="1680"/>
            <a:chExt cx="1615" cy="1615"/>
          </a:xfrm>
        </p:grpSpPr>
        <p:sp>
          <p:nvSpPr>
            <p:cNvPr id="80" name="Oval 3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1" name="Oval 3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2" name="Oval 40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3" name="Oval 41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4" name="Oval 42"/>
            <p:cNvSpPr>
              <a:spLocks noChangeArrowheads="1"/>
            </p:cNvSpPr>
            <p:nvPr/>
          </p:nvSpPr>
          <p:spPr bwMode="gray">
            <a:xfrm>
              <a:off x="2335" y="1937"/>
              <a:ext cx="1100" cy="110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5" name="Oval 43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04" name="Group 16"/>
          <p:cNvGrpSpPr>
            <a:grpSpLocks/>
          </p:cNvGrpSpPr>
          <p:nvPr/>
        </p:nvGrpSpPr>
        <p:grpSpPr bwMode="auto">
          <a:xfrm>
            <a:off x="2148885" y="3882999"/>
            <a:ext cx="446384" cy="422201"/>
            <a:chOff x="2078" y="1680"/>
            <a:chExt cx="1615" cy="1615"/>
          </a:xfrm>
        </p:grpSpPr>
        <p:sp>
          <p:nvSpPr>
            <p:cNvPr id="105" name="Oval 17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Oval 18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Oval 19"/>
            <p:cNvSpPr>
              <a:spLocks noChangeArrowheads="1"/>
            </p:cNvSpPr>
            <p:nvPr/>
          </p:nvSpPr>
          <p:spPr bwMode="gray">
            <a:xfrm>
              <a:off x="2253" y="1856"/>
              <a:ext cx="1265" cy="1263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Oval 20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Oval 21"/>
            <p:cNvSpPr>
              <a:spLocks noChangeArrowheads="1"/>
            </p:cNvSpPr>
            <p:nvPr/>
          </p:nvSpPr>
          <p:spPr bwMode="gray">
            <a:xfrm>
              <a:off x="2335" y="1938"/>
              <a:ext cx="1100" cy="1099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Oval 22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18" name="직사각형 117"/>
          <p:cNvSpPr/>
          <p:nvPr/>
        </p:nvSpPr>
        <p:spPr>
          <a:xfrm>
            <a:off x="218925" y="496144"/>
            <a:ext cx="38164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lang="ko-KR" altLang="en-US" sz="28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28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11</a:t>
            </a:r>
            <a:r>
              <a:rPr lang="ko-KR" altLang="en-US" sz="28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 고용보험제도</a:t>
            </a:r>
          </a:p>
        </p:txBody>
      </p:sp>
      <p:grpSp>
        <p:nvGrpSpPr>
          <p:cNvPr id="37" name="Group 24"/>
          <p:cNvGrpSpPr>
            <a:grpSpLocks/>
          </p:cNvGrpSpPr>
          <p:nvPr/>
        </p:nvGrpSpPr>
        <p:grpSpPr bwMode="auto">
          <a:xfrm>
            <a:off x="2150142" y="4524840"/>
            <a:ext cx="443696" cy="408976"/>
            <a:chOff x="2078" y="1680"/>
            <a:chExt cx="1615" cy="1615"/>
          </a:xfrm>
        </p:grpSpPr>
        <p:sp>
          <p:nvSpPr>
            <p:cNvPr id="38" name="Oval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39" name="Oval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63529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63529"/>
                    <a:invGamma/>
                  </a:srgbClr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0" name="Oval 27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1" name="Oval 28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2" name="Oval 29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3" name="Oval 30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8627"/>
                    <a:invGamma/>
                  </a:srgb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45" name="Group 30"/>
          <p:cNvGrpSpPr>
            <a:grpSpLocks/>
          </p:cNvGrpSpPr>
          <p:nvPr/>
        </p:nvGrpSpPr>
        <p:grpSpPr bwMode="auto">
          <a:xfrm>
            <a:off x="2182028" y="5124425"/>
            <a:ext cx="432778" cy="428048"/>
            <a:chOff x="2078" y="1680"/>
            <a:chExt cx="1615" cy="1615"/>
          </a:xfrm>
        </p:grpSpPr>
        <p:sp>
          <p:nvSpPr>
            <p:cNvPr id="46" name="Oval 3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7" name="Oval 3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8" name="Oval 33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9" name="Oval 3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0" name="Oval 35"/>
            <p:cNvSpPr>
              <a:spLocks noChangeArrowheads="1"/>
            </p:cNvSpPr>
            <p:nvPr/>
          </p:nvSpPr>
          <p:spPr bwMode="gray">
            <a:xfrm>
              <a:off x="2335" y="1937"/>
              <a:ext cx="1100" cy="110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1" name="Oval 36"/>
            <p:cNvSpPr>
              <a:spLocks noChangeArrowheads="1"/>
            </p:cNvSpPr>
            <p:nvPr/>
          </p:nvSpPr>
          <p:spPr bwMode="gray">
            <a:xfrm>
              <a:off x="2337" y="1948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58" name="AutoShape 7"/>
          <p:cNvSpPr>
            <a:spLocks noChangeArrowheads="1"/>
          </p:cNvSpPr>
          <p:nvPr/>
        </p:nvSpPr>
        <p:spPr bwMode="gray">
          <a:xfrm>
            <a:off x="2802260" y="1941009"/>
            <a:ext cx="3763341" cy="4878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7F5C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의의 및 목적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61" name="AutoShape 8"/>
          <p:cNvSpPr>
            <a:spLocks noChangeArrowheads="1"/>
          </p:cNvSpPr>
          <p:nvPr/>
        </p:nvSpPr>
        <p:spPr bwMode="gray">
          <a:xfrm>
            <a:off x="2817200" y="2560698"/>
            <a:ext cx="3748402" cy="52131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B7E7F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도입배경 및 발전과정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87" name="AutoShape 7"/>
          <p:cNvSpPr>
            <a:spLocks noChangeArrowheads="1"/>
          </p:cNvSpPr>
          <p:nvPr/>
        </p:nvSpPr>
        <p:spPr bwMode="gray">
          <a:xfrm>
            <a:off x="2832689" y="3207421"/>
            <a:ext cx="3732913" cy="4878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7F5C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적용대상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89" name="AutoShape 7"/>
          <p:cNvSpPr>
            <a:spLocks noChangeArrowheads="1"/>
          </p:cNvSpPr>
          <p:nvPr/>
        </p:nvSpPr>
        <p:spPr bwMode="gray">
          <a:xfrm>
            <a:off x="2843808" y="4455129"/>
            <a:ext cx="3721794" cy="4878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7F5C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자영업자 고용보험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90" name="AutoShape 8"/>
          <p:cNvSpPr>
            <a:spLocks noChangeArrowheads="1"/>
          </p:cNvSpPr>
          <p:nvPr/>
        </p:nvSpPr>
        <p:spPr bwMode="gray">
          <a:xfrm>
            <a:off x="2824943" y="5069587"/>
            <a:ext cx="3748403" cy="50934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B7E7F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재     정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91" name="AutoShape 8"/>
          <p:cNvSpPr>
            <a:spLocks noChangeArrowheads="1"/>
          </p:cNvSpPr>
          <p:nvPr/>
        </p:nvSpPr>
        <p:spPr bwMode="gray">
          <a:xfrm>
            <a:off x="2855907" y="3803175"/>
            <a:ext cx="3717439" cy="52131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B7E7F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급여내용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grpSp>
        <p:nvGrpSpPr>
          <p:cNvPr id="52" name="Group 37"/>
          <p:cNvGrpSpPr>
            <a:grpSpLocks/>
          </p:cNvGrpSpPr>
          <p:nvPr/>
        </p:nvGrpSpPr>
        <p:grpSpPr bwMode="auto">
          <a:xfrm>
            <a:off x="2181749" y="5722398"/>
            <a:ext cx="432778" cy="417872"/>
            <a:chOff x="2078" y="1680"/>
            <a:chExt cx="1615" cy="1615"/>
          </a:xfrm>
        </p:grpSpPr>
        <p:sp>
          <p:nvSpPr>
            <p:cNvPr id="53" name="Oval 3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4" name="Oval 3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5" name="Oval 40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6" name="Oval 41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7" name="Oval 42"/>
            <p:cNvSpPr>
              <a:spLocks noChangeArrowheads="1"/>
            </p:cNvSpPr>
            <p:nvPr/>
          </p:nvSpPr>
          <p:spPr bwMode="gray">
            <a:xfrm>
              <a:off x="2335" y="1937"/>
              <a:ext cx="1100" cy="110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9" name="Oval 43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60" name="AutoShape 7"/>
          <p:cNvSpPr>
            <a:spLocks noChangeArrowheads="1"/>
          </p:cNvSpPr>
          <p:nvPr/>
        </p:nvSpPr>
        <p:spPr bwMode="gray">
          <a:xfrm>
            <a:off x="2851552" y="5716867"/>
            <a:ext cx="3721794" cy="4878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7F5C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운영체계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</p:spTree>
    <p:extLst>
      <p:ext uri="{BB962C8B-B14F-4D97-AF65-F5344CB8AC3E}">
        <p14:creationId xmlns:p14="http://schemas.microsoft.com/office/powerpoint/2010/main" val="2254871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61" grpId="0" animBg="1"/>
      <p:bldP spid="87" grpId="0" animBg="1"/>
      <p:bldP spid="89" grpId="0" animBg="1"/>
      <p:bldP spid="90" grpId="0" animBg="1"/>
      <p:bldP spid="91" grpId="0" animBg="1"/>
      <p:bldP spid="6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1.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의의 및 목적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251518"/>
              </p:ext>
            </p:extLst>
          </p:nvPr>
        </p:nvGraphicFramePr>
        <p:xfrm>
          <a:off x="251520" y="1196752"/>
          <a:ext cx="8496944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2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800" b="0" dirty="0">
                        <a:solidFill>
                          <a:schemeClr val="bg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800" b="0" dirty="0">
                        <a:solidFill>
                          <a:schemeClr val="bg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800" b="0" dirty="0">
                        <a:solidFill>
                          <a:schemeClr val="bg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b="0" dirty="0">
                          <a:solidFill>
                            <a:schemeClr val="bg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 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전통적 의미의 실업보험 사업을 비롯하여 고용안정 사업 및 직업능력개발사업 등의 노동시장정책을 적극적으로 연계하여 통합적으로 실시하는 사회보험제도</a:t>
                      </a:r>
                      <a:endParaRPr lang="en-US" altLang="ko-KR" sz="1800" b="0" kern="1200" dirty="0">
                        <a:solidFill>
                          <a:schemeClr val="lt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342900" marR="0" indent="-342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근로자에게는 실업급여와 직업능력개발 비용을</a:t>
                      </a:r>
                      <a:r>
                        <a:rPr lang="en-US" altLang="ko-KR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사업주에게는 고용유지와 교육훈련 비용을 지원</a:t>
                      </a:r>
                    </a:p>
                    <a:p>
                      <a:pPr marL="342900" marR="0" indent="-342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실업보험이 실직자의 생계를 지원하는 사후적</a:t>
                      </a:r>
                      <a:r>
                        <a:rPr lang="en-US" altLang="ko-KR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소극적인 사회보장제도인 반면</a:t>
                      </a:r>
                      <a:r>
                        <a:rPr lang="en-US" altLang="ko-KR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고용보험은 실직자에 대한 생계지원은 물론 재취업을 촉진하고 사전적</a:t>
                      </a:r>
                      <a:r>
                        <a:rPr lang="en-US" altLang="ko-KR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적극적 차원의 종합적인 인력정책 수단</a:t>
                      </a:r>
                      <a:endParaRPr lang="ko-KR" altLang="en-US" sz="1800" b="0" dirty="0">
                        <a:solidFill>
                          <a:schemeClr val="bg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13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800" b="0" dirty="0">
                        <a:solidFill>
                          <a:schemeClr val="tx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800" b="0" dirty="0">
                        <a:solidFill>
                          <a:schemeClr val="tx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목  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고용보험의 시행을 통하여 실업의 예방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고용 촉진 및 근로자의 직업능력 개발과 향상을 꾀하고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국가의 직업지도와 직업소개 기능을 강화하며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근로자가 실업한 경우에 생활에 필요 한 급여를 실시하여 근로자의 생활안정과 구직 활동을 촉진함으로써 경제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.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사회 발전에 이바지하는 것을 목적으로 함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</a:t>
                      </a:r>
                      <a:endParaRPr lang="ko-KR" altLang="en-US" sz="1800" b="0" dirty="0">
                        <a:solidFill>
                          <a:schemeClr val="tx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677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1.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의의 및 목적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780928"/>
            <a:ext cx="8496944" cy="3240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475563"/>
              </p:ext>
            </p:extLst>
          </p:nvPr>
        </p:nvGraphicFramePr>
        <p:xfrm>
          <a:off x="257970" y="1484784"/>
          <a:ext cx="8634510" cy="110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3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08720"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dirty="0">
                          <a:solidFill>
                            <a:srgbClr val="FFFF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전통적 의미의 실업보험사업을 비롯하여 고용안정사업과 직업능력개발사업 등의 노동시장정책을 적극적으로 연계하여 통합적으로 실시하는 사회보장제도임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3272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2.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도입배경 및 발전과정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313426"/>
              </p:ext>
            </p:extLst>
          </p:nvPr>
        </p:nvGraphicFramePr>
        <p:xfrm>
          <a:off x="277069" y="1700808"/>
          <a:ext cx="863451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3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08720"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우리나라는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1960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년대 이후 고도성장을 이루었기 때문에 실업률이 매우 낮아서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기업과 노동자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그리고 정부 모두 실업보험에는 크게 관심이 없었음</a:t>
                      </a:r>
                    </a:p>
                    <a:p>
                      <a:pPr marL="342900" marR="0" indent="-342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그러나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1980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년대 후반부터 나타난 인력수급 불균형의 문제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산업구조조정에 따른 고용조정지원 문제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직업훈련강화 등에 대한 제도적 수단으로서 고용보험에 대한 관심이 고조되면서 본격적으로 논의되기 시작</a:t>
                      </a: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342900" marR="0" indent="-342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1992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5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월 </a:t>
                      </a:r>
                      <a:r>
                        <a:rPr lang="ko-KR" alt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고용보험연구기획단이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발족되어 연구가 급속하게 이루어짐</a:t>
                      </a:r>
                    </a:p>
                    <a:p>
                      <a:pPr marL="342900" marR="0" indent="-342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1993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5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월에는 고용보험제도 안이 마련되어 정부에 제출되고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고용보험 조기실시에 대한 노총과 </a:t>
                      </a:r>
                      <a:r>
                        <a:rPr lang="ko-KR" alt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경총의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중앙노사합의가 대정부 건의사항으로 채택됨</a:t>
                      </a: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342900" marR="0" indent="-342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고용보험연구기획단이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제출한 안을 기초로 하여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1993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12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월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27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 고용보험법이 제정되었고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1995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7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월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 부터 제도가 시행됨</a:t>
                      </a: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342900" marR="0" indent="-342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1997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 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IMF 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때의 대량실업이라는 사회적 위기에 대응하면서 급속하게 확대됨</a:t>
                      </a:r>
                    </a:p>
                    <a:p>
                      <a:pPr marL="342900" marR="0" indent="-342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ko-KR" altLang="en-US" sz="1800" b="0" dirty="0">
                        <a:solidFill>
                          <a:schemeClr val="tx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251520" y="1013283"/>
            <a:ext cx="1944216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1)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도입배경</a:t>
            </a:r>
          </a:p>
        </p:txBody>
      </p:sp>
    </p:spTree>
    <p:extLst>
      <p:ext uri="{BB962C8B-B14F-4D97-AF65-F5344CB8AC3E}">
        <p14:creationId xmlns:p14="http://schemas.microsoft.com/office/powerpoint/2010/main" val="2311613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2.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도입배경 및 발전과정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870606"/>
              </p:ext>
            </p:extLst>
          </p:nvPr>
        </p:nvGraphicFramePr>
        <p:xfrm>
          <a:off x="323528" y="1557890"/>
          <a:ext cx="8496944" cy="49674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4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5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연 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주요 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58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1993.12</a:t>
                      </a:r>
                      <a:endParaRPr lang="ko-KR" altLang="en-US" sz="180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고용보험법 제정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9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1995.07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고용보험 실시</a:t>
                      </a: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실업급여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30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인 이상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고용안정 및 직업능력개발 사업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70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인 이상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58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dirty="0">
                          <a:solidFill>
                            <a:srgbClr val="00B05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1998.10</a:t>
                      </a:r>
                      <a:endParaRPr lang="ko-KR" altLang="en-US" sz="1800" dirty="0">
                        <a:solidFill>
                          <a:srgbClr val="00B05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인 이상 전 사업장으로 고용보험 확대</a:t>
                      </a:r>
                      <a:endParaRPr lang="ko-KR" altLang="en-US" sz="1800" dirty="0">
                        <a:solidFill>
                          <a:srgbClr val="00B05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58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2001.11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고용보험을 통해 모성보호급여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육아휴직급여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산전후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휴가급여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89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2004.01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일용근로자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60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세 이상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65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세 미만 근로자 고용보험 적용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9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2006.01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고용안정사업과 직업능력개발사업 통합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65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세 이상 고용안정 및 직업능력개발 사업 적용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실업급여 제외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763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2008.09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별정직 및 계약직 공무원 고용보험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실업급여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적용→임의가입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858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2009.12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고용보험료 산정기준 변경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임금→보수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251520" y="1013283"/>
            <a:ext cx="1944216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발전과정</a:t>
            </a:r>
          </a:p>
        </p:txBody>
      </p:sp>
    </p:spTree>
    <p:extLst>
      <p:ext uri="{BB962C8B-B14F-4D97-AF65-F5344CB8AC3E}">
        <p14:creationId xmlns:p14="http://schemas.microsoft.com/office/powerpoint/2010/main" val="1905414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2.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도입배경 및 발전과정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707572"/>
              </p:ext>
            </p:extLst>
          </p:nvPr>
        </p:nvGraphicFramePr>
        <p:xfrm>
          <a:off x="323528" y="1700808"/>
          <a:ext cx="8496944" cy="33123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4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43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연 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주요 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521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2012.01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자영업자에 고용보험 적용 확대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임의가입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65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65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근로자를 사용하지 않거나 </a:t>
                      </a:r>
                      <a:r>
                        <a:rPr lang="en-US" altLang="ko-KR" sz="165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50</a:t>
                      </a:r>
                      <a:r>
                        <a:rPr lang="ko-KR" altLang="en-US" sz="165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인 미만의 근로자를 사용하고 있는 자영업자</a:t>
                      </a:r>
                      <a:r>
                        <a:rPr lang="en-US" altLang="ko-KR" sz="165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65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8779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2013.06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65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세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이상자에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대한 실업급여 적용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(65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세 이후에 고용된 자 제외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6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8779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2014.10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아빠의 달 육아휴직 특례제도 시행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509962"/>
                  </a:ext>
                </a:extLst>
              </a:tr>
              <a:tr h="46418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2016.05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dirty="0" err="1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실업크레딧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제도 도입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00920"/>
                  </a:ext>
                </a:extLst>
              </a:tr>
              <a:tr h="5030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2022.01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3+3 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육아휴직제도 시행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392957"/>
                  </a:ext>
                </a:extLst>
              </a:tr>
            </a:tbl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251520" y="1013283"/>
            <a:ext cx="1944216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발전과정</a:t>
            </a:r>
          </a:p>
        </p:txBody>
      </p:sp>
    </p:spTree>
    <p:extLst>
      <p:ext uri="{BB962C8B-B14F-4D97-AF65-F5344CB8AC3E}">
        <p14:creationId xmlns:p14="http://schemas.microsoft.com/office/powerpoint/2010/main" val="184587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3.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적용대상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431480"/>
              </p:ext>
            </p:extLst>
          </p:nvPr>
        </p:nvGraphicFramePr>
        <p:xfrm>
          <a:off x="281540" y="1608802"/>
          <a:ext cx="8496944" cy="473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6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0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 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내 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019">
                <a:tc>
                  <a:txBody>
                    <a:bodyPr/>
                    <a:lstStyle/>
                    <a:p>
                      <a:pPr algn="ctr" latinLnBrk="1">
                        <a:lnSpc>
                          <a:spcPts val="2500"/>
                        </a:lnSpc>
                      </a:pPr>
                      <a:r>
                        <a:rPr lang="ko-KR" altLang="en-US" sz="16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가입대상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6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6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인 이상 근로자를 사용하는 모든 사업 또는 사업장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019">
                <a:tc>
                  <a:txBody>
                    <a:bodyPr/>
                    <a:lstStyle/>
                    <a:p>
                      <a:pPr algn="ctr" latinLnBrk="1">
                        <a:lnSpc>
                          <a:spcPts val="2500"/>
                        </a:lnSpc>
                      </a:pPr>
                      <a:endParaRPr lang="en-US" altLang="ko-KR" sz="16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2500"/>
                        </a:lnSpc>
                      </a:pPr>
                      <a:endParaRPr lang="en-US" altLang="ko-KR" sz="16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2500"/>
                        </a:lnSpc>
                      </a:pPr>
                      <a:r>
                        <a:rPr lang="ko-KR" altLang="en-US" sz="16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적용제외사업장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농업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임업 및 어업 중 법인이 아닌 자가 상시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4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명 이하 근로자를 사용하는 사업</a:t>
                      </a:r>
                    </a:p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총 공사금액이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2</a:t>
                      </a:r>
                      <a:r>
                        <a:rPr lang="ko-KR" altLang="en-US" sz="16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천만원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미만인 공사</a:t>
                      </a:r>
                    </a:p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연 면적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100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㎡이하인 건축물 건축 또는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200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㎡이하인 건축물의 대수선 공사</a:t>
                      </a:r>
                    </a:p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가구 내 고용활동 및 달리 분류되지 아니한 자가소비 생산 활동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342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6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6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적용제외근로자</a:t>
                      </a:r>
                    </a:p>
                    <a:p>
                      <a:pPr algn="ctr" latinLnBrk="1">
                        <a:lnSpc>
                          <a:spcPts val="2500"/>
                        </a:lnSpc>
                      </a:pPr>
                      <a:endParaRPr lang="ko-KR" altLang="en-US" sz="16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개월 소정근로시간이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60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시간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주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15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시간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미만인 자</a:t>
                      </a:r>
                      <a:endParaRPr lang="en-US" altLang="ko-KR" sz="16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⇒ 3</a:t>
                      </a:r>
                      <a:r>
                        <a:rPr lang="ko-KR" altLang="en-US" sz="12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개월 이상 근로를 제공하는 자와 </a:t>
                      </a:r>
                      <a:r>
                        <a:rPr lang="en-US" altLang="ko-KR" sz="12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개월 미만 동안 고용되는 일용노동자는 적용됨</a:t>
                      </a:r>
                    </a:p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국가 및 지방공무원법에 의한 공무원</a:t>
                      </a:r>
                      <a:endParaRPr lang="en-US" altLang="ko-KR" sz="16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indent="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⇒ </a:t>
                      </a:r>
                      <a:r>
                        <a:rPr lang="ko-KR" altLang="en-US" sz="12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별정직</a:t>
                      </a:r>
                      <a:r>
                        <a:rPr lang="en-US" altLang="ko-KR" sz="12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</a:t>
                      </a:r>
                      <a:r>
                        <a:rPr lang="ko-KR" altLang="en-US" sz="12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계약직 공무원의 경우 본인의 의사에 따라 실업급여에만 가입할 수 있음</a:t>
                      </a:r>
                      <a:endParaRPr lang="en-US" altLang="ko-KR" sz="1200" kern="1200" dirty="0">
                        <a:solidFill>
                          <a:srgbClr val="A023AD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사립학교교직원연금법의 적용대상 자</a:t>
                      </a:r>
                      <a:endParaRPr lang="en-US" altLang="ko-KR" sz="16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별정우체국법에 따른 별정우체국 직원</a:t>
                      </a:r>
                      <a:endParaRPr lang="en-US" altLang="ko-KR" sz="16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65</a:t>
                      </a:r>
                      <a:r>
                        <a:rPr lang="ko-KR" altLang="en-US" sz="16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세 이후에 고용되거나 자영업을 개시한 자</a:t>
                      </a:r>
                    </a:p>
                    <a:p>
                      <a:pPr fontAlgn="base" latinLnBrk="1">
                        <a:lnSpc>
                          <a:spcPts val="2500"/>
                        </a:lnSpc>
                      </a:pPr>
                      <a:r>
                        <a:rPr lang="en-US" altLang="ko-KR" sz="2000" kern="1200" dirty="0">
                          <a:solidFill>
                            <a:srgbClr val="3399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600" b="0" kern="1200" dirty="0">
                          <a:solidFill>
                            <a:srgbClr val="3399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⇒ </a:t>
                      </a:r>
                      <a:r>
                        <a:rPr lang="ko-KR" altLang="en-US" sz="1600" b="0" kern="1200" dirty="0">
                          <a:solidFill>
                            <a:srgbClr val="3399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고용안정 및 직업능력개발 사업은 적용</a:t>
                      </a:r>
                      <a:r>
                        <a:rPr lang="en-US" altLang="ko-KR" sz="1600" b="0" kern="1200" dirty="0">
                          <a:solidFill>
                            <a:srgbClr val="3399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600" b="0" kern="1200" dirty="0">
                          <a:solidFill>
                            <a:srgbClr val="3399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실업급여와 육아휴직급여 제외</a:t>
                      </a:r>
                      <a:r>
                        <a:rPr lang="en-US" altLang="ko-KR" sz="1600" b="0" kern="1200" dirty="0">
                          <a:solidFill>
                            <a:srgbClr val="3399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6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251520" y="1013283"/>
            <a:ext cx="3240360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가입대상</a:t>
            </a:r>
          </a:p>
        </p:txBody>
      </p:sp>
    </p:spTree>
    <p:extLst>
      <p:ext uri="{BB962C8B-B14F-4D97-AF65-F5344CB8AC3E}">
        <p14:creationId xmlns:p14="http://schemas.microsoft.com/office/powerpoint/2010/main" val="3479293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3.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적용대상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377322"/>
              </p:ext>
            </p:extLst>
          </p:nvPr>
        </p:nvGraphicFramePr>
        <p:xfrm>
          <a:off x="281540" y="1608802"/>
          <a:ext cx="8496944" cy="46285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2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4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6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 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내 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7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당연적용</a:t>
                      </a: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가입자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사업이 개시되어 적용요건을 갖추었을 때 사업주나 근로자의 의사와 관계없이 법률적으로 당연히 보험관계가 성립하는 사업</a:t>
                      </a: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고용보험법을 적용 받는 사업의 사업주와 근로자는 고용보험의    당연적용 가입자가 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917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임의적용</a:t>
                      </a: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가입자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고용보험법에 의한 적용제외사업으로 보험가입 여부가 사업주와 근로자의 자유의사에 일임되어 있는 사업</a:t>
                      </a: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당연적용 사업장에 해당하지 않는 사업의 사업주는 근로자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과반수의 동의를 얻어 공단의 승인을 받으면 고용보험에 가입하거나 해지할 수 있음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251520" y="1013283"/>
            <a:ext cx="2592288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가입자의 종류</a:t>
            </a:r>
          </a:p>
        </p:txBody>
      </p:sp>
    </p:spTree>
    <p:extLst>
      <p:ext uri="{BB962C8B-B14F-4D97-AF65-F5344CB8AC3E}">
        <p14:creationId xmlns:p14="http://schemas.microsoft.com/office/powerpoint/2010/main" val="590808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155546"/>
              </p:ext>
            </p:extLst>
          </p:nvPr>
        </p:nvGraphicFramePr>
        <p:xfrm>
          <a:off x="251520" y="2276872"/>
          <a:ext cx="8640960" cy="3835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5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3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2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98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사업 구분</a:t>
                      </a:r>
                    </a:p>
                  </a:txBody>
                  <a:tcPr marL="64770" marR="64770" marT="17907" marB="17907" anchor="ctr"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사업 내용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78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실업급여</a:t>
                      </a:r>
                    </a:p>
                  </a:txBody>
                  <a:tcPr marL="64770" marR="64770" marT="17907" marB="17907" anchor="ctr"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① 구직급여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marL="3810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500" kern="0" spc="0" dirty="0">
                        <a:solidFill>
                          <a:srgbClr val="000000"/>
                        </a:solidFill>
                        <a:effectLst/>
                        <a:latin typeface="HY수평선M" panose="02030600000101010101" pitchFamily="18" charset="-127"/>
                        <a:ea typeface="HY수평선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9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② 취업촉진수당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81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조기재취업수당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직업능력개발수당</a:t>
                      </a:r>
                    </a:p>
                    <a:p>
                      <a:pPr marL="381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광역구직활동비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이주비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③ 연장급여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810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훈련연장급여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개별연장급여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특별연장급여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④ 상병급여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81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91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모성보호급여</a:t>
                      </a:r>
                    </a:p>
                  </a:txBody>
                  <a:tcPr marL="64770" marR="64770" marT="17907" marB="17907" anchor="ctr"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①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출산전후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휴가급여 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② 육아휴직급여 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③ 육아기 근로시간 단축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38969" y="1196752"/>
            <a:ext cx="8640960" cy="648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spcBef>
                <a:spcPct val="0"/>
              </a:spcBef>
              <a:defRPr/>
            </a:pPr>
            <a:r>
              <a:rPr lang="ko-KR" altLang="en-US" dirty="0">
                <a:solidFill>
                  <a:srgbClr val="FF000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고용보험 사업체계 </a:t>
            </a:r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≫ 실업급여</a:t>
            </a:r>
            <a:r>
              <a:rPr lang="en-US" altLang="ko-KR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모성보호급여</a:t>
            </a:r>
            <a:r>
              <a:rPr lang="en-US" altLang="ko-KR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고용안정 및 직업능력개발사업</a:t>
            </a:r>
          </a:p>
        </p:txBody>
      </p:sp>
    </p:spTree>
    <p:extLst>
      <p:ext uri="{BB962C8B-B14F-4D97-AF65-F5344CB8AC3E}">
        <p14:creationId xmlns:p14="http://schemas.microsoft.com/office/powerpoint/2010/main" val="697785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934168"/>
              </p:ext>
            </p:extLst>
          </p:nvPr>
        </p:nvGraphicFramePr>
        <p:xfrm>
          <a:off x="323528" y="1196752"/>
          <a:ext cx="8568952" cy="5451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850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사업 구분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사업 내용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659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고용안정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및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직업능력개발사업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① 고용창출의 지원 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② 고용조정의 지원 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③ 지역고용의 촉진</a:t>
                      </a:r>
                    </a:p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④ 고령자 등 고용촉진의 지원 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⑤ 건설근로자 등의 고용안정 지원</a:t>
                      </a:r>
                    </a:p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⑥ 고용안정 및 취업촉진 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⑦ 고용촉진시설에 대한 지원</a:t>
                      </a:r>
                    </a:p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⑧ 사업주에 대한 직업능력개발 훈련의 지원</a:t>
                      </a:r>
                    </a:p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⑨ 피보험자들에 대한 직업능력개발 지원</a:t>
                      </a:r>
                    </a:p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⑩ 직업능력개발 훈련시설에 대한 지원</a:t>
                      </a:r>
                    </a:p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⑪ 직업능력개발의 촉진 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⑫ 건설근로자 등의 직업능력개발 지원</a:t>
                      </a:r>
                    </a:p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⑬ 고용정보의 제공 및 고용지원 기반의 구축</a:t>
                      </a:r>
                    </a:p>
                    <a:p>
                      <a:pPr marL="0" marR="0" indent="0" algn="just" fontAlgn="base" latinLnBrk="1">
                        <a:lnSpc>
                          <a:spcPts val="2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⑭ 지방자치단체 등에 대한 지원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172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/>
          <p:cNvSpPr/>
          <p:nvPr/>
        </p:nvSpPr>
        <p:spPr>
          <a:xfrm>
            <a:off x="2951820" y="1700808"/>
            <a:ext cx="3168352" cy="4320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spcBef>
                <a:spcPct val="0"/>
              </a:spcBef>
              <a:defRPr/>
            </a:pPr>
            <a:r>
              <a:rPr lang="en-US" altLang="ko-KR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&lt;</a:t>
            </a:r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그림</a:t>
            </a:r>
            <a:r>
              <a:rPr lang="en-US" altLang="ko-KR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&gt; </a:t>
            </a:r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실업급여의 종류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203818568" descr="EMB00001a2c77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07" t="34169" r="2792" b="23508"/>
          <a:stretch>
            <a:fillRect/>
          </a:stretch>
        </p:blipFill>
        <p:spPr bwMode="auto">
          <a:xfrm>
            <a:off x="467544" y="2204864"/>
            <a:ext cx="8136904" cy="446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51520" y="1013283"/>
            <a:ext cx="2088232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실업급여</a:t>
            </a:r>
          </a:p>
        </p:txBody>
      </p:sp>
    </p:spTree>
    <p:extLst>
      <p:ext uri="{BB962C8B-B14F-4D97-AF65-F5344CB8AC3E}">
        <p14:creationId xmlns:p14="http://schemas.microsoft.com/office/powerpoint/2010/main" val="2458218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96074"/>
              </p:ext>
            </p:extLst>
          </p:nvPr>
        </p:nvGraphicFramePr>
        <p:xfrm>
          <a:off x="323528" y="1628799"/>
          <a:ext cx="8496944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90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수급요건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468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구직급여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1800" b="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기준기간</a:t>
                      </a:r>
                      <a:r>
                        <a:rPr lang="en-US" altLang="ko-KR" sz="1800" b="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이직일 이전 </a:t>
                      </a:r>
                      <a:r>
                        <a:rPr lang="en-US" altLang="ko-KR" sz="1800" b="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18</a:t>
                      </a:r>
                      <a:r>
                        <a:rPr lang="ko-KR" altLang="en-US" sz="1800" b="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개월</a:t>
                      </a:r>
                      <a:r>
                        <a:rPr lang="en-US" altLang="ko-KR" sz="1800" b="0" kern="120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 </a:t>
                      </a:r>
                      <a:r>
                        <a:rPr lang="ko-KR" altLang="en-US" sz="1800" b="0" kern="120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피보험</a:t>
                      </a:r>
                      <a:r>
                        <a:rPr lang="ko-KR" altLang="en-US" sz="1800" b="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단위기간이 통산하여 </a:t>
                      </a:r>
                      <a:r>
                        <a:rPr lang="en-US" altLang="ko-KR" sz="1800" b="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180</a:t>
                      </a:r>
                      <a:r>
                        <a:rPr lang="ko-KR" altLang="en-US" sz="1800" b="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 이상일 것</a:t>
                      </a:r>
                      <a:endParaRPr lang="en-US" altLang="ko-KR" sz="1800" b="0" kern="1200" dirty="0">
                        <a:solidFill>
                          <a:srgbClr val="A023AD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근로의 의사와 능력이 있음에도 불구하고 취업하지 못한 상태여야 함</a:t>
                      </a:r>
                      <a:endParaRPr lang="en-US" altLang="ko-KR" sz="1800" b="0" kern="1200" dirty="0">
                        <a:solidFill>
                          <a:srgbClr val="00B05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이직사유가 중대한 귀책사유로 인한 해고나 자발적 이직이 아닐 것</a:t>
                      </a:r>
                      <a:endParaRPr lang="en-US" altLang="ko-KR" sz="1800" b="0" kern="1200" dirty="0">
                        <a:solidFill>
                          <a:srgbClr val="00B05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indent="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800" b="0" kern="1200" baseline="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</a:t>
                      </a:r>
                      <a:r>
                        <a:rPr lang="en-US" altLang="ko-KR" sz="1800" b="0" kern="1200" baseline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0" kern="1200" baseline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계약종료나 회사의 경영사정 등으로 인한 비자발적 이직이어야 함</a:t>
                      </a:r>
                      <a:r>
                        <a:rPr lang="en-US" altLang="ko-KR" sz="1800" b="0" kern="1200" baseline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800" b="0" kern="1200" dirty="0">
                        <a:solidFill>
                          <a:srgbClr val="FF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1200" dirty="0">
                          <a:solidFill>
                            <a:srgbClr val="3399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재취업을 위한 노력을 적극적으로 하여야 함</a:t>
                      </a:r>
                      <a:endParaRPr lang="en-US" altLang="ko-KR" sz="1800" b="0" kern="1200" dirty="0">
                        <a:solidFill>
                          <a:srgbClr val="3399FF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1800" b="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※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이직이란 피보험자와 사업주 사이의 고용관계가 끝나게 되는 것을 말함</a:t>
                      </a: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endParaRPr lang="ko-KR" altLang="en-US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모서리가 둥근 직사각형 7"/>
          <p:cNvSpPr/>
          <p:nvPr/>
        </p:nvSpPr>
        <p:spPr>
          <a:xfrm>
            <a:off x="251520" y="1013283"/>
            <a:ext cx="2664296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실업급여</a:t>
            </a:r>
          </a:p>
        </p:txBody>
      </p:sp>
    </p:spTree>
    <p:extLst>
      <p:ext uri="{BB962C8B-B14F-4D97-AF65-F5344CB8AC3E}">
        <p14:creationId xmlns:p14="http://schemas.microsoft.com/office/powerpoint/2010/main" val="2164720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969069"/>
              </p:ext>
            </p:extLst>
          </p:nvPr>
        </p:nvGraphicFramePr>
        <p:xfrm>
          <a:off x="323528" y="1628799"/>
          <a:ext cx="8496944" cy="44942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90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종류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신청절차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7320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구직급여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0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실업의 신고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구직급여를 지급받으려는 자는 이직 후 지체 없이 고용센터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직업안정기관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에 출석하여 </a:t>
                      </a:r>
                      <a:r>
                        <a:rPr lang="ko-KR" altLang="en-US" sz="1800" b="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실업을 신고하여야 함</a:t>
                      </a:r>
                      <a:endParaRPr lang="en-US" altLang="ko-KR" sz="1800" b="0" kern="1200" dirty="0">
                        <a:solidFill>
                          <a:srgbClr val="FF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수급기간은 이직 후 다음날부터 </a:t>
                      </a:r>
                      <a:r>
                        <a:rPr lang="en-US" altLang="ko-KR" sz="1800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12</a:t>
                      </a:r>
                      <a:r>
                        <a:rPr lang="ko-KR" altLang="en-US" sz="1800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개월 이내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이므로 이직 후 지체 없이 실업신고를 하여야 함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(12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개월이 지나면 수급할 수 없음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80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수급자격인정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구직급여를 지급받으려는 자는 직업안정기관의 장으로부터 수급요건을 갖추었다는 사실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수급자격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의 인정을 받아야 함</a:t>
                      </a:r>
                      <a:endParaRPr lang="ko-KR" altLang="en-US" b="0" dirty="0">
                        <a:solidFill>
                          <a:srgbClr val="7030A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0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실업의 인정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구직급여를 받으려는 자는 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1-4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주마다 직업안정기관에 출석하여 실업 상태에서 적극적으로 재취업활동을 한 사실을 신고하고 </a:t>
                      </a:r>
                      <a:r>
                        <a:rPr lang="ko-KR" altLang="en-US" sz="1800" b="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실업인정을 받아야 함</a:t>
                      </a:r>
                      <a:r>
                        <a:rPr lang="en-US" altLang="ko-KR" sz="1800" b="0" kern="1200" dirty="0">
                          <a:solidFill>
                            <a:srgbClr val="7030A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0" kern="1200" dirty="0">
                          <a:solidFill>
                            <a:srgbClr val="7030A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구직급여는 실업의 인정을 받은 날에 대해 지급</a:t>
                      </a:r>
                      <a:r>
                        <a:rPr lang="en-US" altLang="ko-KR" sz="1800" b="0" kern="1200" dirty="0">
                          <a:solidFill>
                            <a:srgbClr val="7030A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))</a:t>
                      </a:r>
                      <a:endParaRPr lang="ko-KR" altLang="en-US" b="0" dirty="0">
                        <a:solidFill>
                          <a:srgbClr val="7030A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모서리가 둥근 직사각형 7"/>
          <p:cNvSpPr/>
          <p:nvPr/>
        </p:nvSpPr>
        <p:spPr>
          <a:xfrm>
            <a:off x="297988" y="1044796"/>
            <a:ext cx="2664296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실업급여</a:t>
            </a:r>
          </a:p>
        </p:txBody>
      </p:sp>
    </p:spTree>
    <p:extLst>
      <p:ext uri="{BB962C8B-B14F-4D97-AF65-F5344CB8AC3E}">
        <p14:creationId xmlns:p14="http://schemas.microsoft.com/office/powerpoint/2010/main" val="1711856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81972"/>
              </p:ext>
            </p:extLst>
          </p:nvPr>
        </p:nvGraphicFramePr>
        <p:xfrm>
          <a:off x="251520" y="1700809"/>
          <a:ext cx="8661328" cy="5166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9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76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33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33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33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233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386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1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종류</a:t>
                      </a:r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1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급여수준과 수급기간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1287">
                <a:tc rowSpan="6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구직급여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spc="-15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구직급여</a:t>
                      </a:r>
                      <a:r>
                        <a:rPr lang="en-US" altLang="ko-KR" sz="1800" kern="1200" spc="-15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=</a:t>
                      </a:r>
                      <a:r>
                        <a:rPr lang="ko-KR" altLang="en-US" sz="1800" kern="1200" spc="-15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이직 당시 산정된</a:t>
                      </a:r>
                      <a:r>
                        <a:rPr lang="ko-KR" altLang="en-US" sz="1800" kern="1200" spc="-150" baseline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평균임금의 </a:t>
                      </a:r>
                      <a:r>
                        <a:rPr lang="en-US" altLang="ko-KR" sz="1800" kern="1200" spc="-150" baseline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60%(</a:t>
                      </a:r>
                      <a:r>
                        <a:rPr lang="ko-KR" altLang="en-US" sz="1800" kern="1200" spc="-150" baseline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구직급여일액</a:t>
                      </a:r>
                      <a:r>
                        <a:rPr lang="en-US" altLang="ko-KR" sz="1800" kern="1200" spc="-150" baseline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en-US" altLang="ko-KR" sz="1800" kern="1200" spc="-15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×</a:t>
                      </a:r>
                      <a:r>
                        <a:rPr lang="ko-KR" altLang="en-US" sz="1800" kern="1200" spc="-15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소정급여일수</a:t>
                      </a:r>
                      <a:endParaRPr lang="en-US" altLang="ko-KR" sz="1800" kern="1200" spc="-150" dirty="0">
                        <a:solidFill>
                          <a:srgbClr val="C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상한액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: 66,000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</a:rPr>
                        <a:t>110,000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</a:rPr>
                        <a:t>원</a:t>
                      </a:r>
                      <a:r>
                        <a:rPr lang="en-US" altLang="ko-KR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</a:rPr>
                        <a:t>×60%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</a:rPr>
                        <a:t>/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2021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하한액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최저임금법 적용</a:t>
                      </a:r>
                      <a:r>
                        <a:rPr lang="en-US" altLang="ko-KR" sz="1800" kern="1200" spc="-15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spc="-150" dirty="0">
                          <a:solidFill>
                            <a:srgbClr val="00B0F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시간급 최저임금의 </a:t>
                      </a:r>
                      <a:r>
                        <a:rPr lang="en-US" altLang="ko-KR" sz="1800" kern="1200" spc="-150" dirty="0">
                          <a:solidFill>
                            <a:srgbClr val="00B0F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80% x 1</a:t>
                      </a:r>
                      <a:r>
                        <a:rPr lang="ko-KR" altLang="en-US" sz="1800" kern="1200" spc="-150" dirty="0">
                          <a:solidFill>
                            <a:srgbClr val="00B0F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</a:t>
                      </a:r>
                      <a:r>
                        <a:rPr lang="en-US" altLang="ko-KR" sz="1800" kern="1200" spc="-150" baseline="0" dirty="0">
                          <a:solidFill>
                            <a:srgbClr val="00B0F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800" kern="1200" spc="-150" baseline="0" dirty="0">
                          <a:solidFill>
                            <a:srgbClr val="00B0F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소정근로시간</a:t>
                      </a:r>
                      <a:r>
                        <a:rPr lang="en-US" altLang="ko-KR" sz="1800" kern="1200" spc="-150" baseline="0" dirty="0">
                          <a:solidFill>
                            <a:srgbClr val="00B0F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800" b="0" spc="-150" dirty="0">
                        <a:solidFill>
                          <a:srgbClr val="00B0F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574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실업 신고일로부터 </a:t>
                      </a:r>
                      <a:r>
                        <a:rPr lang="en-US" altLang="ko-KR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7</a:t>
                      </a: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일간은 대기기간</a:t>
                      </a:r>
                      <a:r>
                        <a:rPr lang="en-US" altLang="ko-KR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구직급여 지급하지 않음</a:t>
                      </a:r>
                      <a:r>
                        <a:rPr lang="en-US" altLang="ko-KR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수급기간은 대기기간이 끝난 다음날부터 계산함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수급일수는</a:t>
                      </a:r>
                      <a:r>
                        <a:rPr lang="ko-KR" altLang="en-US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800" kern="1200" dirty="0" err="1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피보험</a:t>
                      </a:r>
                      <a:r>
                        <a:rPr lang="ko-KR" altLang="en-US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기간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과 </a:t>
                      </a:r>
                      <a:r>
                        <a:rPr lang="ko-KR" altLang="en-US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연령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에 따라 </a:t>
                      </a:r>
                      <a:r>
                        <a:rPr lang="en-US" altLang="ko-KR" sz="1800" b="1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120</a:t>
                      </a:r>
                      <a:r>
                        <a:rPr lang="ko-KR" altLang="en-US" sz="1800" b="1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일에서 </a:t>
                      </a:r>
                      <a:r>
                        <a:rPr lang="en-US" altLang="ko-KR" sz="1800" b="1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270</a:t>
                      </a:r>
                      <a:r>
                        <a:rPr lang="ko-KR" altLang="en-US" sz="1800" b="1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일까지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지급</a:t>
                      </a:r>
                      <a:endParaRPr lang="ko-KR" altLang="en-US" sz="1800" b="0" dirty="0">
                        <a:solidFill>
                          <a:srgbClr val="7030A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3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0" kern="0" spc="-15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연 령</a:t>
                      </a:r>
                      <a:endParaRPr lang="en-US" altLang="ko-KR" sz="1800" b="0" kern="0" spc="-15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b="0" kern="0" spc="-15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b="0" kern="0" spc="-15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이직일 기준</a:t>
                      </a:r>
                      <a:r>
                        <a:rPr lang="en-US" altLang="ko-KR" sz="1800" b="0" kern="0" spc="-15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b="0" kern="0" spc="-15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-150" dirty="0" err="1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피보험</a:t>
                      </a:r>
                      <a:r>
                        <a:rPr lang="ko-KR" altLang="en-US" sz="1800" b="1" kern="0" spc="-15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기간</a:t>
                      </a:r>
                      <a:r>
                        <a:rPr lang="en-US" altLang="ko-KR" sz="1800" b="1" kern="0" spc="-15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b="1" kern="0" spc="-15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일</a:t>
                      </a:r>
                      <a:r>
                        <a:rPr lang="en-US" altLang="ko-KR" sz="1800" b="1" kern="0" spc="-15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b="1" kern="0" spc="-150" dirty="0">
                        <a:solidFill>
                          <a:srgbClr val="FFFF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2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15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</a:t>
                      </a:r>
                      <a:r>
                        <a:rPr lang="ko-KR" altLang="en-US" sz="1800" kern="0" spc="-15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 미만</a:t>
                      </a:r>
                    </a:p>
                  </a:txBody>
                  <a:tcPr marL="64770" marR="64770" marT="17907" marB="17907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15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1-3</a:t>
                      </a:r>
                      <a:r>
                        <a:rPr lang="ko-KR" altLang="en-US" sz="1800" kern="0" spc="-15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</a:t>
                      </a:r>
                    </a:p>
                  </a:txBody>
                  <a:tcPr marL="64770" marR="64770" marT="17907" marB="17907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15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3-5</a:t>
                      </a:r>
                      <a:r>
                        <a:rPr lang="ko-KR" altLang="en-US" sz="1800" kern="0" spc="-15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</a:t>
                      </a:r>
                    </a:p>
                  </a:txBody>
                  <a:tcPr marL="64770" marR="64770" marT="17907" marB="17907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15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5-10</a:t>
                      </a:r>
                      <a:r>
                        <a:rPr lang="ko-KR" altLang="en-US" sz="1800" kern="0" spc="-15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</a:t>
                      </a:r>
                    </a:p>
                  </a:txBody>
                  <a:tcPr marL="64770" marR="64770" marT="17907" marB="17907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20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10</a:t>
                      </a:r>
                      <a:r>
                        <a:rPr lang="ko-KR" altLang="en-US" sz="1800" kern="0" spc="-20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 이상</a:t>
                      </a:r>
                    </a:p>
                  </a:txBody>
                  <a:tcPr marL="64770" marR="64770" marT="17907" marB="17907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2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15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50</a:t>
                      </a:r>
                      <a:r>
                        <a:rPr lang="ko-KR" altLang="en-US" sz="1800" kern="0" spc="-15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세 미만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120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150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180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210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240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92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15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50</a:t>
                      </a:r>
                      <a:r>
                        <a:rPr lang="ko-KR" altLang="en-US" sz="1800" kern="0" spc="-15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세 이상</a:t>
                      </a:r>
                      <a:r>
                        <a:rPr lang="en-US" altLang="ko-KR" sz="1800" kern="0" spc="-15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</a:t>
                      </a:r>
                      <a:r>
                        <a:rPr lang="ko-KR" altLang="en-US" sz="1800" kern="0" spc="-15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및  장애인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120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180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210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240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270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297988" y="1044796"/>
            <a:ext cx="2664296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실업급여</a:t>
            </a:r>
          </a:p>
        </p:txBody>
      </p:sp>
    </p:spTree>
    <p:extLst>
      <p:ext uri="{BB962C8B-B14F-4D97-AF65-F5344CB8AC3E}">
        <p14:creationId xmlns:p14="http://schemas.microsoft.com/office/powerpoint/2010/main" val="1342081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47308"/>
              </p:ext>
            </p:extLst>
          </p:nvPr>
        </p:nvGraphicFramePr>
        <p:xfrm>
          <a:off x="297988" y="1628800"/>
          <a:ext cx="8496944" cy="513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40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1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1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44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연장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급여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>
                        <a:lnSpc>
                          <a:spcPts val="2500"/>
                        </a:lnSpc>
                      </a:pP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① 훈련연장급여</a:t>
                      </a:r>
                    </a:p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직업안정기관의 장이 수급자격자의 연령과 경력 등을 고려할 때 재취업을 위해 직업능력훈련이 필요하다고 인정하는 경우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구직급여의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100%,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최대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2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 동안 지급</a:t>
                      </a:r>
                    </a:p>
                    <a:p>
                      <a:pPr fontAlgn="base" latinLnBrk="1">
                        <a:lnSpc>
                          <a:spcPts val="2500"/>
                        </a:lnSpc>
                      </a:pP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② 개별연장급여</a:t>
                      </a:r>
                    </a:p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직업안정기관의 장이 특히 취업이 곤란하고 생활이 어려운 자로 인정하는 경우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구직급여액의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70%, 60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 범위 내에서 지급</a:t>
                      </a:r>
                    </a:p>
                    <a:p>
                      <a:pPr fontAlgn="base" latinLnBrk="1">
                        <a:lnSpc>
                          <a:spcPts val="2500"/>
                        </a:lnSpc>
                      </a:pP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③ 특별연장급여</a:t>
                      </a:r>
                    </a:p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실업 급증 등 고용사정이 좋지 않은 사유가 일정기간 발생한 경우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구직급여액의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70%, 60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 범위 내에서 지급</a:t>
                      </a:r>
                      <a:endParaRPr lang="ko-KR" altLang="en-US" b="0" dirty="0">
                        <a:solidFill>
                          <a:srgbClr val="7030A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3699">
                <a:tc>
                  <a:txBody>
                    <a:bodyPr/>
                    <a:lstStyle/>
                    <a:p>
                      <a:pPr latinLnBrk="1"/>
                      <a:endParaRPr lang="en-US" altLang="ko-KR" sz="110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latinLnBrk="1"/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상병급여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실업신고 후 질병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부상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출산으로 취업이 불가능하여 실업인정을 받지 못한 날에 대해 구직급여를 대신해서 같은 금액을 지급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구직급여에 갈음하므로 구직급여 미지급일수 한도 내에서 지급</a:t>
                      </a:r>
                      <a:endParaRPr lang="ko-KR" altLang="en-US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297988" y="1044796"/>
            <a:ext cx="2664296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실업급여</a:t>
            </a:r>
          </a:p>
        </p:txBody>
      </p:sp>
    </p:spTree>
    <p:extLst>
      <p:ext uri="{BB962C8B-B14F-4D97-AF65-F5344CB8AC3E}">
        <p14:creationId xmlns:p14="http://schemas.microsoft.com/office/powerpoint/2010/main" val="2790307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870605"/>
              </p:ext>
            </p:extLst>
          </p:nvPr>
        </p:nvGraphicFramePr>
        <p:xfrm>
          <a:off x="323528" y="1556792"/>
          <a:ext cx="8496944" cy="484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1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1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445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취업촉진 수당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>
                        <a:lnSpc>
                          <a:spcPts val="2700"/>
                        </a:lnSpc>
                      </a:pP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① 조기재취업 수당</a:t>
                      </a:r>
                    </a:p>
                    <a:p>
                      <a:pPr marL="285750" indent="-285750" fontAlgn="base" latinLnBrk="1">
                        <a:lnSpc>
                          <a:spcPts val="27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구직급여일수의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1/2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이상을 남기고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12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개월 이상 계속하여 고용된 경우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indent="0" fontAlgn="base" latinLnBrk="1">
                        <a:lnSpc>
                          <a:spcPts val="27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미지급일수에 대한 구직급여 지급</a:t>
                      </a:r>
                    </a:p>
                    <a:p>
                      <a:pPr fontAlgn="base" latinLnBrk="1">
                        <a:lnSpc>
                          <a:spcPts val="2700"/>
                        </a:lnSpc>
                      </a:pP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② 직업능력개발수당</a:t>
                      </a:r>
                    </a:p>
                    <a:p>
                      <a:pPr marL="285750" indent="-285750" fontAlgn="base" latinLnBrk="1">
                        <a:lnSpc>
                          <a:spcPts val="27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급여기간 중 직업안정기관의 장이 지시한 직업능력개발훈련 등을 받는 경우 교통비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식대 등 지급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indent="0" fontAlgn="base" latinLnBrk="1">
                        <a:lnSpc>
                          <a:spcPts val="2700"/>
                        </a:lnSpc>
                        <a:buFontTx/>
                        <a:buNone/>
                      </a:pP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③ 광역구직활동비</a:t>
                      </a:r>
                    </a:p>
                    <a:p>
                      <a:pPr marL="285750" indent="-285750" fontAlgn="base" latinLnBrk="1">
                        <a:lnSpc>
                          <a:spcPts val="27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직업안정기관의 소개에 따라 광범위한 지역에 걸쳐 구직하는 경우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indent="0" fontAlgn="base" latinLnBrk="1">
                        <a:lnSpc>
                          <a:spcPts val="27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운임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숙박비 등 구직활동에 통상 드는 비용 지급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indent="0" fontAlgn="base" latinLnBrk="1">
                        <a:lnSpc>
                          <a:spcPts val="27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④ </a:t>
                      </a:r>
                      <a:r>
                        <a:rPr lang="ko-KR" altLang="en-US" sz="1800" kern="1200" dirty="0" err="1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이주비</a:t>
                      </a:r>
                      <a:endParaRPr lang="ko-KR" altLang="en-US" sz="1800" kern="1200" dirty="0">
                        <a:solidFill>
                          <a:srgbClr val="0C6CF8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ts val="27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취업하거나 직업안정기관의 장이 지시한 직업능력개발훈련을 받기 위해 거주를 이전하는 경우 이주에 드는 비용 등 지급</a:t>
                      </a:r>
                      <a:endParaRPr lang="ko-KR" altLang="en-US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297988" y="1044796"/>
            <a:ext cx="2664296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실업급여</a:t>
            </a:r>
          </a:p>
        </p:txBody>
      </p:sp>
    </p:spTree>
    <p:extLst>
      <p:ext uri="{BB962C8B-B14F-4D97-AF65-F5344CB8AC3E}">
        <p14:creationId xmlns:p14="http://schemas.microsoft.com/office/powerpoint/2010/main" val="2878257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097" name="_x177703712" descr="EMB000003dc9be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832" y="228600"/>
            <a:ext cx="8259623" cy="6512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모서리가 둥근 직사각형 7"/>
          <p:cNvSpPr/>
          <p:nvPr/>
        </p:nvSpPr>
        <p:spPr>
          <a:xfrm>
            <a:off x="416833" y="404664"/>
            <a:ext cx="2789530" cy="360040"/>
          </a:xfrm>
          <a:prstGeom prst="round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&lt;</a:t>
            </a:r>
            <a:r>
              <a:rPr lang="ko-KR" altLang="en-US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표</a:t>
            </a:r>
            <a:r>
              <a:rPr lang="en-US" altLang="ko-KR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&gt;</a:t>
            </a:r>
            <a:r>
              <a:rPr lang="ko-KR" altLang="en-US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실업급여 지급절차</a:t>
            </a:r>
          </a:p>
        </p:txBody>
      </p:sp>
    </p:spTree>
    <p:extLst>
      <p:ext uri="{BB962C8B-B14F-4D97-AF65-F5344CB8AC3E}">
        <p14:creationId xmlns:p14="http://schemas.microsoft.com/office/powerpoint/2010/main" val="1995690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595570"/>
              </p:ext>
            </p:extLst>
          </p:nvPr>
        </p:nvGraphicFramePr>
        <p:xfrm>
          <a:off x="306969" y="1700809"/>
          <a:ext cx="8496944" cy="4693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12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95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종류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용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612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출산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전후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휴가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급여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ko-KR" dirty="0"/>
                    </a:p>
                    <a:p>
                      <a:r>
                        <a:rPr lang="ko-KR" altLang="en-US" dirty="0"/>
                        <a:t>의미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여성근로자의 임신</a:t>
                      </a:r>
                      <a:r>
                        <a:rPr lang="en-US" altLang="ko-KR" dirty="0"/>
                        <a:t>.</a:t>
                      </a:r>
                      <a:r>
                        <a:rPr lang="ko-KR" altLang="en-US" dirty="0"/>
                        <a:t>출산 등으로 인하여 소모된 체력을 획복하고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임금상실 없이 휴식을 보장받도록 하는 제도임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58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12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휴가기간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휴가는 </a:t>
                      </a:r>
                      <a:r>
                        <a:rPr lang="en-US" altLang="ko-KR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90</a:t>
                      </a: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</a:t>
                      </a:r>
                      <a:r>
                        <a:rPr lang="en-US" altLang="ko-KR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 err="1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다태아</a:t>
                      </a: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120</a:t>
                      </a: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</a:t>
                      </a:r>
                      <a:r>
                        <a:rPr lang="en-US" altLang="ko-KR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을 주되 산후에 </a:t>
                      </a:r>
                      <a:r>
                        <a:rPr lang="en-US" altLang="ko-KR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45</a:t>
                      </a: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</a:t>
                      </a:r>
                      <a:r>
                        <a:rPr lang="en-US" altLang="ko-KR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 err="1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다태아</a:t>
                      </a: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60</a:t>
                      </a: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</a:t>
                      </a:r>
                      <a:r>
                        <a:rPr lang="en-US" altLang="ko-KR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이상이 확보 되어야 함</a:t>
                      </a: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임신 중인 여성이 유산 또는 사산한 경우 유산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사산휴가를 주어야 함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임신기간에 따라 휴가기간이 다름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)</a:t>
                      </a:r>
                      <a:endParaRPr lang="ko-KR" altLang="en-US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0781589"/>
                  </a:ext>
                </a:extLst>
              </a:tr>
              <a:tr h="9316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수급요건</a:t>
                      </a: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ko-KR" altLang="en-US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휴가가 끝난 날 이전의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피보험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단위기간이 통산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180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 이상</a:t>
                      </a: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휴가 개시일 이후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개월부터 종료일 이후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12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개월 내에 신청</a:t>
                      </a:r>
                      <a:endParaRPr lang="ko-KR" altLang="en-US" b="0" dirty="0">
                        <a:solidFill>
                          <a:srgbClr val="C0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297988" y="1044796"/>
            <a:ext cx="2617828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모성보호급여</a:t>
            </a:r>
          </a:p>
        </p:txBody>
      </p:sp>
    </p:spTree>
    <p:extLst>
      <p:ext uri="{BB962C8B-B14F-4D97-AF65-F5344CB8AC3E}">
        <p14:creationId xmlns:p14="http://schemas.microsoft.com/office/powerpoint/2010/main" val="5285780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963479"/>
              </p:ext>
            </p:extLst>
          </p:nvPr>
        </p:nvGraphicFramePr>
        <p:xfrm>
          <a:off x="323528" y="1556792"/>
          <a:ext cx="8496944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12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종류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용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668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출산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전후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휴가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급여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급여</a:t>
                      </a: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급여는 통상임금을 기준으로 하되</a:t>
                      </a:r>
                      <a:endParaRPr lang="en-US" altLang="ko-KR" sz="1800" kern="1200" dirty="0">
                        <a:solidFill>
                          <a:srgbClr val="A023AD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lvl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 err="1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상한액은</a:t>
                      </a:r>
                      <a:r>
                        <a:rPr lang="ko-KR" altLang="en-US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90</a:t>
                      </a:r>
                      <a:r>
                        <a:rPr lang="ko-KR" altLang="en-US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일간 </a:t>
                      </a:r>
                      <a:r>
                        <a:rPr lang="en-US" altLang="ko-KR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600</a:t>
                      </a:r>
                      <a:r>
                        <a:rPr lang="ko-KR" altLang="en-US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만원</a:t>
                      </a:r>
                      <a:r>
                        <a:rPr lang="en-US" altLang="ko-KR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 err="1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다태아는</a:t>
                      </a:r>
                      <a:r>
                        <a:rPr lang="ko-KR" altLang="en-US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120</a:t>
                      </a:r>
                      <a:r>
                        <a:rPr lang="ko-KR" altLang="en-US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 간 </a:t>
                      </a:r>
                      <a:r>
                        <a:rPr lang="en-US" altLang="ko-KR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800</a:t>
                      </a:r>
                      <a:r>
                        <a:rPr lang="ko-KR" altLang="en-US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만원</a:t>
                      </a:r>
                      <a:r>
                        <a:rPr lang="en-US" altLang="ko-KR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</a:p>
                    <a:p>
                      <a:pPr marL="285750" marR="0" lvl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 err="1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하한액은</a:t>
                      </a:r>
                      <a:r>
                        <a:rPr lang="ko-KR" altLang="en-US" sz="1800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800" kern="1200" dirty="0" err="1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최저임금액을</a:t>
                      </a:r>
                      <a:r>
                        <a:rPr lang="ko-KR" altLang="en-US" sz="1800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시간급 통상임금으로 하여 산정</a:t>
                      </a:r>
                      <a:r>
                        <a:rPr lang="en-US" altLang="ko-KR" sz="1800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① 대기업</a:t>
                      </a: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통상임금의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30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일분을 고용보험에서 지급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60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일분은 사업주가 부담함 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② 우선대상기업</a:t>
                      </a: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통상임금의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90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일분 모두 고용보험에서 지급 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통상임금이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상한액보다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높을 경우 최초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60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다태아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75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에 대해서는 그 차액을 사업주가 지급하여야 함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C0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b="0" dirty="0">
                          <a:solidFill>
                            <a:srgbClr val="C0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원래 최초 </a:t>
                      </a:r>
                      <a:r>
                        <a:rPr lang="en-US" altLang="ko-KR" b="0" dirty="0">
                          <a:solidFill>
                            <a:srgbClr val="C0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60</a:t>
                      </a:r>
                      <a:r>
                        <a:rPr lang="ko-KR" altLang="en-US" b="0" dirty="0">
                          <a:solidFill>
                            <a:srgbClr val="C0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일은 유급휴가이므로 사용자가 지급할 의무가 있음</a:t>
                      </a:r>
                      <a:r>
                        <a:rPr lang="en-US" altLang="ko-KR" b="0" dirty="0">
                          <a:solidFill>
                            <a:srgbClr val="C0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r>
                        <a:rPr lang="ko-KR" altLang="en-US" b="0" dirty="0">
                          <a:solidFill>
                            <a:srgbClr val="C0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297988" y="1044796"/>
            <a:ext cx="2545820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모성보호급여</a:t>
            </a:r>
          </a:p>
        </p:txBody>
      </p:sp>
    </p:spTree>
    <p:extLst>
      <p:ext uri="{BB962C8B-B14F-4D97-AF65-F5344CB8AC3E}">
        <p14:creationId xmlns:p14="http://schemas.microsoft.com/office/powerpoint/2010/main" val="1624299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290309"/>
              </p:ext>
            </p:extLst>
          </p:nvPr>
        </p:nvGraphicFramePr>
        <p:xfrm>
          <a:off x="323528" y="1556792"/>
          <a:ext cx="8496944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12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종류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용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668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배우자출산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휴가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급여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급여</a:t>
                      </a: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근로자의 배우자가 출산한 경우 배우자와 태아의 건강보호 및 육아에 </a:t>
                      </a:r>
                      <a:r>
                        <a:rPr lang="ko-KR" altLang="en-US" sz="1800" kern="1200" dirty="0" err="1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참여토록</a:t>
                      </a: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하기 위해 부여하는 제도</a:t>
                      </a:r>
                      <a:endParaRPr lang="en-US" altLang="ko-KR" sz="1800" kern="1200" dirty="0">
                        <a:solidFill>
                          <a:srgbClr val="A023AD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lvl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배우자 출산휴가 기간은 </a:t>
                      </a:r>
                      <a:r>
                        <a:rPr lang="en-US" altLang="ko-KR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10</a:t>
                      </a:r>
                      <a:r>
                        <a:rPr lang="ko-KR" altLang="en-US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</a:t>
                      </a:r>
                      <a:r>
                        <a:rPr lang="en-US" altLang="ko-KR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유급</a:t>
                      </a:r>
                      <a:r>
                        <a:rPr lang="en-US" altLang="ko-KR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 </a:t>
                      </a: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우선지원대상 기업 소속 근로자에 한해 소정의 요건을 충족하는 경우 통상임금에 상당하는 </a:t>
                      </a: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최초 </a:t>
                      </a:r>
                      <a:r>
                        <a:rPr lang="en-US" altLang="ko-KR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5</a:t>
                      </a: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일분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을 배우자 출산휴가로 지급함</a:t>
                      </a:r>
                      <a:endParaRPr lang="ko-KR" altLang="en-US" b="0" dirty="0">
                        <a:solidFill>
                          <a:srgbClr val="C0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297988" y="1044796"/>
            <a:ext cx="2545820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모성보호급여</a:t>
            </a:r>
          </a:p>
        </p:txBody>
      </p:sp>
    </p:spTree>
    <p:extLst>
      <p:ext uri="{BB962C8B-B14F-4D97-AF65-F5344CB8AC3E}">
        <p14:creationId xmlns:p14="http://schemas.microsoft.com/office/powerpoint/2010/main" val="4200747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776241"/>
              </p:ext>
            </p:extLst>
          </p:nvPr>
        </p:nvGraphicFramePr>
        <p:xfrm>
          <a:off x="297988" y="1628801"/>
          <a:ext cx="8496945" cy="51251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1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99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종류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용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37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육아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휴직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급여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</a:t>
                      </a: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요건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만</a:t>
                      </a:r>
                      <a:r>
                        <a:rPr lang="en-US" altLang="ko-KR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8</a:t>
                      </a: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세 이하</a:t>
                      </a:r>
                      <a:r>
                        <a:rPr lang="en-US" altLang="ko-KR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또는 초등학교 </a:t>
                      </a:r>
                      <a:r>
                        <a:rPr lang="en-US" altLang="ko-KR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2</a:t>
                      </a:r>
                      <a:r>
                        <a:rPr lang="ko-KR" altLang="en-US" sz="1800" kern="1200" dirty="0">
                          <a:solidFill>
                            <a:srgbClr val="A023A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학년 이하의 자녀를 가진 근로자</a:t>
                      </a:r>
                      <a:endParaRPr lang="en-US" altLang="ko-KR" sz="1800" kern="1200" dirty="0">
                        <a:solidFill>
                          <a:srgbClr val="A023AD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육아휴직기간은 </a:t>
                      </a:r>
                      <a:r>
                        <a:rPr lang="en-US" altLang="ko-KR" sz="1800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 이내로 함</a:t>
                      </a:r>
                      <a:r>
                        <a:rPr lang="en-US" altLang="ko-KR" sz="1800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부모 모두가 근로자이면 각각 </a:t>
                      </a:r>
                      <a:r>
                        <a:rPr lang="en-US" altLang="ko-KR" sz="1800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kern="1200" dirty="0" err="1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년씩</a:t>
                      </a:r>
                      <a:r>
                        <a:rPr lang="ko-KR" altLang="en-US" sz="1800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사용 가능</a:t>
                      </a:r>
                      <a:r>
                        <a:rPr lang="en-US" altLang="ko-KR" sz="1800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부부가 동시에 같은 자녀에 대해 신청 가능</a:t>
                      </a:r>
                      <a:r>
                        <a:rPr lang="en-US" altLang="ko-KR" sz="1800" kern="120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육아휴직을 시작한 날 이전의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피보험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단위기간이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180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 이상</a:t>
                      </a: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육아휴직 개시일 이후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개월부터 종료일 이후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12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개월 내 신청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3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급여</a:t>
                      </a: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육아휴직급여는 </a:t>
                      </a: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통상임금의 </a:t>
                      </a:r>
                      <a:r>
                        <a:rPr lang="en-US" altLang="ko-KR" sz="1800" kern="1200" dirty="0">
                          <a:solidFill>
                            <a:srgbClr val="FF0000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80%</a:t>
                      </a:r>
                      <a:r>
                        <a:rPr lang="en-US" altLang="ko-KR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 err="1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상한액</a:t>
                      </a:r>
                      <a:r>
                        <a:rPr lang="en-US" altLang="ko-KR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월 </a:t>
                      </a:r>
                      <a:r>
                        <a:rPr lang="en-US" altLang="ko-KR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150</a:t>
                      </a: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만원</a:t>
                      </a:r>
                      <a:r>
                        <a:rPr lang="en-US" altLang="ko-KR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 err="1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하한액</a:t>
                      </a:r>
                      <a:r>
                        <a:rPr lang="en-US" altLang="ko-KR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월 </a:t>
                      </a:r>
                      <a:r>
                        <a:rPr lang="en-US" altLang="ko-KR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70</a:t>
                      </a: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만원</a:t>
                      </a:r>
                      <a:r>
                        <a:rPr lang="en-US" altLang="ko-KR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)</a:t>
                      </a:r>
                    </a:p>
                    <a:p>
                      <a:pPr marL="285750" marR="0" lvl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3+3 </a:t>
                      </a:r>
                      <a:r>
                        <a:rPr lang="ko-KR" altLang="en-US" sz="1800" kern="1200" dirty="0" err="1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부모육아휴직제</a:t>
                      </a:r>
                      <a:r>
                        <a:rPr lang="en-US" altLang="ko-KR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생후 </a:t>
                      </a:r>
                      <a:r>
                        <a:rPr lang="en-US" altLang="ko-KR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12</a:t>
                      </a: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개월 이내 자녀의 부모 모두 육아휴직시 </a:t>
                      </a:r>
                      <a:r>
                        <a:rPr lang="en-US" altLang="ko-KR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3</a:t>
                      </a: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개월간 통상임금의 </a:t>
                      </a:r>
                      <a:r>
                        <a:rPr lang="en-US" altLang="ko-KR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100%(</a:t>
                      </a: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최대 월 </a:t>
                      </a:r>
                      <a:r>
                        <a:rPr lang="en-US" altLang="ko-KR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300</a:t>
                      </a: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만원</a:t>
                      </a:r>
                      <a:r>
                        <a:rPr lang="en-US" altLang="ko-KR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800" kern="1200" dirty="0">
                          <a:solidFill>
                            <a:srgbClr val="0C6CF8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endParaRPr lang="en-US" altLang="ko-KR" sz="1800" kern="1200" dirty="0">
                        <a:solidFill>
                          <a:srgbClr val="0C6CF8"/>
                        </a:solidFill>
                        <a:effectLst/>
                        <a:latin typeface="HY울릉도M" pitchFamily="18" charset="-127"/>
                        <a:ea typeface="HY울릉도M" pitchFamily="18" charset="-127"/>
                        <a:cs typeface="+mn-cs"/>
                      </a:endParaRPr>
                    </a:p>
                    <a:p>
                      <a:pPr marL="285750" marR="0" lvl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단 육아휴직급여액 중 </a:t>
                      </a:r>
                      <a:r>
                        <a:rPr lang="en-US" altLang="ko-KR" sz="1800" kern="1200" dirty="0">
                          <a:solidFill>
                            <a:srgbClr val="FF66FF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25%</a:t>
                      </a:r>
                      <a:r>
                        <a:rPr lang="ko-KR" altLang="en-US" sz="1800" kern="1200" dirty="0">
                          <a:solidFill>
                            <a:srgbClr val="FF66FF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는 직장복귀 </a:t>
                      </a:r>
                      <a:r>
                        <a:rPr lang="en-US" altLang="ko-KR" sz="1800" kern="1200" dirty="0">
                          <a:solidFill>
                            <a:srgbClr val="FF66FF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6</a:t>
                      </a:r>
                      <a:r>
                        <a:rPr lang="ko-KR" altLang="en-US" sz="1800" kern="1200" dirty="0">
                          <a:solidFill>
                            <a:srgbClr val="FF66FF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개월 후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에 합산하여 일시불로 지급</a:t>
                      </a:r>
                      <a:endParaRPr lang="ko-KR" altLang="en-US" b="0" dirty="0">
                        <a:solidFill>
                          <a:srgbClr val="0C6CF8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297988" y="1044796"/>
            <a:ext cx="2545820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모성보호급여</a:t>
            </a:r>
          </a:p>
        </p:txBody>
      </p:sp>
    </p:spTree>
    <p:extLst>
      <p:ext uri="{BB962C8B-B14F-4D97-AF65-F5344CB8AC3E}">
        <p14:creationId xmlns:p14="http://schemas.microsoft.com/office/powerpoint/2010/main" val="18333126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322554"/>
              </p:ext>
            </p:extLst>
          </p:nvPr>
        </p:nvGraphicFramePr>
        <p:xfrm>
          <a:off x="297988" y="1628801"/>
          <a:ext cx="8496945" cy="4773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1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종류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용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802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60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60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60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육아기 근로시간</a:t>
                      </a:r>
                      <a:endParaRPr lang="en-US" altLang="ko-KR" sz="160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단축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endParaRPr lang="en-US" altLang="ko-KR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endParaRPr lang="en-US" altLang="ko-KR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endParaRPr lang="en-US" altLang="ko-KR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 요건</a:t>
                      </a:r>
                    </a:p>
                    <a:p>
                      <a:pPr marL="0" indent="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endParaRPr lang="en-US" altLang="ko-KR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endParaRPr lang="ko-KR" altLang="en-US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육아휴직을 대신해서 이 제도를 신청할 수 있음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근로시간 단축기간은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 이내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주당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15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시간 이상에서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35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시간 이내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육아기 근로시간 단축을 시작한 날 이전의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피보험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단위기간이 통산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180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일 이상</a:t>
                      </a: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근로시간 단축을 시작한 날 이후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개월부터 끝난 날 이후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12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개월 이내에 신청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297988" y="1044796"/>
            <a:ext cx="2617828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모성보호급여</a:t>
            </a:r>
          </a:p>
        </p:txBody>
      </p:sp>
    </p:spTree>
    <p:extLst>
      <p:ext uri="{BB962C8B-B14F-4D97-AF65-F5344CB8AC3E}">
        <p14:creationId xmlns:p14="http://schemas.microsoft.com/office/powerpoint/2010/main" val="2672135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113077"/>
              </p:ext>
            </p:extLst>
          </p:nvPr>
        </p:nvGraphicFramePr>
        <p:xfrm>
          <a:off x="323528" y="1556792"/>
          <a:ext cx="8496944" cy="5164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2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863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고용창출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지원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고용환경 개선 및 근무형태 변경 등으로 고용의 기회를 확대한    사업주에게 필요한 지원을 하는 사업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36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고용조정 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의지원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경기의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변동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산업구조의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변화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등에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따른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사업규모의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축소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사업의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폐업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또는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전환으로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고용조정이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불가피하게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된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사업주가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근로자에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대한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휴업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휴직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직업전환에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필요한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직업능력개발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훈련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인력의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재배치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등을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실시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할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경우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그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사업주에게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필요한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지원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을 하는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사업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36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지역고용의 촉진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고용기회가 뚜렷이 부족하거나 산업구조의 변화 등으로 고용사정이 급속하게 악화되고 있는 지역으로 사업을 이전하거나 그러한 지역에서 사업을 신설 또는 증설하여 그 지역의 실업 예방과 재취업 촉진에 기여한 사업주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그 밖에 그 지역의 고용기회 확대에 필요한 조치를 한 사업주에게 필요한 지원을 하는 사업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297988" y="1044796"/>
            <a:ext cx="4706060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3)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고용안정</a:t>
            </a:r>
            <a:r>
              <a:rPr lang="en-US" altLang="ko-KR" sz="2200" dirty="0">
                <a:latin typeface="HY울릉도M" pitchFamily="18" charset="-127"/>
                <a:ea typeface="HY울릉도M" pitchFamily="18" charset="-127"/>
              </a:rPr>
              <a:t> </a:t>
            </a:r>
            <a:r>
              <a:rPr lang="ko-KR" altLang="en-US" sz="2200" dirty="0" err="1">
                <a:latin typeface="HY울릉도M" pitchFamily="18" charset="-127"/>
                <a:ea typeface="HY울릉도M" pitchFamily="18" charset="-127"/>
              </a:rPr>
              <a:t>및직업능력개발사업</a:t>
            </a:r>
            <a:endParaRPr lang="ko-KR" altLang="en-US" sz="2200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42160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953525"/>
              </p:ext>
            </p:extLst>
          </p:nvPr>
        </p:nvGraphicFramePr>
        <p:xfrm>
          <a:off x="316391" y="1628800"/>
          <a:ext cx="8496944" cy="4987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5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1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65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411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고령자 등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고용촉진 지원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고령자 등 노동시장의 통상적인 조건에서는 취업이 특히 곤란한 자의 고용을 촉진하기 위하여 고령자 등을 새로 고용하거나 이들의 고용안정에 필요한 조치를 하는 사업주에게 지원하는 사업 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013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건설근로자 등의 고용안정지원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건설근로자 등 고용상태가 불안정한 근로자를 위하여 고용상태의 개선을 위한 사업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계속적인 고용기회의 부여 등 고용안정을 위한 사업을 실시하는 사업주에게 필요한 지원을 하는 사업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7736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고용안정 및 취업 촉진</a:t>
                      </a:r>
                      <a:endParaRPr lang="ko-KR" altLang="en-US" sz="18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피보험자 등의 고용안정 및 취업을 촉진하기 위하여 고용관리 진단 등 고용개선 지원 사업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피보험자 등의 창업을 촉진하기 위한 지원 사업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그 밖에 피보험자 등의 고용안정 및 취업을 촉진하기 위한 사업을 직접 실시하거나 이를 실시하는 자에게 필요한 비용을 지원 또는 대부하는 사업</a:t>
                      </a:r>
                      <a:endParaRPr lang="ko-KR" altLang="en-US" sz="18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297988" y="1044796"/>
            <a:ext cx="4562044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3)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고용안정 및 </a:t>
            </a:r>
            <a:r>
              <a:rPr lang="ko-KR" altLang="en-US" sz="2200" dirty="0">
                <a:latin typeface="HY울릉도M" pitchFamily="18" charset="-127"/>
                <a:ea typeface="HY울릉도M" pitchFamily="18" charset="-127"/>
              </a:rPr>
              <a:t>직업능력개발사업</a:t>
            </a:r>
            <a:endParaRPr lang="ko-KR" altLang="en-US" sz="2200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4049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501300"/>
              </p:ext>
            </p:extLst>
          </p:nvPr>
        </p:nvGraphicFramePr>
        <p:xfrm>
          <a:off x="333143" y="1700808"/>
          <a:ext cx="8496944" cy="46226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2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3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5845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0" kern="1200" dirty="0">
                        <a:solidFill>
                          <a:schemeClr val="dk1"/>
                        </a:solidFill>
                        <a:effectLst/>
                        <a:latin typeface="HY울릉도M" pitchFamily="18" charset="-127"/>
                        <a:ea typeface="HY울릉도M" pitchFamily="18" charset="-127"/>
                        <a:cs typeface="+mn-cs"/>
                      </a:endParaRP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고용촉진시설에 대한 지원</a:t>
                      </a:r>
                      <a:endParaRPr lang="ko-KR" altLang="en-US" sz="18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피보험자등의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고용안정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고용촉진 및 사업주의 인력 확보를 지원하기 위하여 상담 시설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어린이집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그 밖에 대통령령으로 정하는 고용촉진 시설을 설치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운영하는 자에게 필요한 지원을 하는 사업</a:t>
                      </a:r>
                      <a:endParaRPr lang="ko-KR" altLang="en-US" sz="18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542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사업주에 대한 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직업능력개발 훈련의 지원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사업주에 대한 직업능력개발 훈련의 지원은 피보험자 등의  직업능력을 개발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향상시키기 위하여 직업능력개발 훈련을 실시하는 사업주에게  훈련에 필요한 비용을 지원하는 사업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5421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7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피보험자들에</a:t>
                      </a:r>
                      <a:endParaRPr lang="en-US" altLang="ko-KR" sz="1700" b="0" kern="1200" dirty="0">
                        <a:solidFill>
                          <a:schemeClr val="dk1"/>
                        </a:solidFill>
                        <a:effectLst/>
                        <a:latin typeface="HY울릉도M" pitchFamily="18" charset="-127"/>
                        <a:ea typeface="HY울릉도M" pitchFamily="18" charset="-127"/>
                        <a:cs typeface="+mn-cs"/>
                      </a:endParaRP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7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대한 직업능력개발 지원</a:t>
                      </a:r>
                      <a:endParaRPr lang="ko-KR" altLang="en-US" sz="17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피보험자 등이 직업능력개발 훈련을 받거나 그 밖에 직업  능력 개발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향상을 위하여 노력하는 경우에 필요한 비용을 지원하는 사업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모서리가 둥근 직사각형 7"/>
          <p:cNvSpPr/>
          <p:nvPr/>
        </p:nvSpPr>
        <p:spPr>
          <a:xfrm>
            <a:off x="297988" y="1044796"/>
            <a:ext cx="4562044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3)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고용안정 및 </a:t>
            </a:r>
            <a:r>
              <a:rPr lang="ko-KR" altLang="en-US" sz="2200" dirty="0">
                <a:latin typeface="HY울릉도M" pitchFamily="18" charset="-127"/>
                <a:ea typeface="HY울릉도M" pitchFamily="18" charset="-127"/>
              </a:rPr>
              <a:t>직업능력개발사업</a:t>
            </a:r>
            <a:endParaRPr lang="ko-KR" altLang="en-US" sz="2200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26014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158937"/>
              </p:ext>
            </p:extLst>
          </p:nvPr>
        </p:nvGraphicFramePr>
        <p:xfrm>
          <a:off x="323528" y="1700809"/>
          <a:ext cx="8496944" cy="5008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52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83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직업능력개발 훈련시설에 대한 지원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피보험자 등의 직업능력 개발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향상을 위하여 직업능력개발 훈련 시설의 설치 및 장비 구입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운영에 필요한 비용을 지원하는 사업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5582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직업능력개발의 촉진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피보험자 등의 직업능력 개발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향상을 촉진하기 위하여 직업능력개발 사업에 대한 기술지원 및 평가 사업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그 밖에 대통령령으로 정하는 사업을 실시하거나 이를 실시하는 자에게 그 사업의 실시에 필요한 비용을 지원하는 사업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5582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건설근로자 등의 직업능력개발 지원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건설근로자 등 고용상태가 불안정한 근로자를 위하여 직업능력 개발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향상을 위한 사업으로 대통령령으로 정하는 사업을 실시하는 사업주에게 그 사업의 실시에 필요한 비용을 지원하는 사업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모서리가 둥근 직사각형 7"/>
          <p:cNvSpPr/>
          <p:nvPr/>
        </p:nvSpPr>
        <p:spPr>
          <a:xfrm>
            <a:off x="297988" y="1044796"/>
            <a:ext cx="4562044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3)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고용안정 및 </a:t>
            </a:r>
            <a:r>
              <a:rPr lang="ko-KR" altLang="en-US" sz="2200" dirty="0">
                <a:latin typeface="HY울릉도M" pitchFamily="18" charset="-127"/>
                <a:ea typeface="HY울릉도M" pitchFamily="18" charset="-127"/>
              </a:rPr>
              <a:t>직업능력개발사업</a:t>
            </a:r>
            <a:endParaRPr lang="ko-KR" altLang="en-US" sz="2200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80329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(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사업내용</a:t>
            </a:r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)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810276"/>
              </p:ext>
            </p:extLst>
          </p:nvPr>
        </p:nvGraphicFramePr>
        <p:xfrm>
          <a:off x="323528" y="1700808"/>
          <a:ext cx="8496944" cy="3888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95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4428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고용정보의 제공 및 고용지원 기반의 구축</a:t>
                      </a:r>
                      <a:endParaRPr lang="ko-KR" altLang="en-US" sz="18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사업주 및 피보험자 등에 대한 구인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구직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훈련 등 고용 정보의 제공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직업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훈련 상담 등 직업지도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직업소개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고용안정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직업능력개발에 관한 기반의 구축 및 그에 필요한  전문 인력의 배치 등을 실시하는 사업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14428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지방자치단체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등에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대한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b="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지원</a:t>
                      </a:r>
                      <a:endParaRPr lang="en-US" altLang="ko-KR" sz="1800" b="0" kern="1200" dirty="0">
                        <a:solidFill>
                          <a:schemeClr val="dk1"/>
                        </a:solidFill>
                        <a:effectLst/>
                        <a:latin typeface="HY울릉도M" pitchFamily="18" charset="-127"/>
                        <a:ea typeface="HY울릉도M" pitchFamily="18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지방자치단체 또는 대통령령으로 정하는 비영리법인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단체가 그 지역에서 피보험자 등의 고용안정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고용촉진 및 직업능력개발을 위한 사업을 실시하는 경우에는 대통령령으로 정하는 바에 따라 필요한 지원을 하는 사업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모서리가 둥근 직사각형 7"/>
          <p:cNvSpPr/>
          <p:nvPr/>
        </p:nvSpPr>
        <p:spPr>
          <a:xfrm>
            <a:off x="297988" y="1044796"/>
            <a:ext cx="4562044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3)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고용안정 및 </a:t>
            </a:r>
            <a:r>
              <a:rPr lang="ko-KR" altLang="en-US" sz="2200" dirty="0">
                <a:latin typeface="HY울릉도M" pitchFamily="18" charset="-127"/>
                <a:ea typeface="HY울릉도M" pitchFamily="18" charset="-127"/>
              </a:rPr>
              <a:t>직업능력개발사업</a:t>
            </a:r>
            <a:endParaRPr lang="ko-KR" altLang="en-US" sz="2200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35075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자영업자 고용보험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323528" y="1700808"/>
          <a:ext cx="8496944" cy="2891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6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1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 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269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개 요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자영업자의 생활안정 및 재취업을 지원하는 제도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(2012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월 시행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</a:p>
                    <a:p>
                      <a:pPr marL="285750" marR="0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고용안정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직업능력개발사업은 사업장가입자와 같음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실업급여는 연장급여와 조기재취업수당을 제외하고는 사업장가입자 의 근로자의 경우와 같음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indent="-28575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즉 구직급여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상병급여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직업능력개발수당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광역구직활동비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이주비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등을 지급 받을 수 있음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3619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자영업자 고용보험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323528" y="1128354"/>
            <a:ext cx="3744416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b="1" dirty="0"/>
              <a:t> </a:t>
            </a:r>
            <a:r>
              <a:rPr lang="en-US" altLang="ko-KR" sz="22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1) </a:t>
            </a:r>
            <a:r>
              <a:rPr lang="ko-KR" altLang="en-US" sz="22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가입대상 및 수급요건</a:t>
            </a:r>
            <a:endParaRPr lang="ko-KR" altLang="en-US" sz="2200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323528" y="1700808"/>
          <a:ext cx="8496944" cy="4985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1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 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867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가입대상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근로자를 사용하지 아니하거나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50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인 미만의 근로자가 있는 자영업자로 </a:t>
                      </a:r>
                      <a:r>
                        <a:rPr lang="ko-KR" altLang="en-US" sz="1800" b="1" kern="1200" dirty="0">
                          <a:solidFill>
                            <a:srgbClr val="7030A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본인이 희망하는 경우에 가입 가능</a:t>
                      </a:r>
                      <a:r>
                        <a:rPr lang="en-US" altLang="ko-KR" sz="1800" b="1" kern="1200" dirty="0">
                          <a:solidFill>
                            <a:srgbClr val="7030A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1" kern="1200" dirty="0">
                          <a:solidFill>
                            <a:srgbClr val="7030A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임의 가입</a:t>
                      </a:r>
                      <a:r>
                        <a:rPr lang="en-US" altLang="ko-KR" sz="1800" b="1" kern="1200" dirty="0">
                          <a:solidFill>
                            <a:srgbClr val="7030A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800" b="1" kern="1200" dirty="0">
                        <a:solidFill>
                          <a:srgbClr val="7030A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사업자등록증의 </a:t>
                      </a: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개업연월일로부터 </a:t>
                      </a:r>
                      <a:r>
                        <a:rPr lang="en-US" altLang="ko-KR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 이내에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가입하여야 함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40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수급요건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첫째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폐업일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24개월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동안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자영업자인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피보험자로서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피보험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단위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기간이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통상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1년 </a:t>
                      </a:r>
                      <a:r>
                        <a:rPr lang="en-US" altLang="ko-KR" sz="1800" kern="1200" dirty="0" err="1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이상</a:t>
                      </a: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 것</a:t>
                      </a:r>
                      <a:endParaRPr lang="en-US" altLang="ko-KR" sz="1800" kern="1200" dirty="0">
                        <a:solidFill>
                          <a:srgbClr val="FF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둘째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근로의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의사와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능력이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있음에도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불구하고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취업을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하지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못한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상태에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있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을 것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셋째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폐업사유가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수급자격의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제한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사유에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해당하지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않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을 것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(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매출감소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적자지속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자연재해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등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불가피한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사유로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폐업한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경우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</a:t>
                      </a: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여야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하며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본인의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중대한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귀책사유로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인한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폐업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등이 아닐 것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넷째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적극적인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재취업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노력을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할 것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62979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자영업자 고용보험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323528" y="1128354"/>
            <a:ext cx="3312368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b="1" dirty="0"/>
              <a:t> </a:t>
            </a:r>
            <a:r>
              <a:rPr lang="en-US" altLang="ko-KR" sz="22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보험료와 급여수준</a:t>
            </a:r>
            <a:endParaRPr lang="ko-KR" altLang="en-US" sz="2200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747955"/>
              </p:ext>
            </p:extLst>
          </p:nvPr>
        </p:nvGraphicFramePr>
        <p:xfrm>
          <a:off x="323528" y="1700809"/>
          <a:ext cx="8496944" cy="48538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0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9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 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47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보험료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자영업자의 보험료 및 실업급여 산정의 기준이 되는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보수액은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자영업자의 소득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보수수준 등을 고려하여 고용노동부장관이 고시함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자영업자는 고시된 기준보수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(7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등급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중에서 어느 하나를 선택</a:t>
                      </a: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5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보험료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=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선택한 기준보수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*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보험료율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보험료율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= 2.25%</a:t>
                      </a:r>
                    </a:p>
                    <a:p>
                      <a:pPr marL="0" indent="0" fontAlgn="base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 (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실업급여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2%,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고용안정 및 직업능력개발사업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0.25%)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610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급여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수준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실업급여는 선택한 기준보수의 </a:t>
                      </a:r>
                      <a:r>
                        <a:rPr lang="en-US" altLang="ko-KR" sz="18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60%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를 적용함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구직급여 일수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소정급여일수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는 </a:t>
                      </a: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가입기간에 따라 </a:t>
                      </a:r>
                      <a:r>
                        <a:rPr lang="en-US" altLang="ko-KR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120-210</a:t>
                      </a: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</a:t>
                      </a:r>
                      <a:r>
                        <a:rPr lang="en-US" altLang="ko-KR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endParaRPr lang="ko-KR" altLang="en-US" sz="1800" kern="0" spc="0" dirty="0">
                        <a:solidFill>
                          <a:srgbClr val="FF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516316"/>
              </p:ext>
            </p:extLst>
          </p:nvPr>
        </p:nvGraphicFramePr>
        <p:xfrm>
          <a:off x="1331640" y="3501008"/>
          <a:ext cx="7488831" cy="68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3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8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98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98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98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192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</a:t>
                      </a:r>
                      <a:r>
                        <a:rPr lang="ko-KR" altLang="en-US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등급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</a:t>
                      </a:r>
                      <a:r>
                        <a:rPr lang="ko-KR" altLang="en-US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등급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</a:t>
                      </a:r>
                      <a:r>
                        <a:rPr lang="ko-KR" altLang="en-US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등급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4</a:t>
                      </a:r>
                      <a:r>
                        <a:rPr lang="ko-KR" altLang="en-US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등급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</a:t>
                      </a:r>
                      <a:r>
                        <a:rPr lang="ko-KR" altLang="en-US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등급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6</a:t>
                      </a:r>
                      <a:r>
                        <a:rPr lang="ko-KR" altLang="en-US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등급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7</a:t>
                      </a:r>
                      <a:r>
                        <a:rPr lang="ko-KR" altLang="en-US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등급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182</a:t>
                      </a:r>
                      <a:r>
                        <a:rPr lang="ko-KR" altLang="en-US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208</a:t>
                      </a:r>
                      <a:r>
                        <a:rPr lang="ko-KR" altLang="en-US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234</a:t>
                      </a:r>
                      <a:r>
                        <a:rPr lang="ko-KR" altLang="en-US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260</a:t>
                      </a:r>
                      <a:r>
                        <a:rPr lang="ko-KR" altLang="en-US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286</a:t>
                      </a:r>
                      <a:r>
                        <a:rPr lang="ko-KR" altLang="en-US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312</a:t>
                      </a:r>
                      <a:r>
                        <a:rPr lang="ko-KR" altLang="en-US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338</a:t>
                      </a:r>
                      <a:r>
                        <a:rPr lang="ko-KR" altLang="en-US" sz="16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65430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자영업자 고용보험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1403648" y="1140128"/>
            <a:ext cx="6039410" cy="4320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spcBef>
                <a:spcPct val="0"/>
              </a:spcBef>
              <a:defRPr/>
            </a:pPr>
            <a:r>
              <a:rPr lang="en-US" altLang="ko-KR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&lt;</a:t>
            </a:r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표</a:t>
            </a:r>
            <a:r>
              <a:rPr lang="en-US" altLang="ko-KR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&gt; </a:t>
            </a:r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등급별 기준보수와 보험료 및 실업급여 수준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F219411-B534-477C-96C5-D51231C254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761870"/>
              </p:ext>
            </p:extLst>
          </p:nvPr>
        </p:nvGraphicFramePr>
        <p:xfrm>
          <a:off x="275038" y="1799081"/>
          <a:ext cx="8640961" cy="3846716"/>
        </p:xfrm>
        <a:graphic>
          <a:graphicData uri="http://schemas.openxmlformats.org/drawingml/2006/table">
            <a:tbl>
              <a:tblPr/>
              <a:tblGrid>
                <a:gridCol w="1694223">
                  <a:extLst>
                    <a:ext uri="{9D8B030D-6E8A-4147-A177-3AD203B41FA5}">
                      <a16:colId xmlns:a16="http://schemas.microsoft.com/office/drawing/2014/main" val="2231814155"/>
                    </a:ext>
                  </a:extLst>
                </a:gridCol>
                <a:gridCol w="2315912">
                  <a:extLst>
                    <a:ext uri="{9D8B030D-6E8A-4147-A177-3AD203B41FA5}">
                      <a16:colId xmlns:a16="http://schemas.microsoft.com/office/drawing/2014/main" val="2548532022"/>
                    </a:ext>
                  </a:extLst>
                </a:gridCol>
                <a:gridCol w="2315912">
                  <a:extLst>
                    <a:ext uri="{9D8B030D-6E8A-4147-A177-3AD203B41FA5}">
                      <a16:colId xmlns:a16="http://schemas.microsoft.com/office/drawing/2014/main" val="3200628633"/>
                    </a:ext>
                  </a:extLst>
                </a:gridCol>
                <a:gridCol w="2314914">
                  <a:extLst>
                    <a:ext uri="{9D8B030D-6E8A-4147-A177-3AD203B41FA5}">
                      <a16:colId xmlns:a16="http://schemas.microsoft.com/office/drawing/2014/main" val="1365773283"/>
                    </a:ext>
                  </a:extLst>
                </a:gridCol>
              </a:tblGrid>
              <a:tr h="71565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 dirty="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구 분</a:t>
                      </a:r>
                      <a:endParaRPr lang="ko-KR" alt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 dirty="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기준보수</a:t>
                      </a:r>
                      <a:r>
                        <a:rPr lang="en-US" altLang="ko-KR" sz="1800" kern="0" spc="-50" dirty="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(</a:t>
                      </a:r>
                      <a:r>
                        <a:rPr lang="ko-KR" altLang="en-US" sz="1800" kern="0" spc="-50" dirty="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월</a:t>
                      </a:r>
                      <a:r>
                        <a:rPr lang="en-US" altLang="ko-KR" sz="1800" kern="0" spc="-50" dirty="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)</a:t>
                      </a:r>
                      <a:endParaRPr lang="ko-KR" alt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 dirty="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(2019</a:t>
                      </a:r>
                      <a:r>
                        <a:rPr lang="ko-KR" altLang="en-US" sz="1800" kern="0" spc="-50" dirty="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년 이후</a:t>
                      </a:r>
                      <a:r>
                        <a:rPr lang="en-US" altLang="ko-KR" sz="1800" kern="0" spc="-50" dirty="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)</a:t>
                      </a:r>
                      <a:endParaRPr lang="ko-KR" alt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 dirty="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보험료</a:t>
                      </a:r>
                      <a:r>
                        <a:rPr lang="en-US" altLang="ko-KR" sz="1800" kern="0" spc="-50" dirty="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(</a:t>
                      </a:r>
                      <a:r>
                        <a:rPr lang="ko-KR" altLang="en-US" sz="1800" kern="0" spc="-50" dirty="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월</a:t>
                      </a:r>
                      <a:r>
                        <a:rPr lang="en-US" altLang="ko-KR" sz="1800" kern="0" spc="-50" dirty="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)</a:t>
                      </a:r>
                      <a:endParaRPr lang="ko-KR" alt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 dirty="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(</a:t>
                      </a:r>
                      <a:r>
                        <a:rPr lang="ko-KR" altLang="en-US" sz="1800" kern="0" spc="-50" dirty="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기준보수의 </a:t>
                      </a:r>
                      <a:r>
                        <a:rPr lang="en-US" altLang="ko-KR" sz="1800" kern="0" spc="-50" dirty="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2.25%)</a:t>
                      </a:r>
                      <a:endParaRPr lang="ko-KR" alt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 dirty="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실업급여</a:t>
                      </a:r>
                      <a:r>
                        <a:rPr lang="en-US" altLang="ko-KR" sz="1800" kern="0" spc="-50" dirty="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(</a:t>
                      </a:r>
                      <a:r>
                        <a:rPr lang="ko-KR" altLang="en-US" sz="1800" kern="0" spc="-50" dirty="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월</a:t>
                      </a:r>
                      <a:r>
                        <a:rPr lang="en-US" altLang="ko-KR" sz="1800" kern="0" spc="-50" dirty="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)</a:t>
                      </a:r>
                      <a:endParaRPr lang="ko-KR" alt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 dirty="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(</a:t>
                      </a:r>
                      <a:r>
                        <a:rPr lang="ko-KR" altLang="en-US" sz="1800" kern="0" spc="-50" dirty="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기준보수의</a:t>
                      </a:r>
                      <a:r>
                        <a:rPr lang="ko-KR" altLang="en-US" sz="1800" kern="0" spc="-50" dirty="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 </a:t>
                      </a:r>
                      <a:r>
                        <a:rPr lang="en-US" altLang="ko-KR" sz="1800" kern="0" spc="-50" dirty="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60%)</a:t>
                      </a:r>
                      <a:endParaRPr lang="ko-KR" alt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004264"/>
                  </a:ext>
                </a:extLst>
              </a:tr>
              <a:tr h="38778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1</a:t>
                      </a:r>
                      <a:r>
                        <a:rPr lang="ko-KR" altLang="en-US" sz="1800" kern="0" spc="-5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등급</a:t>
                      </a:r>
                      <a:endParaRPr lang="ko-KR" altLang="en-US" sz="1800" kern="0" spc="-5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1,820,000</a:t>
                      </a:r>
                      <a:endParaRPr 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40,950</a:t>
                      </a:r>
                      <a:endParaRPr 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1,092,000</a:t>
                      </a:r>
                      <a:endParaRPr 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640629"/>
                  </a:ext>
                </a:extLst>
              </a:tr>
              <a:tr h="38778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2</a:t>
                      </a:r>
                      <a:r>
                        <a:rPr lang="ko-KR" altLang="en-US" sz="1800" kern="0" spc="-5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등급</a:t>
                      </a:r>
                      <a:endParaRPr lang="ko-KR" altLang="en-US" sz="1800" kern="0" spc="-5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2,080,000</a:t>
                      </a:r>
                      <a:endParaRPr 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46,800</a:t>
                      </a:r>
                      <a:endParaRPr 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1,248,000</a:t>
                      </a:r>
                      <a:endParaRPr 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0919900"/>
                  </a:ext>
                </a:extLst>
              </a:tr>
              <a:tr h="38778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3</a:t>
                      </a:r>
                      <a:r>
                        <a:rPr lang="ko-KR" altLang="en-US" sz="1800" kern="0" spc="-5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등급</a:t>
                      </a:r>
                      <a:endParaRPr lang="ko-KR" altLang="en-US" sz="1800" kern="0" spc="-5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2,340,000</a:t>
                      </a:r>
                      <a:endParaRPr lang="en-US" sz="1800" kern="0" spc="-5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52,650</a:t>
                      </a:r>
                      <a:endParaRPr 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1,404,000</a:t>
                      </a:r>
                      <a:endParaRPr 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7014553"/>
                  </a:ext>
                </a:extLst>
              </a:tr>
              <a:tr h="38778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 dirty="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4</a:t>
                      </a:r>
                      <a:r>
                        <a:rPr lang="ko-KR" altLang="en-US" sz="1800" kern="0" spc="-50" dirty="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등급</a:t>
                      </a:r>
                      <a:endParaRPr lang="ko-KR" alt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2,600,000</a:t>
                      </a:r>
                      <a:endParaRPr lang="en-US" sz="1800" kern="0" spc="-5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58,500</a:t>
                      </a:r>
                      <a:endParaRPr 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1,560,000</a:t>
                      </a:r>
                      <a:endParaRPr 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703512"/>
                  </a:ext>
                </a:extLst>
              </a:tr>
              <a:tr h="38778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5</a:t>
                      </a:r>
                      <a:r>
                        <a:rPr lang="ko-KR" altLang="en-US" sz="1800" kern="0" spc="-5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등급</a:t>
                      </a:r>
                      <a:endParaRPr lang="ko-KR" altLang="en-US" sz="1800" kern="0" spc="-5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2,860,000</a:t>
                      </a:r>
                      <a:endParaRPr lang="en-US" sz="1800" kern="0" spc="-5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64,350</a:t>
                      </a:r>
                      <a:endParaRPr 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1,716,000</a:t>
                      </a:r>
                      <a:endParaRPr 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1850625"/>
                  </a:ext>
                </a:extLst>
              </a:tr>
              <a:tr h="38778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6</a:t>
                      </a:r>
                      <a:r>
                        <a:rPr lang="ko-KR" altLang="en-US" sz="1800" kern="0" spc="-5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등급</a:t>
                      </a:r>
                      <a:endParaRPr lang="ko-KR" altLang="en-US" sz="1800" kern="0" spc="-5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3,120,000</a:t>
                      </a:r>
                      <a:endParaRPr lang="en-US" sz="1800" kern="0" spc="-5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70,200</a:t>
                      </a:r>
                      <a:endParaRPr lang="en-US" sz="1800" kern="0" spc="-5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1,872,000</a:t>
                      </a:r>
                      <a:endParaRPr 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3599541"/>
                  </a:ext>
                </a:extLst>
              </a:tr>
              <a:tr h="38778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>
                          <a:solidFill>
                            <a:schemeClr val="tx1"/>
                          </a:solidFill>
                          <a:effectLst/>
                          <a:latin typeface="-윤고딕120"/>
                        </a:rPr>
                        <a:t>7</a:t>
                      </a:r>
                      <a:r>
                        <a:rPr lang="ko-KR" altLang="en-US" sz="1800" kern="0" spc="-50">
                          <a:solidFill>
                            <a:schemeClr val="tx1"/>
                          </a:solidFill>
                          <a:effectLst/>
                          <a:ea typeface="-윤고딕120"/>
                        </a:rPr>
                        <a:t>등급</a:t>
                      </a:r>
                      <a:endParaRPr lang="ko-KR" altLang="en-US" sz="1800" kern="0" spc="-5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3,380,000</a:t>
                      </a:r>
                      <a:endParaRPr lang="en-US" sz="1800" kern="0" spc="-5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76,050</a:t>
                      </a:r>
                      <a:endParaRPr 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chemeClr val="tx1"/>
                          </a:solidFill>
                          <a:effectLst/>
                          <a:latin typeface="-윤고딕110"/>
                        </a:rPr>
                        <a:t>2,028,000</a:t>
                      </a:r>
                      <a:endParaRPr lang="en-US" sz="1800" kern="0" spc="-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07653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5C55BD5B-C087-413C-89E1-8750DDC0D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900" y="263207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E3B1698-7557-4886-A3AB-9388E35FB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855355"/>
              </p:ext>
            </p:extLst>
          </p:nvPr>
        </p:nvGraphicFramePr>
        <p:xfrm>
          <a:off x="251520" y="5461779"/>
          <a:ext cx="8640959" cy="1341882"/>
        </p:xfrm>
        <a:graphic>
          <a:graphicData uri="http://schemas.openxmlformats.org/drawingml/2006/table">
            <a:tbl>
              <a:tblPr/>
              <a:tblGrid>
                <a:gridCol w="1728479">
                  <a:extLst>
                    <a:ext uri="{9D8B030D-6E8A-4147-A177-3AD203B41FA5}">
                      <a16:colId xmlns:a16="http://schemas.microsoft.com/office/drawing/2014/main" val="2142741548"/>
                    </a:ext>
                  </a:extLst>
                </a:gridCol>
                <a:gridCol w="1728479">
                  <a:extLst>
                    <a:ext uri="{9D8B030D-6E8A-4147-A177-3AD203B41FA5}">
                      <a16:colId xmlns:a16="http://schemas.microsoft.com/office/drawing/2014/main" val="1234474810"/>
                    </a:ext>
                  </a:extLst>
                </a:gridCol>
                <a:gridCol w="1728479">
                  <a:extLst>
                    <a:ext uri="{9D8B030D-6E8A-4147-A177-3AD203B41FA5}">
                      <a16:colId xmlns:a16="http://schemas.microsoft.com/office/drawing/2014/main" val="2505701978"/>
                    </a:ext>
                  </a:extLst>
                </a:gridCol>
                <a:gridCol w="1728479">
                  <a:extLst>
                    <a:ext uri="{9D8B030D-6E8A-4147-A177-3AD203B41FA5}">
                      <a16:colId xmlns:a16="http://schemas.microsoft.com/office/drawing/2014/main" val="1800377143"/>
                    </a:ext>
                  </a:extLst>
                </a:gridCol>
                <a:gridCol w="1727043">
                  <a:extLst>
                    <a:ext uri="{9D8B030D-6E8A-4147-A177-3AD203B41FA5}">
                      <a16:colId xmlns:a16="http://schemas.microsoft.com/office/drawing/2014/main" val="2236261012"/>
                    </a:ext>
                  </a:extLst>
                </a:gridCol>
              </a:tblGrid>
              <a:tr h="328998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구 분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가입기간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(</a:t>
                      </a:r>
                      <a:r>
                        <a:rPr lang="ko-KR" altLang="en-US" sz="1800" kern="0" spc="-50" dirty="0" err="1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피보험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 기간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)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808705"/>
                  </a:ext>
                </a:extLst>
              </a:tr>
              <a:tr h="3289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1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년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~3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년 미만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3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년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~5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년 미만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5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년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~10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년 미만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10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년 이상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695720"/>
                  </a:ext>
                </a:extLst>
              </a:tr>
              <a:tr h="39247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급여일수</a:t>
                      </a:r>
                      <a:endParaRPr lang="ko-KR" altLang="en-US" sz="18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50">
                          <a:solidFill>
                            <a:srgbClr val="FF0000"/>
                          </a:solidFill>
                          <a:effectLst/>
                          <a:latin typeface="-윤고딕110"/>
                        </a:rPr>
                        <a:t>120</a:t>
                      </a:r>
                      <a:r>
                        <a:rPr lang="ko-KR" altLang="en-US" sz="1800" kern="0" spc="-50">
                          <a:solidFill>
                            <a:srgbClr val="FF0000"/>
                          </a:solidFill>
                          <a:effectLst/>
                          <a:ea typeface="-윤고딕110"/>
                        </a:rPr>
                        <a:t>일</a:t>
                      </a:r>
                      <a:endParaRPr lang="ko-KR" altLang="en-US" sz="1800" kern="0" spc="-5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50" dirty="0">
                          <a:solidFill>
                            <a:srgbClr val="FF0000"/>
                          </a:solidFill>
                          <a:effectLst/>
                          <a:latin typeface="-윤고딕110"/>
                        </a:rPr>
                        <a:t>150</a:t>
                      </a:r>
                      <a:r>
                        <a:rPr lang="ko-KR" altLang="en-US" sz="1800" kern="0" spc="-50" dirty="0">
                          <a:solidFill>
                            <a:srgbClr val="FF0000"/>
                          </a:solidFill>
                          <a:effectLst/>
                          <a:ea typeface="-윤고딕110"/>
                        </a:rPr>
                        <a:t>일</a:t>
                      </a:r>
                      <a:endParaRPr lang="ko-KR" altLang="en-US" sz="1800" kern="0" spc="-5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50" dirty="0">
                          <a:solidFill>
                            <a:srgbClr val="FF0000"/>
                          </a:solidFill>
                          <a:effectLst/>
                          <a:latin typeface="-윤고딕110"/>
                        </a:rPr>
                        <a:t>180</a:t>
                      </a:r>
                      <a:r>
                        <a:rPr lang="ko-KR" altLang="en-US" sz="1800" kern="0" spc="-50" dirty="0">
                          <a:solidFill>
                            <a:srgbClr val="FF0000"/>
                          </a:solidFill>
                          <a:effectLst/>
                          <a:ea typeface="-윤고딕110"/>
                        </a:rPr>
                        <a:t>일</a:t>
                      </a:r>
                      <a:endParaRPr lang="ko-KR" altLang="en-US" sz="1800" kern="0" spc="-5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50" dirty="0">
                          <a:solidFill>
                            <a:srgbClr val="FF0000"/>
                          </a:solidFill>
                          <a:effectLst/>
                          <a:latin typeface="-윤고딕110"/>
                        </a:rPr>
                        <a:t>210</a:t>
                      </a:r>
                      <a:r>
                        <a:rPr lang="ko-KR" altLang="en-US" sz="1800" kern="0" spc="-50" dirty="0">
                          <a:solidFill>
                            <a:srgbClr val="FF0000"/>
                          </a:solidFill>
                          <a:effectLst/>
                          <a:ea typeface="-윤고딕110"/>
                        </a:rPr>
                        <a:t>일</a:t>
                      </a:r>
                      <a:endParaRPr lang="ko-KR" altLang="en-US" sz="1800" kern="0" spc="-5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133988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CA9225B2-479C-4E86-B006-793136F10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8063" y="571720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1354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6.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재정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465021"/>
              </p:ext>
            </p:extLst>
          </p:nvPr>
        </p:nvGraphicFramePr>
        <p:xfrm>
          <a:off x="315500" y="1556792"/>
          <a:ext cx="8533700" cy="30350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0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4370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53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보험료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고용보험료율은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보험수지의 동향과 경제상황 등을 고려하여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3%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의   범위에서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고용안정ㆍ직업능력개발사업의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보험료율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및 실업급여의  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보험료율로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구분하여 대통령령으로 정함</a:t>
                      </a:r>
                    </a:p>
                    <a:p>
                      <a:pPr marL="285750" marR="0" indent="-28575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실업급여에 해당되는 보험료는 근로자와 사업주가 각각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50%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씩 부담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고용안정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.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직업능력개발 사업에 해당하는 보험료는 사업주가 전액부담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515681"/>
              </p:ext>
            </p:extLst>
          </p:nvPr>
        </p:nvGraphicFramePr>
        <p:xfrm>
          <a:off x="286772" y="4653136"/>
          <a:ext cx="8533700" cy="1731399"/>
        </p:xfrm>
        <a:graphic>
          <a:graphicData uri="http://schemas.openxmlformats.org/drawingml/2006/table">
            <a:tbl>
              <a:tblPr/>
              <a:tblGrid>
                <a:gridCol w="853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7761">
                <a:tc>
                  <a:txBody>
                    <a:bodyPr/>
                    <a:lstStyle/>
                    <a:p>
                      <a:pPr marL="0" marR="0" lvl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6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실업급여 보험료</a:t>
                      </a:r>
                      <a:r>
                        <a:rPr lang="en-US" altLang="ko-KR" sz="16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6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사업주와 근로자 각각 </a:t>
                      </a:r>
                      <a:r>
                        <a:rPr lang="en-US" altLang="ko-KR" sz="16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50%</a:t>
                      </a:r>
                      <a:r>
                        <a:rPr lang="ko-KR" altLang="en-US" sz="16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씩 부담</a:t>
                      </a:r>
                      <a:r>
                        <a:rPr lang="en-US" altLang="ko-KR" sz="16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600" b="1" kern="0" spc="0" dirty="0">
                        <a:solidFill>
                          <a:srgbClr val="FF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1270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보험료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=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근로자 개인별 월평균보수 총액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×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실업급여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보험료율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0431">
                <a:tc>
                  <a:txBody>
                    <a:bodyPr/>
                    <a:lstStyle/>
                    <a:p>
                      <a:pPr marL="0" marR="0" lvl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600" b="1" kern="0" spc="0" dirty="0">
                          <a:solidFill>
                            <a:srgbClr val="FF66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고용안정</a:t>
                      </a:r>
                      <a:r>
                        <a:rPr lang="en-US" altLang="ko-KR" sz="1600" b="1" kern="0" spc="0" dirty="0">
                          <a:solidFill>
                            <a:srgbClr val="FF66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·</a:t>
                      </a:r>
                      <a:r>
                        <a:rPr lang="ko-KR" altLang="en-US" sz="1600" b="1" kern="0" spc="0" dirty="0">
                          <a:solidFill>
                            <a:srgbClr val="FF66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직업능력개발사업 보험료</a:t>
                      </a:r>
                      <a:r>
                        <a:rPr lang="en-US" altLang="ko-KR" sz="1600" b="1" kern="0" spc="0" dirty="0">
                          <a:solidFill>
                            <a:srgbClr val="FF66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600" b="1" kern="0" spc="0" dirty="0">
                          <a:solidFill>
                            <a:srgbClr val="FF66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사업주 전액부담</a:t>
                      </a:r>
                      <a:r>
                        <a:rPr lang="en-US" altLang="ko-KR" sz="1600" b="1" kern="0" spc="0" dirty="0">
                          <a:solidFill>
                            <a:srgbClr val="FF66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600" b="1" kern="0" spc="0" dirty="0">
                        <a:solidFill>
                          <a:srgbClr val="FF66FF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1270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보험료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=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근로자 개인별 월평균보수 총액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×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고용안정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·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직업능력개발사업의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보험료율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297988" y="1044796"/>
            <a:ext cx="1753732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</a:t>
            </a:r>
            <a:r>
              <a:rPr lang="en-US" altLang="ko-KR" sz="220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보험료</a:t>
            </a:r>
          </a:p>
        </p:txBody>
      </p:sp>
    </p:spTree>
    <p:extLst>
      <p:ext uri="{BB962C8B-B14F-4D97-AF65-F5344CB8AC3E}">
        <p14:creationId xmlns:p14="http://schemas.microsoft.com/office/powerpoint/2010/main" val="38057365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6.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재정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671837"/>
              </p:ext>
            </p:extLst>
          </p:nvPr>
        </p:nvGraphicFramePr>
        <p:xfrm>
          <a:off x="179512" y="2636913"/>
          <a:ext cx="8533700" cy="3085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2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776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보험료 대상 구 분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근로자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사업주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384">
                <a:tc gridSpan="2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8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실업급여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0.8%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0.8%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372">
                <a:tc rowSpan="4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800" b="1" kern="0" spc="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고용안정 </a:t>
                      </a:r>
                      <a:endParaRPr lang="en-US" altLang="ko-KR" sz="1800" b="1" kern="0" spc="0" dirty="0">
                        <a:solidFill>
                          <a:srgbClr val="01BF06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800" b="1" kern="0" spc="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직업능력개발</a:t>
                      </a:r>
                      <a:endParaRPr lang="en-US" altLang="ko-KR" sz="1800" b="1" kern="0" spc="0" dirty="0">
                        <a:solidFill>
                          <a:srgbClr val="01BF06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800" b="1" kern="0" spc="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사업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150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미만 기업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-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0.25%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372">
                <a:tc v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150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이상기업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우선지원대상기업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-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0.45%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372">
                <a:tc vMerge="1"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150-1000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명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미만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우선지원대상기업 제외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-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0.65%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372">
                <a:tc vMerge="1"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1000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명 이상 기업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국가와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지자체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직접 사업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-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0.85%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2483768" y="1772816"/>
            <a:ext cx="3312368" cy="45153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&lt;</a:t>
            </a:r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표</a:t>
            </a:r>
            <a:r>
              <a:rPr lang="en-US" altLang="ko-KR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&gt; </a:t>
            </a:r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고용보험료 부담 비율</a:t>
            </a:r>
          </a:p>
        </p:txBody>
      </p:sp>
    </p:spTree>
    <p:extLst>
      <p:ext uri="{BB962C8B-B14F-4D97-AF65-F5344CB8AC3E}">
        <p14:creationId xmlns:p14="http://schemas.microsoft.com/office/powerpoint/2010/main" val="25626316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7.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운영체계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508908"/>
              </p:ext>
            </p:extLst>
          </p:nvPr>
        </p:nvGraphicFramePr>
        <p:xfrm>
          <a:off x="255364" y="1700808"/>
          <a:ext cx="8637115" cy="3888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37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88432">
                <a:tc>
                  <a:txBody>
                    <a:bodyPr/>
                    <a:lstStyle/>
                    <a:p>
                      <a:pPr marL="284400" marR="0" lvl="0" indent="-284400" algn="just" defTabSz="914400" rtl="0" eaLnBrk="1" fontAlgn="base" latinLnBrk="1" hangingPunct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고용보험의 주요정책결정과 업무감독은 고용노동부의 중앙행정기관이 담당</a:t>
                      </a:r>
                      <a:endParaRPr lang="en-US" altLang="ko-KR" sz="18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4400" marR="0" lvl="0" indent="-284400" algn="just" defTabSz="914400" rtl="0" eaLnBrk="1" fontAlgn="base" latinLnBrk="1" hangingPunct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고용보험에 관한 주요정책의 결정은 고용보험운영 및 평가 전문위원회의 사전  </a:t>
                      </a:r>
                      <a:r>
                        <a:rPr lang="ko-KR" altLang="en-US" sz="1750" b="0" kern="1200" dirty="0">
                          <a:solidFill>
                            <a:schemeClr val="tx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검토조정을 통해 </a:t>
                      </a:r>
                      <a:r>
                        <a:rPr lang="ko-KR" altLang="en-US" sz="1750" b="0" kern="1200" dirty="0">
                          <a:solidFill>
                            <a:srgbClr val="FF0000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고용보험위원회의 심의</a:t>
                      </a:r>
                      <a:r>
                        <a:rPr lang="ko-KR" altLang="en-US" sz="1750" b="0" kern="1200" dirty="0">
                          <a:solidFill>
                            <a:schemeClr val="tx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를 거쳐 고용노동부장관에 의해 이루어짐</a:t>
                      </a:r>
                      <a:endParaRPr lang="en-US" altLang="ko-KR" sz="1750" b="0" kern="1200" dirty="0">
                        <a:solidFill>
                          <a:schemeClr val="tx1"/>
                        </a:solidFill>
                        <a:effectLst/>
                        <a:latin typeface="HY울릉도M" pitchFamily="18" charset="-127"/>
                        <a:ea typeface="HY울릉도M" pitchFamily="18" charset="-127"/>
                        <a:cs typeface="+mn-cs"/>
                      </a:endParaRPr>
                    </a:p>
                    <a:p>
                      <a:pPr marL="284400" marR="0" lvl="0" indent="-284400" algn="just" defTabSz="914400" rtl="0" eaLnBrk="1" fontAlgn="base" latinLnBrk="1" hangingPunct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집행업무는 지방고용노동청의 </a:t>
                      </a:r>
                      <a:r>
                        <a:rPr lang="ko-KR" altLang="en-US" sz="1800" b="0" kern="0" spc="0" dirty="0">
                          <a:solidFill>
                            <a:srgbClr val="FF66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고용센터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와 </a:t>
                      </a:r>
                      <a:r>
                        <a:rPr lang="ko-KR" altLang="en-US" sz="1800" b="0" kern="0" spc="0" dirty="0">
                          <a:solidFill>
                            <a:srgbClr val="FF66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근로복지공단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이 담당</a:t>
                      </a:r>
                      <a:endParaRPr lang="en-US" altLang="ko-KR" sz="18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4400" marR="0" lvl="0" indent="-284400" algn="just" defTabSz="914400" rtl="0" eaLnBrk="1" fontAlgn="base" latinLnBrk="1" hangingPunct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고용센터는 실업급여 지급 등 각종 지원업무 담당</a:t>
                      </a:r>
                      <a:endParaRPr lang="en-US" altLang="ko-KR" sz="18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4400" marR="0" indent="-284400" algn="just" defTabSz="914400" rtl="0" eaLnBrk="1" fontAlgn="base" latinLnBrk="1" hangingPunct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근로복지공단은 고용보험 적용</a:t>
                      </a:r>
                      <a:r>
                        <a:rPr lang="en-US" altLang="ko-KR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고용보험 피보험자 관리업무 등을 수행</a:t>
                      </a:r>
                      <a:endParaRPr lang="en-US" altLang="ko-KR" sz="1800" b="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4400" marR="0" indent="-284400" algn="just" defTabSz="914400" rtl="0" eaLnBrk="1" fontAlgn="base" latinLnBrk="1" hangingPunct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보험료 징수는 국민건강보험공단이 통합 징수함</a:t>
                      </a:r>
                      <a:r>
                        <a:rPr lang="en-US" altLang="ko-KR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(2011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년부터</a:t>
                      </a:r>
                      <a:r>
                        <a:rPr lang="en-US" altLang="ko-KR" sz="20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1777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8509</TotalTime>
  <Words>2850</Words>
  <Application>Microsoft Office PowerPoint</Application>
  <PresentationFormat>화면 슬라이드 쇼(4:3)</PresentationFormat>
  <Paragraphs>570</Paragraphs>
  <Slides>35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35</vt:i4>
      </vt:variant>
    </vt:vector>
  </HeadingPairs>
  <TitlesOfParts>
    <vt:vector size="47" baseType="lpstr">
      <vt:lpstr>HY울릉도B</vt:lpstr>
      <vt:lpstr>HY울릉도M</vt:lpstr>
      <vt:lpstr>나눔스퀘어 Bold</vt:lpstr>
      <vt:lpstr>나눔스퀘어 ExtraBold</vt:lpstr>
      <vt:lpstr>나눔스퀘어라운드 Bold</vt:lpstr>
      <vt:lpstr>맑은 고딕</vt:lpstr>
      <vt:lpstr>-윤고딕110</vt:lpstr>
      <vt:lpstr>-윤고딕120</vt:lpstr>
      <vt:lpstr>Arial</vt:lpstr>
      <vt:lpstr>Wingdings</vt:lpstr>
      <vt:lpstr>Office 테마</vt:lpstr>
      <vt:lpstr>1_Office 테마</vt:lpstr>
      <vt:lpstr>제11장</vt:lpstr>
      <vt:lpstr>content</vt:lpstr>
      <vt:lpstr>1. 의의 및 목적</vt:lpstr>
      <vt:lpstr>1. 의의 및 목적</vt:lpstr>
      <vt:lpstr>2. 도입배경 및 발전과정</vt:lpstr>
      <vt:lpstr>2. 도입배경 및 발전과정</vt:lpstr>
      <vt:lpstr>2. 도입배경 및 발전과정</vt:lpstr>
      <vt:lpstr>3. 적용대상</vt:lpstr>
      <vt:lpstr>3. 적용대상</vt:lpstr>
      <vt:lpstr>4. 급여내용(사업내용)</vt:lpstr>
      <vt:lpstr>4. 급여내용(사업내용)</vt:lpstr>
      <vt:lpstr>4. 급여내용(사업내용)</vt:lpstr>
      <vt:lpstr>4. 급여내용(사업내용)</vt:lpstr>
      <vt:lpstr>4. 급여내용(사업내용)</vt:lpstr>
      <vt:lpstr>4. 급여내용(사업내용)</vt:lpstr>
      <vt:lpstr>급여내용(사업내용)</vt:lpstr>
      <vt:lpstr>4. 급여내용(사업내용)</vt:lpstr>
      <vt:lpstr>PowerPoint 프레젠테이션</vt:lpstr>
      <vt:lpstr>4. 급여내용(사업내용)</vt:lpstr>
      <vt:lpstr>4. 급여내용(사업내용)</vt:lpstr>
      <vt:lpstr>4. 급여내용(사업내용)</vt:lpstr>
      <vt:lpstr>4. 급여내용(사업내용)</vt:lpstr>
      <vt:lpstr>4. 급여내용(사업내용)</vt:lpstr>
      <vt:lpstr>4. 급여내용(사업내용)</vt:lpstr>
      <vt:lpstr>4. 급여내용(사업내용)</vt:lpstr>
      <vt:lpstr>4. 급여내용(사업내용)</vt:lpstr>
      <vt:lpstr>4. 급여내용(사업내용)</vt:lpstr>
      <vt:lpstr>4. 급여내용(사업내용)</vt:lpstr>
      <vt:lpstr>5. 자영업자 고용보험</vt:lpstr>
      <vt:lpstr>5. 자영업자 고용보험</vt:lpstr>
      <vt:lpstr>5. 자영업자 고용보험</vt:lpstr>
      <vt:lpstr>5. 자영업자 고용보험</vt:lpstr>
      <vt:lpstr>6. 재정</vt:lpstr>
      <vt:lpstr>6. 재정</vt:lpstr>
      <vt:lpstr>7. 운영체계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【사회보장론】 (Social Security )</dc:title>
  <dc:creator>my</dc:creator>
  <cp:lastModifiedBy>Andrew Kang</cp:lastModifiedBy>
  <cp:revision>1225</cp:revision>
  <dcterms:created xsi:type="dcterms:W3CDTF">2013-07-17T08:20:07Z</dcterms:created>
  <dcterms:modified xsi:type="dcterms:W3CDTF">2022-11-21T06:18:51Z</dcterms:modified>
</cp:coreProperties>
</file>