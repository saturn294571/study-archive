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56" r:id="rId2"/>
  </p:sldMasterIdLst>
  <p:notesMasterIdLst>
    <p:notesMasterId r:id="rId21"/>
  </p:notesMasterIdLst>
  <p:sldIdLst>
    <p:sldId id="523" r:id="rId3"/>
    <p:sldId id="528" r:id="rId4"/>
    <p:sldId id="525" r:id="rId5"/>
    <p:sldId id="526" r:id="rId6"/>
    <p:sldId id="491" r:id="rId7"/>
    <p:sldId id="492" r:id="rId8"/>
    <p:sldId id="493" r:id="rId9"/>
    <p:sldId id="494" r:id="rId10"/>
    <p:sldId id="508" r:id="rId11"/>
    <p:sldId id="509" r:id="rId12"/>
    <p:sldId id="533" r:id="rId13"/>
    <p:sldId id="499" r:id="rId14"/>
    <p:sldId id="529" r:id="rId15"/>
    <p:sldId id="501" r:id="rId16"/>
    <p:sldId id="502" r:id="rId17"/>
    <p:sldId id="532" r:id="rId18"/>
    <p:sldId id="503" r:id="rId19"/>
    <p:sldId id="506" r:id="rId2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DC1C"/>
    <a:srgbClr val="33CC33"/>
    <a:srgbClr val="9933FF"/>
    <a:srgbClr val="FF3399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1" autoAdjust="0"/>
    <p:restoredTop sz="99721" autoAdjust="0"/>
  </p:normalViewPr>
  <p:slideViewPr>
    <p:cSldViewPr>
      <p:cViewPr varScale="1">
        <p:scale>
          <a:sx n="67" d="100"/>
          <a:sy n="67" d="100"/>
        </p:scale>
        <p:origin x="112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진화" userId="92eb4c3a-09df-4608-b9c9-92d107705cdc" providerId="ADAL" clId="{C4125B83-50D4-4AB1-AF79-147553F3F6D1}"/>
    <pc:docChg chg="delSld">
      <pc:chgData name="박진화" userId="92eb4c3a-09df-4608-b9c9-92d107705cdc" providerId="ADAL" clId="{C4125B83-50D4-4AB1-AF79-147553F3F6D1}" dt="2021-11-24T13:59:06.763" v="0" actId="2696"/>
      <pc:docMkLst>
        <pc:docMk/>
      </pc:docMkLst>
      <pc:sldChg chg="del">
        <pc:chgData name="박진화" userId="92eb4c3a-09df-4608-b9c9-92d107705cdc" providerId="ADAL" clId="{C4125B83-50D4-4AB1-AF79-147553F3F6D1}" dt="2021-11-24T13:59:06.763" v="0" actId="2696"/>
        <pc:sldMkLst>
          <pc:docMk/>
          <pc:sldMk cId="1807495593" sldId="478"/>
        </pc:sldMkLst>
      </pc:sldChg>
      <pc:sldChg chg="del">
        <pc:chgData name="박진화" userId="92eb4c3a-09df-4608-b9c9-92d107705cdc" providerId="ADAL" clId="{C4125B83-50D4-4AB1-AF79-147553F3F6D1}" dt="2021-11-24T13:59:06.763" v="0" actId="2696"/>
        <pc:sldMkLst>
          <pc:docMk/>
          <pc:sldMk cId="2376935226" sldId="482"/>
        </pc:sldMkLst>
      </pc:sldChg>
    </pc:docChg>
  </pc:docChgLst>
  <pc:docChgLst>
    <pc:chgData name="박진화" userId="92eb4c3a-09df-4608-b9c9-92d107705cdc" providerId="ADAL" clId="{3C6A9163-C997-4FA8-9D4A-CBE6D4B35C89}"/>
    <pc:docChg chg="custSel modSld">
      <pc:chgData name="박진화" userId="92eb4c3a-09df-4608-b9c9-92d107705cdc" providerId="ADAL" clId="{3C6A9163-C997-4FA8-9D4A-CBE6D4B35C89}" dt="2021-10-23T08:32:55.527" v="104" actId="20577"/>
      <pc:docMkLst>
        <pc:docMk/>
      </pc:docMkLst>
      <pc:sldChg chg="modSp mod">
        <pc:chgData name="박진화" userId="92eb4c3a-09df-4608-b9c9-92d107705cdc" providerId="ADAL" clId="{3C6A9163-C997-4FA8-9D4A-CBE6D4B35C89}" dt="2021-10-23T06:34:18.616" v="9" actId="20577"/>
        <pc:sldMkLst>
          <pc:docMk/>
          <pc:sldMk cId="2007306202" sldId="492"/>
        </pc:sldMkLst>
        <pc:graphicFrameChg chg="modGraphic">
          <ac:chgData name="박진화" userId="92eb4c3a-09df-4608-b9c9-92d107705cdc" providerId="ADAL" clId="{3C6A9163-C997-4FA8-9D4A-CBE6D4B35C89}" dt="2021-10-23T06:34:18.616" v="9" actId="20577"/>
          <ac:graphicFrameMkLst>
            <pc:docMk/>
            <pc:sldMk cId="2007306202" sldId="492"/>
            <ac:graphicFrameMk id="3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3C6A9163-C997-4FA8-9D4A-CBE6D4B35C89}" dt="2021-10-23T08:14:33.861" v="85" actId="20577"/>
        <pc:sldMkLst>
          <pc:docMk/>
          <pc:sldMk cId="2960495873" sldId="494"/>
        </pc:sldMkLst>
        <pc:graphicFrameChg chg="mod modGraphic">
          <ac:chgData name="박진화" userId="92eb4c3a-09df-4608-b9c9-92d107705cdc" providerId="ADAL" clId="{3C6A9163-C997-4FA8-9D4A-CBE6D4B35C89}" dt="2021-10-23T08:14:33.861" v="85" actId="20577"/>
          <ac:graphicFrameMkLst>
            <pc:docMk/>
            <pc:sldMk cId="2960495873" sldId="494"/>
            <ac:graphicFrameMk id="3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3C6A9163-C997-4FA8-9D4A-CBE6D4B35C89}" dt="2021-10-23T08:17:31.311" v="86" actId="20577"/>
        <pc:sldMkLst>
          <pc:docMk/>
          <pc:sldMk cId="446044127" sldId="502"/>
        </pc:sldMkLst>
        <pc:graphicFrameChg chg="modGraphic">
          <ac:chgData name="박진화" userId="92eb4c3a-09df-4608-b9c9-92d107705cdc" providerId="ADAL" clId="{3C6A9163-C997-4FA8-9D4A-CBE6D4B35C89}" dt="2021-10-23T08:17:31.311" v="86" actId="20577"/>
          <ac:graphicFrameMkLst>
            <pc:docMk/>
            <pc:sldMk cId="446044127" sldId="502"/>
            <ac:graphicFrameMk id="3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3C6A9163-C997-4FA8-9D4A-CBE6D4B35C89}" dt="2021-10-23T08:32:55.527" v="104" actId="20577"/>
        <pc:sldMkLst>
          <pc:docMk/>
          <pc:sldMk cId="549056699" sldId="503"/>
        </pc:sldMkLst>
        <pc:graphicFrameChg chg="modGraphic">
          <ac:chgData name="박진화" userId="92eb4c3a-09df-4608-b9c9-92d107705cdc" providerId="ADAL" clId="{3C6A9163-C997-4FA8-9D4A-CBE6D4B35C89}" dt="2021-10-23T08:32:55.527" v="104" actId="20577"/>
          <ac:graphicFrameMkLst>
            <pc:docMk/>
            <pc:sldMk cId="549056699" sldId="503"/>
            <ac:graphicFrameMk id="3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3C6A9163-C997-4FA8-9D4A-CBE6D4B35C89}" dt="2021-10-23T08:30:07.419" v="103" actId="20577"/>
        <pc:sldMkLst>
          <pc:docMk/>
          <pc:sldMk cId="195492171" sldId="506"/>
        </pc:sldMkLst>
        <pc:graphicFrameChg chg="modGraphic">
          <ac:chgData name="박진화" userId="92eb4c3a-09df-4608-b9c9-92d107705cdc" providerId="ADAL" clId="{3C6A9163-C997-4FA8-9D4A-CBE6D4B35C89}" dt="2021-10-23T08:30:07.419" v="103" actId="20577"/>
          <ac:graphicFrameMkLst>
            <pc:docMk/>
            <pc:sldMk cId="195492171" sldId="506"/>
            <ac:graphicFrameMk id="3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3C6A9163-C997-4FA8-9D4A-CBE6D4B35C89}" dt="2021-10-23T08:17:48.958" v="91" actId="20577"/>
        <pc:sldMkLst>
          <pc:docMk/>
          <pc:sldMk cId="2553932272" sldId="532"/>
        </pc:sldMkLst>
        <pc:graphicFrameChg chg="modGraphic">
          <ac:chgData name="박진화" userId="92eb4c3a-09df-4608-b9c9-92d107705cdc" providerId="ADAL" clId="{3C6A9163-C997-4FA8-9D4A-CBE6D4B35C89}" dt="2021-10-23T08:17:48.958" v="91" actId="20577"/>
          <ac:graphicFrameMkLst>
            <pc:docMk/>
            <pc:sldMk cId="2553932272" sldId="532"/>
            <ac:graphicFrameMk id="3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9FB78-2087-48E7-A297-280F5EFD347C}" type="datetimeFigureOut">
              <a:rPr lang="ko-KR" altLang="en-US" smtClean="0"/>
              <a:t>2022-11-28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0B801-CA2D-4ADF-9C19-FA669F2B45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09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11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483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987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77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938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081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896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038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3721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527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70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DEEF3-857F-4874-AA1A-D8F1248EFAA6}" type="datetimeFigureOut">
              <a:rPr lang="ko-KR" altLang="en-US" smtClean="0"/>
              <a:pPr/>
              <a:t>2022-11-28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672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052872" y="1400268"/>
            <a:ext cx="931665" cy="400110"/>
          </a:xfrm>
        </p:spPr>
        <p:txBody>
          <a:bodyPr wrap="non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13</a:t>
            </a:r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7698" y="1844824"/>
            <a:ext cx="38651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000" dirty="0">
                <a:solidFill>
                  <a:srgbClr val="FFFF00"/>
                </a:solidFill>
                <a:ea typeface="나눔스퀘어 ExtraBold" panose="020B0600000101010101" pitchFamily="50" charset="-127"/>
              </a:rPr>
              <a:t>기초연금제도와 장애인연금제도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18127" y="260648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제 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부 사회보장의 총론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endParaRPr lang="ko-KR" altLang="en-US" sz="12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667101" y="3573016"/>
            <a:ext cx="751127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7030A0"/>
                </a:solidFill>
                <a:latin typeface="HY울릉도M"/>
                <a:ea typeface="HY울릉도M"/>
              </a:rPr>
              <a:t>                        ▲ 수업목표</a:t>
            </a:r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기초연금제도 장애인연금제도의 의의와 목적을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기초연금제도의 도입배경을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  <a:r>
              <a:rPr lang="ko-KR" altLang="en-US" sz="1600" dirty="0">
                <a:solidFill>
                  <a:srgbClr val="7030A0"/>
                </a:solidFill>
              </a:rPr>
              <a:t>  </a:t>
            </a:r>
            <a:endParaRPr lang="en-US" altLang="ko-KR" sz="1600" dirty="0">
              <a:solidFill>
                <a:srgbClr val="7030A0"/>
              </a:solidFill>
            </a:endParaRPr>
          </a:p>
          <a:p>
            <a:pPr marL="342900"/>
            <a:r>
              <a:rPr lang="en-US" altLang="ko-KR" sz="1600" dirty="0">
                <a:solidFill>
                  <a:srgbClr val="7030A0"/>
                </a:solidFill>
              </a:rPr>
              <a:t>                        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기초연금제도와 장애인연금제도의 적용대상과 급여내용을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기초연금제도의 재정에 대해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98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80312" y="495489"/>
            <a:ext cx="1149674" cy="523220"/>
          </a:xfrm>
        </p:spPr>
        <p:txBody>
          <a:bodyPr wrap="none">
            <a:spAutoFit/>
          </a:bodyPr>
          <a:lstStyle/>
          <a:p>
            <a:pPr algn="l"/>
            <a:r>
              <a:rPr lang="en-US" altLang="ko-KR" sz="28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content</a:t>
            </a:r>
            <a:endParaRPr lang="ko-KR" altLang="en-US" sz="2800" dirty="0">
              <a:solidFill>
                <a:srgbClr val="FFFF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63" name="Group 24"/>
          <p:cNvGrpSpPr>
            <a:grpSpLocks/>
          </p:cNvGrpSpPr>
          <p:nvPr/>
        </p:nvGrpSpPr>
        <p:grpSpPr bwMode="auto">
          <a:xfrm>
            <a:off x="2085589" y="2365053"/>
            <a:ext cx="436186" cy="408976"/>
            <a:chOff x="2078" y="1680"/>
            <a:chExt cx="1615" cy="1615"/>
          </a:xfrm>
        </p:grpSpPr>
        <p:sp>
          <p:nvSpPr>
            <p:cNvPr id="64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1" name="Group 30"/>
          <p:cNvGrpSpPr>
            <a:grpSpLocks/>
          </p:cNvGrpSpPr>
          <p:nvPr/>
        </p:nvGrpSpPr>
        <p:grpSpPr bwMode="auto">
          <a:xfrm>
            <a:off x="2092413" y="3007968"/>
            <a:ext cx="425453" cy="428048"/>
            <a:chOff x="2078" y="1680"/>
            <a:chExt cx="1615" cy="1615"/>
          </a:xfrm>
        </p:grpSpPr>
        <p:sp>
          <p:nvSpPr>
            <p:cNvPr id="72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9" name="Group 37"/>
          <p:cNvGrpSpPr>
            <a:grpSpLocks/>
          </p:cNvGrpSpPr>
          <p:nvPr/>
        </p:nvGrpSpPr>
        <p:grpSpPr bwMode="auto">
          <a:xfrm>
            <a:off x="2091282" y="3613955"/>
            <a:ext cx="425453" cy="417872"/>
            <a:chOff x="2078" y="1680"/>
            <a:chExt cx="1615" cy="1615"/>
          </a:xfrm>
        </p:grpSpPr>
        <p:sp>
          <p:nvSpPr>
            <p:cNvPr id="80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4" name="Group 16"/>
          <p:cNvGrpSpPr>
            <a:grpSpLocks/>
          </p:cNvGrpSpPr>
          <p:nvPr/>
        </p:nvGrpSpPr>
        <p:grpSpPr bwMode="auto">
          <a:xfrm>
            <a:off x="2107336" y="4253441"/>
            <a:ext cx="438829" cy="422201"/>
            <a:chOff x="2078" y="1680"/>
            <a:chExt cx="1615" cy="1615"/>
          </a:xfrm>
        </p:grpSpPr>
        <p:sp>
          <p:nvSpPr>
            <p:cNvPr id="105" name="Oval 1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Oval 18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Oval 19"/>
            <p:cNvSpPr>
              <a:spLocks noChangeArrowheads="1"/>
            </p:cNvSpPr>
            <p:nvPr/>
          </p:nvSpPr>
          <p:spPr bwMode="gray">
            <a:xfrm>
              <a:off x="2253" y="1856"/>
              <a:ext cx="1265" cy="1263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Oval 20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Oval 21"/>
            <p:cNvSpPr>
              <a:spLocks noChangeArrowheads="1"/>
            </p:cNvSpPr>
            <p:nvPr/>
          </p:nvSpPr>
          <p:spPr bwMode="gray">
            <a:xfrm>
              <a:off x="2335" y="1938"/>
              <a:ext cx="1100" cy="1099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Oval 22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7" name="Group 24"/>
          <p:cNvGrpSpPr>
            <a:grpSpLocks/>
          </p:cNvGrpSpPr>
          <p:nvPr/>
        </p:nvGrpSpPr>
        <p:grpSpPr bwMode="auto">
          <a:xfrm>
            <a:off x="2108594" y="4895282"/>
            <a:ext cx="436186" cy="408976"/>
            <a:chOff x="2078" y="1680"/>
            <a:chExt cx="1615" cy="1615"/>
          </a:xfrm>
        </p:grpSpPr>
        <p:sp>
          <p:nvSpPr>
            <p:cNvPr id="38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1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8" name="AutoShape 7"/>
          <p:cNvSpPr>
            <a:spLocks noChangeArrowheads="1"/>
          </p:cNvSpPr>
          <p:nvPr/>
        </p:nvSpPr>
        <p:spPr bwMode="gray">
          <a:xfrm>
            <a:off x="2760712" y="2311451"/>
            <a:ext cx="3763341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의의 및 목적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61" name="AutoShape 8"/>
          <p:cNvSpPr>
            <a:spLocks noChangeArrowheads="1"/>
          </p:cNvSpPr>
          <p:nvPr/>
        </p:nvSpPr>
        <p:spPr bwMode="gray">
          <a:xfrm>
            <a:off x="2775652" y="2931140"/>
            <a:ext cx="3748402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도입배경 및 발전과정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7" name="AutoShape 7"/>
          <p:cNvSpPr>
            <a:spLocks noChangeArrowheads="1"/>
          </p:cNvSpPr>
          <p:nvPr/>
        </p:nvSpPr>
        <p:spPr bwMode="gray">
          <a:xfrm>
            <a:off x="2802258" y="3613058"/>
            <a:ext cx="3732913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 err="1">
                <a:solidFill>
                  <a:prstClr val="black"/>
                </a:solidFill>
                <a:latin typeface="나눔스퀘어 ExtraBold"/>
                <a:ea typeface="나눔스퀘어라운드 Bold"/>
              </a:rPr>
              <a:t>수급권자</a:t>
            </a:r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 및 급여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9" name="AutoShape 7"/>
          <p:cNvSpPr>
            <a:spLocks noChangeArrowheads="1"/>
          </p:cNvSpPr>
          <p:nvPr/>
        </p:nvSpPr>
        <p:spPr bwMode="gray">
          <a:xfrm>
            <a:off x="2802260" y="4868481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재         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1" name="AutoShape 8"/>
          <p:cNvSpPr>
            <a:spLocks noChangeArrowheads="1"/>
          </p:cNvSpPr>
          <p:nvPr/>
        </p:nvSpPr>
        <p:spPr bwMode="gray">
          <a:xfrm>
            <a:off x="2806614" y="4226309"/>
            <a:ext cx="3717439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급여내용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61889" y="495489"/>
            <a:ext cx="4006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기초연금제도</a:t>
            </a:r>
          </a:p>
        </p:txBody>
      </p:sp>
    </p:spTree>
    <p:extLst>
      <p:ext uri="{BB962C8B-B14F-4D97-AF65-F5344CB8AC3E}">
        <p14:creationId xmlns:p14="http://schemas.microsoft.com/office/powerpoint/2010/main" val="24369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1" grpId="0" animBg="1"/>
      <p:bldP spid="87" grpId="0" animBg="1"/>
      <p:bldP spid="89" grpId="0" animBg="1"/>
      <p:bldP spid="9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1.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의의 및 목적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865722"/>
              </p:ext>
            </p:extLst>
          </p:nvPr>
        </p:nvGraphicFramePr>
        <p:xfrm>
          <a:off x="286977" y="1700808"/>
          <a:ext cx="8640960" cy="3816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074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 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marR="0" indent="-3429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국민연금을 가입하지 못했거나</a:t>
                      </a:r>
                      <a:r>
                        <a:rPr lang="en-US" altLang="ko-KR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가입기간이 짧아 충분한 연금을 받지 못하는 노인들의 정기적</a:t>
                      </a:r>
                      <a:r>
                        <a:rPr lang="en-US" altLang="ko-KR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안정적인 소득기반 제공을 통한 노후소득 보장</a:t>
                      </a:r>
                      <a:r>
                        <a:rPr lang="en-US" altLang="ko-KR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(1</a:t>
                      </a: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</a:t>
                      </a:r>
                      <a:r>
                        <a:rPr lang="en-US" altLang="ko-KR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연금</a:t>
                      </a:r>
                      <a:r>
                        <a:rPr lang="en-US" altLang="ko-KR" sz="18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9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특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징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marR="0" indent="-3429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무기여 연금으로 재원은 국가의 일반재정으로 조달</a:t>
                      </a:r>
                    </a:p>
                    <a:p>
                      <a:pPr marL="342900" marR="0" indent="-3429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자산조사를 실시하여 </a:t>
                      </a: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중하위 </a:t>
                      </a:r>
                      <a:r>
                        <a:rPr lang="en-US" altLang="ko-KR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70% </a:t>
                      </a: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노인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선별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342900" marR="0" indent="-3429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노인들에게 권리로 주어지는 </a:t>
                      </a:r>
                      <a:r>
                        <a:rPr lang="ko-KR" altLang="en-US" sz="1800" kern="0" spc="0" dirty="0" err="1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준보편적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성격을 가진 급여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목 적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marR="0" indent="-34290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노인에게 기초연금을 지급하여 안정적인 소득기반을 제공함으로써 노인의 생활안정을 지원하고 복지를 증진함을 목적으로 함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965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62351"/>
              </p:ext>
            </p:extLst>
          </p:nvPr>
        </p:nvGraphicFramePr>
        <p:xfrm>
          <a:off x="323528" y="2060848"/>
          <a:ext cx="8568952" cy="3619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 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주요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1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10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2012.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제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18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 대통령 공약으로 기초연금 도입을 발표함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1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10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2013.03-07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국민행복연금위원회 구성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세대 이해를 대변하는 대표자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노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 대표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전문가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1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15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2013.09.25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정부의 기초연금법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제정안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발표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(2013.11.25.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국회제출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1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15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2014.04.30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여야 절충안 마련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국회와 정부로 구성된 여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야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정 협의체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15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2014.05.02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기초연금법 제정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기초노령연금법 폐지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44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15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2014.07.01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기초연금법 시행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소득 중하위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70%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이하의 노인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2411760" y="1336636"/>
            <a:ext cx="39597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기초연금제도의 주요 연혁</a:t>
            </a:r>
          </a:p>
        </p:txBody>
      </p:sp>
    </p:spTree>
    <p:extLst>
      <p:ext uri="{BB962C8B-B14F-4D97-AF65-F5344CB8AC3E}">
        <p14:creationId xmlns:p14="http://schemas.microsoft.com/office/powerpoint/2010/main" val="1400735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 err="1">
                <a:latin typeface="HY울릉도B" pitchFamily="18" charset="-127"/>
                <a:ea typeface="HY울릉도B" pitchFamily="18" charset="-127"/>
              </a:rPr>
              <a:t>수급권자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 및 급여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522776"/>
              </p:ext>
            </p:extLst>
          </p:nvPr>
        </p:nvGraphicFramePr>
        <p:xfrm>
          <a:off x="273344" y="1844824"/>
          <a:ext cx="8640960" cy="396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0" spc="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</a:t>
                      </a:r>
                      <a:endParaRPr lang="ko-KR" altLang="en-US" sz="20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65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이상으로서 </a:t>
                      </a:r>
                      <a:r>
                        <a:rPr lang="ko-KR" alt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소득인정액이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보건복지부장관이 고시하는 </a:t>
                      </a:r>
                      <a:r>
                        <a:rPr lang="ko-KR" alt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선정기준액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이하인 사람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소득하위 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70% 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수준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1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endParaRPr lang="en-US" altLang="ko-KR" sz="18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적용제외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직역연금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공무원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사학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군인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별정우체국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)의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및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배우자는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원칙적으로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제외됨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적용제외</a:t>
                      </a:r>
                      <a:endParaRPr lang="en-US" altLang="ko-KR" sz="20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예외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직역재직기간이 </a:t>
                      </a:r>
                      <a:r>
                        <a:rPr lang="en-US" altLang="ko-KR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미만인 연계퇴직연금 또는 연계퇴직유족연금의 </a:t>
                      </a:r>
                      <a:r>
                        <a:rPr lang="ko-KR" alt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</a:t>
                      </a:r>
                      <a:r>
                        <a:rPr lang="ko-KR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및 그 배우자</a:t>
                      </a:r>
                      <a:endParaRPr lang="en-US" altLang="ko-KR" sz="1800" b="0" i="0" u="none" strike="noStrike" kern="1200" baseline="0" dirty="0">
                        <a:solidFill>
                          <a:schemeClr val="dk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장해보상금</a:t>
                      </a:r>
                      <a:r>
                        <a:rPr lang="en-US" altLang="ko-KR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유족연금일시금</a:t>
                      </a:r>
                      <a:r>
                        <a:rPr lang="en-US" altLang="ko-KR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유족일시금</a:t>
                      </a:r>
                      <a:r>
                        <a:rPr lang="en-US" altLang="ko-KR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공무상 사망 등에 따라 유족연금 대신 받은 경우</a:t>
                      </a:r>
                      <a:r>
                        <a:rPr lang="en-US" altLang="ko-KR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받은 이후 </a:t>
                      </a:r>
                      <a:r>
                        <a:rPr lang="en-US" altLang="ko-KR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년이 경과된 직역연금 </a:t>
                      </a:r>
                      <a:r>
                        <a:rPr lang="ko-KR" alt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</a:t>
                      </a:r>
                      <a:r>
                        <a:rPr lang="ko-KR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및 그 배우자</a:t>
                      </a:r>
                      <a:endParaRPr lang="en-US" altLang="ko-KR" sz="1800" b="0" i="0" u="none" strike="noStrike" kern="1200" baseline="0" dirty="0">
                        <a:solidFill>
                          <a:schemeClr val="dk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모서리가 둥근 직사각형 3"/>
          <p:cNvSpPr/>
          <p:nvPr/>
        </p:nvSpPr>
        <p:spPr>
          <a:xfrm>
            <a:off x="273344" y="1032913"/>
            <a:ext cx="2426448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(1) </a:t>
            </a:r>
            <a:r>
              <a:rPr lang="ko-KR" altLang="en-US" sz="24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수급권자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9846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 err="1">
                <a:latin typeface="HY울릉도B" pitchFamily="18" charset="-127"/>
                <a:ea typeface="HY울릉도B" pitchFamily="18" charset="-127"/>
              </a:rPr>
              <a:t>수급권자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 및 급여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37425"/>
              </p:ext>
            </p:extLst>
          </p:nvPr>
        </p:nvGraphicFramePr>
        <p:xfrm>
          <a:off x="287830" y="1772816"/>
          <a:ext cx="8640960" cy="4955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4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3975">
                <a:tc rowSpan="4"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20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소득</a:t>
                      </a:r>
                      <a:endParaRPr lang="en-US" altLang="ko-KR" sz="20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2000" b="0" kern="0" spc="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인정액</a:t>
                      </a:r>
                      <a:endParaRPr lang="en-US" altLang="ko-KR" sz="20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20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산정</a:t>
                      </a:r>
                      <a:endParaRPr lang="en-US" altLang="ko-KR" sz="20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연령과 </a:t>
                      </a:r>
                      <a:r>
                        <a:rPr lang="ko-KR" alt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소득인정액이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기준이 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됨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부양의무자 기준은 없음</a:t>
                      </a:r>
                      <a:r>
                        <a:rPr lang="en-US" altLang="ko-KR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18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소득인정액 선정기준 </a:t>
                      </a:r>
                      <a:r>
                        <a:rPr lang="en-US" altLang="ko-KR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단독가구 </a:t>
                      </a:r>
                      <a:r>
                        <a:rPr lang="en-US" altLang="ko-KR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169</a:t>
                      </a:r>
                      <a:r>
                        <a:rPr lang="ko-KR" altLang="en-US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부부가구 </a:t>
                      </a:r>
                      <a:r>
                        <a:rPr lang="en-US" altLang="ko-KR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270.4</a:t>
                      </a:r>
                      <a:r>
                        <a:rPr lang="ko-KR" altLang="en-US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endParaRPr lang="ko-KR" altLang="en-US" dirty="0">
                        <a:solidFill>
                          <a:srgbClr val="FFFF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4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 err="1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소득인정액</a:t>
                      </a:r>
                      <a:r>
                        <a:rPr lang="ko-KR" altLang="en-US" sz="1800" b="1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1" kern="120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= </a:t>
                      </a:r>
                      <a:r>
                        <a:rPr lang="ko-KR" altLang="en-US" sz="1800" b="1" kern="120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월소득평가액</a:t>
                      </a:r>
                      <a:r>
                        <a:rPr lang="ko-KR" altLang="en-US" sz="1800" b="1" kern="120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1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+ </a:t>
                      </a:r>
                      <a:r>
                        <a:rPr lang="ko-KR" altLang="en-US" sz="1800" b="1" kern="120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재산의 월소득환산액</a:t>
                      </a:r>
                      <a:endParaRPr lang="ko-KR" altLang="en-US" b="1" dirty="0">
                        <a:solidFill>
                          <a:srgbClr val="9933FF"/>
                        </a:solidFill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2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b="1" kern="1200" dirty="0">
                          <a:solidFill>
                            <a:srgbClr val="33CC33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① 월소득평가액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= {0.7 x 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근로소득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– 98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} +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기타 소득</a:t>
                      </a: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* 근로소득 공제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상시근로소득에서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98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 공제 후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30%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추가공제</a:t>
                      </a: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* 기타소득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사업소득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재산소득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공적이전소득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무료임차소득</a:t>
                      </a:r>
                      <a:endParaRPr lang="ko-KR" altLang="en-US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7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② 재산의 월소득환산액 </a:t>
                      </a: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= [ {(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일반재산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–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기본재산액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+ 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금융재산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–2,000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–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} x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 재산의 소득환산율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4%) +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고급자동차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(3,000cc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4,000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및 회원권의 가액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환산율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100%)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* 기본재산 공제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대도시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1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억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3,500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중소도시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8,500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농어촌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7,250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endParaRPr lang="ko-KR" altLang="en-US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73344" y="1032913"/>
            <a:ext cx="2210424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(1) </a:t>
            </a:r>
            <a:r>
              <a:rPr lang="ko-KR" altLang="en-US" sz="24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수급권자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306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 err="1">
                <a:latin typeface="HY울릉도B" pitchFamily="18" charset="-127"/>
                <a:ea typeface="HY울릉도B" pitchFamily="18" charset="-127"/>
              </a:rPr>
              <a:t>수급권자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 및 급여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431805"/>
              </p:ext>
            </p:extLst>
          </p:nvPr>
        </p:nvGraphicFramePr>
        <p:xfrm>
          <a:off x="273344" y="1700808"/>
          <a:ext cx="854712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352"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20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20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기준연금 </a:t>
                      </a:r>
                      <a:endParaRPr lang="en-US" altLang="ko-KR" sz="20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20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전액</a:t>
                      </a:r>
                      <a:endParaRPr lang="en-US" altLang="ko-KR" sz="20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2000" b="0" kern="0" spc="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</a:t>
                      </a:r>
                      <a:endParaRPr lang="ko-KR" altLang="en-US" sz="2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➀ 공적연금</a:t>
                      </a:r>
                      <a:r>
                        <a:rPr lang="en-US" altLang="ko-KR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국민연금</a:t>
                      </a:r>
                      <a:r>
                        <a:rPr lang="en-US" altLang="ko-KR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직역연금</a:t>
                      </a:r>
                      <a:r>
                        <a:rPr lang="en-US" altLang="ko-KR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연계연금</a:t>
                      </a:r>
                      <a:r>
                        <a:rPr lang="en-US" altLang="ko-KR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수급권이 없는      </a:t>
                      </a:r>
                      <a:endParaRPr lang="en-US" altLang="ko-KR" sz="20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무연금자</a:t>
                      </a:r>
                      <a:endParaRPr lang="en-US" altLang="ko-KR" sz="20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➁ 국민연금 월 급여액이 </a:t>
                      </a:r>
                      <a:r>
                        <a:rPr lang="ko-KR" altLang="en-US" sz="2000" b="0" kern="120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기준연금액의</a:t>
                      </a: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150% </a:t>
                      </a: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이하인 자</a:t>
                      </a:r>
                      <a:endParaRPr lang="en-US" altLang="ko-KR" sz="20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➂ 국민연금의 유족연금이나 장애연금 </a:t>
                      </a:r>
                      <a:r>
                        <a:rPr lang="ko-KR" altLang="en-US" sz="2000" b="0" kern="120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</a:t>
                      </a:r>
                      <a:endParaRPr lang="en-US" altLang="ko-KR" sz="20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➃ 장애인연금 </a:t>
                      </a:r>
                      <a:r>
                        <a:rPr lang="ko-KR" altLang="en-US" sz="2000" b="0" kern="120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</a:t>
                      </a: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및 국민기초생활보장 </a:t>
                      </a:r>
                      <a:r>
                        <a:rPr lang="ko-KR" altLang="en-US" sz="2000" b="0" kern="120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</a:t>
                      </a:r>
                      <a:endParaRPr lang="en-US" altLang="ko-KR" sz="20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⑤ 국민연금과 직역연금의 연계에 관한 법률에 따른 </a:t>
                      </a:r>
                      <a:r>
                        <a:rPr lang="ko-KR" altLang="en-US" sz="2000" b="0" kern="120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연계노령</a:t>
                      </a:r>
                      <a:endParaRPr lang="en-US" altLang="ko-KR" sz="20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유족연금 </a:t>
                      </a:r>
                      <a:r>
                        <a:rPr lang="ko-KR" altLang="en-US" sz="2000" b="0" kern="120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수급권자</a:t>
                      </a:r>
                      <a:endParaRPr lang="ko-KR" altLang="en-US" sz="2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모서리가 둥근 직사각형 5"/>
          <p:cNvSpPr/>
          <p:nvPr/>
        </p:nvSpPr>
        <p:spPr>
          <a:xfrm>
            <a:off x="273344" y="1032913"/>
            <a:ext cx="2473364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(2)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급여산정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7967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 err="1">
                <a:latin typeface="HY울릉도B" pitchFamily="18" charset="-127"/>
                <a:ea typeface="HY울릉도B" pitchFamily="18" charset="-127"/>
              </a:rPr>
              <a:t>수급권자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 및 급여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575683"/>
              </p:ext>
            </p:extLst>
          </p:nvPr>
        </p:nvGraphicFramePr>
        <p:xfrm>
          <a:off x="323528" y="1700808"/>
          <a:ext cx="8640960" cy="4791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8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198">
                <a:tc gridSpan="2">
                  <a:txBody>
                    <a:bodyPr/>
                    <a:lstStyle/>
                    <a:p>
                      <a:pPr marL="285750" marR="0" indent="-28575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기준연금 </a:t>
                      </a:r>
                      <a:r>
                        <a:rPr lang="en-US" altLang="ko-KR" sz="1800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수급자</a:t>
                      </a:r>
                      <a:r>
                        <a:rPr lang="en-US" altLang="ko-KR" sz="180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외는</a:t>
                      </a:r>
                      <a:r>
                        <a:rPr lang="en-US" altLang="ko-KR" sz="180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아래 </a:t>
                      </a:r>
                      <a:r>
                        <a:rPr lang="en-US" altLang="ko-KR" sz="1800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공식에</a:t>
                      </a:r>
                      <a:r>
                        <a:rPr lang="en-US" altLang="ko-KR" sz="180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따라</a:t>
                      </a:r>
                      <a:r>
                        <a:rPr lang="en-US" altLang="ko-KR" sz="180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급여 </a:t>
                      </a:r>
                      <a:r>
                        <a:rPr lang="en-US" altLang="ko-KR" sz="1800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산정</a:t>
                      </a:r>
                      <a:r>
                        <a:rPr lang="en-US" altLang="ko-KR" sz="180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국민연금과 연계</a:t>
                      </a:r>
                      <a:r>
                        <a:rPr lang="en-US" altLang="ko-KR" sz="180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342900" marR="0" indent="-3429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80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04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FF0000"/>
                          </a:solidFill>
                          <a:effectLst/>
                          <a:ea typeface="태 나무" panose="02030603000101010101" pitchFamily="18" charset="-127"/>
                        </a:rPr>
                        <a:t>기초연금 급여 </a:t>
                      </a:r>
                      <a:r>
                        <a:rPr lang="en-US" altLang="ko-KR" sz="2000" b="1" kern="0" spc="0" dirty="0">
                          <a:solidFill>
                            <a:srgbClr val="FF0000"/>
                          </a:solidFill>
                          <a:effectLst/>
                          <a:ea typeface="태 나무" panose="02030603000101010101" pitchFamily="18" charset="-127"/>
                        </a:rPr>
                        <a:t>= (</a:t>
                      </a:r>
                      <a:r>
                        <a:rPr lang="ko-KR" altLang="en-US" sz="2000" b="1" kern="0" spc="0" dirty="0" err="1">
                          <a:solidFill>
                            <a:srgbClr val="FF0000"/>
                          </a:solidFill>
                          <a:effectLst/>
                          <a:ea typeface="태 나무" panose="02030603000101010101" pitchFamily="18" charset="-127"/>
                        </a:rPr>
                        <a:t>기준연금액</a:t>
                      </a:r>
                      <a:r>
                        <a:rPr lang="ko-KR" altLang="en-US" sz="2000" b="1" kern="0" spc="0" dirty="0">
                          <a:solidFill>
                            <a:srgbClr val="FF0000"/>
                          </a:solidFill>
                          <a:effectLst/>
                          <a:ea typeface="태 나무" panose="02030603000101010101" pitchFamily="18" charset="-127"/>
                        </a:rPr>
                        <a:t> </a:t>
                      </a:r>
                      <a:r>
                        <a:rPr lang="en-US" altLang="ko-KR" sz="2000" b="1" kern="0" spc="0" dirty="0">
                          <a:solidFill>
                            <a:srgbClr val="FF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- 2/3 Ⅹ </a:t>
                      </a:r>
                      <a:r>
                        <a:rPr lang="ko-KR" altLang="en-US" sz="2000" b="1" kern="0" spc="0" dirty="0">
                          <a:solidFill>
                            <a:srgbClr val="FF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국민연금 </a:t>
                      </a:r>
                      <a:r>
                        <a:rPr lang="en-US" altLang="ko-KR" sz="2000" b="1" kern="0" spc="0" dirty="0">
                          <a:solidFill>
                            <a:srgbClr val="FF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A</a:t>
                      </a:r>
                      <a:r>
                        <a:rPr lang="ko-KR" altLang="en-US" sz="2000" b="1" kern="0" spc="0" dirty="0">
                          <a:solidFill>
                            <a:srgbClr val="FF0000"/>
                          </a:solidFill>
                          <a:effectLst/>
                          <a:ea typeface="태 나무" panose="02030603000101010101" pitchFamily="18" charset="-127"/>
                        </a:rPr>
                        <a:t>급여</a:t>
                      </a:r>
                      <a:r>
                        <a:rPr lang="en-US" altLang="ko-KR" sz="2000" b="1" kern="0" spc="0" dirty="0">
                          <a:solidFill>
                            <a:srgbClr val="FF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) + </a:t>
                      </a:r>
                      <a:r>
                        <a:rPr lang="ko-KR" altLang="en-US" sz="2000" b="1" kern="0" spc="0" dirty="0" err="1">
                          <a:solidFill>
                            <a:srgbClr val="FF0000"/>
                          </a:solidFill>
                          <a:effectLst/>
                          <a:ea typeface="태 나무" panose="02030603000101010101" pitchFamily="18" charset="-127"/>
                        </a:rPr>
                        <a:t>부가연금액</a:t>
                      </a:r>
                      <a:endParaRPr lang="ko-KR" altLang="en-US" sz="2000" b="1" kern="0" spc="0" dirty="0">
                        <a:solidFill>
                          <a:srgbClr val="FF0000"/>
                        </a:solidFill>
                        <a:effectLst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 dirty="0">
                        <a:solidFill>
                          <a:srgbClr val="C00000"/>
                        </a:solidFill>
                        <a:effectLst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502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0" spc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기준</a:t>
                      </a:r>
                      <a:endParaRPr lang="en-US" altLang="ko-KR" sz="1800" b="1" kern="0" spc="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0" spc="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연금액</a:t>
                      </a:r>
                      <a:endParaRPr lang="ko-KR" altLang="en-US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도입 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만원으로 설정한 값으로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이후 매년 전국소비자물가변동률을 반영하여 산정하며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보건복지부장관이 변동된 금액을 매년 고시함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기준연금액</a:t>
                      </a:r>
                      <a:r>
                        <a:rPr lang="en-US" altLang="ko-KR" sz="1800" b="0" kern="120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=30</a:t>
                      </a:r>
                      <a:r>
                        <a:rPr lang="ko-KR" altLang="en-US" sz="1800" b="0" kern="120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b="0" kern="120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(2021</a:t>
                      </a:r>
                      <a:r>
                        <a:rPr lang="ko-KR" altLang="en-US" sz="1800" b="0" kern="120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년</a:t>
                      </a:r>
                      <a:r>
                        <a:rPr lang="en-US" altLang="ko-KR" sz="1800" b="0" kern="120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)</a:t>
                      </a:r>
                      <a:endParaRPr lang="ko-KR" altLang="en-US" sz="1800" b="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0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A</a:t>
                      </a:r>
                      <a:r>
                        <a:rPr lang="ko-KR" altLang="en-US" sz="1800" b="1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본인의 국민연금급여 중 소득재분배 급여금액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A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급여의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2/3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값이 </a:t>
                      </a:r>
                      <a:r>
                        <a:rPr lang="ko-KR" altLang="en-US" sz="180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기준연금액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보다 높아 음의 값일 경우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0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으로 처리함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국민연금연금 </a:t>
                      </a:r>
                      <a:r>
                        <a:rPr lang="en-US" altLang="ko-KR" sz="1800" b="0" kern="120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A</a:t>
                      </a:r>
                      <a:r>
                        <a:rPr lang="ko-KR" altLang="en-US" sz="1800" b="0" kern="120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급여액은 사회보장정보시스템 「행복</a:t>
                      </a:r>
                      <a:r>
                        <a:rPr lang="en-US" altLang="ko-KR" sz="1800" b="0" kern="120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e</a:t>
                      </a:r>
                      <a:r>
                        <a:rPr lang="ko-KR" altLang="en-US" sz="1800" b="0" kern="120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음」에서 조회 가능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1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1" kern="120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부가연금액</a:t>
                      </a:r>
                      <a:endParaRPr lang="ko-KR" altLang="en-US" dirty="0"/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기준연금액의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½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 해당하는 금액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73344" y="1032913"/>
            <a:ext cx="2282432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(2)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급여산정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0495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 err="1">
                <a:latin typeface="HY울릉도B" pitchFamily="18" charset="-127"/>
                <a:ea typeface="HY울릉도B" pitchFamily="18" charset="-127"/>
              </a:rPr>
              <a:t>수급권자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 및 급여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48103"/>
              </p:ext>
            </p:extLst>
          </p:nvPr>
        </p:nvGraphicFramePr>
        <p:xfrm>
          <a:off x="289977" y="1628800"/>
          <a:ext cx="8640960" cy="4824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8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287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부부</a:t>
                      </a:r>
                      <a:endParaRPr lang="en-US" altLang="ko-KR" sz="1800" b="1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감액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부부가 모두 기초연금을 받는 경우 각각에 대해 산정된 금액에서 </a:t>
                      </a:r>
                      <a:r>
                        <a:rPr lang="en-US" altLang="ko-KR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20%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 감액 </a:t>
                      </a:r>
                      <a:endParaRPr lang="ko-KR" altLang="en-US" sz="1800" b="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822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소득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역전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방지 감액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 err="1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소득인정액과</a:t>
                      </a:r>
                      <a:r>
                        <a:rPr lang="ko-KR" altLang="en-US" sz="1800" b="1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기초연금을 합산한 금액이 </a:t>
                      </a: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소득선정 </a:t>
                      </a:r>
                      <a:r>
                        <a:rPr lang="ko-KR" altLang="en-US" sz="1800" b="1" kern="120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기준액을</a:t>
                      </a: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초과할 경우에</a:t>
                      </a:r>
                      <a:r>
                        <a:rPr lang="ko-KR" altLang="en-US" sz="1800" b="1" kern="1200" baseline="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0" kern="1200" baseline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기초연금을 받지 못한 사람의 소득보다 많아지는 경우가 발생할 수 있어 그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초과액을 감액함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감액단위는 단독가구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(1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부부가구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4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 단위로 감액함</a:t>
                      </a:r>
                    </a:p>
                    <a:p>
                      <a:pPr marL="284400" indent="-284400" algn="l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감액에 따른 최소지급액은 단독가구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(1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부부가구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4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 지급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08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7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예시</a:t>
                      </a:r>
                      <a:r>
                        <a:rPr lang="en-US" altLang="ko-KR" sz="17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7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소득인정액</a:t>
                      </a:r>
                      <a:r>
                        <a:rPr lang="ko-KR" altLang="en-US" sz="17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7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선정기준액이</a:t>
                      </a:r>
                      <a:r>
                        <a:rPr lang="ko-KR" altLang="en-US" sz="17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7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100</a:t>
                      </a:r>
                      <a:r>
                        <a:rPr lang="ko-KR" altLang="en-US" sz="17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만원일 때</a:t>
                      </a:r>
                      <a:endParaRPr lang="en-US" altLang="ko-KR" sz="17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700" b="1" kern="1200" dirty="0">
                          <a:solidFill>
                            <a:srgbClr val="9933FF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※ </a:t>
                      </a:r>
                      <a:r>
                        <a:rPr lang="en-US" altLang="ko-KR" sz="1700" b="1" kern="120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소득인정액</a:t>
                      </a:r>
                      <a:r>
                        <a:rPr lang="en-US" altLang="ko-KR" sz="17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98만원인 </a:t>
                      </a:r>
                      <a:r>
                        <a:rPr lang="en-US" altLang="ko-KR" sz="1700" b="1" kern="120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노인</a:t>
                      </a:r>
                      <a:r>
                        <a:rPr lang="ko-KR" altLang="en-US" sz="17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이 기초연금을 </a:t>
                      </a:r>
                      <a:r>
                        <a:rPr lang="en-US" altLang="ko-KR" sz="17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17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만원 받으면 소득은 </a:t>
                      </a:r>
                      <a:r>
                        <a:rPr lang="en-US" altLang="ko-KR" sz="17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108</a:t>
                      </a:r>
                      <a:r>
                        <a:rPr lang="ko-KR" altLang="en-US" sz="17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만원</a:t>
                      </a:r>
                      <a:endParaRPr lang="en-US" altLang="ko-KR" sz="1700" b="1" kern="1200" dirty="0">
                        <a:solidFill>
                          <a:srgbClr val="9933FF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700" b="1" kern="1200" dirty="0">
                          <a:solidFill>
                            <a:srgbClr val="9933FF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※</a:t>
                      </a:r>
                      <a:r>
                        <a:rPr lang="en-US" altLang="ko-KR" sz="1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700" b="1" kern="120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소득인정액</a:t>
                      </a:r>
                      <a:r>
                        <a:rPr lang="ko-KR" altLang="en-US" sz="17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7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101만원인 </a:t>
                      </a:r>
                      <a:r>
                        <a:rPr lang="en-US" altLang="ko-KR" sz="1700" b="1" kern="1200" dirty="0" err="1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노인</a:t>
                      </a:r>
                      <a:r>
                        <a:rPr lang="ko-KR" altLang="en-US" sz="17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은 선정에서 제외되어 기초연금을 받지 못함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700" b="1" i="1" u="sng" kern="1200" dirty="0">
                          <a:solidFill>
                            <a:srgbClr val="FF0000"/>
                          </a:solidFill>
                          <a:effectLst/>
                          <a:latin typeface="HY엽서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☞</a:t>
                      </a:r>
                      <a:r>
                        <a:rPr lang="ko-KR" altLang="en-US" sz="1700" b="1" i="1" u="sng" kern="1200" dirty="0" err="1">
                          <a:solidFill>
                            <a:srgbClr val="FF0000"/>
                          </a:solidFill>
                          <a:effectLst/>
                          <a:latin typeface="HY엽서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소득인정액</a:t>
                      </a:r>
                      <a:r>
                        <a:rPr lang="ko-KR" altLang="en-US" sz="1700" b="1" i="1" u="sng" kern="1200" dirty="0">
                          <a:solidFill>
                            <a:srgbClr val="FF0000"/>
                          </a:solidFill>
                          <a:effectLst/>
                          <a:latin typeface="HY엽서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700" b="1" i="1" u="sng" kern="1200" dirty="0">
                          <a:solidFill>
                            <a:srgbClr val="FF0000"/>
                          </a:solidFill>
                          <a:effectLst/>
                          <a:latin typeface="HY엽서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98</a:t>
                      </a:r>
                      <a:r>
                        <a:rPr lang="ko-KR" altLang="en-US" sz="1700" b="1" i="1" u="sng" kern="1200" dirty="0">
                          <a:solidFill>
                            <a:srgbClr val="FF0000"/>
                          </a:solidFill>
                          <a:effectLst/>
                          <a:latin typeface="HY엽서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만원인 노인의 기초연금은 </a:t>
                      </a:r>
                      <a:r>
                        <a:rPr lang="en-US" altLang="ko-KR" sz="1700" b="1" i="1" u="sng" kern="1200" dirty="0">
                          <a:solidFill>
                            <a:srgbClr val="FF0000"/>
                          </a:solidFill>
                          <a:effectLst/>
                          <a:latin typeface="HY엽서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700" b="1" i="1" u="sng" kern="1200" dirty="0">
                          <a:solidFill>
                            <a:srgbClr val="FF0000"/>
                          </a:solidFill>
                          <a:effectLst/>
                          <a:latin typeface="HY엽서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만원으로 감액되어 소득역전방지</a:t>
                      </a:r>
                      <a:endParaRPr lang="ko-KR" altLang="en-US" sz="1700" b="1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모서리가 둥근 직사각형 5"/>
          <p:cNvSpPr/>
          <p:nvPr/>
        </p:nvSpPr>
        <p:spPr>
          <a:xfrm>
            <a:off x="273344" y="1032913"/>
            <a:ext cx="3290544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(3) </a:t>
            </a:r>
            <a:r>
              <a:rPr lang="ko-KR" altLang="en-US" sz="24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기초연금액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감액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71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40275"/>
              </p:ext>
            </p:extLst>
          </p:nvPr>
        </p:nvGraphicFramePr>
        <p:xfrm>
          <a:off x="754560" y="3068960"/>
          <a:ext cx="7849888" cy="1656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6184"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20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기초연금을 신청했다가 탈락한 수급희망 노인을 대상으로 </a:t>
                      </a:r>
                      <a:endParaRPr lang="en-US" altLang="ko-KR" sz="2000" b="1" kern="120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  <a:cs typeface="+mn-cs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   이후 </a:t>
                      </a:r>
                      <a:r>
                        <a:rPr lang="en-US" altLang="ko-KR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년간 매년 이력조사를 통해 수급이 가능할 것으로 </a:t>
                      </a:r>
                      <a:endParaRPr lang="en-US" altLang="ko-KR" sz="2000" b="1" kern="120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  <a:cs typeface="+mn-cs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예상되는 경우 신청을 안내하는 제도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타원형 설명선 5"/>
          <p:cNvSpPr/>
          <p:nvPr/>
        </p:nvSpPr>
        <p:spPr>
          <a:xfrm>
            <a:off x="1619672" y="1124744"/>
            <a:ext cx="5112568" cy="1152128"/>
          </a:xfrm>
          <a:prstGeom prst="wedgeEllipseCallou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2400" b="1" dirty="0">
                <a:solidFill>
                  <a:schemeClr val="bg1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기초연금 수급희망자 </a:t>
            </a:r>
            <a:endParaRPr lang="en-US" altLang="ko-KR" sz="2400" b="1" dirty="0">
              <a:solidFill>
                <a:schemeClr val="bg1"/>
              </a:solidFill>
              <a:latin typeface="HY울릉도M" panose="02030600000101010101" pitchFamily="18" charset="-127"/>
              <a:ea typeface="태 나무" panose="02030603000101010101" pitchFamily="18" charset="-127"/>
            </a:endParaRPr>
          </a:p>
          <a:p>
            <a:pPr algn="ctr" fontAlgn="base"/>
            <a:r>
              <a:rPr lang="ko-KR" altLang="en-US" sz="2400" b="1" dirty="0">
                <a:solidFill>
                  <a:schemeClr val="bg1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이력관리제</a:t>
            </a:r>
            <a:endParaRPr lang="en-US" altLang="ko-KR" sz="2400" b="1" dirty="0">
              <a:solidFill>
                <a:schemeClr val="bg1"/>
              </a:solidFill>
              <a:latin typeface="HY울릉도M" panose="02030600000101010101" pitchFamily="18" charset="-127"/>
              <a:ea typeface="태 나무" panose="02030603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867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04B9FB4-2705-4992-B45D-AA3F02A49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6386" y="542925"/>
            <a:ext cx="1123418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4D34AC-BB2A-4AED-B2F2-E725E4ED1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26360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_x187928792">
            <a:extLst>
              <a:ext uri="{FF2B5EF4-FFF2-40B4-BE49-F238E27FC236}">
                <a16:creationId xmlns:a16="http://schemas.microsoft.com/office/drawing/2014/main" id="{3B705DB5-6E00-4BB8-9957-15404C750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" r="4074" b="2214"/>
          <a:stretch>
            <a:fillRect/>
          </a:stretch>
        </p:blipFill>
        <p:spPr bwMode="auto">
          <a:xfrm>
            <a:off x="-108520" y="0"/>
            <a:ext cx="9252520" cy="7173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494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비용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035083"/>
              </p:ext>
            </p:extLst>
          </p:nvPr>
        </p:nvGraphicFramePr>
        <p:xfrm>
          <a:off x="323528" y="1340767"/>
          <a:ext cx="8568951" cy="5270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6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3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88346">
                <a:tc gridSpan="5"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국가는 </a:t>
                      </a:r>
                      <a:r>
                        <a:rPr lang="ko-KR" alt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지자체의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노인인구비율 및 재정여건 등을 고려하여 기초연금 지급에 드는 비용 중 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40% 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 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 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이하의 범위에서 부담함</a:t>
                      </a:r>
                      <a:endParaRPr lang="en-US" altLang="ko-KR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국가가 부담한 금액을 뺀 비용은 시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및 시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군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구가 상호 분담하되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부담비율은 노인인구비율 및 재정여건 등을 고려하여 보건복지부장관과 협의하여 시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및 시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군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구의 조례로 정함 </a:t>
                      </a:r>
                      <a:endParaRPr lang="en-US" altLang="ko-KR" sz="1800" b="1" kern="1200" spc="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785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 marL="64770" marR="64770" marT="17907" marB="17907" anchor="ctr"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지방자치단체의 노인인구비율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86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14%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미만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14%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이상 </a:t>
                      </a:r>
                      <a:endParaRPr lang="en-US" altLang="ko-KR" sz="16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20%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미만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20%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이상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783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지방자치단체 </a:t>
                      </a:r>
                      <a:endParaRPr lang="en-US" altLang="ko-KR" sz="1600" kern="0" spc="-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재정자주도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90%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이상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40%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60%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7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80%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이상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-90%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미만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60%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70%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7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80%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미만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70%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80%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90%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모서리가 둥근 직사각형 5"/>
          <p:cNvSpPr/>
          <p:nvPr/>
        </p:nvSpPr>
        <p:spPr>
          <a:xfrm>
            <a:off x="1115616" y="3609020"/>
            <a:ext cx="6493298" cy="36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dirty="0">
                <a:solidFill>
                  <a:srgbClr val="FFFF00"/>
                </a:solidFill>
                <a:latin typeface="HY울릉도M" pitchFamily="18" charset="-127"/>
                <a:ea typeface="HY울릉도M" pitchFamily="18" charset="-127"/>
              </a:rPr>
              <a:t>&lt;</a:t>
            </a:r>
            <a:r>
              <a:rPr lang="ko-KR" altLang="en-US" dirty="0">
                <a:solidFill>
                  <a:srgbClr val="FFFF00"/>
                </a:solidFill>
                <a:latin typeface="HY울릉도M" pitchFamily="18" charset="-127"/>
                <a:ea typeface="HY울릉도M" pitchFamily="18" charset="-127"/>
              </a:rPr>
              <a:t>제정자주도 및 노인인구비율에 따른 국가 재정지원 비율</a:t>
            </a:r>
            <a:r>
              <a:rPr lang="en-US" altLang="ko-KR" dirty="0">
                <a:solidFill>
                  <a:srgbClr val="FFFF00"/>
                </a:solidFill>
                <a:latin typeface="HY울릉도M" pitchFamily="18" charset="-127"/>
                <a:ea typeface="HY울릉도M" pitchFamily="18" charset="-127"/>
              </a:rPr>
              <a:t>&gt;</a:t>
            </a:r>
            <a:endParaRPr lang="ko-KR" altLang="en-US" dirty="0">
              <a:solidFill>
                <a:srgbClr val="FFFF00"/>
              </a:solidFill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646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80312" y="485964"/>
            <a:ext cx="1149674" cy="523220"/>
          </a:xfrm>
        </p:spPr>
        <p:txBody>
          <a:bodyPr wrap="none">
            <a:spAutoFit/>
          </a:bodyPr>
          <a:lstStyle/>
          <a:p>
            <a:pPr algn="l"/>
            <a:r>
              <a:rPr lang="en-US" altLang="ko-KR" sz="28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content</a:t>
            </a:r>
            <a:endParaRPr lang="ko-KR" altLang="en-US" sz="2800" dirty="0">
              <a:solidFill>
                <a:srgbClr val="FFFF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63" name="Group 24"/>
          <p:cNvGrpSpPr>
            <a:grpSpLocks/>
          </p:cNvGrpSpPr>
          <p:nvPr/>
        </p:nvGrpSpPr>
        <p:grpSpPr bwMode="auto">
          <a:xfrm>
            <a:off x="2066727" y="2989902"/>
            <a:ext cx="436186" cy="408976"/>
            <a:chOff x="2078" y="1680"/>
            <a:chExt cx="1615" cy="1615"/>
          </a:xfrm>
        </p:grpSpPr>
        <p:sp>
          <p:nvSpPr>
            <p:cNvPr id="64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1" name="Group 30"/>
          <p:cNvGrpSpPr>
            <a:grpSpLocks/>
          </p:cNvGrpSpPr>
          <p:nvPr/>
        </p:nvGrpSpPr>
        <p:grpSpPr bwMode="auto">
          <a:xfrm>
            <a:off x="2073551" y="3632817"/>
            <a:ext cx="425453" cy="428048"/>
            <a:chOff x="2078" y="1680"/>
            <a:chExt cx="1615" cy="1615"/>
          </a:xfrm>
        </p:grpSpPr>
        <p:sp>
          <p:nvSpPr>
            <p:cNvPr id="72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9" name="Group 37"/>
          <p:cNvGrpSpPr>
            <a:grpSpLocks/>
          </p:cNvGrpSpPr>
          <p:nvPr/>
        </p:nvGrpSpPr>
        <p:grpSpPr bwMode="auto">
          <a:xfrm>
            <a:off x="2072420" y="4267786"/>
            <a:ext cx="425453" cy="417872"/>
            <a:chOff x="2078" y="1680"/>
            <a:chExt cx="1615" cy="1615"/>
          </a:xfrm>
        </p:grpSpPr>
        <p:sp>
          <p:nvSpPr>
            <p:cNvPr id="80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8" name="AutoShape 7"/>
          <p:cNvSpPr>
            <a:spLocks noChangeArrowheads="1"/>
          </p:cNvSpPr>
          <p:nvPr/>
        </p:nvSpPr>
        <p:spPr bwMode="gray">
          <a:xfrm>
            <a:off x="2741850" y="2936300"/>
            <a:ext cx="3763341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의의 및 목적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61" name="AutoShape 8"/>
          <p:cNvSpPr>
            <a:spLocks noChangeArrowheads="1"/>
          </p:cNvSpPr>
          <p:nvPr/>
        </p:nvSpPr>
        <p:spPr bwMode="gray">
          <a:xfrm>
            <a:off x="2756790" y="3555989"/>
            <a:ext cx="3748402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 err="1">
                <a:solidFill>
                  <a:prstClr val="black"/>
                </a:solidFill>
                <a:latin typeface="나눔스퀘어 ExtraBold"/>
                <a:ea typeface="나눔스퀘어라운드 Bold"/>
              </a:rPr>
              <a:t>수급권자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7" name="AutoShape 7"/>
          <p:cNvSpPr>
            <a:spLocks noChangeArrowheads="1"/>
          </p:cNvSpPr>
          <p:nvPr/>
        </p:nvSpPr>
        <p:spPr bwMode="gray">
          <a:xfrm>
            <a:off x="2783396" y="4237907"/>
            <a:ext cx="3732913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급여의 종류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8637" y="476672"/>
            <a:ext cx="46048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/>
              </a:rPr>
              <a:t>2. </a:t>
            </a: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/>
              </a:rPr>
              <a:t>장애인연금제도</a:t>
            </a:r>
          </a:p>
        </p:txBody>
      </p:sp>
    </p:spTree>
    <p:extLst>
      <p:ext uri="{BB962C8B-B14F-4D97-AF65-F5344CB8AC3E}">
        <p14:creationId xmlns:p14="http://schemas.microsoft.com/office/powerpoint/2010/main" val="255034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1" grpId="0" animBg="1"/>
      <p:bldP spid="8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1.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의의 및 목적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912256"/>
              </p:ext>
            </p:extLst>
          </p:nvPr>
        </p:nvGraphicFramePr>
        <p:xfrm>
          <a:off x="286689" y="1556792"/>
          <a:ext cx="8640960" cy="4912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9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제정 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marR="0" indent="-3429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2010</a:t>
                      </a: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년 </a:t>
                      </a: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4</a:t>
                      </a: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월 제정</a:t>
                      </a: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(2010</a:t>
                      </a: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년 </a:t>
                      </a: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7</a:t>
                      </a: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월 시행</a:t>
                      </a: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2000" b="1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81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의 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marR="0" indent="-34290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중증장애인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에게 근로능력의 상실 또는 현저한 감소로 인하여 줄어드는 소득과 장애로 인하여 추가로 드는 비용을 보전하기 위하여 매월 일정액의 연금을 지급하는 제도</a:t>
                      </a:r>
                      <a:endParaRPr lang="ko-KR" altLang="en-US" sz="20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4977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목 적</a:t>
                      </a:r>
                    </a:p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marR="0" indent="-34290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20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장애로 인하여 생활이 어려운 중증장애인에게 장애인연금을 지급함으로써 생활안정지원과 복지증진 및 사회통합을 도모하는데 이바지함을 목적으로 함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78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특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 징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marR="0" indent="-34290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무기여 연금으로 재원은 </a:t>
                      </a:r>
                      <a:r>
                        <a:rPr lang="ko-KR" altLang="en-US" sz="20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국가의 일반재정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으로 조달</a:t>
                      </a:r>
                    </a:p>
                    <a:p>
                      <a:pPr marL="342900" marR="0" indent="-34290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자산조사를 실시함</a:t>
                      </a:r>
                    </a:p>
                    <a:p>
                      <a:pPr marL="342900" marR="0" lvl="0" indent="-34290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20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장애수당과 달리 물가상승률을 반영하여 매년 인상된 연금지급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030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 err="1">
                <a:latin typeface="HY울릉도B" pitchFamily="18" charset="-127"/>
                <a:ea typeface="HY울릉도B" pitchFamily="18" charset="-127"/>
              </a:rPr>
              <a:t>수급권자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278252"/>
              </p:ext>
            </p:extLst>
          </p:nvPr>
        </p:nvGraphicFramePr>
        <p:xfrm>
          <a:off x="273344" y="1772816"/>
          <a:ext cx="8640960" cy="309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3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0" spc="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수급권자</a:t>
                      </a:r>
                      <a:endParaRPr lang="ko-KR" altLang="en-US" sz="20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indent="-34290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20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만</a:t>
                      </a:r>
                      <a:r>
                        <a:rPr lang="en-US" altLang="ko-KR" sz="20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18</a:t>
                      </a:r>
                      <a:r>
                        <a:rPr lang="ko-KR" altLang="en-US" sz="20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세 이상의 장애인복지법에 따라 등록된 중증장애인</a:t>
                      </a:r>
                      <a:endParaRPr lang="en-US" altLang="ko-KR" sz="2000" b="1" kern="1200" dirty="0">
                        <a:solidFill>
                          <a:schemeClr val="lt1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   (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종전의 </a:t>
                      </a:r>
                      <a:r>
                        <a:rPr lang="en-US" altLang="ko-KR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급</a:t>
                      </a:r>
                      <a:r>
                        <a:rPr lang="en-US" altLang="ko-KR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, 2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급</a:t>
                      </a:r>
                      <a:r>
                        <a:rPr lang="en-US" altLang="ko-KR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, 3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급의 중복장애인</a:t>
                      </a:r>
                      <a:r>
                        <a:rPr lang="en-US" altLang="ko-KR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20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중에서 본인과 배우자</a:t>
                      </a:r>
                      <a:endParaRPr lang="en-US" altLang="ko-KR" sz="2000" b="1" kern="1200" dirty="0">
                        <a:solidFill>
                          <a:schemeClr val="lt1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20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20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의 소득인정액이 선정기준 이하인 자</a:t>
                      </a:r>
                      <a:endParaRPr lang="en-US" altLang="ko-KR" sz="2000" b="1" kern="1200" dirty="0">
                        <a:solidFill>
                          <a:schemeClr val="lt1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  <a:cs typeface="+mn-cs"/>
                      </a:endParaRPr>
                    </a:p>
                    <a:p>
                      <a:pPr marL="342900" indent="-34290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년 기준 소득인정액은</a:t>
                      </a:r>
                      <a:endParaRPr lang="en-US" altLang="ko-KR" sz="2000" b="1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2000" b="1" kern="1200" baseline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단독가구 </a:t>
                      </a:r>
                      <a:r>
                        <a:rPr lang="en-US" altLang="ko-KR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122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만원 이하</a:t>
                      </a:r>
                      <a:r>
                        <a:rPr lang="en-US" altLang="ko-KR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부부가구 </a:t>
                      </a:r>
                      <a:r>
                        <a:rPr lang="en-US" altLang="ko-KR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195.2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만원 이하</a:t>
                      </a:r>
                      <a:endParaRPr lang="ko-KR" altLang="en-US" sz="20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044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 err="1">
                <a:latin typeface="HY울릉도B" pitchFamily="18" charset="-127"/>
                <a:ea typeface="HY울릉도B" pitchFamily="18" charset="-127"/>
              </a:rPr>
              <a:t>수급권자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 및 급여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288065"/>
              </p:ext>
            </p:extLst>
          </p:nvPr>
        </p:nvGraphicFramePr>
        <p:xfrm>
          <a:off x="287830" y="1772816"/>
          <a:ext cx="8640960" cy="4955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4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3975">
                <a:tc rowSpan="4"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20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소득</a:t>
                      </a:r>
                      <a:endParaRPr lang="en-US" altLang="ko-KR" sz="20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2000" b="0" kern="0" spc="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인정액</a:t>
                      </a:r>
                      <a:endParaRPr lang="en-US" altLang="ko-KR" sz="20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2000" b="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산정</a:t>
                      </a:r>
                      <a:endParaRPr lang="en-US" altLang="ko-KR" sz="2000" b="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중증장애와  소득인정액이 기준이 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됨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부양의무자 기준은 없음</a:t>
                      </a:r>
                      <a:r>
                        <a:rPr lang="en-US" altLang="ko-KR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18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소득인정액 선정기준 </a:t>
                      </a:r>
                      <a:r>
                        <a:rPr lang="en-US" altLang="ko-KR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단독가구 </a:t>
                      </a:r>
                      <a:r>
                        <a:rPr lang="en-US" altLang="ko-KR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122</a:t>
                      </a:r>
                      <a:r>
                        <a:rPr lang="ko-KR" altLang="en-US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부부가구 </a:t>
                      </a:r>
                      <a:r>
                        <a:rPr lang="en-US" altLang="ko-KR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195.2</a:t>
                      </a:r>
                      <a:r>
                        <a:rPr lang="ko-KR" altLang="en-US" sz="18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endParaRPr lang="ko-KR" altLang="en-US" dirty="0">
                        <a:solidFill>
                          <a:srgbClr val="FFFF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4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 err="1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소득인정액</a:t>
                      </a:r>
                      <a:r>
                        <a:rPr lang="ko-KR" altLang="en-US" sz="1800" b="1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1" kern="120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= </a:t>
                      </a:r>
                      <a:r>
                        <a:rPr lang="ko-KR" altLang="en-US" sz="1800" b="1" kern="120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월소득평가액</a:t>
                      </a:r>
                      <a:r>
                        <a:rPr lang="ko-KR" altLang="en-US" sz="1800" b="1" kern="120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1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+ </a:t>
                      </a:r>
                      <a:r>
                        <a:rPr lang="ko-KR" altLang="en-US" sz="1800" b="1" kern="120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재산의 월소득환산액</a:t>
                      </a:r>
                      <a:endParaRPr lang="ko-KR" altLang="en-US" b="1" dirty="0">
                        <a:solidFill>
                          <a:srgbClr val="9933FF"/>
                        </a:solidFill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2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b="1" kern="1200" dirty="0">
                          <a:solidFill>
                            <a:srgbClr val="33CC33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① 월소득평가액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= {0.7 x 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근로소득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– 80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} +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기타 소득</a:t>
                      </a: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* 근로소득 공제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상시근로소득에서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80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 공제 후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30%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추가공제</a:t>
                      </a: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* 기타소득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사업소득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재산소득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공적이전소득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무료임차소득</a:t>
                      </a:r>
                      <a:endParaRPr lang="ko-KR" altLang="en-US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7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b="1" kern="1200" dirty="0">
                          <a:solidFill>
                            <a:srgbClr val="9933FF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② 재산의 월소득환산액 </a:t>
                      </a: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= [ {(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일반재산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–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기본재산액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+ 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금융재산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–2,000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–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} x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 재산의 소득환산율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4%) +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고급자동차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(3,000cc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4,000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0">
                        <a:lnSpc>
                          <a:spcPct val="1500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및 회원권의 가액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환산율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100%)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* 기본재산 공제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대도시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1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억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3,500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중소도시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8,500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농어촌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7,250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endParaRPr lang="ko-KR" altLang="en-US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73344" y="1032913"/>
            <a:ext cx="2210424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(1) </a:t>
            </a:r>
            <a:r>
              <a:rPr lang="ko-KR" altLang="en-US" sz="24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수급권자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3932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급여의 종류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30843"/>
              </p:ext>
            </p:extLst>
          </p:nvPr>
        </p:nvGraphicFramePr>
        <p:xfrm>
          <a:off x="273344" y="1700808"/>
          <a:ext cx="8640962" cy="3554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1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88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0657">
                <a:tc gridSpan="4"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근로능력 상실 또는 현저한 감소로 인한 소득을 보전해 주기 위한 급여</a:t>
                      </a:r>
                      <a:endParaRPr lang="en-US" altLang="ko-KR" sz="2000" b="1" kern="120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  <a:cs typeface="+mn-cs"/>
                      </a:endParaRPr>
                    </a:p>
                    <a:p>
                      <a:pPr marL="284400" indent="-28440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18-64</a:t>
                      </a: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세까지는 기초급여</a:t>
                      </a:r>
                      <a:r>
                        <a:rPr lang="en-US" altLang="ko-KR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기초연금법에서의 </a:t>
                      </a:r>
                      <a:r>
                        <a:rPr lang="ko-KR" altLang="en-US" sz="2000" b="1" kern="120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기준연금액</a:t>
                      </a:r>
                      <a:r>
                        <a:rPr lang="en-US" altLang="ko-KR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를 지급</a:t>
                      </a:r>
                    </a:p>
                    <a:p>
                      <a:pPr marL="342900" indent="-34290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65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세 이상이 되면 기초연금으로 전환하여 기초연금 수급자가 됨 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342900" indent="-34290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ko-KR" altLang="en-US" sz="20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342900" indent="-34290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ko-KR" altLang="en-US" sz="20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674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2021</a:t>
                      </a:r>
                      <a:r>
                        <a:rPr lang="ko-KR" altLang="en-US" sz="20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년 기초급여액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구 분</a:t>
                      </a:r>
                    </a:p>
                  </a:txBody>
                  <a:tcPr marL="64770" marR="64770" marT="17907" marB="1790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18-64</a:t>
                      </a: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세</a:t>
                      </a:r>
                    </a:p>
                  </a:txBody>
                  <a:tcPr marL="64770" marR="64770" marT="17907" marB="1790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65</a:t>
                      </a: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세 이상</a:t>
                      </a:r>
                    </a:p>
                  </a:txBody>
                  <a:tcPr marL="64770" marR="64770" marT="17907" marB="17907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018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기초생활수급자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300,000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원</a:t>
                      </a:r>
                    </a:p>
                  </a:txBody>
                  <a:tcPr marL="64770" marR="64770" marT="17907" marB="17907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기초연금으로 전환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018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차상위 계층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300,000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원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018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차상위 초과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300,000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원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73344" y="1032913"/>
            <a:ext cx="2642472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(1)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기초급여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656749"/>
              </p:ext>
            </p:extLst>
          </p:nvPr>
        </p:nvGraphicFramePr>
        <p:xfrm>
          <a:off x="273344" y="5229200"/>
          <a:ext cx="8640960" cy="122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24136">
                <a:tc>
                  <a:txBody>
                    <a:bodyPr/>
                    <a:lstStyle/>
                    <a:p>
                      <a:pPr marL="342900" marR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부부가 모두 연금을 받는 경우에 각각에 대해 산정된 금액에서 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20%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를 감액지급</a:t>
                      </a:r>
                      <a:endParaRPr lang="en-US" altLang="ko-KR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태 나무" panose="02030603000101010101" pitchFamily="18" charset="-127"/>
                        <a:cs typeface="+mn-cs"/>
                      </a:endParaRPr>
                    </a:p>
                    <a:p>
                      <a:pPr marL="342900" marR="0" indent="-342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소득역전방지 감액 적용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기초연금제도와 동일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)</a:t>
                      </a:r>
                      <a:endParaRPr lang="ko-KR" altLang="en-US" sz="2000" b="1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056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534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급여의 종류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852579"/>
              </p:ext>
            </p:extLst>
          </p:nvPr>
        </p:nvGraphicFramePr>
        <p:xfrm>
          <a:off x="251520" y="1628800"/>
          <a:ext cx="8640962" cy="381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1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88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4176">
                <a:tc gridSpan="4"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2000" b="1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장애로 인하여 추가로 드는 비용의 전부 또는 일부를 보전해 주는 급여</a:t>
                      </a:r>
                      <a:endParaRPr lang="en-US" altLang="ko-KR" sz="2000" b="1" kern="120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장애인연금 수급자가 </a:t>
                      </a:r>
                      <a:r>
                        <a:rPr lang="en-US" altLang="ko-KR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65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세 이상이 되어 기초급여가 기초연금으로 전환되어서 기초연금을 받더라도 장애인 부가연금은 계속 받을 수 있음</a:t>
                      </a:r>
                      <a:endParaRPr lang="ko-KR" altLang="en-US" sz="2000" b="1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태 나무" panose="02030603000101010101" pitchFamily="18" charset="-127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342900" indent="-34290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ko-KR" altLang="en-US" sz="20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342900" indent="-34290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ko-KR" altLang="en-US" sz="20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681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2021</a:t>
                      </a:r>
                      <a:r>
                        <a:rPr lang="ko-KR" altLang="en-US" sz="20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년 부가급여액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구 분</a:t>
                      </a:r>
                    </a:p>
                  </a:txBody>
                  <a:tcPr marL="64770" marR="64770" marT="17907" marB="1790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18-64</a:t>
                      </a: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세</a:t>
                      </a:r>
                    </a:p>
                  </a:txBody>
                  <a:tcPr marL="64770" marR="64770" marT="17907" marB="1790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65</a:t>
                      </a: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세 이상</a:t>
                      </a:r>
                    </a:p>
                  </a:txBody>
                  <a:tcPr marL="64770" marR="64770" marT="17907" marB="17907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681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 err="1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기초생활수급자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80,000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원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380,000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원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681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차상위 계층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70,000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원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 70,000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원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681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ea typeface="태 나무" panose="02030603000101010101" pitchFamily="18" charset="-127"/>
                        </a:rPr>
                        <a:t>차상위 초과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20,000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원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 40,000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태 나무" panose="02030603000101010101" pitchFamily="18" charset="-127"/>
                        </a:rPr>
                        <a:t>원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73344" y="1032913"/>
            <a:ext cx="2354440" cy="4571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(2)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부가급여</a:t>
            </a:r>
            <a:endParaRPr lang="en-US" altLang="ko-KR" sz="24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492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8176</TotalTime>
  <Words>1295</Words>
  <Application>Microsoft Office PowerPoint</Application>
  <PresentationFormat>화면 슬라이드 쇼(4:3)</PresentationFormat>
  <Paragraphs>215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31" baseType="lpstr">
      <vt:lpstr>HY엽서M</vt:lpstr>
      <vt:lpstr>HY울릉도B</vt:lpstr>
      <vt:lpstr>HY울릉도M</vt:lpstr>
      <vt:lpstr>나눔스퀘어 Bold</vt:lpstr>
      <vt:lpstr>나눔스퀘어 ExtraBold</vt:lpstr>
      <vt:lpstr>나눔스퀘어라운드 Bold</vt:lpstr>
      <vt:lpstr>맑은 고딕</vt:lpstr>
      <vt:lpstr>태 나무</vt:lpstr>
      <vt:lpstr>함초롬바탕</vt:lpstr>
      <vt:lpstr>Arial</vt:lpstr>
      <vt:lpstr>Wingdings</vt:lpstr>
      <vt:lpstr>Office 테마</vt:lpstr>
      <vt:lpstr>1_Office 테마</vt:lpstr>
      <vt:lpstr>제13장</vt:lpstr>
      <vt:lpstr>content</vt:lpstr>
      <vt:lpstr>1. 의의 및 목적</vt:lpstr>
      <vt:lpstr>2. 도입배경 및 발전과정</vt:lpstr>
      <vt:lpstr>3. 수급권자 및 급여</vt:lpstr>
      <vt:lpstr>3. 수급권자 및 급여</vt:lpstr>
      <vt:lpstr>3. 수급권자 및 급여</vt:lpstr>
      <vt:lpstr>3. 수급권자 및 급여</vt:lpstr>
      <vt:lpstr>3. 수급권자 및 급여</vt:lpstr>
      <vt:lpstr>PowerPoint 프레젠테이션</vt:lpstr>
      <vt:lpstr>PowerPoint 프레젠테이션</vt:lpstr>
      <vt:lpstr>4. 재정(비용)</vt:lpstr>
      <vt:lpstr>content</vt:lpstr>
      <vt:lpstr>1. 의의 및 목적</vt:lpstr>
      <vt:lpstr>2. 수급권자</vt:lpstr>
      <vt:lpstr>3. 수급권자 및 급여</vt:lpstr>
      <vt:lpstr>3. 급여의 종류</vt:lpstr>
      <vt:lpstr>3. 급여의 종류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【사회보장론】 (Social Security )</dc:title>
  <dc:creator>my</dc:creator>
  <cp:lastModifiedBy>Andrew Kang</cp:lastModifiedBy>
  <cp:revision>1146</cp:revision>
  <dcterms:created xsi:type="dcterms:W3CDTF">2013-07-17T08:20:07Z</dcterms:created>
  <dcterms:modified xsi:type="dcterms:W3CDTF">2022-11-28T03:49:52Z</dcterms:modified>
</cp:coreProperties>
</file>