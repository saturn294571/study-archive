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  <p:sldMasterId id="2147483756" r:id="rId2"/>
  </p:sldMasterIdLst>
  <p:notesMasterIdLst>
    <p:notesMasterId r:id="rId52"/>
  </p:notesMasterIdLst>
  <p:sldIdLst>
    <p:sldId id="523" r:id="rId3"/>
    <p:sldId id="554" r:id="rId4"/>
    <p:sldId id="524" r:id="rId5"/>
    <p:sldId id="525" r:id="rId6"/>
    <p:sldId id="527" r:id="rId7"/>
    <p:sldId id="526" r:id="rId8"/>
    <p:sldId id="532" r:id="rId9"/>
    <p:sldId id="558" r:id="rId10"/>
    <p:sldId id="358" r:id="rId11"/>
    <p:sldId id="559" r:id="rId12"/>
    <p:sldId id="528" r:id="rId13"/>
    <p:sldId id="564" r:id="rId14"/>
    <p:sldId id="529" r:id="rId15"/>
    <p:sldId id="530" r:id="rId16"/>
    <p:sldId id="534" r:id="rId17"/>
    <p:sldId id="567" r:id="rId18"/>
    <p:sldId id="504" r:id="rId19"/>
    <p:sldId id="460" r:id="rId20"/>
    <p:sldId id="555" r:id="rId21"/>
    <p:sldId id="538" r:id="rId22"/>
    <p:sldId id="539" r:id="rId23"/>
    <p:sldId id="540" r:id="rId24"/>
    <p:sldId id="537" r:id="rId25"/>
    <p:sldId id="556" r:id="rId26"/>
    <p:sldId id="541" r:id="rId27"/>
    <p:sldId id="563" r:id="rId28"/>
    <p:sldId id="543" r:id="rId29"/>
    <p:sldId id="562" r:id="rId30"/>
    <p:sldId id="557" r:id="rId31"/>
    <p:sldId id="565" r:id="rId32"/>
    <p:sldId id="569" r:id="rId33"/>
    <p:sldId id="446" r:id="rId34"/>
    <p:sldId id="461" r:id="rId35"/>
    <p:sldId id="542" r:id="rId36"/>
    <p:sldId id="544" r:id="rId37"/>
    <p:sldId id="448" r:id="rId38"/>
    <p:sldId id="505" r:id="rId39"/>
    <p:sldId id="512" r:id="rId40"/>
    <p:sldId id="568" r:id="rId41"/>
    <p:sldId id="516" r:id="rId42"/>
    <p:sldId id="518" r:id="rId43"/>
    <p:sldId id="545" r:id="rId44"/>
    <p:sldId id="464" r:id="rId45"/>
    <p:sldId id="463" r:id="rId46"/>
    <p:sldId id="452" r:id="rId47"/>
    <p:sldId id="546" r:id="rId48"/>
    <p:sldId id="548" r:id="rId49"/>
    <p:sldId id="550" r:id="rId50"/>
    <p:sldId id="566" r:id="rId51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99"/>
    <a:srgbClr val="33CC33"/>
    <a:srgbClr val="9933FF"/>
    <a:srgbClr val="12DC1C"/>
    <a:srgbClr val="33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58" autoAdjust="0"/>
    <p:restoredTop sz="99721" autoAdjust="0"/>
  </p:normalViewPr>
  <p:slideViewPr>
    <p:cSldViewPr>
      <p:cViewPr varScale="1">
        <p:scale>
          <a:sx n="75" d="100"/>
          <a:sy n="75" d="100"/>
        </p:scale>
        <p:origin x="67" y="79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presProps" Target="presProps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microsoft.com/office/2016/11/relationships/changesInfo" Target="changesInfos/changesInfo1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박진화" userId="92eb4c3a-09df-4608-b9c9-92d107705cdc" providerId="ADAL" clId="{844D344A-23A5-4A9A-9E36-F9E4484E6307}"/>
    <pc:docChg chg="undo custSel addSld delSld modSld">
      <pc:chgData name="박진화" userId="92eb4c3a-09df-4608-b9c9-92d107705cdc" providerId="ADAL" clId="{844D344A-23A5-4A9A-9E36-F9E4484E6307}" dt="2021-10-30T08:44:14.486" v="1845" actId="207"/>
      <pc:docMkLst>
        <pc:docMk/>
      </pc:docMkLst>
      <pc:sldChg chg="modSp mod">
        <pc:chgData name="박진화" userId="92eb4c3a-09df-4608-b9c9-92d107705cdc" providerId="ADAL" clId="{844D344A-23A5-4A9A-9E36-F9E4484E6307}" dt="2021-10-30T08:27:17.991" v="1745" actId="20577"/>
        <pc:sldMkLst>
          <pc:docMk/>
          <pc:sldMk cId="1604217456" sldId="358"/>
        </pc:sldMkLst>
        <pc:graphicFrameChg chg="mod modGraphic">
          <ac:chgData name="박진화" userId="92eb4c3a-09df-4608-b9c9-92d107705cdc" providerId="ADAL" clId="{844D344A-23A5-4A9A-9E36-F9E4484E6307}" dt="2021-10-30T08:27:17.991" v="1745" actId="20577"/>
          <ac:graphicFrameMkLst>
            <pc:docMk/>
            <pc:sldMk cId="1604217456" sldId="358"/>
            <ac:graphicFrameMk id="5" creationId="{00000000-0000-0000-0000-000000000000}"/>
          </ac:graphicFrameMkLst>
        </pc:graphicFrameChg>
      </pc:sldChg>
      <pc:sldChg chg="modSp mod">
        <pc:chgData name="박진화" userId="92eb4c3a-09df-4608-b9c9-92d107705cdc" providerId="ADAL" clId="{844D344A-23A5-4A9A-9E36-F9E4484E6307}" dt="2021-10-30T08:35:16.814" v="1787" actId="255"/>
        <pc:sldMkLst>
          <pc:docMk/>
          <pc:sldMk cId="944226140" sldId="446"/>
        </pc:sldMkLst>
        <pc:graphicFrameChg chg="mod modGraphic">
          <ac:chgData name="박진화" userId="92eb4c3a-09df-4608-b9c9-92d107705cdc" providerId="ADAL" clId="{844D344A-23A5-4A9A-9E36-F9E4484E6307}" dt="2021-10-30T08:35:16.814" v="1787" actId="255"/>
          <ac:graphicFrameMkLst>
            <pc:docMk/>
            <pc:sldMk cId="944226140" sldId="446"/>
            <ac:graphicFrameMk id="3" creationId="{00000000-0000-0000-0000-000000000000}"/>
          </ac:graphicFrameMkLst>
        </pc:graphicFrameChg>
        <pc:graphicFrameChg chg="mod modGraphic">
          <ac:chgData name="박진화" userId="92eb4c3a-09df-4608-b9c9-92d107705cdc" providerId="ADAL" clId="{844D344A-23A5-4A9A-9E36-F9E4484E6307}" dt="2021-10-30T08:34:49.871" v="1783" actId="14734"/>
          <ac:graphicFrameMkLst>
            <pc:docMk/>
            <pc:sldMk cId="944226140" sldId="446"/>
            <ac:graphicFrameMk id="5" creationId="{00000000-0000-0000-0000-000000000000}"/>
          </ac:graphicFrameMkLst>
        </pc:graphicFrameChg>
      </pc:sldChg>
      <pc:sldChg chg="modSp mod">
        <pc:chgData name="박진화" userId="92eb4c3a-09df-4608-b9c9-92d107705cdc" providerId="ADAL" clId="{844D344A-23A5-4A9A-9E36-F9E4484E6307}" dt="2021-10-23T06:08:33.988" v="1305" actId="14100"/>
        <pc:sldMkLst>
          <pc:docMk/>
          <pc:sldMk cId="2630514857" sldId="448"/>
        </pc:sldMkLst>
        <pc:graphicFrameChg chg="mod modGraphic">
          <ac:chgData name="박진화" userId="92eb4c3a-09df-4608-b9c9-92d107705cdc" providerId="ADAL" clId="{844D344A-23A5-4A9A-9E36-F9E4484E6307}" dt="2021-10-23T06:08:33.988" v="1305" actId="14100"/>
          <ac:graphicFrameMkLst>
            <pc:docMk/>
            <pc:sldMk cId="2630514857" sldId="448"/>
            <ac:graphicFrameMk id="4" creationId="{00000000-0000-0000-0000-000000000000}"/>
          </ac:graphicFrameMkLst>
        </pc:graphicFrameChg>
      </pc:sldChg>
      <pc:sldChg chg="modSp mod">
        <pc:chgData name="박진화" userId="92eb4c3a-09df-4608-b9c9-92d107705cdc" providerId="ADAL" clId="{844D344A-23A5-4A9A-9E36-F9E4484E6307}" dt="2021-10-30T08:44:14.486" v="1845" actId="207"/>
        <pc:sldMkLst>
          <pc:docMk/>
          <pc:sldMk cId="2353377880" sldId="452"/>
        </pc:sldMkLst>
        <pc:graphicFrameChg chg="modGraphic">
          <ac:chgData name="박진화" userId="92eb4c3a-09df-4608-b9c9-92d107705cdc" providerId="ADAL" clId="{844D344A-23A5-4A9A-9E36-F9E4484E6307}" dt="2021-10-30T08:44:14.486" v="1845" actId="207"/>
          <ac:graphicFrameMkLst>
            <pc:docMk/>
            <pc:sldMk cId="2353377880" sldId="452"/>
            <ac:graphicFrameMk id="5" creationId="{00000000-0000-0000-0000-000000000000}"/>
          </ac:graphicFrameMkLst>
        </pc:graphicFrameChg>
      </pc:sldChg>
      <pc:sldChg chg="modSp mod">
        <pc:chgData name="박진화" userId="92eb4c3a-09df-4608-b9c9-92d107705cdc" providerId="ADAL" clId="{844D344A-23A5-4A9A-9E36-F9E4484E6307}" dt="2021-10-23T06:01:20.527" v="1272" actId="14100"/>
        <pc:sldMkLst>
          <pc:docMk/>
          <pc:sldMk cId="301218576" sldId="461"/>
        </pc:sldMkLst>
        <pc:spChg chg="mod">
          <ac:chgData name="박진화" userId="92eb4c3a-09df-4608-b9c9-92d107705cdc" providerId="ADAL" clId="{844D344A-23A5-4A9A-9E36-F9E4484E6307}" dt="2021-10-23T06:00:38.914" v="1269" actId="20577"/>
          <ac:spMkLst>
            <pc:docMk/>
            <pc:sldMk cId="301218576" sldId="461"/>
            <ac:spMk id="7" creationId="{00000000-0000-0000-0000-000000000000}"/>
          </ac:spMkLst>
        </pc:spChg>
        <pc:graphicFrameChg chg="mod modGraphic">
          <ac:chgData name="박진화" userId="92eb4c3a-09df-4608-b9c9-92d107705cdc" providerId="ADAL" clId="{844D344A-23A5-4A9A-9E36-F9E4484E6307}" dt="2021-10-23T06:01:20.527" v="1272" actId="14100"/>
          <ac:graphicFrameMkLst>
            <pc:docMk/>
            <pc:sldMk cId="301218576" sldId="461"/>
            <ac:graphicFrameMk id="3" creationId="{00000000-0000-0000-0000-000000000000}"/>
          </ac:graphicFrameMkLst>
        </pc:graphicFrameChg>
      </pc:sldChg>
      <pc:sldChg chg="modSp mod">
        <pc:chgData name="박진화" userId="92eb4c3a-09df-4608-b9c9-92d107705cdc" providerId="ADAL" clId="{844D344A-23A5-4A9A-9E36-F9E4484E6307}" dt="2021-10-23T06:12:27.180" v="1553" actId="6549"/>
        <pc:sldMkLst>
          <pc:docMk/>
          <pc:sldMk cId="130854557" sldId="505"/>
        </pc:sldMkLst>
        <pc:graphicFrameChg chg="mod modGraphic">
          <ac:chgData name="박진화" userId="92eb4c3a-09df-4608-b9c9-92d107705cdc" providerId="ADAL" clId="{844D344A-23A5-4A9A-9E36-F9E4484E6307}" dt="2021-10-23T06:12:27.180" v="1553" actId="6549"/>
          <ac:graphicFrameMkLst>
            <pc:docMk/>
            <pc:sldMk cId="130854557" sldId="505"/>
            <ac:graphicFrameMk id="4" creationId="{00000000-0000-0000-0000-000000000000}"/>
          </ac:graphicFrameMkLst>
        </pc:graphicFrameChg>
      </pc:sldChg>
      <pc:sldChg chg="modSp mod">
        <pc:chgData name="박진화" userId="92eb4c3a-09df-4608-b9c9-92d107705cdc" providerId="ADAL" clId="{844D344A-23A5-4A9A-9E36-F9E4484E6307}" dt="2021-10-30T08:36:05.235" v="1791" actId="207"/>
        <pc:sldMkLst>
          <pc:docMk/>
          <pc:sldMk cId="39098775" sldId="512"/>
        </pc:sldMkLst>
        <pc:graphicFrameChg chg="modGraphic">
          <ac:chgData name="박진화" userId="92eb4c3a-09df-4608-b9c9-92d107705cdc" providerId="ADAL" clId="{844D344A-23A5-4A9A-9E36-F9E4484E6307}" dt="2021-10-30T08:36:05.235" v="1791" actId="207"/>
          <ac:graphicFrameMkLst>
            <pc:docMk/>
            <pc:sldMk cId="39098775" sldId="512"/>
            <ac:graphicFrameMk id="4" creationId="{00000000-0000-0000-0000-000000000000}"/>
          </ac:graphicFrameMkLst>
        </pc:graphicFrameChg>
      </pc:sldChg>
      <pc:sldChg chg="modSp mod">
        <pc:chgData name="박진화" userId="92eb4c3a-09df-4608-b9c9-92d107705cdc" providerId="ADAL" clId="{844D344A-23A5-4A9A-9E36-F9E4484E6307}" dt="2021-10-30T08:42:50.338" v="1835"/>
        <pc:sldMkLst>
          <pc:docMk/>
          <pc:sldMk cId="2149871079" sldId="515"/>
        </pc:sldMkLst>
        <pc:spChg chg="mod">
          <ac:chgData name="박진화" userId="92eb4c3a-09df-4608-b9c9-92d107705cdc" providerId="ADAL" clId="{844D344A-23A5-4A9A-9E36-F9E4484E6307}" dt="2021-10-30T08:37:48.947" v="1803" actId="14100"/>
          <ac:spMkLst>
            <pc:docMk/>
            <pc:sldMk cId="2149871079" sldId="515"/>
            <ac:spMk id="9" creationId="{00000000-0000-0000-0000-000000000000}"/>
          </ac:spMkLst>
        </pc:spChg>
        <pc:graphicFrameChg chg="mod modGraphic">
          <ac:chgData name="박진화" userId="92eb4c3a-09df-4608-b9c9-92d107705cdc" providerId="ADAL" clId="{844D344A-23A5-4A9A-9E36-F9E4484E6307}" dt="2021-10-30T08:42:50.338" v="1835"/>
          <ac:graphicFrameMkLst>
            <pc:docMk/>
            <pc:sldMk cId="2149871079" sldId="515"/>
            <ac:graphicFrameMk id="6" creationId="{04E1A324-5186-44A6-B2A7-E9CC6765969B}"/>
          </ac:graphicFrameMkLst>
        </pc:graphicFrameChg>
      </pc:sldChg>
      <pc:sldChg chg="modSp mod">
        <pc:chgData name="박진화" userId="92eb4c3a-09df-4608-b9c9-92d107705cdc" providerId="ADAL" clId="{844D344A-23A5-4A9A-9E36-F9E4484E6307}" dt="2021-10-23T06:14:41.946" v="1609" actId="2710"/>
        <pc:sldMkLst>
          <pc:docMk/>
          <pc:sldMk cId="4199974517" sldId="516"/>
        </pc:sldMkLst>
        <pc:graphicFrameChg chg="mod modGraphic">
          <ac:chgData name="박진화" userId="92eb4c3a-09df-4608-b9c9-92d107705cdc" providerId="ADAL" clId="{844D344A-23A5-4A9A-9E36-F9E4484E6307}" dt="2021-10-23T06:14:41.946" v="1609" actId="2710"/>
          <ac:graphicFrameMkLst>
            <pc:docMk/>
            <pc:sldMk cId="4199974517" sldId="516"/>
            <ac:graphicFrameMk id="4" creationId="{00000000-0000-0000-0000-000000000000}"/>
          </ac:graphicFrameMkLst>
        </pc:graphicFrameChg>
      </pc:sldChg>
      <pc:sldChg chg="modSp mod">
        <pc:chgData name="박진화" userId="92eb4c3a-09df-4608-b9c9-92d107705cdc" providerId="ADAL" clId="{844D344A-23A5-4A9A-9E36-F9E4484E6307}" dt="2021-10-30T08:43:40.030" v="1844" actId="6549"/>
        <pc:sldMkLst>
          <pc:docMk/>
          <pc:sldMk cId="1324374721" sldId="518"/>
        </pc:sldMkLst>
        <pc:graphicFrameChg chg="mod modGraphic">
          <ac:chgData name="박진화" userId="92eb4c3a-09df-4608-b9c9-92d107705cdc" providerId="ADAL" clId="{844D344A-23A5-4A9A-9E36-F9E4484E6307}" dt="2021-10-30T08:43:40.030" v="1844" actId="6549"/>
          <ac:graphicFrameMkLst>
            <pc:docMk/>
            <pc:sldMk cId="1324374721" sldId="518"/>
            <ac:graphicFrameMk id="4" creationId="{00000000-0000-0000-0000-000000000000}"/>
          </ac:graphicFrameMkLst>
        </pc:graphicFrameChg>
      </pc:sldChg>
      <pc:sldChg chg="modSp mod">
        <pc:chgData name="박진화" userId="92eb4c3a-09df-4608-b9c9-92d107705cdc" providerId="ADAL" clId="{844D344A-23A5-4A9A-9E36-F9E4484E6307}" dt="2021-10-30T08:25:32.720" v="1735" actId="6549"/>
        <pc:sldMkLst>
          <pc:docMk/>
          <pc:sldMk cId="205963483" sldId="526"/>
        </pc:sldMkLst>
        <pc:graphicFrameChg chg="modGraphic">
          <ac:chgData name="박진화" userId="92eb4c3a-09df-4608-b9c9-92d107705cdc" providerId="ADAL" clId="{844D344A-23A5-4A9A-9E36-F9E4484E6307}" dt="2021-10-30T08:25:32.720" v="1735" actId="6549"/>
          <ac:graphicFrameMkLst>
            <pc:docMk/>
            <pc:sldMk cId="205963483" sldId="526"/>
            <ac:graphicFrameMk id="3" creationId="{00000000-0000-0000-0000-000000000000}"/>
          </ac:graphicFrameMkLst>
        </pc:graphicFrameChg>
      </pc:sldChg>
      <pc:sldChg chg="modSp mod">
        <pc:chgData name="박진화" userId="92eb4c3a-09df-4608-b9c9-92d107705cdc" providerId="ADAL" clId="{844D344A-23A5-4A9A-9E36-F9E4484E6307}" dt="2021-10-30T08:25:00.957" v="1721"/>
        <pc:sldMkLst>
          <pc:docMk/>
          <pc:sldMk cId="3578474813" sldId="527"/>
        </pc:sldMkLst>
        <pc:spChg chg="mod">
          <ac:chgData name="박진화" userId="92eb4c3a-09df-4608-b9c9-92d107705cdc" providerId="ADAL" clId="{844D344A-23A5-4A9A-9E36-F9E4484E6307}" dt="2021-10-30T08:24:28.633" v="1712" actId="14100"/>
          <ac:spMkLst>
            <pc:docMk/>
            <pc:sldMk cId="3578474813" sldId="527"/>
            <ac:spMk id="6" creationId="{00000000-0000-0000-0000-000000000000}"/>
          </ac:spMkLst>
        </pc:spChg>
        <pc:graphicFrameChg chg="mod modGraphic">
          <ac:chgData name="박진화" userId="92eb4c3a-09df-4608-b9c9-92d107705cdc" providerId="ADAL" clId="{844D344A-23A5-4A9A-9E36-F9E4484E6307}" dt="2021-10-30T08:25:00.957" v="1721"/>
          <ac:graphicFrameMkLst>
            <pc:docMk/>
            <pc:sldMk cId="3578474813" sldId="527"/>
            <ac:graphicFrameMk id="3" creationId="{00000000-0000-0000-0000-000000000000}"/>
          </ac:graphicFrameMkLst>
        </pc:graphicFrameChg>
      </pc:sldChg>
      <pc:sldChg chg="modSp mod">
        <pc:chgData name="박진화" userId="92eb4c3a-09df-4608-b9c9-92d107705cdc" providerId="ADAL" clId="{844D344A-23A5-4A9A-9E36-F9E4484E6307}" dt="2021-10-30T08:28:43.863" v="1762" actId="14100"/>
        <pc:sldMkLst>
          <pc:docMk/>
          <pc:sldMk cId="685730289" sldId="528"/>
        </pc:sldMkLst>
        <pc:graphicFrameChg chg="mod modGraphic">
          <ac:chgData name="박진화" userId="92eb4c3a-09df-4608-b9c9-92d107705cdc" providerId="ADAL" clId="{844D344A-23A5-4A9A-9E36-F9E4484E6307}" dt="2021-10-30T08:28:43.863" v="1762" actId="14100"/>
          <ac:graphicFrameMkLst>
            <pc:docMk/>
            <pc:sldMk cId="685730289" sldId="528"/>
            <ac:graphicFrameMk id="4" creationId="{00000000-0000-0000-0000-000000000000}"/>
          </ac:graphicFrameMkLst>
        </pc:graphicFrameChg>
      </pc:sldChg>
      <pc:sldChg chg="modSp mod">
        <pc:chgData name="박진화" userId="92eb4c3a-09df-4608-b9c9-92d107705cdc" providerId="ADAL" clId="{844D344A-23A5-4A9A-9E36-F9E4484E6307}" dt="2021-10-30T08:30:39.263" v="1772" actId="255"/>
        <pc:sldMkLst>
          <pc:docMk/>
          <pc:sldMk cId="2432278450" sldId="529"/>
        </pc:sldMkLst>
        <pc:spChg chg="mod">
          <ac:chgData name="박진화" userId="92eb4c3a-09df-4608-b9c9-92d107705cdc" providerId="ADAL" clId="{844D344A-23A5-4A9A-9E36-F9E4484E6307}" dt="2021-10-30T08:30:12.839" v="1767" actId="14100"/>
          <ac:spMkLst>
            <pc:docMk/>
            <pc:sldMk cId="2432278450" sldId="529"/>
            <ac:spMk id="8" creationId="{00000000-0000-0000-0000-000000000000}"/>
          </ac:spMkLst>
        </pc:spChg>
        <pc:graphicFrameChg chg="mod modGraphic">
          <ac:chgData name="박진화" userId="92eb4c3a-09df-4608-b9c9-92d107705cdc" providerId="ADAL" clId="{844D344A-23A5-4A9A-9E36-F9E4484E6307}" dt="2021-10-30T08:30:39.263" v="1772" actId="255"/>
          <ac:graphicFrameMkLst>
            <pc:docMk/>
            <pc:sldMk cId="2432278450" sldId="529"/>
            <ac:graphicFrameMk id="4" creationId="{00000000-0000-0000-0000-000000000000}"/>
          </ac:graphicFrameMkLst>
        </pc:graphicFrameChg>
      </pc:sldChg>
      <pc:sldChg chg="modSp mod">
        <pc:chgData name="박진화" userId="92eb4c3a-09df-4608-b9c9-92d107705cdc" providerId="ADAL" clId="{844D344A-23A5-4A9A-9E36-F9E4484E6307}" dt="2021-10-30T08:26:14.277" v="1738" actId="20577"/>
        <pc:sldMkLst>
          <pc:docMk/>
          <pc:sldMk cId="1780794909" sldId="532"/>
        </pc:sldMkLst>
        <pc:graphicFrameChg chg="mod modGraphic">
          <ac:chgData name="박진화" userId="92eb4c3a-09df-4608-b9c9-92d107705cdc" providerId="ADAL" clId="{844D344A-23A5-4A9A-9E36-F9E4484E6307}" dt="2021-10-30T08:26:14.277" v="1738" actId="20577"/>
          <ac:graphicFrameMkLst>
            <pc:docMk/>
            <pc:sldMk cId="1780794909" sldId="532"/>
            <ac:graphicFrameMk id="4" creationId="{00000000-0000-0000-0000-000000000000}"/>
          </ac:graphicFrameMkLst>
        </pc:graphicFrameChg>
      </pc:sldChg>
      <pc:sldChg chg="modSp mod">
        <pc:chgData name="박진화" userId="92eb4c3a-09df-4608-b9c9-92d107705cdc" providerId="ADAL" clId="{844D344A-23A5-4A9A-9E36-F9E4484E6307}" dt="2021-10-30T08:31:14.427" v="1774" actId="255"/>
        <pc:sldMkLst>
          <pc:docMk/>
          <pc:sldMk cId="3703582945" sldId="534"/>
        </pc:sldMkLst>
        <pc:graphicFrameChg chg="modGraphic">
          <ac:chgData name="박진화" userId="92eb4c3a-09df-4608-b9c9-92d107705cdc" providerId="ADAL" clId="{844D344A-23A5-4A9A-9E36-F9E4484E6307}" dt="2021-10-30T08:31:14.427" v="1774" actId="255"/>
          <ac:graphicFrameMkLst>
            <pc:docMk/>
            <pc:sldMk cId="3703582945" sldId="534"/>
            <ac:graphicFrameMk id="3" creationId="{00000000-0000-0000-0000-000000000000}"/>
          </ac:graphicFrameMkLst>
        </pc:graphicFrameChg>
      </pc:sldChg>
      <pc:sldChg chg="addSp delSp modSp mod">
        <pc:chgData name="박진화" userId="92eb4c3a-09df-4608-b9c9-92d107705cdc" providerId="ADAL" clId="{844D344A-23A5-4A9A-9E36-F9E4484E6307}" dt="2021-10-30T08:31:53.059" v="1776" actId="255"/>
        <pc:sldMkLst>
          <pc:docMk/>
          <pc:sldMk cId="1327009483" sldId="535"/>
        </pc:sldMkLst>
        <pc:spChg chg="del">
          <ac:chgData name="박진화" userId="92eb4c3a-09df-4608-b9c9-92d107705cdc" providerId="ADAL" clId="{844D344A-23A5-4A9A-9E36-F9E4484E6307}" dt="2021-10-23T05:32:38.148" v="837" actId="478"/>
          <ac:spMkLst>
            <pc:docMk/>
            <pc:sldMk cId="1327009483" sldId="535"/>
            <ac:spMk id="3" creationId="{00000000-0000-0000-0000-000000000000}"/>
          </ac:spMkLst>
        </pc:spChg>
        <pc:spChg chg="add del mod">
          <ac:chgData name="박진화" userId="92eb4c3a-09df-4608-b9c9-92d107705cdc" providerId="ADAL" clId="{844D344A-23A5-4A9A-9E36-F9E4484E6307}" dt="2021-10-23T05:34:06.836" v="844" actId="478"/>
          <ac:spMkLst>
            <pc:docMk/>
            <pc:sldMk cId="1327009483" sldId="535"/>
            <ac:spMk id="5" creationId="{BC29EC10-4DCC-45BA-A86C-5B7E8023F84D}"/>
          </ac:spMkLst>
        </pc:spChg>
        <pc:spChg chg="add mod">
          <ac:chgData name="박진화" userId="92eb4c3a-09df-4608-b9c9-92d107705cdc" providerId="ADAL" clId="{844D344A-23A5-4A9A-9E36-F9E4484E6307}" dt="2021-10-30T08:17:55.996" v="1651" actId="207"/>
          <ac:spMkLst>
            <pc:docMk/>
            <pc:sldMk cId="1327009483" sldId="535"/>
            <ac:spMk id="8" creationId="{5DA021A6-D654-4B91-882C-3F43E3E3EA63}"/>
          </ac:spMkLst>
        </pc:spChg>
        <pc:graphicFrameChg chg="add mod modGraphic">
          <ac:chgData name="박진화" userId="92eb4c3a-09df-4608-b9c9-92d107705cdc" providerId="ADAL" clId="{844D344A-23A5-4A9A-9E36-F9E4484E6307}" dt="2021-10-30T08:31:53.059" v="1776" actId="255"/>
          <ac:graphicFrameMkLst>
            <pc:docMk/>
            <pc:sldMk cId="1327009483" sldId="535"/>
            <ac:graphicFrameMk id="4" creationId="{5708C83A-1BF0-4A8A-BA10-BD30483FF9E6}"/>
          </ac:graphicFrameMkLst>
        </pc:graphicFrameChg>
        <pc:picChg chg="add del">
          <ac:chgData name="박진화" userId="92eb4c3a-09df-4608-b9c9-92d107705cdc" providerId="ADAL" clId="{844D344A-23A5-4A9A-9E36-F9E4484E6307}" dt="2021-10-23T05:30:25.226" v="833" actId="478"/>
          <ac:picMkLst>
            <pc:docMk/>
            <pc:sldMk cId="1327009483" sldId="535"/>
            <ac:picMk id="2049" creationId="{00000000-0000-0000-0000-000000000000}"/>
          </ac:picMkLst>
        </pc:picChg>
      </pc:sldChg>
      <pc:sldChg chg="modSp mod">
        <pc:chgData name="박진화" userId="92eb4c3a-09df-4608-b9c9-92d107705cdc" providerId="ADAL" clId="{844D344A-23A5-4A9A-9E36-F9E4484E6307}" dt="2021-10-30T08:22:36.797" v="1681" actId="1076"/>
        <pc:sldMkLst>
          <pc:docMk/>
          <pc:sldMk cId="2969291282" sldId="537"/>
        </pc:sldMkLst>
        <pc:graphicFrameChg chg="mod modGraphic">
          <ac:chgData name="박진화" userId="92eb4c3a-09df-4608-b9c9-92d107705cdc" providerId="ADAL" clId="{844D344A-23A5-4A9A-9E36-F9E4484E6307}" dt="2021-10-30T08:22:36.797" v="1681" actId="1076"/>
          <ac:graphicFrameMkLst>
            <pc:docMk/>
            <pc:sldMk cId="2969291282" sldId="537"/>
            <ac:graphicFrameMk id="3" creationId="{00000000-0000-0000-0000-000000000000}"/>
          </ac:graphicFrameMkLst>
        </pc:graphicFrameChg>
        <pc:graphicFrameChg chg="modGraphic">
          <ac:chgData name="박진화" userId="92eb4c3a-09df-4608-b9c9-92d107705cdc" providerId="ADAL" clId="{844D344A-23A5-4A9A-9E36-F9E4484E6307}" dt="2021-10-30T08:21:22.415" v="1669" actId="14734"/>
          <ac:graphicFrameMkLst>
            <pc:docMk/>
            <pc:sldMk cId="2969291282" sldId="537"/>
            <ac:graphicFrameMk id="4" creationId="{00000000-0000-0000-0000-000000000000}"/>
          </ac:graphicFrameMkLst>
        </pc:graphicFrameChg>
        <pc:graphicFrameChg chg="modGraphic">
          <ac:chgData name="박진화" userId="92eb4c3a-09df-4608-b9c9-92d107705cdc" providerId="ADAL" clId="{844D344A-23A5-4A9A-9E36-F9E4484E6307}" dt="2021-10-30T08:21:59.919" v="1677" actId="6549"/>
          <ac:graphicFrameMkLst>
            <pc:docMk/>
            <pc:sldMk cId="2969291282" sldId="537"/>
            <ac:graphicFrameMk id="5" creationId="{00000000-0000-0000-0000-000000000000}"/>
          </ac:graphicFrameMkLst>
        </pc:graphicFrameChg>
        <pc:graphicFrameChg chg="mod modGraphic">
          <ac:chgData name="박진화" userId="92eb4c3a-09df-4608-b9c9-92d107705cdc" providerId="ADAL" clId="{844D344A-23A5-4A9A-9E36-F9E4484E6307}" dt="2021-10-30T08:21:41.673" v="1673" actId="14100"/>
          <ac:graphicFrameMkLst>
            <pc:docMk/>
            <pc:sldMk cId="2969291282" sldId="537"/>
            <ac:graphicFrameMk id="7" creationId="{00000000-0000-0000-0000-000000000000}"/>
          </ac:graphicFrameMkLst>
        </pc:graphicFrameChg>
      </pc:sldChg>
      <pc:sldChg chg="modSp mod">
        <pc:chgData name="박진화" userId="92eb4c3a-09df-4608-b9c9-92d107705cdc" providerId="ADAL" clId="{844D344A-23A5-4A9A-9E36-F9E4484E6307}" dt="2021-10-30T08:19:58.430" v="1659" actId="207"/>
        <pc:sldMkLst>
          <pc:docMk/>
          <pc:sldMk cId="916343522" sldId="539"/>
        </pc:sldMkLst>
        <pc:graphicFrameChg chg="modGraphic">
          <ac:chgData name="박진화" userId="92eb4c3a-09df-4608-b9c9-92d107705cdc" providerId="ADAL" clId="{844D344A-23A5-4A9A-9E36-F9E4484E6307}" dt="2021-10-30T08:19:58.430" v="1659" actId="207"/>
          <ac:graphicFrameMkLst>
            <pc:docMk/>
            <pc:sldMk cId="916343522" sldId="539"/>
            <ac:graphicFrameMk id="3" creationId="{00000000-0000-0000-0000-000000000000}"/>
          </ac:graphicFrameMkLst>
        </pc:graphicFrameChg>
      </pc:sldChg>
      <pc:sldChg chg="modSp mod">
        <pc:chgData name="박진화" userId="92eb4c3a-09df-4608-b9c9-92d107705cdc" providerId="ADAL" clId="{844D344A-23A5-4A9A-9E36-F9E4484E6307}" dt="2021-10-30T08:33:02.994" v="1778" actId="14734"/>
        <pc:sldMkLst>
          <pc:docMk/>
          <pc:sldMk cId="1025608518" sldId="541"/>
        </pc:sldMkLst>
        <pc:graphicFrameChg chg="mod modGraphic">
          <ac:chgData name="박진화" userId="92eb4c3a-09df-4608-b9c9-92d107705cdc" providerId="ADAL" clId="{844D344A-23A5-4A9A-9E36-F9E4484E6307}" dt="2021-10-30T08:33:02.994" v="1778" actId="14734"/>
          <ac:graphicFrameMkLst>
            <pc:docMk/>
            <pc:sldMk cId="1025608518" sldId="541"/>
            <ac:graphicFrameMk id="3" creationId="{00000000-0000-0000-0000-000000000000}"/>
          </ac:graphicFrameMkLst>
        </pc:graphicFrameChg>
      </pc:sldChg>
      <pc:sldChg chg="modSp mod">
        <pc:chgData name="박진화" userId="92eb4c3a-09df-4608-b9c9-92d107705cdc" providerId="ADAL" clId="{844D344A-23A5-4A9A-9E36-F9E4484E6307}" dt="2021-10-30T08:35:41.487" v="1790" actId="14734"/>
        <pc:sldMkLst>
          <pc:docMk/>
          <pc:sldMk cId="2704215580" sldId="542"/>
        </pc:sldMkLst>
        <pc:graphicFrameChg chg="mod modGraphic">
          <ac:chgData name="박진화" userId="92eb4c3a-09df-4608-b9c9-92d107705cdc" providerId="ADAL" clId="{844D344A-23A5-4A9A-9E36-F9E4484E6307}" dt="2021-10-30T08:35:41.487" v="1790" actId="14734"/>
          <ac:graphicFrameMkLst>
            <pc:docMk/>
            <pc:sldMk cId="2704215580" sldId="542"/>
            <ac:graphicFrameMk id="6" creationId="{00000000-0000-0000-0000-000000000000}"/>
          </ac:graphicFrameMkLst>
        </pc:graphicFrameChg>
      </pc:sldChg>
      <pc:sldChg chg="modSp mod">
        <pc:chgData name="박진화" userId="92eb4c3a-09df-4608-b9c9-92d107705cdc" providerId="ADAL" clId="{844D344A-23A5-4A9A-9E36-F9E4484E6307}" dt="2021-10-30T08:34:23.364" v="1781" actId="14100"/>
        <pc:sldMkLst>
          <pc:docMk/>
          <pc:sldMk cId="3710170971" sldId="543"/>
        </pc:sldMkLst>
        <pc:graphicFrameChg chg="mod modGraphic">
          <ac:chgData name="박진화" userId="92eb4c3a-09df-4608-b9c9-92d107705cdc" providerId="ADAL" clId="{844D344A-23A5-4A9A-9E36-F9E4484E6307}" dt="2021-10-30T08:34:23.364" v="1781" actId="14100"/>
          <ac:graphicFrameMkLst>
            <pc:docMk/>
            <pc:sldMk cId="3710170971" sldId="543"/>
            <ac:graphicFrameMk id="3" creationId="{0C02D914-092E-4DD4-A7F8-D9C50A9C3CBF}"/>
          </ac:graphicFrameMkLst>
        </pc:graphicFrameChg>
      </pc:sldChg>
      <pc:sldChg chg="addSp delSp modSp mod setBg">
        <pc:chgData name="박진화" userId="92eb4c3a-09df-4608-b9c9-92d107705cdc" providerId="ADAL" clId="{844D344A-23A5-4A9A-9E36-F9E4484E6307}" dt="2021-10-23T06:05:42.931" v="1303" actId="2711"/>
        <pc:sldMkLst>
          <pc:docMk/>
          <pc:sldMk cId="3438276407" sldId="544"/>
        </pc:sldMkLst>
        <pc:spChg chg="add mod">
          <ac:chgData name="박진화" userId="92eb4c3a-09df-4608-b9c9-92d107705cdc" providerId="ADAL" clId="{844D344A-23A5-4A9A-9E36-F9E4484E6307}" dt="2021-10-23T06:03:45.529" v="1288" actId="14100"/>
          <ac:spMkLst>
            <pc:docMk/>
            <pc:sldMk cId="3438276407" sldId="544"/>
            <ac:spMk id="6" creationId="{D47EF09D-E3AA-41DF-A2D3-0A6F6E08E638}"/>
          </ac:spMkLst>
        </pc:spChg>
        <pc:spChg chg="mod">
          <ac:chgData name="박진화" userId="92eb4c3a-09df-4608-b9c9-92d107705cdc" providerId="ADAL" clId="{844D344A-23A5-4A9A-9E36-F9E4484E6307}" dt="2021-10-23T06:03:18.395" v="1282" actId="20577"/>
          <ac:spMkLst>
            <pc:docMk/>
            <pc:sldMk cId="3438276407" sldId="544"/>
            <ac:spMk id="7" creationId="{00000000-0000-0000-0000-000000000000}"/>
          </ac:spMkLst>
        </pc:spChg>
        <pc:graphicFrameChg chg="del">
          <ac:chgData name="박진화" userId="92eb4c3a-09df-4608-b9c9-92d107705cdc" providerId="ADAL" clId="{844D344A-23A5-4A9A-9E36-F9E4484E6307}" dt="2021-10-23T06:03:14.220" v="1281" actId="478"/>
          <ac:graphicFrameMkLst>
            <pc:docMk/>
            <pc:sldMk cId="3438276407" sldId="544"/>
            <ac:graphicFrameMk id="3" creationId="{00000000-0000-0000-0000-000000000000}"/>
          </ac:graphicFrameMkLst>
        </pc:graphicFrameChg>
        <pc:graphicFrameChg chg="add mod modGraphic">
          <ac:chgData name="박진화" userId="92eb4c3a-09df-4608-b9c9-92d107705cdc" providerId="ADAL" clId="{844D344A-23A5-4A9A-9E36-F9E4484E6307}" dt="2021-10-23T06:05:42.931" v="1303" actId="2711"/>
          <ac:graphicFrameMkLst>
            <pc:docMk/>
            <pc:sldMk cId="3438276407" sldId="544"/>
            <ac:graphicFrameMk id="4" creationId="{6420FFEC-0F8A-4AD1-AEB9-7180E5ABBA02}"/>
          </ac:graphicFrameMkLst>
        </pc:graphicFrameChg>
      </pc:sldChg>
      <pc:sldChg chg="addSp delSp modSp mod">
        <pc:chgData name="박진화" userId="92eb4c3a-09df-4608-b9c9-92d107705cdc" providerId="ADAL" clId="{844D344A-23A5-4A9A-9E36-F9E4484E6307}" dt="2021-10-23T06:22:34.673" v="1637" actId="14100"/>
        <pc:sldMkLst>
          <pc:docMk/>
          <pc:sldMk cId="2194739848" sldId="545"/>
        </pc:sldMkLst>
        <pc:spChg chg="add del mod">
          <ac:chgData name="박진화" userId="92eb4c3a-09df-4608-b9c9-92d107705cdc" providerId="ADAL" clId="{844D344A-23A5-4A9A-9E36-F9E4484E6307}" dt="2021-10-23T06:19:41.122" v="1629" actId="478"/>
          <ac:spMkLst>
            <pc:docMk/>
            <pc:sldMk cId="2194739848" sldId="545"/>
            <ac:spMk id="3" creationId="{DD81DBE6-8701-4459-99F6-A721D76E9ED6}"/>
          </ac:spMkLst>
        </pc:spChg>
        <pc:spChg chg="add mod">
          <ac:chgData name="박진화" userId="92eb4c3a-09df-4608-b9c9-92d107705cdc" providerId="ADAL" clId="{844D344A-23A5-4A9A-9E36-F9E4484E6307}" dt="2021-10-23T06:22:34.673" v="1637" actId="14100"/>
          <ac:spMkLst>
            <pc:docMk/>
            <pc:sldMk cId="2194739848" sldId="545"/>
            <ac:spMk id="7" creationId="{98423EC4-A5DC-4837-902F-E8837ECF6B57}"/>
          </ac:spMkLst>
        </pc:spChg>
        <pc:picChg chg="del">
          <ac:chgData name="박진화" userId="92eb4c3a-09df-4608-b9c9-92d107705cdc" providerId="ADAL" clId="{844D344A-23A5-4A9A-9E36-F9E4484E6307}" dt="2021-10-23T06:19:12.812" v="1622" actId="478"/>
          <ac:picMkLst>
            <pc:docMk/>
            <pc:sldMk cId="2194739848" sldId="545"/>
            <ac:picMk id="6" creationId="{4F56031A-ABAD-4489-BBB8-CD0BAB5351E5}"/>
          </ac:picMkLst>
        </pc:picChg>
        <pc:picChg chg="add del mod">
          <ac:chgData name="박진화" userId="92eb4c3a-09df-4608-b9c9-92d107705cdc" providerId="ADAL" clId="{844D344A-23A5-4A9A-9E36-F9E4484E6307}" dt="2021-10-23T06:22:06.867" v="1630" actId="478"/>
          <ac:picMkLst>
            <pc:docMk/>
            <pc:sldMk cId="2194739848" sldId="545"/>
            <ac:picMk id="5121" creationId="{62C20651-135C-4C3E-ADC4-D2C2471ABC43}"/>
          </ac:picMkLst>
        </pc:picChg>
        <pc:picChg chg="add mod">
          <ac:chgData name="박진화" userId="92eb4c3a-09df-4608-b9c9-92d107705cdc" providerId="ADAL" clId="{844D344A-23A5-4A9A-9E36-F9E4484E6307}" dt="2021-10-23T06:22:34.673" v="1637" actId="14100"/>
          <ac:picMkLst>
            <pc:docMk/>
            <pc:sldMk cId="2194739848" sldId="545"/>
            <ac:picMk id="5123" creationId="{6B2837DA-F1BF-4072-B0FD-9C1D85C43039}"/>
          </ac:picMkLst>
        </pc:picChg>
      </pc:sldChg>
      <pc:sldChg chg="add del">
        <pc:chgData name="박진화" userId="92eb4c3a-09df-4608-b9c9-92d107705cdc" providerId="ADAL" clId="{844D344A-23A5-4A9A-9E36-F9E4484E6307}" dt="2021-10-23T06:26:24.865" v="1641" actId="2696"/>
        <pc:sldMkLst>
          <pc:docMk/>
          <pc:sldMk cId="2211531324" sldId="553"/>
        </pc:sldMkLst>
      </pc:sldChg>
      <pc:sldChg chg="addSp delSp modSp mod">
        <pc:chgData name="박진화" userId="92eb4c3a-09df-4608-b9c9-92d107705cdc" providerId="ADAL" clId="{844D344A-23A5-4A9A-9E36-F9E4484E6307}" dt="2021-10-30T08:26:33.316" v="1741" actId="1076"/>
        <pc:sldMkLst>
          <pc:docMk/>
          <pc:sldMk cId="2457759793" sldId="558"/>
        </pc:sldMkLst>
        <pc:spChg chg="add mod">
          <ac:chgData name="박진화" userId="92eb4c3a-09df-4608-b9c9-92d107705cdc" providerId="ADAL" clId="{844D344A-23A5-4A9A-9E36-F9E4484E6307}" dt="2021-10-23T04:58:45.115" v="647" actId="1076"/>
          <ac:spMkLst>
            <pc:docMk/>
            <pc:sldMk cId="2457759793" sldId="558"/>
            <ac:spMk id="5" creationId="{23B2D6DF-A8DF-4714-921C-86ED07993B1B}"/>
          </ac:spMkLst>
        </pc:spChg>
        <pc:spChg chg="mod">
          <ac:chgData name="박진화" userId="92eb4c3a-09df-4608-b9c9-92d107705cdc" providerId="ADAL" clId="{844D344A-23A5-4A9A-9E36-F9E4484E6307}" dt="2021-10-30T08:26:33.316" v="1741" actId="1076"/>
          <ac:spMkLst>
            <pc:docMk/>
            <pc:sldMk cId="2457759793" sldId="558"/>
            <ac:spMk id="8" creationId="{00000000-0000-0000-0000-000000000000}"/>
          </ac:spMkLst>
        </pc:spChg>
        <pc:graphicFrameChg chg="del">
          <ac:chgData name="박진화" userId="92eb4c3a-09df-4608-b9c9-92d107705cdc" providerId="ADAL" clId="{844D344A-23A5-4A9A-9E36-F9E4484E6307}" dt="2021-10-23T04:57:29.191" v="645" actId="478"/>
          <ac:graphicFrameMkLst>
            <pc:docMk/>
            <pc:sldMk cId="2457759793" sldId="558"/>
            <ac:graphicFrameMk id="4" creationId="{00000000-0000-0000-0000-000000000000}"/>
          </ac:graphicFrameMkLst>
        </pc:graphicFrameChg>
        <pc:picChg chg="add mod">
          <ac:chgData name="박진화" userId="92eb4c3a-09df-4608-b9c9-92d107705cdc" providerId="ADAL" clId="{844D344A-23A5-4A9A-9E36-F9E4484E6307}" dt="2021-10-30T08:26:29.711" v="1740" actId="14100"/>
          <ac:picMkLst>
            <pc:docMk/>
            <pc:sldMk cId="2457759793" sldId="558"/>
            <ac:picMk id="1025" creationId="{934840CC-006F-4EA9-ACD6-6B97E768F1E3}"/>
          </ac:picMkLst>
        </pc:picChg>
      </pc:sldChg>
      <pc:sldChg chg="modSp mod">
        <pc:chgData name="박진화" userId="92eb4c3a-09df-4608-b9c9-92d107705cdc" providerId="ADAL" clId="{844D344A-23A5-4A9A-9E36-F9E4484E6307}" dt="2021-10-30T08:27:36.061" v="1746" actId="207"/>
        <pc:sldMkLst>
          <pc:docMk/>
          <pc:sldMk cId="1930344821" sldId="559"/>
        </pc:sldMkLst>
        <pc:graphicFrameChg chg="modGraphic">
          <ac:chgData name="박진화" userId="92eb4c3a-09df-4608-b9c9-92d107705cdc" providerId="ADAL" clId="{844D344A-23A5-4A9A-9E36-F9E4484E6307}" dt="2021-10-30T08:27:36.061" v="1746" actId="207"/>
          <ac:graphicFrameMkLst>
            <pc:docMk/>
            <pc:sldMk cId="1930344821" sldId="559"/>
            <ac:graphicFrameMk id="4" creationId="{00000000-0000-0000-0000-000000000000}"/>
          </ac:graphicFrameMkLst>
        </pc:graphicFrameChg>
      </pc:sldChg>
      <pc:sldChg chg="modSp add mod">
        <pc:chgData name="박진화" userId="92eb4c3a-09df-4608-b9c9-92d107705cdc" providerId="ADAL" clId="{844D344A-23A5-4A9A-9E36-F9E4484E6307}" dt="2021-10-30T08:29:22.822" v="1765" actId="6549"/>
        <pc:sldMkLst>
          <pc:docMk/>
          <pc:sldMk cId="4174004014" sldId="564"/>
        </pc:sldMkLst>
        <pc:graphicFrameChg chg="mod modGraphic">
          <ac:chgData name="박진화" userId="92eb4c3a-09df-4608-b9c9-92d107705cdc" providerId="ADAL" clId="{844D344A-23A5-4A9A-9E36-F9E4484E6307}" dt="2021-10-30T08:29:22.822" v="1765" actId="6549"/>
          <ac:graphicFrameMkLst>
            <pc:docMk/>
            <pc:sldMk cId="4174004014" sldId="564"/>
            <ac:graphicFrameMk id="4" creationId="{00000000-0000-0000-0000-000000000000}"/>
          </ac:graphicFrameMkLst>
        </pc:graphicFrameChg>
      </pc:sldChg>
      <pc:sldChg chg="addSp delSp modSp add mod">
        <pc:chgData name="박진화" userId="92eb4c3a-09df-4608-b9c9-92d107705cdc" providerId="ADAL" clId="{844D344A-23A5-4A9A-9E36-F9E4484E6307}" dt="2021-10-23T05:59:33.346" v="1262" actId="14100"/>
        <pc:sldMkLst>
          <pc:docMk/>
          <pc:sldMk cId="4033540521" sldId="565"/>
        </pc:sldMkLst>
        <pc:spChg chg="add del mod">
          <ac:chgData name="박진화" userId="92eb4c3a-09df-4608-b9c9-92d107705cdc" providerId="ADAL" clId="{844D344A-23A5-4A9A-9E36-F9E4484E6307}" dt="2021-10-23T05:54:43.387" v="1178" actId="478"/>
          <ac:spMkLst>
            <pc:docMk/>
            <pc:sldMk cId="4033540521" sldId="565"/>
            <ac:spMk id="4" creationId="{10C38194-905B-4E16-B26B-ADD45DDFEF1E}"/>
          </ac:spMkLst>
        </pc:spChg>
        <pc:spChg chg="del">
          <ac:chgData name="박진화" userId="92eb4c3a-09df-4608-b9c9-92d107705cdc" providerId="ADAL" clId="{844D344A-23A5-4A9A-9E36-F9E4484E6307}" dt="2021-10-23T05:54:14.805" v="1173" actId="478"/>
          <ac:spMkLst>
            <pc:docMk/>
            <pc:sldMk cId="4033540521" sldId="565"/>
            <ac:spMk id="7" creationId="{00000000-0000-0000-0000-000000000000}"/>
          </ac:spMkLst>
        </pc:spChg>
        <pc:spChg chg="add mod">
          <ac:chgData name="박진화" userId="92eb4c3a-09df-4608-b9c9-92d107705cdc" providerId="ADAL" clId="{844D344A-23A5-4A9A-9E36-F9E4484E6307}" dt="2021-10-23T05:57:32.777" v="1244" actId="1076"/>
          <ac:spMkLst>
            <pc:docMk/>
            <pc:sldMk cId="4033540521" sldId="565"/>
            <ac:spMk id="9" creationId="{0382B318-7F81-44FA-9BA0-CDDBCBE2A89F}"/>
          </ac:spMkLst>
        </pc:spChg>
        <pc:graphicFrameChg chg="add del mod modGraphic">
          <ac:chgData name="박진화" userId="92eb4c3a-09df-4608-b9c9-92d107705cdc" providerId="ADAL" clId="{844D344A-23A5-4A9A-9E36-F9E4484E6307}" dt="2021-10-23T05:59:33.346" v="1262" actId="14100"/>
          <ac:graphicFrameMkLst>
            <pc:docMk/>
            <pc:sldMk cId="4033540521" sldId="565"/>
            <ac:graphicFrameMk id="3" creationId="{F3BA70C9-038E-48EC-BB50-09EDCB76F16E}"/>
          </ac:graphicFrameMkLst>
        </pc:graphicFrameChg>
        <pc:picChg chg="del">
          <ac:chgData name="박진화" userId="92eb4c3a-09df-4608-b9c9-92d107705cdc" providerId="ADAL" clId="{844D344A-23A5-4A9A-9E36-F9E4484E6307}" dt="2021-10-23T05:54:08.001" v="1172" actId="478"/>
          <ac:picMkLst>
            <pc:docMk/>
            <pc:sldMk cId="4033540521" sldId="565"/>
            <ac:picMk id="8193" creationId="{00000000-0000-0000-0000-000000000000}"/>
          </ac:picMkLst>
        </pc:picChg>
      </pc:sldChg>
      <pc:sldChg chg="addSp delSp modSp add mod">
        <pc:chgData name="박진화" userId="92eb4c3a-09df-4608-b9c9-92d107705cdc" providerId="ADAL" clId="{844D344A-23A5-4A9A-9E36-F9E4484E6307}" dt="2021-10-23T06:27:33.897" v="1649" actId="1076"/>
        <pc:sldMkLst>
          <pc:docMk/>
          <pc:sldMk cId="1432203215" sldId="566"/>
        </pc:sldMkLst>
        <pc:spChg chg="del">
          <ac:chgData name="박진화" userId="92eb4c3a-09df-4608-b9c9-92d107705cdc" providerId="ADAL" clId="{844D344A-23A5-4A9A-9E36-F9E4484E6307}" dt="2021-10-23T06:27:07.408" v="1645" actId="478"/>
          <ac:spMkLst>
            <pc:docMk/>
            <pc:sldMk cId="1432203215" sldId="566"/>
            <ac:spMk id="2" creationId="{00000000-0000-0000-0000-000000000000}"/>
          </ac:spMkLst>
        </pc:spChg>
        <pc:spChg chg="add mod">
          <ac:chgData name="박진화" userId="92eb4c3a-09df-4608-b9c9-92d107705cdc" providerId="ADAL" clId="{844D344A-23A5-4A9A-9E36-F9E4484E6307}" dt="2021-10-23T06:26:59.321" v="1644" actId="14100"/>
          <ac:spMkLst>
            <pc:docMk/>
            <pc:sldMk cId="1432203215" sldId="566"/>
            <ac:spMk id="5" creationId="{E06A3633-D096-4A15-842C-A066F0B38327}"/>
          </ac:spMkLst>
        </pc:spChg>
        <pc:spChg chg="add del mod">
          <ac:chgData name="박진화" userId="92eb4c3a-09df-4608-b9c9-92d107705cdc" providerId="ADAL" clId="{844D344A-23A5-4A9A-9E36-F9E4484E6307}" dt="2021-10-23T06:27:11.817" v="1646" actId="478"/>
          <ac:spMkLst>
            <pc:docMk/>
            <pc:sldMk cId="1432203215" sldId="566"/>
            <ac:spMk id="7" creationId="{2E2B3C95-CE86-4472-AA6F-3EE75B0BF7C3}"/>
          </ac:spMkLst>
        </pc:spChg>
        <pc:picChg chg="del">
          <ac:chgData name="박진화" userId="92eb4c3a-09df-4608-b9c9-92d107705cdc" providerId="ADAL" clId="{844D344A-23A5-4A9A-9E36-F9E4484E6307}" dt="2021-10-23T06:26:29.574" v="1642" actId="478"/>
          <ac:picMkLst>
            <pc:docMk/>
            <pc:sldMk cId="1432203215" sldId="566"/>
            <ac:picMk id="1025" creationId="{00000000-0000-0000-0000-000000000000}"/>
          </ac:picMkLst>
        </pc:picChg>
        <pc:picChg chg="add mod">
          <ac:chgData name="박진화" userId="92eb4c3a-09df-4608-b9c9-92d107705cdc" providerId="ADAL" clId="{844D344A-23A5-4A9A-9E36-F9E4484E6307}" dt="2021-10-23T06:27:33.897" v="1649" actId="1076"/>
          <ac:picMkLst>
            <pc:docMk/>
            <pc:sldMk cId="1432203215" sldId="566"/>
            <ac:picMk id="6145" creationId="{2DC6079E-8149-438E-AF40-7A5ADC18BEA6}"/>
          </ac:picMkLst>
        </pc:picChg>
      </pc:sldChg>
      <pc:sldChg chg="modSp add del mod">
        <pc:chgData name="박진화" userId="92eb4c3a-09df-4608-b9c9-92d107705cdc" providerId="ADAL" clId="{844D344A-23A5-4A9A-9E36-F9E4484E6307}" dt="2021-10-23T06:18:06.847" v="1620" actId="2696"/>
        <pc:sldMkLst>
          <pc:docMk/>
          <pc:sldMk cId="3336571785" sldId="566"/>
        </pc:sldMkLst>
        <pc:graphicFrameChg chg="modGraphic">
          <ac:chgData name="박진화" userId="92eb4c3a-09df-4608-b9c9-92d107705cdc" providerId="ADAL" clId="{844D344A-23A5-4A9A-9E36-F9E4484E6307}" dt="2021-10-23T06:16:00.502" v="1613" actId="21"/>
          <ac:graphicFrameMkLst>
            <pc:docMk/>
            <pc:sldMk cId="3336571785" sldId="566"/>
            <ac:graphicFrameMk id="4" creationId="{00000000-0000-0000-0000-000000000000}"/>
          </ac:graphicFrameMkLst>
        </pc:graphicFrameChg>
      </pc:sldChg>
    </pc:docChg>
  </pc:docChgLst>
  <pc:docChgLst>
    <pc:chgData name="박진화" userId="92eb4c3a-09df-4608-b9c9-92d107705cdc" providerId="ADAL" clId="{9046B249-2A08-4306-928E-7A7FB75BD300}"/>
    <pc:docChg chg="modSld">
      <pc:chgData name="박진화" userId="92eb4c3a-09df-4608-b9c9-92d107705cdc" providerId="ADAL" clId="{9046B249-2A08-4306-928E-7A7FB75BD300}" dt="2021-11-23T04:37:29.833" v="123" actId="6549"/>
      <pc:docMkLst>
        <pc:docMk/>
      </pc:docMkLst>
      <pc:sldChg chg="modSp mod">
        <pc:chgData name="박진화" userId="92eb4c3a-09df-4608-b9c9-92d107705cdc" providerId="ADAL" clId="{9046B249-2A08-4306-928E-7A7FB75BD300}" dt="2021-11-23T04:37:29.833" v="123" actId="6549"/>
        <pc:sldMkLst>
          <pc:docMk/>
          <pc:sldMk cId="1930344821" sldId="559"/>
        </pc:sldMkLst>
        <pc:graphicFrameChg chg="mod modGraphic">
          <ac:chgData name="박진화" userId="92eb4c3a-09df-4608-b9c9-92d107705cdc" providerId="ADAL" clId="{9046B249-2A08-4306-928E-7A7FB75BD300}" dt="2021-11-23T04:37:29.833" v="123" actId="6549"/>
          <ac:graphicFrameMkLst>
            <pc:docMk/>
            <pc:sldMk cId="1930344821" sldId="559"/>
            <ac:graphicFrameMk id="4" creationId="{00000000-0000-0000-0000-000000000000}"/>
          </ac:graphicFrameMkLst>
        </pc:graphicFrameChg>
      </pc:sldChg>
    </pc:docChg>
  </pc:docChgLst>
  <pc:docChgLst>
    <pc:chgData name="박진화" userId="92eb4c3a-09df-4608-b9c9-92d107705cdc" providerId="ADAL" clId="{50924B3C-C72E-4D03-BCB6-99F29B9D924A}"/>
    <pc:docChg chg="undo custSel addSld delSld modSld">
      <pc:chgData name="박진화" userId="92eb4c3a-09df-4608-b9c9-92d107705cdc" providerId="ADAL" clId="{50924B3C-C72E-4D03-BCB6-99F29B9D924A}" dt="2021-11-24T14:02:28.571" v="64" actId="207"/>
      <pc:docMkLst>
        <pc:docMk/>
      </pc:docMkLst>
      <pc:sldChg chg="addSp delSp modSp add mod">
        <pc:chgData name="박진화" userId="92eb4c3a-09df-4608-b9c9-92d107705cdc" providerId="ADAL" clId="{50924B3C-C72E-4D03-BCB6-99F29B9D924A}" dt="2021-11-21T05:21:49.752" v="61" actId="14100"/>
        <pc:sldMkLst>
          <pc:docMk/>
          <pc:sldMk cId="912024854" sldId="446"/>
        </pc:sldMkLst>
        <pc:spChg chg="del">
          <ac:chgData name="박진화" userId="92eb4c3a-09df-4608-b9c9-92d107705cdc" providerId="ADAL" clId="{50924B3C-C72E-4D03-BCB6-99F29B9D924A}" dt="2021-11-21T05:21:39.379" v="58" actId="478"/>
          <ac:spMkLst>
            <pc:docMk/>
            <pc:sldMk cId="912024854" sldId="446"/>
            <ac:spMk id="7" creationId="{00000000-0000-0000-0000-000000000000}"/>
          </ac:spMkLst>
        </pc:spChg>
        <pc:spChg chg="add mod">
          <ac:chgData name="박진화" userId="92eb4c3a-09df-4608-b9c9-92d107705cdc" providerId="ADAL" clId="{50924B3C-C72E-4D03-BCB6-99F29B9D924A}" dt="2021-11-21T05:21:49.752" v="61" actId="14100"/>
          <ac:spMkLst>
            <pc:docMk/>
            <pc:sldMk cId="912024854" sldId="446"/>
            <ac:spMk id="8" creationId="{A9DC9E0E-9351-4631-A8F2-A1EA4DDC4B11}"/>
          </ac:spMkLst>
        </pc:spChg>
        <pc:graphicFrameChg chg="mod modGraphic">
          <ac:chgData name="박진화" userId="92eb4c3a-09df-4608-b9c9-92d107705cdc" providerId="ADAL" clId="{50924B3C-C72E-4D03-BCB6-99F29B9D924A}" dt="2021-11-21T05:21:30.627" v="57" actId="14100"/>
          <ac:graphicFrameMkLst>
            <pc:docMk/>
            <pc:sldMk cId="912024854" sldId="446"/>
            <ac:graphicFrameMk id="3" creationId="{00000000-0000-0000-0000-000000000000}"/>
          </ac:graphicFrameMkLst>
        </pc:graphicFrameChg>
        <pc:graphicFrameChg chg="del">
          <ac:chgData name="박진화" userId="92eb4c3a-09df-4608-b9c9-92d107705cdc" providerId="ADAL" clId="{50924B3C-C72E-4D03-BCB6-99F29B9D924A}" dt="2021-11-21T05:19:14.430" v="10" actId="478"/>
          <ac:graphicFrameMkLst>
            <pc:docMk/>
            <pc:sldMk cId="912024854" sldId="446"/>
            <ac:graphicFrameMk id="4" creationId="{00000000-0000-0000-0000-000000000000}"/>
          </ac:graphicFrameMkLst>
        </pc:graphicFrameChg>
        <pc:graphicFrameChg chg="del">
          <ac:chgData name="박진화" userId="92eb4c3a-09df-4608-b9c9-92d107705cdc" providerId="ADAL" clId="{50924B3C-C72E-4D03-BCB6-99F29B9D924A}" dt="2021-11-21T05:19:19.779" v="11" actId="478"/>
          <ac:graphicFrameMkLst>
            <pc:docMk/>
            <pc:sldMk cId="912024854" sldId="446"/>
            <ac:graphicFrameMk id="5" creationId="{00000000-0000-0000-0000-000000000000}"/>
          </ac:graphicFrameMkLst>
        </pc:graphicFrameChg>
      </pc:sldChg>
      <pc:sldChg chg="modSp del mod">
        <pc:chgData name="박진화" userId="92eb4c3a-09df-4608-b9c9-92d107705cdc" providerId="ADAL" clId="{50924B3C-C72E-4D03-BCB6-99F29B9D924A}" dt="2021-11-21T05:19:03.243" v="8" actId="2696"/>
        <pc:sldMkLst>
          <pc:docMk/>
          <pc:sldMk cId="944226140" sldId="446"/>
        </pc:sldMkLst>
        <pc:graphicFrameChg chg="modGraphic">
          <ac:chgData name="박진화" userId="92eb4c3a-09df-4608-b9c9-92d107705cdc" providerId="ADAL" clId="{50924B3C-C72E-4D03-BCB6-99F29B9D924A}" dt="2021-11-21T05:17:39.772" v="1" actId="6559"/>
          <ac:graphicFrameMkLst>
            <pc:docMk/>
            <pc:sldMk cId="944226140" sldId="446"/>
            <ac:graphicFrameMk id="5" creationId="{00000000-0000-0000-0000-000000000000}"/>
          </ac:graphicFrameMkLst>
        </pc:graphicFrameChg>
      </pc:sldChg>
      <pc:sldChg chg="modSp mod">
        <pc:chgData name="박진화" userId="92eb4c3a-09df-4608-b9c9-92d107705cdc" providerId="ADAL" clId="{50924B3C-C72E-4D03-BCB6-99F29B9D924A}" dt="2021-11-24T14:02:28.571" v="64" actId="207"/>
        <pc:sldMkLst>
          <pc:docMk/>
          <pc:sldMk cId="1930344821" sldId="559"/>
        </pc:sldMkLst>
        <pc:graphicFrameChg chg="modGraphic">
          <ac:chgData name="박진화" userId="92eb4c3a-09df-4608-b9c9-92d107705cdc" providerId="ADAL" clId="{50924B3C-C72E-4D03-BCB6-99F29B9D924A}" dt="2021-11-24T14:02:28.571" v="64" actId="207"/>
          <ac:graphicFrameMkLst>
            <pc:docMk/>
            <pc:sldMk cId="1930344821" sldId="559"/>
            <ac:graphicFrameMk id="4" creationId="{00000000-0000-0000-0000-000000000000}"/>
          </ac:graphicFrameMkLst>
        </pc:graphicFrameChg>
      </pc:sldChg>
      <pc:sldChg chg="delSp modSp add mod">
        <pc:chgData name="박진화" userId="92eb4c3a-09df-4608-b9c9-92d107705cdc" providerId="ADAL" clId="{50924B3C-C72E-4D03-BCB6-99F29B9D924A}" dt="2021-11-21T05:18:43.907" v="7" actId="1076"/>
        <pc:sldMkLst>
          <pc:docMk/>
          <pc:sldMk cId="1473413114" sldId="569"/>
        </pc:sldMkLst>
        <pc:graphicFrameChg chg="del modGraphic">
          <ac:chgData name="박진화" userId="92eb4c3a-09df-4608-b9c9-92d107705cdc" providerId="ADAL" clId="{50924B3C-C72E-4D03-BCB6-99F29B9D924A}" dt="2021-11-21T05:18:31.381" v="4" actId="478"/>
          <ac:graphicFrameMkLst>
            <pc:docMk/>
            <pc:sldMk cId="1473413114" sldId="569"/>
            <ac:graphicFrameMk id="3" creationId="{00000000-0000-0000-0000-000000000000}"/>
          </ac:graphicFrameMkLst>
        </pc:graphicFrameChg>
        <pc:graphicFrameChg chg="modGraphic">
          <ac:chgData name="박진화" userId="92eb4c3a-09df-4608-b9c9-92d107705cdc" providerId="ADAL" clId="{50924B3C-C72E-4D03-BCB6-99F29B9D924A}" dt="2021-11-21T05:18:38.562" v="6" actId="14100"/>
          <ac:graphicFrameMkLst>
            <pc:docMk/>
            <pc:sldMk cId="1473413114" sldId="569"/>
            <ac:graphicFrameMk id="4" creationId="{00000000-0000-0000-0000-000000000000}"/>
          </ac:graphicFrameMkLst>
        </pc:graphicFrameChg>
        <pc:graphicFrameChg chg="mod modGraphic">
          <ac:chgData name="박진화" userId="92eb4c3a-09df-4608-b9c9-92d107705cdc" providerId="ADAL" clId="{50924B3C-C72E-4D03-BCB6-99F29B9D924A}" dt="2021-11-21T05:18:43.907" v="7" actId="1076"/>
          <ac:graphicFrameMkLst>
            <pc:docMk/>
            <pc:sldMk cId="1473413114" sldId="569"/>
            <ac:graphicFrameMk id="5" creationId="{00000000-0000-0000-0000-000000000000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59FB78-2087-48E7-A297-280F5EFD347C}" type="datetimeFigureOut">
              <a:rPr lang="ko-KR" altLang="en-US" smtClean="0"/>
              <a:t>2024-11-14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C0B801-CA2D-4ADF-9C19-FA669F2B45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50943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3464" indent="-283464" algn="l" rtl="0" eaLnBrk="1" fontAlgn="base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ts val="2000"/>
              <a:buFont typeface="Arial"/>
              <a:buChar char="§"/>
            </a:pPr>
            <a:r>
              <a:rPr lang="en-US" altLang="ko-KR" sz="1200" b="0" i="0" u="none" strike="noStrike" kern="1200" dirty="0">
                <a:solidFill>
                  <a:srgbClr val="000000"/>
                </a:solidFill>
                <a:effectLst/>
                <a:latin typeface="HY울릉도M"/>
                <a:ea typeface="HY울릉도M"/>
              </a:rPr>
              <a:t>1999</a:t>
            </a:r>
            <a:r>
              <a:rPr lang="ko-KR" altLang="ko-KR" sz="1200" b="0" i="0" u="none" strike="noStrike" kern="1200" dirty="0">
                <a:solidFill>
                  <a:srgbClr val="000000"/>
                </a:solidFill>
                <a:effectLst/>
                <a:latin typeface="HY울릉도M"/>
                <a:ea typeface="HY울릉도M"/>
              </a:rPr>
              <a:t>년 </a:t>
            </a:r>
            <a:r>
              <a:rPr lang="en-US" altLang="ko-KR" sz="1200" b="0" i="0" u="none" strike="noStrike" kern="1200" dirty="0">
                <a:solidFill>
                  <a:srgbClr val="000000"/>
                </a:solidFill>
                <a:effectLst/>
                <a:latin typeface="HY울릉도M"/>
                <a:ea typeface="HY울릉도M"/>
              </a:rPr>
              <a:t>9</a:t>
            </a:r>
            <a:r>
              <a:rPr lang="ko-KR" altLang="ko-KR" sz="1200" b="0" i="0" u="none" strike="noStrike" kern="1200" dirty="0">
                <a:solidFill>
                  <a:srgbClr val="000000"/>
                </a:solidFill>
                <a:effectLst/>
                <a:latin typeface="HY울릉도M"/>
                <a:ea typeface="HY울릉도M"/>
              </a:rPr>
              <a:t>월 </a:t>
            </a:r>
            <a:r>
              <a:rPr lang="en-US" altLang="ko-KR" sz="1200" b="0" i="0" u="none" strike="noStrike" kern="1200" dirty="0">
                <a:solidFill>
                  <a:srgbClr val="000000"/>
                </a:solidFill>
                <a:effectLst/>
                <a:latin typeface="HY울릉도M"/>
                <a:ea typeface="HY울릉도M"/>
              </a:rPr>
              <a:t>7</a:t>
            </a:r>
            <a:r>
              <a:rPr lang="ko-KR" altLang="ko-KR" sz="1200" b="0" i="0" u="none" strike="noStrike" kern="1200" dirty="0">
                <a:solidFill>
                  <a:srgbClr val="000000"/>
                </a:solidFill>
                <a:effectLst/>
                <a:latin typeface="HY울릉도M"/>
                <a:ea typeface="HY울릉도M"/>
              </a:rPr>
              <a:t>일 국회 본회의 의결을 거쳐 </a:t>
            </a:r>
            <a:r>
              <a:rPr lang="ko-KR" altLang="ko-KR" sz="1200" b="0" i="0" u="none" strike="noStrike" kern="1200" dirty="0" err="1">
                <a:solidFill>
                  <a:srgbClr val="000000"/>
                </a:solidFill>
                <a:effectLst/>
                <a:latin typeface="HY울릉도M"/>
                <a:ea typeface="HY울릉도M"/>
              </a:rPr>
              <a:t>국민기초생활보장법</a:t>
            </a:r>
            <a:r>
              <a:rPr lang="ko-KR" altLang="ko-KR" sz="1200" b="0" i="0" u="none" strike="noStrike" kern="1200" dirty="0">
                <a:solidFill>
                  <a:srgbClr val="000000"/>
                </a:solidFill>
                <a:effectLst/>
                <a:latin typeface="HY울릉도M"/>
                <a:ea typeface="HY울릉도M"/>
              </a:rPr>
              <a:t> 제정</a:t>
            </a:r>
            <a:endParaRPr lang="ko-KR" altLang="ko-KR" sz="1200" b="0" i="0" u="none" strike="noStrike" dirty="0">
              <a:effectLst/>
              <a:latin typeface="Arial"/>
            </a:endParaRPr>
          </a:p>
          <a:p>
            <a:pPr marL="283464" marR="0" indent="-283464" algn="l" rtl="0" eaLnBrk="1" fontAlgn="base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200" b="0" i="0" u="none" strike="noStrike" kern="1200" dirty="0">
                <a:solidFill>
                  <a:srgbClr val="000000"/>
                </a:solidFill>
                <a:effectLst/>
                <a:latin typeface="HY울릉도M"/>
                <a:ea typeface="HY울릉도M"/>
              </a:rPr>
              <a:t>1999</a:t>
            </a:r>
            <a:r>
              <a:rPr lang="ko-KR" altLang="ko-KR" sz="1200" b="0" i="0" u="none" strike="noStrike" kern="1200" dirty="0">
                <a:solidFill>
                  <a:srgbClr val="000000"/>
                </a:solidFill>
                <a:effectLst/>
                <a:latin typeface="HY울릉도M"/>
                <a:ea typeface="HY울릉도M"/>
              </a:rPr>
              <a:t>년 </a:t>
            </a:r>
            <a:r>
              <a:rPr lang="en-US" altLang="ko-KR" sz="1200" b="0" i="0" u="none" strike="noStrike" kern="1200" dirty="0">
                <a:solidFill>
                  <a:srgbClr val="000000"/>
                </a:solidFill>
                <a:effectLst/>
                <a:latin typeface="HY울릉도M"/>
                <a:ea typeface="HY울릉도M"/>
              </a:rPr>
              <a:t>9</a:t>
            </a:r>
            <a:r>
              <a:rPr lang="ko-KR" altLang="ko-KR" sz="1200" b="0" i="0" u="none" strike="noStrike" kern="1200" dirty="0">
                <a:solidFill>
                  <a:srgbClr val="000000"/>
                </a:solidFill>
                <a:effectLst/>
                <a:latin typeface="HY울릉도M"/>
                <a:ea typeface="HY울릉도M"/>
              </a:rPr>
              <a:t>월부터는 별정직 사회복지전문요원을 일반직 행정직군 사회복지직렬의 사회복지전담공무원으로 전환하고</a:t>
            </a:r>
            <a:r>
              <a:rPr lang="en-US" altLang="ko-KR" sz="1200" b="0" i="0" u="none" strike="noStrike" kern="1200" dirty="0">
                <a:solidFill>
                  <a:srgbClr val="000000"/>
                </a:solidFill>
                <a:effectLst/>
                <a:latin typeface="HY울릉도M"/>
                <a:ea typeface="HY울릉도M"/>
              </a:rPr>
              <a:t>,</a:t>
            </a:r>
            <a:r>
              <a:rPr lang="en-US" altLang="ko-KR" sz="1200" b="0" i="0" u="none" strike="noStrike" kern="1200" baseline="0" dirty="0">
                <a:solidFill>
                  <a:srgbClr val="000000"/>
                </a:solidFill>
                <a:effectLst/>
                <a:latin typeface="HY울릉도M"/>
                <a:ea typeface="HY울릉도M"/>
              </a:rPr>
              <a:t> </a:t>
            </a:r>
            <a:r>
              <a:rPr lang="ko-KR" altLang="ko-KR" sz="1200" b="0" i="0" u="none" strike="noStrike" kern="1200" baseline="0" dirty="0">
                <a:solidFill>
                  <a:srgbClr val="000000"/>
                </a:solidFill>
                <a:effectLst/>
                <a:latin typeface="HY울릉도M"/>
                <a:ea typeface="HY울릉도M"/>
              </a:rPr>
              <a:t>자산조사 등을 준비함</a:t>
            </a:r>
            <a:endParaRPr lang="ko-KR" altLang="ko-KR" sz="1200" b="0" i="0" u="none" strike="noStrike" dirty="0">
              <a:effectLst/>
              <a:latin typeface="Arial"/>
            </a:endParaRPr>
          </a:p>
          <a:p>
            <a:pPr marL="283464" indent="-283464" algn="l" rtl="0" eaLnBrk="1" fontAlgn="base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200" b="0" i="0" u="none" strike="noStrike" kern="1200" dirty="0">
                <a:solidFill>
                  <a:srgbClr val="000000"/>
                </a:solidFill>
                <a:effectLst/>
                <a:latin typeface="HY울릉도M"/>
                <a:ea typeface="HY울릉도M"/>
              </a:rPr>
              <a:t>2000</a:t>
            </a:r>
            <a:r>
              <a:rPr lang="ko-KR" altLang="ko-KR" sz="1200" b="0" i="0" u="none" strike="noStrike" kern="1200" dirty="0">
                <a:solidFill>
                  <a:srgbClr val="000000"/>
                </a:solidFill>
                <a:effectLst/>
                <a:latin typeface="HY울릉도M"/>
                <a:ea typeface="HY울릉도M"/>
              </a:rPr>
              <a:t>년 </a:t>
            </a:r>
            <a:r>
              <a:rPr lang="en-US" altLang="ko-KR" sz="1200" b="0" i="0" u="none" strike="noStrike" kern="1200" dirty="0">
                <a:solidFill>
                  <a:srgbClr val="000000"/>
                </a:solidFill>
                <a:effectLst/>
                <a:latin typeface="HY울릉도M"/>
                <a:ea typeface="HY울릉도M"/>
              </a:rPr>
              <a:t>10</a:t>
            </a:r>
            <a:r>
              <a:rPr lang="ko-KR" altLang="ko-KR" sz="1200" b="0" i="0" u="none" strike="noStrike" kern="1200" dirty="0">
                <a:solidFill>
                  <a:srgbClr val="000000"/>
                </a:solidFill>
                <a:effectLst/>
                <a:latin typeface="HY울릉도M"/>
                <a:ea typeface="HY울릉도M"/>
              </a:rPr>
              <a:t>월 </a:t>
            </a:r>
            <a:r>
              <a:rPr lang="en-US" altLang="ko-KR" sz="1200" b="0" i="0" u="none" strike="noStrike" kern="1200" dirty="0">
                <a:solidFill>
                  <a:srgbClr val="000000"/>
                </a:solidFill>
                <a:effectLst/>
                <a:latin typeface="HY울릉도M"/>
                <a:ea typeface="HY울릉도M"/>
              </a:rPr>
              <a:t>1</a:t>
            </a:r>
            <a:r>
              <a:rPr lang="ko-KR" altLang="ko-KR" sz="1200" b="0" i="0" u="none" strike="noStrike" kern="1200" dirty="0">
                <a:solidFill>
                  <a:srgbClr val="000000"/>
                </a:solidFill>
                <a:effectLst/>
                <a:latin typeface="HY울릉도M"/>
                <a:ea typeface="HY울릉도M"/>
              </a:rPr>
              <a:t>일부터 </a:t>
            </a:r>
            <a:r>
              <a:rPr lang="ko-KR" altLang="ko-KR" sz="1200" b="0" i="0" u="none" strike="noStrike" kern="1200" dirty="0" err="1">
                <a:solidFill>
                  <a:srgbClr val="000000"/>
                </a:solidFill>
                <a:effectLst/>
                <a:latin typeface="HY울릉도M"/>
                <a:ea typeface="HY울릉도M"/>
              </a:rPr>
              <a:t>국민기초생활보장법</a:t>
            </a:r>
            <a:r>
              <a:rPr lang="ko-KR" altLang="ko-KR" sz="1200" b="0" i="0" u="none" strike="noStrike" kern="1200" dirty="0">
                <a:solidFill>
                  <a:srgbClr val="000000"/>
                </a:solidFill>
                <a:effectLst/>
                <a:latin typeface="HY울릉도M"/>
                <a:ea typeface="HY울릉도M"/>
              </a:rPr>
              <a:t> 시행</a:t>
            </a:r>
            <a:r>
              <a:rPr lang="en-US" altLang="ko-KR" sz="1200" b="0" i="0" u="none" strike="noStrike" kern="1200" dirty="0">
                <a:solidFill>
                  <a:srgbClr val="000000"/>
                </a:solidFill>
                <a:effectLst/>
                <a:latin typeface="HY울릉도M"/>
                <a:ea typeface="HY울릉도M"/>
              </a:rPr>
              <a:t>(</a:t>
            </a:r>
            <a:r>
              <a:rPr lang="ko-KR" altLang="ko-KR" sz="1200" b="0" i="0" u="none" strike="noStrike" kern="1200" dirty="0">
                <a:solidFill>
                  <a:srgbClr val="000000"/>
                </a:solidFill>
                <a:effectLst/>
                <a:latin typeface="HY울릉도M"/>
                <a:ea typeface="HY울릉도M"/>
              </a:rPr>
              <a:t>생활보호법 폐지</a:t>
            </a:r>
            <a:r>
              <a:rPr lang="en-US" altLang="ko-KR" sz="1200" b="0" i="0" u="none" strike="noStrike" kern="1200" dirty="0">
                <a:solidFill>
                  <a:srgbClr val="000000"/>
                </a:solidFill>
                <a:effectLst/>
                <a:latin typeface="HY울릉도M"/>
                <a:ea typeface="HY울릉도M"/>
              </a:rPr>
              <a:t>) </a:t>
            </a:r>
            <a:r>
              <a:rPr lang="ko-KR" altLang="ko-KR" sz="1200" b="0" i="0" u="none" strike="noStrike" kern="1200" dirty="0">
                <a:solidFill>
                  <a:srgbClr val="000000"/>
                </a:solidFill>
                <a:effectLst/>
                <a:latin typeface="HY울릉도M"/>
                <a:ea typeface="HY울릉도M"/>
              </a:rPr>
              <a:t> </a:t>
            </a:r>
            <a:endParaRPr lang="ko-KR" altLang="ko-KR" sz="1200" b="0" i="0" u="none" strike="noStrike" dirty="0">
              <a:effectLst/>
              <a:latin typeface="Arial"/>
            </a:endParaRPr>
          </a:p>
          <a:p>
            <a:pPr marL="283464" indent="-283464" algn="l" rtl="0" eaLnBrk="1" fontAlgn="base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200" b="0" i="0" u="none" strike="noStrike" kern="1200" dirty="0">
                <a:solidFill>
                  <a:srgbClr val="000000"/>
                </a:solidFill>
                <a:effectLst/>
                <a:latin typeface="HY울릉도M"/>
                <a:ea typeface="HY울릉도M"/>
              </a:rPr>
              <a:t>2003</a:t>
            </a:r>
            <a:r>
              <a:rPr lang="ko-KR" altLang="ko-KR" sz="1200" b="0" i="0" u="none" strike="noStrike" kern="1200" dirty="0">
                <a:solidFill>
                  <a:srgbClr val="000000"/>
                </a:solidFill>
                <a:effectLst/>
                <a:latin typeface="HY울릉도M"/>
                <a:ea typeface="HY울릉도M"/>
              </a:rPr>
              <a:t>년 </a:t>
            </a:r>
            <a:r>
              <a:rPr lang="en-US" altLang="ko-KR" sz="1200" b="0" i="0" u="none" strike="noStrike" kern="1200" dirty="0">
                <a:solidFill>
                  <a:srgbClr val="000000"/>
                </a:solidFill>
                <a:effectLst/>
                <a:latin typeface="HY울릉도M"/>
                <a:ea typeface="HY울릉도M"/>
              </a:rPr>
              <a:t>1</a:t>
            </a:r>
            <a:r>
              <a:rPr lang="ko-KR" altLang="ko-KR" sz="1200" b="0" i="0" u="none" strike="noStrike" kern="1200" dirty="0">
                <a:solidFill>
                  <a:srgbClr val="000000"/>
                </a:solidFill>
                <a:effectLst/>
                <a:latin typeface="HY울릉도M"/>
                <a:ea typeface="HY울릉도M"/>
              </a:rPr>
              <a:t>월 재산의 </a:t>
            </a:r>
            <a:r>
              <a:rPr lang="ko-KR" altLang="ko-KR" sz="1200" b="0" i="0" u="none" strike="noStrike" kern="1200" dirty="0" err="1">
                <a:solidFill>
                  <a:srgbClr val="000000"/>
                </a:solidFill>
                <a:effectLst/>
                <a:latin typeface="HY울릉도M"/>
                <a:ea typeface="HY울릉도M"/>
              </a:rPr>
              <a:t>소득환산제</a:t>
            </a:r>
            <a:r>
              <a:rPr lang="ko-KR" altLang="ko-KR" sz="1200" b="0" i="0" u="none" strike="noStrike" kern="1200" dirty="0">
                <a:solidFill>
                  <a:srgbClr val="000000"/>
                </a:solidFill>
                <a:effectLst/>
                <a:latin typeface="HY울릉도M"/>
                <a:ea typeface="HY울릉도M"/>
              </a:rPr>
              <a:t> 시행</a:t>
            </a:r>
            <a:endParaRPr lang="ko-KR" altLang="ko-KR" sz="1200" b="0" i="0" u="none" strike="noStrike" dirty="0">
              <a:effectLst/>
              <a:latin typeface="Arial"/>
            </a:endParaRPr>
          </a:p>
          <a:p>
            <a:pPr marL="283464" indent="-283464" algn="l" rtl="0" eaLnBrk="1" fontAlgn="base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200" b="0" i="0" u="none" strike="noStrike" kern="1200" dirty="0">
                <a:solidFill>
                  <a:srgbClr val="000000"/>
                </a:solidFill>
                <a:effectLst/>
                <a:latin typeface="HY울릉도M"/>
                <a:ea typeface="HY울릉도M"/>
              </a:rPr>
              <a:t>2005</a:t>
            </a:r>
            <a:r>
              <a:rPr lang="ko-KR" altLang="ko-KR" sz="1200" b="0" i="0" u="none" strike="noStrike" kern="1200" dirty="0">
                <a:solidFill>
                  <a:srgbClr val="000000"/>
                </a:solidFill>
                <a:effectLst/>
                <a:latin typeface="HY울릉도M"/>
                <a:ea typeface="HY울릉도M"/>
              </a:rPr>
              <a:t>년 </a:t>
            </a:r>
            <a:r>
              <a:rPr lang="en-US" altLang="ko-KR" sz="1200" b="0" i="0" u="none" strike="noStrike" kern="1200" dirty="0">
                <a:solidFill>
                  <a:srgbClr val="000000"/>
                </a:solidFill>
                <a:effectLst/>
                <a:latin typeface="HY울릉도M"/>
                <a:ea typeface="HY울릉도M"/>
              </a:rPr>
              <a:t>12</a:t>
            </a:r>
            <a:r>
              <a:rPr lang="ko-KR" altLang="ko-KR" sz="1200" b="0" i="0" u="none" strike="noStrike" kern="1200" dirty="0">
                <a:solidFill>
                  <a:srgbClr val="000000"/>
                </a:solidFill>
                <a:effectLst/>
                <a:latin typeface="HY울릉도M"/>
                <a:ea typeface="HY울릉도M"/>
              </a:rPr>
              <a:t>월부양의무자 범위 축소</a:t>
            </a:r>
            <a:r>
              <a:rPr lang="en-US" altLang="ko-KR" sz="1200" b="0" i="0" u="none" strike="noStrike" kern="1200" dirty="0">
                <a:solidFill>
                  <a:srgbClr val="000000"/>
                </a:solidFill>
                <a:effectLst/>
                <a:latin typeface="HY울릉도M"/>
                <a:ea typeface="HY울릉도M"/>
              </a:rPr>
              <a:t>(</a:t>
            </a:r>
            <a:r>
              <a:rPr lang="ko-KR" altLang="ko-KR" sz="1200" b="0" i="0" u="none" strike="noStrike" kern="1200" dirty="0">
                <a:solidFill>
                  <a:srgbClr val="000000"/>
                </a:solidFill>
                <a:effectLst/>
                <a:latin typeface="HY울릉도M"/>
                <a:ea typeface="HY울릉도M"/>
              </a:rPr>
              <a:t>수급자의 직계혈족 및 그 배우자로 축소</a:t>
            </a:r>
            <a:r>
              <a:rPr lang="en-US" altLang="ko-KR" sz="1200" b="0" i="0" u="none" strike="noStrike" kern="1200" dirty="0">
                <a:solidFill>
                  <a:srgbClr val="000000"/>
                </a:solidFill>
                <a:effectLst/>
                <a:latin typeface="HY울릉도M"/>
                <a:ea typeface="HY울릉도M"/>
              </a:rPr>
              <a:t>)</a:t>
            </a:r>
            <a:endParaRPr lang="ko-KR" altLang="ko-KR" sz="1200" b="0" i="0" u="none" strike="noStrike" dirty="0">
              <a:effectLst/>
              <a:latin typeface="Arial"/>
            </a:endParaRPr>
          </a:p>
          <a:p>
            <a:pPr marL="283464" indent="-283464" algn="l" rtl="0" eaLnBrk="1" fontAlgn="base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200" b="0" i="0" u="none" strike="noStrike" kern="1200" dirty="0">
                <a:solidFill>
                  <a:srgbClr val="000000"/>
                </a:solidFill>
                <a:effectLst/>
                <a:latin typeface="HY울릉도M"/>
                <a:ea typeface="HY울릉도M"/>
              </a:rPr>
              <a:t>2015</a:t>
            </a:r>
            <a:r>
              <a:rPr lang="ko-KR" altLang="ko-KR" sz="1200" b="0" i="0" u="none" strike="noStrike" kern="1200" dirty="0">
                <a:solidFill>
                  <a:srgbClr val="000000"/>
                </a:solidFill>
                <a:effectLst/>
                <a:latin typeface="HY울릉도M"/>
                <a:ea typeface="HY울릉도M"/>
              </a:rPr>
              <a:t>년 </a:t>
            </a:r>
            <a:r>
              <a:rPr lang="en-US" altLang="ko-KR" sz="1200" b="0" i="0" u="none" strike="noStrike" kern="1200" dirty="0">
                <a:solidFill>
                  <a:srgbClr val="000000"/>
                </a:solidFill>
                <a:effectLst/>
                <a:latin typeface="HY울릉도M"/>
                <a:ea typeface="HY울릉도M"/>
              </a:rPr>
              <a:t>12</a:t>
            </a:r>
            <a:r>
              <a:rPr lang="ko-KR" altLang="ko-KR" sz="1200" b="0" i="0" u="none" strike="noStrike" kern="1200" dirty="0">
                <a:solidFill>
                  <a:srgbClr val="000000"/>
                </a:solidFill>
                <a:effectLst/>
                <a:latin typeface="HY울릉도M"/>
                <a:ea typeface="HY울릉도M"/>
              </a:rPr>
              <a:t>월 통합급여체계를 개별급여체계로 전환함</a:t>
            </a:r>
            <a:r>
              <a:rPr lang="en-US" altLang="ko-KR" sz="1200" b="0" i="0" u="none" strike="noStrike" kern="1200" dirty="0">
                <a:solidFill>
                  <a:srgbClr val="000000"/>
                </a:solidFill>
                <a:effectLst/>
                <a:latin typeface="HY울릉도M"/>
                <a:ea typeface="HY울릉도M"/>
              </a:rPr>
              <a:t>(2015</a:t>
            </a:r>
            <a:r>
              <a:rPr lang="ko-KR" altLang="ko-KR" sz="1200" b="0" i="0" u="none" strike="noStrike" kern="1200" dirty="0">
                <a:solidFill>
                  <a:srgbClr val="000000"/>
                </a:solidFill>
                <a:effectLst/>
                <a:latin typeface="HY울릉도M"/>
                <a:ea typeface="HY울릉도M"/>
              </a:rPr>
              <a:t>년 </a:t>
            </a:r>
            <a:r>
              <a:rPr lang="en-US" altLang="ko-KR" sz="1200" b="0" i="0" u="none" strike="noStrike" kern="1200" dirty="0">
                <a:solidFill>
                  <a:srgbClr val="000000"/>
                </a:solidFill>
                <a:effectLst/>
                <a:latin typeface="HY울릉도M"/>
                <a:ea typeface="HY울릉도M"/>
              </a:rPr>
              <a:t>7</a:t>
            </a:r>
            <a:r>
              <a:rPr lang="ko-KR" altLang="ko-KR" sz="1200" b="0" i="0" u="none" strike="noStrike" kern="1200" dirty="0">
                <a:solidFill>
                  <a:srgbClr val="000000"/>
                </a:solidFill>
                <a:effectLst/>
                <a:latin typeface="HY울릉도M"/>
                <a:ea typeface="HY울릉도M"/>
              </a:rPr>
              <a:t>월 </a:t>
            </a:r>
            <a:r>
              <a:rPr lang="en-US" altLang="ko-KR" sz="1200" b="0" i="0" u="none" strike="noStrike" kern="1200" dirty="0">
                <a:solidFill>
                  <a:srgbClr val="000000"/>
                </a:solidFill>
                <a:effectLst/>
                <a:latin typeface="HY울릉도M"/>
                <a:ea typeface="HY울릉도M"/>
              </a:rPr>
              <a:t>1</a:t>
            </a:r>
            <a:r>
              <a:rPr lang="ko-KR" altLang="ko-KR" sz="1200" b="0" i="0" u="none" strike="noStrike" kern="1200" dirty="0">
                <a:solidFill>
                  <a:srgbClr val="000000"/>
                </a:solidFill>
                <a:effectLst/>
                <a:latin typeface="HY울릉도M"/>
                <a:ea typeface="HY울릉도M"/>
              </a:rPr>
              <a:t>일 시행</a:t>
            </a:r>
            <a:r>
              <a:rPr lang="en-US" altLang="ko-KR" sz="1200" b="0" i="0" u="none" strike="noStrike" kern="1200" dirty="0">
                <a:solidFill>
                  <a:srgbClr val="000000"/>
                </a:solidFill>
                <a:effectLst/>
                <a:latin typeface="HY울릉도M"/>
                <a:ea typeface="HY울릉도M"/>
              </a:rPr>
              <a:t>)</a:t>
            </a:r>
            <a:r>
              <a:rPr lang="ko-KR" altLang="ko-KR" sz="1200" b="0" i="0" u="none" strike="noStrike" kern="1200" dirty="0" err="1">
                <a:solidFill>
                  <a:srgbClr val="000000"/>
                </a:solidFill>
                <a:effectLst/>
                <a:latin typeface="HY울릉도M"/>
                <a:ea typeface="HY울릉도M"/>
              </a:rPr>
              <a:t>소득인정액</a:t>
            </a:r>
            <a:r>
              <a:rPr lang="ko-KR" altLang="ko-KR" sz="1200" b="0" i="0" u="none" strike="noStrike" kern="1200" dirty="0">
                <a:solidFill>
                  <a:srgbClr val="000000"/>
                </a:solidFill>
                <a:effectLst/>
                <a:latin typeface="HY울릉도M"/>
                <a:ea typeface="HY울릉도M"/>
              </a:rPr>
              <a:t> 선정기준 변경</a:t>
            </a:r>
            <a:r>
              <a:rPr lang="en-US" altLang="ko-KR" sz="1200" b="0" i="0" u="none" strike="noStrike" kern="1200" dirty="0">
                <a:solidFill>
                  <a:srgbClr val="000000"/>
                </a:solidFill>
                <a:effectLst/>
                <a:latin typeface="HY울릉도M"/>
                <a:ea typeface="HY울릉도M"/>
              </a:rPr>
              <a:t>(</a:t>
            </a:r>
            <a:r>
              <a:rPr lang="ko-KR" altLang="ko-KR" sz="1200" b="0" i="0" u="none" strike="noStrike" kern="1200" dirty="0">
                <a:solidFill>
                  <a:srgbClr val="000000"/>
                </a:solidFill>
                <a:effectLst/>
                <a:latin typeface="HY울릉도M"/>
                <a:ea typeface="HY울릉도M"/>
              </a:rPr>
              <a:t>최저생계비→기준 중위소득</a:t>
            </a:r>
            <a:r>
              <a:rPr lang="en-US" altLang="ko-KR" sz="1200" b="0" i="0" u="none" strike="noStrike" kern="1200" dirty="0">
                <a:solidFill>
                  <a:srgbClr val="000000"/>
                </a:solidFill>
                <a:effectLst/>
                <a:latin typeface="HY울릉도M"/>
                <a:ea typeface="HY울릉도M"/>
              </a:rPr>
              <a:t>)</a:t>
            </a:r>
            <a:endParaRPr lang="ko-KR" altLang="ko-KR" sz="1200" b="0" i="0" u="none" strike="noStrike" dirty="0">
              <a:effectLst/>
              <a:latin typeface="Arial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C0B801-CA2D-4ADF-9C19-FA669F2B453D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93699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DEEF3-857F-4874-AA1A-D8F1248EFAA6}" type="datetimeFigureOut">
              <a:rPr lang="ko-KR" altLang="en-US" smtClean="0"/>
              <a:pPr/>
              <a:t>2024-11-14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162EF-5B9A-40A8-9004-AB379164393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DEEF3-857F-4874-AA1A-D8F1248EFAA6}" type="datetimeFigureOut">
              <a:rPr lang="ko-KR" altLang="en-US" smtClean="0"/>
              <a:pPr/>
              <a:t>2024-11-14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162EF-5B9A-40A8-9004-AB379164393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DEEF3-857F-4874-AA1A-D8F1248EFAA6}" type="datetimeFigureOut">
              <a:rPr lang="ko-KR" altLang="en-US" smtClean="0"/>
              <a:pPr/>
              <a:t>2024-11-14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162EF-5B9A-40A8-9004-AB379164393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DEEF3-857F-4874-AA1A-D8F1248EFAA6}" type="datetimeFigureOut">
              <a:rPr lang="ko-KR" altLang="en-US" smtClean="0"/>
              <a:pPr/>
              <a:t>2024-11-14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162EF-5B9A-40A8-9004-AB379164393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DEEF3-857F-4874-AA1A-D8F1248EFAA6}" type="datetimeFigureOut">
              <a:rPr lang="ko-KR" altLang="en-US" smtClean="0"/>
              <a:pPr/>
              <a:t>2024-11-14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162EF-5B9A-40A8-9004-AB379164393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DEEF3-857F-4874-AA1A-D8F1248EFAA6}" type="datetimeFigureOut">
              <a:rPr lang="ko-KR" altLang="en-US" smtClean="0"/>
              <a:pPr/>
              <a:t>2024-11-14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162EF-5B9A-40A8-9004-AB379164393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DEEF3-857F-4874-AA1A-D8F1248EFAA6}" type="datetimeFigureOut">
              <a:rPr lang="ko-KR" altLang="en-US" smtClean="0"/>
              <a:pPr/>
              <a:t>2024-11-14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162EF-5B9A-40A8-9004-AB379164393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DEEF3-857F-4874-AA1A-D8F1248EFAA6}" type="datetimeFigureOut">
              <a:rPr lang="ko-KR" altLang="en-US" smtClean="0"/>
              <a:pPr/>
              <a:t>2024-11-14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162EF-5B9A-40A8-9004-AB379164393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DEEF3-857F-4874-AA1A-D8F1248EFAA6}" type="datetimeFigureOut">
              <a:rPr lang="ko-KR" altLang="en-US" smtClean="0"/>
              <a:pPr/>
              <a:t>2024-11-14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162EF-5B9A-40A8-9004-AB379164393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DEEF3-857F-4874-AA1A-D8F1248EFAA6}" type="datetimeFigureOut">
              <a:rPr lang="ko-KR" altLang="en-US" smtClean="0"/>
              <a:pPr/>
              <a:t>2024-11-14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162EF-5B9A-40A8-9004-AB379164393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DEEF3-857F-4874-AA1A-D8F1248EFAA6}" type="datetimeFigureOut">
              <a:rPr lang="ko-KR" altLang="en-US" smtClean="0"/>
              <a:pPr/>
              <a:t>2024-11-14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162EF-5B9A-40A8-9004-AB379164393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2024-11-14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93386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2024-11-14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97060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2024-11-14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41070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2024-11-14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99856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2024-11-14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06733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2024-11-14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092748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2024-11-14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074776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2024-11-14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477578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2024-11-14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08191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2024-11-14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471833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2024-11-14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1732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6DEEF3-857F-4874-AA1A-D8F1248EFAA6}" type="datetimeFigureOut">
              <a:rPr lang="ko-KR" altLang="en-US" smtClean="0"/>
              <a:pPr/>
              <a:t>2024-11-14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F162EF-5B9A-40A8-9004-AB379164393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2024-11-14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2939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1052872" y="1400268"/>
            <a:ext cx="931665" cy="400110"/>
          </a:xfrm>
        </p:spPr>
        <p:txBody>
          <a:bodyPr wrap="none">
            <a:spAutoFit/>
          </a:bodyPr>
          <a:lstStyle/>
          <a:p>
            <a:r>
              <a:rPr lang="ko-KR" altLang="en-US" sz="20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제</a:t>
            </a:r>
            <a:r>
              <a:rPr lang="en-US" altLang="ko-KR" sz="20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12</a:t>
            </a:r>
            <a:r>
              <a:rPr lang="ko-KR" altLang="en-US" sz="20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장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107504" y="1800378"/>
            <a:ext cx="326243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2400" dirty="0">
                <a:solidFill>
                  <a:srgbClr val="FFFF00"/>
                </a:solidFill>
                <a:ea typeface="나눔스퀘어 ExtraBold" panose="020B0600000101010101" pitchFamily="50" charset="-127"/>
              </a:rPr>
              <a:t>국민기초생활보장제도</a:t>
            </a:r>
            <a:endParaRPr lang="ko-KR" altLang="en-US" sz="2400" dirty="0">
              <a:solidFill>
                <a:srgbClr val="FFFF00"/>
              </a:solidFill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6818127" y="260648"/>
            <a:ext cx="193033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spcBef>
                <a:spcPts val="200"/>
              </a:spcBef>
            </a:pPr>
            <a:r>
              <a:rPr lang="en-US" altLang="ko-KR" sz="1200" dirty="0">
                <a:solidFill>
                  <a:prstClr val="white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Ⅰ</a:t>
            </a:r>
            <a:r>
              <a:rPr lang="ko-KR" altLang="en-US" sz="1200" dirty="0">
                <a:solidFill>
                  <a:prstClr val="white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제 </a:t>
            </a:r>
            <a:r>
              <a:rPr lang="en-US" altLang="ko-KR" sz="1200" dirty="0">
                <a:solidFill>
                  <a:prstClr val="white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1</a:t>
            </a:r>
            <a:r>
              <a:rPr lang="ko-KR" altLang="en-US" sz="1200" dirty="0">
                <a:solidFill>
                  <a:prstClr val="white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부 사회보장의 총론</a:t>
            </a:r>
            <a:r>
              <a:rPr lang="en-US" altLang="ko-KR" sz="1200" dirty="0">
                <a:solidFill>
                  <a:prstClr val="white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Ⅰ</a:t>
            </a:r>
            <a:endParaRPr lang="ko-KR" altLang="en-US" sz="1200" dirty="0">
              <a:solidFill>
                <a:prstClr val="white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2339752" y="3284984"/>
            <a:ext cx="6624736" cy="29238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dirty="0">
                <a:solidFill>
                  <a:srgbClr val="7030A0"/>
                </a:solidFill>
                <a:latin typeface="HY울릉도M"/>
                <a:ea typeface="HY울릉도M"/>
              </a:rPr>
              <a:t>                        ▲ 수업목표</a:t>
            </a:r>
            <a:endParaRPr lang="en-US" altLang="ko-KR" sz="2000" dirty="0">
              <a:solidFill>
                <a:srgbClr val="7030A0"/>
              </a:solidFill>
              <a:latin typeface="HY울릉도M"/>
              <a:ea typeface="HY울릉도M"/>
            </a:endParaRPr>
          </a:p>
          <a:p>
            <a:endParaRPr lang="en-US" altLang="ko-KR" sz="2000" dirty="0">
              <a:solidFill>
                <a:srgbClr val="7030A0"/>
              </a:solidFill>
              <a:latin typeface="HY울릉도M"/>
              <a:ea typeface="HY울릉도M"/>
            </a:endParaRPr>
          </a:p>
          <a:p>
            <a:pPr marL="342900" indent="180000"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rgbClr val="7030A0"/>
                </a:solidFill>
              </a:rPr>
              <a:t>국민기초생활보장제도의 의의와 목적을 설명할 수 있다</a:t>
            </a:r>
            <a:r>
              <a:rPr lang="en-US" altLang="ko-KR" sz="1600" dirty="0">
                <a:solidFill>
                  <a:srgbClr val="7030A0"/>
                </a:solidFill>
              </a:rPr>
              <a:t>.</a:t>
            </a:r>
          </a:p>
          <a:p>
            <a:pPr marL="342900" indent="180000">
              <a:buFont typeface="Arial" panose="020B0604020202020204" pitchFamily="34" charset="0"/>
              <a:buChar char="•"/>
            </a:pPr>
            <a:endParaRPr lang="en-US" altLang="ko-KR" sz="1600" dirty="0">
              <a:solidFill>
                <a:srgbClr val="7030A0"/>
              </a:solidFill>
            </a:endParaRPr>
          </a:p>
          <a:p>
            <a:pPr marL="342900" indent="180000"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rgbClr val="7030A0"/>
                </a:solidFill>
              </a:rPr>
              <a:t>국민기초생활보장제도의 도입배경 및 발전과정을 설명할 수 있다</a:t>
            </a:r>
            <a:r>
              <a:rPr lang="en-US" altLang="ko-KR" sz="1600" dirty="0">
                <a:solidFill>
                  <a:srgbClr val="7030A0"/>
                </a:solidFill>
              </a:rPr>
              <a:t>.</a:t>
            </a:r>
          </a:p>
          <a:p>
            <a:pPr marL="342900" indent="180000">
              <a:buFont typeface="Arial" panose="020B0604020202020204" pitchFamily="34" charset="0"/>
              <a:buChar char="•"/>
            </a:pPr>
            <a:endParaRPr lang="en-US" altLang="ko-KR" sz="1600" dirty="0">
              <a:solidFill>
                <a:srgbClr val="7030A0"/>
              </a:solidFill>
            </a:endParaRPr>
          </a:p>
          <a:p>
            <a:pPr marL="342900" indent="180000"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rgbClr val="7030A0"/>
                </a:solidFill>
              </a:rPr>
              <a:t>국민기초생활보장제도의 실시상의 원칙을 설명할 수 있다</a:t>
            </a:r>
            <a:r>
              <a:rPr lang="en-US" altLang="ko-KR" sz="1600" dirty="0">
                <a:solidFill>
                  <a:srgbClr val="7030A0"/>
                </a:solidFill>
              </a:rPr>
              <a:t>.</a:t>
            </a:r>
          </a:p>
          <a:p>
            <a:pPr marL="342900" indent="180000">
              <a:buFont typeface="Arial" panose="020B0604020202020204" pitchFamily="34" charset="0"/>
              <a:buChar char="•"/>
            </a:pPr>
            <a:endParaRPr lang="en-US" altLang="ko-KR" sz="1600" dirty="0">
              <a:solidFill>
                <a:srgbClr val="7030A0"/>
              </a:solidFill>
            </a:endParaRPr>
          </a:p>
          <a:p>
            <a:pPr marL="342900" indent="180000"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rgbClr val="7030A0"/>
                </a:solidFill>
              </a:rPr>
              <a:t>국민기초생활보장제도의 적용대상과 급여내용을 설명할 수 있다</a:t>
            </a:r>
            <a:r>
              <a:rPr lang="en-US" altLang="ko-KR" sz="1600" dirty="0">
                <a:solidFill>
                  <a:srgbClr val="7030A0"/>
                </a:solidFill>
              </a:rPr>
              <a:t>.</a:t>
            </a:r>
          </a:p>
          <a:p>
            <a:pPr marL="342900" indent="180000">
              <a:buFont typeface="Arial" panose="020B0604020202020204" pitchFamily="34" charset="0"/>
              <a:buChar char="•"/>
            </a:pPr>
            <a:endParaRPr lang="en-US" altLang="ko-KR" sz="1600" dirty="0">
              <a:solidFill>
                <a:srgbClr val="7030A0"/>
              </a:solidFill>
            </a:endParaRPr>
          </a:p>
          <a:p>
            <a:pPr marL="342900" indent="180000"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rgbClr val="7030A0"/>
                </a:solidFill>
              </a:rPr>
              <a:t>국민기초생활보장제도의 재원조달과 운영체계를 설명할 수 있다</a:t>
            </a:r>
            <a:r>
              <a:rPr lang="en-US" altLang="ko-KR" sz="1600" dirty="0">
                <a:solidFill>
                  <a:srgbClr val="7030A0"/>
                </a:solidFill>
              </a:rPr>
              <a:t>.</a:t>
            </a:r>
            <a:endParaRPr lang="ko-KR" altLang="en-US" sz="160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89508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36296" y="481548"/>
            <a:ext cx="1149674" cy="523220"/>
          </a:xfrm>
        </p:spPr>
        <p:txBody>
          <a:bodyPr wrap="none">
            <a:spAutoFit/>
          </a:bodyPr>
          <a:lstStyle/>
          <a:p>
            <a:pPr algn="l"/>
            <a:r>
              <a:rPr lang="en-US" altLang="ko-KR" sz="2800" dirty="0">
                <a:solidFill>
                  <a:srgbClr val="FFFF0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content</a:t>
            </a:r>
            <a:endParaRPr lang="ko-KR" altLang="en-US" sz="2800" dirty="0">
              <a:solidFill>
                <a:srgbClr val="FFFF00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grpSp>
        <p:nvGrpSpPr>
          <p:cNvPr id="63" name="Group 24"/>
          <p:cNvGrpSpPr>
            <a:grpSpLocks/>
          </p:cNvGrpSpPr>
          <p:nvPr/>
        </p:nvGrpSpPr>
        <p:grpSpPr bwMode="auto">
          <a:xfrm>
            <a:off x="2127137" y="1994611"/>
            <a:ext cx="443696" cy="408976"/>
            <a:chOff x="2078" y="1680"/>
            <a:chExt cx="1615" cy="1615"/>
          </a:xfrm>
        </p:grpSpPr>
        <p:sp>
          <p:nvSpPr>
            <p:cNvPr id="64" name="Oval 25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FFFFFF">
                    <a:gamma/>
                    <a:shade val="46275"/>
                    <a:invGamma/>
                  </a:srgbClr>
                </a:gs>
                <a:gs pos="50000">
                  <a:srgbClr val="FFFFFF"/>
                </a:gs>
                <a:gs pos="100000">
                  <a:srgbClr val="FFFFFF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65" name="Oval 26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FFFFFF">
                    <a:gamma/>
                    <a:shade val="63529"/>
                    <a:invGamma/>
                  </a:srgbClr>
                </a:gs>
                <a:gs pos="50000">
                  <a:srgbClr val="FFFFFF"/>
                </a:gs>
                <a:gs pos="100000">
                  <a:srgbClr val="FFFFFF">
                    <a:gamma/>
                    <a:shade val="63529"/>
                    <a:invGamma/>
                  </a:srgbClr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66" name="Oval 27"/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67" name="Oval 28"/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21B3E1"/>
                </a:gs>
                <a:gs pos="100000">
                  <a:srgbClr val="21B3E1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68" name="Oval 29"/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69" name="Oval 30"/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21B3E1"/>
                </a:gs>
                <a:gs pos="100000">
                  <a:srgbClr val="21B3E1">
                    <a:gamma/>
                    <a:shade val="48627"/>
                    <a:invGamma/>
                  </a:srgbClr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71" name="Group 30"/>
          <p:cNvGrpSpPr>
            <a:grpSpLocks/>
          </p:cNvGrpSpPr>
          <p:nvPr/>
        </p:nvGrpSpPr>
        <p:grpSpPr bwMode="auto">
          <a:xfrm>
            <a:off x="2133961" y="2637526"/>
            <a:ext cx="432778" cy="428048"/>
            <a:chOff x="2078" y="1680"/>
            <a:chExt cx="1615" cy="1615"/>
          </a:xfrm>
        </p:grpSpPr>
        <p:sp>
          <p:nvSpPr>
            <p:cNvPr id="72" name="Oval 31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73" name="Oval 32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74" name="Oval 33"/>
            <p:cNvSpPr>
              <a:spLocks noChangeArrowheads="1"/>
            </p:cNvSpPr>
            <p:nvPr/>
          </p:nvSpPr>
          <p:spPr bwMode="gray">
            <a:xfrm>
              <a:off x="2253" y="1855"/>
              <a:ext cx="1265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75" name="Oval 34"/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8D67E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76" name="Oval 35"/>
            <p:cNvSpPr>
              <a:spLocks noChangeArrowheads="1"/>
            </p:cNvSpPr>
            <p:nvPr/>
          </p:nvSpPr>
          <p:spPr bwMode="gray">
            <a:xfrm>
              <a:off x="2335" y="1937"/>
              <a:ext cx="1100" cy="1100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77" name="Oval 36"/>
            <p:cNvSpPr>
              <a:spLocks noChangeArrowheads="1"/>
            </p:cNvSpPr>
            <p:nvPr/>
          </p:nvSpPr>
          <p:spPr bwMode="gray">
            <a:xfrm>
              <a:off x="2337" y="1948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8D67E1"/>
                </a:gs>
                <a:gs pos="100000">
                  <a:srgbClr val="45326D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79" name="Group 37"/>
          <p:cNvGrpSpPr>
            <a:grpSpLocks/>
          </p:cNvGrpSpPr>
          <p:nvPr/>
        </p:nvGrpSpPr>
        <p:grpSpPr bwMode="auto">
          <a:xfrm>
            <a:off x="2132830" y="3243513"/>
            <a:ext cx="432778" cy="417872"/>
            <a:chOff x="2078" y="1680"/>
            <a:chExt cx="1615" cy="1615"/>
          </a:xfrm>
        </p:grpSpPr>
        <p:sp>
          <p:nvSpPr>
            <p:cNvPr id="80" name="Oval 38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81" name="Oval 39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82" name="Oval 40"/>
            <p:cNvSpPr>
              <a:spLocks noChangeArrowheads="1"/>
            </p:cNvSpPr>
            <p:nvPr/>
          </p:nvSpPr>
          <p:spPr bwMode="gray">
            <a:xfrm>
              <a:off x="2253" y="1855"/>
              <a:ext cx="1265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83" name="Oval 41"/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E35E23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84" name="Oval 42"/>
            <p:cNvSpPr>
              <a:spLocks noChangeArrowheads="1"/>
            </p:cNvSpPr>
            <p:nvPr/>
          </p:nvSpPr>
          <p:spPr bwMode="gray">
            <a:xfrm>
              <a:off x="2335" y="1937"/>
              <a:ext cx="1100" cy="1100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85" name="Oval 43"/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E35E23"/>
                </a:gs>
                <a:gs pos="100000">
                  <a:srgbClr val="6E2E1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104" name="Group 16"/>
          <p:cNvGrpSpPr>
            <a:grpSpLocks/>
          </p:cNvGrpSpPr>
          <p:nvPr/>
        </p:nvGrpSpPr>
        <p:grpSpPr bwMode="auto">
          <a:xfrm>
            <a:off x="2148885" y="3882999"/>
            <a:ext cx="446384" cy="422201"/>
            <a:chOff x="2078" y="1680"/>
            <a:chExt cx="1615" cy="1615"/>
          </a:xfrm>
        </p:grpSpPr>
        <p:sp>
          <p:nvSpPr>
            <p:cNvPr id="105" name="Oval 17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6" name="Oval 18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7" name="Oval 19"/>
            <p:cNvSpPr>
              <a:spLocks noChangeArrowheads="1"/>
            </p:cNvSpPr>
            <p:nvPr/>
          </p:nvSpPr>
          <p:spPr bwMode="gray">
            <a:xfrm>
              <a:off x="2253" y="1856"/>
              <a:ext cx="1265" cy="1263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8" name="Oval 20"/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48BE67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9" name="Oval 21"/>
            <p:cNvSpPr>
              <a:spLocks noChangeArrowheads="1"/>
            </p:cNvSpPr>
            <p:nvPr/>
          </p:nvSpPr>
          <p:spPr bwMode="gray">
            <a:xfrm>
              <a:off x="2335" y="1938"/>
              <a:ext cx="1100" cy="1099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0" name="Oval 22"/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48BE67"/>
                </a:gs>
                <a:gs pos="100000">
                  <a:srgbClr val="235C32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18" name="직사각형 117"/>
          <p:cNvSpPr/>
          <p:nvPr/>
        </p:nvSpPr>
        <p:spPr>
          <a:xfrm>
            <a:off x="317984" y="476672"/>
            <a:ext cx="496855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</a:pPr>
            <a:r>
              <a:rPr lang="ko-KR" altLang="en-US" sz="2800" dirty="0">
                <a:solidFill>
                  <a:prstClr val="white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제</a:t>
            </a:r>
            <a:r>
              <a:rPr lang="en-US" altLang="ko-KR" sz="2800" dirty="0">
                <a:solidFill>
                  <a:prstClr val="white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12</a:t>
            </a:r>
            <a:r>
              <a:rPr lang="ko-KR" altLang="en-US" sz="2800" dirty="0">
                <a:solidFill>
                  <a:prstClr val="white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장 국민기초생활보장제도</a:t>
            </a:r>
          </a:p>
        </p:txBody>
      </p:sp>
      <p:grpSp>
        <p:nvGrpSpPr>
          <p:cNvPr id="37" name="Group 24"/>
          <p:cNvGrpSpPr>
            <a:grpSpLocks/>
          </p:cNvGrpSpPr>
          <p:nvPr/>
        </p:nvGrpSpPr>
        <p:grpSpPr bwMode="auto">
          <a:xfrm>
            <a:off x="2150142" y="4524840"/>
            <a:ext cx="443696" cy="408976"/>
            <a:chOff x="2078" y="1680"/>
            <a:chExt cx="1615" cy="1615"/>
          </a:xfrm>
        </p:grpSpPr>
        <p:sp>
          <p:nvSpPr>
            <p:cNvPr id="38" name="Oval 25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FFFFFF">
                    <a:gamma/>
                    <a:shade val="46275"/>
                    <a:invGamma/>
                  </a:srgbClr>
                </a:gs>
                <a:gs pos="50000">
                  <a:srgbClr val="FFFFFF"/>
                </a:gs>
                <a:gs pos="100000">
                  <a:srgbClr val="FFFFFF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39" name="Oval 26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FFFFFF">
                    <a:gamma/>
                    <a:shade val="63529"/>
                    <a:invGamma/>
                  </a:srgbClr>
                </a:gs>
                <a:gs pos="50000">
                  <a:srgbClr val="FFFFFF"/>
                </a:gs>
                <a:gs pos="100000">
                  <a:srgbClr val="FFFFFF">
                    <a:gamma/>
                    <a:shade val="63529"/>
                    <a:invGamma/>
                  </a:srgbClr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40" name="Oval 27"/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41" name="Oval 28"/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21B3E1"/>
                </a:gs>
                <a:gs pos="100000">
                  <a:srgbClr val="21B3E1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42" name="Oval 29"/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43" name="Oval 30"/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21B3E1"/>
                </a:gs>
                <a:gs pos="100000">
                  <a:srgbClr val="21B3E1">
                    <a:gamma/>
                    <a:shade val="48627"/>
                    <a:invGamma/>
                  </a:srgbClr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45" name="Group 30"/>
          <p:cNvGrpSpPr>
            <a:grpSpLocks/>
          </p:cNvGrpSpPr>
          <p:nvPr/>
        </p:nvGrpSpPr>
        <p:grpSpPr bwMode="auto">
          <a:xfrm>
            <a:off x="2182028" y="5124425"/>
            <a:ext cx="432778" cy="428048"/>
            <a:chOff x="2078" y="1680"/>
            <a:chExt cx="1615" cy="1615"/>
          </a:xfrm>
        </p:grpSpPr>
        <p:sp>
          <p:nvSpPr>
            <p:cNvPr id="46" name="Oval 31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47" name="Oval 32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48" name="Oval 33"/>
            <p:cNvSpPr>
              <a:spLocks noChangeArrowheads="1"/>
            </p:cNvSpPr>
            <p:nvPr/>
          </p:nvSpPr>
          <p:spPr bwMode="gray">
            <a:xfrm>
              <a:off x="2253" y="1855"/>
              <a:ext cx="1265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49" name="Oval 34"/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8D67E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50" name="Oval 35"/>
            <p:cNvSpPr>
              <a:spLocks noChangeArrowheads="1"/>
            </p:cNvSpPr>
            <p:nvPr/>
          </p:nvSpPr>
          <p:spPr bwMode="gray">
            <a:xfrm>
              <a:off x="2335" y="1937"/>
              <a:ext cx="1100" cy="1100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51" name="Oval 36"/>
            <p:cNvSpPr>
              <a:spLocks noChangeArrowheads="1"/>
            </p:cNvSpPr>
            <p:nvPr/>
          </p:nvSpPr>
          <p:spPr bwMode="gray">
            <a:xfrm>
              <a:off x="2337" y="1948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8D67E1"/>
                </a:gs>
                <a:gs pos="100000">
                  <a:srgbClr val="45326D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58" name="AutoShape 7"/>
          <p:cNvSpPr>
            <a:spLocks noChangeArrowheads="1"/>
          </p:cNvSpPr>
          <p:nvPr/>
        </p:nvSpPr>
        <p:spPr bwMode="gray">
          <a:xfrm>
            <a:off x="2802260" y="1941009"/>
            <a:ext cx="3763341" cy="48785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/>
              </a:gs>
              <a:gs pos="100000">
                <a:srgbClr val="E7F5CF"/>
              </a:gs>
            </a:gsLst>
            <a:lin ang="0" scaled="1"/>
          </a:gradFill>
          <a:ln w="28575" algn="ctr">
            <a:solidFill>
              <a:srgbClr val="B2B2B2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2400" dirty="0">
                <a:solidFill>
                  <a:prstClr val="black"/>
                </a:solidFill>
                <a:latin typeface="나눔스퀘어 ExtraBold"/>
                <a:ea typeface="나눔스퀘어라운드 Bold"/>
              </a:rPr>
              <a:t>의의 및 목적</a:t>
            </a:r>
            <a:endParaRPr lang="en-US" altLang="ko-KR" sz="2400" dirty="0">
              <a:solidFill>
                <a:prstClr val="black"/>
              </a:solidFill>
              <a:latin typeface="나눔스퀘어 ExtraBold"/>
              <a:ea typeface="나눔스퀘어라운드 Bold"/>
            </a:endParaRPr>
          </a:p>
        </p:txBody>
      </p:sp>
      <p:sp>
        <p:nvSpPr>
          <p:cNvPr id="61" name="AutoShape 8"/>
          <p:cNvSpPr>
            <a:spLocks noChangeArrowheads="1"/>
          </p:cNvSpPr>
          <p:nvPr/>
        </p:nvSpPr>
        <p:spPr bwMode="gray">
          <a:xfrm>
            <a:off x="2817200" y="2560698"/>
            <a:ext cx="3748402" cy="52131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/>
              </a:gs>
              <a:gs pos="100000">
                <a:srgbClr val="B7E7FF"/>
              </a:gs>
            </a:gsLst>
            <a:lin ang="0" scaled="1"/>
          </a:gradFill>
          <a:ln w="28575" algn="ctr">
            <a:solidFill>
              <a:srgbClr val="B2B2B2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2400" dirty="0">
                <a:solidFill>
                  <a:prstClr val="black"/>
                </a:solidFill>
                <a:latin typeface="나눔스퀘어 ExtraBold"/>
                <a:ea typeface="나눔스퀘어라운드 Bold"/>
              </a:rPr>
              <a:t>도입배경 및 발전과정</a:t>
            </a:r>
            <a:endParaRPr lang="en-US" altLang="ko-KR" sz="2400" dirty="0">
              <a:solidFill>
                <a:prstClr val="black"/>
              </a:solidFill>
              <a:latin typeface="나눔스퀘어 ExtraBold"/>
              <a:ea typeface="나눔스퀘어라운드 Bold"/>
            </a:endParaRPr>
          </a:p>
        </p:txBody>
      </p:sp>
      <p:sp>
        <p:nvSpPr>
          <p:cNvPr id="87" name="AutoShape 7"/>
          <p:cNvSpPr>
            <a:spLocks noChangeArrowheads="1"/>
          </p:cNvSpPr>
          <p:nvPr/>
        </p:nvSpPr>
        <p:spPr bwMode="gray">
          <a:xfrm>
            <a:off x="2832689" y="3207421"/>
            <a:ext cx="3732913" cy="48785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/>
              </a:gs>
              <a:gs pos="100000">
                <a:srgbClr val="E7F5CF"/>
              </a:gs>
            </a:gsLst>
            <a:lin ang="0" scaled="1"/>
          </a:gradFill>
          <a:ln w="28575" algn="ctr">
            <a:solidFill>
              <a:srgbClr val="B2B2B2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2400" dirty="0">
                <a:solidFill>
                  <a:prstClr val="black"/>
                </a:solidFill>
                <a:latin typeface="나눔스퀘어 ExtraBold"/>
                <a:ea typeface="나눔스퀘어라운드 Bold"/>
              </a:rPr>
              <a:t>실시상의 원칙</a:t>
            </a:r>
            <a:endParaRPr lang="en-US" altLang="ko-KR" sz="2400" dirty="0">
              <a:solidFill>
                <a:prstClr val="black"/>
              </a:solidFill>
              <a:latin typeface="나눔스퀘어 ExtraBold"/>
              <a:ea typeface="나눔스퀘어라운드 Bold"/>
            </a:endParaRPr>
          </a:p>
        </p:txBody>
      </p:sp>
      <p:sp>
        <p:nvSpPr>
          <p:cNvPr id="89" name="AutoShape 7"/>
          <p:cNvSpPr>
            <a:spLocks noChangeArrowheads="1"/>
          </p:cNvSpPr>
          <p:nvPr/>
        </p:nvSpPr>
        <p:spPr bwMode="gray">
          <a:xfrm>
            <a:off x="2843808" y="4455129"/>
            <a:ext cx="3721794" cy="48785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/>
              </a:gs>
              <a:gs pos="100000">
                <a:srgbClr val="E7F5CF"/>
              </a:gs>
            </a:gsLst>
            <a:lin ang="0" scaled="1"/>
          </a:gradFill>
          <a:ln w="28575" algn="ctr">
            <a:solidFill>
              <a:srgbClr val="B2B2B2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2400" dirty="0">
                <a:solidFill>
                  <a:prstClr val="black"/>
                </a:solidFill>
                <a:latin typeface="나눔스퀘어 ExtraBold"/>
                <a:ea typeface="나눔스퀘어라운드 Bold"/>
              </a:rPr>
              <a:t>급여내용</a:t>
            </a:r>
            <a:endParaRPr lang="en-US" altLang="ko-KR" sz="2400" dirty="0">
              <a:solidFill>
                <a:prstClr val="black"/>
              </a:solidFill>
              <a:latin typeface="나눔스퀘어 ExtraBold"/>
              <a:ea typeface="나눔스퀘어라운드 Bold"/>
            </a:endParaRPr>
          </a:p>
        </p:txBody>
      </p:sp>
      <p:sp>
        <p:nvSpPr>
          <p:cNvPr id="90" name="AutoShape 8"/>
          <p:cNvSpPr>
            <a:spLocks noChangeArrowheads="1"/>
          </p:cNvSpPr>
          <p:nvPr/>
        </p:nvSpPr>
        <p:spPr bwMode="gray">
          <a:xfrm>
            <a:off x="2824943" y="5069587"/>
            <a:ext cx="3748403" cy="50934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/>
              </a:gs>
              <a:gs pos="100000">
                <a:srgbClr val="B7E7FF"/>
              </a:gs>
            </a:gsLst>
            <a:lin ang="0" scaled="1"/>
          </a:gradFill>
          <a:ln w="28575" algn="ctr">
            <a:solidFill>
              <a:srgbClr val="B2B2B2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2400" dirty="0">
                <a:solidFill>
                  <a:prstClr val="black"/>
                </a:solidFill>
                <a:latin typeface="나눔스퀘어 ExtraBold"/>
                <a:ea typeface="나눔스퀘어라운드 Bold"/>
              </a:rPr>
              <a:t>재         정</a:t>
            </a:r>
            <a:endParaRPr lang="en-US" altLang="ko-KR" sz="2400" dirty="0">
              <a:solidFill>
                <a:prstClr val="black"/>
              </a:solidFill>
              <a:latin typeface="나눔스퀘어 ExtraBold"/>
              <a:ea typeface="나눔스퀘어라운드 Bold"/>
            </a:endParaRPr>
          </a:p>
        </p:txBody>
      </p:sp>
      <p:sp>
        <p:nvSpPr>
          <p:cNvPr id="91" name="AutoShape 8"/>
          <p:cNvSpPr>
            <a:spLocks noChangeArrowheads="1"/>
          </p:cNvSpPr>
          <p:nvPr/>
        </p:nvSpPr>
        <p:spPr bwMode="gray">
          <a:xfrm>
            <a:off x="2848162" y="3810819"/>
            <a:ext cx="3717439" cy="52131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/>
              </a:gs>
              <a:gs pos="100000">
                <a:srgbClr val="B7E7FF"/>
              </a:gs>
            </a:gsLst>
            <a:lin ang="0" scaled="1"/>
          </a:gradFill>
          <a:ln w="28575" algn="ctr">
            <a:solidFill>
              <a:srgbClr val="B2B2B2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2400" dirty="0">
                <a:solidFill>
                  <a:prstClr val="black"/>
                </a:solidFill>
                <a:latin typeface="나눔스퀘어 ExtraBold"/>
                <a:ea typeface="나눔스퀘어라운드 Bold"/>
              </a:rPr>
              <a:t>적용대상</a:t>
            </a:r>
            <a:endParaRPr lang="en-US" altLang="ko-KR" sz="2400" dirty="0">
              <a:solidFill>
                <a:prstClr val="black"/>
              </a:solidFill>
              <a:latin typeface="나눔스퀘어 ExtraBold"/>
              <a:ea typeface="나눔스퀘어라운드 Bold"/>
            </a:endParaRPr>
          </a:p>
        </p:txBody>
      </p:sp>
      <p:grpSp>
        <p:nvGrpSpPr>
          <p:cNvPr id="52" name="Group 37"/>
          <p:cNvGrpSpPr>
            <a:grpSpLocks/>
          </p:cNvGrpSpPr>
          <p:nvPr/>
        </p:nvGrpSpPr>
        <p:grpSpPr bwMode="auto">
          <a:xfrm>
            <a:off x="2181749" y="5722398"/>
            <a:ext cx="432778" cy="417872"/>
            <a:chOff x="2078" y="1680"/>
            <a:chExt cx="1615" cy="1615"/>
          </a:xfrm>
        </p:grpSpPr>
        <p:sp>
          <p:nvSpPr>
            <p:cNvPr id="53" name="Oval 38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54" name="Oval 39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55" name="Oval 40"/>
            <p:cNvSpPr>
              <a:spLocks noChangeArrowheads="1"/>
            </p:cNvSpPr>
            <p:nvPr/>
          </p:nvSpPr>
          <p:spPr bwMode="gray">
            <a:xfrm>
              <a:off x="2253" y="1855"/>
              <a:ext cx="1265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56" name="Oval 41"/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E35E23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57" name="Oval 42"/>
            <p:cNvSpPr>
              <a:spLocks noChangeArrowheads="1"/>
            </p:cNvSpPr>
            <p:nvPr/>
          </p:nvSpPr>
          <p:spPr bwMode="gray">
            <a:xfrm>
              <a:off x="2335" y="1937"/>
              <a:ext cx="1100" cy="1100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59" name="Oval 43"/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E35E23"/>
                </a:gs>
                <a:gs pos="100000">
                  <a:srgbClr val="6E2E1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60" name="AutoShape 7"/>
          <p:cNvSpPr>
            <a:spLocks noChangeArrowheads="1"/>
          </p:cNvSpPr>
          <p:nvPr/>
        </p:nvSpPr>
        <p:spPr bwMode="gray">
          <a:xfrm>
            <a:off x="2851552" y="5716867"/>
            <a:ext cx="3721794" cy="48785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/>
              </a:gs>
              <a:gs pos="100000">
                <a:srgbClr val="E7F5CF"/>
              </a:gs>
            </a:gsLst>
            <a:lin ang="0" scaled="1"/>
          </a:gradFill>
          <a:ln w="28575" algn="ctr">
            <a:solidFill>
              <a:srgbClr val="B2B2B2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2400" dirty="0">
                <a:solidFill>
                  <a:prstClr val="black"/>
                </a:solidFill>
                <a:latin typeface="나눔스퀘어 ExtraBold"/>
                <a:ea typeface="나눔스퀘어라운드 Bold"/>
              </a:rPr>
              <a:t>운영체계</a:t>
            </a:r>
            <a:endParaRPr lang="en-US" altLang="ko-KR" sz="2400" dirty="0">
              <a:solidFill>
                <a:prstClr val="black"/>
              </a:solidFill>
              <a:latin typeface="나눔스퀘어 ExtraBold"/>
              <a:ea typeface="나눔스퀘어라운드 Bold"/>
            </a:endParaRPr>
          </a:p>
        </p:txBody>
      </p:sp>
    </p:spTree>
    <p:extLst>
      <p:ext uri="{BB962C8B-B14F-4D97-AF65-F5344CB8AC3E}">
        <p14:creationId xmlns:p14="http://schemas.microsoft.com/office/powerpoint/2010/main" val="2254871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6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9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2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5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000"/>
                            </p:stCondLst>
                            <p:childTnLst>
                              <p:par>
                                <p:cTn id="4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animBg="1"/>
      <p:bldP spid="61" grpId="0" animBg="1"/>
      <p:bldP spid="87" grpId="0" animBg="1"/>
      <p:bldP spid="89" grpId="0" animBg="1"/>
      <p:bldP spid="90" grpId="0" animBg="1"/>
      <p:bldP spid="91" grpId="0" animBg="1"/>
      <p:bldP spid="6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72534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1.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의의 및 목적</a:t>
            </a: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7271972"/>
              </p:ext>
            </p:extLst>
          </p:nvPr>
        </p:nvGraphicFramePr>
        <p:xfrm>
          <a:off x="323528" y="1196752"/>
          <a:ext cx="8568952" cy="507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5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436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002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b="0" kern="0" spc="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의의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b="0" kern="1200" dirty="0">
                          <a:solidFill>
                            <a:schemeClr val="lt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국민기초생활보장제도란 헌법상의 생존권 보장의 이념을 실현하기 위한 공공부조제도로</a:t>
                      </a:r>
                      <a:r>
                        <a:rPr lang="en-US" altLang="ko-KR" sz="1800" b="0" kern="1200" dirty="0">
                          <a:solidFill>
                            <a:schemeClr val="lt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b="0" kern="1200" dirty="0">
                          <a:solidFill>
                            <a:schemeClr val="lt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생활이 어려운 자에게 필요한 급여를 행하여 이들의 최저생계를 보장해줌으로써 인간다운 생활을 구체적으로 실현하기 위한 법적 제도임</a:t>
                      </a:r>
                      <a:endParaRPr lang="ko-KR" altLang="en-US" sz="1800" b="0" kern="0" spc="0" dirty="0">
                        <a:solidFill>
                          <a:schemeClr val="bg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8175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b="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목적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생활이 어려운 사람에게 필요한 급여를 실시하여 이들의 최저생활을 보장하고 자활을 돕는 것을 목적으로 함</a:t>
                      </a:r>
                      <a:endParaRPr lang="en-US" altLang="ko-KR" sz="1800" b="0" kern="1200" dirty="0">
                        <a:solidFill>
                          <a:schemeClr val="dk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285750" marR="0" indent="-285750" algn="just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즉 </a:t>
                      </a:r>
                      <a:r>
                        <a:rPr lang="ko-KR" altLang="en-US" sz="1800" kern="1200" dirty="0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생계급여</a:t>
                      </a:r>
                      <a:r>
                        <a:rPr lang="en-US" altLang="ko-KR" sz="1800" kern="1200" dirty="0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kern="1200" dirty="0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주거급여</a:t>
                      </a:r>
                      <a:r>
                        <a:rPr lang="en-US" altLang="ko-KR" sz="1800" kern="1200" dirty="0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kern="1200" dirty="0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의료급여</a:t>
                      </a:r>
                      <a:r>
                        <a:rPr lang="en-US" altLang="ko-KR" sz="1800" kern="1200" dirty="0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kern="1200" dirty="0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교육급여</a:t>
                      </a:r>
                      <a:r>
                        <a:rPr lang="en-US" altLang="ko-KR" sz="1800" kern="1200" dirty="0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kern="1200" dirty="0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해산급여</a:t>
                      </a:r>
                      <a:r>
                        <a:rPr lang="en-US" altLang="ko-KR" sz="1800" kern="1200" dirty="0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kern="1200" dirty="0" err="1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장제급여를</a:t>
                      </a:r>
                      <a:r>
                        <a:rPr lang="ko-KR" altLang="en-US" sz="1800" kern="1200" dirty="0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통해 저소득층의 생활상 곤란을 완화시켜주고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kern="1200" dirty="0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자활급여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를 제공하여 빈곤에 처한 사람들이 스스로 자립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·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자활할 수 있도록 조성해준다는 것임</a:t>
                      </a:r>
                    </a:p>
                    <a:p>
                      <a:pPr marL="285750" marR="0" indent="-285750" algn="just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이러한 목적은 기존의 생활보호법에 의한 국가재량의 자선적 생활   보호급여에서 법적인 보장을 받는 </a:t>
                      </a:r>
                      <a:r>
                        <a:rPr lang="ko-KR" altLang="en-US" sz="1800" b="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권리성</a:t>
                      </a:r>
                      <a:r>
                        <a:rPr lang="ko-KR" altLang="en-US" sz="18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급여로 전환하였다는 의미를 가짐</a:t>
                      </a:r>
                      <a:endParaRPr lang="ko-KR" altLang="en-US" sz="1800" b="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63234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72534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2.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도입배경 및 발전과정</a:t>
            </a:r>
          </a:p>
        </p:txBody>
      </p:sp>
      <p:sp>
        <p:nvSpPr>
          <p:cNvPr id="5" name="모서리가 둥근 직사각형 4"/>
          <p:cNvSpPr/>
          <p:nvPr/>
        </p:nvSpPr>
        <p:spPr>
          <a:xfrm>
            <a:off x="323528" y="1035271"/>
            <a:ext cx="2088232" cy="45718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>
              <a:spcBef>
                <a:spcPct val="0"/>
              </a:spcBef>
              <a:defRPr/>
            </a:pPr>
            <a:r>
              <a:rPr lang="en-US" altLang="ko-KR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 1) </a:t>
            </a:r>
            <a:r>
              <a:rPr lang="ko-KR" altLang="en-US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도입배경 </a:t>
            </a: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9698383"/>
              </p:ext>
            </p:extLst>
          </p:nvPr>
        </p:nvGraphicFramePr>
        <p:xfrm>
          <a:off x="395536" y="1700808"/>
          <a:ext cx="8496944" cy="4679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969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285750" marR="0" indent="-2857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b="0" kern="120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우리나라 최초의 공공부조는 </a:t>
                      </a:r>
                      <a:r>
                        <a:rPr lang="en-US" altLang="ko-KR" sz="1800" b="0" kern="120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1961</a:t>
                      </a:r>
                      <a:r>
                        <a:rPr lang="ko-KR" altLang="en-US" sz="1800" b="0" kern="120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년 도입된 </a:t>
                      </a:r>
                      <a:r>
                        <a:rPr lang="ko-KR" altLang="en-US" sz="1800" b="0" kern="1200" dirty="0" err="1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생활보호법이었음</a:t>
                      </a:r>
                      <a:endParaRPr lang="en-US" altLang="ko-KR" sz="1800" b="0" kern="1200" dirty="0">
                        <a:solidFill>
                          <a:schemeClr val="bg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285750" marR="0" indent="-2857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b="0" kern="120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생활보호법은 근로능력이 없는 자</a:t>
                      </a:r>
                      <a:r>
                        <a:rPr lang="en-US" altLang="ko-KR" sz="1800" b="0" kern="120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(65</a:t>
                      </a:r>
                      <a:r>
                        <a:rPr lang="ko-KR" altLang="en-US" sz="1800" b="0" kern="120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세 이상 노인</a:t>
                      </a:r>
                      <a:r>
                        <a:rPr lang="en-US" altLang="ko-KR" sz="1800" b="0" kern="120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18</a:t>
                      </a:r>
                      <a:r>
                        <a:rPr lang="ko-KR" altLang="en-US" sz="1800" b="0" kern="120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세 미만의 아동</a:t>
                      </a:r>
                      <a:r>
                        <a:rPr lang="en-US" altLang="ko-KR" sz="1800" b="0" kern="120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b="0" kern="120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임산부</a:t>
                      </a:r>
                      <a:r>
                        <a:rPr lang="en-US" altLang="ko-KR" sz="1800" b="0" kern="120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b="0" kern="120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장애인 등</a:t>
                      </a:r>
                      <a:r>
                        <a:rPr lang="en-US" altLang="ko-KR" sz="1800" b="0" kern="120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)</a:t>
                      </a:r>
                      <a:r>
                        <a:rPr lang="ko-KR" altLang="en-US" sz="1800" b="0" kern="120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를 수혜대상자로 하여 단순생계 중심의 생활보호를 실시해 옴</a:t>
                      </a:r>
                      <a:endParaRPr lang="en-US" altLang="ko-KR" sz="1800" b="0" kern="1200" dirty="0">
                        <a:solidFill>
                          <a:schemeClr val="bg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marR="0" indent="-2857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1997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년 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IMF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로 인한 대량실업과 경제적 빈곤 등의 문제가 사회적으로 심각해지자 </a:t>
                      </a:r>
                      <a:r>
                        <a:rPr lang="ko-KR" altLang="en-US" sz="1800" b="0" kern="120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근로능력과 연령에 관계없이 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실업자들의 최저생계를 보장할 수 있는 새로운 공공부조가  필요하다는 공감대가 형성됨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marR="0" indent="-2857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이러한 공감대를 바탕으로 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45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개 시민단체가 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1998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년 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7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월에 모든 국민의 인간다운 생활을 할 권리와 생존권적 기본권을 보장하기 위한 국민기초생활 보장법의 제정을 위해 청원하게 됨 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marR="0" indent="-2857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이에 정부는 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1999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년 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7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월 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“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국민기본생활 보장법안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”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을 국회에 제출하였고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그 해  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9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월 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7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일에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“</a:t>
                      </a:r>
                      <a:r>
                        <a:rPr lang="ko-KR" alt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국민기초생활보장법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”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이 제정됨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01773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72534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2.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도입배경과 발전과정</a:t>
            </a: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474746"/>
              </p:ext>
            </p:extLst>
          </p:nvPr>
        </p:nvGraphicFramePr>
        <p:xfrm>
          <a:off x="323528" y="1556792"/>
          <a:ext cx="8496945" cy="51300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2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044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2048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kern="0" spc="0" dirty="0">
                        <a:solidFill>
                          <a:schemeClr val="bg1"/>
                        </a:solidFill>
                        <a:effectLst/>
                        <a:latin typeface="HY울릉도M" panose="02030600000101010101" pitchFamily="18" charset="-127"/>
                        <a:ea typeface="태 나무" panose="02030603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생활보호법</a:t>
                      </a:r>
                      <a:r>
                        <a:rPr lang="en-US" altLang="ko-KR" sz="1800" kern="0" spc="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(1961</a:t>
                      </a:r>
                      <a:r>
                        <a:rPr lang="ko-KR" altLang="en-US" sz="1800" kern="0" spc="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년</a:t>
                      </a:r>
                      <a:r>
                        <a:rPr lang="en-US" altLang="ko-KR" sz="1800" kern="0" spc="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)</a:t>
                      </a:r>
                      <a:endParaRPr lang="ko-KR" altLang="en-US" sz="1800" kern="0" spc="0" dirty="0">
                        <a:solidFill>
                          <a:srgbClr val="FFFF00"/>
                        </a:solidFill>
                        <a:effectLst/>
                        <a:latin typeface="HY울릉도M" panose="02030600000101010101" pitchFamily="18" charset="-127"/>
                        <a:ea typeface="태 나무" panose="02030603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 err="1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국민기초생활보장법</a:t>
                      </a:r>
                      <a:r>
                        <a:rPr lang="en-US" altLang="ko-KR" sz="1800" kern="0" spc="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(1999</a:t>
                      </a:r>
                      <a:r>
                        <a:rPr lang="ko-KR" altLang="en-US" sz="1800" kern="0" spc="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년</a:t>
                      </a:r>
                      <a:r>
                        <a:rPr lang="en-US" altLang="ko-KR" sz="1800" kern="0" spc="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)</a:t>
                      </a:r>
                      <a:endParaRPr lang="ko-KR" altLang="en-US" sz="1800" kern="0" spc="0" dirty="0">
                        <a:solidFill>
                          <a:srgbClr val="FFFF00"/>
                        </a:solidFill>
                        <a:effectLst/>
                        <a:latin typeface="HY울릉도M" panose="02030600000101010101" pitchFamily="18" charset="-127"/>
                        <a:ea typeface="태 나무" panose="02030603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법적</a:t>
                      </a:r>
                    </a:p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용어</a:t>
                      </a:r>
                    </a:p>
                  </a:txBody>
                  <a:tcPr marL="64770" marR="64770" marT="17907" marB="17907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indent="-28575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시혜적 용어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(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국가의 보호 성격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)</a:t>
                      </a:r>
                    </a:p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  - 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피보호자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, 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보호대상자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, 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보호기관 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85750" marR="0" indent="-28575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600" kern="0" spc="0" dirty="0" err="1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권리성</a:t>
                      </a:r>
                      <a:r>
                        <a:rPr lang="ko-KR" altLang="en-US" sz="1600" kern="0" spc="0" dirty="0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 용어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(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저소득층의 </a:t>
                      </a:r>
                      <a:r>
                        <a:rPr lang="ko-KR" altLang="en-US" sz="1600" kern="0" spc="0" dirty="0" err="1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권리적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 성격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)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태 나무" panose="02030603000101010101" pitchFamily="18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  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- 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수급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(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권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)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자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, 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급여대상자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, 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보장기관</a:t>
                      </a: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대상자 </a:t>
                      </a:r>
                    </a:p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구분</a:t>
                      </a:r>
                    </a:p>
                  </a:txBody>
                  <a:tcPr marL="64770" marR="64770" marT="17907" marB="17907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indent="-28575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인구학적 기준에 의한 대상자 구분</a:t>
                      </a:r>
                    </a:p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  - 65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세 이상 노인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, 18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세 미만 아동   </a:t>
                      </a:r>
                      <a:endParaRPr lang="en-US" altLang="ko-KR" sz="16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태 나무" panose="02030603000101010101" pitchFamily="18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   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 임산부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,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 장애인 등 근로무능력자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85750" marR="0" indent="-28575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600" kern="0" spc="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인구학적 기준에 의한 대상자 폐지</a:t>
                      </a:r>
                    </a:p>
                    <a:p>
                      <a:pPr marL="285750" marR="0" indent="-28575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600" kern="0" spc="-1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근로능력에 따른 대상자는 구분</a:t>
                      </a:r>
                      <a:endParaRPr lang="en-US" altLang="ko-KR" sz="1600" kern="0" spc="-15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태 나무" panose="02030603000101010101" pitchFamily="18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600" kern="0" spc="-1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     - </a:t>
                      </a:r>
                      <a:r>
                        <a:rPr lang="ko-KR" altLang="en-US" sz="1600" kern="0" spc="-1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근로무능력자는 조건 없이  급여</a:t>
                      </a:r>
                      <a:endParaRPr lang="en-US" altLang="ko-KR" sz="1600" kern="0" spc="-15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태 나무" panose="02030603000101010101" pitchFamily="18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600" kern="0" spc="-1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     - </a:t>
                      </a:r>
                      <a:r>
                        <a:rPr lang="ko-KR" altLang="en-US" sz="1600" kern="0" spc="-1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근로능력자는 조건부 급여</a:t>
                      </a:r>
                      <a:r>
                        <a:rPr lang="en-US" altLang="ko-KR" sz="1600" kern="0" spc="-1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(</a:t>
                      </a:r>
                      <a:r>
                        <a:rPr lang="ko-KR" altLang="en-US" sz="1600" kern="0" spc="-1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자활사업 참여</a:t>
                      </a:r>
                      <a:r>
                        <a:rPr lang="en-US" altLang="ko-KR" sz="1600" kern="0" spc="-1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)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태 나무" panose="02030603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선정</a:t>
                      </a:r>
                    </a:p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기준</a:t>
                      </a:r>
                    </a:p>
                  </a:txBody>
                  <a:tcPr marL="64770" marR="64770" marT="17907" marB="17907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indent="-28575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소득과 재산이 일정액 이하인 자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85750" marR="0" indent="-28575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600" kern="0" spc="0" dirty="0" err="1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소득인정액이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 최저생계비 이하인 자</a:t>
                      </a: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급여</a:t>
                      </a:r>
                    </a:p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종류</a:t>
                      </a:r>
                    </a:p>
                  </a:txBody>
                  <a:tcPr marL="64770" marR="64770" marT="17907" marB="17907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indent="-28575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생계보호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, 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의료보호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, 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자활보호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, 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교육 보호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, </a:t>
                      </a:r>
                      <a:r>
                        <a:rPr lang="ko-KR" altLang="en-US" sz="1600" kern="0" spc="0" dirty="0" err="1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장제보호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, 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해산보호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85750" marR="0" lvl="0" indent="-285750" algn="just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생계급여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, 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주거급여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(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신설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), 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긴급급여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(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신설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)</a:t>
                      </a:r>
                    </a:p>
                    <a:p>
                      <a:pPr marL="0" marR="0" lvl="0" indent="0" algn="just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    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의료급여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, 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교육급여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, 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자활급여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, 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해산급여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, </a:t>
                      </a:r>
                    </a:p>
                    <a:p>
                      <a:pPr marL="0" marR="0" lvl="0" indent="0" algn="just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    </a:t>
                      </a:r>
                      <a:r>
                        <a:rPr lang="ko-KR" altLang="en-US" sz="1600" kern="0" spc="0" dirty="0" err="1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장제급여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태 나무" panose="02030603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자활</a:t>
                      </a:r>
                    </a:p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지원</a:t>
                      </a:r>
                    </a:p>
                  </a:txBody>
                  <a:tcPr marL="64770" marR="64770" marT="17907" marB="17907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indent="-28575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신설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85750" marR="0" indent="-28575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근로능력자의 가구별 자활지원계획 수립을  통한 체계적 자활지원</a:t>
                      </a: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모서리가 둥근 직사각형 5"/>
          <p:cNvSpPr/>
          <p:nvPr/>
        </p:nvSpPr>
        <p:spPr>
          <a:xfrm>
            <a:off x="1706690" y="1052736"/>
            <a:ext cx="5817638" cy="36004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spcBef>
                <a:spcPct val="0"/>
              </a:spcBef>
              <a:defRPr/>
            </a:pPr>
            <a:r>
              <a:rPr lang="en-US" altLang="ko-KR" sz="2000" b="1" dirty="0">
                <a:solidFill>
                  <a:schemeClr val="tx1"/>
                </a:solidFill>
                <a:latin typeface="HY울릉도M" pitchFamily="18" charset="-127"/>
                <a:ea typeface="태 나무" panose="02030603000101010101" pitchFamily="18" charset="-127"/>
              </a:rPr>
              <a:t>&lt;</a:t>
            </a:r>
            <a:r>
              <a:rPr lang="ko-KR" altLang="en-US" sz="2000" b="1" dirty="0">
                <a:solidFill>
                  <a:schemeClr val="tx1"/>
                </a:solidFill>
                <a:latin typeface="HY울릉도M" pitchFamily="18" charset="-127"/>
                <a:ea typeface="태 나무" panose="02030603000101010101" pitchFamily="18" charset="-127"/>
              </a:rPr>
              <a:t>표</a:t>
            </a:r>
            <a:r>
              <a:rPr lang="en-US" altLang="ko-KR" sz="2000" b="1" dirty="0">
                <a:solidFill>
                  <a:schemeClr val="tx1"/>
                </a:solidFill>
                <a:latin typeface="HY울릉도M" pitchFamily="18" charset="-127"/>
                <a:ea typeface="태 나무" panose="02030603000101010101" pitchFamily="18" charset="-127"/>
              </a:rPr>
              <a:t>&gt; </a:t>
            </a:r>
            <a:r>
              <a:rPr lang="ko-KR" altLang="en-US" sz="2000" b="1" dirty="0">
                <a:solidFill>
                  <a:schemeClr val="tx1"/>
                </a:solidFill>
                <a:latin typeface="HY울릉도M" pitchFamily="18" charset="-127"/>
                <a:ea typeface="태 나무" panose="02030603000101010101" pitchFamily="18" charset="-127"/>
              </a:rPr>
              <a:t>생활보호법과 </a:t>
            </a:r>
            <a:r>
              <a:rPr lang="ko-KR" altLang="en-US" sz="2000" b="1" dirty="0" err="1">
                <a:solidFill>
                  <a:schemeClr val="tx1"/>
                </a:solidFill>
                <a:latin typeface="HY울릉도M" pitchFamily="18" charset="-127"/>
                <a:ea typeface="태 나무" panose="02030603000101010101" pitchFamily="18" charset="-127"/>
              </a:rPr>
              <a:t>국민기초생활보장법의</a:t>
            </a:r>
            <a:r>
              <a:rPr lang="ko-KR" altLang="en-US" sz="2000" b="1" dirty="0">
                <a:solidFill>
                  <a:schemeClr val="tx1"/>
                </a:solidFill>
                <a:latin typeface="HY울릉도M" pitchFamily="18" charset="-127"/>
                <a:ea typeface="태 나무" panose="02030603000101010101" pitchFamily="18" charset="-127"/>
              </a:rPr>
              <a:t> 비교</a:t>
            </a:r>
          </a:p>
        </p:txBody>
      </p:sp>
    </p:spTree>
    <p:extLst>
      <p:ext uri="{BB962C8B-B14F-4D97-AF65-F5344CB8AC3E}">
        <p14:creationId xmlns:p14="http://schemas.microsoft.com/office/powerpoint/2010/main" val="35784748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72534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2.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도입배경 및 발전과정</a:t>
            </a:r>
          </a:p>
        </p:txBody>
      </p:sp>
      <p:sp>
        <p:nvSpPr>
          <p:cNvPr id="5" name="모서리가 둥근 직사각형 4"/>
          <p:cNvSpPr/>
          <p:nvPr/>
        </p:nvSpPr>
        <p:spPr>
          <a:xfrm>
            <a:off x="272980" y="980728"/>
            <a:ext cx="2052228" cy="45718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>
              <a:spcBef>
                <a:spcPct val="0"/>
              </a:spcBef>
              <a:defRPr/>
            </a:pPr>
            <a:r>
              <a:rPr lang="en-US" altLang="ko-KR" sz="24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 2) </a:t>
            </a:r>
            <a:r>
              <a:rPr lang="ko-KR" altLang="en-US" sz="24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발전과정 </a:t>
            </a: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510741"/>
              </p:ext>
            </p:extLst>
          </p:nvPr>
        </p:nvGraphicFramePr>
        <p:xfrm>
          <a:off x="272980" y="1556793"/>
          <a:ext cx="8568952" cy="50934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86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102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2595">
                <a:tc>
                  <a:txBody>
                    <a:bodyPr/>
                    <a:lstStyle/>
                    <a:p>
                      <a:pPr marL="0" indent="0" algn="ctr" fontAlgn="base" latinLnBrk="1">
                        <a:lnSpc>
                          <a:spcPts val="2500"/>
                        </a:lnSpc>
                        <a:buFontTx/>
                        <a:buNone/>
                      </a:pPr>
                      <a:r>
                        <a:rPr lang="ko-KR" altLang="en-US" sz="1800" b="1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년 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 fontAlgn="base" latinLnBrk="1">
                        <a:lnSpc>
                          <a:spcPts val="2500"/>
                        </a:lnSpc>
                        <a:buFontTx/>
                        <a:buNone/>
                      </a:pPr>
                      <a:r>
                        <a:rPr lang="ko-KR" altLang="en-US" sz="1800" b="1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주 요 내 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2595">
                <a:tc>
                  <a:txBody>
                    <a:bodyPr/>
                    <a:lstStyle/>
                    <a:p>
                      <a:pPr marL="0" indent="0" fontAlgn="base" latinLnBrk="1">
                        <a:lnSpc>
                          <a:spcPts val="2500"/>
                        </a:lnSpc>
                        <a:buFontTx/>
                        <a:buNone/>
                      </a:pPr>
                      <a:r>
                        <a:rPr lang="en-US" altLang="ko-KR" sz="1800" b="0" spc="-15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1999. 09</a:t>
                      </a:r>
                      <a:endParaRPr lang="ko-KR" altLang="en-US" sz="1800" b="0" spc="-15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fontAlgn="base" latinLnBrk="1" hangingPunct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b="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국민기초생활보장법</a:t>
                      </a:r>
                      <a:r>
                        <a:rPr lang="ko-KR" altLang="en-US" sz="18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제정</a:t>
                      </a:r>
                      <a:endParaRPr lang="ko-KR" altLang="en-US" sz="1800" b="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1277">
                <a:tc>
                  <a:txBody>
                    <a:bodyPr/>
                    <a:lstStyle/>
                    <a:p>
                      <a:pPr marL="0" indent="0" fontAlgn="base" latinLnBrk="1">
                        <a:lnSpc>
                          <a:spcPts val="2500"/>
                        </a:lnSpc>
                        <a:buFontTx/>
                        <a:buNone/>
                      </a:pPr>
                      <a:r>
                        <a:rPr lang="en-US" altLang="ko-KR" sz="1800" b="0" spc="-15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1999. 09</a:t>
                      </a:r>
                      <a:endParaRPr lang="ko-KR" altLang="en-US" sz="1800" b="0" spc="-15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fontAlgn="base" latinLnBrk="1" hangingPunct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별정직 사회복지전문요원을 일반직 행정직군 사회복지직렬의 </a:t>
                      </a:r>
                      <a:endParaRPr lang="en-US" altLang="ko-KR" sz="1800" b="0" kern="1200" dirty="0">
                        <a:solidFill>
                          <a:schemeClr val="tx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0" marR="0" indent="0" algn="l" defTabSz="914400" rtl="0" eaLnBrk="1" fontAlgn="base" latinLnBrk="1" hangingPunct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  </a:t>
                      </a:r>
                      <a:r>
                        <a:rPr lang="ko-KR" altLang="en-US" sz="1800" b="0" kern="120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사회복지전담공무원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으로 전환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800" b="0" kern="1200" baseline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자산조사 등의 시스템 구축 준비</a:t>
                      </a:r>
                      <a:r>
                        <a:rPr lang="en-US" altLang="ko-KR" sz="1800" b="0" kern="1200" baseline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)</a:t>
                      </a:r>
                      <a:endParaRPr lang="ko-KR" altLang="en-US" sz="1800" b="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314">
                <a:tc>
                  <a:txBody>
                    <a:bodyPr/>
                    <a:lstStyle/>
                    <a:p>
                      <a:pPr marL="0" indent="0" fontAlgn="base" latinLnBrk="1">
                        <a:lnSpc>
                          <a:spcPts val="2500"/>
                        </a:lnSpc>
                        <a:buFontTx/>
                        <a:buNone/>
                      </a:pPr>
                      <a:r>
                        <a:rPr lang="en-US" altLang="ko-KR" sz="1800" b="0" spc="-15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2000. 10</a:t>
                      </a:r>
                      <a:endParaRPr lang="ko-KR" altLang="en-US" sz="1800" b="0" spc="-15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fontAlgn="base" latinLnBrk="1" hangingPunct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b="0" kern="1200" dirty="0" err="1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국민기초생활보장제도</a:t>
                      </a:r>
                      <a:r>
                        <a:rPr lang="ko-KR" altLang="en-US" sz="1800" b="0" kern="1200" dirty="0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시행</a:t>
                      </a:r>
                      <a:r>
                        <a:rPr lang="en-US" altLang="ko-KR" sz="1800" b="0" kern="1200" dirty="0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</a:p>
                    <a:p>
                      <a:pPr marL="285750" marR="0" indent="-285750" algn="l" defTabSz="914400" rtl="0" eaLnBrk="1" fontAlgn="base" latinLnBrk="1" hangingPunct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b="0" kern="1200" dirty="0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자활사업 실시</a:t>
                      </a:r>
                      <a:endParaRPr lang="ko-KR" altLang="en-US" sz="1800" b="0" dirty="0">
                        <a:solidFill>
                          <a:srgbClr val="C0000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99960">
                <a:tc>
                  <a:txBody>
                    <a:bodyPr/>
                    <a:lstStyle/>
                    <a:p>
                      <a:pPr marL="0" indent="0" fontAlgn="base" latinLnBrk="1">
                        <a:lnSpc>
                          <a:spcPts val="2500"/>
                        </a:lnSpc>
                        <a:buFontTx/>
                        <a:buNone/>
                      </a:pPr>
                      <a:r>
                        <a:rPr lang="en-US" altLang="ko-KR" sz="1800" b="0" spc="-15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2007. 01</a:t>
                      </a:r>
                      <a:endParaRPr lang="ko-KR" altLang="en-US" sz="1800" b="0" spc="-15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fontAlgn="base" latinLnBrk="1" hangingPunct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부양의무자 범위 축소</a:t>
                      </a:r>
                      <a:endParaRPr lang="en-US" altLang="ko-KR" sz="1800" b="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285750" marR="0" indent="-285750" algn="l" defTabSz="914400" rtl="0" eaLnBrk="1" fontAlgn="base" latinLnBrk="1" hangingPunct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800" b="0" spc="-150" dirty="0" err="1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수급권자의</a:t>
                      </a:r>
                      <a:r>
                        <a:rPr lang="ko-KR" altLang="en-US" sz="1800" b="0" spc="-15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</a:t>
                      </a:r>
                      <a:r>
                        <a:rPr lang="en-US" altLang="ko-KR" sz="1800" b="0" spc="-15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1</a:t>
                      </a:r>
                      <a:r>
                        <a:rPr lang="ko-KR" altLang="en-US" sz="1800" b="0" spc="-15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촌의 직계혈족 및 그 배우자</a:t>
                      </a:r>
                      <a:r>
                        <a:rPr lang="en-US" altLang="ko-KR" sz="1800" b="0" spc="-15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800" b="0" spc="-150" dirty="0">
                          <a:solidFill>
                            <a:srgbClr val="00B050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생계를 같이하는 </a:t>
                      </a:r>
                      <a:r>
                        <a:rPr lang="en-US" altLang="ko-KR" sz="1800" b="0" spc="-150" dirty="0">
                          <a:solidFill>
                            <a:srgbClr val="00B050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2</a:t>
                      </a:r>
                      <a:r>
                        <a:rPr lang="ko-KR" altLang="en-US" sz="1800" b="0" spc="-150" dirty="0">
                          <a:solidFill>
                            <a:srgbClr val="00B050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촌 이내의 혈족</a:t>
                      </a:r>
                      <a:endParaRPr lang="en-US" altLang="ko-KR" sz="1800" b="0" spc="-150" dirty="0">
                        <a:solidFill>
                          <a:srgbClr val="00B05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indent="0" algn="l" defTabSz="914400" rtl="0" eaLnBrk="1" fontAlgn="base" latinLnBrk="1" hangingPunct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   </a:t>
                      </a:r>
                      <a:r>
                        <a:rPr lang="ko-KR" altLang="en-US" sz="18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→ </a:t>
                      </a:r>
                      <a:r>
                        <a:rPr lang="ko-KR" altLang="en-US" sz="1800" b="0" kern="1200" dirty="0" err="1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수급권자의</a:t>
                      </a:r>
                      <a:r>
                        <a:rPr lang="ko-KR" altLang="en-US" sz="1800" b="0" kern="1200" dirty="0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b="0" kern="1200" dirty="0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1</a:t>
                      </a:r>
                      <a:r>
                        <a:rPr lang="ko-KR" altLang="en-US" sz="1800" b="0" kern="1200" dirty="0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촌의 직계혈족 및 그 배우자</a:t>
                      </a:r>
                      <a:endParaRPr lang="ko-KR" altLang="en-US" sz="1800" b="0" dirty="0">
                        <a:solidFill>
                          <a:srgbClr val="C0000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9797109"/>
                  </a:ext>
                </a:extLst>
              </a:tr>
              <a:tr h="741277">
                <a:tc>
                  <a:txBody>
                    <a:bodyPr/>
                    <a:lstStyle/>
                    <a:p>
                      <a:pPr marL="0" indent="0" fontAlgn="base" latinLnBrk="1">
                        <a:lnSpc>
                          <a:spcPts val="2500"/>
                        </a:lnSpc>
                        <a:buFontTx/>
                        <a:buNone/>
                      </a:pPr>
                      <a:r>
                        <a:rPr lang="en-US" altLang="ko-KR" sz="1800" b="0" spc="-15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2014. 12</a:t>
                      </a:r>
                      <a:endParaRPr lang="ko-KR" altLang="en-US" sz="1800" b="0" spc="-15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fontAlgn="base" latinLnBrk="1" hangingPunct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통합급여체계를 </a:t>
                      </a:r>
                      <a:r>
                        <a:rPr lang="ko-KR" altLang="en-US" sz="1800" b="0" kern="1200" dirty="0">
                          <a:solidFill>
                            <a:srgbClr val="9933FF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개별급여체계로 전환</a:t>
                      </a:r>
                      <a:endParaRPr lang="en-US" altLang="ko-KR" sz="1800" b="0" kern="1200" dirty="0">
                        <a:solidFill>
                          <a:srgbClr val="9933FF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0" marR="0" indent="0" algn="l" defTabSz="914400" rtl="0" eaLnBrk="1" fontAlgn="base" latinLnBrk="1" hangingPunct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800" b="0" kern="1200" dirty="0">
                          <a:solidFill>
                            <a:srgbClr val="9933FF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- 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선정기준선의 다층화</a:t>
                      </a:r>
                      <a:r>
                        <a:rPr lang="en-US" altLang="ko-KR" sz="18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8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최저생계비→</a:t>
                      </a:r>
                      <a:r>
                        <a:rPr lang="ko-KR" altLang="en-US" sz="1800" b="0" kern="1200" dirty="0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개별 </a:t>
                      </a:r>
                      <a:r>
                        <a:rPr lang="ko-KR" altLang="en-US" sz="1800" b="0" kern="1200" dirty="0" err="1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기준중위소득</a:t>
                      </a:r>
                      <a:r>
                        <a:rPr lang="en-US" altLang="ko-KR" sz="18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89533">
                <a:tc>
                  <a:txBody>
                    <a:bodyPr/>
                    <a:lstStyle/>
                    <a:p>
                      <a:pPr marL="0" indent="0" fontAlgn="base" latinLnBrk="1">
                        <a:lnSpc>
                          <a:spcPts val="2500"/>
                        </a:lnSpc>
                        <a:buFontTx/>
                        <a:buNone/>
                      </a:pPr>
                      <a:r>
                        <a:rPr lang="en-US" altLang="ko-KR" sz="1800" b="0" spc="-15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2015. 07</a:t>
                      </a:r>
                      <a:endParaRPr lang="ko-KR" altLang="en-US" sz="1800" b="0" spc="-15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fontAlgn="base" latinLnBrk="1" hangingPunct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부양의무자 범위에 단서조항 신설</a:t>
                      </a:r>
                      <a:endParaRPr lang="en-US" altLang="ko-KR" sz="1800" b="0" kern="1200" dirty="0">
                        <a:solidFill>
                          <a:schemeClr val="dk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0" marR="0" indent="0" algn="l" defTabSz="914400" rtl="0" eaLnBrk="1" fontAlgn="base" latinLnBrk="1" hangingPunct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8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- </a:t>
                      </a:r>
                      <a:r>
                        <a:rPr lang="ko-KR" altLang="en-US" sz="1800" b="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수급권자의</a:t>
                      </a:r>
                      <a:r>
                        <a:rPr lang="ko-KR" altLang="en-US" sz="18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1</a:t>
                      </a:r>
                      <a:r>
                        <a:rPr lang="ko-KR" altLang="en-US" sz="18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촌의 직계혈족 및 그 배우자</a:t>
                      </a:r>
                      <a:r>
                        <a:rPr lang="en-US" altLang="ko-KR" sz="1800" b="0" kern="1200" dirty="0">
                          <a:solidFill>
                            <a:srgbClr val="7030A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b="0" kern="1200" dirty="0">
                          <a:solidFill>
                            <a:srgbClr val="7030A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다만 사망한 </a:t>
                      </a:r>
                      <a:r>
                        <a:rPr lang="en-US" altLang="ko-KR" sz="1800" b="0" kern="1200" dirty="0">
                          <a:solidFill>
                            <a:srgbClr val="7030A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1</a:t>
                      </a:r>
                      <a:r>
                        <a:rPr lang="ko-KR" altLang="en-US" sz="1800" b="0" kern="1200" dirty="0">
                          <a:solidFill>
                            <a:srgbClr val="7030A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촌의 직계   </a:t>
                      </a:r>
                      <a:endParaRPr lang="en-US" altLang="ko-KR" sz="1800" b="0" kern="1200" dirty="0">
                        <a:solidFill>
                          <a:srgbClr val="7030A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0" marR="0" indent="0" algn="l" defTabSz="914400" rtl="0" eaLnBrk="1" fontAlgn="base" latinLnBrk="1" hangingPunct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800" b="0" kern="1200" dirty="0">
                          <a:solidFill>
                            <a:srgbClr val="7030A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  </a:t>
                      </a:r>
                      <a:r>
                        <a:rPr lang="ko-KR" altLang="en-US" sz="1800" b="0" kern="1200" dirty="0">
                          <a:solidFill>
                            <a:srgbClr val="7030A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혈족의 배우자는 제외함</a:t>
                      </a:r>
                      <a:endParaRPr lang="en-US" altLang="ko-KR" sz="1800" b="0" kern="1200" dirty="0">
                        <a:solidFill>
                          <a:srgbClr val="7030A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10928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9634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72534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2.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도입배경 및 발전과정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5517503"/>
              </p:ext>
            </p:extLst>
          </p:nvPr>
        </p:nvGraphicFramePr>
        <p:xfrm>
          <a:off x="323528" y="1628800"/>
          <a:ext cx="8589966" cy="41044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899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04455">
                <a:tc>
                  <a:txBody>
                    <a:bodyPr/>
                    <a:lstStyle/>
                    <a:p>
                      <a:pPr marL="285750" marR="0" indent="-2857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b="1" kern="1200" dirty="0" err="1">
                          <a:solidFill>
                            <a:srgbClr val="C00000"/>
                          </a:solidFill>
                          <a:effectLst/>
                          <a:latin typeface="+mn-lt"/>
                          <a:ea typeface="태 나무" panose="02030603000101010101" pitchFamily="18" charset="-127"/>
                          <a:cs typeface="+mn-cs"/>
                        </a:rPr>
                        <a:t>급여별</a:t>
                      </a:r>
                      <a:r>
                        <a:rPr lang="ko-KR" altLang="en-US" sz="1800" b="1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태 나무" panose="02030603000101010101" pitchFamily="18" charset="-127"/>
                          <a:cs typeface="+mn-cs"/>
                        </a:rPr>
                        <a:t> 선정기준의 다층화</a:t>
                      </a:r>
                      <a:r>
                        <a:rPr lang="en-US" altLang="ko-KR" sz="1800" b="1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태 나무" panose="0203060300010101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800" b="1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태 나무" panose="02030603000101010101" pitchFamily="18" charset="-127"/>
                          <a:cs typeface="+mn-cs"/>
                        </a:rPr>
                        <a:t>통합급여체계를 개별급여체계로 전환</a:t>
                      </a:r>
                      <a:r>
                        <a:rPr lang="en-US" altLang="ko-KR" sz="1800" b="1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태 나무" panose="02030603000101010101" pitchFamily="18" charset="-127"/>
                          <a:cs typeface="+mn-cs"/>
                        </a:rPr>
                        <a:t>)</a:t>
                      </a:r>
                      <a:endParaRPr lang="ko-KR" altLang="en-US" sz="1800" b="1" kern="1200" dirty="0">
                        <a:solidFill>
                          <a:srgbClr val="C00000"/>
                        </a:solidFill>
                        <a:effectLst/>
                        <a:latin typeface="+mn-lt"/>
                        <a:ea typeface="태 나무" panose="02030603000101010101" pitchFamily="18" charset="-127"/>
                        <a:cs typeface="+mn-cs"/>
                      </a:endParaRPr>
                    </a:p>
                    <a:p>
                      <a:pPr marL="465750" marR="0" indent="-2857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2014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년 법 개정을 통해 그 동안의 통합급여체계가 개별급여체계로 전환됨으로써 </a:t>
                      </a:r>
                      <a:r>
                        <a:rPr lang="ko-KR" alt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국민기초생활보장제도의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외형적 틀이 변화됨</a:t>
                      </a:r>
                      <a:endParaRPr lang="en-US" altLang="ko-KR" sz="1800" b="0" kern="1200" dirty="0">
                        <a:solidFill>
                          <a:schemeClr val="tx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465750" marR="0" indent="-2857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그 동안의 통합급여체계에서는 단일기준인 </a:t>
                      </a:r>
                      <a:r>
                        <a:rPr lang="ko-KR" altLang="en-US" sz="1800" b="0" kern="1200" dirty="0">
                          <a:solidFill>
                            <a:srgbClr val="7030A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최저생계비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로 모든 급여의 선정기준과 급여수준을 결정하였음</a:t>
                      </a:r>
                      <a:endParaRPr lang="en-US" altLang="ko-KR" sz="1800" b="0" kern="1200" dirty="0">
                        <a:solidFill>
                          <a:schemeClr val="tx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465750" marR="0" indent="-2857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개별급여체계에서는 상대기준 방식인 </a:t>
                      </a:r>
                      <a:r>
                        <a:rPr lang="ko-KR" altLang="en-US" sz="1800" b="0" kern="1200" dirty="0" err="1">
                          <a:solidFill>
                            <a:srgbClr val="7030A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기준중위소득</a:t>
                      </a:r>
                      <a:r>
                        <a:rPr lang="ko-KR" altLang="en-US" sz="1800" b="0" kern="1200" dirty="0">
                          <a:solidFill>
                            <a:srgbClr val="7030A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개념을 도입하여 </a:t>
                      </a:r>
                      <a:r>
                        <a:rPr lang="ko-KR" alt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급여별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생계급여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주거급여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의료급여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교육급여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)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로 </a:t>
                      </a:r>
                      <a:r>
                        <a:rPr lang="ko-KR" alt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다층화되었음</a:t>
                      </a:r>
                      <a:endParaRPr lang="en-US" altLang="ko-KR" sz="1800" b="0" kern="1200" dirty="0">
                        <a:solidFill>
                          <a:schemeClr val="tx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465750" marR="0" indent="-2857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급여별로 </a:t>
                      </a:r>
                      <a:r>
                        <a:rPr lang="ko-KR" alt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수급자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선정기준을 다층화하여 소득이 증가하여도 필요한 급여는</a:t>
                      </a:r>
                      <a:endParaRPr lang="en-US" altLang="ko-KR" sz="1800" b="0" kern="1200" dirty="0">
                        <a:solidFill>
                          <a:schemeClr val="tx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     계속 지원하여 일을 통해 자립할 수 있도록 하는데 그 목적이 있음</a:t>
                      </a:r>
                      <a:endParaRPr lang="ko-KR" altLang="en-US" sz="1800" b="0" dirty="0">
                        <a:solidFill>
                          <a:schemeClr val="tx1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07949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72534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2.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도입배경 및 발전과정</a:t>
            </a: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8" name="모서리가 둥근 직사각형 7"/>
          <p:cNvSpPr/>
          <p:nvPr/>
        </p:nvSpPr>
        <p:spPr>
          <a:xfrm>
            <a:off x="1835696" y="1050506"/>
            <a:ext cx="5046426" cy="49115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spcBef>
                <a:spcPct val="0"/>
              </a:spcBef>
              <a:defRPr/>
            </a:pPr>
            <a:r>
              <a:rPr lang="en-US" altLang="ko-KR" sz="20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&lt;</a:t>
            </a:r>
            <a:r>
              <a:rPr lang="ko-KR" altLang="en-US" sz="20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그림</a:t>
            </a:r>
            <a:r>
              <a:rPr lang="en-US" altLang="ko-KR" sz="20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&gt;</a:t>
            </a:r>
            <a:r>
              <a:rPr lang="ko-KR" altLang="en-US" sz="20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맞춤형 개별급여체계 개편 개념도 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3B2D6DF-A8DF-4714-921C-86ED07993B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624" y="2179712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025" name="_x353801552">
            <a:extLst>
              <a:ext uri="{FF2B5EF4-FFF2-40B4-BE49-F238E27FC236}">
                <a16:creationId xmlns:a16="http://schemas.microsoft.com/office/drawing/2014/main" id="{934840CC-006F-4EA9-ACD6-6B97E768F1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706350"/>
            <a:ext cx="8784976" cy="5151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77597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72534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3.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실시상의 운용원칙</a:t>
            </a: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8226758"/>
              </p:ext>
            </p:extLst>
          </p:nvPr>
        </p:nvGraphicFramePr>
        <p:xfrm>
          <a:off x="322838" y="1052736"/>
          <a:ext cx="8568952" cy="53123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29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360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204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운용 원칙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내  용</a:t>
                      </a: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신청보호의 원칙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600" kern="0" spc="0" dirty="0" err="1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수급권자가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 되기 위해서는 관할 </a:t>
                      </a:r>
                      <a:r>
                        <a:rPr lang="ko-KR" altLang="en-US" sz="16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시장</a:t>
                      </a:r>
                      <a:r>
                        <a:rPr lang="en-US" altLang="ko-KR" sz="16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·</a:t>
                      </a:r>
                      <a:r>
                        <a:rPr lang="ko-KR" altLang="en-US" sz="16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군수</a:t>
                      </a:r>
                      <a:r>
                        <a:rPr lang="en-US" altLang="ko-KR" sz="16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·</a:t>
                      </a:r>
                      <a:r>
                        <a:rPr lang="ko-KR" altLang="en-US" sz="16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구청장에게 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신청해야 함</a:t>
                      </a:r>
                      <a:r>
                        <a:rPr lang="en-US" altLang="ko-KR" sz="1600" kern="0" spc="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(</a:t>
                      </a:r>
                      <a:r>
                        <a:rPr lang="ko-KR" altLang="en-US" sz="1600" kern="0" spc="0" dirty="0" err="1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수급권자와</a:t>
                      </a:r>
                      <a:r>
                        <a:rPr lang="ko-KR" altLang="en-US" sz="1600" kern="0" spc="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 그 친족</a:t>
                      </a:r>
                      <a:r>
                        <a:rPr lang="en-US" altLang="ko-KR" sz="1600" kern="0" spc="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, </a:t>
                      </a:r>
                      <a:r>
                        <a:rPr lang="ko-KR" altLang="en-US" sz="1600" kern="0" spc="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그 밖의 관계인</a:t>
                      </a:r>
                      <a:r>
                        <a:rPr lang="en-US" altLang="ko-KR" sz="1600" kern="0" spc="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)</a:t>
                      </a:r>
                    </a:p>
                    <a:p>
                      <a:pPr marL="285750" marR="0" indent="-285750" algn="just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우리나라는 신청보호가 원칙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, 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직권보호도 병행</a:t>
                      </a: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5902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급여기준과 정도의 </a:t>
                      </a:r>
                      <a:endParaRPr lang="en-US" altLang="ko-KR" sz="16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태 나무" panose="02030603000101010101" pitchFamily="18" charset="-127"/>
                      </a:endParaRPr>
                    </a:p>
                    <a:p>
                      <a:pPr marL="0" marR="0" indent="0" algn="ctr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원칙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태 나무" panose="02030603000101010101" pitchFamily="18" charset="-127"/>
                          <a:cs typeface="+mn-cs"/>
                        </a:rPr>
                        <a:t>급여의 기준과 정도는 </a:t>
                      </a:r>
                      <a:r>
                        <a:rPr lang="ko-KR" altLang="en-US" sz="16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태 나무" panose="02030603000101010101" pitchFamily="18" charset="-127"/>
                          <a:cs typeface="+mn-cs"/>
                        </a:rPr>
                        <a:t>건강하고 문화적인 최저생활을 유지</a:t>
                      </a:r>
                      <a:r>
                        <a:rPr lang="ko-KR" alt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태 나무" panose="02030603000101010101" pitchFamily="18" charset="-127"/>
                          <a:cs typeface="+mn-cs"/>
                        </a:rPr>
                        <a:t>할 수 있는 수준이어야 함</a:t>
                      </a:r>
                      <a:r>
                        <a:rPr lang="en-US" altLang="ko-KR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태 나무" panose="0203060300010101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태 나무" panose="02030603000101010101" pitchFamily="18" charset="-127"/>
                          <a:cs typeface="+mn-cs"/>
                        </a:rPr>
                        <a:t>보충성의 원칙 적용</a:t>
                      </a:r>
                      <a:r>
                        <a:rPr lang="en-US" altLang="ko-KR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태 나무" panose="02030603000101010101" pitchFamily="18" charset="-127"/>
                          <a:cs typeface="+mn-cs"/>
                        </a:rPr>
                        <a:t>)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태 나무" panose="02030603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7749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필요즉응의 원칙 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85750" marR="0" indent="-28575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개인 또는 세대가 필요한 것을 고려하여 적절하게 급여 실시</a:t>
                      </a: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9595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개별가구 단위의 원칙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85750" marR="0" indent="-28575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급여는 개별가구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(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세대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)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 단위로 실시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(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필요한 경우 개인단위도 실시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)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태 나무" panose="02030603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1442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현금급여의 원칙 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85750" marR="0" indent="-28575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급여는 원칙적으로 현금으로 지급해야 함</a:t>
                      </a: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3288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거택보호의 원칙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85750" marR="0" indent="-28575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보호의 제공은 원칙적으로 수급자의 주거에서 실시하여야 함</a:t>
                      </a: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5134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가족부양우선의 원칙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85750" marR="0" indent="-28575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부양의무자가 있는 경우 부양의무자의 부양의무 이행이 우선</a:t>
                      </a: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6981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타 급여 우선의 원칙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85750" marR="0" indent="-28575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다른 법률에서 정한 보호는 공공부조 보호에 우선하여 적용</a:t>
                      </a: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42174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72534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4.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적용대상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7631363"/>
              </p:ext>
            </p:extLst>
          </p:nvPr>
        </p:nvGraphicFramePr>
        <p:xfrm>
          <a:off x="323528" y="1772817"/>
          <a:ext cx="8589966" cy="4669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899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68151">
                <a:tc>
                  <a:txBody>
                    <a:bodyPr/>
                    <a:lstStyle/>
                    <a:p>
                      <a:pPr marL="342900" marR="0" indent="-34290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2000" b="0" kern="1200" dirty="0" err="1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수급권자란</a:t>
                      </a:r>
                      <a:r>
                        <a:rPr lang="ko-KR" altLang="en-US" sz="2000" b="0" kern="120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급여를 받을 수 있는 자격을 가진 사람을 의미</a:t>
                      </a:r>
                      <a:endParaRPr lang="en-US" altLang="ko-KR" sz="2000" b="0" kern="1200" dirty="0">
                        <a:solidFill>
                          <a:schemeClr val="bg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342900" marR="0" indent="-34290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2000" b="0" kern="1200" dirty="0" err="1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수급권자가</a:t>
                      </a:r>
                      <a:r>
                        <a:rPr lang="ko-KR" altLang="en-US" sz="2000" b="0" kern="120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되기 위해서는</a:t>
                      </a:r>
                      <a:r>
                        <a:rPr lang="ko-KR" altLang="en-US" sz="2000" b="0" i="0" kern="120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 가구의</a:t>
                      </a:r>
                      <a:r>
                        <a:rPr lang="ko-KR" altLang="en-US" sz="2000" b="0" i="0" kern="120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 </a:t>
                      </a:r>
                      <a:r>
                        <a:rPr lang="ko-KR" altLang="en-US" sz="2000" b="0" i="0" kern="1200" dirty="0" err="1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소득인정액기준</a:t>
                      </a:r>
                      <a:r>
                        <a:rPr lang="ko-KR" altLang="en-US" sz="2000" b="0" i="0" kern="1200" dirty="0" err="1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과</a:t>
                      </a:r>
                      <a:r>
                        <a:rPr lang="ko-KR" altLang="en-US" sz="2000" b="0" i="0" kern="120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 </a:t>
                      </a:r>
                      <a:r>
                        <a:rPr lang="ko-KR" altLang="en-US" sz="2000" b="0" i="0" kern="120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부양의무자기준</a:t>
                      </a:r>
                      <a:r>
                        <a:rPr lang="ko-KR" altLang="en-US" sz="2000" b="0" i="0" kern="120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을</a:t>
                      </a:r>
                      <a:r>
                        <a:rPr lang="ko-KR" altLang="en-US" sz="2000" b="0" i="0" kern="1200" dirty="0">
                          <a:solidFill>
                            <a:srgbClr val="00B05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 </a:t>
                      </a:r>
                      <a:r>
                        <a:rPr lang="ko-KR" altLang="en-US" sz="2000" b="0" i="0" kern="1200" dirty="0">
                          <a:solidFill>
                            <a:srgbClr val="FF0000"/>
                          </a:solidFill>
                          <a:effectLst/>
                          <a:latin typeface="HY목판L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동시</a:t>
                      </a:r>
                      <a:r>
                        <a:rPr lang="ko-KR" altLang="en-US" sz="2000" b="0" i="0" kern="120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에 충족</a:t>
                      </a:r>
                      <a:r>
                        <a:rPr lang="ko-KR" altLang="en-US" sz="2000" b="0" i="0" kern="120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해야 됨</a:t>
                      </a:r>
                      <a:endParaRPr lang="en-US" altLang="ko-KR" sz="2000" b="0" i="0" kern="1200" dirty="0">
                        <a:solidFill>
                          <a:schemeClr val="bg1"/>
                        </a:solidFill>
                        <a:effectLst/>
                        <a:latin typeface="HY울릉도M" panose="02030600000101010101" pitchFamily="18" charset="-127"/>
                        <a:ea typeface="태 나무" panose="02030603000101010101" pitchFamily="18" charset="-127"/>
                        <a:cs typeface="+mn-cs"/>
                      </a:endParaRPr>
                    </a:p>
                    <a:p>
                      <a:pPr marL="342900" marR="0" indent="-34290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2000" b="0" i="0" kern="1200" dirty="0">
                          <a:solidFill>
                            <a:srgbClr val="FFC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생계급여</a:t>
                      </a:r>
                      <a:r>
                        <a:rPr lang="en-US" altLang="ko-KR" sz="2000" b="0" i="0" kern="1200" dirty="0">
                          <a:solidFill>
                            <a:srgbClr val="FFC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2000" b="0" i="0" kern="1200" dirty="0">
                          <a:solidFill>
                            <a:srgbClr val="FFC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주거급여</a:t>
                      </a:r>
                      <a:r>
                        <a:rPr lang="en-US" altLang="ko-KR" sz="2000" b="0" i="0" kern="1200" dirty="0">
                          <a:solidFill>
                            <a:srgbClr val="FFC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2000" b="0" i="0" kern="1200" dirty="0">
                          <a:solidFill>
                            <a:srgbClr val="FFC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교육급여는 부양의무자 기준 폐지</a:t>
                      </a:r>
                      <a:r>
                        <a:rPr lang="en-US" altLang="ko-KR" sz="2000" b="0" i="0" kern="1200" dirty="0">
                          <a:solidFill>
                            <a:srgbClr val="FFC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2000" b="0" i="0" kern="1200" dirty="0">
                          <a:solidFill>
                            <a:srgbClr val="FFC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또는 미적용</a:t>
                      </a:r>
                      <a:endParaRPr lang="en-US" altLang="ko-KR" sz="2000" b="0" i="0" kern="1200" dirty="0">
                        <a:solidFill>
                          <a:srgbClr val="FFC000"/>
                        </a:solidFill>
                        <a:effectLst/>
                        <a:latin typeface="HY울릉도M" panose="02030600000101010101" pitchFamily="18" charset="-127"/>
                        <a:ea typeface="태 나무" panose="02030603000101010101" pitchFamily="18" charset="-127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774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2000" b="1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ⓐ </a:t>
                      </a:r>
                      <a:r>
                        <a:rPr lang="ko-KR" altLang="en-US" sz="2000" b="1" baseline="0" dirty="0" err="1">
                          <a:solidFill>
                            <a:srgbClr val="9933FF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소득인정액</a:t>
                      </a:r>
                      <a:r>
                        <a:rPr lang="ko-KR" altLang="en-US" sz="2000" b="1" baseline="0" dirty="0">
                          <a:solidFill>
                            <a:srgbClr val="9933FF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기준 충족</a:t>
                      </a:r>
                      <a:endParaRPr lang="en-US" altLang="ko-KR" sz="2000" b="1" baseline="0" dirty="0">
                        <a:solidFill>
                          <a:srgbClr val="9933FF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285750" marR="0" indent="-2857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2000" b="0" dirty="0" err="1">
                          <a:solidFill>
                            <a:schemeClr val="tx1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소득인정액이</a:t>
                      </a:r>
                      <a:r>
                        <a:rPr lang="ko-KR" altLang="en-US" sz="2000" b="0" dirty="0">
                          <a:solidFill>
                            <a:schemeClr val="tx1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보건복지부가 중앙생활보장위원회의 심의</a:t>
                      </a:r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.</a:t>
                      </a:r>
                      <a:r>
                        <a:rPr lang="ko-KR" altLang="en-US" sz="2000" b="0" dirty="0">
                          <a:solidFill>
                            <a:schemeClr val="tx1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의결을 거쳐 결정하는 </a:t>
                      </a:r>
                      <a:r>
                        <a:rPr lang="ko-KR" altLang="en-US" sz="2000" b="1" dirty="0">
                          <a:solidFill>
                            <a:srgbClr val="C00000"/>
                          </a:solidFill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급여 별 선정기준 금액 이하</a:t>
                      </a:r>
                      <a:r>
                        <a:rPr lang="ko-KR" altLang="en-US" sz="2000" b="0" dirty="0">
                          <a:solidFill>
                            <a:schemeClr val="tx1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이어야 함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774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2000" b="1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ⓑ</a:t>
                      </a:r>
                      <a:r>
                        <a:rPr lang="ko-KR" altLang="en-US" sz="20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ko-KR" altLang="en-US" sz="2000" b="1" kern="1200" dirty="0">
                          <a:solidFill>
                            <a:srgbClr val="00B05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부양의무자 기준 충족</a:t>
                      </a:r>
                      <a:endParaRPr lang="en-US" altLang="ko-KR" sz="2000" b="1" kern="1200" dirty="0">
                        <a:solidFill>
                          <a:srgbClr val="00B05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284400" marR="0" indent="-28440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2000" b="0" dirty="0">
                          <a:solidFill>
                            <a:schemeClr val="tx1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부양의무자</a:t>
                      </a:r>
                      <a:r>
                        <a:rPr lang="ko-KR" altLang="en-US" sz="20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가 없거나 부양의무자가 있어도 부양능력이 없거나 부양을 받을 수 없어야 함</a:t>
                      </a:r>
                      <a:endParaRPr lang="ko-KR" altLang="en-US" sz="2000" spc="-150" dirty="0">
                        <a:solidFill>
                          <a:srgbClr val="FF3399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모서리가 둥근 직사각형 5"/>
          <p:cNvSpPr/>
          <p:nvPr/>
        </p:nvSpPr>
        <p:spPr>
          <a:xfrm>
            <a:off x="323528" y="980728"/>
            <a:ext cx="5040560" cy="45718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>
              <a:spcBef>
                <a:spcPct val="0"/>
              </a:spcBef>
              <a:defRPr/>
            </a:pPr>
            <a:r>
              <a:rPr lang="en-US" altLang="ko-KR" sz="24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 1) </a:t>
            </a:r>
            <a:r>
              <a:rPr lang="ko-KR" altLang="en-US" sz="2400" dirty="0" err="1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수급권자</a:t>
            </a:r>
            <a:r>
              <a:rPr lang="ko-KR" altLang="en-US" sz="24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 선정기준</a:t>
            </a:r>
          </a:p>
        </p:txBody>
      </p:sp>
    </p:spTree>
    <p:extLst>
      <p:ext uri="{BB962C8B-B14F-4D97-AF65-F5344CB8AC3E}">
        <p14:creationId xmlns:p14="http://schemas.microsoft.com/office/powerpoint/2010/main" val="19303448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72534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4.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적용대상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8268251"/>
              </p:ext>
            </p:extLst>
          </p:nvPr>
        </p:nvGraphicFramePr>
        <p:xfrm>
          <a:off x="323528" y="1916832"/>
          <a:ext cx="8568952" cy="42484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8121">
                <a:tc gridSpan="2">
                  <a:txBody>
                    <a:bodyPr/>
                    <a:lstStyle/>
                    <a:p>
                      <a:pPr marL="285750" marR="0" indent="-285750" algn="l" defTabSz="914400" rtl="0" eaLnBrk="1" fontAlgn="auto" latinLnBrk="1" hangingPunct="1">
                        <a:lnSpc>
                          <a:spcPts val="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2000" b="1" kern="1200" dirty="0" err="1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소득인정액</a:t>
                      </a:r>
                      <a:r>
                        <a:rPr lang="ko-KR" altLang="en-US" sz="2000" b="1" kern="120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2000" b="1" kern="120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= </a:t>
                      </a:r>
                      <a:r>
                        <a:rPr lang="ko-KR" altLang="en-US" sz="2000" b="1" kern="120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㉮</a:t>
                      </a:r>
                      <a:r>
                        <a:rPr lang="en-US" altLang="ko-KR" sz="2000" b="1" kern="120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 </a:t>
                      </a:r>
                      <a:r>
                        <a:rPr lang="ko-KR" altLang="en-US" sz="2000" b="1" kern="1200" dirty="0" err="1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소득평가액</a:t>
                      </a:r>
                      <a:r>
                        <a:rPr lang="ko-KR" altLang="en-US" sz="2000" b="1" kern="120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2000" b="1" kern="120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+ </a:t>
                      </a:r>
                      <a:r>
                        <a:rPr lang="ko-KR" altLang="en-US" sz="2000" b="1" kern="120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㉯</a:t>
                      </a:r>
                      <a:r>
                        <a:rPr lang="en-US" altLang="ko-KR" sz="2000" b="1" kern="120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 </a:t>
                      </a:r>
                      <a:r>
                        <a:rPr lang="ko-KR" altLang="en-US" sz="2000" b="1" kern="120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재산의 </a:t>
                      </a:r>
                      <a:r>
                        <a:rPr lang="ko-KR" altLang="en-US" sz="2000" b="1" kern="1200" dirty="0" err="1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소득환산액</a:t>
                      </a:r>
                      <a:endParaRPr lang="ko-KR" altLang="en-US" sz="2000" b="1" dirty="0">
                        <a:solidFill>
                          <a:srgbClr val="FFFF00"/>
                        </a:solidFill>
                        <a:latin typeface="HY울릉도M" panose="02030600000101010101" pitchFamily="18" charset="-127"/>
                        <a:ea typeface="태 나무" panose="02030603000101010101" pitchFamily="18" charset="-127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6817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ts val="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kern="1200" dirty="0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㉮ </a:t>
                      </a:r>
                      <a:r>
                        <a:rPr lang="ko-KR" altLang="en-US" sz="1800" b="1" kern="1200" dirty="0" err="1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소득평가액</a:t>
                      </a:r>
                      <a:r>
                        <a:rPr lang="ko-KR" altLang="en-US" sz="1800" b="1" kern="1200" dirty="0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b="1" kern="1200" dirty="0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= </a:t>
                      </a:r>
                      <a:r>
                        <a:rPr lang="ko-KR" altLang="en-US" sz="1800" b="1" kern="1200" dirty="0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실제소득 </a:t>
                      </a:r>
                      <a:r>
                        <a:rPr lang="en-US" altLang="ko-KR" sz="1800" b="1" kern="1200" dirty="0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- </a:t>
                      </a:r>
                      <a:r>
                        <a:rPr lang="ko-KR" altLang="en-US" sz="1800" b="1" kern="1200" dirty="0" err="1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가구특성별</a:t>
                      </a:r>
                      <a:r>
                        <a:rPr lang="ko-KR" altLang="en-US" sz="1800" b="1" kern="1200" dirty="0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 지출비용 </a:t>
                      </a:r>
                      <a:r>
                        <a:rPr lang="en-US" altLang="ko-KR" sz="1800" b="1" kern="1200" dirty="0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-</a:t>
                      </a:r>
                      <a:r>
                        <a:rPr lang="ko-KR" altLang="en-US" sz="1800" b="1" kern="1200" dirty="0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근로소득공제</a:t>
                      </a:r>
                      <a:endParaRPr lang="ko-KR" altLang="en-US" sz="1800" b="1" dirty="0">
                        <a:solidFill>
                          <a:srgbClr val="C00000"/>
                        </a:solidFill>
                        <a:latin typeface="HY울릉도M" panose="02030600000101010101" pitchFamily="18" charset="-127"/>
                        <a:ea typeface="태 나무" panose="02030603000101010101" pitchFamily="18" charset="-127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0098">
                <a:tc gridSpan="2">
                  <a:txBody>
                    <a:bodyPr/>
                    <a:lstStyle/>
                    <a:p>
                      <a:pPr marL="0" indent="0" fontAlgn="base" latinLnBrk="1">
                        <a:lnSpc>
                          <a:spcPts val="3000"/>
                        </a:lnSpc>
                        <a:buFontTx/>
                        <a:buNone/>
                      </a:pPr>
                      <a:r>
                        <a:rPr lang="ko-KR" altLang="en-US" sz="1800" b="1" kern="1200" dirty="0">
                          <a:solidFill>
                            <a:srgbClr val="9933FF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㉯ 재산의 </a:t>
                      </a:r>
                      <a:r>
                        <a:rPr lang="ko-KR" altLang="en-US" sz="1800" b="1" kern="1200" dirty="0" err="1">
                          <a:solidFill>
                            <a:srgbClr val="9933FF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소득환산액</a:t>
                      </a:r>
                      <a:r>
                        <a:rPr lang="ko-KR" altLang="en-US" sz="1800" b="1" kern="1200" dirty="0">
                          <a:solidFill>
                            <a:srgbClr val="9933FF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b="1" kern="1200" dirty="0">
                          <a:solidFill>
                            <a:srgbClr val="9933FF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= (</a:t>
                      </a:r>
                      <a:r>
                        <a:rPr lang="ko-KR" altLang="en-US" sz="1800" b="1" kern="1200" dirty="0">
                          <a:solidFill>
                            <a:srgbClr val="9933FF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재산가액</a:t>
                      </a:r>
                      <a:r>
                        <a:rPr lang="en-US" altLang="ko-KR" sz="1800" b="1" kern="1200" dirty="0">
                          <a:solidFill>
                            <a:srgbClr val="9933FF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-</a:t>
                      </a:r>
                      <a:r>
                        <a:rPr lang="ko-KR" altLang="en-US" sz="1800" b="1" kern="1200" dirty="0" err="1">
                          <a:solidFill>
                            <a:srgbClr val="9933FF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기본재산액</a:t>
                      </a:r>
                      <a:r>
                        <a:rPr lang="en-US" altLang="ko-KR" sz="1800" b="1" kern="1200" dirty="0">
                          <a:solidFill>
                            <a:srgbClr val="9933FF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-</a:t>
                      </a:r>
                      <a:r>
                        <a:rPr lang="ko-KR" altLang="en-US" sz="1800" b="1" kern="1200" dirty="0">
                          <a:solidFill>
                            <a:srgbClr val="9933FF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부채</a:t>
                      </a:r>
                      <a:r>
                        <a:rPr lang="en-US" altLang="ko-KR" sz="1800" b="1" kern="1200" dirty="0">
                          <a:solidFill>
                            <a:srgbClr val="9933FF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) Ⅹ </a:t>
                      </a:r>
                      <a:r>
                        <a:rPr lang="ko-KR" altLang="en-US" sz="1800" b="1" kern="1200" dirty="0">
                          <a:solidFill>
                            <a:srgbClr val="9933FF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재산종류별 </a:t>
                      </a:r>
                      <a:r>
                        <a:rPr lang="ko-KR" altLang="en-US" sz="1800" b="1" kern="1200" dirty="0" err="1">
                          <a:solidFill>
                            <a:srgbClr val="9933FF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소득환산율</a:t>
                      </a:r>
                      <a:endParaRPr lang="ko-KR" altLang="en-US" sz="1800" b="1" dirty="0">
                        <a:solidFill>
                          <a:srgbClr val="9933FF"/>
                        </a:solidFill>
                        <a:latin typeface="HY울릉도M" panose="02030600000101010101" pitchFamily="18" charset="-127"/>
                        <a:ea typeface="태 나무" panose="02030603000101010101" pitchFamily="18" charset="-127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9352">
                <a:tc>
                  <a:txBody>
                    <a:bodyPr/>
                    <a:lstStyle/>
                    <a:p>
                      <a:pPr marL="0" indent="0" algn="ctr" fontAlgn="base" latinLnBrk="1">
                        <a:lnSpc>
                          <a:spcPts val="2500"/>
                        </a:lnSpc>
                        <a:buFontTx/>
                        <a:buNone/>
                      </a:pP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실제소득 </a:t>
                      </a:r>
                      <a:endParaRPr lang="en-US" altLang="ko-KR" sz="1800" b="0" kern="1200" dirty="0">
                        <a:solidFill>
                          <a:schemeClr val="tx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ase" latinLnBrk="1" hangingPunct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- </a:t>
                      </a:r>
                      <a:r>
                        <a:rPr lang="ko-KR" altLang="en-US" sz="18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근로소득</a:t>
                      </a:r>
                      <a:r>
                        <a:rPr lang="en-US" altLang="ko-KR" sz="18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사업소득</a:t>
                      </a:r>
                      <a:r>
                        <a:rPr lang="en-US" altLang="ko-KR" sz="18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재산소득</a:t>
                      </a:r>
                      <a:r>
                        <a:rPr lang="en-US" altLang="ko-KR" sz="18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8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임대료</a:t>
                      </a:r>
                      <a:r>
                        <a:rPr lang="en-US" altLang="ko-KR" sz="18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이자</a:t>
                      </a:r>
                      <a:r>
                        <a:rPr lang="en-US" altLang="ko-KR" sz="18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), </a:t>
                      </a:r>
                      <a:r>
                        <a:rPr lang="ko-KR" altLang="en-US" sz="18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이전소득</a:t>
                      </a:r>
                      <a:r>
                        <a:rPr lang="en-US" altLang="ko-KR" sz="18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8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공적</a:t>
                      </a:r>
                      <a:r>
                        <a:rPr lang="en-US" altLang="ko-KR" sz="18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사적</a:t>
                      </a:r>
                      <a:r>
                        <a:rPr lang="en-US" altLang="ko-KR" sz="18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)</a:t>
                      </a:r>
                      <a:endParaRPr lang="ko-KR" altLang="en-US" sz="1800" b="0" dirty="0">
                        <a:solidFill>
                          <a:srgbClr val="FF000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17578">
                <a:tc>
                  <a:txBody>
                    <a:bodyPr/>
                    <a:lstStyle/>
                    <a:p>
                      <a:pPr marL="0" indent="0" algn="ctr" fontAlgn="base" latinLnBrk="1">
                        <a:lnSpc>
                          <a:spcPts val="2500"/>
                        </a:lnSpc>
                        <a:buFontTx/>
                        <a:buNone/>
                      </a:pPr>
                      <a:endParaRPr lang="en-US" altLang="ko-KR" sz="1800" b="0" kern="1200" dirty="0">
                        <a:solidFill>
                          <a:schemeClr val="tx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0" indent="0" algn="ctr" fontAlgn="base" latinLnBrk="1">
                        <a:lnSpc>
                          <a:spcPts val="2500"/>
                        </a:lnSpc>
                        <a:buFontTx/>
                        <a:buNone/>
                      </a:pP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가구특성별 </a:t>
                      </a:r>
                      <a:endParaRPr lang="en-US" altLang="ko-KR" sz="1800" b="0" kern="1200" dirty="0">
                        <a:solidFill>
                          <a:schemeClr val="tx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0" indent="0" algn="ctr" fontAlgn="base" latinLnBrk="1">
                        <a:lnSpc>
                          <a:spcPts val="2500"/>
                        </a:lnSpc>
                        <a:buFontTx/>
                        <a:buNone/>
                      </a:pP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지출비용</a:t>
                      </a:r>
                      <a:endParaRPr lang="ko-KR" altLang="en-US" sz="1800" b="0" dirty="0">
                        <a:solidFill>
                          <a:schemeClr val="tx1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fontAlgn="base" latinLnBrk="1">
                        <a:lnSpc>
                          <a:spcPts val="2500"/>
                        </a:lnSpc>
                        <a:buFontTx/>
                        <a:buChar char="-"/>
                      </a:pPr>
                      <a:r>
                        <a:rPr lang="ko-KR" altLang="en-US" sz="18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장애인</a:t>
                      </a:r>
                      <a:r>
                        <a:rPr lang="en-US" altLang="ko-KR" sz="18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아동</a:t>
                      </a:r>
                      <a:r>
                        <a:rPr lang="en-US" altLang="ko-KR" sz="18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만성질환자 등 특별히 생계비가 많이 소요되는 가구에 지원하는 비용</a:t>
                      </a:r>
                      <a:r>
                        <a:rPr lang="en-US" altLang="ko-KR" sz="18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8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장애인연금</a:t>
                      </a:r>
                      <a:r>
                        <a:rPr lang="en-US" altLang="ko-KR" sz="18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장애수당</a:t>
                      </a:r>
                      <a:r>
                        <a:rPr lang="en-US" altLang="ko-KR" sz="18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양육수당</a:t>
                      </a:r>
                      <a:r>
                        <a:rPr lang="en-US" altLang="ko-KR" sz="18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만성질환자의 지속적 의료비 등</a:t>
                      </a:r>
                      <a:r>
                        <a:rPr lang="en-US" altLang="ko-KR" sz="18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)</a:t>
                      </a:r>
                      <a:endParaRPr lang="ko-KR" altLang="en-US" sz="1800" b="0" dirty="0">
                        <a:solidFill>
                          <a:srgbClr val="FF000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650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근로소득</a:t>
                      </a:r>
                      <a:endParaRPr lang="en-US" altLang="ko-KR" sz="1800" kern="0" spc="-5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indent="0" algn="ctr" fontAlgn="base" latinLnBrk="0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공제</a:t>
                      </a:r>
                    </a:p>
                  </a:txBody>
                  <a:tcPr marL="64770" marR="64770" marT="17907" marB="17907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-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근로소득 및 사업소득을 통해 얻은 소득에 대한 공제액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(30%)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모서리가 둥근 직사각형 4"/>
          <p:cNvSpPr/>
          <p:nvPr/>
        </p:nvSpPr>
        <p:spPr>
          <a:xfrm>
            <a:off x="323528" y="980728"/>
            <a:ext cx="6696744" cy="45718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>
              <a:spcBef>
                <a:spcPct val="0"/>
              </a:spcBef>
              <a:defRPr/>
            </a:pPr>
            <a:r>
              <a:rPr lang="en-US" altLang="ko-KR" sz="24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 1) </a:t>
            </a:r>
            <a:r>
              <a:rPr lang="ko-KR" altLang="en-US" sz="2400" dirty="0" err="1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수급권자</a:t>
            </a:r>
            <a:r>
              <a:rPr lang="ko-KR" altLang="en-US" sz="24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 선정기준</a:t>
            </a:r>
            <a:r>
              <a:rPr lang="en-US" altLang="ko-KR" sz="24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-(1)</a:t>
            </a:r>
            <a:r>
              <a:rPr lang="ko-KR" altLang="en-US" sz="24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소득인정액 기준</a:t>
            </a:r>
          </a:p>
        </p:txBody>
      </p:sp>
    </p:spTree>
    <p:extLst>
      <p:ext uri="{BB962C8B-B14F-4D97-AF65-F5344CB8AC3E}">
        <p14:creationId xmlns:p14="http://schemas.microsoft.com/office/powerpoint/2010/main" val="6857302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72534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4.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적용대상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8197829"/>
              </p:ext>
            </p:extLst>
          </p:nvPr>
        </p:nvGraphicFramePr>
        <p:xfrm>
          <a:off x="272534" y="1772816"/>
          <a:ext cx="8640960" cy="4826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0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655297320"/>
                    </a:ext>
                  </a:extLst>
                </a:gridCol>
                <a:gridCol w="70057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70061"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재산</a:t>
                      </a:r>
                    </a:p>
                  </a:txBody>
                  <a:tcPr marL="64770" marR="64770" marT="17907" marB="17907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ko-KR" altLang="en-US" sz="1600" b="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일반재산액</a:t>
                      </a:r>
                      <a:endParaRPr lang="ko-KR" altLang="en-US" sz="1600" b="0" kern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en-US" altLang="ko-KR" sz="1600" b="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(</a:t>
                      </a:r>
                      <a:r>
                        <a:rPr lang="ko-KR" altLang="en-US" sz="1600" b="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주거용 재산</a:t>
                      </a:r>
                      <a:r>
                        <a:rPr lang="en-US" altLang="ko-KR" sz="1600" b="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)</a:t>
                      </a:r>
                      <a:endParaRPr lang="ko-KR" altLang="en-US" sz="1600" b="0" kern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b="0" kern="0" spc="-1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- </a:t>
                      </a:r>
                      <a:r>
                        <a:rPr lang="ko-KR" altLang="en-US" sz="1600" b="0" kern="0" spc="-1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생계</a:t>
                      </a:r>
                      <a:r>
                        <a:rPr lang="en-US" altLang="ko-KR" sz="1600" b="0" kern="0" spc="-1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600" b="0" kern="0" spc="-1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주거</a:t>
                      </a:r>
                      <a:r>
                        <a:rPr lang="en-US" altLang="ko-KR" sz="1600" b="0" kern="0" spc="-1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600" b="0" kern="0" spc="-1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교육급여</a:t>
                      </a:r>
                      <a:r>
                        <a:rPr lang="en-US" altLang="ko-KR" sz="1600" b="0" kern="0" spc="-1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: </a:t>
                      </a:r>
                      <a:r>
                        <a:rPr lang="ko-KR" altLang="en-US" sz="1600" b="0" kern="0" spc="-1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대도시 </a:t>
                      </a:r>
                      <a:r>
                        <a:rPr lang="en-US" altLang="ko-KR" sz="1600" b="0" kern="0" spc="-1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1.2</a:t>
                      </a:r>
                      <a:r>
                        <a:rPr lang="ko-KR" altLang="en-US" sz="1600" b="0" kern="0" spc="-1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억원</a:t>
                      </a:r>
                      <a:r>
                        <a:rPr lang="en-US" altLang="ko-KR" sz="1600" b="0" kern="0" spc="-1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600" b="0" kern="0" spc="-1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중소도시 </a:t>
                      </a:r>
                      <a:r>
                        <a:rPr lang="en-US" altLang="ko-KR" sz="1600" b="0" kern="0" spc="-1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9,000</a:t>
                      </a:r>
                      <a:r>
                        <a:rPr lang="ko-KR" altLang="en-US" sz="1600" b="0" kern="0" spc="-1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만원</a:t>
                      </a:r>
                      <a:r>
                        <a:rPr lang="en-US" altLang="ko-KR" sz="1600" b="0" kern="0" spc="-1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600" b="0" kern="0" spc="-1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농어촌 </a:t>
                      </a:r>
                      <a:r>
                        <a:rPr lang="en-US" altLang="ko-KR" sz="1600" b="0" kern="0" spc="-1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5,200</a:t>
                      </a:r>
                      <a:r>
                        <a:rPr lang="ko-KR" altLang="en-US" sz="1600" b="0" kern="0" spc="-1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만원</a:t>
                      </a: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b="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- </a:t>
                      </a:r>
                      <a:r>
                        <a:rPr lang="ko-KR" altLang="en-US" sz="1600" b="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의료급여 </a:t>
                      </a:r>
                      <a:r>
                        <a:rPr lang="en-US" altLang="ko-KR" sz="1600" b="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: </a:t>
                      </a:r>
                      <a:r>
                        <a:rPr lang="ko-KR" altLang="en-US" sz="1600" b="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대도시 </a:t>
                      </a:r>
                      <a:r>
                        <a:rPr lang="en-US" altLang="ko-KR" sz="1600" b="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1</a:t>
                      </a:r>
                      <a:r>
                        <a:rPr lang="ko-KR" altLang="en-US" sz="1600" b="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억원</a:t>
                      </a:r>
                      <a:r>
                        <a:rPr lang="en-US" altLang="ko-KR" sz="1600" b="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600" b="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중소도시 </a:t>
                      </a:r>
                      <a:r>
                        <a:rPr lang="en-US" altLang="ko-KR" sz="1600" b="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6,800</a:t>
                      </a:r>
                      <a:r>
                        <a:rPr lang="ko-KR" altLang="en-US" sz="1600" b="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만원</a:t>
                      </a:r>
                      <a:r>
                        <a:rPr lang="en-US" altLang="ko-KR" sz="1600" b="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600" b="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농어촌 </a:t>
                      </a:r>
                      <a:r>
                        <a:rPr lang="en-US" altLang="ko-KR" sz="1600" b="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3,800</a:t>
                      </a:r>
                      <a:r>
                        <a:rPr lang="ko-KR" altLang="en-US" sz="1600" b="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만원</a:t>
                      </a: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b="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- </a:t>
                      </a:r>
                      <a:r>
                        <a:rPr lang="ko-KR" altLang="en-US" sz="1600" b="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초과되는 주거용 재산은 일반재산으로 계산함</a:t>
                      </a:r>
                    </a:p>
                  </a:txBody>
                  <a:tcPr marL="64770" marR="64770" marT="17907" marB="17907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90179"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0" spc="-5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ko-KR" altLang="en-US" sz="1600" b="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기본재산액</a:t>
                      </a:r>
                      <a:endParaRPr lang="ko-KR" altLang="en-US" sz="1600" b="0" kern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b="0" kern="0" spc="-1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- </a:t>
                      </a:r>
                      <a:r>
                        <a:rPr lang="ko-KR" altLang="en-US" sz="1600" b="0" kern="0" spc="-1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생계</a:t>
                      </a:r>
                      <a:r>
                        <a:rPr lang="en-US" altLang="ko-KR" sz="1600" b="0" kern="0" spc="-1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600" b="0" kern="0" spc="-1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주거</a:t>
                      </a:r>
                      <a:r>
                        <a:rPr lang="en-US" altLang="ko-KR" sz="1600" b="0" kern="0" spc="-1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600" b="0" kern="0" spc="-1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교육급여</a:t>
                      </a:r>
                      <a:r>
                        <a:rPr lang="en-US" altLang="ko-KR" sz="1600" b="0" kern="0" spc="-1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: </a:t>
                      </a:r>
                      <a:r>
                        <a:rPr lang="ko-KR" altLang="en-US" sz="1600" b="0" kern="0" spc="-1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대도시 </a:t>
                      </a:r>
                      <a:r>
                        <a:rPr lang="en-US" altLang="ko-KR" sz="1600" b="0" kern="0" spc="-1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6,900</a:t>
                      </a:r>
                      <a:r>
                        <a:rPr lang="ko-KR" altLang="en-US" sz="1600" b="0" kern="0" spc="-1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만 원</a:t>
                      </a:r>
                      <a:r>
                        <a:rPr lang="en-US" altLang="ko-KR" sz="1600" b="0" kern="0" spc="-1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600" b="0" kern="0" spc="-1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중소도시 </a:t>
                      </a:r>
                      <a:r>
                        <a:rPr lang="en-US" altLang="ko-KR" sz="1600" b="0" kern="0" spc="-1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4,200</a:t>
                      </a:r>
                      <a:r>
                        <a:rPr lang="ko-KR" altLang="en-US" sz="1600" b="0" kern="0" spc="-1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만 원</a:t>
                      </a:r>
                      <a:r>
                        <a:rPr lang="en-US" altLang="ko-KR" sz="1600" b="0" kern="0" spc="-1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600" b="0" kern="0" spc="-1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농어촌 </a:t>
                      </a:r>
                      <a:r>
                        <a:rPr lang="en-US" altLang="ko-KR" sz="1600" b="0" kern="0" spc="-1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3,500</a:t>
                      </a:r>
                      <a:r>
                        <a:rPr lang="ko-KR" altLang="en-US" sz="1600" b="0" kern="0" spc="-1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만 원</a:t>
                      </a: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b="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- </a:t>
                      </a:r>
                      <a:r>
                        <a:rPr lang="ko-KR" altLang="en-US" sz="1600" b="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의료급여 </a:t>
                      </a:r>
                      <a:r>
                        <a:rPr lang="en-US" altLang="ko-KR" sz="1600" b="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: </a:t>
                      </a:r>
                      <a:r>
                        <a:rPr lang="ko-KR" altLang="en-US" sz="1600" b="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대도시 </a:t>
                      </a:r>
                      <a:r>
                        <a:rPr lang="en-US" altLang="ko-KR" sz="1600" b="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5,400</a:t>
                      </a:r>
                      <a:r>
                        <a:rPr lang="ko-KR" altLang="en-US" sz="1600" b="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만 원</a:t>
                      </a:r>
                      <a:r>
                        <a:rPr lang="en-US" altLang="ko-KR" sz="1600" b="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600" b="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중소도시 </a:t>
                      </a:r>
                      <a:r>
                        <a:rPr lang="en-US" altLang="ko-KR" sz="1600" b="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3,400</a:t>
                      </a:r>
                      <a:r>
                        <a:rPr lang="ko-KR" altLang="en-US" sz="1600" b="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만 원</a:t>
                      </a:r>
                      <a:r>
                        <a:rPr lang="en-US" altLang="ko-KR" sz="1600" b="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600" b="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농어촌 </a:t>
                      </a:r>
                      <a:r>
                        <a:rPr lang="en-US" altLang="ko-KR" sz="1600" b="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2,900</a:t>
                      </a:r>
                      <a:r>
                        <a:rPr lang="ko-KR" altLang="en-US" sz="1600" b="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만 원</a:t>
                      </a:r>
                      <a:endParaRPr lang="en-US" altLang="ko-KR" sz="1600" b="0" kern="0" spc="-5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421433"/>
                  </a:ext>
                </a:extLst>
              </a:tr>
              <a:tr h="84302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ko-KR" altLang="en-US" sz="1600" b="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자동차</a:t>
                      </a:r>
                      <a:endParaRPr lang="en-US" altLang="ko-KR" sz="1600" b="0" kern="0" spc="-5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ko-KR" altLang="en-US" sz="1600" b="0" kern="0" spc="-50" dirty="0" err="1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재산액</a:t>
                      </a:r>
                      <a:endParaRPr lang="ko-KR" altLang="en-US" sz="1600" b="0" kern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b="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‑ </a:t>
                      </a:r>
                      <a:r>
                        <a:rPr lang="ko-KR" altLang="en-US" sz="1600" b="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종류 </a:t>
                      </a:r>
                      <a:r>
                        <a:rPr lang="en-US" altLang="ko-KR" sz="1600" b="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: </a:t>
                      </a:r>
                      <a:r>
                        <a:rPr lang="ko-KR" altLang="en-US" sz="1600" b="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승용자동차</a:t>
                      </a:r>
                      <a:r>
                        <a:rPr lang="en-US" altLang="ko-KR" sz="1600" b="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600" b="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승합자동차</a:t>
                      </a:r>
                      <a:r>
                        <a:rPr lang="en-US" altLang="ko-KR" sz="1600" b="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600" b="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화물자동차</a:t>
                      </a:r>
                      <a:r>
                        <a:rPr lang="en-US" altLang="ko-KR" sz="1600" b="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600" b="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특수자동차</a:t>
                      </a:r>
                      <a:r>
                        <a:rPr lang="en-US" altLang="ko-KR" sz="1600" b="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600" b="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이륜자동차</a:t>
                      </a: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b="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- </a:t>
                      </a:r>
                      <a:r>
                        <a:rPr lang="ko-KR" altLang="en-US" sz="1600" b="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자동차가격 </a:t>
                      </a:r>
                      <a:r>
                        <a:rPr lang="en-US" altLang="ko-KR" sz="1600" b="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100% </a:t>
                      </a:r>
                      <a:r>
                        <a:rPr lang="ko-KR" altLang="en-US" sz="1600" b="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재산산정 제외 </a:t>
                      </a:r>
                      <a:r>
                        <a:rPr lang="en-US" altLang="ko-KR" sz="1600" b="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: </a:t>
                      </a:r>
                      <a:r>
                        <a:rPr lang="ko-KR" altLang="en-US" sz="1600" b="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장애인사용자동차</a:t>
                      </a:r>
                      <a:r>
                        <a:rPr lang="en-US" altLang="ko-KR" sz="1600" b="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(</a:t>
                      </a:r>
                      <a:r>
                        <a:rPr lang="ko-KR" altLang="en-US" sz="1600" b="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배기량 </a:t>
                      </a:r>
                      <a:r>
                        <a:rPr lang="en-US" altLang="ko-KR" sz="1600" b="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2,000CC</a:t>
                      </a:r>
                      <a:r>
                        <a:rPr lang="ko-KR" altLang="en-US" sz="1600" b="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미만</a:t>
                      </a:r>
                      <a:r>
                        <a:rPr lang="en-US" altLang="ko-KR" sz="1600" b="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)</a:t>
                      </a:r>
                      <a:endParaRPr lang="ko-KR" altLang="en-US" sz="1600" b="0" kern="0" spc="-5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b="0" kern="0" spc="-1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- </a:t>
                      </a:r>
                      <a:r>
                        <a:rPr lang="ko-KR" altLang="en-US" sz="1600" b="0" kern="0" spc="-1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자동차가격 </a:t>
                      </a:r>
                      <a:r>
                        <a:rPr lang="en-US" altLang="ko-KR" sz="1600" b="0" kern="0" spc="-1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50% </a:t>
                      </a:r>
                      <a:r>
                        <a:rPr lang="ko-KR" altLang="en-US" sz="1600" b="0" kern="0" spc="-1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감면 </a:t>
                      </a:r>
                      <a:r>
                        <a:rPr lang="en-US" altLang="ko-KR" sz="1600" b="0" kern="0" spc="-1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: </a:t>
                      </a:r>
                      <a:r>
                        <a:rPr lang="ko-KR" altLang="en-US" sz="1600" b="0" kern="0" spc="-150" dirty="0" err="1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생업용자동차</a:t>
                      </a:r>
                      <a:r>
                        <a:rPr lang="en-US" altLang="ko-KR" sz="1600" b="0" kern="0" spc="-1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(</a:t>
                      </a:r>
                      <a:r>
                        <a:rPr lang="ko-KR" altLang="en-US" sz="1600" b="0" kern="0" spc="-1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자동차 가격의 </a:t>
                      </a:r>
                      <a:r>
                        <a:rPr lang="en-US" altLang="ko-KR" sz="1600" b="0" kern="0" spc="-1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50%</a:t>
                      </a:r>
                      <a:r>
                        <a:rPr lang="ko-KR" altLang="en-US" sz="1600" b="0" kern="0" spc="-1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에 일반재산 </a:t>
                      </a:r>
                      <a:r>
                        <a:rPr lang="ko-KR" altLang="en-US" sz="1600" b="0" kern="0" spc="-150" dirty="0" err="1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환산율</a:t>
                      </a:r>
                      <a:r>
                        <a:rPr lang="ko-KR" altLang="en-US" sz="1600" b="0" kern="0" spc="-1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적용</a:t>
                      </a:r>
                      <a:r>
                        <a:rPr lang="en-US" altLang="ko-KR" sz="1600" b="0" kern="0" spc="-1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)</a:t>
                      </a:r>
                      <a:endParaRPr lang="ko-KR" altLang="en-US" sz="1600" b="0" kern="0" spc="-15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8868439"/>
                  </a:ext>
                </a:extLst>
              </a:tr>
              <a:tr h="756699">
                <a:tc gridSpan="2">
                  <a:txBody>
                    <a:bodyPr/>
                    <a:lstStyle/>
                    <a:p>
                      <a:pPr marL="0" indent="0" algn="ctr" fontAlgn="base" latinLnBrk="1">
                        <a:lnSpc>
                          <a:spcPts val="2500"/>
                        </a:lnSpc>
                        <a:buFontTx/>
                        <a:buNone/>
                      </a:pPr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부 채</a:t>
                      </a: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fontAlgn="base" latinLnBrk="1" hangingPunct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6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금융기관 및</a:t>
                      </a:r>
                      <a:r>
                        <a:rPr lang="en-US" altLang="ko-KR" sz="16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ko-KR" altLang="en-US" sz="16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공공기관의 대출금</a:t>
                      </a:r>
                      <a:r>
                        <a:rPr lang="en-US" altLang="ko-KR" sz="16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6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임대보증금</a:t>
                      </a:r>
                      <a:r>
                        <a:rPr lang="en-US" altLang="ko-KR" sz="16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6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법원에 의해 확인된 개인 간 부채의 </a:t>
                      </a:r>
                      <a:r>
                        <a:rPr lang="ko-KR" altLang="en-US" sz="1600" b="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합산액</a:t>
                      </a:r>
                      <a:endParaRPr lang="ko-KR" altLang="en-US" sz="1600" b="0" dirty="0">
                        <a:solidFill>
                          <a:srgbClr val="FF000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756699">
                <a:tc gridSpan="2">
                  <a:txBody>
                    <a:bodyPr/>
                    <a:lstStyle/>
                    <a:p>
                      <a:pPr marL="0" indent="0" algn="ctr" fontAlgn="base" latinLnBrk="1">
                        <a:lnSpc>
                          <a:spcPts val="2500"/>
                        </a:lnSpc>
                        <a:buFontTx/>
                        <a:buNone/>
                      </a:pPr>
                      <a:r>
                        <a:rPr lang="ko-KR" altLang="en-US" sz="1600" b="0" kern="1200" dirty="0" err="1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소득환산율</a:t>
                      </a:r>
                      <a:r>
                        <a:rPr lang="ko-KR" altLang="en-US" sz="16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fontAlgn="base" latinLnBrk="1" hangingPunct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6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일반재산</a:t>
                      </a:r>
                      <a:r>
                        <a:rPr lang="en-US" altLang="ko-KR" sz="16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:</a:t>
                      </a:r>
                      <a:r>
                        <a:rPr lang="ko-KR" altLang="en-US" sz="16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월 </a:t>
                      </a:r>
                      <a:r>
                        <a:rPr lang="en-US" altLang="ko-KR" sz="16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4.17%, </a:t>
                      </a:r>
                      <a:r>
                        <a:rPr lang="ko-KR" altLang="en-US" sz="16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주거용 재산</a:t>
                      </a:r>
                      <a:r>
                        <a:rPr lang="en-US" altLang="ko-KR" sz="16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:</a:t>
                      </a:r>
                      <a:r>
                        <a:rPr lang="en-US" altLang="ko-KR" sz="1600" b="0" kern="1200" baseline="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ko-KR" altLang="en-US" sz="1600" b="0" kern="1200" baseline="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월 </a:t>
                      </a:r>
                      <a:r>
                        <a:rPr lang="en-US" altLang="ko-KR" sz="1600" b="0" kern="1200" baseline="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1.04%, </a:t>
                      </a:r>
                      <a:r>
                        <a:rPr lang="ko-KR" altLang="en-US" sz="16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금융재산</a:t>
                      </a:r>
                      <a:r>
                        <a:rPr lang="en-US" altLang="ko-KR" sz="16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:</a:t>
                      </a:r>
                      <a:r>
                        <a:rPr lang="ko-KR" altLang="en-US" sz="16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월 </a:t>
                      </a:r>
                      <a:r>
                        <a:rPr lang="en-US" altLang="ko-KR" sz="16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6.26%, </a:t>
                      </a:r>
                    </a:p>
                    <a:p>
                      <a:pPr marL="0" marR="0" indent="0" algn="l" defTabSz="914400" rtl="0" eaLnBrk="1" fontAlgn="base" latinLnBrk="1" hangingPunct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6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   </a:t>
                      </a:r>
                      <a:r>
                        <a:rPr lang="ko-KR" altLang="en-US" sz="16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자동차</a:t>
                      </a:r>
                      <a:r>
                        <a:rPr lang="en-US" altLang="ko-KR" sz="16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:</a:t>
                      </a:r>
                      <a:r>
                        <a:rPr lang="ko-KR" altLang="en-US" sz="16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월 </a:t>
                      </a:r>
                      <a:r>
                        <a:rPr lang="en-US" altLang="ko-KR" sz="16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100%</a:t>
                      </a:r>
                      <a:endParaRPr lang="ko-KR" altLang="en-US" sz="1600" b="0" dirty="0">
                        <a:solidFill>
                          <a:srgbClr val="FF000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모서리가 둥근 직사각형 4"/>
          <p:cNvSpPr/>
          <p:nvPr/>
        </p:nvSpPr>
        <p:spPr>
          <a:xfrm>
            <a:off x="323528" y="980728"/>
            <a:ext cx="6696744" cy="45718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>
              <a:spcBef>
                <a:spcPct val="0"/>
              </a:spcBef>
              <a:defRPr/>
            </a:pPr>
            <a:r>
              <a:rPr lang="en-US" altLang="ko-KR" sz="24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 1) </a:t>
            </a:r>
            <a:r>
              <a:rPr lang="ko-KR" altLang="en-US" sz="2400" dirty="0" err="1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수급권자</a:t>
            </a:r>
            <a:r>
              <a:rPr lang="ko-KR" altLang="en-US" sz="24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 선정기준</a:t>
            </a:r>
            <a:r>
              <a:rPr lang="en-US" altLang="ko-KR" sz="24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-(1)</a:t>
            </a:r>
            <a:r>
              <a:rPr lang="ko-KR" altLang="en-US" sz="24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소득인정액 기준</a:t>
            </a:r>
          </a:p>
        </p:txBody>
      </p:sp>
    </p:spTree>
    <p:extLst>
      <p:ext uri="{BB962C8B-B14F-4D97-AF65-F5344CB8AC3E}">
        <p14:creationId xmlns:p14="http://schemas.microsoft.com/office/powerpoint/2010/main" val="41740040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72534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4.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적용대상</a:t>
            </a:r>
          </a:p>
        </p:txBody>
      </p:sp>
      <p:sp>
        <p:nvSpPr>
          <p:cNvPr id="8" name="모서리가 둥근 직사각형 7"/>
          <p:cNvSpPr/>
          <p:nvPr/>
        </p:nvSpPr>
        <p:spPr>
          <a:xfrm>
            <a:off x="755576" y="2276872"/>
            <a:ext cx="7056783" cy="57048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fontAlgn="base"/>
            <a:r>
              <a:rPr lang="en-US" altLang="ko-KR" b="1" dirty="0"/>
              <a:t>&lt;</a:t>
            </a:r>
            <a:r>
              <a:rPr lang="ko-KR" altLang="en-US" b="1" dirty="0"/>
              <a:t>표</a:t>
            </a:r>
            <a:r>
              <a:rPr lang="en-US" altLang="ko-KR" b="1" dirty="0"/>
              <a:t>&gt;</a:t>
            </a:r>
            <a:r>
              <a:rPr lang="ko-KR" altLang="en-US" b="1" dirty="0" err="1"/>
              <a:t>급여별</a:t>
            </a:r>
            <a:r>
              <a:rPr lang="ko-KR" altLang="en-US" b="1" dirty="0"/>
              <a:t> 기준 중위소득 및 급여 별 </a:t>
            </a:r>
            <a:r>
              <a:rPr lang="ko-KR" altLang="en-US" b="1" dirty="0" err="1"/>
              <a:t>수급자</a:t>
            </a:r>
            <a:r>
              <a:rPr lang="ko-KR" altLang="en-US" b="1" dirty="0"/>
              <a:t> 선정기준</a:t>
            </a:r>
            <a:r>
              <a:rPr lang="en-US" altLang="ko-KR" b="1" dirty="0"/>
              <a:t>(2022</a:t>
            </a:r>
            <a:r>
              <a:rPr lang="ko-KR" altLang="en-US" b="1" dirty="0"/>
              <a:t>년</a:t>
            </a:r>
            <a:r>
              <a:rPr lang="en-US" altLang="ko-KR" b="1" dirty="0"/>
              <a:t>)</a:t>
            </a:r>
            <a:endParaRPr lang="ko-KR" altLang="en-US" dirty="0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8115215"/>
              </p:ext>
            </p:extLst>
          </p:nvPr>
        </p:nvGraphicFramePr>
        <p:xfrm>
          <a:off x="375701" y="2996952"/>
          <a:ext cx="8496948" cy="34790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2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19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043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585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b="1" kern="0" spc="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구   분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b="1" kern="0" spc="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1</a:t>
                      </a:r>
                      <a:r>
                        <a:rPr lang="ko-KR" altLang="en-US" sz="1800" b="1" kern="0" spc="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인 가구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b="1" kern="0" spc="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2</a:t>
                      </a:r>
                      <a:r>
                        <a:rPr lang="ko-KR" altLang="en-US" sz="1800" b="1" kern="0" spc="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인 가구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b="1" kern="0" spc="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3</a:t>
                      </a:r>
                      <a:r>
                        <a:rPr lang="ko-KR" altLang="en-US" sz="1800" b="1" kern="0" spc="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인 가구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b="1" kern="0" spc="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4</a:t>
                      </a:r>
                      <a:r>
                        <a:rPr lang="ko-KR" altLang="en-US" sz="1800" b="1" kern="0" spc="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인 가구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b="1" kern="0" spc="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5</a:t>
                      </a:r>
                      <a:r>
                        <a:rPr lang="ko-KR" altLang="en-US" sz="1800" b="1" kern="0" spc="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인 가구</a:t>
                      </a: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585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b="1" kern="0" spc="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기준 중위소득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 dirty="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1,944,812</a:t>
                      </a:r>
                      <a:endParaRPr lang="en-US" sz="1800" kern="0" spc="-50" dirty="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 dirty="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3,260,085</a:t>
                      </a:r>
                      <a:endParaRPr lang="en-US" sz="1800" kern="0" spc="-50" dirty="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4,194,701</a:t>
                      </a:r>
                      <a:endParaRPr lang="en-US" sz="18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5,121,080</a:t>
                      </a:r>
                      <a:endParaRPr lang="en-US" sz="18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6,024,515</a:t>
                      </a:r>
                      <a:endParaRPr lang="en-US" sz="18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316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생계급여</a:t>
                      </a: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50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(</a:t>
                      </a:r>
                      <a:r>
                        <a:rPr lang="ko-KR" altLang="en-US" sz="150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기준 중위소득의 </a:t>
                      </a:r>
                      <a:r>
                        <a:rPr lang="en-US" altLang="ko-KR" sz="150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30%)</a:t>
                      </a:r>
                      <a:endParaRPr lang="ko-KR" altLang="en-US" sz="1500" kern="0" spc="-5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583,444</a:t>
                      </a:r>
                      <a:endParaRPr lang="en-US" sz="18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978,026</a:t>
                      </a:r>
                      <a:endParaRPr lang="en-US" sz="18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 dirty="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1,258,410</a:t>
                      </a:r>
                      <a:endParaRPr lang="en-US" sz="1800" kern="0" spc="-50" dirty="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 dirty="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1,536,324</a:t>
                      </a:r>
                      <a:endParaRPr lang="en-US" sz="1800" kern="0" spc="-50" dirty="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1,807,355</a:t>
                      </a:r>
                      <a:endParaRPr lang="en-US" sz="18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316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의료급여</a:t>
                      </a: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50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(</a:t>
                      </a:r>
                      <a:r>
                        <a:rPr lang="ko-KR" altLang="en-US" sz="150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기준 중위소득의 </a:t>
                      </a:r>
                      <a:r>
                        <a:rPr lang="en-US" altLang="ko-KR" sz="150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40%)</a:t>
                      </a:r>
                      <a:endParaRPr lang="ko-KR" altLang="en-US" sz="1500" kern="0" spc="-5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777,925</a:t>
                      </a:r>
                      <a:endParaRPr lang="en-US" sz="18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1,304,034</a:t>
                      </a:r>
                      <a:endParaRPr lang="en-US" sz="18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1,677,880</a:t>
                      </a:r>
                      <a:endParaRPr lang="en-US" sz="18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 dirty="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2,048,432</a:t>
                      </a:r>
                      <a:endParaRPr lang="en-US" sz="1800" kern="0" spc="-50" dirty="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2,409,806</a:t>
                      </a:r>
                      <a:endParaRPr lang="en-US" sz="18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316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주거급여</a:t>
                      </a: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50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(</a:t>
                      </a:r>
                      <a:r>
                        <a:rPr lang="ko-KR" altLang="en-US" sz="150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기준 중위소득의 </a:t>
                      </a:r>
                      <a:r>
                        <a:rPr lang="en-US" altLang="ko-KR" sz="150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46%)</a:t>
                      </a:r>
                      <a:endParaRPr lang="ko-KR" altLang="en-US" sz="1500" kern="0" spc="-5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 dirty="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894,614</a:t>
                      </a:r>
                      <a:endParaRPr lang="en-US" sz="1800" kern="0" spc="-50" dirty="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1,499,639</a:t>
                      </a:r>
                      <a:endParaRPr lang="en-US" sz="18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1,929,562</a:t>
                      </a:r>
                      <a:endParaRPr lang="en-US" sz="18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 dirty="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2,355,697</a:t>
                      </a:r>
                      <a:endParaRPr lang="en-US" sz="1800" kern="0" spc="-50" dirty="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 dirty="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2,771,277</a:t>
                      </a:r>
                      <a:endParaRPr lang="en-US" sz="1800" kern="0" spc="-50" dirty="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316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교육급여</a:t>
                      </a: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50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(</a:t>
                      </a:r>
                      <a:r>
                        <a:rPr lang="ko-KR" altLang="en-US" sz="150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기준 중위소득의 </a:t>
                      </a:r>
                      <a:r>
                        <a:rPr lang="en-US" altLang="ko-KR" sz="150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50%)</a:t>
                      </a:r>
                      <a:endParaRPr lang="ko-KR" altLang="en-US" sz="1500" kern="0" spc="-5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972,406</a:t>
                      </a:r>
                      <a:endParaRPr lang="en-US" sz="18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1,630,043</a:t>
                      </a:r>
                      <a:endParaRPr lang="en-US" sz="18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2,097,351</a:t>
                      </a:r>
                      <a:endParaRPr lang="en-US" sz="18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2,560,540</a:t>
                      </a:r>
                      <a:endParaRPr lang="en-US" sz="18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 dirty="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3,012,258</a:t>
                      </a:r>
                      <a:endParaRPr lang="en-US" sz="1800" kern="0" spc="-50" dirty="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모서리가 둥근 직사각형 8"/>
          <p:cNvSpPr/>
          <p:nvPr/>
        </p:nvSpPr>
        <p:spPr>
          <a:xfrm>
            <a:off x="7812359" y="2564904"/>
            <a:ext cx="1035881" cy="3600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spcBef>
                <a:spcPct val="0"/>
              </a:spcBef>
              <a:defRPr/>
            </a:pPr>
            <a:r>
              <a:rPr lang="en-US" altLang="ko-KR" sz="1400" dirty="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rPr>
              <a:t>(</a:t>
            </a:r>
            <a:r>
              <a:rPr lang="ko-KR" altLang="en-US" sz="1400" dirty="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rPr>
              <a:t>단위</a:t>
            </a:r>
            <a:r>
              <a:rPr lang="en-US" altLang="ko-KR" sz="1400" dirty="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rPr>
              <a:t>: </a:t>
            </a:r>
            <a:r>
              <a:rPr lang="ko-KR" altLang="en-US" sz="1400" dirty="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rPr>
              <a:t>원</a:t>
            </a:r>
            <a:r>
              <a:rPr lang="en-US" altLang="ko-KR" sz="1400" dirty="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rPr>
              <a:t>)</a:t>
            </a:r>
            <a:endParaRPr lang="ko-KR" altLang="en-US" sz="1400" dirty="0">
              <a:solidFill>
                <a:schemeClr val="tx1"/>
              </a:solidFill>
              <a:latin typeface="HY울릉도M" pitchFamily="18" charset="-127"/>
              <a:ea typeface="HY울릉도M" pitchFamily="18" charset="-127"/>
            </a:endParaRP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7157073"/>
              </p:ext>
            </p:extLst>
          </p:nvPr>
        </p:nvGraphicFramePr>
        <p:xfrm>
          <a:off x="328514" y="1196752"/>
          <a:ext cx="8524712" cy="1008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247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00811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ts val="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b="0" kern="1200" dirty="0" err="1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수급권자가</a:t>
                      </a:r>
                      <a:r>
                        <a:rPr lang="ko-KR" altLang="en-US" sz="2000" b="0" kern="120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되기 위해서는 </a:t>
                      </a:r>
                      <a:endParaRPr lang="en-US" altLang="ko-KR" sz="2000" b="0" kern="1200" dirty="0">
                        <a:solidFill>
                          <a:schemeClr val="bg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ts val="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b="0" kern="120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산정된 가구별 </a:t>
                      </a:r>
                      <a:r>
                        <a:rPr lang="ko-KR" altLang="en-US" sz="2000" b="0" kern="1200" dirty="0" err="1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소득인정액이</a:t>
                      </a:r>
                      <a:r>
                        <a:rPr lang="ko-KR" altLang="en-US" sz="2000" b="0" kern="120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각 </a:t>
                      </a:r>
                      <a:r>
                        <a:rPr lang="ko-KR" altLang="en-US" sz="2000" b="0" kern="1200" dirty="0" err="1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급여별</a:t>
                      </a:r>
                      <a:r>
                        <a:rPr lang="ko-KR" altLang="en-US" sz="2000" b="0" kern="120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선정기준 이하이어야 함</a:t>
                      </a:r>
                      <a:endParaRPr lang="ko-KR" altLang="en-US" sz="2000" b="0" dirty="0">
                        <a:solidFill>
                          <a:srgbClr val="FFFF0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22784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67544" y="2564904"/>
            <a:ext cx="8352928" cy="2664296"/>
          </a:xfrm>
          <a:solidFill>
            <a:schemeClr val="accent5">
              <a:lumMod val="60000"/>
              <a:lumOff val="40000"/>
            </a:schemeClr>
          </a:solidFill>
        </p:spPr>
        <p:txBody>
          <a:bodyPr>
            <a:noAutofit/>
          </a:bodyPr>
          <a:lstStyle/>
          <a:p>
            <a:pPr fontAlgn="base"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ko-KR" altLang="en-US" sz="18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기준 중위소득이란 보건복지부장관이 급여의 기준 등에 활용하기 위해      중앙생활보장위원회의 심의</a:t>
            </a:r>
            <a:r>
              <a:rPr lang="en-US" altLang="ko-KR" sz="18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·</a:t>
            </a:r>
            <a:r>
              <a:rPr lang="ko-KR" altLang="en-US" sz="18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의결을 거쳐 고시하는 </a:t>
            </a:r>
            <a:r>
              <a:rPr lang="ko-KR" altLang="en-US" sz="1800" dirty="0">
                <a:solidFill>
                  <a:srgbClr val="FF0000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국민가구소득의 중위 값 </a:t>
            </a:r>
          </a:p>
          <a:p>
            <a:pPr fontAlgn="base"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ko-KR" altLang="en-US" sz="18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통계청이 공표하는 가구의 </a:t>
            </a:r>
            <a:r>
              <a:rPr lang="ko-KR" altLang="en-US" sz="1800" b="1" dirty="0">
                <a:solidFill>
                  <a:srgbClr val="FFFF00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경상소득</a:t>
            </a:r>
            <a:r>
              <a:rPr lang="en-US" altLang="ko-KR" sz="1800" b="1" dirty="0">
                <a:solidFill>
                  <a:srgbClr val="7030A0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(</a:t>
            </a:r>
            <a:r>
              <a:rPr lang="ko-KR" altLang="en-US" sz="1800" b="1" dirty="0">
                <a:solidFill>
                  <a:srgbClr val="7030A0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근로소득</a:t>
            </a:r>
            <a:r>
              <a:rPr lang="en-US" altLang="ko-KR" sz="1800" b="1" dirty="0">
                <a:solidFill>
                  <a:srgbClr val="7030A0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, </a:t>
            </a:r>
            <a:r>
              <a:rPr lang="ko-KR" altLang="en-US" sz="1800" b="1" dirty="0">
                <a:solidFill>
                  <a:srgbClr val="7030A0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사업소득</a:t>
            </a:r>
            <a:r>
              <a:rPr lang="en-US" altLang="ko-KR" sz="1800" b="1" dirty="0">
                <a:solidFill>
                  <a:srgbClr val="7030A0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, </a:t>
            </a:r>
            <a:r>
              <a:rPr lang="ko-KR" altLang="en-US" sz="1800" b="1" dirty="0">
                <a:solidFill>
                  <a:srgbClr val="7030A0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재산소득</a:t>
            </a:r>
            <a:r>
              <a:rPr lang="en-US" altLang="ko-KR" sz="1800" b="1" dirty="0">
                <a:solidFill>
                  <a:srgbClr val="7030A0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, </a:t>
            </a:r>
            <a:r>
              <a:rPr lang="ko-KR" altLang="en-US" sz="1800" b="1" dirty="0">
                <a:solidFill>
                  <a:srgbClr val="7030A0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이전소득을 합산한 소득</a:t>
            </a:r>
            <a:r>
              <a:rPr lang="en-US" altLang="ko-KR" sz="1800" b="1" dirty="0">
                <a:solidFill>
                  <a:srgbClr val="7030A0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)</a:t>
            </a:r>
            <a:r>
              <a:rPr lang="en-US" altLang="ko-KR" sz="1800" b="1" dirty="0">
                <a:solidFill>
                  <a:srgbClr val="FFFF00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 </a:t>
            </a:r>
            <a:r>
              <a:rPr lang="ko-KR" altLang="en-US" sz="1800" b="1" dirty="0">
                <a:solidFill>
                  <a:srgbClr val="FFFF00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의 중간 값에 최근 가구소득 평균 증가율과 가구 규모에 따른 소득수준의 차이 등을 반영하여 가구 규모별로 산정함</a:t>
            </a:r>
            <a:endParaRPr lang="en-US" altLang="ko-KR" sz="1800" b="1" dirty="0">
              <a:solidFill>
                <a:srgbClr val="FFFF00"/>
              </a:solidFill>
              <a:latin typeface="HY울릉도M" panose="02030600000101010101" pitchFamily="18" charset="-127"/>
              <a:ea typeface="HY울릉도M" panose="02030600000101010101" pitchFamily="18" charset="-127"/>
            </a:endParaRPr>
          </a:p>
        </p:txBody>
      </p:sp>
      <p:sp>
        <p:nvSpPr>
          <p:cNvPr id="7" name="구름 모양 설명선 6"/>
          <p:cNvSpPr/>
          <p:nvPr/>
        </p:nvSpPr>
        <p:spPr>
          <a:xfrm>
            <a:off x="971600" y="692696"/>
            <a:ext cx="4392488" cy="1152128"/>
          </a:xfrm>
          <a:prstGeom prst="cloudCallou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>
                <a:latin typeface="HY엽서M" panose="02030600000101010101" pitchFamily="18" charset="-127"/>
                <a:ea typeface="HY엽서M" panose="02030600000101010101" pitchFamily="18" charset="-127"/>
              </a:rPr>
              <a:t>기준중위소득 산정</a:t>
            </a:r>
            <a:endParaRPr lang="en-US" altLang="ko-KR" sz="2400" b="1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pPr algn="ctr"/>
            <a:r>
              <a:rPr lang="en-US" altLang="ko-KR" sz="1500" b="1" dirty="0">
                <a:latin typeface="HY엽서M" panose="02030600000101010101" pitchFamily="18" charset="-127"/>
                <a:ea typeface="HY엽서M" panose="02030600000101010101" pitchFamily="18" charset="-127"/>
              </a:rPr>
              <a:t>(</a:t>
            </a:r>
            <a:r>
              <a:rPr lang="ko-KR" altLang="en-US" sz="1500" b="1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국민기초생활보장법</a:t>
            </a:r>
            <a:r>
              <a:rPr lang="ko-KR" altLang="en-US" sz="1500" b="1" dirty="0">
                <a:latin typeface="HY엽서M" panose="02030600000101010101" pitchFamily="18" charset="-127"/>
                <a:ea typeface="HY엽서M" panose="02030600000101010101" pitchFamily="18" charset="-127"/>
              </a:rPr>
              <a:t> 제</a:t>
            </a:r>
            <a:r>
              <a:rPr lang="en-US" altLang="ko-KR" sz="1500" b="1" dirty="0">
                <a:latin typeface="HY엽서M" panose="02030600000101010101" pitchFamily="18" charset="-127"/>
                <a:ea typeface="HY엽서M" panose="02030600000101010101" pitchFamily="18" charset="-127"/>
              </a:rPr>
              <a:t>6</a:t>
            </a:r>
            <a:r>
              <a:rPr lang="ko-KR" altLang="en-US" sz="1500" b="1" dirty="0">
                <a:latin typeface="HY엽서M" panose="02030600000101010101" pitchFamily="18" charset="-127"/>
                <a:ea typeface="HY엽서M" panose="02030600000101010101" pitchFamily="18" charset="-127"/>
              </a:rPr>
              <a:t>조의</a:t>
            </a:r>
            <a:r>
              <a:rPr lang="en-US" altLang="ko-KR" sz="1500" b="1" dirty="0">
                <a:latin typeface="HY엽서M" panose="02030600000101010101" pitchFamily="18" charset="-127"/>
                <a:ea typeface="HY엽서M" panose="02030600000101010101" pitchFamily="18" charset="-127"/>
              </a:rPr>
              <a:t>2)</a:t>
            </a:r>
            <a:endParaRPr lang="ko-KR" altLang="en-US" sz="1500" b="1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816337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72534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4.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적용대상</a:t>
            </a:r>
          </a:p>
        </p:txBody>
      </p:sp>
      <p:sp>
        <p:nvSpPr>
          <p:cNvPr id="6" name="모서리가 둥근 직사각형 5"/>
          <p:cNvSpPr/>
          <p:nvPr/>
        </p:nvSpPr>
        <p:spPr>
          <a:xfrm>
            <a:off x="323528" y="985219"/>
            <a:ext cx="6480720" cy="45718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24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 1) </a:t>
            </a:r>
            <a:r>
              <a:rPr lang="ko-KR" altLang="en-US" sz="2400" dirty="0" err="1">
                <a:latin typeface="HY울릉도M" panose="02030600000101010101" pitchFamily="18" charset="-127"/>
                <a:ea typeface="HY울릉도M" panose="02030600000101010101" pitchFamily="18" charset="-127"/>
              </a:rPr>
              <a:t>수급권자</a:t>
            </a:r>
            <a:r>
              <a:rPr lang="ko-KR" altLang="en-US" sz="24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 선정기준</a:t>
            </a:r>
            <a:r>
              <a:rPr lang="en-US" altLang="ko-KR" sz="24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-(2)</a:t>
            </a:r>
            <a:r>
              <a:rPr lang="ko-KR" altLang="en-US" sz="24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부양의무자 기준</a:t>
            </a:r>
            <a:endParaRPr lang="en-US" altLang="ko-KR" sz="2400" dirty="0">
              <a:latin typeface="HY울릉도B" pitchFamily="18" charset="-127"/>
              <a:ea typeface="HY울릉도B" pitchFamily="18" charset="-127"/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0563915"/>
              </p:ext>
            </p:extLst>
          </p:nvPr>
        </p:nvGraphicFramePr>
        <p:xfrm>
          <a:off x="323528" y="1628801"/>
          <a:ext cx="8568952" cy="4720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46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8619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800" b="0" dirty="0">
                          <a:solidFill>
                            <a:srgbClr val="FFFF00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부양</a:t>
                      </a:r>
                      <a:endParaRPr lang="en-US" altLang="ko-KR" sz="1800" b="0" dirty="0">
                        <a:solidFill>
                          <a:srgbClr val="FFFF0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800" b="0" dirty="0">
                          <a:solidFill>
                            <a:srgbClr val="FFFF00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의무자 </a:t>
                      </a:r>
                      <a:endParaRPr lang="en-US" altLang="ko-KR" sz="1800" b="0" dirty="0">
                        <a:solidFill>
                          <a:srgbClr val="FFFF0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800" b="0" dirty="0">
                          <a:solidFill>
                            <a:srgbClr val="FFFF00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범위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285750" indent="-285750" fontAlgn="base" latinLnBrk="1">
                        <a:lnSpc>
                          <a:spcPts val="25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b="0" kern="1200" dirty="0" err="1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수급권자의</a:t>
                      </a:r>
                      <a:r>
                        <a:rPr lang="ko-KR" altLang="en-US" sz="1800" b="0" kern="120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b="0" kern="120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1</a:t>
                      </a:r>
                      <a:r>
                        <a:rPr lang="ko-KR" altLang="en-US" sz="1800" b="0" kern="120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촌 직계혈족</a:t>
                      </a:r>
                      <a:r>
                        <a:rPr lang="en-US" altLang="ko-KR" sz="1800" b="0" kern="120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800" b="0" kern="120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부모</a:t>
                      </a:r>
                      <a:r>
                        <a:rPr lang="en-US" altLang="ko-KR" sz="1800" b="0" kern="120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</a:t>
                      </a:r>
                      <a:r>
                        <a:rPr lang="en-US" altLang="ko-KR" sz="1800" b="0" kern="1200" baseline="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ko-KR" altLang="en-US" sz="1800" b="0" kern="1200" baseline="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아들</a:t>
                      </a:r>
                      <a:r>
                        <a:rPr lang="en-US" altLang="ko-KR" sz="1800" b="0" kern="1200" baseline="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b="0" kern="1200" baseline="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딸</a:t>
                      </a:r>
                      <a:r>
                        <a:rPr lang="en-US" altLang="ko-KR" sz="1800" b="0" kern="120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) </a:t>
                      </a:r>
                      <a:r>
                        <a:rPr lang="ko-KR" altLang="en-US" sz="1800" b="0" kern="120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및 그 배우자</a:t>
                      </a:r>
                      <a:r>
                        <a:rPr lang="en-US" altLang="ko-KR" sz="1800" b="0" kern="120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800" b="0" kern="120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사위</a:t>
                      </a:r>
                      <a:r>
                        <a:rPr lang="en-US" altLang="ko-KR" sz="1800" b="0" kern="120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b="0" kern="120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며느리</a:t>
                      </a:r>
                      <a:r>
                        <a:rPr lang="en-US" altLang="ko-KR" sz="1800" b="0" kern="120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b="0" kern="120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계부</a:t>
                      </a:r>
                      <a:r>
                        <a:rPr lang="en-US" altLang="ko-KR" sz="1800" b="0" kern="120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b="0" kern="120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계모</a:t>
                      </a:r>
                      <a:r>
                        <a:rPr lang="en-US" altLang="ko-KR" sz="1800" b="0" kern="120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)</a:t>
                      </a:r>
                      <a:endParaRPr lang="ko-KR" altLang="en-US" sz="1800" b="0" kern="1200" dirty="0">
                        <a:solidFill>
                          <a:srgbClr val="FFFF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285750" indent="-285750" fontAlgn="base" latinLnBrk="1">
                        <a:lnSpc>
                          <a:spcPts val="25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b="0" kern="120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다만 사망한 </a:t>
                      </a:r>
                      <a:r>
                        <a:rPr lang="en-US" altLang="ko-KR" sz="1800" b="0" kern="120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1</a:t>
                      </a:r>
                      <a:r>
                        <a:rPr lang="ko-KR" altLang="en-US" sz="1800" b="0" kern="120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촌의 직계혈족의 배우자는 제외함</a:t>
                      </a:r>
                      <a:endParaRPr lang="en-US" altLang="ko-KR" sz="1800" b="0" kern="1200" dirty="0">
                        <a:solidFill>
                          <a:srgbClr val="FFFF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0" indent="0" fontAlgn="base" latinLnBrk="1">
                        <a:lnSpc>
                          <a:spcPts val="25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altLang="ko-KR" sz="1800" b="0" kern="120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  (</a:t>
                      </a:r>
                      <a:r>
                        <a:rPr lang="ko-KR" altLang="en-US" sz="1800" b="0" kern="120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배우자가 사망한 며느리</a:t>
                      </a:r>
                      <a:r>
                        <a:rPr lang="en-US" altLang="ko-KR" sz="1800" b="0" kern="120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</a:t>
                      </a:r>
                      <a:r>
                        <a:rPr lang="ko-KR" altLang="en-US" sz="1800" b="0" kern="120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사위</a:t>
                      </a:r>
                      <a:r>
                        <a:rPr lang="en-US" altLang="ko-KR" sz="1800" b="0" kern="120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b="0" kern="120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계부</a:t>
                      </a:r>
                      <a:r>
                        <a:rPr lang="en-US" altLang="ko-KR" sz="1800" b="0" kern="120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b="0" kern="120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계모는 부양의무자가 아님</a:t>
                      </a:r>
                      <a:r>
                        <a:rPr lang="en-US" altLang="ko-KR" sz="1800" b="0" kern="120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)</a:t>
                      </a:r>
                      <a:r>
                        <a:rPr lang="en-US" altLang="ko-KR" sz="1800" b="1" kern="1200" dirty="0">
                          <a:solidFill>
                            <a:srgbClr val="FFFF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endParaRPr lang="ko-KR" altLang="en-US" sz="1800" b="0" dirty="0">
                        <a:solidFill>
                          <a:srgbClr val="FFFF0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8986">
                <a:tc rowSpan="4">
                  <a:txBody>
                    <a:bodyPr/>
                    <a:lstStyle/>
                    <a:p>
                      <a:pPr algn="ctr" latinLnBrk="1">
                        <a:lnSpc>
                          <a:spcPts val="2500"/>
                        </a:lnSpc>
                      </a:pPr>
                      <a:endParaRPr lang="en-US" altLang="ko-KR" sz="180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ts val="2500"/>
                        </a:lnSpc>
                      </a:pPr>
                      <a:endParaRPr lang="en-US" altLang="ko-KR" sz="180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ts val="2500"/>
                        </a:lnSpc>
                      </a:pPr>
                      <a:endParaRPr lang="en-US" altLang="ko-KR" sz="180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ts val="2500"/>
                        </a:lnSpc>
                      </a:pPr>
                      <a:r>
                        <a:rPr lang="ko-KR" altLang="en-US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부양</a:t>
                      </a:r>
                      <a:endParaRPr lang="en-US" altLang="ko-KR" sz="180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ts val="2500"/>
                        </a:lnSpc>
                      </a:pPr>
                      <a:r>
                        <a:rPr lang="ko-KR" altLang="en-US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의무자</a:t>
                      </a:r>
                      <a:endParaRPr lang="en-US" altLang="ko-KR" sz="180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ts val="2500"/>
                        </a:lnSpc>
                      </a:pPr>
                      <a:r>
                        <a:rPr lang="ko-KR" altLang="en-US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기준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fontAlgn="base" latinLnBrk="1">
                        <a:lnSpc>
                          <a:spcPts val="2500"/>
                        </a:lnSpc>
                        <a:buFontTx/>
                        <a:buNone/>
                      </a:pPr>
                      <a:r>
                        <a:rPr lang="ko-KR" altLang="en-US" sz="1800" b="1" kern="1200" dirty="0">
                          <a:solidFill>
                            <a:srgbClr val="9933FF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① 부양의무자가  없는 경우</a:t>
                      </a:r>
                      <a:endParaRPr lang="en-US" altLang="ko-KR" sz="1800" b="1" kern="1200" dirty="0">
                        <a:solidFill>
                          <a:srgbClr val="9933FF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80000" marR="0" indent="0" algn="ctr" defTabSz="914400" rtl="0" eaLnBrk="1" fontAlgn="base" latinLnBrk="1" hangingPunct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800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부양의무자 기준  </a:t>
                      </a:r>
                      <a:endParaRPr lang="en-US" altLang="ko-KR" sz="1800" b="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180000" marR="0" indent="0" algn="ctr" defTabSz="914400" rtl="0" eaLnBrk="1" fontAlgn="base" latinLnBrk="1" hangingPunct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800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충족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898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4400" marR="0" indent="-457200" algn="l" defTabSz="914400" rtl="0" eaLnBrk="1" fontAlgn="base" latinLnBrk="1" hangingPunct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800" b="1" kern="1200" dirty="0">
                          <a:solidFill>
                            <a:srgbClr val="9933FF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② 부양의무자가 있어도 부양능력이 없는 경우</a:t>
                      </a:r>
                      <a:endParaRPr lang="en-US" altLang="ko-KR" sz="1800" b="1" kern="1200" dirty="0">
                        <a:solidFill>
                          <a:srgbClr val="9933FF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80000" marR="0" indent="0" algn="ctr" defTabSz="914400" rtl="0" eaLnBrk="1" fontAlgn="base" latinLnBrk="1" hangingPunct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800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부양의무자 기준 </a:t>
                      </a:r>
                      <a:endParaRPr lang="en-US" altLang="ko-KR" sz="1800" b="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180000" marR="0" indent="0" algn="ctr" defTabSz="914400" rtl="0" eaLnBrk="1" fontAlgn="base" latinLnBrk="1" hangingPunct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800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충족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514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4400" marR="0" indent="-457200" algn="l" defTabSz="914400" rtl="0" eaLnBrk="1" fontAlgn="base" latinLnBrk="1" hangingPunct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800" b="1" kern="1200" dirty="0">
                          <a:solidFill>
                            <a:srgbClr val="9933FF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③ 부양의무자가 있어도 부양능력이 미비한 경우</a:t>
                      </a:r>
                      <a:endParaRPr lang="en-US" altLang="ko-KR" sz="1800" b="1" kern="1200" dirty="0">
                        <a:solidFill>
                          <a:srgbClr val="9933FF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284400" marR="0" indent="-284400" algn="l" defTabSz="914400" rtl="0" eaLnBrk="1" fontAlgn="base" latinLnBrk="1" hangingPunct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정기적으로 일정금액을 지원하는 것을 전제로 부양능력이 없는 것으로 인정함</a:t>
                      </a:r>
                      <a:endParaRPr lang="ko-KR" altLang="en-US" sz="1800" b="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80000" marR="0" indent="0" algn="ctr" defTabSz="914400" rtl="0" eaLnBrk="1" fontAlgn="base" latinLnBrk="1" hangingPunct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1800" b="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180000" marR="0" indent="0" algn="ctr" defTabSz="914400" rtl="0" eaLnBrk="1" fontAlgn="base" latinLnBrk="1" hangingPunct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800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부양의무자 기준 </a:t>
                      </a:r>
                      <a:endParaRPr lang="en-US" altLang="ko-KR" sz="1800" b="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180000" marR="0" indent="0" algn="ctr" defTabSz="914400" rtl="0" eaLnBrk="1" fontAlgn="base" latinLnBrk="1" hangingPunct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800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일부 충족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993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4400" marR="0" indent="-457200" algn="l" defTabSz="914400" rtl="0" eaLnBrk="1" fontAlgn="base" latinLnBrk="1" hangingPunct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800" b="1" kern="1200" dirty="0">
                          <a:solidFill>
                            <a:srgbClr val="9933FF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④ </a:t>
                      </a:r>
                      <a:r>
                        <a:rPr lang="ko-KR" altLang="en-US" sz="1800" b="1" kern="1200" dirty="0">
                          <a:solidFill>
                            <a:srgbClr val="9933FF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부양의무자가 있어도 부양을 받을 수 없는 경우</a:t>
                      </a:r>
                      <a:endParaRPr lang="en-US" altLang="ko-KR" sz="1800" b="1" kern="1200" dirty="0">
                        <a:solidFill>
                          <a:srgbClr val="9933FF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284400" marR="0" indent="-284400" algn="l" defTabSz="914400" rtl="0" eaLnBrk="1" fontAlgn="base" latinLnBrk="1" hangingPunct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기피</a:t>
                      </a:r>
                      <a:r>
                        <a:rPr lang="en-US" altLang="ko-KR" sz="18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징집</a:t>
                      </a:r>
                      <a:r>
                        <a:rPr lang="en-US" altLang="ko-KR" sz="18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해외</a:t>
                      </a:r>
                      <a:r>
                        <a:rPr lang="en-US" altLang="ko-KR" sz="18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수감</a:t>
                      </a:r>
                      <a:r>
                        <a:rPr lang="en-US" altLang="ko-KR" sz="18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실종선고</a:t>
                      </a:r>
                      <a:r>
                        <a:rPr lang="en-US" altLang="ko-KR" sz="18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시설입소 등</a:t>
                      </a:r>
                      <a:endParaRPr lang="ko-KR" altLang="en-US" sz="1800" b="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80000" marR="0" indent="0" algn="ctr" defTabSz="914400" rtl="0" eaLnBrk="1" fontAlgn="base" latinLnBrk="1" hangingPunct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800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부양의무자 기준 </a:t>
                      </a:r>
                      <a:endParaRPr lang="en-US" altLang="ko-KR" sz="1800" b="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180000" marR="0" indent="0" algn="ctr" defTabSz="914400" rtl="0" eaLnBrk="1" fontAlgn="base" latinLnBrk="1" hangingPunct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800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충족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35829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72534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4.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적용대상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5708C83A-1BF0-4A8A-BA10-BD30483FF9E6}"/>
              </a:ext>
            </a:extLst>
          </p:cNvPr>
          <p:cNvGraphicFramePr>
            <a:graphicFrameLocks noGrp="1"/>
          </p:cNvGraphicFramePr>
          <p:nvPr/>
        </p:nvGraphicFramePr>
        <p:xfrm>
          <a:off x="272534" y="4144415"/>
          <a:ext cx="8640960" cy="2541287"/>
        </p:xfrm>
        <a:graphic>
          <a:graphicData uri="http://schemas.openxmlformats.org/drawingml/2006/table">
            <a:tbl>
              <a:tblPr/>
              <a:tblGrid>
                <a:gridCol w="1131114">
                  <a:extLst>
                    <a:ext uri="{9D8B030D-6E8A-4147-A177-3AD203B41FA5}">
                      <a16:colId xmlns:a16="http://schemas.microsoft.com/office/drawing/2014/main" val="1970051213"/>
                    </a:ext>
                  </a:extLst>
                </a:gridCol>
                <a:gridCol w="7509846">
                  <a:extLst>
                    <a:ext uri="{9D8B030D-6E8A-4147-A177-3AD203B41FA5}">
                      <a16:colId xmlns:a16="http://schemas.microsoft.com/office/drawing/2014/main" val="1220208215"/>
                    </a:ext>
                  </a:extLst>
                </a:gridCol>
              </a:tblGrid>
              <a:tr h="465434"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b="1" kern="0" spc="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※ </a:t>
                      </a:r>
                      <a:r>
                        <a:rPr lang="ko-KR" altLang="en-US" sz="1800" b="1" kern="0" spc="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생계급여 부양의무자 기준 단계적 폐지 절차</a:t>
                      </a:r>
                      <a:endParaRPr lang="ko-KR" altLang="en-US" sz="1800" kern="0" spc="0" dirty="0">
                        <a:solidFill>
                          <a:srgbClr val="FFFF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3561864"/>
                  </a:ext>
                </a:extLst>
              </a:tr>
              <a:tr h="46543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5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2017.11</a:t>
                      </a:r>
                      <a:endParaRPr lang="en-US" sz="175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"/>
                      </a:pPr>
                      <a:r>
                        <a:rPr lang="ko-KR" altLang="en-US" sz="1700" kern="0" spc="-1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수급</a:t>
                      </a:r>
                      <a:r>
                        <a:rPr lang="en-US" altLang="ko-KR" sz="1700" kern="0" spc="-1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(</a:t>
                      </a:r>
                      <a:r>
                        <a:rPr lang="ko-KR" altLang="en-US" sz="1700" kern="0" spc="-1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권</a:t>
                      </a:r>
                      <a:r>
                        <a:rPr lang="en-US" altLang="ko-KR" sz="1700" kern="0" spc="-1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)</a:t>
                      </a:r>
                      <a:r>
                        <a:rPr lang="ko-KR" altLang="en-US" sz="1700" kern="0" spc="-1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자 및 부양의무자 가구에 중증장애인 또는 노인이 모두 포함된 경우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8388742"/>
                  </a:ext>
                </a:extLst>
              </a:tr>
              <a:tr h="39750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5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2019.01</a:t>
                      </a:r>
                      <a:endParaRPr lang="en-US" sz="175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"/>
                      </a:pPr>
                      <a:r>
                        <a:rPr lang="ko-KR" altLang="en-US" sz="175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부양의무자 가구에 중증장애인 또는 가구에 노인이 포함된 경우</a:t>
                      </a:r>
                      <a:endParaRPr lang="ko-KR" altLang="en-US" sz="175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0693297"/>
                  </a:ext>
                </a:extLst>
              </a:tr>
              <a:tr h="39750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5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2020.01</a:t>
                      </a:r>
                      <a:endParaRPr lang="en-US" sz="175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"/>
                      </a:pPr>
                      <a:r>
                        <a:rPr lang="ko-KR" altLang="en-US" sz="1750" kern="0" spc="-1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수급</a:t>
                      </a:r>
                      <a:r>
                        <a:rPr lang="en-US" altLang="ko-KR" sz="1750" kern="0" spc="-1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(</a:t>
                      </a:r>
                      <a:r>
                        <a:rPr lang="ko-KR" altLang="en-US" sz="1750" kern="0" spc="-1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권</a:t>
                      </a:r>
                      <a:r>
                        <a:rPr lang="en-US" altLang="ko-KR" sz="1750" kern="0" spc="-1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)</a:t>
                      </a:r>
                      <a:r>
                        <a:rPr lang="ko-KR" altLang="en-US" sz="1750" kern="0" spc="-1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자 가구에 중증장애인이 있거나</a:t>
                      </a:r>
                      <a:r>
                        <a:rPr lang="en-US" altLang="ko-KR" sz="1750" kern="0" spc="-1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750" kern="0" spc="-1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한부모가구</a:t>
                      </a:r>
                      <a:r>
                        <a:rPr lang="en-US" altLang="ko-KR" sz="1750" kern="0" spc="-1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(</a:t>
                      </a:r>
                      <a:r>
                        <a:rPr lang="ko-KR" altLang="en-US" sz="1750" kern="0" spc="-1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만 </a:t>
                      </a:r>
                      <a:r>
                        <a:rPr lang="en-US" altLang="ko-KR" sz="1750" kern="0" spc="-1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30</a:t>
                      </a:r>
                      <a:r>
                        <a:rPr lang="ko-KR" altLang="en-US" sz="1750" kern="0" spc="-1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세 미만</a:t>
                      </a:r>
                      <a:r>
                        <a:rPr lang="en-US" altLang="ko-KR" sz="1750" kern="0" spc="-1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)</a:t>
                      </a:r>
                      <a:r>
                        <a:rPr lang="ko-KR" altLang="en-US" sz="1750" kern="0" spc="-1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인 경우 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5844740"/>
                  </a:ext>
                </a:extLst>
              </a:tr>
              <a:tr h="39750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5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2021.01</a:t>
                      </a:r>
                      <a:endParaRPr lang="en-US" sz="175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"/>
                      </a:pPr>
                      <a:r>
                        <a:rPr lang="ko-KR" altLang="en-US" sz="175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수급</a:t>
                      </a:r>
                      <a:r>
                        <a:rPr lang="en-US" altLang="ko-KR" sz="175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(</a:t>
                      </a:r>
                      <a:r>
                        <a:rPr lang="ko-KR" altLang="en-US" sz="175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권</a:t>
                      </a:r>
                      <a:r>
                        <a:rPr lang="en-US" altLang="ko-KR" sz="175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)</a:t>
                      </a:r>
                      <a:r>
                        <a:rPr lang="ko-KR" altLang="en-US" sz="175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자 가구에 노인</a:t>
                      </a:r>
                      <a:r>
                        <a:rPr lang="en-US" altLang="ko-KR" sz="175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·</a:t>
                      </a:r>
                      <a:r>
                        <a:rPr lang="ko-KR" altLang="en-US" sz="175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한부모가구</a:t>
                      </a:r>
                      <a:r>
                        <a:rPr lang="en-US" altLang="ko-KR" sz="175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(30</a:t>
                      </a:r>
                      <a:r>
                        <a:rPr lang="ko-KR" altLang="en-US" sz="175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세 이상도 포함</a:t>
                      </a:r>
                      <a:r>
                        <a:rPr lang="en-US" altLang="ko-KR" sz="175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)</a:t>
                      </a:r>
                      <a:r>
                        <a:rPr lang="ko-KR" altLang="en-US" sz="175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가 포함된 경우</a:t>
                      </a:r>
                      <a:endParaRPr lang="ko-KR" altLang="en-US" sz="175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4980690"/>
                  </a:ext>
                </a:extLst>
              </a:tr>
              <a:tr h="3969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50" kern="0" spc="-5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2021.10</a:t>
                      </a:r>
                      <a:endParaRPr lang="en-US" sz="1750" kern="0" spc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"/>
                      </a:pPr>
                      <a:r>
                        <a:rPr lang="ko-KR" altLang="en-US" sz="175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생계급여 부양의무자 기준 폐지 완료</a:t>
                      </a:r>
                      <a:endParaRPr lang="ko-KR" altLang="en-US" sz="175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2264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5DA021A6-D654-4B91-882C-3F43E3E3EA63}"/>
              </a:ext>
            </a:extLst>
          </p:cNvPr>
          <p:cNvSpPr txBox="1"/>
          <p:nvPr/>
        </p:nvSpPr>
        <p:spPr>
          <a:xfrm>
            <a:off x="272534" y="1139609"/>
            <a:ext cx="8598932" cy="294593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285750" marR="0" indent="-285750" algn="just" fontAlgn="base" latinLnBrk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ko-KR" altLang="en-US" sz="1800" kern="0" spc="0" dirty="0">
                <a:effectLst/>
                <a:latin typeface="HY울릉도M" panose="02030600000101010101" pitchFamily="18" charset="-127"/>
                <a:ea typeface="HY울릉도M" panose="02030600000101010101" pitchFamily="18" charset="-127"/>
              </a:rPr>
              <a:t>부양의무자 기준 적용은 단계적으로 완화되어 왔음</a:t>
            </a:r>
            <a:endParaRPr lang="en-US" altLang="ko-KR" sz="1800" kern="0" spc="0" dirty="0">
              <a:effectLst/>
              <a:latin typeface="HY울릉도M" panose="02030600000101010101" pitchFamily="18" charset="-127"/>
              <a:ea typeface="HY울릉도M" panose="02030600000101010101" pitchFamily="18" charset="-127"/>
            </a:endParaRPr>
          </a:p>
          <a:p>
            <a:pPr marL="285750" marR="0" indent="-285750" algn="just" fontAlgn="base" latinLnBrk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ko-KR" sz="1800" kern="0" spc="0" dirty="0">
                <a:effectLst/>
                <a:latin typeface="HY울릉도M" panose="02030600000101010101" pitchFamily="18" charset="-127"/>
                <a:ea typeface="HY울릉도M" panose="02030600000101010101" pitchFamily="18" charset="-127"/>
              </a:rPr>
              <a:t>2015</a:t>
            </a:r>
            <a:r>
              <a:rPr lang="ko-KR" altLang="en-US" sz="1800" kern="0" spc="0" dirty="0">
                <a:effectLst/>
                <a:latin typeface="HY울릉도M" panose="02030600000101010101" pitchFamily="18" charset="-127"/>
                <a:ea typeface="HY울릉도M" panose="02030600000101010101" pitchFamily="18" charset="-127"/>
              </a:rPr>
              <a:t>년 </a:t>
            </a:r>
            <a:r>
              <a:rPr lang="en-US" altLang="ko-KR" sz="1800" kern="0" spc="0" dirty="0">
                <a:effectLst/>
                <a:latin typeface="HY울릉도M" panose="02030600000101010101" pitchFamily="18" charset="-127"/>
                <a:ea typeface="HY울릉도M" panose="02030600000101010101" pitchFamily="18" charset="-127"/>
              </a:rPr>
              <a:t>1</a:t>
            </a:r>
            <a:r>
              <a:rPr lang="ko-KR" altLang="en-US" sz="1800" kern="0" spc="0" dirty="0">
                <a:effectLst/>
                <a:latin typeface="HY울릉도M" panose="02030600000101010101" pitchFamily="18" charset="-127"/>
                <a:ea typeface="HY울릉도M" panose="02030600000101010101" pitchFamily="18" charset="-127"/>
              </a:rPr>
              <a:t>월부터 교육급여의 부양의무자 기준을 초</a:t>
            </a:r>
            <a:r>
              <a:rPr lang="en-US" altLang="ko-KR" sz="1800" kern="0" spc="0" dirty="0">
                <a:effectLst/>
                <a:latin typeface="HY울릉도M" panose="02030600000101010101" pitchFamily="18" charset="-127"/>
                <a:ea typeface="HY울릉도M" panose="02030600000101010101" pitchFamily="18" charset="-127"/>
              </a:rPr>
              <a:t>·</a:t>
            </a:r>
            <a:r>
              <a:rPr lang="ko-KR" altLang="en-US" sz="1800" kern="0" spc="0" dirty="0">
                <a:effectLst/>
                <a:latin typeface="HY울릉도M" panose="02030600000101010101" pitchFamily="18" charset="-127"/>
                <a:ea typeface="HY울릉도M" panose="02030600000101010101" pitchFamily="18" charset="-127"/>
              </a:rPr>
              <a:t>중등교육법</a:t>
            </a:r>
            <a:r>
              <a:rPr lang="en-US" altLang="ko-KR" sz="1800" kern="0" spc="0" dirty="0">
                <a:effectLst/>
                <a:latin typeface="HY울릉도M" panose="02030600000101010101" pitchFamily="18" charset="-127"/>
                <a:ea typeface="HY울릉도M" panose="02030600000101010101" pitchFamily="18" charset="-127"/>
              </a:rPr>
              <a:t>(</a:t>
            </a:r>
            <a:r>
              <a:rPr lang="ko-KR" altLang="en-US" sz="1800" kern="0" spc="0" dirty="0">
                <a:effectLst/>
                <a:latin typeface="HY울릉도M" panose="02030600000101010101" pitchFamily="18" charset="-127"/>
                <a:ea typeface="HY울릉도M" panose="02030600000101010101" pitchFamily="18" charset="-127"/>
              </a:rPr>
              <a:t>제</a:t>
            </a:r>
            <a:r>
              <a:rPr lang="en-US" altLang="ko-KR" sz="1800" kern="0" spc="0" dirty="0">
                <a:effectLst/>
                <a:latin typeface="HY울릉도M" panose="02030600000101010101" pitchFamily="18" charset="-127"/>
                <a:ea typeface="HY울릉도M" panose="02030600000101010101" pitchFamily="18" charset="-127"/>
              </a:rPr>
              <a:t>60</a:t>
            </a:r>
            <a:r>
              <a:rPr lang="ko-KR" altLang="en-US" sz="1800" kern="0" spc="0" dirty="0">
                <a:effectLst/>
                <a:latin typeface="HY울릉도M" panose="02030600000101010101" pitchFamily="18" charset="-127"/>
                <a:ea typeface="HY울릉도M" panose="02030600000101010101" pitchFamily="18" charset="-127"/>
              </a:rPr>
              <a:t>조의</a:t>
            </a:r>
            <a:r>
              <a:rPr lang="en-US" altLang="ko-KR" sz="1800" kern="0" spc="0" dirty="0">
                <a:effectLst/>
                <a:latin typeface="HY울릉도M" panose="02030600000101010101" pitchFamily="18" charset="-127"/>
                <a:ea typeface="HY울릉도M" panose="02030600000101010101" pitchFamily="18" charset="-127"/>
              </a:rPr>
              <a:t>4)</a:t>
            </a:r>
            <a:r>
              <a:rPr lang="ko-KR" altLang="en-US" sz="1800" kern="0" spc="0" dirty="0">
                <a:effectLst/>
                <a:latin typeface="HY울릉도M" panose="02030600000101010101" pitchFamily="18" charset="-127"/>
                <a:ea typeface="HY울릉도M" panose="02030600000101010101" pitchFamily="18" charset="-127"/>
              </a:rPr>
              <a:t>에 따른 교육비 지원과의 </a:t>
            </a:r>
            <a:r>
              <a:rPr lang="ko-KR" altLang="en-US" sz="1800" kern="0" spc="0" dirty="0" err="1">
                <a:effectLst/>
                <a:latin typeface="HY울릉도M" panose="02030600000101010101" pitchFamily="18" charset="-127"/>
                <a:ea typeface="HY울릉도M" panose="02030600000101010101" pitchFamily="18" charset="-127"/>
              </a:rPr>
              <a:t>연계ㆍ통합을</a:t>
            </a:r>
            <a:r>
              <a:rPr lang="ko-KR" altLang="en-US" sz="1800" kern="0" spc="0" dirty="0">
                <a:effectLst/>
                <a:latin typeface="HY울릉도M" panose="02030600000101010101" pitchFamily="18" charset="-127"/>
                <a:ea typeface="HY울릉도M" panose="02030600000101010101" pitchFamily="18" charset="-127"/>
              </a:rPr>
              <a:t> 위하여 미적용</a:t>
            </a:r>
            <a:endParaRPr lang="en-US" altLang="ko-KR" sz="1800" kern="0" spc="0" dirty="0">
              <a:effectLst/>
              <a:latin typeface="HY울릉도M" panose="02030600000101010101" pitchFamily="18" charset="-127"/>
              <a:ea typeface="HY울릉도M" panose="02030600000101010101" pitchFamily="18" charset="-127"/>
            </a:endParaRPr>
          </a:p>
          <a:p>
            <a:pPr marL="285750" marR="0" indent="-285750" algn="just" fontAlgn="base" latinLnBrk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ko-KR" sz="1800" kern="0" spc="0" dirty="0">
                <a:effectLst/>
                <a:latin typeface="HY울릉도M" panose="02030600000101010101" pitchFamily="18" charset="-127"/>
                <a:ea typeface="HY울릉도M" panose="02030600000101010101" pitchFamily="18" charset="-127"/>
              </a:rPr>
              <a:t>2018</a:t>
            </a:r>
            <a:r>
              <a:rPr lang="ko-KR" altLang="en-US" sz="1800" kern="0" spc="0" dirty="0">
                <a:effectLst/>
                <a:latin typeface="HY울릉도M" panose="02030600000101010101" pitchFamily="18" charset="-127"/>
                <a:ea typeface="HY울릉도M" panose="02030600000101010101" pitchFamily="18" charset="-127"/>
              </a:rPr>
              <a:t>년 </a:t>
            </a:r>
            <a:r>
              <a:rPr lang="en-US" altLang="ko-KR" sz="1800" kern="0" spc="0" dirty="0">
                <a:effectLst/>
                <a:latin typeface="HY울릉도M" panose="02030600000101010101" pitchFamily="18" charset="-127"/>
                <a:ea typeface="HY울릉도M" panose="02030600000101010101" pitchFamily="18" charset="-127"/>
              </a:rPr>
              <a:t>10</a:t>
            </a:r>
            <a:r>
              <a:rPr lang="ko-KR" altLang="en-US" sz="1800" kern="0" spc="0" dirty="0">
                <a:effectLst/>
                <a:latin typeface="HY울릉도M" panose="02030600000101010101" pitchFamily="18" charset="-127"/>
                <a:ea typeface="HY울릉도M" panose="02030600000101010101" pitchFamily="18" charset="-127"/>
              </a:rPr>
              <a:t>월에는 주거급여의 부양의무자 기준을 폐지하였음</a:t>
            </a:r>
            <a:r>
              <a:rPr lang="en-US" altLang="ko-KR" sz="1800" kern="0" spc="0" dirty="0">
                <a:effectLst/>
                <a:latin typeface="HY울릉도M" panose="02030600000101010101" pitchFamily="18" charset="-127"/>
                <a:ea typeface="HY울릉도M" panose="02030600000101010101" pitchFamily="18" charset="-127"/>
              </a:rPr>
              <a:t>. </a:t>
            </a:r>
          </a:p>
          <a:p>
            <a:pPr marL="285750" marR="0" indent="-285750" algn="just" fontAlgn="base" latinLnBrk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ko-KR" altLang="en-US" sz="1800" kern="0" spc="0" dirty="0">
                <a:effectLst/>
                <a:latin typeface="HY울릉도M" panose="02030600000101010101" pitchFamily="18" charset="-127"/>
                <a:ea typeface="HY울릉도M" panose="02030600000101010101" pitchFamily="18" charset="-127"/>
              </a:rPr>
              <a:t>생계급여에 대한 부양의무자 기준도 </a:t>
            </a:r>
            <a:r>
              <a:rPr lang="en-US" altLang="ko-KR" sz="1800" kern="0" spc="0" dirty="0">
                <a:effectLst/>
                <a:latin typeface="HY울릉도M" panose="02030600000101010101" pitchFamily="18" charset="-127"/>
                <a:ea typeface="HY울릉도M" panose="02030600000101010101" pitchFamily="18" charset="-127"/>
              </a:rPr>
              <a:t>2017</a:t>
            </a:r>
            <a:r>
              <a:rPr lang="ko-KR" altLang="en-US" sz="1800" kern="0" spc="0" dirty="0">
                <a:effectLst/>
                <a:latin typeface="HY울릉도M" panose="02030600000101010101" pitchFamily="18" charset="-127"/>
                <a:ea typeface="HY울릉도M" panose="02030600000101010101" pitchFamily="18" charset="-127"/>
              </a:rPr>
              <a:t>년 이후 단계적으로 완화되었고</a:t>
            </a:r>
            <a:r>
              <a:rPr lang="en-US" altLang="ko-KR" sz="1800" kern="0" spc="0" dirty="0">
                <a:effectLst/>
                <a:latin typeface="HY울릉도M" panose="02030600000101010101" pitchFamily="18" charset="-127"/>
                <a:ea typeface="HY울릉도M" panose="02030600000101010101" pitchFamily="18" charset="-127"/>
              </a:rPr>
              <a:t>, </a:t>
            </a:r>
            <a:r>
              <a:rPr lang="en-US" altLang="ko-KR" sz="1800" kern="0" spc="0" dirty="0">
                <a:solidFill>
                  <a:srgbClr val="C00000"/>
                </a:solidFill>
                <a:effectLst/>
                <a:latin typeface="HY울릉도M" panose="02030600000101010101" pitchFamily="18" charset="-127"/>
                <a:ea typeface="HY울릉도M" panose="02030600000101010101" pitchFamily="18" charset="-127"/>
              </a:rPr>
              <a:t>2021</a:t>
            </a:r>
            <a:r>
              <a:rPr lang="ko-KR" altLang="en-US" sz="1800" kern="0" spc="0" dirty="0">
                <a:solidFill>
                  <a:srgbClr val="C00000"/>
                </a:solidFill>
                <a:effectLst/>
                <a:latin typeface="HY울릉도M" panose="02030600000101010101" pitchFamily="18" charset="-127"/>
                <a:ea typeface="HY울릉도M" panose="02030600000101010101" pitchFamily="18" charset="-127"/>
              </a:rPr>
              <a:t>년 </a:t>
            </a:r>
            <a:r>
              <a:rPr lang="en-US" altLang="ko-KR" sz="1800" kern="0" spc="0" dirty="0">
                <a:solidFill>
                  <a:srgbClr val="C00000"/>
                </a:solidFill>
                <a:effectLst/>
                <a:latin typeface="HY울릉도M" panose="02030600000101010101" pitchFamily="18" charset="-127"/>
                <a:ea typeface="HY울릉도M" panose="02030600000101010101" pitchFamily="18" charset="-127"/>
              </a:rPr>
              <a:t>10</a:t>
            </a:r>
            <a:r>
              <a:rPr lang="ko-KR" altLang="en-US" sz="1800" kern="0" spc="0" dirty="0">
                <a:solidFill>
                  <a:srgbClr val="C00000"/>
                </a:solidFill>
                <a:effectLst/>
                <a:latin typeface="HY울릉도M" panose="02030600000101010101" pitchFamily="18" charset="-127"/>
                <a:ea typeface="HY울릉도M" panose="02030600000101010101" pitchFamily="18" charset="-127"/>
              </a:rPr>
              <a:t>월부터는 생계급여 부양의무자 기준이 완전 폐지되었음</a:t>
            </a:r>
            <a:endParaRPr lang="en-US" altLang="ko-KR" sz="1800" kern="0" spc="0" dirty="0">
              <a:solidFill>
                <a:srgbClr val="C00000"/>
              </a:solidFill>
              <a:effectLst/>
              <a:latin typeface="HY울릉도M" panose="02030600000101010101" pitchFamily="18" charset="-127"/>
              <a:ea typeface="HY울릉도M" panose="02030600000101010101" pitchFamily="18" charset="-127"/>
            </a:endParaRPr>
          </a:p>
          <a:p>
            <a:pPr marR="0" algn="just" fontAlgn="base" latinLnBrk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kern="0" dirty="0">
                <a:solidFill>
                  <a:srgbClr val="0000FF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    (</a:t>
            </a:r>
            <a:r>
              <a:rPr lang="ko-KR" altLang="en-US" kern="0" dirty="0">
                <a:solidFill>
                  <a:srgbClr val="0000FF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부모 또는 자녀가 </a:t>
            </a:r>
            <a:r>
              <a:rPr lang="ko-KR" altLang="en-US" kern="0" dirty="0" err="1">
                <a:solidFill>
                  <a:srgbClr val="0000FF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연소득</a:t>
            </a:r>
            <a:r>
              <a:rPr lang="ko-KR" altLang="en-US" kern="0" dirty="0">
                <a:solidFill>
                  <a:srgbClr val="0000FF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 </a:t>
            </a:r>
            <a:r>
              <a:rPr lang="en-US" altLang="ko-KR" kern="0" dirty="0">
                <a:solidFill>
                  <a:srgbClr val="0000FF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1</a:t>
            </a:r>
            <a:r>
              <a:rPr lang="ko-KR" altLang="en-US" kern="0" dirty="0">
                <a:solidFill>
                  <a:srgbClr val="0000FF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억원 초과</a:t>
            </a:r>
            <a:r>
              <a:rPr lang="en-US" altLang="ko-KR" kern="0" dirty="0">
                <a:solidFill>
                  <a:srgbClr val="0000FF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, 9</a:t>
            </a:r>
            <a:r>
              <a:rPr lang="ko-KR" altLang="en-US" kern="0" dirty="0">
                <a:solidFill>
                  <a:srgbClr val="0000FF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억원 초과 재산보유자는 제외</a:t>
            </a:r>
            <a:r>
              <a:rPr lang="en-US" altLang="ko-KR" kern="0" dirty="0">
                <a:solidFill>
                  <a:srgbClr val="0000FF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)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HY울릉도M" panose="02030600000101010101" pitchFamily="18" charset="-127"/>
              <a:ea typeface="HY울릉도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645448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72534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4.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적용대상</a:t>
            </a:r>
          </a:p>
        </p:txBody>
      </p:sp>
      <p:sp>
        <p:nvSpPr>
          <p:cNvPr id="6" name="모서리가 둥근 직사각형 5"/>
          <p:cNvSpPr/>
          <p:nvPr/>
        </p:nvSpPr>
        <p:spPr>
          <a:xfrm>
            <a:off x="323528" y="985219"/>
            <a:ext cx="3600400" cy="45718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24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 2) </a:t>
            </a:r>
            <a:r>
              <a:rPr lang="ko-KR" altLang="en-US" sz="24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외국인에 대한 특례</a:t>
            </a:r>
            <a:endParaRPr lang="en-US" altLang="ko-KR" sz="2400" dirty="0">
              <a:latin typeface="HY울릉도B" pitchFamily="18" charset="-127"/>
              <a:ea typeface="HY울릉도B" pitchFamily="18" charset="-127"/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2202944"/>
              </p:ext>
            </p:extLst>
          </p:nvPr>
        </p:nvGraphicFramePr>
        <p:xfrm>
          <a:off x="323528" y="1628800"/>
          <a:ext cx="8568952" cy="4707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689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68152">
                <a:tc>
                  <a:txBody>
                    <a:bodyPr/>
                    <a:lstStyle/>
                    <a:p>
                      <a:pPr marL="285750" marR="0" indent="-2857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b="0" kern="1200" dirty="0">
                          <a:solidFill>
                            <a:schemeClr val="lt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국내에 체류하고 있는 외국인 중 출입국 관리법에 따라 외국인 등록을 한 사람 중 아래의 어느 하나에 해당되는 사람으로서 </a:t>
                      </a:r>
                      <a:r>
                        <a:rPr lang="ko-KR" altLang="en-US" sz="1800" b="0" kern="1200" dirty="0" err="1">
                          <a:solidFill>
                            <a:schemeClr val="lt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국민기초생활보장법에</a:t>
                      </a:r>
                      <a:r>
                        <a:rPr lang="ko-KR" altLang="en-US" sz="1800" b="0" kern="1200" dirty="0">
                          <a:solidFill>
                            <a:schemeClr val="lt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따른 급여를 받을 수 있는 자격을 가진 경우에는 </a:t>
                      </a:r>
                      <a:r>
                        <a:rPr lang="ko-KR" altLang="en-US" sz="1800" b="0" kern="1200" dirty="0" err="1">
                          <a:solidFill>
                            <a:schemeClr val="lt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수급권자가</a:t>
                      </a:r>
                      <a:r>
                        <a:rPr lang="ko-KR" altLang="en-US" sz="1800" b="0" kern="1200" dirty="0">
                          <a:solidFill>
                            <a:schemeClr val="lt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될 수 있음</a:t>
                      </a:r>
                      <a:endParaRPr lang="ko-KR" altLang="en-US" sz="1800" b="0" dirty="0">
                        <a:solidFill>
                          <a:srgbClr val="FFFF0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22504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①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대한민국 국민과 혼인 중인 사람으로서 다음의 어느 하나에 해당하는 사람</a:t>
                      </a:r>
                    </a:p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 ⓐ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본인 또는 대한민국 국적의 배우자가 임신 중인 사람</a:t>
                      </a:r>
                    </a:p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 ⓑ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대한민국 국적의 미성년 자녀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(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계부자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·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계모자 관계와 </a:t>
                      </a:r>
                      <a:r>
                        <a:rPr lang="ko-KR" altLang="en-US" sz="1800" kern="0" spc="0" dirty="0" err="1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양친자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관계 포함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)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를 </a:t>
                      </a:r>
                      <a:endParaRPr lang="en-US" altLang="ko-KR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    양육하고 있는 사람</a:t>
                      </a:r>
                    </a:p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 ⓒ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배우자의 대한민국 국적인 직계존속과 생계나 주거를 같이 하는 사람</a:t>
                      </a: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57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②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대한민국 국민인 배우자와 이혼하거나 그 배우자가 사망한 사람으로서 대한</a:t>
                      </a:r>
                      <a:endParaRPr lang="en-US" altLang="ko-KR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   민국 국적의 미성년 자녀를 양육하고 있는 사람 또는 사망한 배우자의 태아를</a:t>
                      </a:r>
                      <a:endParaRPr lang="en-US" altLang="ko-KR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 임신하고 있는 사람</a:t>
                      </a: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44209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72534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5.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급여내용</a:t>
            </a:r>
          </a:p>
        </p:txBody>
      </p:sp>
      <p:sp>
        <p:nvSpPr>
          <p:cNvPr id="6" name="모서리가 둥근 직사각형 5"/>
          <p:cNvSpPr/>
          <p:nvPr/>
        </p:nvSpPr>
        <p:spPr>
          <a:xfrm>
            <a:off x="323528" y="1046217"/>
            <a:ext cx="3312368" cy="45718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24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 1) </a:t>
            </a:r>
            <a:r>
              <a:rPr lang="ko-KR" altLang="en-US" sz="24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급여의 기본원칙</a:t>
            </a:r>
            <a:endParaRPr lang="en-US" altLang="ko-KR" sz="2400" dirty="0">
              <a:latin typeface="HY울릉도B" pitchFamily="18" charset="-127"/>
              <a:ea typeface="HY울릉도B" pitchFamily="18" charset="-127"/>
            </a:endParaRP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9392959"/>
              </p:ext>
            </p:extLst>
          </p:nvPr>
        </p:nvGraphicFramePr>
        <p:xfrm>
          <a:off x="323528" y="1700808"/>
          <a:ext cx="8567932" cy="2376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90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488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19814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b="0" kern="0" spc="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기본</a:t>
                      </a:r>
                      <a:endParaRPr lang="en-US" altLang="ko-KR" sz="1800" b="0" kern="0" spc="0" dirty="0">
                        <a:solidFill>
                          <a:schemeClr val="bg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b="0" kern="0" spc="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원칙</a:t>
                      </a:r>
                      <a:endParaRPr lang="en-US" altLang="ko-KR" sz="1800" b="0" kern="0" spc="0" dirty="0">
                        <a:solidFill>
                          <a:schemeClr val="bg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800" b="0" kern="0" spc="0" dirty="0">
                        <a:solidFill>
                          <a:schemeClr val="bg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fontAlgn="base" latinLnBrk="0" hangingPunct="1">
                        <a:lnSpc>
                          <a:spcPts val="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급여는 수급자가 자신의 생활의 유지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·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향상을 위하여 그의 소득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재산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근로능력 등을 활용하여 최대한 노력하는 것을 전제로 이를 보충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·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발전</a:t>
                      </a:r>
                      <a:endParaRPr lang="en-US" altLang="ko-KR" sz="1800" b="0" kern="1200" dirty="0">
                        <a:solidFill>
                          <a:schemeClr val="tx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0" marR="0" indent="0" algn="l" defTabSz="914400" rtl="0" eaLnBrk="1" fontAlgn="base" latinLnBrk="0" hangingPunct="1">
                        <a:lnSpc>
                          <a:spcPts val="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kern="1200" baseline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  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시키는 것을 기본원칙으로 함</a:t>
                      </a:r>
                      <a:r>
                        <a:rPr lang="en-US" altLang="ko-KR" sz="1800" b="0" kern="1200" dirty="0">
                          <a:solidFill>
                            <a:srgbClr val="9933FF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800" b="0" kern="1200" dirty="0">
                          <a:solidFill>
                            <a:srgbClr val="9933FF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보충성의 원칙</a:t>
                      </a:r>
                      <a:r>
                        <a:rPr lang="en-US" altLang="ko-KR" sz="1800" b="0" kern="1200" dirty="0">
                          <a:solidFill>
                            <a:srgbClr val="9933FF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b="0" kern="1200" dirty="0">
                          <a:solidFill>
                            <a:srgbClr val="9933FF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자립지원의 원칙</a:t>
                      </a:r>
                      <a:r>
                        <a:rPr lang="en-US" altLang="ko-KR" sz="1800" b="0" kern="1200" dirty="0">
                          <a:solidFill>
                            <a:srgbClr val="9933FF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)</a:t>
                      </a:r>
                      <a:endParaRPr lang="ko-KR" altLang="en-US" sz="1800" b="0" kern="0" spc="0" dirty="0">
                        <a:solidFill>
                          <a:srgbClr val="9933FF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5645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fontAlgn="base" latinLnBrk="0" hangingPunct="1">
                        <a:lnSpc>
                          <a:spcPts val="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부양의무자의 부양과 다른 법령에 따른 보호는 이 법에 따른 급여에 우선하여 행하여지는 것으로 함</a:t>
                      </a:r>
                      <a:r>
                        <a:rPr lang="en-US" altLang="ko-KR" sz="1800" kern="1200" dirty="0">
                          <a:solidFill>
                            <a:srgbClr val="9933FF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800" kern="1200" dirty="0">
                          <a:solidFill>
                            <a:srgbClr val="9933FF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가족부양우선원칙</a:t>
                      </a:r>
                      <a:r>
                        <a:rPr lang="en-US" altLang="ko-KR" sz="1800" kern="1200" dirty="0">
                          <a:solidFill>
                            <a:srgbClr val="9933FF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kern="1200" dirty="0">
                          <a:solidFill>
                            <a:srgbClr val="9933FF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타 급여 우선 원칙</a:t>
                      </a:r>
                      <a:r>
                        <a:rPr lang="en-US" altLang="ko-KR" sz="1800" kern="1200" dirty="0">
                          <a:solidFill>
                            <a:srgbClr val="9933FF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)</a:t>
                      </a:r>
                      <a:endParaRPr lang="ko-KR" altLang="en-US" sz="1800" b="0" kern="0" spc="0" dirty="0">
                        <a:solidFill>
                          <a:srgbClr val="9933FF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67256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72534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5.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급여내용</a:t>
            </a:r>
          </a:p>
        </p:txBody>
      </p:sp>
      <p:sp>
        <p:nvSpPr>
          <p:cNvPr id="6" name="모서리가 둥근 직사각형 5"/>
          <p:cNvSpPr/>
          <p:nvPr/>
        </p:nvSpPr>
        <p:spPr>
          <a:xfrm>
            <a:off x="323528" y="1046217"/>
            <a:ext cx="2592288" cy="45718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24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 2) </a:t>
            </a:r>
            <a:r>
              <a:rPr lang="ko-KR" altLang="en-US" sz="24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급여의 기준</a:t>
            </a:r>
            <a:endParaRPr lang="en-US" altLang="ko-KR" sz="2400" dirty="0">
              <a:latin typeface="HY울릉도B" pitchFamily="18" charset="-127"/>
              <a:ea typeface="HY울릉도B" pitchFamily="18" charset="-127"/>
            </a:endParaRP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6895419"/>
              </p:ext>
            </p:extLst>
          </p:nvPr>
        </p:nvGraphicFramePr>
        <p:xfrm>
          <a:off x="323528" y="1700808"/>
          <a:ext cx="8567932" cy="2863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90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488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8072"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급여 </a:t>
                      </a:r>
                      <a:endParaRPr lang="en-US" altLang="ko-KR" sz="1800" kern="0" spc="0" dirty="0">
                        <a:solidFill>
                          <a:schemeClr val="bg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기준</a:t>
                      </a:r>
                      <a:endParaRPr lang="en-US" altLang="ko-KR" sz="1800" kern="0" spc="0" dirty="0">
                        <a:solidFill>
                          <a:schemeClr val="bg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fontAlgn="base" latinLnBrk="1" hangingPunct="1">
                        <a:lnSpc>
                          <a:spcPts val="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급여는 건강하고 </a:t>
                      </a:r>
                      <a:r>
                        <a:rPr lang="ko-KR" altLang="en-US" sz="1800" kern="120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문화적인 최저생활을 유지</a:t>
                      </a:r>
                      <a:r>
                        <a:rPr lang="ko-KR" altLang="en-US" sz="1800" kern="120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할 수 있는 것이어야 함</a:t>
                      </a:r>
                      <a:endParaRPr lang="ko-KR" altLang="en-US" sz="1800" kern="0" spc="0" dirty="0">
                        <a:solidFill>
                          <a:schemeClr val="bg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5974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fontAlgn="base" latinLnBrk="1" hangingPunct="1">
                        <a:lnSpc>
                          <a:spcPts val="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급여의 기준은 </a:t>
                      </a:r>
                      <a:r>
                        <a:rPr lang="ko-KR" altLang="en-US" sz="1800" kern="120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수급자의 연령</a:t>
                      </a:r>
                      <a:r>
                        <a:rPr lang="en-US" altLang="ko-KR" sz="1800" kern="120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kern="120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가구 규모</a:t>
                      </a:r>
                      <a:r>
                        <a:rPr lang="en-US" altLang="ko-KR" sz="1800" kern="120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kern="120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거주 지역</a:t>
                      </a:r>
                      <a:r>
                        <a:rPr lang="en-US" altLang="ko-KR" sz="1800" kern="120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kern="120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그 밖의 생활여건 등을 고려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하여 급여의 종류별로 보건복지부장관이 정하거나 급여를 지급하는 소관 중앙행정기관의 장이 보건복지부장관과 협의하여 정함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128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fontAlgn="base" latinLnBrk="1" hangingPunct="1">
                        <a:lnSpc>
                          <a:spcPts val="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보장기관은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이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법에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따른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급여를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 err="1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개별가구</a:t>
                      </a:r>
                      <a:r>
                        <a:rPr lang="en-US" altLang="ko-KR" sz="1800" kern="120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 err="1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단위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로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실시하되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특히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필요하다고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인정하는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경우에는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개인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단위로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실시할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수 있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음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29384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72534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5.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급여내용</a:t>
            </a:r>
          </a:p>
        </p:txBody>
      </p:sp>
      <p:sp>
        <p:nvSpPr>
          <p:cNvPr id="6" name="모서리가 둥근 직사각형 5"/>
          <p:cNvSpPr/>
          <p:nvPr/>
        </p:nvSpPr>
        <p:spPr>
          <a:xfrm>
            <a:off x="323528" y="1046217"/>
            <a:ext cx="3312368" cy="45718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24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 3) </a:t>
            </a:r>
            <a:r>
              <a:rPr lang="ko-KR" altLang="en-US" sz="24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급여의 신청절차</a:t>
            </a:r>
            <a:endParaRPr lang="en-US" altLang="ko-KR" sz="2400" dirty="0">
              <a:latin typeface="HY울릉도B" pitchFamily="18" charset="-127"/>
              <a:ea typeface="HY울릉도B" pitchFamily="18" charset="-127"/>
            </a:endParaRP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4695045"/>
              </p:ext>
            </p:extLst>
          </p:nvPr>
        </p:nvGraphicFramePr>
        <p:xfrm>
          <a:off x="323528" y="1772816"/>
          <a:ext cx="8567932" cy="2808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90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488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0831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b="0" kern="0" spc="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급여의 신청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base" latinLnBrk="0" hangingPunct="1">
                        <a:lnSpc>
                          <a:spcPts val="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급여는 </a:t>
                      </a:r>
                      <a:r>
                        <a:rPr lang="ko-KR" alt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수급권자와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그 친족 및 기타 관계인이 관할 시장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·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군수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·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구청장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보장기관의 장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)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에게 신청하는 것을 원칙으로 함 </a:t>
                      </a:r>
                      <a:r>
                        <a:rPr lang="en-US" altLang="ko-KR" sz="1800" b="0" kern="120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800" b="0" kern="120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신청주의 원칙</a:t>
                      </a:r>
                      <a:r>
                        <a:rPr lang="en-US" altLang="ko-KR" sz="1800" b="0" kern="120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) </a:t>
                      </a:r>
                      <a:endParaRPr lang="ko-KR" altLang="en-US" sz="1800" b="0" kern="1200" dirty="0">
                        <a:solidFill>
                          <a:srgbClr val="FF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285750" marR="0" lvl="0" indent="-285750" algn="l" defTabSz="914400" rtl="0" eaLnBrk="1" fontAlgn="base" latinLnBrk="0" hangingPunct="1">
                        <a:lnSpc>
                          <a:spcPts val="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사회복지 전담공무원은 급여를 필요로 하는 사람이 누락되지 않도록 관할지역에 거주하는 </a:t>
                      </a:r>
                      <a:r>
                        <a:rPr lang="ko-KR" alt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수급권자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생활이 어려우나 급여신청을 하지 않았거나 신청서를 작성할 수 없는 사람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)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에 대한 급여를 본인의 동의를 얻어 직권으로 신청할 수 있음</a:t>
                      </a:r>
                      <a:r>
                        <a:rPr lang="en-US" altLang="ko-KR" sz="1800" b="0" kern="120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800" b="0" kern="120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직권주의 병행</a:t>
                      </a:r>
                      <a:r>
                        <a:rPr lang="en-US" altLang="ko-KR" sz="1800" b="0" kern="120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) </a:t>
                      </a:r>
                      <a:endParaRPr lang="ko-KR" altLang="en-US" sz="1800" b="0" kern="0" spc="0" dirty="0">
                        <a:solidFill>
                          <a:srgbClr val="FF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49582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72534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5.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급여내용</a:t>
            </a:r>
          </a:p>
        </p:txBody>
      </p:sp>
      <p:sp>
        <p:nvSpPr>
          <p:cNvPr id="6" name="모서리가 둥근 직사각형 5"/>
          <p:cNvSpPr/>
          <p:nvPr/>
        </p:nvSpPr>
        <p:spPr>
          <a:xfrm>
            <a:off x="323528" y="1046217"/>
            <a:ext cx="3168352" cy="45718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24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 3) </a:t>
            </a:r>
            <a:r>
              <a:rPr lang="ko-KR" altLang="en-US" sz="24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급여의 신청절차</a:t>
            </a:r>
            <a:endParaRPr lang="en-US" altLang="ko-KR" sz="2400" dirty="0">
              <a:latin typeface="HY울릉도B" pitchFamily="18" charset="-127"/>
              <a:ea typeface="HY울릉도B" pitchFamily="18" charset="-127"/>
            </a:endParaRP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0571490"/>
              </p:ext>
            </p:extLst>
          </p:nvPr>
        </p:nvGraphicFramePr>
        <p:xfrm>
          <a:off x="323528" y="1772816"/>
          <a:ext cx="8567932" cy="1872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90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488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7220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b="0" kern="0" spc="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신청에 의한 조사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base" latinLnBrk="0" hangingPunct="1">
                        <a:lnSpc>
                          <a:spcPts val="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시장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·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군수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·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구청장은 급여신청이 있는 경우에 사회복지 전담공무원 으로 하여금 급여의 결정 및 실시 등에 필요한 내용을 조사하게 하거나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수급권자에게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보장기관이 지정하는 의료기관에서 검진을 받게 할 수 있음</a:t>
                      </a:r>
                      <a:endParaRPr lang="ko-KR" altLang="en-US" sz="1800" b="0" kern="0" spc="0" dirty="0">
                        <a:solidFill>
                          <a:srgbClr val="FF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7117354"/>
              </p:ext>
            </p:extLst>
          </p:nvPr>
        </p:nvGraphicFramePr>
        <p:xfrm>
          <a:off x="323528" y="4005064"/>
          <a:ext cx="8568952" cy="2146428"/>
        </p:xfrm>
        <a:graphic>
          <a:graphicData uri="http://schemas.openxmlformats.org/drawingml/2006/table">
            <a:tbl>
              <a:tblPr/>
              <a:tblGrid>
                <a:gridCol w="85689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6563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b="0" kern="0" spc="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※ </a:t>
                      </a:r>
                      <a:r>
                        <a:rPr lang="ko-KR" altLang="en-US" sz="1800" b="0" kern="0" spc="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조사 내용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6645">
                <a:tc>
                  <a:txBody>
                    <a:bodyPr/>
                    <a:lstStyle/>
                    <a:p>
                      <a:pPr marL="2540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b="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① 부양의무자의 유무 및 부양능력 등 부양의무자와 관련된 사항</a:t>
                      </a:r>
                    </a:p>
                    <a:p>
                      <a:pPr marL="2540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b="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② </a:t>
                      </a:r>
                      <a:r>
                        <a:rPr lang="ko-KR" altLang="en-US" sz="1800" b="0" kern="0" spc="0" dirty="0" err="1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수급권자</a:t>
                      </a:r>
                      <a:r>
                        <a:rPr lang="ko-KR" altLang="en-US" sz="1800" b="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및 부양의무자의 소득</a:t>
                      </a:r>
                      <a:r>
                        <a:rPr lang="en-US" altLang="ko-KR" sz="1800" b="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·</a:t>
                      </a:r>
                      <a:r>
                        <a:rPr lang="ko-KR" altLang="en-US" sz="1800" b="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재산에 관한 사항</a:t>
                      </a:r>
                    </a:p>
                    <a:p>
                      <a:pPr marL="2540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b="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③ </a:t>
                      </a:r>
                      <a:r>
                        <a:rPr lang="ko-KR" altLang="en-US" sz="1800" b="0" kern="0" spc="0" dirty="0" err="1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수급권자의</a:t>
                      </a:r>
                      <a:r>
                        <a:rPr lang="ko-KR" altLang="en-US" sz="1800" b="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근로능력</a:t>
                      </a:r>
                      <a:r>
                        <a:rPr lang="en-US" altLang="ko-KR" sz="1800" b="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800" b="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취업상태</a:t>
                      </a:r>
                      <a:r>
                        <a:rPr lang="en-US" altLang="ko-KR" sz="1800" b="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800" b="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자활욕구 등 자활지원계획 수립에 필요한 사항</a:t>
                      </a:r>
                    </a:p>
                    <a:p>
                      <a:pPr marL="2540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b="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④ 그 밖에 </a:t>
                      </a:r>
                      <a:r>
                        <a:rPr lang="ko-KR" altLang="en-US" sz="1800" b="0" kern="0" spc="0" dirty="0" err="1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수급권자의</a:t>
                      </a:r>
                      <a:r>
                        <a:rPr lang="ko-KR" altLang="en-US" sz="1800" b="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건강상태</a:t>
                      </a:r>
                      <a:r>
                        <a:rPr lang="en-US" altLang="ko-KR" sz="1800" b="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800" b="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가구 특성 등 생활실태에 관한 사항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63435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72534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5.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급여내용</a:t>
            </a:r>
          </a:p>
        </p:txBody>
      </p:sp>
      <p:sp>
        <p:nvSpPr>
          <p:cNvPr id="6" name="모서리가 둥근 직사각형 5"/>
          <p:cNvSpPr/>
          <p:nvPr/>
        </p:nvSpPr>
        <p:spPr>
          <a:xfrm>
            <a:off x="323528" y="1046217"/>
            <a:ext cx="3168352" cy="45718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24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 3) </a:t>
            </a:r>
            <a:r>
              <a:rPr lang="ko-KR" altLang="en-US" sz="24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급여의 신청절차</a:t>
            </a:r>
            <a:endParaRPr lang="en-US" altLang="ko-KR" sz="2400" dirty="0">
              <a:latin typeface="HY울릉도B" pitchFamily="18" charset="-127"/>
              <a:ea typeface="HY울릉도B" pitchFamily="18" charset="-127"/>
            </a:endParaRP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3063007"/>
              </p:ext>
            </p:extLst>
          </p:nvPr>
        </p:nvGraphicFramePr>
        <p:xfrm>
          <a:off x="323528" y="1772816"/>
          <a:ext cx="8567932" cy="368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90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488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0831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b="0" kern="0" spc="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급여의 결정과 통지</a:t>
                      </a:r>
                      <a:endParaRPr lang="en-US" altLang="ko-KR" sz="1800" b="0" kern="0" spc="0" dirty="0">
                        <a:solidFill>
                          <a:schemeClr val="bg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800" b="0" kern="0" spc="0" dirty="0">
                        <a:solidFill>
                          <a:schemeClr val="bg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85750" lvl="0" indent="-285750" fontAlgn="base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시장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·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군수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·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구청장은 </a:t>
                      </a:r>
                      <a:r>
                        <a:rPr lang="ko-KR" alt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수급자와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부양의무자에 대하여 필요한 조사를 실시한 후 그 결과에 따라 지체 없이 급여실시 여부와 급여내용을 결정하여야 함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</a:p>
                    <a:p>
                      <a:pPr marL="285750" lvl="0" indent="-285750" fontAlgn="base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이때 생계급여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의료급여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주거급여에 대한 결정은 시장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·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군수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·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구청장이 실시하고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교육급여의 결정은 시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·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도 교육감이 실시함</a:t>
                      </a:r>
                      <a:endParaRPr lang="en-US" altLang="ko-KR" sz="1800" b="0" kern="1200" dirty="0">
                        <a:solidFill>
                          <a:schemeClr val="tx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285750" lvl="0" indent="-285750" fontAlgn="base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급여가 결정이 되면 그 결정의 요지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급여의 종류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·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방법 및 급여의 개시 시기 등을 급여의 신청일로 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30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일 이내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특별한 사유가 있는 경우 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60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일 이내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)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에 </a:t>
                      </a:r>
                      <a:r>
                        <a:rPr lang="ko-KR" alt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수급권자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또는 신청인에게 서면으로 통지하여야 함</a:t>
                      </a:r>
                    </a:p>
                    <a:p>
                      <a:pPr marL="285750" marR="0" lvl="0" indent="-28575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endParaRPr lang="ko-KR" altLang="en-US" sz="1800" b="0" kern="0" spc="0" dirty="0">
                        <a:solidFill>
                          <a:schemeClr val="tx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28567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72534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5.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급여내용</a:t>
            </a:r>
          </a:p>
        </p:txBody>
      </p:sp>
      <p:sp>
        <p:nvSpPr>
          <p:cNvPr id="6" name="모서리가 둥근 직사각형 5"/>
          <p:cNvSpPr/>
          <p:nvPr/>
        </p:nvSpPr>
        <p:spPr>
          <a:xfrm>
            <a:off x="323528" y="1046217"/>
            <a:ext cx="2736304" cy="45718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24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 4) </a:t>
            </a:r>
            <a:r>
              <a:rPr lang="ko-KR" altLang="en-US" sz="24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급여의 종류</a:t>
            </a:r>
            <a:endParaRPr lang="en-US" altLang="ko-KR" sz="2400" dirty="0">
              <a:latin typeface="HY울릉도B" pitchFamily="18" charset="-127"/>
              <a:ea typeface="HY울릉도B" pitchFamily="18" charset="-127"/>
            </a:endParaRP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8191140"/>
              </p:ext>
            </p:extLst>
          </p:nvPr>
        </p:nvGraphicFramePr>
        <p:xfrm>
          <a:off x="323528" y="2420888"/>
          <a:ext cx="8424936" cy="23503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1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728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706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b="1" kern="0" spc="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종 류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b="1" kern="0" spc="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내   용</a:t>
                      </a: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718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생계급여</a:t>
                      </a:r>
                      <a:endParaRPr lang="en-US" altLang="ko-KR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85750" indent="-285750" fontAlgn="base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수급자에게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의복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.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음식물 및 연료비와 일상생활에 기본적으로     필요한 금품을 지급하여 생계를 유지하도록 하는 급여 </a:t>
                      </a:r>
                      <a:endParaRPr lang="en-US" altLang="ko-KR" sz="1800" kern="1200" dirty="0">
                        <a:solidFill>
                          <a:schemeClr val="dk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285750" indent="-285750" fontAlgn="base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기본급여로 </a:t>
                      </a:r>
                      <a:r>
                        <a:rPr lang="ko-KR" altLang="en-US" sz="1800" b="1" kern="120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금전지급을 원칙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으로 하고 필요한 경우 물품으로 지급</a:t>
                      </a:r>
                      <a:endParaRPr lang="en-US" altLang="ko-KR" sz="1800" kern="1200" dirty="0">
                        <a:solidFill>
                          <a:schemeClr val="dk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285750" indent="-285750" fontAlgn="base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근로능력이 있는 </a:t>
                      </a:r>
                      <a:r>
                        <a:rPr lang="ko-KR" altLang="en-US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수급자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(18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세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-64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세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)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에게는 자활사업에 참가할 것을 조건으로 생계급여를 지급함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조건부 </a:t>
                      </a:r>
                      <a:r>
                        <a:rPr lang="ko-KR" altLang="en-US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수급자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)</a:t>
                      </a:r>
                      <a:endParaRPr lang="ko-KR" altLang="en-US" sz="1800" kern="1200" dirty="0">
                        <a:solidFill>
                          <a:schemeClr val="dk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2425891"/>
              </p:ext>
            </p:extLst>
          </p:nvPr>
        </p:nvGraphicFramePr>
        <p:xfrm>
          <a:off x="395536" y="1700808"/>
          <a:ext cx="8352928" cy="648072"/>
        </p:xfrm>
        <a:graphic>
          <a:graphicData uri="http://schemas.openxmlformats.org/drawingml/2006/table">
            <a:tbl>
              <a:tblPr/>
              <a:tblGrid>
                <a:gridCol w="8352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48072">
                <a:tc>
                  <a:txBody>
                    <a:bodyPr/>
                    <a:lstStyle/>
                    <a:p>
                      <a:pPr marL="285750" marR="0" indent="-285750" algn="just" fontAlgn="base" latinLnBrk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b="0" kern="0" spc="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급여의 종류에는 생계급여</a:t>
                      </a:r>
                      <a:r>
                        <a:rPr lang="en-US" altLang="ko-KR" sz="1800" b="0" kern="0" spc="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800" b="0" kern="0" spc="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주거급여</a:t>
                      </a:r>
                      <a:r>
                        <a:rPr lang="en-US" altLang="ko-KR" sz="1800" b="0" kern="0" spc="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(</a:t>
                      </a:r>
                      <a:r>
                        <a:rPr lang="ko-KR" altLang="en-US" sz="1800" b="0" kern="0" spc="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국토교통부 장관 담당</a:t>
                      </a:r>
                      <a:r>
                        <a:rPr lang="en-US" altLang="ko-KR" sz="1800" b="0" kern="0" spc="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), </a:t>
                      </a:r>
                      <a:r>
                        <a:rPr lang="ko-KR" altLang="en-US" sz="1800" b="0" kern="0" spc="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의료급여</a:t>
                      </a:r>
                      <a:r>
                        <a:rPr lang="en-US" altLang="ko-KR" sz="1800" b="0" kern="0" spc="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800" b="0" kern="0" spc="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교육급여</a:t>
                      </a:r>
                      <a:r>
                        <a:rPr lang="en-US" altLang="ko-KR" sz="1800" b="0" kern="0" spc="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(</a:t>
                      </a:r>
                      <a:r>
                        <a:rPr lang="ko-KR" altLang="en-US" sz="1800" b="0" kern="0" spc="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교육부 장관 담당</a:t>
                      </a:r>
                      <a:r>
                        <a:rPr lang="en-US" altLang="ko-KR" sz="1800" b="0" kern="0" spc="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), </a:t>
                      </a:r>
                      <a:r>
                        <a:rPr lang="ko-KR" altLang="en-US" sz="1800" b="0" kern="0" spc="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해산급여</a:t>
                      </a:r>
                      <a:r>
                        <a:rPr lang="en-US" altLang="ko-KR" sz="1800" b="0" kern="0" spc="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800" b="0" kern="0" spc="0" dirty="0" err="1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장제급여</a:t>
                      </a:r>
                      <a:r>
                        <a:rPr lang="en-US" altLang="ko-KR" sz="1800" b="0" kern="0" spc="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800" b="0" kern="0" spc="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자활급여가 있음</a:t>
                      </a:r>
                      <a:endParaRPr lang="en-US" altLang="ko-KR" sz="1800" b="0" kern="0" spc="0" dirty="0">
                        <a:solidFill>
                          <a:srgbClr val="FF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1848208"/>
              </p:ext>
            </p:extLst>
          </p:nvPr>
        </p:nvGraphicFramePr>
        <p:xfrm>
          <a:off x="323528" y="5230555"/>
          <a:ext cx="8415387" cy="1529335"/>
        </p:xfrm>
        <a:graphic>
          <a:graphicData uri="http://schemas.openxmlformats.org/drawingml/2006/table">
            <a:tbl>
              <a:tblPr/>
              <a:tblGrid>
                <a:gridCol w="2376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21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5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5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95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83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476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구  분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1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인 가구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2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인 가구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3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인 가구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4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인 가구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5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인 가구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807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 err="1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기준중위소득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(2022)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 dirty="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1,944,812</a:t>
                      </a:r>
                      <a:endParaRPr lang="en-US" sz="1800" kern="0" spc="-50" dirty="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 dirty="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3,260,085</a:t>
                      </a:r>
                      <a:endParaRPr lang="en-US" sz="1800" kern="0" spc="-50" dirty="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 dirty="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4,194,701</a:t>
                      </a:r>
                      <a:endParaRPr lang="en-US" sz="1800" kern="0" spc="-50" dirty="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 dirty="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5,121,080</a:t>
                      </a:r>
                      <a:endParaRPr lang="en-US" sz="1800" kern="0" spc="-50" dirty="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 dirty="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6,024,515</a:t>
                      </a:r>
                      <a:endParaRPr lang="en-US" sz="1800" kern="0" spc="-50" dirty="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791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생계급여 선정기준</a:t>
                      </a:r>
                      <a:r>
                        <a:rPr lang="ko-KR" altLang="en-US" sz="1800" kern="0" spc="-50" dirty="0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</a:t>
                      </a:r>
                      <a:r>
                        <a:rPr lang="en-US" altLang="ko-KR" sz="1800" kern="0" spc="-50" dirty="0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(</a:t>
                      </a:r>
                      <a:r>
                        <a:rPr lang="ko-KR" altLang="en-US" sz="1800" kern="0" spc="-50" dirty="0" err="1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기준중위소득의</a:t>
                      </a:r>
                      <a:r>
                        <a:rPr lang="ko-KR" altLang="en-US" sz="1800" kern="0" spc="-50" dirty="0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</a:t>
                      </a:r>
                      <a:r>
                        <a:rPr lang="en-US" altLang="ko-KR" sz="1800" kern="0" spc="-50" dirty="0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30%)</a:t>
                      </a:r>
                      <a:endParaRPr lang="ko-KR" altLang="en-US" sz="1800" kern="0" spc="-50" dirty="0">
                        <a:solidFill>
                          <a:srgbClr val="C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 dirty="0">
                          <a:solidFill>
                            <a:srgbClr val="C00000"/>
                          </a:solidFill>
                          <a:effectLst/>
                          <a:latin typeface="-윤명조120"/>
                          <a:ea typeface="-윤고딕110"/>
                        </a:rPr>
                        <a:t>583,444</a:t>
                      </a:r>
                      <a:endParaRPr lang="en-US" sz="1800" kern="0" spc="-50" dirty="0">
                        <a:solidFill>
                          <a:srgbClr val="C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 dirty="0">
                          <a:solidFill>
                            <a:srgbClr val="C00000"/>
                          </a:solidFill>
                          <a:effectLst/>
                          <a:latin typeface="-윤명조120"/>
                          <a:ea typeface="-윤고딕110"/>
                        </a:rPr>
                        <a:t>978,026</a:t>
                      </a:r>
                      <a:endParaRPr lang="en-US" sz="1800" kern="0" spc="-50" dirty="0">
                        <a:solidFill>
                          <a:srgbClr val="C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 dirty="0">
                          <a:solidFill>
                            <a:srgbClr val="C00000"/>
                          </a:solidFill>
                          <a:effectLst/>
                          <a:latin typeface="-윤명조120"/>
                          <a:ea typeface="-윤고딕110"/>
                        </a:rPr>
                        <a:t>1,258,410</a:t>
                      </a:r>
                      <a:endParaRPr lang="en-US" sz="1800" kern="0" spc="-50" dirty="0">
                        <a:solidFill>
                          <a:srgbClr val="C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 dirty="0">
                          <a:solidFill>
                            <a:srgbClr val="C00000"/>
                          </a:solidFill>
                          <a:effectLst/>
                          <a:latin typeface="-윤명조120"/>
                          <a:ea typeface="-윤고딕110"/>
                        </a:rPr>
                        <a:t>1,536,324</a:t>
                      </a:r>
                      <a:endParaRPr lang="en-US" sz="1800" kern="0" spc="-50" dirty="0">
                        <a:solidFill>
                          <a:srgbClr val="C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 dirty="0">
                          <a:solidFill>
                            <a:srgbClr val="C00000"/>
                          </a:solidFill>
                          <a:effectLst/>
                          <a:latin typeface="-윤명조120"/>
                          <a:ea typeface="-윤고딕110"/>
                        </a:rPr>
                        <a:t>1,807,355</a:t>
                      </a:r>
                      <a:endParaRPr lang="en-US" sz="1800" kern="0" spc="-50" dirty="0">
                        <a:solidFill>
                          <a:srgbClr val="C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0492741"/>
              </p:ext>
            </p:extLst>
          </p:nvPr>
        </p:nvGraphicFramePr>
        <p:xfrm>
          <a:off x="-3738" y="4896384"/>
          <a:ext cx="9147738" cy="351662"/>
        </p:xfrm>
        <a:graphic>
          <a:graphicData uri="http://schemas.openxmlformats.org/drawingml/2006/table">
            <a:tbl>
              <a:tblPr/>
              <a:tblGrid>
                <a:gridCol w="91477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1662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750" b="1" kern="0" spc="-50" dirty="0">
                          <a:solidFill>
                            <a:srgbClr val="9933FF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가구별 생계급여 </a:t>
                      </a:r>
                      <a:r>
                        <a:rPr lang="en-US" altLang="ko-KR" sz="1750" b="1" kern="0" spc="-50" dirty="0">
                          <a:solidFill>
                            <a:srgbClr val="9933FF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=</a:t>
                      </a:r>
                      <a:r>
                        <a:rPr lang="ko-KR" altLang="en-US" sz="1750" b="1" kern="0" spc="-50" dirty="0">
                          <a:solidFill>
                            <a:srgbClr val="9933FF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가구별 생계급여 </a:t>
                      </a:r>
                      <a:r>
                        <a:rPr lang="ko-KR" altLang="en-US" sz="1750" b="1" kern="0" spc="-50" dirty="0" err="1">
                          <a:solidFill>
                            <a:srgbClr val="9933FF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선정기준액</a:t>
                      </a:r>
                      <a:r>
                        <a:rPr lang="en-US" altLang="ko-KR" sz="1750" b="1" kern="0" spc="-50" dirty="0">
                          <a:solidFill>
                            <a:srgbClr val="9933FF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(</a:t>
                      </a:r>
                      <a:r>
                        <a:rPr lang="ko-KR" altLang="en-US" sz="1750" b="1" kern="0" spc="-50" dirty="0">
                          <a:solidFill>
                            <a:srgbClr val="9933FF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기준 중위소득의 </a:t>
                      </a:r>
                      <a:r>
                        <a:rPr lang="en-US" altLang="ko-KR" sz="1750" b="1" kern="0" spc="-50" dirty="0">
                          <a:solidFill>
                            <a:srgbClr val="9933FF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30%)-</a:t>
                      </a:r>
                      <a:r>
                        <a:rPr lang="ko-KR" altLang="en-US" sz="1750" b="1" kern="0" spc="-50" dirty="0">
                          <a:solidFill>
                            <a:srgbClr val="9933FF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가구의 </a:t>
                      </a:r>
                      <a:r>
                        <a:rPr lang="ko-KR" altLang="en-US" sz="1750" b="1" kern="0" spc="-50" dirty="0" err="1">
                          <a:solidFill>
                            <a:srgbClr val="9933FF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소득인정액</a:t>
                      </a:r>
                      <a:endParaRPr lang="ko-KR" altLang="en-US" sz="1750" b="1" kern="0" spc="-50" dirty="0">
                        <a:solidFill>
                          <a:srgbClr val="9933FF"/>
                        </a:solidFill>
                        <a:effectLst/>
                        <a:latin typeface="HY울릉도M" panose="02030600000101010101" pitchFamily="18" charset="-127"/>
                        <a:ea typeface="태 나무" panose="02030603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92912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11560" y="1916832"/>
            <a:ext cx="7920880" cy="4608512"/>
          </a:xfrm>
          <a:solidFill>
            <a:schemeClr val="accent5">
              <a:lumMod val="60000"/>
              <a:lumOff val="40000"/>
            </a:schemeClr>
          </a:solidFill>
        </p:spPr>
        <p:txBody>
          <a:bodyPr>
            <a:noAutofit/>
          </a:bodyPr>
          <a:lstStyle/>
          <a:p>
            <a:pPr>
              <a:lnSpc>
                <a:spcPts val="2700"/>
              </a:lnSpc>
              <a:buFont typeface="Wingdings" panose="05000000000000000000" pitchFamily="2" charset="2"/>
              <a:buChar char="§"/>
            </a:pPr>
            <a:r>
              <a:rPr lang="ko-KR" altLang="en-US" sz="1800" dirty="0">
                <a:latin typeface="HY울릉도M" panose="02030600000101010101" pitchFamily="18" charset="-127"/>
                <a:ea typeface="태 나무" panose="02030603000101010101" pitchFamily="18" charset="-127"/>
              </a:rPr>
              <a:t>최저보장수준이란 국민의 소득</a:t>
            </a:r>
            <a:r>
              <a:rPr lang="en-US" altLang="ko-KR" sz="1800" dirty="0">
                <a:latin typeface="HY울릉도M" panose="02030600000101010101" pitchFamily="18" charset="-127"/>
                <a:ea typeface="태 나무" panose="02030603000101010101" pitchFamily="18" charset="-127"/>
              </a:rPr>
              <a:t>·</a:t>
            </a:r>
            <a:r>
              <a:rPr lang="ko-KR" altLang="en-US" sz="1800" dirty="0">
                <a:latin typeface="HY울릉도M" panose="02030600000101010101" pitchFamily="18" charset="-127"/>
                <a:ea typeface="태 나무" panose="02030603000101010101" pitchFamily="18" charset="-127"/>
              </a:rPr>
              <a:t>지출 수준과 </a:t>
            </a:r>
            <a:r>
              <a:rPr lang="ko-KR" altLang="en-US" sz="1800" dirty="0" err="1">
                <a:latin typeface="HY울릉도M" panose="02030600000101010101" pitchFamily="18" charset="-127"/>
                <a:ea typeface="태 나무" panose="02030603000101010101" pitchFamily="18" charset="-127"/>
              </a:rPr>
              <a:t>수급권자의</a:t>
            </a:r>
            <a:r>
              <a:rPr lang="ko-KR" altLang="en-US" sz="1800" dirty="0">
                <a:latin typeface="HY울릉도M" panose="02030600000101010101" pitchFamily="18" charset="-127"/>
                <a:ea typeface="태 나무" panose="02030603000101010101" pitchFamily="18" charset="-127"/>
              </a:rPr>
              <a:t> 가구 유형 등 생활실태</a:t>
            </a:r>
            <a:r>
              <a:rPr lang="en-US" altLang="ko-KR" sz="1800" dirty="0">
                <a:latin typeface="HY울릉도M" panose="02030600000101010101" pitchFamily="18" charset="-127"/>
                <a:ea typeface="태 나무" panose="02030603000101010101" pitchFamily="18" charset="-127"/>
              </a:rPr>
              <a:t>, </a:t>
            </a:r>
            <a:r>
              <a:rPr lang="ko-KR" altLang="en-US" sz="1800" dirty="0">
                <a:latin typeface="HY울릉도M" panose="02030600000101010101" pitchFamily="18" charset="-127"/>
                <a:ea typeface="태 나무" panose="02030603000101010101" pitchFamily="18" charset="-127"/>
              </a:rPr>
              <a:t>물가상승률 등을 고려하여 급여의 종류별로 공표하는 금액이나 보장수준을 말함 </a:t>
            </a:r>
            <a:endParaRPr lang="en-US" altLang="ko-KR" sz="1800" dirty="0">
              <a:latin typeface="HY울릉도M" panose="02030600000101010101" pitchFamily="18" charset="-127"/>
              <a:ea typeface="태 나무" panose="02030603000101010101" pitchFamily="18" charset="-127"/>
            </a:endParaRPr>
          </a:p>
          <a:p>
            <a:pPr>
              <a:lnSpc>
                <a:spcPts val="2700"/>
              </a:lnSpc>
              <a:buFont typeface="Wingdings" panose="05000000000000000000" pitchFamily="2" charset="2"/>
              <a:buChar char="§"/>
            </a:pPr>
            <a:r>
              <a:rPr lang="ko-KR" altLang="en-US" sz="1800" b="1" dirty="0">
                <a:solidFill>
                  <a:srgbClr val="FF0000"/>
                </a:solidFill>
                <a:ea typeface="태 나무" panose="02030603000101010101" pitchFamily="18" charset="-127"/>
              </a:rPr>
              <a:t>생계급여 최저보장수준</a:t>
            </a:r>
            <a:r>
              <a:rPr lang="ko-KR" altLang="en-US" sz="1800" dirty="0">
                <a:ea typeface="태 나무" panose="02030603000101010101" pitchFamily="18" charset="-127"/>
              </a:rPr>
              <a:t>은 생계급여와 </a:t>
            </a:r>
            <a:r>
              <a:rPr lang="ko-KR" altLang="en-US" sz="1800" dirty="0" err="1">
                <a:ea typeface="태 나무" panose="02030603000101010101" pitchFamily="18" charset="-127"/>
              </a:rPr>
              <a:t>소득인정액을</a:t>
            </a:r>
            <a:r>
              <a:rPr lang="ko-KR" altLang="en-US" sz="1800" dirty="0">
                <a:ea typeface="태 나무" panose="02030603000101010101" pitchFamily="18" charset="-127"/>
              </a:rPr>
              <a:t> 포함하여 생계급여 선정기준 이상이 되도록 하여야 함</a:t>
            </a:r>
            <a:r>
              <a:rPr lang="en-US" altLang="ko-KR" sz="1800" dirty="0">
                <a:solidFill>
                  <a:srgbClr val="9933FF"/>
                </a:solidFill>
                <a:ea typeface="태 나무" panose="02030603000101010101" pitchFamily="18" charset="-127"/>
              </a:rPr>
              <a:t>(</a:t>
            </a:r>
            <a:r>
              <a:rPr lang="ko-KR" altLang="en-US" sz="1800" dirty="0">
                <a:solidFill>
                  <a:srgbClr val="9933FF"/>
                </a:solidFill>
                <a:ea typeface="태 나무" panose="02030603000101010101" pitchFamily="18" charset="-127"/>
              </a:rPr>
              <a:t>기준 중위소득의 </a:t>
            </a:r>
            <a:r>
              <a:rPr lang="en-US" altLang="ko-KR" sz="1800" dirty="0">
                <a:solidFill>
                  <a:srgbClr val="9933FF"/>
                </a:solidFill>
                <a:ea typeface="태 나무" panose="02030603000101010101" pitchFamily="18" charset="-127"/>
              </a:rPr>
              <a:t>30% </a:t>
            </a:r>
            <a:r>
              <a:rPr lang="ko-KR" altLang="en-US" sz="1800" dirty="0">
                <a:solidFill>
                  <a:srgbClr val="9933FF"/>
                </a:solidFill>
                <a:ea typeface="태 나무" panose="02030603000101010101" pitchFamily="18" charset="-127"/>
              </a:rPr>
              <a:t>이상</a:t>
            </a:r>
            <a:r>
              <a:rPr lang="en-US" altLang="ko-KR" sz="1800" dirty="0">
                <a:solidFill>
                  <a:srgbClr val="9933FF"/>
                </a:solidFill>
                <a:ea typeface="태 나무" panose="02030603000101010101" pitchFamily="18" charset="-127"/>
              </a:rPr>
              <a:t>)</a:t>
            </a:r>
            <a:endParaRPr lang="en-US" altLang="ko-KR" sz="1800" dirty="0">
              <a:solidFill>
                <a:srgbClr val="9933FF"/>
              </a:solidFill>
              <a:latin typeface="HY울릉도M" panose="02030600000101010101" pitchFamily="18" charset="-127"/>
              <a:ea typeface="태 나무" panose="02030603000101010101" pitchFamily="18" charset="-127"/>
            </a:endParaRPr>
          </a:p>
          <a:p>
            <a:pPr>
              <a:lnSpc>
                <a:spcPts val="2700"/>
              </a:lnSpc>
              <a:buFont typeface="Wingdings" panose="05000000000000000000" pitchFamily="2" charset="2"/>
              <a:buChar char="§"/>
            </a:pPr>
            <a:r>
              <a:rPr lang="ko-KR" altLang="en-US" sz="1800" b="1" dirty="0">
                <a:solidFill>
                  <a:srgbClr val="FF0000"/>
                </a:solidFill>
                <a:latin typeface="HY울릉도M" panose="02030600000101010101" pitchFamily="18" charset="-127"/>
                <a:ea typeface="태 나무" panose="02030603000101010101" pitchFamily="18" charset="-127"/>
              </a:rPr>
              <a:t>보건복지부장관 또는 소관 중앙행정기관의 장</a:t>
            </a:r>
            <a:r>
              <a:rPr lang="ko-KR" altLang="en-US" sz="18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은 급여의 종류별 </a:t>
            </a:r>
            <a:r>
              <a:rPr lang="ko-KR" altLang="en-US" sz="1800" dirty="0" err="1">
                <a:latin typeface="HY울릉도M" panose="02030600000101010101" pitchFamily="18" charset="-127"/>
                <a:ea typeface="HY울릉도M" panose="02030600000101010101" pitchFamily="18" charset="-127"/>
              </a:rPr>
              <a:t>수급자</a:t>
            </a:r>
            <a:r>
              <a:rPr lang="ko-KR" altLang="en-US" sz="18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 선정기준 및 최저보장수준을 결정하여야 함</a:t>
            </a:r>
            <a:endParaRPr lang="en-US" altLang="ko-KR" sz="1800" dirty="0">
              <a:latin typeface="HY울릉도M" panose="02030600000101010101" pitchFamily="18" charset="-127"/>
              <a:ea typeface="HY울릉도M" panose="02030600000101010101" pitchFamily="18" charset="-127"/>
            </a:endParaRPr>
          </a:p>
          <a:p>
            <a:pPr>
              <a:lnSpc>
                <a:spcPts val="2700"/>
              </a:lnSpc>
              <a:buFont typeface="Wingdings" panose="05000000000000000000" pitchFamily="2" charset="2"/>
              <a:buChar char="§"/>
            </a:pPr>
            <a:r>
              <a:rPr lang="ko-KR" altLang="en-US" sz="18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보건복지부장관 또는 소관 중앙행정기관의 장은 </a:t>
            </a:r>
            <a:r>
              <a:rPr lang="ko-KR" altLang="en-US" sz="1800" b="1" dirty="0">
                <a:solidFill>
                  <a:srgbClr val="FF0000"/>
                </a:solidFill>
                <a:latin typeface="HY울릉도M" panose="02030600000101010101" pitchFamily="18" charset="-127"/>
                <a:ea typeface="태 나무" panose="02030603000101010101" pitchFamily="18" charset="-127"/>
              </a:rPr>
              <a:t>매년 </a:t>
            </a:r>
            <a:r>
              <a:rPr lang="en-US" altLang="ko-KR" sz="1800" b="1" dirty="0">
                <a:solidFill>
                  <a:srgbClr val="FF0000"/>
                </a:solidFill>
                <a:latin typeface="HY울릉도M" panose="02030600000101010101" pitchFamily="18" charset="-127"/>
                <a:ea typeface="태 나무" panose="02030603000101010101" pitchFamily="18" charset="-127"/>
              </a:rPr>
              <a:t>8</a:t>
            </a:r>
            <a:r>
              <a:rPr lang="ko-KR" altLang="en-US" sz="1800" b="1" dirty="0">
                <a:solidFill>
                  <a:srgbClr val="FF0000"/>
                </a:solidFill>
                <a:latin typeface="HY울릉도M" panose="02030600000101010101" pitchFamily="18" charset="-127"/>
                <a:ea typeface="태 나무" panose="02030603000101010101" pitchFamily="18" charset="-127"/>
              </a:rPr>
              <a:t>월 </a:t>
            </a:r>
            <a:r>
              <a:rPr lang="en-US" altLang="ko-KR" sz="1800" b="1" dirty="0">
                <a:solidFill>
                  <a:srgbClr val="FF0000"/>
                </a:solidFill>
                <a:latin typeface="HY울릉도M" panose="02030600000101010101" pitchFamily="18" charset="-127"/>
                <a:ea typeface="태 나무" panose="02030603000101010101" pitchFamily="18" charset="-127"/>
              </a:rPr>
              <a:t>1</a:t>
            </a:r>
            <a:r>
              <a:rPr lang="ko-KR" altLang="en-US" sz="1800" b="1" dirty="0">
                <a:solidFill>
                  <a:srgbClr val="FF0000"/>
                </a:solidFill>
                <a:latin typeface="HY울릉도M" panose="02030600000101010101" pitchFamily="18" charset="-127"/>
                <a:ea typeface="태 나무" panose="02030603000101010101" pitchFamily="18" charset="-127"/>
              </a:rPr>
              <a:t>일까지      </a:t>
            </a:r>
            <a:r>
              <a:rPr lang="ko-KR" altLang="en-US" sz="1800" b="1" dirty="0">
                <a:solidFill>
                  <a:srgbClr val="0070C0"/>
                </a:solidFill>
                <a:latin typeface="HY울릉도M" panose="02030600000101010101" pitchFamily="18" charset="-127"/>
                <a:ea typeface="태 나무" panose="02030603000101010101" pitchFamily="18" charset="-127"/>
              </a:rPr>
              <a:t>중앙 생활보장위원회의 심의</a:t>
            </a:r>
            <a:r>
              <a:rPr lang="en-US" altLang="ko-KR" sz="1800" b="1" dirty="0">
                <a:solidFill>
                  <a:srgbClr val="0070C0"/>
                </a:solidFill>
                <a:latin typeface="HY울릉도M" panose="02030600000101010101" pitchFamily="18" charset="-127"/>
                <a:ea typeface="태 나무" panose="02030603000101010101" pitchFamily="18" charset="-127"/>
              </a:rPr>
              <a:t>·</a:t>
            </a:r>
            <a:r>
              <a:rPr lang="ko-KR" altLang="en-US" sz="1800" b="1" dirty="0">
                <a:solidFill>
                  <a:srgbClr val="0070C0"/>
                </a:solidFill>
                <a:latin typeface="HY울릉도M" panose="02030600000101010101" pitchFamily="18" charset="-127"/>
                <a:ea typeface="태 나무" panose="02030603000101010101" pitchFamily="18" charset="-127"/>
              </a:rPr>
              <a:t>의결을 거쳐 </a:t>
            </a:r>
            <a:r>
              <a:rPr lang="ko-KR" altLang="en-US" sz="18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다음 연도의 급여의 종류별 </a:t>
            </a:r>
            <a:r>
              <a:rPr lang="ko-KR" altLang="en-US" sz="1800" dirty="0" err="1">
                <a:latin typeface="HY울릉도M" panose="02030600000101010101" pitchFamily="18" charset="-127"/>
                <a:ea typeface="HY울릉도M" panose="02030600000101010101" pitchFamily="18" charset="-127"/>
              </a:rPr>
              <a:t>수급자</a:t>
            </a:r>
            <a:r>
              <a:rPr lang="ko-KR" altLang="en-US" sz="18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 선정기준 및 최저보장수준을 </a:t>
            </a:r>
            <a:r>
              <a:rPr lang="ko-KR" altLang="en-US" sz="1800" dirty="0">
                <a:solidFill>
                  <a:srgbClr val="7030A0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공표</a:t>
            </a:r>
            <a:r>
              <a:rPr lang="ko-KR" altLang="en-US" sz="18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하여야 함</a:t>
            </a:r>
            <a:endParaRPr lang="en-US" altLang="ko-KR" sz="1800" dirty="0">
              <a:latin typeface="HY울릉도M" panose="02030600000101010101" pitchFamily="18" charset="-127"/>
              <a:ea typeface="HY울릉도M" panose="02030600000101010101" pitchFamily="18" charset="-127"/>
            </a:endParaRPr>
          </a:p>
          <a:p>
            <a:pPr>
              <a:lnSpc>
                <a:spcPts val="2700"/>
              </a:lnSpc>
              <a:buFont typeface="Wingdings" panose="05000000000000000000" pitchFamily="2" charset="2"/>
              <a:buChar char="§"/>
            </a:pPr>
            <a:r>
              <a:rPr lang="ko-KR" altLang="en-US" sz="1800" b="1" dirty="0">
                <a:solidFill>
                  <a:srgbClr val="FFFF00"/>
                </a:solidFill>
                <a:latin typeface="HY울릉도M" panose="02030600000101010101" pitchFamily="18" charset="-127"/>
                <a:ea typeface="태 나무" panose="02030603000101010101" pitchFamily="18" charset="-127"/>
              </a:rPr>
              <a:t>생계급여</a:t>
            </a:r>
            <a:r>
              <a:rPr lang="en-US" altLang="ko-KR" sz="1800" b="1" dirty="0">
                <a:solidFill>
                  <a:srgbClr val="FFFF00"/>
                </a:solidFill>
                <a:latin typeface="HY울릉도M" panose="02030600000101010101" pitchFamily="18" charset="-127"/>
                <a:ea typeface="태 나무" panose="02030603000101010101" pitchFamily="18" charset="-127"/>
              </a:rPr>
              <a:t>, </a:t>
            </a:r>
            <a:r>
              <a:rPr lang="ko-KR" altLang="en-US" sz="1800" b="1" dirty="0">
                <a:solidFill>
                  <a:srgbClr val="FFFF00"/>
                </a:solidFill>
                <a:latin typeface="HY울릉도M" panose="02030600000101010101" pitchFamily="18" charset="-127"/>
                <a:ea typeface="태 나무" panose="02030603000101010101" pitchFamily="18" charset="-127"/>
              </a:rPr>
              <a:t>의료급여</a:t>
            </a:r>
            <a:r>
              <a:rPr lang="en-US" altLang="ko-KR" sz="1800" b="1" dirty="0">
                <a:solidFill>
                  <a:srgbClr val="FFFF00"/>
                </a:solidFill>
                <a:latin typeface="HY울릉도M" panose="02030600000101010101" pitchFamily="18" charset="-127"/>
                <a:ea typeface="태 나무" panose="02030603000101010101" pitchFamily="18" charset="-127"/>
              </a:rPr>
              <a:t>, </a:t>
            </a:r>
            <a:r>
              <a:rPr lang="ko-KR" altLang="en-US" sz="1800" b="1" dirty="0">
                <a:solidFill>
                  <a:srgbClr val="FFFF00"/>
                </a:solidFill>
                <a:latin typeface="HY울릉도M" panose="02030600000101010101" pitchFamily="18" charset="-127"/>
                <a:ea typeface="태 나무" panose="02030603000101010101" pitchFamily="18" charset="-127"/>
              </a:rPr>
              <a:t>해산급여</a:t>
            </a:r>
            <a:r>
              <a:rPr lang="en-US" altLang="ko-KR" sz="1800" b="1" dirty="0">
                <a:solidFill>
                  <a:srgbClr val="FFFF00"/>
                </a:solidFill>
                <a:latin typeface="HY울릉도M" panose="02030600000101010101" pitchFamily="18" charset="-127"/>
                <a:ea typeface="태 나무" panose="02030603000101010101" pitchFamily="18" charset="-127"/>
              </a:rPr>
              <a:t>, </a:t>
            </a:r>
            <a:r>
              <a:rPr lang="ko-KR" altLang="en-US" sz="1800" b="1" dirty="0" err="1">
                <a:solidFill>
                  <a:srgbClr val="FFFF00"/>
                </a:solidFill>
                <a:latin typeface="HY울릉도M" panose="02030600000101010101" pitchFamily="18" charset="-127"/>
                <a:ea typeface="태 나무" panose="02030603000101010101" pitchFamily="18" charset="-127"/>
              </a:rPr>
              <a:t>장제급여</a:t>
            </a:r>
            <a:r>
              <a:rPr lang="en-US" altLang="ko-KR" sz="1800" b="1" dirty="0">
                <a:solidFill>
                  <a:srgbClr val="FFFF00"/>
                </a:solidFill>
                <a:latin typeface="HY울릉도M" panose="02030600000101010101" pitchFamily="18" charset="-127"/>
                <a:ea typeface="태 나무" panose="02030603000101010101" pitchFamily="18" charset="-127"/>
              </a:rPr>
              <a:t>, </a:t>
            </a:r>
            <a:r>
              <a:rPr lang="ko-KR" altLang="en-US" sz="1800" b="1" dirty="0">
                <a:solidFill>
                  <a:srgbClr val="FFFF00"/>
                </a:solidFill>
                <a:latin typeface="HY울릉도M" panose="02030600000101010101" pitchFamily="18" charset="-127"/>
                <a:ea typeface="태 나무" panose="02030603000101010101" pitchFamily="18" charset="-127"/>
              </a:rPr>
              <a:t>자활급여는 보건복지부장관이</a:t>
            </a:r>
            <a:r>
              <a:rPr lang="en-US" altLang="ko-KR" sz="1800" b="1" dirty="0">
                <a:solidFill>
                  <a:srgbClr val="FFFF00"/>
                </a:solidFill>
                <a:latin typeface="HY울릉도M" panose="02030600000101010101" pitchFamily="18" charset="-127"/>
                <a:ea typeface="태 나무" panose="02030603000101010101" pitchFamily="18" charset="-127"/>
              </a:rPr>
              <a:t>,</a:t>
            </a:r>
            <a:r>
              <a:rPr lang="en-US" altLang="ko-KR" sz="1800" b="1" dirty="0">
                <a:solidFill>
                  <a:srgbClr val="FF0000"/>
                </a:solidFill>
                <a:latin typeface="HY울릉도M" panose="02030600000101010101" pitchFamily="18" charset="-127"/>
                <a:ea typeface="태 나무" panose="02030603000101010101" pitchFamily="18" charset="-127"/>
              </a:rPr>
              <a:t> </a:t>
            </a:r>
            <a:r>
              <a:rPr lang="ko-KR" altLang="en-US" sz="1800" b="1" dirty="0">
                <a:solidFill>
                  <a:srgbClr val="7030A0"/>
                </a:solidFill>
                <a:latin typeface="HY울릉도M" panose="02030600000101010101" pitchFamily="18" charset="-127"/>
                <a:ea typeface="태 나무" panose="02030603000101010101" pitchFamily="18" charset="-127"/>
              </a:rPr>
              <a:t>주거급여는 국토교통부장관이</a:t>
            </a:r>
            <a:r>
              <a:rPr lang="en-US" altLang="ko-KR" sz="1800" b="1" dirty="0">
                <a:solidFill>
                  <a:srgbClr val="7030A0"/>
                </a:solidFill>
                <a:latin typeface="HY울릉도M" panose="02030600000101010101" pitchFamily="18" charset="-127"/>
                <a:ea typeface="태 나무" panose="02030603000101010101" pitchFamily="18" charset="-127"/>
              </a:rPr>
              <a:t>, </a:t>
            </a:r>
            <a:r>
              <a:rPr lang="ko-KR" altLang="en-US" sz="1800" b="1" dirty="0">
                <a:solidFill>
                  <a:srgbClr val="FF0000"/>
                </a:solidFill>
                <a:latin typeface="HY울릉도M" panose="02030600000101010101" pitchFamily="18" charset="-127"/>
                <a:ea typeface="태 나무" panose="02030603000101010101" pitchFamily="18" charset="-127"/>
              </a:rPr>
              <a:t>교육급여는 교육부장관이 </a:t>
            </a:r>
            <a:r>
              <a:rPr lang="ko-KR" altLang="en-US" sz="1800" b="1" dirty="0">
                <a:solidFill>
                  <a:srgbClr val="00B050"/>
                </a:solidFill>
                <a:latin typeface="HY울릉도M" panose="02030600000101010101" pitchFamily="18" charset="-127"/>
                <a:ea typeface="태 나무" panose="02030603000101010101" pitchFamily="18" charset="-127"/>
              </a:rPr>
              <a:t>결정함</a:t>
            </a:r>
            <a:r>
              <a:rPr lang="en-US" altLang="ko-KR" sz="1800" b="1" dirty="0">
                <a:latin typeface="HY울릉도M" panose="02030600000101010101" pitchFamily="18" charset="-127"/>
                <a:ea typeface="태 나무" panose="02030603000101010101" pitchFamily="18" charset="-127"/>
              </a:rPr>
              <a:t> </a:t>
            </a:r>
          </a:p>
        </p:txBody>
      </p:sp>
      <p:sp>
        <p:nvSpPr>
          <p:cNvPr id="7" name="구름 모양 설명선 6"/>
          <p:cNvSpPr/>
          <p:nvPr/>
        </p:nvSpPr>
        <p:spPr>
          <a:xfrm>
            <a:off x="1043608" y="476672"/>
            <a:ext cx="4176464" cy="1080120"/>
          </a:xfrm>
          <a:prstGeom prst="cloudCallout">
            <a:avLst>
              <a:gd name="adj1" fmla="val -32754"/>
              <a:gd name="adj2" fmla="val 64381"/>
            </a:avLst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>
                <a:latin typeface="HY엽서M" panose="02030600000101010101" pitchFamily="18" charset="-127"/>
                <a:ea typeface="HY엽서M" panose="02030600000101010101" pitchFamily="18" charset="-127"/>
              </a:rPr>
              <a:t>최저보장수준</a:t>
            </a:r>
            <a:endParaRPr lang="ko-KR" altLang="en-US" sz="1600" b="1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803422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72534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5.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급여내용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2567290"/>
              </p:ext>
            </p:extLst>
          </p:nvPr>
        </p:nvGraphicFramePr>
        <p:xfrm>
          <a:off x="324548" y="1831334"/>
          <a:ext cx="8424936" cy="23503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11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738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098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b="1" kern="0" spc="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종 류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b="1" kern="0" spc="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내   용</a:t>
                      </a: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910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ts val="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의료급여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85750" indent="-285750" fontAlgn="base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kern="0" spc="0" dirty="0" err="1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수급권자의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</a:t>
                      </a:r>
                      <a:r>
                        <a:rPr lang="ko-KR" altLang="en-US" sz="1800" kern="0" spc="-1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질병</a:t>
                      </a:r>
                      <a:r>
                        <a:rPr lang="en-US" altLang="ko-KR" sz="1800" kern="0" spc="-1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800" kern="0" spc="-1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부상</a:t>
                      </a:r>
                      <a:r>
                        <a:rPr lang="en-US" altLang="ko-KR" sz="1800" kern="0" spc="-1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800" kern="0" spc="-1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출산 등에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대해 의료서비스를 제공하는 급여</a:t>
                      </a:r>
                      <a:endParaRPr lang="en-US" altLang="ko-KR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285750" indent="-285750" fontAlgn="base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의료급여는 별도의 의료급여법에 다름</a:t>
                      </a:r>
                      <a:endParaRPr lang="en-US" altLang="ko-KR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285750" indent="-285750" fontAlgn="base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kern="0" spc="0" dirty="0" err="1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수급권자는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</a:t>
                      </a:r>
                      <a:r>
                        <a:rPr lang="ko-KR" altLang="en-US" sz="1800" kern="0" spc="0" dirty="0" err="1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국민기초생활보장법에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의한 </a:t>
                      </a:r>
                      <a:r>
                        <a:rPr lang="ko-KR" altLang="en-US" sz="1800" kern="0" spc="0" dirty="0" err="1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수급권자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의료급여법에  의한 </a:t>
                      </a:r>
                      <a:r>
                        <a:rPr lang="ko-KR" altLang="en-US" sz="1800" kern="0" spc="0" dirty="0" err="1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수급권자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그리고 타법에 의한 </a:t>
                      </a:r>
                      <a:r>
                        <a:rPr lang="ko-KR" altLang="en-US" sz="1800" kern="0" spc="0" dirty="0" err="1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수급권자가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있음</a:t>
                      </a:r>
                      <a:endParaRPr lang="en-US" altLang="ko-KR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285750" indent="-285750" fontAlgn="base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kern="0" spc="0" dirty="0" err="1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의료급여수급권자는</a:t>
                      </a:r>
                      <a:r>
                        <a:rPr lang="en-US" altLang="ko-KR" sz="1800" kern="0" spc="0" dirty="0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1</a:t>
                      </a:r>
                      <a:r>
                        <a:rPr lang="ko-KR" altLang="en-US" sz="1800" kern="0" spc="0" dirty="0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종과 </a:t>
                      </a:r>
                      <a:r>
                        <a:rPr lang="en-US" altLang="ko-KR" sz="1800" kern="0" spc="0" dirty="0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2</a:t>
                      </a:r>
                      <a:r>
                        <a:rPr lang="ko-KR" altLang="en-US" sz="1800" kern="0" spc="0" dirty="0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종으로 구분</a:t>
                      </a:r>
                      <a:endParaRPr lang="en-US" altLang="ko-KR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모서리가 둥근 직사각형 4"/>
          <p:cNvSpPr/>
          <p:nvPr/>
        </p:nvSpPr>
        <p:spPr>
          <a:xfrm>
            <a:off x="323528" y="1046217"/>
            <a:ext cx="2736304" cy="457180"/>
          </a:xfrm>
          <a:prstGeom prst="roundRect">
            <a:avLst>
              <a:gd name="adj" fmla="val 34446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24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 4) </a:t>
            </a:r>
            <a:r>
              <a:rPr lang="ko-KR" altLang="en-US" sz="24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급여의 종류</a:t>
            </a:r>
            <a:endParaRPr lang="en-US" altLang="ko-KR" sz="2400" dirty="0">
              <a:latin typeface="HY울릉도B" pitchFamily="18" charset="-127"/>
              <a:ea typeface="HY울릉도B" pitchFamily="18" charset="-127"/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8144977"/>
              </p:ext>
            </p:extLst>
          </p:nvPr>
        </p:nvGraphicFramePr>
        <p:xfrm>
          <a:off x="324550" y="4498611"/>
          <a:ext cx="8424934" cy="1529335"/>
        </p:xfrm>
        <a:graphic>
          <a:graphicData uri="http://schemas.openxmlformats.org/drawingml/2006/table">
            <a:tbl>
              <a:tblPr/>
              <a:tblGrid>
                <a:gridCol w="23752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72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09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09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09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97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99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구 분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1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인 가구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2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인 가구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3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인 가구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4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인 가구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5</a:t>
                      </a: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인 가구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6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-150" dirty="0" err="1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기준중위소득</a:t>
                      </a:r>
                      <a:r>
                        <a:rPr lang="en-US" altLang="ko-KR" sz="1800" kern="0" spc="-1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(2022</a:t>
                      </a:r>
                      <a:r>
                        <a:rPr lang="ko-KR" altLang="en-US" sz="1800" kern="0" spc="-1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년</a:t>
                      </a:r>
                      <a:r>
                        <a:rPr lang="en-US" altLang="ko-KR" sz="1800" kern="0" spc="-1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)</a:t>
                      </a:r>
                      <a:endParaRPr lang="ko-KR" altLang="en-US" sz="1800" kern="0" spc="-15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 dirty="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1,944,812</a:t>
                      </a:r>
                      <a:endParaRPr lang="en-US" sz="1800" kern="0" spc="-50" dirty="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 dirty="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3,260,085</a:t>
                      </a:r>
                      <a:endParaRPr lang="en-US" sz="1800" kern="0" spc="-50" dirty="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 dirty="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4,194,701</a:t>
                      </a:r>
                      <a:endParaRPr lang="en-US" sz="1800" kern="0" spc="-50" dirty="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 dirty="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5,121,080</a:t>
                      </a:r>
                      <a:endParaRPr lang="en-US" sz="1800" kern="0" spc="-50" dirty="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 dirty="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6,024,515</a:t>
                      </a:r>
                      <a:endParaRPr lang="en-US" sz="1800" kern="0" spc="-50" dirty="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791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의료급여 선정기준</a:t>
                      </a: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-150" dirty="0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(</a:t>
                      </a:r>
                      <a:r>
                        <a:rPr lang="ko-KR" altLang="en-US" sz="1800" kern="0" spc="-150" dirty="0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기준 중위소득의 </a:t>
                      </a:r>
                      <a:r>
                        <a:rPr lang="en-US" altLang="ko-KR" sz="1800" kern="0" spc="-150" dirty="0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40%)</a:t>
                      </a:r>
                      <a:endParaRPr lang="ko-KR" altLang="en-US" sz="1800" kern="0" spc="-150" dirty="0">
                        <a:solidFill>
                          <a:srgbClr val="C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 dirty="0">
                          <a:solidFill>
                            <a:srgbClr val="C00000"/>
                          </a:solidFill>
                          <a:effectLst/>
                          <a:latin typeface="-윤명조120"/>
                          <a:ea typeface="-윤고딕110"/>
                        </a:rPr>
                        <a:t>777,925</a:t>
                      </a:r>
                      <a:endParaRPr lang="en-US" sz="1800" kern="0" spc="-50" dirty="0">
                        <a:solidFill>
                          <a:srgbClr val="C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 dirty="0">
                          <a:solidFill>
                            <a:srgbClr val="C00000"/>
                          </a:solidFill>
                          <a:effectLst/>
                          <a:latin typeface="-윤명조120"/>
                          <a:ea typeface="-윤고딕110"/>
                        </a:rPr>
                        <a:t>1,304,034</a:t>
                      </a:r>
                      <a:endParaRPr lang="en-US" sz="1800" kern="0" spc="-50" dirty="0">
                        <a:solidFill>
                          <a:srgbClr val="C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 dirty="0">
                          <a:solidFill>
                            <a:srgbClr val="C00000"/>
                          </a:solidFill>
                          <a:effectLst/>
                          <a:latin typeface="-윤명조120"/>
                          <a:ea typeface="-윤고딕110"/>
                        </a:rPr>
                        <a:t>1,677,880</a:t>
                      </a:r>
                      <a:endParaRPr lang="en-US" sz="1800" kern="0" spc="-50" dirty="0">
                        <a:solidFill>
                          <a:srgbClr val="C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 dirty="0">
                          <a:solidFill>
                            <a:srgbClr val="C00000"/>
                          </a:solidFill>
                          <a:effectLst/>
                          <a:latin typeface="-윤명조120"/>
                          <a:ea typeface="-윤고딕110"/>
                        </a:rPr>
                        <a:t>2,048,432</a:t>
                      </a:r>
                      <a:endParaRPr lang="en-US" sz="1800" kern="0" spc="-50" dirty="0">
                        <a:solidFill>
                          <a:srgbClr val="C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 dirty="0">
                          <a:solidFill>
                            <a:srgbClr val="C00000"/>
                          </a:solidFill>
                          <a:effectLst/>
                          <a:latin typeface="-윤명조120"/>
                          <a:ea typeface="-윤고딕110"/>
                        </a:rPr>
                        <a:t>2,409,806</a:t>
                      </a:r>
                      <a:endParaRPr lang="en-US" sz="1800" kern="0" spc="-50" dirty="0">
                        <a:solidFill>
                          <a:srgbClr val="C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56085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72534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5.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급여내용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2327439-5437-49AD-ABE0-5EC385EA51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1066800"/>
            <a:ext cx="8733982" cy="579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9502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72534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5.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급여내용</a:t>
            </a: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2555776" y="2218811"/>
            <a:ext cx="32752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 latinLnBrk="0"/>
            <a:r>
              <a:rPr lang="en-US" altLang="ko-KR" dirty="0">
                <a:latin typeface="HY울릉도M" panose="02030600000101010101" pitchFamily="18" charset="-127"/>
                <a:ea typeface="HY울릉도M" panose="02030600000101010101" pitchFamily="18" charset="-127"/>
              </a:rPr>
              <a:t>&lt;</a:t>
            </a:r>
            <a:r>
              <a:rPr lang="ko-KR" altLang="en-US" dirty="0">
                <a:latin typeface="HY울릉도M" panose="02030600000101010101" pitchFamily="18" charset="-127"/>
                <a:ea typeface="HY울릉도M" panose="02030600000101010101" pitchFamily="18" charset="-127"/>
              </a:rPr>
              <a:t>그림</a:t>
            </a:r>
            <a:r>
              <a:rPr lang="en-US" altLang="ko-KR" dirty="0">
                <a:latin typeface="HY울릉도M" panose="02030600000101010101" pitchFamily="18" charset="-127"/>
                <a:ea typeface="HY울릉도M" panose="02030600000101010101" pitchFamily="18" charset="-127"/>
              </a:rPr>
              <a:t>&gt; </a:t>
            </a:r>
            <a:r>
              <a:rPr lang="ko-KR" altLang="en-US" dirty="0">
                <a:latin typeface="HY울릉도M" panose="02030600000101010101" pitchFamily="18" charset="-127"/>
                <a:ea typeface="HY울릉도M" panose="02030600000101010101" pitchFamily="18" charset="-127"/>
              </a:rPr>
              <a:t>의료급여기관의 종류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0C02D914-092E-4DD4-A7F8-D9C50A9C3C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1309575"/>
              </p:ext>
            </p:extLst>
          </p:nvPr>
        </p:nvGraphicFramePr>
        <p:xfrm>
          <a:off x="272534" y="2728896"/>
          <a:ext cx="8640960" cy="3919897"/>
        </p:xfrm>
        <a:graphic>
          <a:graphicData uri="http://schemas.openxmlformats.org/drawingml/2006/table">
            <a:tbl>
              <a:tblPr/>
              <a:tblGrid>
                <a:gridCol w="1593974">
                  <a:extLst>
                    <a:ext uri="{9D8B030D-6E8A-4147-A177-3AD203B41FA5}">
                      <a16:colId xmlns:a16="http://schemas.microsoft.com/office/drawing/2014/main" val="816579203"/>
                    </a:ext>
                  </a:extLst>
                </a:gridCol>
                <a:gridCol w="7046986">
                  <a:extLst>
                    <a:ext uri="{9D8B030D-6E8A-4147-A177-3AD203B41FA5}">
                      <a16:colId xmlns:a16="http://schemas.microsoft.com/office/drawing/2014/main" val="2661153507"/>
                    </a:ext>
                  </a:extLst>
                </a:gridCol>
              </a:tblGrid>
              <a:tr h="2098793"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259840" algn="r"/>
                          <a:tab pos="1259840" algn="r"/>
                        </a:tabLst>
                      </a:pPr>
                      <a:r>
                        <a:rPr lang="ko-KR" altLang="en-US" sz="1800" kern="0" spc="-2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제</a:t>
                      </a:r>
                      <a:r>
                        <a:rPr lang="en-US" altLang="ko-KR" sz="1800" kern="0" spc="-2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1</a:t>
                      </a:r>
                      <a:r>
                        <a:rPr lang="ko-KR" altLang="en-US" sz="1800" kern="0" spc="-2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차 의료급여기관</a:t>
                      </a:r>
                    </a:p>
                  </a:txBody>
                  <a:tcPr marL="64770" marR="64770" marT="17907" marB="17907" anchor="ctr">
                    <a:lnL w="2159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indent="-285750" algn="just" fontAlgn="ctr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1259840" algn="r"/>
                          <a:tab pos="1259840" algn="r"/>
                        </a:tabLst>
                      </a:pPr>
                      <a:r>
                        <a:rPr lang="ko-KR" altLang="en-US" sz="1800" kern="0" spc="-2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의료법에 따라 </a:t>
                      </a:r>
                      <a:r>
                        <a:rPr lang="ko-KR" altLang="en-US" sz="1800" kern="0" spc="-20" dirty="0" err="1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시ㆍ군ㆍ구청장에게</a:t>
                      </a:r>
                      <a:r>
                        <a:rPr lang="ko-KR" altLang="en-US" sz="1800" kern="0" spc="-2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개설신고를 한 의료급여기관</a:t>
                      </a:r>
                      <a:endParaRPr lang="en-US" altLang="ko-KR" sz="1800" kern="0" spc="-2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indent="0" algn="just" fontAlgn="ctr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tabLst>
                          <a:tab pos="1259840" algn="r"/>
                          <a:tab pos="1259840" algn="r"/>
                        </a:tabLst>
                      </a:pPr>
                      <a:r>
                        <a:rPr lang="en-US" altLang="ko-KR" sz="1800" kern="0" spc="-2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   (</a:t>
                      </a:r>
                      <a:r>
                        <a:rPr lang="ko-KR" altLang="en-US" sz="1800" kern="0" spc="-2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의원</a:t>
                      </a:r>
                      <a:r>
                        <a:rPr lang="en-US" altLang="ko-KR" sz="1800" kern="0" spc="-2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800" kern="0" spc="-2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치과의원</a:t>
                      </a:r>
                      <a:r>
                        <a:rPr lang="en-US" altLang="ko-KR" sz="1800" kern="0" spc="-2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800" kern="0" spc="-2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한의원</a:t>
                      </a:r>
                      <a:r>
                        <a:rPr lang="en-US" altLang="ko-KR" sz="1800" kern="0" spc="-2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800" kern="0" spc="-2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조산원</a:t>
                      </a:r>
                      <a:r>
                        <a:rPr lang="en-US" altLang="ko-KR" sz="1800" kern="0" spc="-2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)</a:t>
                      </a:r>
                      <a:endParaRPr lang="ko-KR" altLang="en-US" sz="1800" kern="0" spc="-2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285750" marR="0" indent="-285750" algn="just" fontAlgn="ctr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1259840" algn="r"/>
                          <a:tab pos="1259840" algn="r"/>
                        </a:tabLst>
                      </a:pPr>
                      <a:r>
                        <a:rPr lang="ko-KR" altLang="en-US" sz="1800" kern="0" spc="-2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지역보건법에 따라 설치된 보건소</a:t>
                      </a:r>
                      <a:r>
                        <a:rPr lang="en-US" altLang="ko-KR" sz="1800" kern="0" spc="-2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800" kern="0" spc="-2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보건의료원</a:t>
                      </a:r>
                      <a:r>
                        <a:rPr lang="en-US" altLang="ko-KR" sz="1800" kern="0" spc="-2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800" kern="0" spc="-20" dirty="0" err="1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보건지소</a:t>
                      </a:r>
                      <a:endParaRPr lang="ko-KR" altLang="en-US" sz="1800" kern="0" spc="-2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285750" marR="0" indent="-285750" algn="just" fontAlgn="ctr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1259840" algn="r"/>
                          <a:tab pos="1259840" algn="r"/>
                        </a:tabLst>
                      </a:pPr>
                      <a:r>
                        <a:rPr lang="ko-KR" altLang="en-US" sz="1750" kern="0" spc="-2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농어촌 등 보건의료를 위한 특별조치법에 따라 설치된 보건진료소</a:t>
                      </a:r>
                    </a:p>
                    <a:p>
                      <a:pPr marL="285750" marR="0" indent="-285750" algn="just" fontAlgn="ctr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1259840" algn="r"/>
                          <a:tab pos="1259840" algn="r"/>
                        </a:tabLst>
                      </a:pPr>
                      <a:r>
                        <a:rPr lang="ko-KR" altLang="en-US" sz="1800" kern="0" spc="-2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약사법에 따라 등록된 약국 및 </a:t>
                      </a:r>
                      <a:r>
                        <a:rPr lang="ko-KR" altLang="en-US" sz="1800" kern="0" spc="-20" dirty="0" err="1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한국희귀의약품</a:t>
                      </a:r>
                      <a:r>
                        <a:rPr lang="ko-KR" altLang="en-US" sz="1800" kern="0" spc="-2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센터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6958691"/>
                  </a:ext>
                </a:extLst>
              </a:tr>
              <a:tr h="910552"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259840" algn="r"/>
                          <a:tab pos="1259840" algn="r"/>
                        </a:tabLst>
                      </a:pPr>
                      <a:r>
                        <a:rPr lang="ko-KR" altLang="en-US" sz="1800" kern="0" spc="-2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제</a:t>
                      </a:r>
                      <a:r>
                        <a:rPr lang="en-US" altLang="ko-KR" sz="1800" kern="0" spc="-2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2</a:t>
                      </a:r>
                      <a:r>
                        <a:rPr lang="ko-KR" altLang="en-US" sz="1800" kern="0" spc="-2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차 의료급여기관</a:t>
                      </a:r>
                    </a:p>
                  </a:txBody>
                  <a:tcPr marL="64770" marR="64770" marT="17907" marB="17907" anchor="ctr">
                    <a:lnL w="2159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indent="-285750" algn="just" fontAlgn="ctr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1259840" algn="r"/>
                          <a:tab pos="1259840" algn="r"/>
                        </a:tabLst>
                      </a:pPr>
                      <a:r>
                        <a:rPr lang="ko-KR" altLang="en-US" sz="1800" kern="0" spc="-2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의료법에 따라 </a:t>
                      </a:r>
                      <a:r>
                        <a:rPr lang="ko-KR" altLang="en-US" sz="1800" kern="0" spc="-20" dirty="0" err="1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시ㆍ도지사가</a:t>
                      </a:r>
                      <a:r>
                        <a:rPr lang="ko-KR" altLang="en-US" sz="1800" kern="0" spc="-2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개설허가를 한 의료기관</a:t>
                      </a:r>
                      <a:endParaRPr lang="en-US" altLang="ko-KR" sz="1800" kern="0" spc="-2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indent="0" algn="just" fontAlgn="ctr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tabLst>
                          <a:tab pos="1259840" algn="r"/>
                          <a:tab pos="1259840" algn="r"/>
                        </a:tabLst>
                      </a:pPr>
                      <a:r>
                        <a:rPr lang="en-US" altLang="ko-KR" sz="1800" kern="0" spc="-2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   (</a:t>
                      </a:r>
                      <a:r>
                        <a:rPr lang="ko-KR" altLang="en-US" sz="1800" kern="0" spc="-2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병원</a:t>
                      </a:r>
                      <a:r>
                        <a:rPr lang="en-US" altLang="ko-KR" sz="1800" kern="0" spc="-2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800" kern="0" spc="-2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치과병원</a:t>
                      </a:r>
                      <a:r>
                        <a:rPr lang="en-US" altLang="ko-KR" sz="1800" kern="0" spc="-2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800" kern="0" spc="-2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한방병원</a:t>
                      </a:r>
                      <a:r>
                        <a:rPr lang="en-US" altLang="ko-KR" sz="1800" kern="0" spc="-2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800" kern="0" spc="-2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요양병원</a:t>
                      </a:r>
                      <a:r>
                        <a:rPr lang="en-US" altLang="ko-KR" sz="1800" kern="0" spc="-2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800" kern="0" spc="-2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종합병원</a:t>
                      </a:r>
                      <a:r>
                        <a:rPr lang="en-US" altLang="ko-KR" sz="1800" kern="0" spc="-2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)</a:t>
                      </a:r>
                      <a:endParaRPr lang="ko-KR" altLang="en-US" sz="1800" kern="0" spc="-2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6503637"/>
                  </a:ext>
                </a:extLst>
              </a:tr>
              <a:tr h="910552"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259840" algn="r"/>
                          <a:tab pos="1259840" algn="r"/>
                        </a:tabLst>
                      </a:pPr>
                      <a:r>
                        <a:rPr lang="ko-KR" altLang="en-US" sz="1800" kern="0" spc="-2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제</a:t>
                      </a:r>
                      <a:r>
                        <a:rPr lang="en-US" altLang="ko-KR" sz="1800" kern="0" spc="-2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3</a:t>
                      </a:r>
                      <a:r>
                        <a:rPr lang="ko-KR" altLang="en-US" sz="1800" kern="0" spc="-2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차 의료급여기관</a:t>
                      </a:r>
                    </a:p>
                  </a:txBody>
                  <a:tcPr marL="64770" marR="64770" marT="17907" marB="17907" anchor="ctr">
                    <a:lnL w="2159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indent="-285750" algn="just" fontAlgn="ctr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1259840" algn="r"/>
                          <a:tab pos="1259840" algn="r"/>
                        </a:tabLst>
                      </a:pPr>
                      <a:r>
                        <a:rPr lang="ko-KR" altLang="en-US" sz="1800" kern="0" spc="-2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제</a:t>
                      </a:r>
                      <a:r>
                        <a:rPr lang="en-US" altLang="ko-KR" sz="1800" kern="0" spc="-2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2</a:t>
                      </a:r>
                      <a:r>
                        <a:rPr lang="ko-KR" altLang="en-US" sz="1800" kern="0" spc="-2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차 의료급여기관 중에서 보건복지부장관이 지정하는 의료기관 </a:t>
                      </a:r>
                    </a:p>
                    <a:p>
                      <a:pPr marL="0" marR="0" indent="0" algn="just" fontAlgn="ctr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tabLst>
                          <a:tab pos="1259840" algn="r"/>
                          <a:tab pos="1259840" algn="r"/>
                        </a:tabLst>
                      </a:pPr>
                      <a:r>
                        <a:rPr lang="en-US" altLang="ko-KR" sz="1800" kern="0" spc="-2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   (</a:t>
                      </a:r>
                      <a:r>
                        <a:rPr lang="ko-KR" altLang="en-US" sz="1800" kern="0" spc="-2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상급종합병원</a:t>
                      </a:r>
                      <a:r>
                        <a:rPr lang="en-US" altLang="ko-KR" sz="1800" kern="0" spc="-2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)</a:t>
                      </a:r>
                      <a:endParaRPr lang="ko-KR" altLang="en-US" sz="1800" kern="0" spc="-2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6583641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F2F66C50-553C-488D-921B-6C1C9F411D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4900" y="2760663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07786F8-C16E-46B0-9CB6-64A8075914A7}"/>
              </a:ext>
            </a:extLst>
          </p:cNvPr>
          <p:cNvSpPr/>
          <p:nvPr/>
        </p:nvSpPr>
        <p:spPr>
          <a:xfrm>
            <a:off x="306941" y="1219361"/>
            <a:ext cx="8581195" cy="85869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>
            <a:spAutoFit/>
          </a:bodyPr>
          <a:lstStyle/>
          <a:p>
            <a:pPr marL="285750" indent="-285750" fontAlgn="base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HY울릉도M" panose="02030600000101010101" pitchFamily="18" charset="-127"/>
                <a:ea typeface="HY울릉도M" panose="02030600000101010101" pitchFamily="18" charset="-127"/>
              </a:rPr>
              <a:t>의료급여는 의료급여기관에서 실시하여야 하며</a:t>
            </a:r>
            <a:r>
              <a:rPr lang="en-US" altLang="ko-KR" dirty="0">
                <a:latin typeface="HY울릉도M" panose="02030600000101010101" pitchFamily="18" charset="-127"/>
                <a:ea typeface="HY울릉도M" panose="02030600000101010101" pitchFamily="18" charset="-127"/>
              </a:rPr>
              <a:t>,</a:t>
            </a:r>
            <a:r>
              <a:rPr lang="ko-KR" altLang="en-US" dirty="0">
                <a:latin typeface="HY울릉도M" panose="02030600000101010101" pitchFamily="18" charset="-127"/>
                <a:ea typeface="HY울릉도M" panose="02030600000101010101" pitchFamily="18" charset="-127"/>
              </a:rPr>
              <a:t> 의료급여기관의 종류는 </a:t>
            </a:r>
            <a:r>
              <a:rPr lang="en-US" altLang="ko-KR" dirty="0">
                <a:latin typeface="HY울릉도M" panose="02030600000101010101" pitchFamily="18" charset="-127"/>
                <a:ea typeface="HY울릉도M" panose="02030600000101010101" pitchFamily="18" charset="-127"/>
              </a:rPr>
              <a:t>1-3</a:t>
            </a:r>
            <a:r>
              <a:rPr lang="ko-KR" altLang="en-US" dirty="0">
                <a:latin typeface="HY울릉도M" panose="02030600000101010101" pitchFamily="18" charset="-127"/>
                <a:ea typeface="HY울릉도M" panose="02030600000101010101" pitchFamily="18" charset="-127"/>
              </a:rPr>
              <a:t>차</a:t>
            </a:r>
            <a:endParaRPr lang="en-US" altLang="ko-KR" dirty="0">
              <a:latin typeface="HY울릉도M" panose="02030600000101010101" pitchFamily="18" charset="-127"/>
              <a:ea typeface="HY울릉도M" panose="02030600000101010101" pitchFamily="18" charset="-127"/>
            </a:endParaRPr>
          </a:p>
          <a:p>
            <a:pPr fontAlgn="base" latinLnBrk="0">
              <a:lnSpc>
                <a:spcPct val="150000"/>
              </a:lnSpc>
            </a:pPr>
            <a:r>
              <a:rPr lang="en-US" altLang="ko-KR" dirty="0">
                <a:latin typeface="HY울릉도M" panose="02030600000101010101" pitchFamily="18" charset="-127"/>
                <a:ea typeface="HY울릉도M" panose="02030600000101010101" pitchFamily="18" charset="-127"/>
              </a:rPr>
              <a:t>    </a:t>
            </a:r>
            <a:r>
              <a:rPr lang="ko-KR" altLang="en-US" dirty="0">
                <a:latin typeface="HY울릉도M" panose="02030600000101010101" pitchFamily="18" charset="-127"/>
                <a:ea typeface="HY울릉도M" panose="02030600000101010101" pitchFamily="18" charset="-127"/>
              </a:rPr>
              <a:t>의료급여기관으로 구분됨 </a:t>
            </a:r>
          </a:p>
        </p:txBody>
      </p:sp>
    </p:spTree>
    <p:extLst>
      <p:ext uri="{BB962C8B-B14F-4D97-AF65-F5344CB8AC3E}">
        <p14:creationId xmlns:p14="http://schemas.microsoft.com/office/powerpoint/2010/main" val="37101709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72534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5.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급여내용</a:t>
            </a: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graphicFrame>
        <p:nvGraphicFramePr>
          <p:cNvPr id="8" name="표 7"/>
          <p:cNvGraphicFramePr>
            <a:graphicFrameLocks noGrp="1"/>
          </p:cNvGraphicFramePr>
          <p:nvPr/>
        </p:nvGraphicFramePr>
        <p:xfrm>
          <a:off x="300608" y="1742742"/>
          <a:ext cx="8542784" cy="41239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69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258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2395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b="0" kern="0" spc="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의료급여이용절차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b="0" kern="1200" spc="-15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의료급여 이용절차에 있어 의료급여 </a:t>
                      </a:r>
                      <a:r>
                        <a:rPr lang="ko-KR" altLang="en-US" sz="1800" b="0" kern="1200" spc="-150" dirty="0" err="1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수급권자는</a:t>
                      </a:r>
                      <a:r>
                        <a:rPr lang="ko-KR" altLang="en-US" sz="1800" b="0" kern="1200" spc="-15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ko-KR" altLang="en-US" sz="1800" b="0" kern="1200" spc="-150" dirty="0">
                          <a:solidFill>
                            <a:srgbClr val="FF3399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원칙적으로 </a:t>
                      </a:r>
                      <a:r>
                        <a:rPr lang="en-US" altLang="ko-KR" sz="1800" b="0" kern="1200" spc="-150" dirty="0">
                          <a:solidFill>
                            <a:srgbClr val="FF3399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1</a:t>
                      </a:r>
                      <a:r>
                        <a:rPr lang="ko-KR" altLang="en-US" sz="1800" b="0" kern="1200" spc="-150" dirty="0">
                          <a:solidFill>
                            <a:srgbClr val="FF3399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차 의료급여 기관 </a:t>
                      </a:r>
                      <a:r>
                        <a:rPr lang="ko-KR" altLang="en-US" sz="1800" b="0" kern="1200" spc="-15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에서 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진료를 받을 수 있음</a:t>
                      </a:r>
                      <a:endParaRPr lang="en-US" altLang="ko-KR" sz="1800" b="0" kern="1200" dirty="0">
                        <a:solidFill>
                          <a:schemeClr val="tx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285750" marR="0" lvl="0" indent="-28575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2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차 또는 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3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차 의료급여기관의 진료가 필요한 경우 </a:t>
                      </a:r>
                      <a:r>
                        <a:rPr lang="ko-KR" altLang="en-US" sz="1800" b="0" kern="1200" dirty="0">
                          <a:solidFill>
                            <a:srgbClr val="00B05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의료급여의뢰서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를 발급 받아 단계적으로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(1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차→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2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차→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3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차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) 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의료기관을 이용할 수 있음</a:t>
                      </a:r>
                      <a:endParaRPr lang="en-US" altLang="ko-KR" sz="1800" b="0" kern="1200" dirty="0">
                        <a:solidFill>
                          <a:schemeClr val="tx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285750" marR="0" lvl="0" indent="-28575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의료급여의뢰서를 발급받은 </a:t>
                      </a:r>
                      <a:r>
                        <a:rPr lang="ko-KR" alt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수급권자는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발급받은 날부터 </a:t>
                      </a:r>
                      <a:r>
                        <a:rPr lang="en-US" altLang="ko-KR" sz="1800" b="0" kern="1200" dirty="0">
                          <a:solidFill>
                            <a:srgbClr val="9933FF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7</a:t>
                      </a:r>
                      <a:r>
                        <a:rPr lang="ko-KR" altLang="en-US" sz="1800" b="0" kern="1200" dirty="0">
                          <a:solidFill>
                            <a:srgbClr val="9933FF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일 이내에 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제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2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차 의료급여기관 또는 제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3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차 의료급여기관에 이를 제출하여야 함</a:t>
                      </a:r>
                      <a:endParaRPr lang="en-US" altLang="ko-KR" sz="1800" b="0" kern="1200" dirty="0">
                        <a:solidFill>
                          <a:schemeClr val="tx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285750" marR="0" lvl="0" indent="-28575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의료급여의뢰서를 발급받은 날부터 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7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일 이내에 예약하고 이후 진료를 받는 때에 의료급여의뢰서를 제출하는 경우에는 </a:t>
                      </a:r>
                      <a:r>
                        <a:rPr lang="ko-KR" altLang="en-US" sz="1800" b="0" kern="1200" dirty="0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예약 접수일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을 의료급여 의뢰서 제출일로 봄</a:t>
                      </a:r>
                    </a:p>
                  </a:txBody>
                  <a:tcPr marL="64770" marR="64770" marT="17907" marB="17907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" name="모서리가 둥근 직사각형 4">
            <a:extLst>
              <a:ext uri="{FF2B5EF4-FFF2-40B4-BE49-F238E27FC236}">
                <a16:creationId xmlns:a16="http://schemas.microsoft.com/office/drawing/2014/main" id="{D3122720-2EF8-4923-B29B-ED1799E9FBD8}"/>
              </a:ext>
            </a:extLst>
          </p:cNvPr>
          <p:cNvSpPr/>
          <p:nvPr/>
        </p:nvSpPr>
        <p:spPr>
          <a:xfrm>
            <a:off x="323528" y="1046217"/>
            <a:ext cx="2592288" cy="45718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24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 4) </a:t>
            </a:r>
            <a:r>
              <a:rPr lang="ko-KR" altLang="en-US" sz="24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급여의 종류</a:t>
            </a:r>
            <a:endParaRPr lang="en-US" altLang="ko-KR" sz="2400" dirty="0">
              <a:latin typeface="HY울릉도B" pitchFamily="18" charset="-127"/>
              <a:ea typeface="HY울릉도B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089780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72534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5.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급여내용</a:t>
            </a: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8193" name="_x223661360" descr="EMB00000b4c2fa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43" t="52393" r="38817" b="14375"/>
          <a:stretch>
            <a:fillRect/>
          </a:stretch>
        </p:blipFill>
        <p:spPr bwMode="auto">
          <a:xfrm>
            <a:off x="683568" y="2132856"/>
            <a:ext cx="7992888" cy="38422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직사각형 6"/>
          <p:cNvSpPr/>
          <p:nvPr/>
        </p:nvSpPr>
        <p:spPr>
          <a:xfrm>
            <a:off x="2771800" y="1392512"/>
            <a:ext cx="34515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 latinLnBrk="0"/>
            <a:r>
              <a:rPr lang="en-US" altLang="ko-KR" b="1" dirty="0"/>
              <a:t>&lt;</a:t>
            </a:r>
            <a:r>
              <a:rPr lang="ko-KR" altLang="en-US" b="1" dirty="0"/>
              <a:t>그림</a:t>
            </a:r>
            <a:r>
              <a:rPr lang="en-US" altLang="ko-KR" b="1" dirty="0"/>
              <a:t>&gt; </a:t>
            </a:r>
            <a:r>
              <a:rPr lang="ko-KR" altLang="en-US" b="1" dirty="0"/>
              <a:t>의료급여기관 이용절차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481686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72534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5.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급여내용</a:t>
            </a: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F3BA70C9-038E-48EC-BB50-09EDCB76F1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2640190"/>
              </p:ext>
            </p:extLst>
          </p:nvPr>
        </p:nvGraphicFramePr>
        <p:xfrm>
          <a:off x="323528" y="2438521"/>
          <a:ext cx="8589965" cy="3808882"/>
        </p:xfrm>
        <a:graphic>
          <a:graphicData uri="http://schemas.openxmlformats.org/drawingml/2006/table">
            <a:tbl>
              <a:tblPr/>
              <a:tblGrid>
                <a:gridCol w="413055">
                  <a:extLst>
                    <a:ext uri="{9D8B030D-6E8A-4147-A177-3AD203B41FA5}">
                      <a16:colId xmlns:a16="http://schemas.microsoft.com/office/drawing/2014/main" val="3740434352"/>
                    </a:ext>
                  </a:extLst>
                </a:gridCol>
                <a:gridCol w="651258">
                  <a:extLst>
                    <a:ext uri="{9D8B030D-6E8A-4147-A177-3AD203B41FA5}">
                      <a16:colId xmlns:a16="http://schemas.microsoft.com/office/drawing/2014/main" val="973272914"/>
                    </a:ext>
                  </a:extLst>
                </a:gridCol>
                <a:gridCol w="1447241">
                  <a:extLst>
                    <a:ext uri="{9D8B030D-6E8A-4147-A177-3AD203B41FA5}">
                      <a16:colId xmlns:a16="http://schemas.microsoft.com/office/drawing/2014/main" val="1607353804"/>
                    </a:ext>
                  </a:extLst>
                </a:gridCol>
                <a:gridCol w="1349660">
                  <a:extLst>
                    <a:ext uri="{9D8B030D-6E8A-4147-A177-3AD203B41FA5}">
                      <a16:colId xmlns:a16="http://schemas.microsoft.com/office/drawing/2014/main" val="3102255320"/>
                    </a:ext>
                  </a:extLst>
                </a:gridCol>
                <a:gridCol w="1199832">
                  <a:extLst>
                    <a:ext uri="{9D8B030D-6E8A-4147-A177-3AD203B41FA5}">
                      <a16:colId xmlns:a16="http://schemas.microsoft.com/office/drawing/2014/main" val="2188308236"/>
                    </a:ext>
                  </a:extLst>
                </a:gridCol>
                <a:gridCol w="988097">
                  <a:extLst>
                    <a:ext uri="{9D8B030D-6E8A-4147-A177-3AD203B41FA5}">
                      <a16:colId xmlns:a16="http://schemas.microsoft.com/office/drawing/2014/main" val="3137107838"/>
                    </a:ext>
                  </a:extLst>
                </a:gridCol>
                <a:gridCol w="1340989">
                  <a:extLst>
                    <a:ext uri="{9D8B030D-6E8A-4147-A177-3AD203B41FA5}">
                      <a16:colId xmlns:a16="http://schemas.microsoft.com/office/drawing/2014/main" val="1186559014"/>
                    </a:ext>
                  </a:extLst>
                </a:gridCol>
                <a:gridCol w="1199833">
                  <a:extLst>
                    <a:ext uri="{9D8B030D-6E8A-4147-A177-3AD203B41FA5}">
                      <a16:colId xmlns:a16="http://schemas.microsoft.com/office/drawing/2014/main" val="1174978288"/>
                    </a:ext>
                  </a:extLst>
                </a:gridCol>
              </a:tblGrid>
              <a:tr h="648072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구 분</a:t>
                      </a:r>
                      <a:endParaRPr lang="ko-KR" altLang="en-US" sz="1800" kern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8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en-US" altLang="ko-KR" sz="180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1</a:t>
                      </a: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차</a:t>
                      </a:r>
                      <a:endParaRPr lang="ko-KR" altLang="en-US" sz="1800" kern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en-US" altLang="ko-KR" sz="180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(</a:t>
                      </a: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의원</a:t>
                      </a:r>
                      <a:r>
                        <a:rPr lang="en-US" altLang="ko-KR" sz="180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보건소</a:t>
                      </a:r>
                      <a:r>
                        <a:rPr lang="en-US" altLang="ko-KR" sz="180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)</a:t>
                      </a:r>
                      <a:endParaRPr lang="ko-KR" altLang="en-US" sz="1800" kern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en-US" altLang="ko-KR" sz="180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2</a:t>
                      </a: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차</a:t>
                      </a:r>
                      <a:endParaRPr lang="ko-KR" altLang="en-US" sz="1800" kern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en-US" altLang="ko-KR" sz="180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(</a:t>
                      </a: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병원</a:t>
                      </a:r>
                      <a:r>
                        <a:rPr lang="en-US" altLang="ko-KR" sz="180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</a:p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종합병원</a:t>
                      </a:r>
                      <a:r>
                        <a:rPr lang="en-US" altLang="ko-KR" sz="180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)</a:t>
                      </a:r>
                      <a:endParaRPr lang="ko-KR" altLang="en-US" sz="1800" kern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en-US" altLang="ko-KR" sz="180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3</a:t>
                      </a: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차 </a:t>
                      </a:r>
                      <a:endParaRPr lang="ko-KR" altLang="en-US" sz="1800" kern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en-US" altLang="ko-KR" sz="180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(</a:t>
                      </a: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상급병원</a:t>
                      </a:r>
                      <a:r>
                        <a:rPr lang="en-US" altLang="ko-KR" sz="180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)</a:t>
                      </a:r>
                      <a:endParaRPr lang="ko-KR" altLang="en-US" sz="1800" kern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약국</a:t>
                      </a:r>
                      <a:endParaRPr lang="ko-KR" altLang="en-US" sz="1800" kern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en-US" altLang="ko-KR" sz="180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(</a:t>
                      </a: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처방전</a:t>
                      </a:r>
                      <a:r>
                        <a:rPr lang="en-US" altLang="ko-KR" sz="180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)</a:t>
                      </a:r>
                      <a:endParaRPr lang="ko-KR" altLang="en-US" sz="1800" kern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특수</a:t>
                      </a:r>
                      <a:endParaRPr lang="en-US" altLang="ko-KR" sz="1800" kern="0" spc="-5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촬영장비</a:t>
                      </a:r>
                      <a:endParaRPr lang="ko-KR" altLang="en-US" sz="1800" kern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en-US" altLang="ko-KR" sz="1800" kern="0" spc="-1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(CT, MRI, PET)</a:t>
                      </a:r>
                      <a:endParaRPr lang="ko-KR" altLang="en-US" sz="1800" kern="0" spc="-15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ko-KR" altLang="en-US" sz="1800" kern="0" spc="-5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본인부담</a:t>
                      </a:r>
                      <a:endParaRPr lang="ko-KR" altLang="en-US" sz="1800" kern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ko-KR" altLang="en-US" sz="1800" kern="0" spc="-5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상한액</a:t>
                      </a:r>
                      <a:endParaRPr lang="ko-KR" altLang="en-US" sz="1800" kern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159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5926404"/>
                  </a:ext>
                </a:extLst>
              </a:tr>
              <a:tr h="559864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en-US" altLang="ko-KR" sz="180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1</a:t>
                      </a: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종</a:t>
                      </a:r>
                      <a:endParaRPr lang="ko-KR" altLang="en-US" sz="1800" kern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ko-KR" altLang="en-US" sz="1800" kern="0" spc="-5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입원</a:t>
                      </a:r>
                      <a:endParaRPr lang="ko-KR" altLang="en-US" sz="1800" kern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-5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없음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없음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-5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없음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-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없음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매월</a:t>
                      </a:r>
                    </a:p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5</a:t>
                      </a: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만원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0202863"/>
                  </a:ext>
                </a:extLst>
              </a:tr>
              <a:tr h="73596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외래</a:t>
                      </a:r>
                      <a:endParaRPr lang="ko-KR" altLang="en-US" sz="1800" kern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1,000</a:t>
                      </a: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원</a:t>
                      </a:r>
                      <a:endParaRPr lang="en-US" sz="1800" kern="0" spc="-5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1,500</a:t>
                      </a: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원</a:t>
                      </a:r>
                      <a:endParaRPr lang="en-US" sz="1800" kern="0" spc="-5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2,000</a:t>
                      </a: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원</a:t>
                      </a:r>
                      <a:endParaRPr lang="en-US" sz="1800" kern="0" spc="-5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500</a:t>
                      </a: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원</a:t>
                      </a:r>
                      <a:endParaRPr lang="en-US" sz="1800" kern="0" spc="-5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5%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1844193"/>
                  </a:ext>
                </a:extLst>
              </a:tr>
              <a:tr h="559864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en-US" altLang="ko-KR" sz="180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2</a:t>
                      </a: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종</a:t>
                      </a:r>
                      <a:endParaRPr lang="ko-KR" altLang="en-US" sz="1800" kern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입원</a:t>
                      </a:r>
                      <a:endParaRPr lang="ko-KR" altLang="en-US" sz="1800" kern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10%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10%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10%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-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10%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연간</a:t>
                      </a:r>
                    </a:p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80</a:t>
                      </a: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만원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4071136"/>
                  </a:ext>
                </a:extLst>
              </a:tr>
              <a:tr h="73596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외래</a:t>
                      </a:r>
                      <a:endParaRPr lang="ko-KR" altLang="en-US" sz="1800" kern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1,000</a:t>
                      </a: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원</a:t>
                      </a:r>
                      <a:endParaRPr lang="en-US" sz="1800" kern="0" spc="-5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15%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15%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500</a:t>
                      </a: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원</a:t>
                      </a:r>
                      <a:endParaRPr lang="en-US" sz="1800" kern="0" spc="-5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15%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486492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0382B318-7F81-44FA-9BA0-CDDBCBE2A89F}"/>
              </a:ext>
            </a:extLst>
          </p:cNvPr>
          <p:cNvSpPr txBox="1"/>
          <p:nvPr/>
        </p:nvSpPr>
        <p:spPr>
          <a:xfrm>
            <a:off x="1475656" y="1484784"/>
            <a:ext cx="6408712" cy="501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tabLst>
                <a:tab pos="4274820" algn="r"/>
                <a:tab pos="4274820" algn="r"/>
              </a:tabLst>
            </a:pPr>
            <a:r>
              <a:rPr lang="en-US" altLang="ko-KR" sz="2000" kern="0" spc="-50" dirty="0">
                <a:solidFill>
                  <a:srgbClr val="000000"/>
                </a:solidFill>
                <a:effectLst/>
                <a:latin typeface="-윤고딕130"/>
                <a:ea typeface="-윤고딕130"/>
              </a:rPr>
              <a:t>&lt;</a:t>
            </a:r>
            <a:r>
              <a:rPr lang="ko-KR" altLang="en-US" sz="2000" kern="0" spc="-50" dirty="0">
                <a:solidFill>
                  <a:srgbClr val="000000"/>
                </a:solidFill>
                <a:effectLst/>
                <a:latin typeface="HY울릉도M" panose="02030600000101010101" pitchFamily="18" charset="-127"/>
                <a:ea typeface="HY울릉도M" panose="02030600000101010101" pitchFamily="18" charset="-127"/>
              </a:rPr>
              <a:t>표 </a:t>
            </a:r>
            <a:r>
              <a:rPr lang="en-US" altLang="ko-KR" sz="2000" kern="0" spc="-50" dirty="0">
                <a:solidFill>
                  <a:srgbClr val="000000"/>
                </a:solidFill>
                <a:effectLst/>
                <a:latin typeface="HY울릉도M" panose="02030600000101010101" pitchFamily="18" charset="-127"/>
                <a:ea typeface="HY울릉도M" panose="02030600000101010101" pitchFamily="18" charset="-127"/>
              </a:rPr>
              <a:t>12-10&gt;</a:t>
            </a:r>
            <a:r>
              <a:rPr lang="ko-KR" altLang="en-US" sz="2000" kern="0" spc="-50" dirty="0">
                <a:solidFill>
                  <a:srgbClr val="000000"/>
                </a:solidFill>
                <a:effectLst/>
                <a:latin typeface="HY울릉도M" panose="02030600000101010101" pitchFamily="18" charset="-127"/>
                <a:ea typeface="HY울릉도M" panose="02030600000101010101" pitchFamily="18" charset="-127"/>
              </a:rPr>
              <a:t>  종별 의료급여 본인부담금 내용</a:t>
            </a:r>
            <a:r>
              <a:rPr lang="en-US" altLang="ko-KR" sz="2000" kern="0" spc="-50" dirty="0">
                <a:solidFill>
                  <a:srgbClr val="000000"/>
                </a:solidFill>
                <a:effectLst/>
                <a:latin typeface="HY울릉도M" panose="02030600000101010101" pitchFamily="18" charset="-127"/>
                <a:ea typeface="HY울릉도M" panose="02030600000101010101" pitchFamily="18" charset="-127"/>
              </a:rPr>
              <a:t>(2022</a:t>
            </a:r>
            <a:r>
              <a:rPr lang="ko-KR" altLang="en-US" sz="2000" kern="0" spc="-50" dirty="0">
                <a:solidFill>
                  <a:srgbClr val="000000"/>
                </a:solidFill>
                <a:effectLst/>
                <a:latin typeface="HY울릉도M" panose="02030600000101010101" pitchFamily="18" charset="-127"/>
                <a:ea typeface="HY울릉도M" panose="02030600000101010101" pitchFamily="18" charset="-127"/>
              </a:rPr>
              <a:t>년</a:t>
            </a:r>
            <a:r>
              <a:rPr lang="en-US" altLang="ko-KR" sz="2000" kern="0" spc="-50" dirty="0">
                <a:solidFill>
                  <a:srgbClr val="000000"/>
                </a:solidFill>
                <a:effectLst/>
                <a:latin typeface="HY울릉도M" panose="02030600000101010101" pitchFamily="18" charset="-127"/>
                <a:ea typeface="HY울릉도M" panose="02030600000101010101" pitchFamily="18" charset="-127"/>
              </a:rPr>
              <a:t>)</a:t>
            </a:r>
            <a:endParaRPr lang="ko-KR" altLang="en-US" sz="2000" kern="0" dirty="0">
              <a:solidFill>
                <a:srgbClr val="000000"/>
              </a:solidFill>
              <a:effectLst/>
              <a:latin typeface="HY울릉도M" panose="02030600000101010101" pitchFamily="18" charset="-127"/>
              <a:ea typeface="HY울릉도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335405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72534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5.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급여내용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4541908"/>
              </p:ext>
            </p:extLst>
          </p:nvPr>
        </p:nvGraphicFramePr>
        <p:xfrm>
          <a:off x="324548" y="1700807"/>
          <a:ext cx="8424936" cy="22322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11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738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99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b="1" kern="0" spc="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종 류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b="1" kern="0" spc="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내   용</a:t>
                      </a: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125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ts val="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주거급여</a:t>
                      </a:r>
                      <a:endParaRPr lang="en-US" altLang="ko-KR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indent="0" algn="ctr" fontAlgn="base" latinLnBrk="0">
                        <a:lnSpc>
                          <a:spcPts val="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85750" indent="-285750" fontAlgn="base" latinLnBrk="1">
                        <a:lnSpc>
                          <a:spcPts val="3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주거 안정에 필요한 임차료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수선유지비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그 외 </a:t>
                      </a:r>
                      <a:r>
                        <a:rPr lang="ko-KR" altLang="en-US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수급품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지급 </a:t>
                      </a:r>
                    </a:p>
                    <a:p>
                      <a:pPr marL="285750" indent="-285750" fontAlgn="base" latinLnBrk="1">
                        <a:lnSpc>
                          <a:spcPts val="3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kern="1200" dirty="0">
                          <a:solidFill>
                            <a:srgbClr val="9933FF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임차가구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에게는 </a:t>
                      </a: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지역별 기준임대료를 기준으로 </a:t>
                      </a:r>
                      <a:r>
                        <a:rPr lang="ko-KR" altLang="en-US" sz="1800" kern="120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임차료</a:t>
                      </a: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를 지급함</a:t>
                      </a:r>
                      <a:endParaRPr lang="en-US" altLang="ko-KR" sz="1800" kern="1200" dirty="0">
                        <a:solidFill>
                          <a:schemeClr val="tx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285750" marR="0" indent="-285750" algn="l" defTabSz="914400" rtl="0" eaLnBrk="1" fontAlgn="base" latinLnBrk="1" hangingPunct="1">
                        <a:lnSpc>
                          <a:spcPts val="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rgbClr val="9933FF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자가가구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에게는 주택의 노후도를 평가하여 주택의 수리를 위한    </a:t>
                      </a:r>
                      <a:r>
                        <a:rPr lang="ko-KR" altLang="en-US" sz="1800" kern="120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수선유지비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를 지원함</a:t>
                      </a: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0486184"/>
              </p:ext>
            </p:extLst>
          </p:nvPr>
        </p:nvGraphicFramePr>
        <p:xfrm>
          <a:off x="323528" y="4130466"/>
          <a:ext cx="8415387" cy="1917763"/>
        </p:xfrm>
        <a:graphic>
          <a:graphicData uri="http://schemas.openxmlformats.org/drawingml/2006/table">
            <a:tbl>
              <a:tblPr/>
              <a:tblGrid>
                <a:gridCol w="23895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88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5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5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95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83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2021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구  분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1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인 가구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2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인 가구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3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인 가구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4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인 가구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5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인 가구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754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 err="1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기준중위소득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(2022)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 dirty="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1,944,812</a:t>
                      </a:r>
                      <a:endParaRPr lang="en-US" sz="1800" kern="0" spc="-50" dirty="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3,260,085</a:t>
                      </a:r>
                      <a:endParaRPr lang="en-US" sz="18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 dirty="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4,194,701</a:t>
                      </a:r>
                      <a:endParaRPr lang="en-US" sz="1800" kern="0" spc="-50" dirty="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 dirty="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5,121,080</a:t>
                      </a:r>
                      <a:endParaRPr lang="en-US" sz="1800" kern="0" spc="-50" dirty="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 dirty="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6,024,515</a:t>
                      </a:r>
                      <a:endParaRPr lang="en-US" sz="1800" kern="0" spc="-50" dirty="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000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주거급여 선정기준</a:t>
                      </a: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-50" dirty="0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(</a:t>
                      </a:r>
                      <a:r>
                        <a:rPr lang="ko-KR" altLang="en-US" sz="1800" kern="0" spc="-50" dirty="0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기준 중위소득의 </a:t>
                      </a:r>
                      <a:r>
                        <a:rPr lang="en-US" altLang="ko-KR" sz="1800" kern="0" spc="-50" dirty="0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46%)</a:t>
                      </a:r>
                      <a:endParaRPr lang="ko-KR" altLang="en-US" sz="1800" kern="0" spc="-50" dirty="0">
                        <a:solidFill>
                          <a:srgbClr val="C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 dirty="0">
                          <a:solidFill>
                            <a:srgbClr val="C00000"/>
                          </a:solidFill>
                          <a:effectLst/>
                          <a:latin typeface="-윤명조120"/>
                          <a:ea typeface="-윤고딕110"/>
                        </a:rPr>
                        <a:t>894,614</a:t>
                      </a:r>
                      <a:endParaRPr lang="en-US" sz="1800" kern="0" spc="-50" dirty="0">
                        <a:solidFill>
                          <a:srgbClr val="C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 dirty="0">
                          <a:solidFill>
                            <a:srgbClr val="C00000"/>
                          </a:solidFill>
                          <a:effectLst/>
                          <a:latin typeface="-윤명조120"/>
                          <a:ea typeface="-윤고딕110"/>
                        </a:rPr>
                        <a:t>1,499,639</a:t>
                      </a:r>
                      <a:endParaRPr lang="en-US" sz="1800" kern="0" spc="-50" dirty="0">
                        <a:solidFill>
                          <a:srgbClr val="C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 dirty="0">
                          <a:solidFill>
                            <a:srgbClr val="C00000"/>
                          </a:solidFill>
                          <a:effectLst/>
                          <a:latin typeface="-윤명조120"/>
                          <a:ea typeface="-윤고딕110"/>
                        </a:rPr>
                        <a:t>1,929,562</a:t>
                      </a:r>
                      <a:endParaRPr lang="en-US" sz="1800" kern="0" spc="-50" dirty="0">
                        <a:solidFill>
                          <a:srgbClr val="C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 dirty="0">
                          <a:solidFill>
                            <a:srgbClr val="C00000"/>
                          </a:solidFill>
                          <a:effectLst/>
                          <a:latin typeface="-윤명조120"/>
                          <a:ea typeface="-윤고딕110"/>
                        </a:rPr>
                        <a:t>2,355,697</a:t>
                      </a:r>
                      <a:endParaRPr lang="en-US" sz="1800" kern="0" spc="-50" dirty="0">
                        <a:solidFill>
                          <a:srgbClr val="C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 dirty="0">
                          <a:solidFill>
                            <a:srgbClr val="C00000"/>
                          </a:solidFill>
                          <a:effectLst/>
                          <a:latin typeface="-윤명조120"/>
                          <a:ea typeface="-윤고딕110"/>
                        </a:rPr>
                        <a:t>2,771,277</a:t>
                      </a:r>
                      <a:endParaRPr lang="en-US" sz="1800" kern="0" spc="-50" dirty="0">
                        <a:solidFill>
                          <a:srgbClr val="C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모서리가 둥근 직사각형 6"/>
          <p:cNvSpPr/>
          <p:nvPr/>
        </p:nvSpPr>
        <p:spPr>
          <a:xfrm>
            <a:off x="323528" y="1046217"/>
            <a:ext cx="2592288" cy="45718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24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 4) </a:t>
            </a:r>
            <a:r>
              <a:rPr lang="ko-KR" altLang="en-US" sz="24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급여의 종류</a:t>
            </a:r>
            <a:endParaRPr lang="en-US" altLang="ko-KR" sz="2400" dirty="0">
              <a:latin typeface="HY울릉도B" pitchFamily="18" charset="-127"/>
              <a:ea typeface="HY울릉도B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734131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72534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5.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급여내용</a:t>
            </a: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739861"/>
              </p:ext>
            </p:extLst>
          </p:nvPr>
        </p:nvGraphicFramePr>
        <p:xfrm>
          <a:off x="272534" y="2564904"/>
          <a:ext cx="8547939" cy="2160895"/>
        </p:xfrm>
        <a:graphic>
          <a:graphicData uri="http://schemas.openxmlformats.org/drawingml/2006/table">
            <a:tbl>
              <a:tblPr/>
              <a:tblGrid>
                <a:gridCol w="18505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9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5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77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137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구분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수선비용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수선주기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수선예시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73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 err="1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경보수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457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만원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3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년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도배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장판 등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984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 err="1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중보수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849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만원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5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년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 err="1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오급수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난방 등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895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대보수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1,241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만원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7</a:t>
                      </a: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년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지붕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기둥 등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모서리가 둥근 직사각형 6">
            <a:extLst>
              <a:ext uri="{FF2B5EF4-FFF2-40B4-BE49-F238E27FC236}">
                <a16:creationId xmlns:a16="http://schemas.microsoft.com/office/drawing/2014/main" id="{A9DC9E0E-9351-4631-A8F2-A1EA4DDC4B11}"/>
              </a:ext>
            </a:extLst>
          </p:cNvPr>
          <p:cNvSpPr/>
          <p:nvPr/>
        </p:nvSpPr>
        <p:spPr>
          <a:xfrm>
            <a:off x="2447764" y="1700808"/>
            <a:ext cx="4248472" cy="50405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fontAlgn="base"/>
            <a:r>
              <a:rPr lang="en-US" altLang="ko-KR" sz="20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&lt;</a:t>
            </a:r>
            <a:r>
              <a:rPr lang="ko-KR" altLang="en-US" sz="20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표</a:t>
            </a:r>
            <a:r>
              <a:rPr lang="en-US" altLang="ko-KR" sz="20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&gt;</a:t>
            </a:r>
            <a:r>
              <a:rPr lang="ko-KR" altLang="en-US" sz="20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수선유지비 지원내용</a:t>
            </a:r>
            <a:r>
              <a:rPr lang="en-US" altLang="ko-KR" sz="20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/2022</a:t>
            </a:r>
            <a:r>
              <a:rPr lang="ko-KR" altLang="en-US" sz="20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년</a:t>
            </a:r>
          </a:p>
        </p:txBody>
      </p:sp>
    </p:spTree>
    <p:extLst>
      <p:ext uri="{BB962C8B-B14F-4D97-AF65-F5344CB8AC3E}">
        <p14:creationId xmlns:p14="http://schemas.microsoft.com/office/powerpoint/2010/main" val="91202485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72534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5.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급여내용</a:t>
            </a: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4788948"/>
              </p:ext>
            </p:extLst>
          </p:nvPr>
        </p:nvGraphicFramePr>
        <p:xfrm>
          <a:off x="395535" y="2276870"/>
          <a:ext cx="8424935" cy="3528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1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86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49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849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74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구분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1</a:t>
                      </a:r>
                      <a:r>
                        <a:rPr lang="ko-KR" altLang="en-US" sz="1800" kern="0" spc="0" dirty="0" err="1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급지</a:t>
                      </a:r>
                      <a:r>
                        <a:rPr lang="en-US" altLang="ko-KR" sz="1800" kern="0" spc="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(</a:t>
                      </a:r>
                      <a:r>
                        <a:rPr lang="ko-KR" altLang="en-US" sz="1800" kern="0" spc="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서울</a:t>
                      </a:r>
                      <a:r>
                        <a:rPr lang="en-US" altLang="ko-KR" sz="1800" kern="0" spc="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)</a:t>
                      </a:r>
                      <a:endParaRPr lang="ko-KR" altLang="en-US" sz="1800" kern="0" spc="0" dirty="0">
                        <a:solidFill>
                          <a:schemeClr val="bg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2</a:t>
                      </a:r>
                      <a:r>
                        <a:rPr lang="ko-KR" altLang="en-US" sz="1800" kern="0" spc="0" dirty="0" err="1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급지</a:t>
                      </a:r>
                      <a:r>
                        <a:rPr lang="en-US" altLang="ko-KR" sz="1800" kern="0" spc="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(</a:t>
                      </a:r>
                      <a:r>
                        <a:rPr lang="ko-KR" altLang="en-US" sz="1800" kern="0" spc="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인천</a:t>
                      </a:r>
                      <a:r>
                        <a:rPr lang="en-US" altLang="ko-KR" sz="1800" kern="0" spc="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·</a:t>
                      </a:r>
                      <a:r>
                        <a:rPr lang="ko-KR" altLang="en-US" sz="1800" kern="0" spc="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경기</a:t>
                      </a:r>
                      <a:r>
                        <a:rPr lang="en-US" altLang="ko-KR" sz="1800" kern="0" spc="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)</a:t>
                      </a:r>
                      <a:endParaRPr lang="ko-KR" altLang="en-US" sz="1800" kern="0" spc="0" dirty="0">
                        <a:solidFill>
                          <a:schemeClr val="bg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3</a:t>
                      </a:r>
                      <a:r>
                        <a:rPr lang="ko-KR" altLang="en-US" sz="1800" kern="0" spc="0" dirty="0" err="1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급지</a:t>
                      </a:r>
                      <a:r>
                        <a:rPr lang="en-US" altLang="ko-KR" sz="1800" kern="0" spc="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(</a:t>
                      </a:r>
                      <a:r>
                        <a:rPr lang="ko-KR" altLang="en-US" sz="1800" kern="0" spc="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광역시</a:t>
                      </a:r>
                      <a:r>
                        <a:rPr lang="en-US" altLang="ko-KR" sz="1800" kern="0" spc="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)</a:t>
                      </a:r>
                      <a:endParaRPr lang="ko-KR" altLang="en-US" sz="1800" kern="0" spc="0" dirty="0">
                        <a:solidFill>
                          <a:schemeClr val="bg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4</a:t>
                      </a:r>
                      <a:r>
                        <a:rPr lang="ko-KR" altLang="en-US" sz="1800" kern="0" spc="0" dirty="0" err="1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급지</a:t>
                      </a:r>
                      <a:r>
                        <a:rPr lang="en-US" altLang="ko-KR" sz="1800" kern="0" spc="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(</a:t>
                      </a:r>
                      <a:r>
                        <a:rPr lang="ko-KR" altLang="en-US" sz="1800" kern="0" spc="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기타</a:t>
                      </a:r>
                      <a:r>
                        <a:rPr lang="en-US" altLang="ko-KR" sz="1800" kern="0" spc="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)</a:t>
                      </a:r>
                      <a:endParaRPr lang="ko-KR" altLang="en-US" sz="1800" kern="0" spc="0" dirty="0">
                        <a:solidFill>
                          <a:schemeClr val="bg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177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1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인 가구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 dirty="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327,000</a:t>
                      </a:r>
                      <a:endParaRPr lang="en-US" sz="1800" kern="0" spc="-50" dirty="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253,000</a:t>
                      </a:r>
                      <a:endParaRPr lang="en-US" sz="18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201,000</a:t>
                      </a:r>
                      <a:endParaRPr lang="en-US" sz="18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163,000</a:t>
                      </a:r>
                      <a:endParaRPr lang="en-US" sz="18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177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2</a:t>
                      </a: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인 가구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367,000</a:t>
                      </a:r>
                      <a:endParaRPr lang="en-US" sz="18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283,000</a:t>
                      </a:r>
                      <a:endParaRPr lang="en-US" sz="18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224,000</a:t>
                      </a:r>
                      <a:endParaRPr lang="en-US" sz="18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183,000</a:t>
                      </a:r>
                      <a:endParaRPr lang="en-US" sz="18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177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3</a:t>
                      </a: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인 가구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437,000</a:t>
                      </a:r>
                      <a:endParaRPr lang="en-US" sz="18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338,000</a:t>
                      </a:r>
                      <a:endParaRPr lang="en-US" sz="18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268,000</a:t>
                      </a:r>
                      <a:endParaRPr lang="en-US" sz="18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218,000</a:t>
                      </a:r>
                      <a:endParaRPr lang="en-US" sz="18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177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4</a:t>
                      </a: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인 가구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506,000</a:t>
                      </a:r>
                      <a:endParaRPr lang="en-US" sz="18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391,000</a:t>
                      </a:r>
                      <a:endParaRPr lang="en-US" sz="18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310,000</a:t>
                      </a:r>
                      <a:endParaRPr lang="en-US" sz="18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254,000</a:t>
                      </a:r>
                      <a:endParaRPr lang="en-US" sz="18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177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5</a:t>
                      </a: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인 가구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524,000</a:t>
                      </a:r>
                      <a:endParaRPr lang="en-US" sz="18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404,000</a:t>
                      </a:r>
                      <a:endParaRPr lang="en-US" sz="18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320,000</a:t>
                      </a:r>
                      <a:endParaRPr lang="en-US" sz="18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262,000</a:t>
                      </a:r>
                      <a:endParaRPr lang="en-US" sz="18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177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6</a:t>
                      </a: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인 가구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621,000 </a:t>
                      </a:r>
                      <a:endParaRPr lang="en-US" sz="18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478,000</a:t>
                      </a:r>
                      <a:endParaRPr lang="en-US" sz="18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379,000</a:t>
                      </a:r>
                      <a:endParaRPr lang="en-US" sz="18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 dirty="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310,000</a:t>
                      </a:r>
                      <a:endParaRPr lang="en-US" sz="1800" kern="0" spc="-50" dirty="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모서리가 둥근 직사각형 6"/>
          <p:cNvSpPr/>
          <p:nvPr/>
        </p:nvSpPr>
        <p:spPr>
          <a:xfrm>
            <a:off x="1979712" y="1379610"/>
            <a:ext cx="5256584" cy="36004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fontAlgn="base"/>
            <a:r>
              <a:rPr lang="en-US" altLang="ko-KR" dirty="0">
                <a:latin typeface="HY울릉도M" panose="02030600000101010101" pitchFamily="18" charset="-127"/>
                <a:ea typeface="HY울릉도M" panose="02030600000101010101" pitchFamily="18" charset="-127"/>
              </a:rPr>
              <a:t>&lt;</a:t>
            </a:r>
            <a:r>
              <a:rPr lang="ko-KR" altLang="en-US" dirty="0">
                <a:latin typeface="HY울릉도M" panose="02030600000101010101" pitchFamily="18" charset="-127"/>
                <a:ea typeface="HY울릉도M" panose="02030600000101010101" pitchFamily="18" charset="-127"/>
              </a:rPr>
              <a:t>표</a:t>
            </a:r>
            <a:r>
              <a:rPr lang="en-US" altLang="ko-KR" dirty="0">
                <a:latin typeface="HY울릉도M" panose="02030600000101010101" pitchFamily="18" charset="-127"/>
                <a:ea typeface="HY울릉도M" panose="02030600000101010101" pitchFamily="18" charset="-127"/>
              </a:rPr>
              <a:t>&gt; </a:t>
            </a:r>
            <a:r>
              <a:rPr lang="ko-KR" altLang="en-US" dirty="0">
                <a:latin typeface="HY울릉도M" panose="02030600000101010101" pitchFamily="18" charset="-127"/>
                <a:ea typeface="HY울릉도M" panose="02030600000101010101" pitchFamily="18" charset="-127"/>
              </a:rPr>
              <a:t>지역별</a:t>
            </a:r>
            <a:r>
              <a:rPr lang="en-US" altLang="ko-KR" dirty="0">
                <a:latin typeface="HY울릉도M" panose="02030600000101010101" pitchFamily="18" charset="-127"/>
                <a:ea typeface="HY울릉도M" panose="02030600000101010101" pitchFamily="18" charset="-127"/>
              </a:rPr>
              <a:t>·</a:t>
            </a:r>
            <a:r>
              <a:rPr lang="ko-KR" altLang="en-US" dirty="0">
                <a:latin typeface="HY울릉도M" panose="02030600000101010101" pitchFamily="18" charset="-127"/>
                <a:ea typeface="HY울릉도M" panose="02030600000101010101" pitchFamily="18" charset="-127"/>
              </a:rPr>
              <a:t>가구별 기준임대료</a:t>
            </a:r>
            <a:r>
              <a:rPr lang="en-US" altLang="ko-KR" dirty="0">
                <a:latin typeface="HY울릉도M" panose="02030600000101010101" pitchFamily="18" charset="-127"/>
                <a:ea typeface="HY울릉도M" panose="02030600000101010101" pitchFamily="18" charset="-127"/>
              </a:rPr>
              <a:t>(</a:t>
            </a:r>
            <a:r>
              <a:rPr lang="ko-KR" altLang="en-US" dirty="0">
                <a:latin typeface="HY울릉도M" panose="02030600000101010101" pitchFamily="18" charset="-127"/>
                <a:ea typeface="HY울릉도M" panose="02030600000101010101" pitchFamily="18" charset="-127"/>
              </a:rPr>
              <a:t>월</a:t>
            </a:r>
            <a:r>
              <a:rPr lang="en-US" altLang="ko-KR" dirty="0">
                <a:latin typeface="HY울릉도M" panose="02030600000101010101" pitchFamily="18" charset="-127"/>
                <a:ea typeface="HY울릉도M" panose="02030600000101010101" pitchFamily="18" charset="-127"/>
              </a:rPr>
              <a:t>)/2022</a:t>
            </a:r>
            <a:r>
              <a:rPr lang="ko-KR" altLang="en-US" dirty="0">
                <a:latin typeface="HY울릉도M" panose="02030600000101010101" pitchFamily="18" charset="-127"/>
                <a:ea typeface="HY울릉도M" panose="02030600000101010101" pitchFamily="18" charset="-127"/>
              </a:rPr>
              <a:t>년</a:t>
            </a:r>
          </a:p>
        </p:txBody>
      </p:sp>
      <p:sp>
        <p:nvSpPr>
          <p:cNvPr id="8" name="모서리가 둥근 직사각형 7"/>
          <p:cNvSpPr/>
          <p:nvPr/>
        </p:nvSpPr>
        <p:spPr>
          <a:xfrm>
            <a:off x="7596336" y="1877562"/>
            <a:ext cx="1224136" cy="3600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r">
              <a:spcBef>
                <a:spcPct val="0"/>
              </a:spcBef>
              <a:defRPr/>
            </a:pPr>
            <a:r>
              <a:rPr lang="en-US" altLang="ko-KR" sz="1400" dirty="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rPr>
              <a:t> </a:t>
            </a:r>
            <a:r>
              <a:rPr lang="en-US" altLang="ko-KR" sz="1600" dirty="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rPr>
              <a:t>(</a:t>
            </a:r>
            <a:r>
              <a:rPr lang="ko-KR" altLang="en-US" sz="1600" dirty="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rPr>
              <a:t>단위</a:t>
            </a:r>
            <a:r>
              <a:rPr lang="en-US" altLang="ko-KR" sz="1600" dirty="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rPr>
              <a:t>: </a:t>
            </a:r>
            <a:r>
              <a:rPr lang="ko-KR" altLang="en-US" sz="1600" dirty="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rPr>
              <a:t>원</a:t>
            </a:r>
            <a:r>
              <a:rPr lang="en-US" altLang="ko-KR" sz="1600" dirty="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rPr>
              <a:t>)</a:t>
            </a:r>
            <a:endParaRPr lang="ko-KR" altLang="en-US" sz="1600" dirty="0">
              <a:solidFill>
                <a:schemeClr val="tx1"/>
              </a:solidFill>
              <a:latin typeface="HY울릉도M" pitchFamily="18" charset="-127"/>
              <a:ea typeface="HY울릉도M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121857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72534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5.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급여내용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5078277"/>
              </p:ext>
            </p:extLst>
          </p:nvPr>
        </p:nvGraphicFramePr>
        <p:xfrm>
          <a:off x="323528" y="1700808"/>
          <a:ext cx="8568952" cy="1872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74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615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7220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b="0" kern="0" spc="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교육급여</a:t>
                      </a:r>
                      <a:endParaRPr lang="ko-KR" altLang="en-US" sz="1800" kern="0" spc="0" dirty="0">
                        <a:solidFill>
                          <a:schemeClr val="bg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85750" marR="0" indent="-285750" algn="l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b="0" kern="0" spc="0" dirty="0" err="1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수급자에게</a:t>
                      </a:r>
                      <a:r>
                        <a:rPr lang="ko-KR" altLang="en-US" sz="1800" b="0" kern="0" spc="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입학금</a:t>
                      </a:r>
                      <a:r>
                        <a:rPr lang="en-US" altLang="ko-KR" sz="1800" b="0" kern="0" spc="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800" b="0" kern="0" spc="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수업료</a:t>
                      </a:r>
                      <a:r>
                        <a:rPr lang="en-US" altLang="ko-KR" sz="1800" b="0" kern="0" spc="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800" b="0" kern="0" spc="0" dirty="0" err="1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학용품비</a:t>
                      </a:r>
                      <a:r>
                        <a:rPr lang="en-US" altLang="ko-KR" sz="1800" b="0" kern="0" spc="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800" b="0" kern="0" spc="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그 밖의 </a:t>
                      </a:r>
                      <a:r>
                        <a:rPr lang="ko-KR" altLang="en-US" sz="1800" b="0" kern="0" spc="0" dirty="0" err="1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수급품을</a:t>
                      </a:r>
                      <a:r>
                        <a:rPr lang="ko-KR" altLang="en-US" sz="1800" b="0" kern="0" spc="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지급하는 급여</a:t>
                      </a:r>
                      <a:endParaRPr lang="en-US" altLang="ko-KR" sz="1800" b="0" kern="0" spc="0" dirty="0">
                        <a:solidFill>
                          <a:srgbClr val="FFFF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285750" marR="0" indent="-285750" algn="l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b="0" kern="0" spc="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초등학생</a:t>
                      </a:r>
                      <a:r>
                        <a:rPr lang="en-US" altLang="ko-KR" sz="1800" b="0" kern="0" spc="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800" b="0" kern="0" spc="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중학생</a:t>
                      </a:r>
                      <a:r>
                        <a:rPr lang="en-US" altLang="ko-KR" sz="1800" b="0" kern="0" spc="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800" b="0" kern="0" spc="0" dirty="0" err="1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고등학생별로</a:t>
                      </a:r>
                      <a:r>
                        <a:rPr lang="ko-KR" altLang="en-US" sz="1800" b="0" kern="0" spc="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그 지원내용이 다르게 적용됨</a:t>
                      </a:r>
                      <a:endParaRPr lang="en-US" altLang="ko-KR" sz="1800" b="0" kern="0" spc="0" dirty="0">
                        <a:solidFill>
                          <a:schemeClr val="bg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285750" marR="0" indent="-28575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교육급여는 교육부장관이 소관하고 시</a:t>
                      </a:r>
                      <a:r>
                        <a:rPr lang="en-US" altLang="ko-KR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도 교육청에서 보장업무 실시</a:t>
                      </a:r>
                      <a:endParaRPr lang="en-US" altLang="ko-KR" sz="1800" b="0" kern="0" spc="0" dirty="0">
                        <a:solidFill>
                          <a:schemeClr val="bg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모서리가 둥근 직사각형 4"/>
          <p:cNvSpPr/>
          <p:nvPr/>
        </p:nvSpPr>
        <p:spPr>
          <a:xfrm>
            <a:off x="323528" y="1046217"/>
            <a:ext cx="2592288" cy="45718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24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 4) </a:t>
            </a:r>
            <a:r>
              <a:rPr lang="ko-KR" altLang="en-US" sz="24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급여의 종류</a:t>
            </a:r>
            <a:endParaRPr lang="en-US" altLang="ko-KR" sz="2400" dirty="0">
              <a:latin typeface="HY울릉도B" pitchFamily="18" charset="-127"/>
              <a:ea typeface="HY울릉도B" pitchFamily="18" charset="-127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7302597"/>
              </p:ext>
            </p:extLst>
          </p:nvPr>
        </p:nvGraphicFramePr>
        <p:xfrm>
          <a:off x="350284" y="3861048"/>
          <a:ext cx="8586769" cy="1350506"/>
        </p:xfrm>
        <a:graphic>
          <a:graphicData uri="http://schemas.openxmlformats.org/drawingml/2006/table">
            <a:tbl>
              <a:tblPr/>
              <a:tblGrid>
                <a:gridCol w="23495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10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43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43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43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31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5038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구 분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1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인 가구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2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인 가구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3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인 가구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4</a:t>
                      </a: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인 가구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5</a:t>
                      </a: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인 가구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38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 err="1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기준중위소득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 dirty="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1,944,812</a:t>
                      </a:r>
                      <a:endParaRPr lang="en-US" sz="1800" kern="0" spc="-50" dirty="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3,260,085</a:t>
                      </a:r>
                      <a:endParaRPr lang="en-US" sz="18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 dirty="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4,194,701</a:t>
                      </a:r>
                      <a:endParaRPr lang="en-US" sz="1800" kern="0" spc="-50" dirty="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 dirty="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5,121,080</a:t>
                      </a:r>
                      <a:endParaRPr lang="en-US" sz="1800" kern="0" spc="-50" dirty="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6,024,515</a:t>
                      </a:r>
                      <a:endParaRPr lang="en-US" sz="18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537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교육급여</a:t>
                      </a:r>
                    </a:p>
                    <a:p>
                      <a:pPr marL="0" marR="0" indent="0" algn="ctr" fontAlgn="base" latinLnBrk="0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-150" dirty="0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(</a:t>
                      </a:r>
                      <a:r>
                        <a:rPr lang="ko-KR" altLang="en-US" sz="1800" kern="0" spc="-150" dirty="0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기준 중위소득의 </a:t>
                      </a:r>
                      <a:r>
                        <a:rPr lang="en-US" altLang="ko-KR" sz="1800" kern="0" spc="-150" dirty="0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50%)</a:t>
                      </a:r>
                      <a:endParaRPr lang="ko-KR" altLang="en-US" sz="1800" kern="0" spc="-150" dirty="0">
                        <a:solidFill>
                          <a:srgbClr val="C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 dirty="0">
                          <a:solidFill>
                            <a:srgbClr val="C00000"/>
                          </a:solidFill>
                          <a:effectLst/>
                          <a:latin typeface="-윤명조120"/>
                          <a:ea typeface="-윤고딕110"/>
                        </a:rPr>
                        <a:t>972,406</a:t>
                      </a:r>
                      <a:endParaRPr lang="en-US" sz="1800" kern="0" spc="-50" dirty="0">
                        <a:solidFill>
                          <a:srgbClr val="C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 dirty="0">
                          <a:solidFill>
                            <a:srgbClr val="C00000"/>
                          </a:solidFill>
                          <a:effectLst/>
                          <a:latin typeface="-윤명조120"/>
                          <a:ea typeface="-윤고딕110"/>
                        </a:rPr>
                        <a:t>1,630,043</a:t>
                      </a:r>
                      <a:endParaRPr lang="en-US" sz="1800" kern="0" spc="-50" dirty="0">
                        <a:solidFill>
                          <a:srgbClr val="C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 dirty="0">
                          <a:solidFill>
                            <a:srgbClr val="C00000"/>
                          </a:solidFill>
                          <a:effectLst/>
                          <a:latin typeface="-윤명조120"/>
                          <a:ea typeface="-윤고딕110"/>
                        </a:rPr>
                        <a:t>2,097,351</a:t>
                      </a:r>
                      <a:endParaRPr lang="en-US" sz="1800" kern="0" spc="-50" dirty="0">
                        <a:solidFill>
                          <a:srgbClr val="C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 dirty="0">
                          <a:solidFill>
                            <a:srgbClr val="C00000"/>
                          </a:solidFill>
                          <a:effectLst/>
                          <a:latin typeface="-윤명조120"/>
                          <a:ea typeface="-윤고딕110"/>
                        </a:rPr>
                        <a:t>2,560,540</a:t>
                      </a:r>
                      <a:endParaRPr lang="en-US" sz="1800" kern="0" spc="-50" dirty="0">
                        <a:solidFill>
                          <a:srgbClr val="C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 dirty="0">
                          <a:solidFill>
                            <a:srgbClr val="C00000"/>
                          </a:solidFill>
                          <a:effectLst/>
                          <a:latin typeface="-윤명조120"/>
                          <a:ea typeface="-윤고딕110"/>
                        </a:rPr>
                        <a:t>3,012,258</a:t>
                      </a:r>
                      <a:endParaRPr lang="en-US" sz="1800" kern="0" spc="-50" dirty="0">
                        <a:solidFill>
                          <a:srgbClr val="C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421558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72534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5.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급여내용</a:t>
            </a:r>
          </a:p>
        </p:txBody>
      </p:sp>
      <p:sp>
        <p:nvSpPr>
          <p:cNvPr id="5" name="모서리가 둥근 직사각형 4"/>
          <p:cNvSpPr/>
          <p:nvPr/>
        </p:nvSpPr>
        <p:spPr>
          <a:xfrm>
            <a:off x="323528" y="1046217"/>
            <a:ext cx="2592288" cy="45718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24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 4) </a:t>
            </a:r>
            <a:r>
              <a:rPr lang="ko-KR" altLang="en-US" sz="24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급여의 종류</a:t>
            </a:r>
            <a:endParaRPr lang="en-US" altLang="ko-KR" sz="2400" dirty="0">
              <a:latin typeface="HY울릉도B" pitchFamily="18" charset="-127"/>
              <a:ea typeface="HY울릉도B" pitchFamily="18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2051720" y="1732166"/>
            <a:ext cx="547260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altLang="ko-KR" dirty="0">
                <a:latin typeface="HY울릉도M" panose="02030600000101010101" pitchFamily="18" charset="-127"/>
                <a:ea typeface="HY울릉도M" panose="02030600000101010101" pitchFamily="18" charset="-127"/>
              </a:rPr>
              <a:t>&lt;</a:t>
            </a:r>
            <a:r>
              <a:rPr lang="ko-KR" altLang="en-US" dirty="0">
                <a:latin typeface="HY울릉도M" panose="02030600000101010101" pitchFamily="18" charset="-127"/>
                <a:ea typeface="HY울릉도M" panose="02030600000101010101" pitchFamily="18" charset="-127"/>
              </a:rPr>
              <a:t>표</a:t>
            </a:r>
            <a:r>
              <a:rPr lang="en-US" altLang="ko-KR" dirty="0">
                <a:latin typeface="HY울릉도M" panose="02030600000101010101" pitchFamily="18" charset="-127"/>
                <a:ea typeface="HY울릉도M" panose="02030600000101010101" pitchFamily="18" charset="-127"/>
              </a:rPr>
              <a:t>&gt; 2022</a:t>
            </a:r>
            <a:r>
              <a:rPr lang="ko-KR" altLang="en-US" dirty="0">
                <a:latin typeface="HY울릉도M" panose="02030600000101010101" pitchFamily="18" charset="-127"/>
                <a:ea typeface="HY울릉도M" panose="02030600000101010101" pitchFamily="18" charset="-127"/>
              </a:rPr>
              <a:t>년 교육비 지급기준 및 지원내역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6420FFEC-0F8A-4AD1-AEB9-7180E5ABBA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723849"/>
              </p:ext>
            </p:extLst>
          </p:nvPr>
        </p:nvGraphicFramePr>
        <p:xfrm>
          <a:off x="272534" y="2412841"/>
          <a:ext cx="8496942" cy="3780819"/>
        </p:xfrm>
        <a:graphic>
          <a:graphicData uri="http://schemas.openxmlformats.org/drawingml/2006/table">
            <a:tbl>
              <a:tblPr/>
              <a:tblGrid>
                <a:gridCol w="1635170">
                  <a:extLst>
                    <a:ext uri="{9D8B030D-6E8A-4147-A177-3AD203B41FA5}">
                      <a16:colId xmlns:a16="http://schemas.microsoft.com/office/drawing/2014/main" val="2526030214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607318482"/>
                    </a:ext>
                  </a:extLst>
                </a:gridCol>
                <a:gridCol w="4104456">
                  <a:extLst>
                    <a:ext uri="{9D8B030D-6E8A-4147-A177-3AD203B41FA5}">
                      <a16:colId xmlns:a16="http://schemas.microsoft.com/office/drawing/2014/main" val="2916367985"/>
                    </a:ext>
                  </a:extLst>
                </a:gridCol>
                <a:gridCol w="1749204">
                  <a:extLst>
                    <a:ext uri="{9D8B030D-6E8A-4147-A177-3AD203B41FA5}">
                      <a16:colId xmlns:a16="http://schemas.microsoft.com/office/drawing/2014/main" val="1338227702"/>
                    </a:ext>
                  </a:extLst>
                </a:gridCol>
              </a:tblGrid>
              <a:tr h="54341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지원항목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 err="1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학교급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지원금액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비고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1822290"/>
                  </a:ext>
                </a:extLst>
              </a:tr>
              <a:tr h="543417"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교육활동</a:t>
                      </a:r>
                      <a:endParaRPr lang="en-US" altLang="ko-KR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지원비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초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331,000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원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연 </a:t>
                      </a:r>
                      <a:r>
                        <a:rPr lang="en-US" altLang="ko-KR" sz="1800" kern="0" spc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1</a:t>
                      </a: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회 지급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9586490"/>
                  </a:ext>
                </a:extLst>
              </a:tr>
              <a:tr h="54341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중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466,000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원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0883483"/>
                  </a:ext>
                </a:extLst>
              </a:tr>
              <a:tr h="54341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고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554,000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원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7343271"/>
                  </a:ext>
                </a:extLst>
              </a:tr>
              <a:tr h="75339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교과서대금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고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해당 학년의 정규 교육과정에 편성된 교과목의 교과서 금액 전체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고교 무상교육 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 err="1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미실시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학교 재학 시 지급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3341945"/>
                  </a:ext>
                </a:extLst>
              </a:tr>
              <a:tr h="75339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입학금 및 수업료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고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연도별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‧</a:t>
                      </a:r>
                      <a:r>
                        <a:rPr lang="ko-KR" altLang="en-US" sz="1800" kern="0" spc="0" dirty="0" err="1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급지별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학교장이 고지한 </a:t>
                      </a:r>
                      <a:endParaRPr lang="en-US" altLang="ko-KR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금액 전부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5319657"/>
                  </a:ext>
                </a:extLst>
              </a:tr>
            </a:tbl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D47EF09D-E3AA-41DF-A2D3-0A6F6E08E6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661" y="2412176"/>
            <a:ext cx="10861414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827640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72534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5.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급여내용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4743356"/>
              </p:ext>
            </p:extLst>
          </p:nvPr>
        </p:nvGraphicFramePr>
        <p:xfrm>
          <a:off x="324548" y="1628799"/>
          <a:ext cx="8424936" cy="41829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91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857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508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b="1" kern="0" spc="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종 류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b="1" kern="0" spc="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내   용</a:t>
                      </a: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80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해산급여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출산 시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1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인당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70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만원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쌍둥이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140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만원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)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8051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ts val="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 err="1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장제급여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1" hangingPunct="1">
                        <a:lnSpc>
                          <a:spcPts val="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생계급여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주거급여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의료급여 중 하나 이상의 급여를 받는 경우</a:t>
                      </a:r>
                      <a:endParaRPr lang="en-US" altLang="ko-KR" sz="1800" kern="1200" dirty="0">
                        <a:solidFill>
                          <a:schemeClr val="dk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342900" marR="0" lvl="0" indent="-342900" algn="just" defTabSz="914400" rtl="0" eaLnBrk="1" fontAlgn="base" latinLnBrk="1" hangingPunct="1">
                        <a:lnSpc>
                          <a:spcPts val="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수급자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사망 시 가구당 </a:t>
                      </a:r>
                      <a:r>
                        <a:rPr lang="en-US" altLang="ko-KR" sz="1800" kern="120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80</a:t>
                      </a:r>
                      <a:r>
                        <a:rPr lang="ko-KR" altLang="en-US" sz="1800" kern="120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만원</a:t>
                      </a:r>
                      <a:endParaRPr lang="en-US" altLang="ko-KR" sz="1800" kern="1200" dirty="0">
                        <a:solidFill>
                          <a:schemeClr val="dk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342900" marR="0" lvl="0" indent="-342900" algn="just" defTabSz="914400" rtl="0" eaLnBrk="1" fontAlgn="base" latinLnBrk="1" hangingPunct="1">
                        <a:lnSpc>
                          <a:spcPts val="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시장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·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군수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·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구청장에게 </a:t>
                      </a:r>
                      <a:r>
                        <a:rPr lang="ko-KR" altLang="en-US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장제급여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지급신청서 제출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3158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ts val="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자활급여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1" hangingPunct="1">
                        <a:lnSpc>
                          <a:spcPts val="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근로능력이 있는 국민기초생활보장 수급자의 자활을 돕기 위해 실시하는 급여</a:t>
                      </a:r>
                      <a:endParaRPr lang="en-US" altLang="ko-KR" sz="1800" kern="1200" dirty="0">
                        <a:solidFill>
                          <a:schemeClr val="dk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342900" marR="0" lvl="0" indent="-342900" algn="just" defTabSz="914400" rtl="0" eaLnBrk="1" fontAlgn="base" latinLnBrk="1" hangingPunct="1">
                        <a:lnSpc>
                          <a:spcPts val="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자활에 필요한 금품 지급 또는 대여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기능습득 지원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창업교육 및 창업지원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취업알선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근로기회 제공 등의 각종 지원을 제공</a:t>
                      </a:r>
                      <a:endParaRPr lang="en-US" altLang="ko-KR" sz="1800" kern="1200" dirty="0">
                        <a:solidFill>
                          <a:schemeClr val="dk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모서리가 둥근 직사각형 4"/>
          <p:cNvSpPr/>
          <p:nvPr/>
        </p:nvSpPr>
        <p:spPr>
          <a:xfrm>
            <a:off x="323528" y="1046217"/>
            <a:ext cx="2664296" cy="45718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24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 4) </a:t>
            </a:r>
            <a:r>
              <a:rPr lang="ko-KR" altLang="en-US" sz="24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급여의 종류</a:t>
            </a:r>
            <a:endParaRPr lang="en-US" altLang="ko-KR" sz="2400" dirty="0">
              <a:latin typeface="HY울릉도B" pitchFamily="18" charset="-127"/>
              <a:ea typeface="HY울릉도B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3051485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6003991"/>
              </p:ext>
            </p:extLst>
          </p:nvPr>
        </p:nvGraphicFramePr>
        <p:xfrm>
          <a:off x="251520" y="1556792"/>
          <a:ext cx="8640960" cy="52177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80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556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700" b="0" kern="0" spc="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구 분</a:t>
                      </a:r>
                    </a:p>
                  </a:txBody>
                  <a:tcPr marL="64770" marR="64770" marT="17907" marB="17907" anchor="ctr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700" b="0" kern="0" spc="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내  용</a:t>
                      </a:r>
                    </a:p>
                  </a:txBody>
                  <a:tcPr marL="64770" marR="64770" marT="17907" marB="17907" anchor="ctr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700" b="0" kern="0" spc="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비 고</a:t>
                      </a:r>
                    </a:p>
                  </a:txBody>
                  <a:tcPr marL="64770" marR="64770" marT="17907" marB="17907" anchor="ctr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325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700" b="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의무참여 </a:t>
                      </a:r>
                      <a:endParaRPr lang="en-US" altLang="ko-KR" sz="1700" b="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indent="0" algn="ctr" fontAlgn="base" latinLnBrk="0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700" b="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대상자</a:t>
                      </a:r>
                      <a:endParaRPr lang="en-US" altLang="ko-KR" sz="1700" b="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just" defTabSz="914400" rtl="0" eaLnBrk="1" fontAlgn="base" latinLnBrk="1" hangingPunct="1">
                        <a:lnSpc>
                          <a:spcPts val="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u"/>
                        <a:tabLst/>
                        <a:defRPr/>
                      </a:pPr>
                      <a:r>
                        <a:rPr lang="ko-KR" altLang="en-US" sz="1700" b="1" kern="0" spc="0" dirty="0">
                          <a:solidFill>
                            <a:srgbClr val="9933FF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조건부 </a:t>
                      </a:r>
                      <a:r>
                        <a:rPr lang="ko-KR" altLang="en-US" sz="1700" b="1" kern="0" spc="0" dirty="0" err="1">
                          <a:solidFill>
                            <a:srgbClr val="9933FF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수급자</a:t>
                      </a:r>
                      <a:endParaRPr lang="en-US" altLang="ko-KR" sz="1700" b="1" kern="0" spc="0" dirty="0">
                        <a:solidFill>
                          <a:srgbClr val="9933FF"/>
                        </a:solidFill>
                        <a:effectLst/>
                        <a:latin typeface="HY울릉도M" panose="02030600000101010101" pitchFamily="18" charset="-127"/>
                        <a:ea typeface="태 나무" panose="02030603000101010101" pitchFamily="18" charset="-127"/>
                      </a:endParaRPr>
                    </a:p>
                    <a:p>
                      <a:pPr marL="285750" marR="0" lvl="0" indent="-285750" algn="just" defTabSz="914400" rtl="0" eaLnBrk="1" fontAlgn="base" latinLnBrk="1" hangingPunct="1">
                        <a:lnSpc>
                          <a:spcPts val="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700" b="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자활사업에 참여하는 조건으로 생계급여를 지급받는 자</a:t>
                      </a:r>
                      <a:r>
                        <a:rPr lang="en-US" altLang="ko-KR" sz="1700" b="0" kern="0" spc="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(18</a:t>
                      </a:r>
                      <a:r>
                        <a:rPr lang="ko-KR" altLang="en-US" sz="1700" b="0" kern="0" spc="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세 이상 </a:t>
                      </a:r>
                      <a:r>
                        <a:rPr lang="en-US" altLang="ko-KR" sz="1700" b="0" kern="0" spc="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64</a:t>
                      </a:r>
                      <a:r>
                        <a:rPr lang="ko-KR" altLang="en-US" sz="1700" b="0" kern="0" spc="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세 이하의 근로능력이 있는 사람</a:t>
                      </a:r>
                      <a:r>
                        <a:rPr lang="en-US" altLang="ko-KR" sz="1700" b="0" kern="0" spc="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)</a:t>
                      </a:r>
                      <a:endParaRPr lang="en-US" altLang="ko-KR" sz="1700" b="1" kern="0" spc="0" dirty="0">
                        <a:solidFill>
                          <a:srgbClr val="FF0000"/>
                        </a:solidFill>
                        <a:effectLst/>
                        <a:latin typeface="HY울릉도M" panose="02030600000101010101" pitchFamily="18" charset="-127"/>
                        <a:ea typeface="태 나무" panose="02030603000101010101" pitchFamily="18" charset="-127"/>
                      </a:endParaRPr>
                    </a:p>
                    <a:p>
                      <a:pPr marL="285750" marR="0" indent="-285750" algn="just" fontAlgn="base" latinLnBrk="1">
                        <a:lnSpc>
                          <a:spcPts val="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700" b="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자활근로사업에 조건부 수급자를 우선적으로 선정</a:t>
                      </a:r>
                    </a:p>
                  </a:txBody>
                  <a:tcPr marL="64770" marR="6477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700" b="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기초생활</a:t>
                      </a:r>
                    </a:p>
                    <a:p>
                      <a:pPr marL="0" marR="0" indent="0" algn="ctr" fontAlgn="base" latinLnBrk="0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700" b="0" kern="0" spc="0" dirty="0" err="1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수급자</a:t>
                      </a:r>
                      <a:endParaRPr lang="ko-KR" altLang="en-US" sz="1700" b="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9055">
                <a:tc rowSpan="6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7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임의참여 </a:t>
                      </a:r>
                      <a:endParaRPr lang="en-US" altLang="ko-KR" sz="17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indent="0" algn="ctr" fontAlgn="base" latinLnBrk="0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7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대상자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342900" marR="0" indent="-342900" algn="just" fontAlgn="base" latinLnBrk="1">
                        <a:lnSpc>
                          <a:spcPts val="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u"/>
                      </a:pPr>
                      <a:r>
                        <a:rPr lang="ko-KR" altLang="en-US" sz="1700" b="1" kern="0" spc="0" dirty="0">
                          <a:solidFill>
                            <a:srgbClr val="9933FF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자활급여 특례자</a:t>
                      </a:r>
                      <a:endParaRPr lang="en-US" altLang="ko-KR" sz="1700" b="1" kern="0" spc="0" dirty="0">
                        <a:solidFill>
                          <a:srgbClr val="9933FF"/>
                        </a:solidFill>
                        <a:effectLst/>
                        <a:latin typeface="HY울릉도M" panose="02030600000101010101" pitchFamily="18" charset="-127"/>
                        <a:ea typeface="태 나무" panose="02030603000101010101" pitchFamily="18" charset="-127"/>
                      </a:endParaRPr>
                    </a:p>
                    <a:p>
                      <a:pPr marL="285750" marR="0" indent="-285750" algn="just" fontAlgn="base" latinLnBrk="1">
                        <a:lnSpc>
                          <a:spcPts val="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700" kern="0" spc="0" dirty="0" err="1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수급자</a:t>
                      </a:r>
                      <a:r>
                        <a:rPr lang="en-US" altLang="ko-KR" sz="17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(</a:t>
                      </a:r>
                      <a:r>
                        <a:rPr lang="ko-KR" altLang="en-US" sz="17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조건부 및 일반수급자</a:t>
                      </a:r>
                      <a:r>
                        <a:rPr lang="en-US" altLang="ko-KR" sz="17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)</a:t>
                      </a:r>
                      <a:r>
                        <a:rPr lang="ko-KR" altLang="en-US" sz="17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가 자활사업 및 취업성공패키지에 참가하여 발생소득이 </a:t>
                      </a:r>
                      <a:r>
                        <a:rPr lang="ko-KR" altLang="en-US" sz="1700" b="1" kern="0" spc="0" dirty="0">
                          <a:solidFill>
                            <a:srgbClr val="00B05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기준 중위소득의 </a:t>
                      </a:r>
                      <a:r>
                        <a:rPr lang="en-US" altLang="ko-KR" sz="1700" b="1" kern="0" spc="0" dirty="0">
                          <a:solidFill>
                            <a:srgbClr val="00B05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40%</a:t>
                      </a:r>
                      <a:r>
                        <a:rPr lang="ko-KR" altLang="en-US" sz="1700" b="1" kern="0" spc="0" dirty="0">
                          <a:solidFill>
                            <a:srgbClr val="00B05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를  초과한 사람</a:t>
                      </a:r>
                      <a:endParaRPr lang="en-US" altLang="ko-KR" sz="1700" b="1" kern="0" spc="0" dirty="0">
                        <a:solidFill>
                          <a:srgbClr val="00B050"/>
                        </a:solidFill>
                        <a:effectLst/>
                        <a:latin typeface="HY울릉도M" panose="02030600000101010101" pitchFamily="18" charset="-127"/>
                        <a:ea typeface="태 나무" panose="02030603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7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기초생활</a:t>
                      </a:r>
                    </a:p>
                    <a:p>
                      <a:pPr marL="0" marR="0" indent="0" algn="ctr" fontAlgn="base" latinLnBrk="0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700" kern="0" spc="0" dirty="0" err="1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수급자</a:t>
                      </a:r>
                      <a:endParaRPr lang="ko-KR" altLang="en-US" sz="17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57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fontAlgn="base" latinLnBrk="1">
                        <a:lnSpc>
                          <a:spcPts val="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u"/>
                      </a:pPr>
                      <a:r>
                        <a:rPr lang="ko-KR" altLang="en-US" sz="1700" b="1" kern="0" spc="0" dirty="0">
                          <a:solidFill>
                            <a:srgbClr val="9933FF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생계급여 </a:t>
                      </a:r>
                      <a:r>
                        <a:rPr lang="ko-KR" altLang="en-US" sz="1700" b="1" kern="0" spc="0" dirty="0" err="1">
                          <a:solidFill>
                            <a:srgbClr val="9933FF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수급자</a:t>
                      </a:r>
                      <a:r>
                        <a:rPr lang="ko-KR" altLang="en-US" sz="1700" b="1" kern="0" spc="0" dirty="0">
                          <a:solidFill>
                            <a:srgbClr val="9933FF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 중 근로능력이 없는 자</a:t>
                      </a:r>
                    </a:p>
                  </a:txBody>
                  <a:tcPr marL="64770" marR="64770" marT="17907" marB="17907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257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fontAlgn="base" latinLnBrk="1">
                        <a:lnSpc>
                          <a:spcPts val="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u"/>
                      </a:pPr>
                      <a:r>
                        <a:rPr lang="ko-KR" altLang="en-US" sz="1700" b="1" kern="0" spc="0" dirty="0">
                          <a:solidFill>
                            <a:srgbClr val="9933FF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 의료</a:t>
                      </a:r>
                      <a:r>
                        <a:rPr lang="en-US" altLang="ko-KR" sz="1700" b="1" kern="0" spc="0" dirty="0">
                          <a:solidFill>
                            <a:srgbClr val="9933FF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·</a:t>
                      </a:r>
                      <a:r>
                        <a:rPr lang="ko-KR" altLang="en-US" sz="1700" b="1" kern="0" spc="0" dirty="0">
                          <a:solidFill>
                            <a:srgbClr val="9933FF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주거</a:t>
                      </a:r>
                      <a:r>
                        <a:rPr lang="en-US" altLang="ko-KR" sz="1700" b="1" kern="0" spc="0" dirty="0">
                          <a:solidFill>
                            <a:srgbClr val="9933FF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·</a:t>
                      </a:r>
                      <a:r>
                        <a:rPr lang="ko-KR" altLang="en-US" sz="1700" b="1" kern="0" spc="0" dirty="0">
                          <a:solidFill>
                            <a:srgbClr val="9933FF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교육급여 </a:t>
                      </a:r>
                      <a:r>
                        <a:rPr lang="ko-KR" altLang="en-US" sz="1700" b="1" kern="0" spc="0" dirty="0" err="1">
                          <a:solidFill>
                            <a:srgbClr val="9933FF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수급자</a:t>
                      </a:r>
                      <a:endParaRPr lang="ko-KR" altLang="en-US" sz="1700" b="1" kern="0" spc="0" dirty="0">
                        <a:solidFill>
                          <a:srgbClr val="9933FF"/>
                        </a:solidFill>
                        <a:effectLst/>
                        <a:latin typeface="HY울릉도M" panose="02030600000101010101" pitchFamily="18" charset="-127"/>
                        <a:ea typeface="태 나무" panose="02030603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699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fontAlgn="base" latinLnBrk="1">
                        <a:lnSpc>
                          <a:spcPts val="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u"/>
                      </a:pPr>
                      <a:r>
                        <a:rPr lang="ko-KR" altLang="en-US" sz="1700" b="1" kern="0" spc="0" dirty="0">
                          <a:solidFill>
                            <a:srgbClr val="9933FF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 특례수급가구의 </a:t>
                      </a:r>
                      <a:r>
                        <a:rPr lang="ko-KR" altLang="en-US" sz="1700" b="1" kern="0" spc="0" dirty="0" err="1">
                          <a:solidFill>
                            <a:srgbClr val="9933FF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가구원</a:t>
                      </a:r>
                      <a:r>
                        <a:rPr lang="en-US" altLang="ko-KR" sz="1700" b="1" kern="0" spc="0" dirty="0">
                          <a:solidFill>
                            <a:srgbClr val="9933FF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(</a:t>
                      </a:r>
                      <a:r>
                        <a:rPr lang="ko-KR" altLang="en-US" sz="1700" b="1" kern="0" spc="0" dirty="0">
                          <a:solidFill>
                            <a:srgbClr val="9933FF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의료급여 특례 등</a:t>
                      </a:r>
                      <a:r>
                        <a:rPr lang="en-US" altLang="ko-KR" sz="1700" b="1" kern="0" spc="0" dirty="0">
                          <a:solidFill>
                            <a:srgbClr val="9933FF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) </a:t>
                      </a:r>
                      <a:endParaRPr lang="ko-KR" altLang="en-US" sz="1700" b="1" kern="0" spc="0" dirty="0">
                        <a:solidFill>
                          <a:srgbClr val="9933FF"/>
                        </a:solidFill>
                        <a:effectLst/>
                        <a:latin typeface="HY울릉도M" panose="02030600000101010101" pitchFamily="18" charset="-127"/>
                        <a:ea typeface="태 나무" panose="02030603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7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기초생활</a:t>
                      </a:r>
                    </a:p>
                    <a:p>
                      <a:pPr marL="0" marR="0" indent="0" algn="ctr" fontAlgn="base" latinLnBrk="0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700" kern="0" spc="0" dirty="0" err="1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비수급자</a:t>
                      </a:r>
                      <a:endParaRPr lang="ko-KR" altLang="en-US" sz="17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849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fontAlgn="base" latinLnBrk="1">
                        <a:lnSpc>
                          <a:spcPts val="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u"/>
                      </a:pPr>
                      <a:r>
                        <a:rPr lang="ko-KR" altLang="en-US" sz="1700" b="1" kern="0" spc="0" dirty="0">
                          <a:solidFill>
                            <a:srgbClr val="9933FF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 근로능력이 있는 </a:t>
                      </a:r>
                      <a:r>
                        <a:rPr lang="ko-KR" altLang="en-US" sz="1700" b="1" kern="0" spc="0" dirty="0" err="1">
                          <a:solidFill>
                            <a:srgbClr val="9933FF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차상위자</a:t>
                      </a:r>
                      <a:r>
                        <a:rPr lang="en-US" altLang="ko-KR" sz="1700" b="1" kern="0" spc="0" dirty="0">
                          <a:solidFill>
                            <a:srgbClr val="9933FF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(</a:t>
                      </a:r>
                      <a:r>
                        <a:rPr lang="ko-KR" altLang="en-US" sz="1700" b="1" kern="0" spc="0" dirty="0">
                          <a:solidFill>
                            <a:srgbClr val="9933FF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기준 중위소득의 </a:t>
                      </a:r>
                      <a:r>
                        <a:rPr lang="en-US" altLang="ko-KR" sz="1700" b="1" kern="0" spc="0" dirty="0">
                          <a:solidFill>
                            <a:srgbClr val="9933FF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50% </a:t>
                      </a:r>
                      <a:r>
                        <a:rPr lang="ko-KR" altLang="en-US" sz="1700" b="1" kern="0" spc="0" dirty="0">
                          <a:solidFill>
                            <a:srgbClr val="9933FF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이하인 자</a:t>
                      </a:r>
                      <a:r>
                        <a:rPr lang="en-US" altLang="ko-KR" sz="1700" b="1" kern="0" spc="0" dirty="0">
                          <a:solidFill>
                            <a:srgbClr val="9933FF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)</a:t>
                      </a:r>
                      <a:endParaRPr lang="ko-KR" altLang="en-US" sz="1700" b="1" kern="0" spc="0" dirty="0">
                        <a:solidFill>
                          <a:srgbClr val="9933FF"/>
                        </a:solidFill>
                        <a:effectLst/>
                        <a:latin typeface="HY울릉도M" panose="02030600000101010101" pitchFamily="18" charset="-127"/>
                        <a:ea typeface="태 나무" panose="02030603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728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fontAlgn="base" latinLnBrk="1" hangingPunct="1">
                        <a:lnSpc>
                          <a:spcPts val="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u"/>
                        <a:tabLst/>
                        <a:defRPr/>
                      </a:pPr>
                      <a:r>
                        <a:rPr lang="ko-KR" altLang="en-US" sz="1700" b="1" kern="0" spc="0" dirty="0">
                          <a:solidFill>
                            <a:srgbClr val="9933FF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 근로능력이 있는 </a:t>
                      </a:r>
                      <a:r>
                        <a:rPr lang="ko-KR" altLang="en-US" sz="1700" b="1" kern="0" spc="0" dirty="0" err="1">
                          <a:solidFill>
                            <a:srgbClr val="9933FF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시설수급자</a:t>
                      </a:r>
                      <a:endParaRPr lang="ko-KR" altLang="en-US" sz="1700" b="1" kern="0" spc="0" dirty="0">
                        <a:solidFill>
                          <a:srgbClr val="9933FF"/>
                        </a:solidFill>
                        <a:effectLst/>
                        <a:latin typeface="HY울릉도M" panose="02030600000101010101" pitchFamily="18" charset="-127"/>
                        <a:ea typeface="태 나무" panose="02030603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7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기초생활 </a:t>
                      </a:r>
                      <a:r>
                        <a:rPr lang="ko-KR" altLang="en-US" sz="1700" kern="0" spc="0" dirty="0" err="1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수급자</a:t>
                      </a:r>
                      <a:endParaRPr lang="ko-KR" altLang="en-US" sz="17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272534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5.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급여내용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2411760" y="1052736"/>
            <a:ext cx="339846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altLang="ko-KR" dirty="0">
                <a:latin typeface="HY울릉도M" panose="02030600000101010101" pitchFamily="18" charset="-127"/>
                <a:ea typeface="HY울릉도M" panose="02030600000101010101" pitchFamily="18" charset="-127"/>
              </a:rPr>
              <a:t>&lt;</a:t>
            </a:r>
            <a:r>
              <a:rPr lang="ko-KR" altLang="en-US" dirty="0">
                <a:latin typeface="HY울릉도M" panose="02030600000101010101" pitchFamily="18" charset="-127"/>
                <a:ea typeface="HY울릉도M" panose="02030600000101010101" pitchFamily="18" charset="-127"/>
              </a:rPr>
              <a:t>표</a:t>
            </a:r>
            <a:r>
              <a:rPr lang="en-US" altLang="ko-KR" dirty="0">
                <a:latin typeface="HY울릉도M" panose="02030600000101010101" pitchFamily="18" charset="-127"/>
                <a:ea typeface="HY울릉도M" panose="02030600000101010101" pitchFamily="18" charset="-127"/>
              </a:rPr>
              <a:t>&gt; </a:t>
            </a:r>
            <a:r>
              <a:rPr lang="ko-KR" altLang="en-US" dirty="0">
                <a:latin typeface="HY울릉도M" panose="02030600000101010101" pitchFamily="18" charset="-127"/>
                <a:ea typeface="HY울릉도M" panose="02030600000101010101" pitchFamily="18" charset="-127"/>
              </a:rPr>
              <a:t>자활급여 적용대상</a:t>
            </a:r>
          </a:p>
        </p:txBody>
      </p:sp>
    </p:spTree>
    <p:extLst>
      <p:ext uri="{BB962C8B-B14F-4D97-AF65-F5344CB8AC3E}">
        <p14:creationId xmlns:p14="http://schemas.microsoft.com/office/powerpoint/2010/main" val="13085455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3298201"/>
              </p:ext>
            </p:extLst>
          </p:nvPr>
        </p:nvGraphicFramePr>
        <p:xfrm>
          <a:off x="251520" y="1844824"/>
          <a:ext cx="8640960" cy="3312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60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25327">
                <a:tc rowSpan="2">
                  <a:txBody>
                    <a:bodyPr/>
                    <a:lstStyle/>
                    <a:p>
                      <a:pPr marL="0" marR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0" kern="0" spc="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자활급여</a:t>
                      </a:r>
                      <a:endParaRPr lang="en-US" altLang="ko-KR" sz="1800" b="0" kern="0" spc="0" dirty="0">
                        <a:solidFill>
                          <a:schemeClr val="bg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0" kern="0" spc="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역량평가</a:t>
                      </a:r>
                      <a:endParaRPr lang="en-US" altLang="ko-KR" sz="1800" b="0" kern="0" spc="0" dirty="0">
                        <a:solidFill>
                          <a:schemeClr val="bg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800" b="0" kern="1200" dirty="0" err="1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시장·군수·구청장은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b="0" kern="1200" dirty="0" err="1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수급자의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b="0" kern="1200" dirty="0" err="1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자활을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b="0" kern="1200" dirty="0" err="1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체계적으로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b="0" kern="1200" dirty="0" err="1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지원하기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b="0" kern="1200" dirty="0" err="1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위해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b="0" kern="1200" dirty="0" err="1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수급자의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b="1" kern="1200" dirty="0" err="1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자활역량평가</a:t>
                      </a:r>
                      <a:r>
                        <a:rPr lang="en-US" altLang="ko-KR" sz="1800" b="0" kern="1200" dirty="0" err="1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를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b="0" kern="1200" dirty="0" err="1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실시하여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b="0" kern="1200" dirty="0" err="1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등급을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b="0" kern="1200" dirty="0" err="1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산정하고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b="0" kern="1200" dirty="0" err="1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수급자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b="0" kern="1200" dirty="0" err="1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가구별로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b="1" kern="1200" dirty="0" err="1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자활지원계획</a:t>
                      </a:r>
                      <a:r>
                        <a:rPr lang="en-US" altLang="ko-KR" sz="1800" b="0" kern="1200" dirty="0" err="1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을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b="0" kern="1200" dirty="0" err="1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수립하여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b="0" kern="1200" dirty="0" err="1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참여할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b="0" kern="1200" dirty="0" err="1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사업을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b="0" kern="1200" dirty="0" err="1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정함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 </a:t>
                      </a:r>
                      <a:endParaRPr lang="en-US" altLang="ko-KR" sz="1800" b="0" kern="0" spc="0" dirty="0">
                        <a:solidFill>
                          <a:schemeClr val="tx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87041">
                <a:tc vMerge="1">
                  <a:txBody>
                    <a:bodyPr/>
                    <a:lstStyle/>
                    <a:p>
                      <a:pPr marL="285750" marR="0" indent="-28575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endParaRPr lang="en-US" altLang="ko-KR" sz="1600" b="0" kern="0" spc="0" dirty="0">
                        <a:solidFill>
                          <a:srgbClr val="FFFF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fontAlgn="base" latinLnBrk="0" hangingPunct="1">
                        <a:lnSpc>
                          <a:spcPts val="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평가점수가 높은 자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(80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점 이상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취업대상자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)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의 경우 고용노동부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고용센터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)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에서 제공하는 자활급여를 받음</a:t>
                      </a:r>
                      <a:endParaRPr lang="en-US" altLang="ko-KR" sz="1800" b="0" kern="1200" dirty="0">
                        <a:solidFill>
                          <a:schemeClr val="tx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285750" marR="0" indent="-285750" algn="l" defTabSz="914400" rtl="0" eaLnBrk="1" fontAlgn="base" latinLnBrk="0" hangingPunct="1">
                        <a:lnSpc>
                          <a:spcPts val="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평가점수가 낮은 자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(80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점 미만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비취업대상자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)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는 보건복지부에서 제공하는 자활 급여를 받음</a:t>
                      </a:r>
                      <a:endParaRPr lang="en-US" altLang="ko-KR" sz="1800" b="0" kern="0" spc="0" dirty="0">
                        <a:solidFill>
                          <a:schemeClr val="tx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272534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5.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급여내용</a:t>
            </a:r>
          </a:p>
        </p:txBody>
      </p:sp>
      <p:sp>
        <p:nvSpPr>
          <p:cNvPr id="7" name="모서리가 둥근 직사각형 6"/>
          <p:cNvSpPr/>
          <p:nvPr/>
        </p:nvSpPr>
        <p:spPr>
          <a:xfrm>
            <a:off x="323528" y="1046217"/>
            <a:ext cx="2664296" cy="45718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24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 4) </a:t>
            </a:r>
            <a:r>
              <a:rPr lang="ko-KR" altLang="en-US" sz="24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급여의 종류</a:t>
            </a:r>
            <a:endParaRPr lang="en-US" altLang="ko-KR" sz="2400" dirty="0">
              <a:latin typeface="HY울릉도B" pitchFamily="18" charset="-127"/>
              <a:ea typeface="HY울릉도B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09877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272534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5.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급여내용</a:t>
            </a: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2699792" y="1073540"/>
            <a:ext cx="396044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ko-KR" altLang="en-US" sz="2000" b="1" dirty="0">
                <a:latin typeface="HY울릉도M" panose="02030600000101010101" pitchFamily="18" charset="-127"/>
                <a:ea typeface="HY울릉도M" panose="02030600000101010101" pitchFamily="18" charset="-127"/>
              </a:rPr>
              <a:t>자활역량평가 점수 별 참여사업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04E1A324-5186-44A6-B2A7-E9CC6765969B}"/>
              </a:ext>
            </a:extLst>
          </p:cNvPr>
          <p:cNvGraphicFramePr>
            <a:graphicFrameLocks noGrp="1"/>
          </p:cNvGraphicFramePr>
          <p:nvPr/>
        </p:nvGraphicFramePr>
        <p:xfrm>
          <a:off x="226023" y="1728969"/>
          <a:ext cx="8733981" cy="4695691"/>
        </p:xfrm>
        <a:graphic>
          <a:graphicData uri="http://schemas.openxmlformats.org/drawingml/2006/table">
            <a:tbl>
              <a:tblPr/>
              <a:tblGrid>
                <a:gridCol w="607089">
                  <a:extLst>
                    <a:ext uri="{9D8B030D-6E8A-4147-A177-3AD203B41FA5}">
                      <a16:colId xmlns:a16="http://schemas.microsoft.com/office/drawing/2014/main" val="3614951299"/>
                    </a:ext>
                  </a:extLst>
                </a:gridCol>
                <a:gridCol w="512507">
                  <a:extLst>
                    <a:ext uri="{9D8B030D-6E8A-4147-A177-3AD203B41FA5}">
                      <a16:colId xmlns:a16="http://schemas.microsoft.com/office/drawing/2014/main" val="1863378479"/>
                    </a:ext>
                  </a:extLst>
                </a:gridCol>
                <a:gridCol w="1616708">
                  <a:extLst>
                    <a:ext uri="{9D8B030D-6E8A-4147-A177-3AD203B41FA5}">
                      <a16:colId xmlns:a16="http://schemas.microsoft.com/office/drawing/2014/main" val="4005704590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3923426078"/>
                    </a:ext>
                  </a:extLst>
                </a:gridCol>
                <a:gridCol w="3096344">
                  <a:extLst>
                    <a:ext uri="{9D8B030D-6E8A-4147-A177-3AD203B41FA5}">
                      <a16:colId xmlns:a16="http://schemas.microsoft.com/office/drawing/2014/main" val="3332926233"/>
                    </a:ext>
                  </a:extLst>
                </a:gridCol>
                <a:gridCol w="1461173">
                  <a:extLst>
                    <a:ext uri="{9D8B030D-6E8A-4147-A177-3AD203B41FA5}">
                      <a16:colId xmlns:a16="http://schemas.microsoft.com/office/drawing/2014/main" val="1310780782"/>
                    </a:ext>
                  </a:extLst>
                </a:gridCol>
              </a:tblGrid>
              <a:tr h="393998"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자활사업 종류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8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심사기관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ko-KR" altLang="en-US" sz="1600" kern="0" spc="0">
                          <a:solidFill>
                            <a:srgbClr val="000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기 준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ko-KR" altLang="en-US" sz="1600" kern="0" spc="0">
                          <a:solidFill>
                            <a:srgbClr val="000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판정대상자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159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7114559"/>
                  </a:ext>
                </a:extLst>
              </a:tr>
              <a:tr h="1118300"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고용노동부 자활사업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고용센터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13030" marR="0" indent="-11303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∙ 근로능력과 욕구가 높아 노동시장에서의 취업이 가능한 자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집중취업지원 대상자</a:t>
                      </a: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(80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점 이상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)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9773789"/>
                  </a:ext>
                </a:extLst>
              </a:tr>
              <a:tr h="457628">
                <a:tc row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ko-KR" altLang="en-US" sz="1600" kern="0" spc="-150" dirty="0">
                          <a:solidFill>
                            <a:srgbClr val="000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보건복지부</a:t>
                      </a:r>
                    </a:p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ko-KR" altLang="en-US" sz="1600" kern="0" spc="-150" dirty="0">
                          <a:solidFill>
                            <a:srgbClr val="000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자활사업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자활</a:t>
                      </a:r>
                      <a:endParaRPr lang="en-US" altLang="ko-KR" sz="1600" kern="0" spc="0" dirty="0"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근로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ko-KR" altLang="en-US" sz="1600" kern="0" spc="0">
                          <a:solidFill>
                            <a:srgbClr val="000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시장진입형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>
                          <a:solidFill>
                            <a:srgbClr val="000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지역자활센터</a:t>
                      </a:r>
                      <a:r>
                        <a:rPr lang="en-US" altLang="ko-KR" sz="1600" kern="0" spc="0">
                          <a:solidFill>
                            <a:srgbClr val="000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,</a:t>
                      </a:r>
                      <a:endParaRPr lang="ko-KR" altLang="en-US" sz="1600" kern="0" spc="0"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>
                          <a:solidFill>
                            <a:srgbClr val="000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민간위탁기관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86360" marR="0" indent="-8636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∙ 자활근로프로그램 참여욕구가 </a:t>
                      </a:r>
                      <a:endParaRPr lang="en-US" altLang="ko-KR" sz="1600" kern="0" spc="0" dirty="0"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  <a:p>
                      <a:pPr marL="86360" marR="0" indent="-8636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  </a:t>
                      </a:r>
                      <a:r>
                        <a:rPr lang="ko-KR" altLang="en-US" sz="1600" kern="0" spc="0" dirty="0" err="1">
                          <a:solidFill>
                            <a:srgbClr val="000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높은자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  <a:p>
                      <a:pPr marL="95250" marR="0" indent="-9525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∙ </a:t>
                      </a:r>
                      <a:r>
                        <a:rPr lang="ko-KR" altLang="en-US" sz="1600" kern="0" spc="0" dirty="0" err="1">
                          <a:solidFill>
                            <a:srgbClr val="000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일용ㆍ임시직으로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 직업경험이 </a:t>
                      </a:r>
                      <a:endParaRPr lang="en-US" altLang="ko-KR" sz="1600" kern="0" spc="0" dirty="0"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  <a:p>
                      <a:pPr marL="95250" marR="0" indent="-9525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  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있는 자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근로능력 강화 대상자</a:t>
                      </a: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(80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점 미만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)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1287676"/>
                  </a:ext>
                </a:extLst>
              </a:tr>
              <a:tr h="6949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ko-KR" altLang="en-US" sz="1600" kern="0" spc="0" dirty="0" err="1">
                          <a:solidFill>
                            <a:srgbClr val="000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인턴ㆍ도우미형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8062256"/>
                  </a:ext>
                </a:extLst>
              </a:tr>
              <a:tr h="4576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사회서비스형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624496"/>
                  </a:ext>
                </a:extLst>
              </a:tr>
              <a:tr h="154825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근로유지형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 dirty="0" err="1">
                          <a:solidFill>
                            <a:srgbClr val="000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시ㆍ군ㆍ구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지역자활센터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13030" marR="0" indent="-11303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∙ 노동강도가 낮은 사업에 참여 가능한 자</a:t>
                      </a:r>
                    </a:p>
                    <a:p>
                      <a:pPr marL="101600" marR="0" indent="-10160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∙ 간병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, 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양육 등 가구 여건상 관내 사업만 참여 가능한 자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근로의욕 증진 대상자</a:t>
                      </a: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(45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점 미만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)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7958369"/>
                  </a:ext>
                </a:extLst>
              </a:tr>
            </a:tbl>
          </a:graphicData>
        </a:graphic>
      </p:graphicFrame>
      <p:sp>
        <p:nvSpPr>
          <p:cNvPr id="7" name="Rectangle 1">
            <a:extLst>
              <a:ext uri="{FF2B5EF4-FFF2-40B4-BE49-F238E27FC236}">
                <a16:creationId xmlns:a16="http://schemas.microsoft.com/office/drawing/2014/main" id="{24BF328A-EC46-4556-BD49-5F996BF40D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-779688" y="2417763"/>
            <a:ext cx="1464337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962920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1988533"/>
              </p:ext>
            </p:extLst>
          </p:nvPr>
        </p:nvGraphicFramePr>
        <p:xfrm>
          <a:off x="298058" y="1772816"/>
          <a:ext cx="8608060" cy="45188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96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984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129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구 분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주 요 업 무</a:t>
                      </a: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718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b="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한국자활복지개발원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85750" indent="-285750" fontAlgn="base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8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자활지원을 위한 사업의 개발 및 평가</a:t>
                      </a:r>
                    </a:p>
                    <a:p>
                      <a:pPr marL="285750" indent="-285750" fontAlgn="base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8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자활지원을 위한 </a:t>
                      </a:r>
                      <a:r>
                        <a:rPr lang="ko-KR" altLang="en-US" sz="1800" b="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조사ㆍ연구</a:t>
                      </a:r>
                      <a:r>
                        <a:rPr lang="ko-KR" altLang="en-US" sz="18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및 홍보</a:t>
                      </a:r>
                    </a:p>
                    <a:p>
                      <a:pPr marL="285750" indent="-285750" fontAlgn="base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8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광역자활센터</a:t>
                      </a:r>
                      <a:r>
                        <a:rPr lang="en-US" altLang="ko-KR" sz="18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지역자활센터 및 자활기업의 </a:t>
                      </a:r>
                      <a:r>
                        <a:rPr lang="ko-KR" altLang="en-US" sz="1800" b="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기술ㆍ경영지도</a:t>
                      </a:r>
                      <a:r>
                        <a:rPr lang="ko-KR" altLang="en-US" sz="18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및 평가</a:t>
                      </a:r>
                    </a:p>
                    <a:p>
                      <a:pPr marL="285750" indent="-285750" fontAlgn="base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8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자활 관련 기관 간의 협력체계 및 정보 네트워크 </a:t>
                      </a:r>
                      <a:r>
                        <a:rPr lang="ko-KR" altLang="en-US" sz="1800" b="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구축ㆍ운영</a:t>
                      </a:r>
                      <a:r>
                        <a:rPr lang="ko-KR" altLang="en-US" sz="18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</a:p>
                    <a:p>
                      <a:pPr marL="285750" indent="-285750" fontAlgn="base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800" b="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취업ㆍ창업을</a:t>
                      </a:r>
                      <a:r>
                        <a:rPr lang="ko-KR" altLang="en-US" sz="18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위한 자활촉진 프로그램 개발 및 지원</a:t>
                      </a:r>
                    </a:p>
                    <a:p>
                      <a:pPr marL="285750" indent="-285750" fontAlgn="base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8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고용지원서비스의 연계 및 사회복지서비스의 지원 대상자 관리</a:t>
                      </a:r>
                    </a:p>
                    <a:p>
                      <a:pPr marL="285750" indent="-285750" fontAlgn="base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8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국가 또는 지방자치단체로부터 </a:t>
                      </a:r>
                      <a:r>
                        <a:rPr lang="ko-KR" altLang="en-US" sz="1800" b="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위탁받은</a:t>
                      </a:r>
                      <a:r>
                        <a:rPr lang="ko-KR" altLang="en-US" sz="18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자활 관련 사업</a:t>
                      </a:r>
                    </a:p>
                    <a:p>
                      <a:pPr marL="285750" indent="-285750" fontAlgn="base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8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그 밖에 자활촉진에 필요한 사업으로서 보건복지부장관이 정하는 사업</a:t>
                      </a:r>
                      <a:endParaRPr lang="ko-KR" altLang="en-US" sz="1800" b="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제목 1"/>
          <p:cNvSpPr>
            <a:spLocks noGrp="1"/>
          </p:cNvSpPr>
          <p:nvPr>
            <p:ph type="title"/>
          </p:nvPr>
        </p:nvSpPr>
        <p:spPr>
          <a:xfrm>
            <a:off x="272534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5.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급여내용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2729880" y="1150154"/>
            <a:ext cx="374441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altLang="ko-KR" dirty="0">
                <a:latin typeface="HY울릉도M" panose="02030600000101010101" pitchFamily="18" charset="-127"/>
                <a:ea typeface="HY울릉도M" panose="02030600000101010101" pitchFamily="18" charset="-127"/>
              </a:rPr>
              <a:t>&lt;</a:t>
            </a:r>
            <a:r>
              <a:rPr lang="ko-KR" altLang="en-US" dirty="0">
                <a:latin typeface="HY울릉도M" panose="02030600000101010101" pitchFamily="18" charset="-127"/>
                <a:ea typeface="HY울릉도M" panose="02030600000101010101" pitchFamily="18" charset="-127"/>
              </a:rPr>
              <a:t>표</a:t>
            </a:r>
            <a:r>
              <a:rPr lang="en-US" altLang="ko-KR" dirty="0">
                <a:latin typeface="HY울릉도M" panose="02030600000101010101" pitchFamily="18" charset="-127"/>
                <a:ea typeface="HY울릉도M" panose="02030600000101010101" pitchFamily="18" charset="-127"/>
              </a:rPr>
              <a:t>&gt; </a:t>
            </a:r>
            <a:r>
              <a:rPr lang="ko-KR" altLang="en-US" dirty="0">
                <a:latin typeface="HY울릉도M" panose="02030600000101010101" pitchFamily="18" charset="-127"/>
                <a:ea typeface="HY울릉도M" panose="02030600000101010101" pitchFamily="18" charset="-127"/>
              </a:rPr>
              <a:t>자활센터의 주요업무</a:t>
            </a:r>
          </a:p>
        </p:txBody>
      </p:sp>
    </p:spTree>
    <p:extLst>
      <p:ext uri="{BB962C8B-B14F-4D97-AF65-F5344CB8AC3E}">
        <p14:creationId xmlns:p14="http://schemas.microsoft.com/office/powerpoint/2010/main" val="419997451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1108428"/>
              </p:ext>
            </p:extLst>
          </p:nvPr>
        </p:nvGraphicFramePr>
        <p:xfrm>
          <a:off x="281608" y="1610626"/>
          <a:ext cx="8640960" cy="51947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0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308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3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구 분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주 요 업 무</a:t>
                      </a: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8947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광역</a:t>
                      </a:r>
                      <a:endParaRPr lang="en-US" altLang="ko-KR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자활센터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99060" marR="0" indent="-9906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∙ </a:t>
                      </a:r>
                      <a:r>
                        <a:rPr lang="ko-KR" altLang="en-US" sz="1800" kern="0" spc="-50" dirty="0" err="1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시ㆍ도</a:t>
                      </a: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단위의 자활기업 창업지원</a:t>
                      </a:r>
                    </a:p>
                    <a:p>
                      <a:pPr marL="99060" marR="0" indent="-9906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∙ </a:t>
                      </a:r>
                      <a:r>
                        <a:rPr lang="ko-KR" altLang="en-US" sz="1800" kern="0" spc="-50" dirty="0" err="1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시ㆍ도</a:t>
                      </a: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단위의 </a:t>
                      </a:r>
                      <a:r>
                        <a:rPr lang="ko-KR" altLang="en-US" sz="1800" kern="0" spc="-50" dirty="0" err="1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수급자</a:t>
                      </a: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및 차상위자에 대한 </a:t>
                      </a:r>
                      <a:r>
                        <a:rPr lang="ko-KR" altLang="en-US" sz="1800" kern="0" spc="-50" dirty="0" err="1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취업ㆍ창업</a:t>
                      </a: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지원 및 알선</a:t>
                      </a:r>
                    </a:p>
                    <a:p>
                      <a:pPr marL="99060" marR="0" indent="-9906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∙ 지역자활센터 종사자 및 참여자에 대한 교육훈련 및 지원</a:t>
                      </a:r>
                    </a:p>
                    <a:p>
                      <a:pPr marL="99060" marR="0" indent="-9906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∙ 지역특화형 자활 프로그램 </a:t>
                      </a:r>
                      <a:r>
                        <a:rPr lang="ko-KR" altLang="en-US" sz="1800" kern="0" spc="-50" dirty="0" err="1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개발ㆍ보급</a:t>
                      </a: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및 사업개발 지원</a:t>
                      </a:r>
                    </a:p>
                    <a:p>
                      <a:pPr marL="99060" marR="0" indent="-9906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∙ 지역자활센터 및 자활기업에 대한 </a:t>
                      </a:r>
                      <a:r>
                        <a:rPr lang="ko-KR" altLang="en-US" sz="1800" kern="0" spc="-50" dirty="0" err="1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기술ㆍ경영지도</a:t>
                      </a:r>
                      <a:endParaRPr lang="ko-KR" altLang="en-US" sz="1800" kern="0" spc="-5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99060" marR="0" indent="-9906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∙ 그 밖에 자활촉진에 필요한 사업으로서 보건복지부장관이 정하는 사업</a:t>
                      </a: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8947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지역</a:t>
                      </a:r>
                      <a:endParaRPr lang="en-US" altLang="ko-KR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자활센터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99060" marR="0" indent="-9906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∙ 자활의욕 고취를 위한 교육</a:t>
                      </a:r>
                    </a:p>
                    <a:p>
                      <a:pPr marL="99060" marR="0" indent="-9906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∙ 자활을 위한 정보제공</a:t>
                      </a:r>
                      <a:r>
                        <a:rPr lang="en-US" altLang="ko-KR" sz="180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상담</a:t>
                      </a:r>
                      <a:r>
                        <a:rPr lang="en-US" altLang="ko-KR" sz="180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직업교육 및 취업알선</a:t>
                      </a:r>
                    </a:p>
                    <a:p>
                      <a:pPr marL="99060" marR="0" indent="-9906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∙ 생업을 위한 자금융자 알선 </a:t>
                      </a:r>
                      <a:r>
                        <a:rPr lang="en-US" altLang="ko-KR" sz="180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/ </a:t>
                      </a: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∙ 자영창업 지원 및 </a:t>
                      </a:r>
                      <a:r>
                        <a:rPr lang="ko-KR" altLang="en-US" sz="1800" kern="0" spc="-50" dirty="0" err="1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기술ㆍ경영</a:t>
                      </a: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지도</a:t>
                      </a:r>
                    </a:p>
                    <a:p>
                      <a:pPr marL="99060" marR="0" indent="-9906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∙ 자활기업의 </a:t>
                      </a:r>
                      <a:r>
                        <a:rPr lang="ko-KR" altLang="en-US" sz="1800" kern="0" spc="-50" dirty="0" err="1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설립ㆍ운영</a:t>
                      </a: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지원 </a:t>
                      </a:r>
                      <a:r>
                        <a:rPr lang="en-US" altLang="ko-KR" sz="180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/ </a:t>
                      </a: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∙ 그 밖에 자활을 위한 각종 사업</a:t>
                      </a: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833478383"/>
                  </a:ext>
                </a:extLst>
              </a:tr>
            </a:tbl>
          </a:graphicData>
        </a:graphic>
      </p:graphicFrame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272534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5.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급여내용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2729880" y="1150154"/>
            <a:ext cx="374441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altLang="ko-KR" sz="20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&lt;</a:t>
            </a:r>
            <a:r>
              <a:rPr lang="ko-KR" altLang="en-US" sz="20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표</a:t>
            </a:r>
            <a:r>
              <a:rPr lang="en-US" altLang="ko-KR" sz="20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&gt; </a:t>
            </a:r>
            <a:r>
              <a:rPr lang="ko-KR" altLang="en-US" sz="20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자활센터의 주요업무</a:t>
            </a:r>
          </a:p>
        </p:txBody>
      </p:sp>
    </p:spTree>
    <p:extLst>
      <p:ext uri="{BB962C8B-B14F-4D97-AF65-F5344CB8AC3E}">
        <p14:creationId xmlns:p14="http://schemas.microsoft.com/office/powerpoint/2010/main" val="132437472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72534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5.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급여내용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683568" y="1412776"/>
            <a:ext cx="763284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 latinLnBrk="0"/>
            <a:r>
              <a:rPr lang="en-US" altLang="ko-KR" dirty="0">
                <a:latin typeface="HY울릉도M" panose="02030600000101010101" pitchFamily="18" charset="-127"/>
                <a:ea typeface="HY울릉도M" panose="02030600000101010101" pitchFamily="18" charset="-127"/>
              </a:rPr>
              <a:t>&lt;</a:t>
            </a:r>
            <a:r>
              <a:rPr lang="ko-KR" altLang="en-US" dirty="0">
                <a:latin typeface="HY울릉도M" panose="02030600000101010101" pitchFamily="18" charset="-127"/>
                <a:ea typeface="HY울릉도M" panose="02030600000101010101" pitchFamily="18" charset="-127"/>
              </a:rPr>
              <a:t>그림</a:t>
            </a:r>
            <a:r>
              <a:rPr lang="en-US" altLang="ko-KR" dirty="0">
                <a:latin typeface="HY울릉도M" panose="02030600000101010101" pitchFamily="18" charset="-127"/>
                <a:ea typeface="HY울릉도M" panose="02030600000101010101" pitchFamily="18" charset="-127"/>
              </a:rPr>
              <a:t>&gt; </a:t>
            </a:r>
            <a:r>
              <a:rPr lang="ko-KR" altLang="en-US" dirty="0">
                <a:latin typeface="HY울릉도M" panose="02030600000101010101" pitchFamily="18" charset="-127"/>
                <a:ea typeface="HY울릉도M" panose="02030600000101010101" pitchFamily="18" charset="-127"/>
              </a:rPr>
              <a:t>국민기초생활보장 </a:t>
            </a:r>
            <a:r>
              <a:rPr lang="ko-KR" altLang="en-US" dirty="0" err="1">
                <a:latin typeface="HY울릉도M" panose="02030600000101010101" pitchFamily="18" charset="-127"/>
                <a:ea typeface="HY울릉도M" panose="02030600000101010101" pitchFamily="18" charset="-127"/>
              </a:rPr>
              <a:t>수급자</a:t>
            </a:r>
            <a:r>
              <a:rPr lang="ko-KR" altLang="en-US" dirty="0">
                <a:latin typeface="HY울릉도M" panose="02030600000101010101" pitchFamily="18" charset="-127"/>
                <a:ea typeface="HY울릉도M" panose="02030600000101010101" pitchFamily="18" charset="-127"/>
              </a:rPr>
              <a:t> 현황</a:t>
            </a:r>
            <a:r>
              <a:rPr lang="en-US" altLang="ko-KR" dirty="0">
                <a:latin typeface="HY울릉도M" panose="02030600000101010101" pitchFamily="18" charset="-127"/>
                <a:ea typeface="HY울릉도M" panose="02030600000101010101" pitchFamily="18" charset="-127"/>
              </a:rPr>
              <a:t>(</a:t>
            </a:r>
            <a:r>
              <a:rPr lang="ko-KR" altLang="en-US" dirty="0">
                <a:latin typeface="HY울릉도M" panose="02030600000101010101" pitchFamily="18" charset="-127"/>
                <a:ea typeface="HY울릉도M" panose="02030600000101010101" pitchFamily="18" charset="-127"/>
              </a:rPr>
              <a:t>전국민 대비 </a:t>
            </a:r>
            <a:r>
              <a:rPr lang="ko-KR" altLang="en-US" dirty="0" err="1">
                <a:latin typeface="HY울릉도M" panose="02030600000101010101" pitchFamily="18" charset="-127"/>
                <a:ea typeface="HY울릉도M" panose="02030600000101010101" pitchFamily="18" charset="-127"/>
              </a:rPr>
              <a:t>수급자</a:t>
            </a:r>
            <a:r>
              <a:rPr lang="ko-KR" altLang="en-US" dirty="0">
                <a:latin typeface="HY울릉도M" panose="02030600000101010101" pitchFamily="18" charset="-127"/>
                <a:ea typeface="HY울릉도M" panose="02030600000101010101" pitchFamily="18" charset="-127"/>
              </a:rPr>
              <a:t> 수와 비율</a:t>
            </a:r>
            <a:r>
              <a:rPr lang="en-US" altLang="ko-KR" dirty="0">
                <a:latin typeface="HY울릉도M" panose="02030600000101010101" pitchFamily="18" charset="-127"/>
                <a:ea typeface="HY울릉도M" panose="02030600000101010101" pitchFamily="18" charset="-127"/>
              </a:rPr>
              <a:t>)</a:t>
            </a:r>
            <a:endParaRPr lang="ko-KR" altLang="en-US" dirty="0">
              <a:latin typeface="HY울릉도M" panose="02030600000101010101" pitchFamily="18" charset="-127"/>
              <a:ea typeface="HY울릉도M" panose="02030600000101010101" pitchFamily="18" charset="-127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81DBE6-8701-4459-99F6-A721D76E9E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57785" y="1755739"/>
            <a:ext cx="13454381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98423EC4-A5DC-4837-902F-E8837ECF6B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73771" y="1755739"/>
            <a:ext cx="138361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5123" name="_x358390328">
            <a:extLst>
              <a:ext uri="{FF2B5EF4-FFF2-40B4-BE49-F238E27FC236}">
                <a16:creationId xmlns:a16="http://schemas.microsoft.com/office/drawing/2014/main" id="{6B2837DA-F1BF-4072-B0FD-9C1D85C430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56" b="4869"/>
          <a:stretch>
            <a:fillRect/>
          </a:stretch>
        </p:blipFill>
        <p:spPr bwMode="auto">
          <a:xfrm>
            <a:off x="323528" y="2212938"/>
            <a:ext cx="8589966" cy="4168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473984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6.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재정</a:t>
            </a:r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(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비용</a:t>
            </a:r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)</a:t>
            </a:r>
            <a:endParaRPr lang="ko-KR" altLang="en-US" sz="3200" dirty="0">
              <a:latin typeface="HY울릉도B" pitchFamily="18" charset="-127"/>
              <a:ea typeface="HY울릉도B" pitchFamily="18" charset="-127"/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7638611"/>
              </p:ext>
            </p:extLst>
          </p:nvPr>
        </p:nvGraphicFramePr>
        <p:xfrm>
          <a:off x="323528" y="2285463"/>
          <a:ext cx="8568952" cy="4268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285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0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281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0" dirty="0">
                          <a:solidFill>
                            <a:schemeClr val="bg1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보장비용 구분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보장비용 부담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090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0" dirty="0">
                          <a:solidFill>
                            <a:schemeClr val="tx1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국가 또는 </a:t>
                      </a:r>
                      <a:r>
                        <a:rPr lang="ko-KR" altLang="en-US" sz="18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시</a:t>
                      </a:r>
                      <a:r>
                        <a:rPr lang="en-US" altLang="ko-KR" sz="18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·</a:t>
                      </a:r>
                      <a:r>
                        <a:rPr lang="ko-KR" altLang="en-US" sz="18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도가 직접 행하는 </a:t>
                      </a:r>
                      <a:endParaRPr lang="en-US" altLang="ko-KR" sz="1800" b="0" kern="1200" dirty="0">
                        <a:solidFill>
                          <a:schemeClr val="dk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보장업무에 드는 비용</a:t>
                      </a:r>
                      <a:endParaRPr lang="ko-KR" altLang="en-US" sz="1800" b="0" dirty="0">
                        <a:solidFill>
                          <a:schemeClr val="tx1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0" dirty="0">
                          <a:solidFill>
                            <a:schemeClr val="tx1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국가 또는 </a:t>
                      </a:r>
                      <a:endParaRPr lang="en-US" altLang="ko-KR" sz="1800" b="0" dirty="0">
                        <a:solidFill>
                          <a:schemeClr val="tx1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0" dirty="0">
                          <a:solidFill>
                            <a:schemeClr val="tx1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해당 </a:t>
                      </a:r>
                      <a:r>
                        <a:rPr lang="ko-KR" altLang="en-US" sz="18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시</a:t>
                      </a:r>
                      <a:r>
                        <a:rPr lang="en-US" altLang="ko-KR" sz="18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·</a:t>
                      </a:r>
                      <a:r>
                        <a:rPr lang="ko-KR" altLang="en-US" sz="18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도가  부담</a:t>
                      </a:r>
                      <a:endParaRPr lang="ko-KR" altLang="en-US" sz="1800" b="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8395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보건복지부장관</a:t>
                      </a:r>
                      <a:r>
                        <a:rPr lang="en-US" altLang="ko-KR" sz="18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소관 중앙행정기관의 장과 </a:t>
                      </a:r>
                      <a:endParaRPr lang="en-US" altLang="ko-KR" sz="1800" b="0" kern="1200" dirty="0">
                        <a:solidFill>
                          <a:schemeClr val="dk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시</a:t>
                      </a:r>
                      <a:r>
                        <a:rPr lang="en-US" altLang="ko-KR" sz="18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·</a:t>
                      </a:r>
                      <a:r>
                        <a:rPr lang="ko-KR" altLang="en-US" sz="18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도지사가 </a:t>
                      </a:r>
                      <a:r>
                        <a:rPr lang="ko-KR" altLang="en-US" sz="1800" b="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수급자를</a:t>
                      </a:r>
                      <a:r>
                        <a:rPr lang="ko-KR" altLang="en-US" sz="18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국가 또는 </a:t>
                      </a:r>
                      <a:r>
                        <a:rPr lang="ko-KR" altLang="en-US" sz="1800" b="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지자체가</a:t>
                      </a:r>
                      <a:r>
                        <a:rPr lang="ko-KR" altLang="en-US" sz="18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경영하는 보장시설에 입소하게 하거나 다른 보장시설에 위탁한 경우의 급여실시비용</a:t>
                      </a:r>
                      <a:endParaRPr lang="ko-KR" altLang="en-US" sz="1800" b="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800" b="0" dirty="0">
                        <a:solidFill>
                          <a:schemeClr val="tx1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0" dirty="0">
                          <a:solidFill>
                            <a:schemeClr val="tx1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국가 또는 </a:t>
                      </a:r>
                      <a:endParaRPr lang="en-US" altLang="ko-KR" sz="1800" b="0" dirty="0">
                        <a:solidFill>
                          <a:schemeClr val="tx1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0" dirty="0">
                          <a:solidFill>
                            <a:schemeClr val="tx1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해당 </a:t>
                      </a:r>
                      <a:r>
                        <a:rPr lang="ko-KR" altLang="en-US" sz="18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시</a:t>
                      </a:r>
                      <a:r>
                        <a:rPr lang="en-US" altLang="ko-KR" sz="18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·</a:t>
                      </a:r>
                      <a:r>
                        <a:rPr lang="ko-KR" altLang="en-US" sz="18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도가  부담</a:t>
                      </a:r>
                      <a:endParaRPr lang="ko-KR" altLang="en-US" sz="1800" b="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1905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800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시</a:t>
                      </a:r>
                      <a:r>
                        <a:rPr lang="en-US" altLang="ko-KR" sz="1800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·</a:t>
                      </a:r>
                      <a:r>
                        <a:rPr lang="ko-KR" altLang="en-US" sz="1800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군</a:t>
                      </a:r>
                      <a:r>
                        <a:rPr lang="en-US" altLang="ko-KR" sz="1800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·</a:t>
                      </a:r>
                      <a:r>
                        <a:rPr lang="ko-KR" altLang="en-US" sz="1800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구가 수행하는 보장업무에 드는 비용 중 인건비와 </a:t>
                      </a:r>
                      <a:r>
                        <a:rPr lang="ko-KR" altLang="en-US" sz="1800" b="0" dirty="0" err="1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사무비</a:t>
                      </a:r>
                      <a:r>
                        <a:rPr lang="ko-KR" altLang="en-US" sz="1800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및 생활보장위원회의 운영에 </a:t>
                      </a:r>
                      <a:endParaRPr lang="en-US" altLang="ko-KR" sz="1800" b="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800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드는 비용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800" b="0" kern="1200" dirty="0">
                        <a:solidFill>
                          <a:schemeClr val="dk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해당 시</a:t>
                      </a:r>
                      <a:r>
                        <a:rPr lang="en-US" altLang="ko-KR" sz="18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·</a:t>
                      </a:r>
                      <a:r>
                        <a:rPr lang="ko-KR" altLang="en-US" sz="18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군</a:t>
                      </a:r>
                      <a:r>
                        <a:rPr lang="en-US" altLang="ko-KR" sz="18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·</a:t>
                      </a:r>
                      <a:r>
                        <a:rPr lang="ko-KR" altLang="en-US" sz="18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구가 부담</a:t>
                      </a:r>
                      <a:endParaRPr lang="ko-KR" altLang="en-US" sz="1800" b="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직사각형 3">
            <a:extLst>
              <a:ext uri="{FF2B5EF4-FFF2-40B4-BE49-F238E27FC236}">
                <a16:creationId xmlns:a16="http://schemas.microsoft.com/office/drawing/2014/main" id="{E13D0FF8-9ECC-4C57-B12E-531FDF569803}"/>
              </a:ext>
            </a:extLst>
          </p:cNvPr>
          <p:cNvSpPr/>
          <p:nvPr/>
        </p:nvSpPr>
        <p:spPr>
          <a:xfrm>
            <a:off x="319184" y="1124744"/>
            <a:ext cx="8568952" cy="85869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marL="285750" indent="-285750" fontAlgn="base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 err="1">
                <a:latin typeface="HY울릉도M" panose="02030600000101010101" pitchFamily="18" charset="-127"/>
                <a:ea typeface="HY울릉도M" panose="02030600000101010101" pitchFamily="18" charset="-127"/>
              </a:rPr>
              <a:t>국민기초생활보장제도</a:t>
            </a:r>
            <a:r>
              <a:rPr lang="ko-KR" altLang="en-US" dirty="0">
                <a:latin typeface="HY울릉도M" panose="02030600000101010101" pitchFamily="18" charset="-127"/>
                <a:ea typeface="HY울릉도M" panose="02030600000101010101" pitchFamily="18" charset="-127"/>
              </a:rPr>
              <a:t> 실시에 따른 비용을 보장비용이라 함</a:t>
            </a:r>
            <a:endParaRPr lang="en-US" altLang="ko-KR" dirty="0">
              <a:latin typeface="HY울릉도M" panose="02030600000101010101" pitchFamily="18" charset="-127"/>
              <a:ea typeface="HY울릉도M" panose="02030600000101010101" pitchFamily="18" charset="-127"/>
            </a:endParaRPr>
          </a:p>
          <a:p>
            <a:pPr marL="285750" indent="-285750" fontAlgn="base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HY울릉도M" panose="02030600000101010101" pitchFamily="18" charset="-127"/>
                <a:ea typeface="HY울릉도M" panose="02030600000101010101" pitchFamily="18" charset="-127"/>
              </a:rPr>
              <a:t>보장비용의 부담은 보장비용의 성격에 따라 다르게 적용됨</a:t>
            </a:r>
          </a:p>
        </p:txBody>
      </p:sp>
    </p:spTree>
    <p:extLst>
      <p:ext uri="{BB962C8B-B14F-4D97-AF65-F5344CB8AC3E}">
        <p14:creationId xmlns:p14="http://schemas.microsoft.com/office/powerpoint/2010/main" val="289151566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6.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재정</a:t>
            </a:r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(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비용</a:t>
            </a:r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)</a:t>
            </a:r>
            <a:endParaRPr lang="ko-KR" altLang="en-US" sz="3200" dirty="0">
              <a:latin typeface="HY울릉도B" pitchFamily="18" charset="-127"/>
              <a:ea typeface="HY울릉도B" pitchFamily="18" charset="-127"/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4662412"/>
              </p:ext>
            </p:extLst>
          </p:nvPr>
        </p:nvGraphicFramePr>
        <p:xfrm>
          <a:off x="251520" y="1340768"/>
          <a:ext cx="8496942" cy="47856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42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04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226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보장비용 구분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보장비용 부담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7634">
                <a:tc rowSpan="4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180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180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180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시</a:t>
                      </a:r>
                      <a:r>
                        <a:rPr lang="en-US" altLang="ko-KR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·</a:t>
                      </a:r>
                      <a:r>
                        <a:rPr lang="ko-KR" altLang="en-US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군</a:t>
                      </a:r>
                      <a:r>
                        <a:rPr lang="en-US" altLang="ko-KR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·</a:t>
                      </a:r>
                      <a:r>
                        <a:rPr lang="ko-KR" altLang="en-US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구가 행하는 </a:t>
                      </a:r>
                      <a:endParaRPr lang="en-US" altLang="ko-KR" sz="180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급여실시 비용과</a:t>
                      </a:r>
                      <a:r>
                        <a:rPr lang="en-US" altLang="ko-KR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</a:t>
                      </a: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보장업무에 드는 </a:t>
                      </a:r>
                      <a:endParaRPr lang="en-US" altLang="ko-KR" sz="180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비용 </a:t>
                      </a:r>
                      <a:endParaRPr lang="en-US" altLang="ko-KR" sz="180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180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dirty="0"/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시</a:t>
                      </a:r>
                      <a:r>
                        <a:rPr lang="en-US" altLang="ko-KR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·</a:t>
                      </a:r>
                      <a:r>
                        <a:rPr lang="ko-KR" altLang="en-US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군</a:t>
                      </a:r>
                      <a:r>
                        <a:rPr lang="en-US" altLang="ko-KR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·</a:t>
                      </a:r>
                      <a:r>
                        <a:rPr lang="ko-KR" altLang="en-US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구의 재정여건과 </a:t>
                      </a:r>
                      <a:r>
                        <a:rPr lang="ko-KR" altLang="en-US" sz="1800" dirty="0" err="1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사회보장비</a:t>
                      </a:r>
                      <a:r>
                        <a:rPr lang="ko-KR" altLang="en-US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등을 고려하여 </a:t>
                      </a:r>
                      <a:endParaRPr lang="en-US" altLang="ko-KR" sz="180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국가</a:t>
                      </a:r>
                      <a:r>
                        <a:rPr lang="en-US" altLang="ko-KR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시</a:t>
                      </a:r>
                      <a:r>
                        <a:rPr lang="en-US" altLang="ko-KR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·</a:t>
                      </a:r>
                      <a:r>
                        <a:rPr lang="ko-KR" altLang="en-US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도 및 시</a:t>
                      </a:r>
                      <a:r>
                        <a:rPr lang="en-US" altLang="ko-KR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·</a:t>
                      </a:r>
                      <a:r>
                        <a:rPr lang="ko-KR" altLang="en-US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군</a:t>
                      </a:r>
                      <a:r>
                        <a:rPr lang="en-US" altLang="ko-KR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·</a:t>
                      </a:r>
                      <a:r>
                        <a:rPr lang="ko-KR" altLang="en-US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구가 차등 부담함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9076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800" b="0" kern="1200" dirty="0">
                        <a:solidFill>
                          <a:srgbClr val="FF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0" kern="120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국   가</a:t>
                      </a:r>
                      <a:endParaRPr lang="en-US" altLang="ko-KR" sz="1800" b="0" kern="1200" dirty="0">
                        <a:solidFill>
                          <a:srgbClr val="FF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시</a:t>
                      </a:r>
                      <a:r>
                        <a:rPr lang="en-US" altLang="ko-KR" sz="18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·</a:t>
                      </a:r>
                      <a:r>
                        <a:rPr lang="ko-KR" altLang="en-US" sz="18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군</a:t>
                      </a:r>
                      <a:r>
                        <a:rPr lang="en-US" altLang="ko-KR" sz="18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·</a:t>
                      </a:r>
                      <a:r>
                        <a:rPr lang="ko-KR" altLang="en-US" sz="18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구의 보장비용 총액 중 </a:t>
                      </a:r>
                      <a:endParaRPr lang="en-US" altLang="ko-KR" sz="1800" b="0" kern="1200" dirty="0">
                        <a:solidFill>
                          <a:schemeClr val="dk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40% </a:t>
                      </a:r>
                      <a:r>
                        <a:rPr lang="ko-KR" altLang="en-US" sz="18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이상 </a:t>
                      </a:r>
                      <a:r>
                        <a:rPr lang="en-US" altLang="ko-KR" sz="18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90% </a:t>
                      </a:r>
                      <a:r>
                        <a:rPr lang="ko-KR" altLang="en-US" sz="18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미만을 부담</a:t>
                      </a:r>
                      <a:endParaRPr lang="ko-KR" altLang="en-US" b="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39183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dirty="0"/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800" b="1" kern="1200" dirty="0">
                        <a:solidFill>
                          <a:srgbClr val="3399FF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kern="1200" dirty="0">
                          <a:solidFill>
                            <a:srgbClr val="3399FF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시</a:t>
                      </a:r>
                      <a:r>
                        <a:rPr lang="en-US" altLang="ko-KR" sz="1800" b="1" kern="1200" dirty="0">
                          <a:solidFill>
                            <a:srgbClr val="3399FF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·</a:t>
                      </a:r>
                      <a:r>
                        <a:rPr lang="ko-KR" altLang="en-US" sz="1800" b="1" kern="1200" dirty="0">
                          <a:solidFill>
                            <a:srgbClr val="3399FF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도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시</a:t>
                      </a:r>
                      <a:r>
                        <a:rPr lang="en-US" altLang="ko-KR" sz="18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·</a:t>
                      </a:r>
                      <a:r>
                        <a:rPr lang="ko-KR" altLang="en-US" sz="18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군</a:t>
                      </a:r>
                      <a:r>
                        <a:rPr lang="en-US" altLang="ko-KR" sz="18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·</a:t>
                      </a:r>
                      <a:r>
                        <a:rPr lang="ko-KR" altLang="en-US" sz="18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구 보장비용 총액 중 </a:t>
                      </a:r>
                      <a:endParaRPr lang="en-US" altLang="ko-KR" sz="1800" b="0" kern="1200" dirty="0">
                        <a:solidFill>
                          <a:schemeClr val="dk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국가부담 분을 차감한 금액의 </a:t>
                      </a:r>
                      <a:endParaRPr lang="en-US" altLang="ko-KR" sz="1800" b="0" kern="1200" dirty="0">
                        <a:solidFill>
                          <a:schemeClr val="dk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30% </a:t>
                      </a:r>
                      <a:r>
                        <a:rPr lang="ko-KR" altLang="en-US" sz="18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이상 </a:t>
                      </a:r>
                      <a:r>
                        <a:rPr lang="en-US" altLang="ko-KR" sz="18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70% </a:t>
                      </a:r>
                      <a:r>
                        <a:rPr lang="ko-KR" altLang="en-US" sz="18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이하를 부담</a:t>
                      </a:r>
                      <a:endParaRPr lang="ko-KR" altLang="en-US" b="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12362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800" b="1" dirty="0">
                        <a:solidFill>
                          <a:srgbClr val="9933FF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dirty="0">
                          <a:solidFill>
                            <a:srgbClr val="9933FF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시</a:t>
                      </a:r>
                      <a:r>
                        <a:rPr lang="en-US" altLang="ko-KR" sz="1800" b="1" dirty="0">
                          <a:solidFill>
                            <a:srgbClr val="9933FF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·</a:t>
                      </a:r>
                      <a:r>
                        <a:rPr lang="ko-KR" altLang="en-US" sz="1800" b="1" dirty="0">
                          <a:solidFill>
                            <a:srgbClr val="9933FF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군</a:t>
                      </a:r>
                      <a:r>
                        <a:rPr lang="en-US" altLang="ko-KR" sz="1800" b="1" dirty="0">
                          <a:solidFill>
                            <a:srgbClr val="9933FF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·</a:t>
                      </a:r>
                      <a:r>
                        <a:rPr lang="ko-KR" altLang="en-US" sz="1800" b="1" dirty="0">
                          <a:solidFill>
                            <a:srgbClr val="9933FF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구</a:t>
                      </a:r>
                      <a:endParaRPr lang="en-US" altLang="ko-KR" sz="1800" b="1" dirty="0">
                        <a:solidFill>
                          <a:srgbClr val="9933FF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800" b="1" dirty="0">
                        <a:solidFill>
                          <a:srgbClr val="9933FF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시</a:t>
                      </a:r>
                      <a:r>
                        <a:rPr lang="en-US" altLang="ko-KR" sz="18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·</a:t>
                      </a:r>
                      <a:r>
                        <a:rPr lang="ko-KR" altLang="en-US" sz="18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군</a:t>
                      </a:r>
                      <a:r>
                        <a:rPr lang="en-US" altLang="ko-KR" sz="18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·</a:t>
                      </a:r>
                      <a:r>
                        <a:rPr lang="ko-KR" altLang="en-US" sz="18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구 보장비용 총액 중 </a:t>
                      </a:r>
                      <a:endParaRPr lang="en-US" altLang="ko-KR" sz="1800" b="0" kern="1200" dirty="0">
                        <a:solidFill>
                          <a:schemeClr val="dk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국가와 시</a:t>
                      </a:r>
                      <a:r>
                        <a:rPr lang="en-US" altLang="ko-KR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.</a:t>
                      </a:r>
                      <a:r>
                        <a:rPr lang="ko-KR" altLang="en-US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도가 부담한 나머지를 부담함</a:t>
                      </a:r>
                      <a:endParaRPr lang="ko-KR" altLang="en-US" b="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662885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7.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운영체계</a:t>
            </a: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6147339"/>
              </p:ext>
            </p:extLst>
          </p:nvPr>
        </p:nvGraphicFramePr>
        <p:xfrm>
          <a:off x="251520" y="1772816"/>
          <a:ext cx="8640960" cy="46031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8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127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8479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2000" b="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2000" b="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2000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보장기관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fontAlgn="base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b="0" kern="120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급여를 실시하는 기관으로</a:t>
                      </a:r>
                      <a:r>
                        <a:rPr lang="ko-KR" altLang="en-US" sz="1800" b="0" kern="1200" dirty="0">
                          <a:solidFill>
                            <a:schemeClr val="lt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ko-KR" altLang="en-US" sz="1800" b="0" kern="1200" dirty="0" err="1">
                          <a:solidFill>
                            <a:schemeClr val="lt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수급권자</a:t>
                      </a:r>
                      <a:r>
                        <a:rPr lang="ko-KR" altLang="en-US" sz="1800" b="0" kern="1200" dirty="0">
                          <a:solidFill>
                            <a:schemeClr val="lt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또는 수급자의 거주지를   관할하는 </a:t>
                      </a:r>
                      <a:r>
                        <a:rPr lang="ko-KR" altLang="en-US" sz="1800" b="0" kern="120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시</a:t>
                      </a:r>
                      <a:r>
                        <a:rPr lang="en-US" altLang="ko-KR" sz="1800" b="0" kern="120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·</a:t>
                      </a:r>
                      <a:r>
                        <a:rPr lang="ko-KR" altLang="en-US" sz="1800" b="0" kern="120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도지사 및 시장</a:t>
                      </a:r>
                      <a:r>
                        <a:rPr lang="en-US" altLang="ko-KR" sz="1800" b="0" kern="120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· </a:t>
                      </a:r>
                      <a:r>
                        <a:rPr lang="ko-KR" altLang="en-US" sz="1800" b="0" kern="120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군수</a:t>
                      </a:r>
                      <a:r>
                        <a:rPr lang="en-US" altLang="ko-KR" sz="1800" b="0" kern="120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·</a:t>
                      </a:r>
                      <a:r>
                        <a:rPr lang="ko-KR" altLang="en-US" sz="1800" b="0" kern="120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구청장</a:t>
                      </a:r>
                      <a:r>
                        <a:rPr lang="ko-KR" altLang="en-US" sz="1800" b="0" kern="1200" dirty="0">
                          <a:solidFill>
                            <a:schemeClr val="lt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을 의미함</a:t>
                      </a:r>
                      <a:endParaRPr lang="en-US" altLang="ko-KR" sz="1800" b="0" kern="1200" dirty="0">
                        <a:solidFill>
                          <a:schemeClr val="lt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285750" indent="-285750" fontAlgn="base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b="0" kern="120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교육급여인 경우에는 시</a:t>
                      </a:r>
                      <a:r>
                        <a:rPr lang="en-US" altLang="ko-KR" sz="1800" b="0" kern="120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·</a:t>
                      </a:r>
                      <a:r>
                        <a:rPr lang="ko-KR" altLang="en-US" sz="1800" b="0" kern="120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도 교육감</a:t>
                      </a:r>
                      <a:r>
                        <a:rPr lang="ko-KR" altLang="en-US" sz="1800" b="0" kern="1200" dirty="0">
                          <a:solidFill>
                            <a:schemeClr val="lt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을 의미함</a:t>
                      </a:r>
                    </a:p>
                    <a:p>
                      <a:pPr marL="285750" indent="-285750" fontAlgn="base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b="0" kern="1200" dirty="0">
                          <a:solidFill>
                            <a:schemeClr val="lt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보장기관은 </a:t>
                      </a:r>
                      <a:r>
                        <a:rPr lang="ko-KR" altLang="en-US" sz="1800" b="0" kern="1200" dirty="0" err="1">
                          <a:solidFill>
                            <a:schemeClr val="lt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수급권자</a:t>
                      </a:r>
                      <a:r>
                        <a:rPr lang="en-US" altLang="ko-KR" sz="1800" b="0" kern="1200" dirty="0">
                          <a:solidFill>
                            <a:schemeClr val="lt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·</a:t>
                      </a:r>
                      <a:r>
                        <a:rPr lang="ko-KR" altLang="en-US" sz="1800" b="0" kern="1200" dirty="0" err="1">
                          <a:solidFill>
                            <a:schemeClr val="lt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수급자</a:t>
                      </a:r>
                      <a:r>
                        <a:rPr lang="en-US" altLang="ko-KR" sz="1800" b="0" kern="1200" dirty="0">
                          <a:solidFill>
                            <a:schemeClr val="lt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·</a:t>
                      </a:r>
                      <a:r>
                        <a:rPr lang="ko-KR" altLang="en-US" sz="1800" b="0" kern="1200" dirty="0" err="1">
                          <a:solidFill>
                            <a:schemeClr val="lt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차상위계층에</a:t>
                      </a:r>
                      <a:r>
                        <a:rPr lang="ko-KR" altLang="en-US" sz="1800" b="0" kern="1200" dirty="0">
                          <a:solidFill>
                            <a:schemeClr val="lt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대한 조사와 </a:t>
                      </a:r>
                      <a:r>
                        <a:rPr lang="ko-KR" altLang="en-US" sz="1800" b="0" kern="1200" dirty="0" err="1">
                          <a:solidFill>
                            <a:schemeClr val="lt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수급자</a:t>
                      </a:r>
                      <a:r>
                        <a:rPr lang="ko-KR" altLang="en-US" sz="1800" b="0" kern="1200" dirty="0">
                          <a:solidFill>
                            <a:schemeClr val="lt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결정 및 급여의 실시 등의 국민기초생활보장법의 보장업무를 수행하기 위하여 </a:t>
                      </a:r>
                      <a:r>
                        <a:rPr lang="ko-KR" altLang="en-US" sz="1800" b="0" kern="1200" dirty="0">
                          <a:solidFill>
                            <a:schemeClr val="accent6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사회복지전담공무원</a:t>
                      </a:r>
                      <a:r>
                        <a:rPr lang="ko-KR" altLang="en-US" sz="1800" b="0" kern="1200" dirty="0">
                          <a:solidFill>
                            <a:schemeClr val="lt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을 배치하여야 함</a:t>
                      </a:r>
                      <a:endParaRPr lang="ko-KR" altLang="en-US" b="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1673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200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20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보장시설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국민기초생활보장법에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규정된 급여를 행하는 사회복지사업법에 따른 </a:t>
                      </a:r>
                      <a:r>
                        <a:rPr lang="ko-KR" altLang="en-US" sz="1800" kern="120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사회복지시설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을 의미함</a:t>
                      </a:r>
                      <a:endParaRPr lang="en-US" altLang="ko-KR" sz="1800" kern="1200" dirty="0">
                        <a:solidFill>
                          <a:schemeClr val="dk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285750" marR="0" indent="-2857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노인복지법에 따른 노인복지시설 및 노인의료복지시설</a:t>
                      </a:r>
                      <a:endParaRPr lang="en-US" altLang="ko-KR" sz="1800" kern="1200" dirty="0">
                        <a:solidFill>
                          <a:schemeClr val="dk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285750" marR="0" indent="-2857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장애인복지법에 따른 장애인 거주시설</a:t>
                      </a:r>
                      <a:endParaRPr lang="en-US" altLang="ko-KR" sz="1800" kern="1200" dirty="0">
                        <a:solidFill>
                          <a:schemeClr val="dk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285750" marR="0" indent="-2857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아동복지법에 따른 아동복지시설 및 통합시설 등</a:t>
                      </a:r>
                      <a:endParaRPr lang="ko-KR" altLang="en-US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모서리가 둥근 직사각형 5"/>
          <p:cNvSpPr/>
          <p:nvPr/>
        </p:nvSpPr>
        <p:spPr>
          <a:xfrm>
            <a:off x="251520" y="1025634"/>
            <a:ext cx="3960440" cy="45718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sz="24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 </a:t>
            </a:r>
            <a:r>
              <a:rPr lang="en-US" altLang="ko-KR" sz="24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1) </a:t>
            </a:r>
            <a:r>
              <a:rPr lang="ko-KR" altLang="en-US" sz="24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보장기관</a:t>
            </a:r>
            <a:r>
              <a:rPr lang="en-US" altLang="ko-KR" sz="24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-2)</a:t>
            </a:r>
            <a:r>
              <a:rPr lang="ko-KR" altLang="en-US" sz="24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 보장시설</a:t>
            </a:r>
            <a:endParaRPr lang="en-US" altLang="ko-KR" sz="2400" dirty="0">
              <a:latin typeface="HY울릉도B" pitchFamily="18" charset="-127"/>
              <a:ea typeface="HY울릉도B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5337788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7.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운영체계</a:t>
            </a:r>
          </a:p>
        </p:txBody>
      </p:sp>
      <p:sp>
        <p:nvSpPr>
          <p:cNvPr id="4" name="모서리가 둥근 직사각형 3"/>
          <p:cNvSpPr/>
          <p:nvPr/>
        </p:nvSpPr>
        <p:spPr>
          <a:xfrm>
            <a:off x="251520" y="1025634"/>
            <a:ext cx="3096344" cy="45718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sz="24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 </a:t>
            </a:r>
            <a:r>
              <a:rPr lang="en-US" altLang="ko-KR" sz="24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3) </a:t>
            </a:r>
            <a:r>
              <a:rPr lang="ko-KR" altLang="en-US" sz="24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생활보장위원회</a:t>
            </a:r>
            <a:endParaRPr lang="en-US" altLang="ko-KR" sz="2400" dirty="0">
              <a:latin typeface="HY울릉도B" pitchFamily="18" charset="-127"/>
              <a:ea typeface="HY울릉도B" pitchFamily="18" charset="-127"/>
            </a:endParaRP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2152741"/>
              </p:ext>
            </p:extLst>
          </p:nvPr>
        </p:nvGraphicFramePr>
        <p:xfrm>
          <a:off x="323528" y="1844824"/>
          <a:ext cx="8568952" cy="42340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1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168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64096">
                <a:tc gridSpan="2">
                  <a:txBody>
                    <a:bodyPr/>
                    <a:lstStyle/>
                    <a:p>
                      <a:pPr marL="285750" marR="0" indent="-2857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b="1" kern="1200" dirty="0">
                          <a:solidFill>
                            <a:schemeClr val="lt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생활보장위원회는 </a:t>
                      </a:r>
                      <a:r>
                        <a:rPr lang="ko-KR" altLang="en-US" sz="1800" b="1" kern="1200" dirty="0" err="1">
                          <a:solidFill>
                            <a:schemeClr val="lt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국민기초생활보장법에</a:t>
                      </a:r>
                      <a:r>
                        <a:rPr lang="ko-KR" altLang="en-US" sz="1800" b="1" kern="1200" dirty="0">
                          <a:solidFill>
                            <a:schemeClr val="lt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의한 생활보장사업의 기획</a:t>
                      </a:r>
                      <a:r>
                        <a:rPr lang="en-US" altLang="ko-KR" sz="1800" b="1" kern="1200" dirty="0">
                          <a:solidFill>
                            <a:schemeClr val="lt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·</a:t>
                      </a:r>
                      <a:r>
                        <a:rPr lang="ko-KR" altLang="en-US" sz="1800" b="1" kern="1200" dirty="0">
                          <a:solidFill>
                            <a:schemeClr val="lt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조사</a:t>
                      </a:r>
                      <a:r>
                        <a:rPr lang="en-US" altLang="ko-KR" sz="1800" b="1" kern="1200" dirty="0">
                          <a:solidFill>
                            <a:schemeClr val="lt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·</a:t>
                      </a:r>
                      <a:r>
                        <a:rPr lang="ko-KR" altLang="en-US" sz="1800" b="1" kern="1200" dirty="0">
                          <a:solidFill>
                            <a:schemeClr val="lt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실시 등에 관한 사항을 </a:t>
                      </a:r>
                      <a:r>
                        <a:rPr lang="ko-KR" altLang="en-US" sz="1800" b="1" kern="120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심의</a:t>
                      </a:r>
                      <a:r>
                        <a:rPr lang="en-US" altLang="ko-KR" sz="1800" b="1" kern="120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·</a:t>
                      </a:r>
                      <a:r>
                        <a:rPr lang="ko-KR" altLang="en-US" sz="1800" b="1" kern="120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의결 </a:t>
                      </a:r>
                      <a:r>
                        <a:rPr lang="ko-KR" altLang="en-US" sz="1800" b="1" kern="1200" dirty="0">
                          <a:solidFill>
                            <a:schemeClr val="lt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하기 위한 기구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991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b="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b="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중앙</a:t>
                      </a:r>
                      <a:endParaRPr lang="en-US" altLang="ko-KR" b="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생활보장위원회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fontAlgn="base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b="0" kern="1200" dirty="0">
                          <a:solidFill>
                            <a:srgbClr val="9933FF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보건복지부에 두는 생활보장위원회</a:t>
                      </a:r>
                    </a:p>
                    <a:p>
                      <a:pPr marL="360000" indent="-180000" fontAlgn="base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기초생활보장 종합계획의 수립</a:t>
                      </a:r>
                    </a:p>
                    <a:p>
                      <a:pPr marL="360000" indent="-180000" fontAlgn="base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소득인정액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산정방식과 기준 중위소득의 결정</a:t>
                      </a:r>
                    </a:p>
                    <a:p>
                      <a:pPr marL="360000" indent="-180000" fontAlgn="base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급여의 종류별 </a:t>
                      </a:r>
                      <a:r>
                        <a:rPr lang="ko-KR" alt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수급자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선정기준과 최저보장수준의 결정</a:t>
                      </a:r>
                    </a:p>
                    <a:p>
                      <a:pPr marL="360000" indent="-180000" fontAlgn="base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급여기준의 적정성 등 평가 및 실태조사에 관한 사항</a:t>
                      </a:r>
                    </a:p>
                    <a:p>
                      <a:pPr marL="360000" indent="-180000" fontAlgn="base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급여 종류별 누락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중복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차상위계층의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지원사업 등에 대한 조정</a:t>
                      </a:r>
                    </a:p>
                    <a:p>
                      <a:pPr marL="360000" indent="-180000" fontAlgn="base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자활기금의 적립관리 및 사용에 관한 지침의 수립 등</a:t>
                      </a:r>
                      <a:endParaRPr lang="en-US" altLang="ko-KR" sz="1800" b="0" kern="1200" dirty="0">
                        <a:solidFill>
                          <a:schemeClr val="tx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360000" indent="-180000" fontAlgn="base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그 밖에 위원장이 회의에 부치는 사항</a:t>
                      </a:r>
                      <a:endParaRPr lang="ko-KR" altLang="en-US" b="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623492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7.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운영체계</a:t>
            </a: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8310707"/>
              </p:ext>
            </p:extLst>
          </p:nvPr>
        </p:nvGraphicFramePr>
        <p:xfrm>
          <a:off x="251520" y="1768192"/>
          <a:ext cx="8640960" cy="25072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8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79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80888">
                <a:tc>
                  <a:txBody>
                    <a:bodyPr/>
                    <a:lstStyle/>
                    <a:p>
                      <a:pPr algn="ctr" latinLnBrk="1"/>
                      <a:endParaRPr lang="en-US" altLang="ko-KR" b="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/>
                      <a:endParaRPr lang="en-US" altLang="ko-KR" b="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/>
                      <a:r>
                        <a:rPr lang="ko-KR" altLang="en-US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지방</a:t>
                      </a:r>
                      <a:endParaRPr lang="en-US" altLang="ko-KR" b="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/>
                      <a:r>
                        <a:rPr lang="ko-KR" altLang="en-US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생활보장위원회</a:t>
                      </a:r>
                      <a:endParaRPr lang="en-US" altLang="ko-KR" b="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/>
                      <a:endParaRPr lang="en-US" altLang="ko-KR" b="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/>
                      <a:endParaRPr lang="ko-KR" altLang="en-US" b="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0" indent="-285750" fontAlgn="base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b="0" kern="1200" dirty="0">
                          <a:solidFill>
                            <a:srgbClr val="9933FF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시</a:t>
                      </a:r>
                      <a:r>
                        <a:rPr lang="en-US" altLang="ko-KR" sz="1800" b="0" kern="1200" dirty="0">
                          <a:solidFill>
                            <a:srgbClr val="9933FF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·</a:t>
                      </a:r>
                      <a:r>
                        <a:rPr lang="ko-KR" altLang="en-US" sz="1800" b="0" kern="1200" dirty="0">
                          <a:solidFill>
                            <a:srgbClr val="9933FF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도에 두는 지방생활보장위원회</a:t>
                      </a:r>
                      <a:endParaRPr lang="en-US" altLang="ko-KR" sz="1800" b="0" kern="1200" dirty="0">
                        <a:solidFill>
                          <a:srgbClr val="9933FF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360000" lvl="0" indent="-180000" fontAlgn="base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시ㆍ도의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생활보장사업 기본방향 및 시행계획의 수립에 관한 사항</a:t>
                      </a:r>
                    </a:p>
                    <a:p>
                      <a:pPr marL="360000" indent="-180000" fontAlgn="base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해당 </a:t>
                      </a:r>
                      <a:r>
                        <a:rPr lang="ko-KR" alt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시ㆍ도가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실시하는 급여에 관한 사항</a:t>
                      </a:r>
                    </a:p>
                    <a:p>
                      <a:pPr marL="360000" indent="-180000" fontAlgn="base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자활기금의 </a:t>
                      </a:r>
                      <a:r>
                        <a:rPr lang="ko-KR" alt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설치ㆍ운용에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관한 사항</a:t>
                      </a:r>
                    </a:p>
                    <a:p>
                      <a:pPr marL="360000" indent="-180000" fontAlgn="base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자활지원계획에 관한 사항</a:t>
                      </a:r>
                    </a:p>
                    <a:p>
                      <a:pPr marL="360000" indent="-180000" fontAlgn="base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그 밖에 </a:t>
                      </a:r>
                      <a:r>
                        <a:rPr lang="ko-KR" alt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시ㆍ도지사가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회의에 부치는 사항</a:t>
                      </a:r>
                      <a:endParaRPr lang="ko-KR" altLang="en-US" b="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모서리가 둥근 직사각형 5"/>
          <p:cNvSpPr/>
          <p:nvPr/>
        </p:nvSpPr>
        <p:spPr>
          <a:xfrm>
            <a:off x="251520" y="1025634"/>
            <a:ext cx="3096344" cy="45718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sz="24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 </a:t>
            </a:r>
            <a:r>
              <a:rPr lang="en-US" altLang="ko-KR" sz="24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3) </a:t>
            </a:r>
            <a:r>
              <a:rPr lang="ko-KR" altLang="en-US" sz="24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생활보장위원회</a:t>
            </a:r>
            <a:endParaRPr lang="en-US" altLang="ko-KR" sz="2400" dirty="0">
              <a:latin typeface="HY울릉도B" pitchFamily="18" charset="-127"/>
              <a:ea typeface="HY울릉도B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3603373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7</a:t>
            </a:r>
            <a:r>
              <a:rPr lang="en-US" altLang="ko-KR" sz="3200">
                <a:latin typeface="HY울릉도B" pitchFamily="18" charset="-127"/>
                <a:ea typeface="HY울릉도B" pitchFamily="18" charset="-127"/>
              </a:rPr>
              <a:t>. </a:t>
            </a:r>
            <a:r>
              <a:rPr lang="ko-KR" altLang="en-US" sz="3200">
                <a:latin typeface="HY울릉도B" pitchFamily="18" charset="-127"/>
                <a:ea typeface="HY울릉도B" pitchFamily="18" charset="-127"/>
              </a:rPr>
              <a:t>운영체계</a:t>
            </a:r>
            <a:endParaRPr lang="ko-KR" altLang="en-US" sz="3200" dirty="0">
              <a:latin typeface="HY울릉도B" pitchFamily="18" charset="-127"/>
              <a:ea typeface="HY울릉도B" pitchFamily="18" charset="-127"/>
            </a:endParaRP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4381867"/>
              </p:ext>
            </p:extLst>
          </p:nvPr>
        </p:nvGraphicFramePr>
        <p:xfrm>
          <a:off x="302568" y="1700808"/>
          <a:ext cx="8568952" cy="49761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1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168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80888">
                <a:tc>
                  <a:txBody>
                    <a:bodyPr/>
                    <a:lstStyle/>
                    <a:p>
                      <a:pPr algn="ctr" latinLnBrk="1"/>
                      <a:endParaRPr lang="en-US" altLang="ko-KR" b="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/>
                      <a:endParaRPr lang="en-US" altLang="ko-KR" b="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/>
                      <a:endParaRPr lang="en-US" altLang="ko-KR" b="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/>
                      <a:endParaRPr lang="en-US" altLang="ko-KR" b="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/>
                      <a:endParaRPr lang="en-US" altLang="ko-KR" b="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/>
                      <a:r>
                        <a:rPr lang="ko-KR" altLang="en-US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지방</a:t>
                      </a:r>
                      <a:endParaRPr lang="en-US" altLang="ko-KR" b="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/>
                      <a:r>
                        <a:rPr lang="ko-KR" altLang="en-US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생활보장위원회</a:t>
                      </a:r>
                      <a:endParaRPr lang="en-US" altLang="ko-KR" b="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/>
                      <a:endParaRPr lang="en-US" altLang="ko-KR" b="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/>
                      <a:endParaRPr lang="ko-KR" altLang="en-US" b="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0" indent="-285750" fontAlgn="base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b="0" kern="1200" dirty="0">
                          <a:solidFill>
                            <a:srgbClr val="9933FF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시</a:t>
                      </a:r>
                      <a:r>
                        <a:rPr lang="en-US" altLang="ko-KR" sz="1800" b="0" kern="1200" dirty="0">
                          <a:solidFill>
                            <a:srgbClr val="9933FF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.</a:t>
                      </a:r>
                      <a:r>
                        <a:rPr lang="ko-KR" altLang="en-US" sz="1800" b="0" kern="1200" dirty="0">
                          <a:solidFill>
                            <a:srgbClr val="9933FF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군</a:t>
                      </a:r>
                      <a:r>
                        <a:rPr lang="en-US" altLang="ko-KR" sz="1800" b="0" kern="1200" dirty="0">
                          <a:solidFill>
                            <a:srgbClr val="9933FF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.</a:t>
                      </a:r>
                      <a:r>
                        <a:rPr lang="ko-KR" altLang="en-US" sz="1800" b="0" kern="1200" dirty="0">
                          <a:solidFill>
                            <a:srgbClr val="9933FF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구에 두는 지방생활보장위원회</a:t>
                      </a:r>
                      <a:endParaRPr lang="en-US" altLang="ko-KR" sz="1800" b="0" kern="1200" dirty="0">
                        <a:solidFill>
                          <a:srgbClr val="9933FF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360000" lvl="0" indent="-180000" fontAlgn="base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시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.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군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.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구의 생활보장사업 기본방향 및 시행계획의 수립에 관한 사항</a:t>
                      </a:r>
                    </a:p>
                    <a:p>
                      <a:pPr marL="360000" indent="-180000" fontAlgn="base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급여를 받을 자격이 있는 </a:t>
                      </a:r>
                      <a:r>
                        <a:rPr lang="ko-KR" alt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수급권자에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해당하지 아니하여도 생활이 어려운 사람의 보호를 위해 보건복지부장관 또는 소관중앙행정기관의 장이 정하는 급여의 결정에 관한 사항</a:t>
                      </a:r>
                    </a:p>
                    <a:p>
                      <a:pPr marL="360000" indent="-180000" fontAlgn="base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연간조사계획에 관한 사항</a:t>
                      </a:r>
                    </a:p>
                    <a:p>
                      <a:pPr marL="360000" indent="-180000" fontAlgn="base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해당 시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.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군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.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구가 실시하는 급여에 관한 사항</a:t>
                      </a:r>
                    </a:p>
                    <a:p>
                      <a:pPr marL="360000" indent="-180000" fontAlgn="base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자활기금의 </a:t>
                      </a:r>
                      <a:r>
                        <a:rPr lang="ko-KR" alt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설치ㆍ운용에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관한 사항</a:t>
                      </a:r>
                    </a:p>
                    <a:p>
                      <a:pPr marL="360000" indent="-180000" fontAlgn="base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자활지원계획에 관한 사항</a:t>
                      </a:r>
                    </a:p>
                    <a:p>
                      <a:pPr marL="360000" indent="-180000" fontAlgn="base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보장비용 징수 제외 및 결정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금품의 반환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.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징수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.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감면 관련 사항 및 결손처분 관련 사항</a:t>
                      </a:r>
                    </a:p>
                    <a:p>
                      <a:pPr marL="360000" indent="-180000" fontAlgn="base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그 밖에 시장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.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군수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.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구청장이 회의에 부치는 사항</a:t>
                      </a:r>
                      <a:endParaRPr lang="ko-KR" altLang="en-US" b="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모서리가 둥근 직사각형 5"/>
          <p:cNvSpPr/>
          <p:nvPr/>
        </p:nvSpPr>
        <p:spPr>
          <a:xfrm>
            <a:off x="251520" y="1025634"/>
            <a:ext cx="3096344" cy="45718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sz="24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 </a:t>
            </a:r>
            <a:r>
              <a:rPr lang="en-US" altLang="ko-KR" sz="24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3) </a:t>
            </a:r>
            <a:r>
              <a:rPr lang="ko-KR" altLang="en-US" sz="24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생활보장위원회</a:t>
            </a:r>
            <a:endParaRPr lang="en-US" altLang="ko-KR" sz="2400" dirty="0">
              <a:latin typeface="HY울릉도B" pitchFamily="18" charset="-127"/>
              <a:ea typeface="HY울릉도B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5998733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06A3633-D096-4A15-842C-A066F0B383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0"/>
            <a:ext cx="1426659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6145" name="_x358703176">
            <a:extLst>
              <a:ext uri="{FF2B5EF4-FFF2-40B4-BE49-F238E27FC236}">
                <a16:creationId xmlns:a16="http://schemas.microsoft.com/office/drawing/2014/main" id="{2DC6079E-8149-438E-AF40-7A5ADC18BE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18" y="80628"/>
            <a:ext cx="8857178" cy="6696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22032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10356</TotalTime>
  <Words>4132</Words>
  <Application>Microsoft Office PowerPoint</Application>
  <PresentationFormat>화면 슬라이드 쇼(4:3)</PresentationFormat>
  <Paragraphs>801</Paragraphs>
  <Slides>49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14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49</vt:i4>
      </vt:variant>
    </vt:vector>
  </HeadingPairs>
  <TitlesOfParts>
    <vt:vector size="65" baseType="lpstr">
      <vt:lpstr>HY목판L</vt:lpstr>
      <vt:lpstr>HY엽서M</vt:lpstr>
      <vt:lpstr>HY울릉도B</vt:lpstr>
      <vt:lpstr>HY울릉도M</vt:lpstr>
      <vt:lpstr>HY헤드라인M</vt:lpstr>
      <vt:lpstr>나눔스퀘어 Bold</vt:lpstr>
      <vt:lpstr>나눔스퀘어 ExtraBold</vt:lpstr>
      <vt:lpstr>나눔스퀘어라운드 Bold</vt:lpstr>
      <vt:lpstr>맑은 고딕</vt:lpstr>
      <vt:lpstr>-윤고딕130</vt:lpstr>
      <vt:lpstr>-윤명조120</vt:lpstr>
      <vt:lpstr>태 나무</vt:lpstr>
      <vt:lpstr>Arial</vt:lpstr>
      <vt:lpstr>Wingdings</vt:lpstr>
      <vt:lpstr>Office 테마</vt:lpstr>
      <vt:lpstr>1_Office 테마</vt:lpstr>
      <vt:lpstr>제12장</vt:lpstr>
      <vt:lpstr>content</vt:lpstr>
      <vt:lpstr>1. 의의 및 목적</vt:lpstr>
      <vt:lpstr>2. 도입배경 및 발전과정</vt:lpstr>
      <vt:lpstr>2. 도입배경과 발전과정</vt:lpstr>
      <vt:lpstr>2. 도입배경 및 발전과정</vt:lpstr>
      <vt:lpstr>2. 도입배경 및 발전과정</vt:lpstr>
      <vt:lpstr>2. 도입배경 및 발전과정</vt:lpstr>
      <vt:lpstr>3. 실시상의 운용원칙</vt:lpstr>
      <vt:lpstr>4. 적용대상</vt:lpstr>
      <vt:lpstr>4. 적용대상</vt:lpstr>
      <vt:lpstr>4. 적용대상</vt:lpstr>
      <vt:lpstr>4. 적용대상</vt:lpstr>
      <vt:lpstr>PowerPoint 프레젠테이션</vt:lpstr>
      <vt:lpstr>4. 적용대상</vt:lpstr>
      <vt:lpstr>4. 적용대상</vt:lpstr>
      <vt:lpstr>4. 적용대상</vt:lpstr>
      <vt:lpstr>5. 급여내용</vt:lpstr>
      <vt:lpstr>5. 급여내용</vt:lpstr>
      <vt:lpstr>5. 급여내용</vt:lpstr>
      <vt:lpstr>5. 급여내용</vt:lpstr>
      <vt:lpstr>5. 급여내용</vt:lpstr>
      <vt:lpstr>5. 급여내용</vt:lpstr>
      <vt:lpstr>PowerPoint 프레젠테이션</vt:lpstr>
      <vt:lpstr>5. 급여내용</vt:lpstr>
      <vt:lpstr>5. 급여내용</vt:lpstr>
      <vt:lpstr>5. 급여내용</vt:lpstr>
      <vt:lpstr>5. 급여내용</vt:lpstr>
      <vt:lpstr>5. 급여내용</vt:lpstr>
      <vt:lpstr>5. 급여내용</vt:lpstr>
      <vt:lpstr>5. 급여내용</vt:lpstr>
      <vt:lpstr>5. 급여내용</vt:lpstr>
      <vt:lpstr>5. 급여내용</vt:lpstr>
      <vt:lpstr>5. 급여내용</vt:lpstr>
      <vt:lpstr>5. 급여내용</vt:lpstr>
      <vt:lpstr>5. 급여내용</vt:lpstr>
      <vt:lpstr>5. 급여내용</vt:lpstr>
      <vt:lpstr>5. 급여내용</vt:lpstr>
      <vt:lpstr>5. 급여내용</vt:lpstr>
      <vt:lpstr>5. 급여내용</vt:lpstr>
      <vt:lpstr>5. 급여내용</vt:lpstr>
      <vt:lpstr>5. 급여내용</vt:lpstr>
      <vt:lpstr>6. 재정(비용)</vt:lpstr>
      <vt:lpstr>6. 재정(비용)</vt:lpstr>
      <vt:lpstr>7. 운영체계</vt:lpstr>
      <vt:lpstr>7. 운영체계</vt:lpstr>
      <vt:lpstr>7. 운영체계</vt:lpstr>
      <vt:lpstr>7. 운영체계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【사회보장론】 (Social Security )</dc:title>
  <dc:creator>my</dc:creator>
  <cp:lastModifiedBy>노동주</cp:lastModifiedBy>
  <cp:revision>1284</cp:revision>
  <dcterms:created xsi:type="dcterms:W3CDTF">2013-07-17T08:20:07Z</dcterms:created>
  <dcterms:modified xsi:type="dcterms:W3CDTF">2024-11-14T06:59:30Z</dcterms:modified>
</cp:coreProperties>
</file>