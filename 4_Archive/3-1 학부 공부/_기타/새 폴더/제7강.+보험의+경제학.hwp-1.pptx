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jpg" ContentType="image/jp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0680700" cy="7556500"/>
  <p:notesSz cx="106807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636" y="1208885"/>
            <a:ext cx="8001000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6636" y="1512606"/>
            <a:ext cx="8549005" cy="4951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113006" y="6877765"/>
            <a:ext cx="49466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6048" y="1190607"/>
            <a:ext cx="3789045" cy="482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30"/>
              <a:t>제7강.</a:t>
            </a:r>
            <a:r>
              <a:rPr dirty="0" sz="3000" spc="400"/>
              <a:t> </a:t>
            </a:r>
            <a:r>
              <a:rPr dirty="0" sz="3000" spc="-5"/>
              <a:t>보험의</a:t>
            </a:r>
            <a:r>
              <a:rPr dirty="0" sz="3000" spc="400"/>
              <a:t> </a:t>
            </a:r>
            <a:r>
              <a:rPr dirty="0" sz="3000" spc="-5"/>
              <a:t>경제학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066636" y="2121876"/>
            <a:ext cx="7839709" cy="4088129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9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보험의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의미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위험으로부터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보호해줄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제도적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장치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민간부문에서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운영되는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보험수리적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기구(actuarial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mechanism)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5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개인들은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대체로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보험료보다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상대적으로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보험금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수령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사람들은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자발적으로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가입하는가?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보험이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성립될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조건은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무엇인가?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Clr>
                <a:srgbClr val="000000"/>
              </a:buClr>
              <a:buChar char="*"/>
              <a:tabLst>
                <a:tab pos="267335" algn="l"/>
              </a:tabLst>
            </a:pPr>
            <a:r>
              <a:rPr dirty="0" sz="2000" spc="50" b="1">
                <a:solidFill>
                  <a:srgbClr val="0000FF"/>
                </a:solidFill>
                <a:latin typeface="Malgun Gothic"/>
                <a:cs typeface="Malgun Gothic"/>
              </a:rPr>
              <a:t>위험(risk)</a:t>
            </a:r>
            <a:r>
              <a:rPr dirty="0" sz="2000" spc="5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사건의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알려져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있음</a:t>
            </a:r>
            <a:endParaRPr sz="20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Char char="*"/>
              <a:tabLst>
                <a:tab pos="267335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불확실성(uncertainty)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정보가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존재하지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않음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91528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제2절.</a:t>
            </a:r>
            <a:r>
              <a:rPr dirty="0" spc="265"/>
              <a:t> </a:t>
            </a:r>
            <a:r>
              <a:rPr dirty="0" spc="-5"/>
              <a:t>보험의</a:t>
            </a:r>
            <a:r>
              <a:rPr dirty="0" spc="265"/>
              <a:t> </a:t>
            </a:r>
            <a:r>
              <a:rPr dirty="0"/>
              <a:t>수요</a:t>
            </a:r>
            <a:r>
              <a:rPr dirty="0" spc="265"/>
              <a:t> </a:t>
            </a:r>
            <a:r>
              <a:rPr dirty="0" spc="-10"/>
              <a:t>측면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536" y="2020737"/>
            <a:ext cx="6800850" cy="369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개별적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수요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304800" indent="-254635">
              <a:lnSpc>
                <a:spcPct val="100000"/>
              </a:lnSpc>
              <a:buFont typeface="Cambria"/>
              <a:buChar char="○"/>
              <a:tabLst>
                <a:tab pos="304800" algn="l"/>
                <a:tab pos="3054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위험회피적인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개인에게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불확실성은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효용을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감소</a:t>
            </a:r>
            <a:endParaRPr sz="2000">
              <a:latin typeface="Malgun Gothic"/>
              <a:cs typeface="Malgun Gothic"/>
            </a:endParaRPr>
          </a:p>
          <a:p>
            <a:pPr lvl="1" marL="462915" indent="-28702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Char char="-"/>
              <a:tabLst>
                <a:tab pos="463550" algn="l"/>
              </a:tabLst>
            </a:pP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확실성</a:t>
            </a:r>
            <a:r>
              <a:rPr dirty="0" sz="2000" spc="-5" b="1">
                <a:latin typeface="Malgun Gothic"/>
                <a:cs typeface="Malgun Gothic"/>
              </a:rPr>
              <a:t>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효용을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증가시키는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일종의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상품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304800" indent="-254635">
              <a:lnSpc>
                <a:spcPct val="100000"/>
              </a:lnSpc>
              <a:buClr>
                <a:srgbClr val="000000"/>
              </a:buClr>
              <a:buFont typeface="Cambria"/>
              <a:buChar char="○"/>
              <a:tabLst>
                <a:tab pos="304800" algn="l"/>
                <a:tab pos="305435" algn="l"/>
              </a:tabLst>
            </a:pP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소득의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한계효용이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체감하는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위험회피적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성향의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개인</a:t>
            </a:r>
            <a:endParaRPr sz="2000">
              <a:latin typeface="Malgun Gothic"/>
              <a:cs typeface="Malgun Gothic"/>
            </a:endParaRPr>
          </a:p>
          <a:p>
            <a:pPr marL="176530">
              <a:lnSpc>
                <a:spcPct val="100000"/>
              </a:lnSpc>
              <a:spcBef>
                <a:spcPts val="72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나쁜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득과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효용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937">
                <a:latin typeface="Microsoft Sans Serif"/>
                <a:cs typeface="Microsoft Sans Serif"/>
              </a:rPr>
              <a:t>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100" spc="-465" i="1">
                <a:latin typeface="Arial"/>
                <a:cs typeface="Arial"/>
              </a:rPr>
              <a:t>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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  <a:p>
            <a:pPr marL="176530">
              <a:lnSpc>
                <a:spcPct val="100000"/>
              </a:lnSpc>
              <a:spcBef>
                <a:spcPts val="110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좋은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득과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효용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937">
                <a:latin typeface="Microsoft Sans Serif"/>
                <a:cs typeface="Microsoft Sans Serif"/>
              </a:rPr>
              <a:t>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100" spc="-465" i="1">
                <a:latin typeface="Arial"/>
                <a:cs typeface="Arial"/>
              </a:rPr>
              <a:t>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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  <a:p>
            <a:pPr lvl="1" marL="462915" indent="-287020">
              <a:lnSpc>
                <a:spcPct val="100000"/>
              </a:lnSpc>
              <a:spcBef>
                <a:spcPts val="1210"/>
              </a:spcBef>
              <a:buChar char="-"/>
              <a:tabLst>
                <a:tab pos="463550" algn="l"/>
              </a:tabLst>
            </a:pP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고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거나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</a:t>
            </a:r>
            <a:r>
              <a:rPr dirty="0" baseline="-20576" sz="2025" spc="-937">
                <a:latin typeface="Microsoft Sans Serif"/>
                <a:cs typeface="Microsoft Sans Serif"/>
              </a:rPr>
              <a:t>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0576" sz="2025" spc="-1012">
                <a:latin typeface="Microsoft Sans Serif"/>
                <a:cs typeface="Microsoft Sans Serif"/>
              </a:rPr>
              <a:t></a:t>
            </a:r>
            <a:endParaRPr baseline="-20576" sz="2025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28536" y="1075066"/>
            <a:ext cx="7750175" cy="460502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304800" indent="-254635">
              <a:lnSpc>
                <a:spcPct val="100000"/>
              </a:lnSpc>
              <a:spcBef>
                <a:spcPts val="1155"/>
              </a:spcBef>
              <a:buFont typeface="Cambria"/>
              <a:buChar char="○"/>
              <a:tabLst>
                <a:tab pos="304800" algn="l"/>
                <a:tab pos="3054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개인의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기대소득과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기대효용</a:t>
            </a:r>
            <a:endParaRPr sz="2000">
              <a:latin typeface="Malgun Gothic"/>
              <a:cs typeface="Malgun Gothic"/>
            </a:endParaRPr>
          </a:p>
          <a:p>
            <a:pPr marL="176530">
              <a:lnSpc>
                <a:spcPct val="100000"/>
              </a:lnSpc>
              <a:spcBef>
                <a:spcPts val="1120"/>
              </a:spcBef>
              <a:tabLst>
                <a:tab pos="182372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</a:t>
            </a:r>
            <a:r>
              <a:rPr dirty="0" sz="2000" spc="-15" b="1">
                <a:latin typeface="Malgun Gothic"/>
                <a:cs typeface="Malgun Gothic"/>
              </a:rPr>
              <a:t>대</a:t>
            </a:r>
            <a:r>
              <a:rPr dirty="0" sz="2000" b="1">
                <a:latin typeface="Malgun Gothic"/>
                <a:cs typeface="Malgun Gothic"/>
              </a:rPr>
              <a:t>소득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100" spc="-620" i="1">
                <a:latin typeface="Arial"/>
                <a:cs typeface="Arial"/>
              </a:rPr>
              <a:t>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890">
                <a:latin typeface="Microsoft Sans Serif"/>
                <a:cs typeface="Microsoft Sans Serif"/>
              </a:rPr>
              <a:t>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195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82">
                <a:latin typeface="Microsoft Sans Serif"/>
                <a:cs typeface="Microsoft Sans Serif"/>
              </a:rPr>
              <a:t> </a:t>
            </a:r>
            <a:r>
              <a:rPr dirty="0" sz="2000" spc="-2005">
                <a:latin typeface="Microsoft Sans Serif"/>
                <a:cs typeface="Microsoft Sans Serif"/>
              </a:rPr>
              <a:t></a:t>
            </a:r>
            <a:r>
              <a:rPr dirty="0" baseline="13888" sz="3000" spc="-1402">
                <a:latin typeface="Microsoft Sans Serif"/>
                <a:cs typeface="Microsoft Sans Serif"/>
              </a:rPr>
              <a:t>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</a:t>
            </a:r>
            <a:r>
              <a:rPr dirty="0" baseline="-20576" sz="2025" spc="-1027">
                <a:latin typeface="Microsoft Sans Serif"/>
                <a:cs typeface="Microsoft Sans Serif"/>
              </a:rPr>
              <a:t>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</a:t>
            </a:r>
            <a:r>
              <a:rPr dirty="0" baseline="-20576" sz="2025" spc="60">
                <a:latin typeface="Microsoft Sans Serif"/>
                <a:cs typeface="Microsoft Sans Serif"/>
              </a:rPr>
              <a:t> </a:t>
            </a:r>
            <a:r>
              <a:rPr dirty="0" baseline="2777" sz="3000" spc="-345">
                <a:latin typeface="Microsoft Sans Serif"/>
                <a:cs typeface="Microsoft Sans Serif"/>
              </a:rPr>
              <a:t></a:t>
            </a: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0576" sz="2025" spc="-1027">
                <a:latin typeface="Microsoft Sans Serif"/>
                <a:cs typeface="Microsoft Sans Serif"/>
              </a:rPr>
              <a:t>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</a:t>
            </a:r>
            <a:endParaRPr baseline="-20576" sz="2025">
              <a:latin typeface="Microsoft Sans Serif"/>
              <a:cs typeface="Microsoft Sans Serif"/>
            </a:endParaRPr>
          </a:p>
          <a:p>
            <a:pPr marL="176530">
              <a:lnSpc>
                <a:spcPct val="100000"/>
              </a:lnSpc>
              <a:spcBef>
                <a:spcPts val="1510"/>
              </a:spcBef>
              <a:tabLst>
                <a:tab pos="182372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</a:t>
            </a:r>
            <a:r>
              <a:rPr dirty="0" sz="2000" spc="-15" b="1">
                <a:latin typeface="Malgun Gothic"/>
                <a:cs typeface="Malgun Gothic"/>
              </a:rPr>
              <a:t>대</a:t>
            </a:r>
            <a:r>
              <a:rPr dirty="0" sz="2000" b="1">
                <a:latin typeface="Malgun Gothic"/>
                <a:cs typeface="Malgun Gothic"/>
              </a:rPr>
              <a:t>효용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100" spc="-620" i="1">
                <a:latin typeface="Arial"/>
                <a:cs typeface="Arial"/>
              </a:rPr>
              <a:t>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100" spc="-465" i="1">
                <a:latin typeface="Arial"/>
                <a:cs typeface="Arial"/>
              </a:rPr>
              <a:t>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195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82">
                <a:latin typeface="Microsoft Sans Serif"/>
                <a:cs typeface="Microsoft Sans Serif"/>
              </a:rPr>
              <a:t> </a:t>
            </a:r>
            <a:r>
              <a:rPr dirty="0" sz="2100" spc="-2105" i="1">
                <a:latin typeface="Arial"/>
                <a:cs typeface="Arial"/>
              </a:rPr>
              <a:t></a:t>
            </a:r>
            <a:r>
              <a:rPr dirty="0" baseline="19444" sz="3000" spc="-622">
                <a:latin typeface="Microsoft Sans Serif"/>
                <a:cs typeface="Microsoft Sans Serif"/>
              </a:rPr>
              <a:t>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0576" sz="2025" spc="-1027">
                <a:latin typeface="Microsoft Sans Serif"/>
                <a:cs typeface="Microsoft Sans Serif"/>
              </a:rPr>
              <a:t></a:t>
            </a:r>
            <a:r>
              <a:rPr dirty="0" sz="2100" spc="-465" i="1">
                <a:latin typeface="Arial"/>
                <a:cs typeface="Arial"/>
              </a:rPr>
              <a:t>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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427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427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0576" sz="2025" spc="-1027">
                <a:latin typeface="Microsoft Sans Serif"/>
                <a:cs typeface="Microsoft Sans Serif"/>
              </a:rPr>
              <a:t></a:t>
            </a:r>
            <a:r>
              <a:rPr dirty="0" sz="2100" spc="-465" i="1">
                <a:latin typeface="Arial"/>
                <a:cs typeface="Arial"/>
              </a:rPr>
              <a:t>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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  <a:p>
            <a:pPr marL="176530">
              <a:lnSpc>
                <a:spcPct val="100000"/>
              </a:lnSpc>
              <a:spcBef>
                <a:spcPts val="1215"/>
              </a:spcBef>
              <a:tabLst>
                <a:tab pos="2442210" algn="l"/>
                <a:tab pos="369506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예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</a:t>
            </a:r>
            <a:r>
              <a:rPr dirty="0" baseline="-20576" sz="2025" spc="-1012">
                <a:latin typeface="Microsoft Sans Serif"/>
                <a:cs typeface="Microsoft Sans Serif"/>
              </a:rPr>
              <a:t></a:t>
            </a:r>
            <a:r>
              <a:rPr dirty="0" baseline="-20576" sz="2025">
                <a:latin typeface="Microsoft Sans Serif"/>
                <a:cs typeface="Microsoft Sans Serif"/>
              </a:rPr>
              <a:t> </a:t>
            </a:r>
            <a:r>
              <a:rPr dirty="0" baseline="-20576" sz="2025" spc="-187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0576" sz="2025" spc="-1012">
                <a:latin typeface="Microsoft Sans Serif"/>
                <a:cs typeface="Microsoft Sans Serif"/>
              </a:rPr>
              <a:t></a:t>
            </a:r>
            <a:r>
              <a:rPr dirty="0" baseline="-20576" sz="2025">
                <a:latin typeface="Microsoft Sans Serif"/>
                <a:cs typeface="Microsoft Sans Serif"/>
              </a:rPr>
              <a:t> </a:t>
            </a:r>
            <a:r>
              <a:rPr dirty="0" baseline="-20576" sz="2025" spc="-187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</a:t>
            </a:r>
            <a:r>
              <a:rPr dirty="0" baseline="2777" sz="3000" spc="-2235">
                <a:latin typeface="Microsoft Sans Serif"/>
                <a:cs typeface="Microsoft Sans Serif"/>
              </a:rPr>
              <a:t></a:t>
            </a:r>
            <a:r>
              <a:rPr dirty="0" sz="2000" spc="-1015">
                <a:latin typeface="Microsoft Sans Serif"/>
                <a:cs typeface="Microsoft Sans Serif"/>
              </a:rPr>
              <a:t>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;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</a:t>
            </a:r>
            <a:r>
              <a:rPr dirty="0" baseline="-20576" sz="2025">
                <a:latin typeface="Microsoft Sans Serif"/>
                <a:cs typeface="Microsoft Sans Serif"/>
              </a:rPr>
              <a:t> </a:t>
            </a:r>
            <a:r>
              <a:rPr dirty="0" baseline="-20576" sz="2025" spc="-187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</a:t>
            </a:r>
            <a:r>
              <a:rPr dirty="0" sz="2000" spc="-1015">
                <a:latin typeface="Microsoft Sans Serif"/>
                <a:cs typeface="Microsoft Sans Serif"/>
              </a:rPr>
              <a:t>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;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</a:t>
            </a:r>
            <a:r>
              <a:rPr dirty="0" baseline="-20576" sz="2025">
                <a:latin typeface="Microsoft Sans Serif"/>
                <a:cs typeface="Microsoft Sans Serif"/>
              </a:rPr>
              <a:t> </a:t>
            </a:r>
            <a:r>
              <a:rPr dirty="0" baseline="-20576" sz="2025" spc="-172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</a:t>
            </a:r>
            <a:r>
              <a:rPr dirty="0" baseline="2777" sz="3000" spc="-2017">
                <a:latin typeface="Microsoft Sans Serif"/>
                <a:cs typeface="Microsoft Sans Serif"/>
              </a:rPr>
              <a:t></a:t>
            </a:r>
            <a:r>
              <a:rPr dirty="0" sz="2000" spc="-1025">
                <a:latin typeface="Microsoft Sans Serif"/>
                <a:cs typeface="Microsoft Sans Serif"/>
              </a:rPr>
              <a:t></a:t>
            </a:r>
            <a:r>
              <a:rPr dirty="0" sz="2000" spc="-1035">
                <a:latin typeface="Microsoft Sans Serif"/>
                <a:cs typeface="Microsoft Sans Serif"/>
              </a:rPr>
              <a:t></a:t>
            </a:r>
            <a:r>
              <a:rPr dirty="0" sz="2000" spc="-1015">
                <a:latin typeface="Microsoft Sans Serif"/>
                <a:cs typeface="Microsoft Sans Serif"/>
              </a:rPr>
              <a:t>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500">
              <a:latin typeface="Microsoft Sans Serif"/>
              <a:cs typeface="Microsoft Sans Serif"/>
            </a:endParaRPr>
          </a:p>
          <a:p>
            <a:pPr marL="304800" indent="-254635">
              <a:lnSpc>
                <a:spcPct val="100000"/>
              </a:lnSpc>
              <a:spcBef>
                <a:spcPts val="1905"/>
              </a:spcBef>
              <a:buFont typeface="Cambria"/>
              <a:buChar char="○"/>
              <a:tabLst>
                <a:tab pos="304800" algn="l"/>
                <a:tab pos="305435" algn="l"/>
                <a:tab pos="286067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험회</a:t>
            </a:r>
            <a:r>
              <a:rPr dirty="0" sz="2000" spc="-15" b="1">
                <a:latin typeface="Malgun Gothic"/>
                <a:cs typeface="Malgun Gothic"/>
              </a:rPr>
              <a:t>피</a:t>
            </a:r>
            <a:r>
              <a:rPr dirty="0" sz="2000" b="1">
                <a:latin typeface="Malgun Gothic"/>
                <a:cs typeface="Malgun Gothic"/>
              </a:rPr>
              <a:t>적인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</a:t>
            </a:r>
            <a:r>
              <a:rPr dirty="0" sz="2000" spc="-15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322" sz="3150" spc="-3157" i="1">
                <a:latin typeface="Arial"/>
                <a:cs typeface="Arial"/>
              </a:rPr>
              <a:t></a:t>
            </a:r>
            <a:r>
              <a:rPr dirty="0" baseline="20833" sz="3000" spc="-532">
                <a:latin typeface="Microsoft Sans Serif"/>
                <a:cs typeface="Microsoft Sans Serif"/>
              </a:rPr>
              <a:t></a:t>
            </a:r>
            <a:r>
              <a:rPr dirty="0" sz="2000" b="1">
                <a:latin typeface="Malgun Gothic"/>
                <a:cs typeface="Malgun Gothic"/>
              </a:rPr>
              <a:t>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획</a:t>
            </a:r>
            <a:r>
              <a:rPr dirty="0" sz="2000" spc="-15" b="1">
                <a:latin typeface="Malgun Gothic"/>
                <a:cs typeface="Malgun Gothic"/>
              </a:rPr>
              <a:t>득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방법</a:t>
            </a:r>
            <a:endParaRPr sz="2000">
              <a:latin typeface="Malgun Gothic"/>
              <a:cs typeface="Malgun Gothic"/>
            </a:endParaRPr>
          </a:p>
          <a:p>
            <a:pPr lvl="1" marL="537845" indent="-361950">
              <a:lnSpc>
                <a:spcPct val="100000"/>
              </a:lnSpc>
              <a:spcBef>
                <a:spcPts val="1115"/>
              </a:spcBef>
              <a:buAutoNum type="alphaLcParenR"/>
              <a:tabLst>
                <a:tab pos="538480" algn="l"/>
                <a:tab pos="2320290" algn="l"/>
                <a:tab pos="2745105" algn="l"/>
                <a:tab pos="6405880" algn="l"/>
                <a:tab pos="674243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불확실한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소득	</a:t>
            </a:r>
            <a:r>
              <a:rPr dirty="0" sz="2000" spc="-535">
                <a:latin typeface="Microsoft Sans Serif"/>
                <a:cs typeface="Microsoft Sans Serif"/>
              </a:rPr>
              <a:t></a:t>
            </a:r>
            <a:r>
              <a:rPr dirty="0" baseline="-20576" sz="2025" spc="-802">
                <a:latin typeface="Microsoft Sans Serif"/>
                <a:cs typeface="Microsoft Sans Serif"/>
              </a:rPr>
              <a:t></a:t>
            </a:r>
            <a:r>
              <a:rPr dirty="0" sz="2000" spc="-535" b="1">
                <a:latin typeface="Malgun Gothic"/>
                <a:cs typeface="Malgun Gothic"/>
              </a:rPr>
              <a:t>,	</a:t>
            </a:r>
            <a:r>
              <a:rPr dirty="0" sz="2000" spc="-415">
                <a:latin typeface="Microsoft Sans Serif"/>
                <a:cs typeface="Microsoft Sans Serif"/>
              </a:rPr>
              <a:t></a:t>
            </a:r>
            <a:r>
              <a:rPr dirty="0" baseline="-20576" sz="2025" spc="-622">
                <a:latin typeface="Microsoft Sans Serif"/>
                <a:cs typeface="Microsoft Sans Serif"/>
              </a:rPr>
              <a:t></a:t>
            </a:r>
            <a:r>
              <a:rPr dirty="0" sz="2000" spc="-415" b="1">
                <a:latin typeface="Malgun Gothic"/>
                <a:cs typeface="Malgun Gothic"/>
              </a:rPr>
              <a:t>에서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발생하는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효용들로부터	</a:t>
            </a:r>
            <a:r>
              <a:rPr dirty="0" baseline="1322" sz="3150" spc="-1964" i="1">
                <a:latin typeface="Arial"/>
                <a:cs typeface="Arial"/>
              </a:rPr>
              <a:t></a:t>
            </a:r>
            <a:r>
              <a:rPr dirty="0" baseline="20833" sz="3000" spc="-1964">
                <a:latin typeface="Microsoft Sans Serif"/>
                <a:cs typeface="Microsoft Sans Serif"/>
              </a:rPr>
              <a:t>	</a:t>
            </a:r>
            <a:r>
              <a:rPr dirty="0" sz="2000" b="1">
                <a:latin typeface="Malgun Gothic"/>
                <a:cs typeface="Malgun Gothic"/>
              </a:rPr>
              <a:t>획득</a:t>
            </a:r>
            <a:endParaRPr sz="2000">
              <a:latin typeface="Malgun Gothic"/>
              <a:cs typeface="Malgun Gothic"/>
            </a:endParaRPr>
          </a:p>
          <a:p>
            <a:pPr marL="431165">
              <a:lnSpc>
                <a:spcPct val="100000"/>
              </a:lnSpc>
              <a:spcBef>
                <a:spcPts val="1200"/>
              </a:spcBef>
              <a:tabLst>
                <a:tab pos="1718945" algn="l"/>
              </a:tabLst>
            </a:pPr>
            <a:r>
              <a:rPr dirty="0" sz="2000" spc="330">
                <a:latin typeface="Cambria"/>
                <a:cs typeface="Cambria"/>
              </a:rPr>
              <a:t>▸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경</a:t>
            </a:r>
            <a:r>
              <a:rPr dirty="0" sz="2000" b="1">
                <a:latin typeface="Malgun Gothic"/>
                <a:cs typeface="Malgun Gothic"/>
              </a:rPr>
              <a:t>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5277" sz="3000" spc="-3007">
                <a:latin typeface="Microsoft Sans Serif"/>
                <a:cs typeface="Microsoft Sans Serif"/>
              </a:rPr>
              <a:t></a:t>
            </a:r>
            <a:r>
              <a:rPr dirty="0" baseline="1388" sz="3000" spc="-1320">
                <a:latin typeface="Microsoft Sans Serif"/>
                <a:cs typeface="Microsoft Sans Serif"/>
              </a:rPr>
              <a:t>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법</a:t>
            </a:r>
            <a:r>
              <a:rPr dirty="0" sz="2000" b="1">
                <a:latin typeface="Malgun Gothic"/>
                <a:cs typeface="Malgun Gothic"/>
              </a:rPr>
              <a:t>칙에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따른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댓값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3165">
                <a:latin typeface="Cambria"/>
                <a:cs typeface="Cambria"/>
              </a:rPr>
              <a:t>⟹</a:t>
            </a:r>
            <a:r>
              <a:rPr dirty="0" sz="20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</a:t>
            </a:r>
            <a:r>
              <a:rPr dirty="0" sz="2000" spc="-15" b="1">
                <a:latin typeface="Malgun Gothic"/>
                <a:cs typeface="Malgun Gothic"/>
              </a:rPr>
              <a:t>현</a:t>
            </a:r>
            <a:r>
              <a:rPr dirty="0" sz="2000" b="1">
                <a:latin typeface="Malgun Gothic"/>
                <a:cs typeface="Malgun Gothic"/>
              </a:rPr>
              <a:t>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75" b="1">
                <a:latin typeface="Malgun Gothic"/>
                <a:cs typeface="Malgun Gothic"/>
              </a:rPr>
              <a:t>없음</a:t>
            </a:r>
            <a:endParaRPr sz="2000">
              <a:latin typeface="Malgun Gothic"/>
              <a:cs typeface="Malgun Gothic"/>
            </a:endParaRPr>
          </a:p>
          <a:p>
            <a:pPr lvl="1" marL="545465" indent="-369570">
              <a:lnSpc>
                <a:spcPct val="100000"/>
              </a:lnSpc>
              <a:spcBef>
                <a:spcPts val="1135"/>
              </a:spcBef>
              <a:buAutoNum type="alphaLcParenR" startAt="2"/>
              <a:tabLst>
                <a:tab pos="546100" algn="l"/>
                <a:tab pos="5673725" algn="l"/>
                <a:tab pos="6010275" algn="l"/>
              </a:tabLst>
            </a:pPr>
            <a:r>
              <a:rPr dirty="0" sz="2000" b="1">
                <a:latin typeface="Malgun Gothic"/>
                <a:cs typeface="Malgun Gothic"/>
              </a:rPr>
              <a:t>보험에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가입하여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확실한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-155" b="1">
                <a:latin typeface="Malgun Gothic"/>
                <a:cs typeface="Malgun Gothic"/>
              </a:rPr>
              <a:t>소득(</a:t>
            </a:r>
            <a:r>
              <a:rPr dirty="0" sz="2000" spc="-155">
                <a:latin typeface="Microsoft Sans Serif"/>
                <a:cs typeface="Microsoft Sans Serif"/>
              </a:rPr>
              <a:t></a:t>
            </a:r>
            <a:r>
              <a:rPr dirty="0" baseline="37037" sz="2025" spc="-232">
                <a:latin typeface="Microsoft Sans Serif"/>
                <a:cs typeface="Microsoft Sans Serif"/>
              </a:rPr>
              <a:t></a:t>
            </a:r>
            <a:r>
              <a:rPr dirty="0" sz="2000" spc="-155" b="1">
                <a:latin typeface="Malgun Gothic"/>
                <a:cs typeface="Malgun Gothic"/>
              </a:rPr>
              <a:t>)으로부터	</a:t>
            </a:r>
            <a:r>
              <a:rPr dirty="0" baseline="1322" sz="3150" spc="-1964" i="1">
                <a:latin typeface="Arial"/>
                <a:cs typeface="Arial"/>
              </a:rPr>
              <a:t></a:t>
            </a:r>
            <a:r>
              <a:rPr dirty="0" baseline="20833" sz="3000" spc="-1964">
                <a:latin typeface="Microsoft Sans Serif"/>
                <a:cs typeface="Microsoft Sans Serif"/>
              </a:rPr>
              <a:t>	</a:t>
            </a:r>
            <a:r>
              <a:rPr dirty="0" sz="2000" spc="-10" b="1">
                <a:latin typeface="Malgun Gothic"/>
                <a:cs typeface="Malgun Gothic"/>
              </a:rPr>
              <a:t>획득</a:t>
            </a:r>
            <a:endParaRPr sz="2000">
              <a:latin typeface="Malgun Gothic"/>
              <a:cs typeface="Malgun Gothic"/>
            </a:endParaRPr>
          </a:p>
          <a:p>
            <a:pPr marL="431165">
              <a:lnSpc>
                <a:spcPct val="100000"/>
              </a:lnSpc>
              <a:spcBef>
                <a:spcPts val="770"/>
              </a:spcBef>
            </a:pPr>
            <a:r>
              <a:rPr dirty="0" sz="2000" spc="165">
                <a:latin typeface="Cambria"/>
                <a:cs typeface="Cambria"/>
              </a:rPr>
              <a:t>▸</a:t>
            </a:r>
            <a:r>
              <a:rPr dirty="0" sz="2000" spc="165" b="1">
                <a:latin typeface="Malgun Gothic"/>
                <a:cs typeface="Malgun Gothic"/>
              </a:rPr>
              <a:t>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구입하는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것이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확실성(certainty)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7495" y="1208885"/>
            <a:ext cx="638746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80"/>
              <a:t> </a:t>
            </a:r>
            <a:r>
              <a:rPr dirty="0" spc="70"/>
              <a:t>5-1&gt;</a:t>
            </a:r>
            <a:r>
              <a:rPr dirty="0" spc="285"/>
              <a:t> </a:t>
            </a:r>
            <a:r>
              <a:rPr dirty="0" spc="-5"/>
              <a:t>위험회피적</a:t>
            </a:r>
            <a:r>
              <a:rPr dirty="0" spc="285"/>
              <a:t> </a:t>
            </a:r>
            <a:r>
              <a:rPr dirty="0"/>
              <a:t>성향을</a:t>
            </a:r>
            <a:r>
              <a:rPr dirty="0" spc="280"/>
              <a:t> </a:t>
            </a:r>
            <a:r>
              <a:rPr dirty="0" spc="-10"/>
              <a:t>가진</a:t>
            </a:r>
            <a:r>
              <a:rPr dirty="0" spc="280"/>
              <a:t> </a:t>
            </a:r>
            <a:r>
              <a:rPr dirty="0"/>
              <a:t>개인의</a:t>
            </a:r>
            <a:r>
              <a:rPr dirty="0" spc="285"/>
              <a:t> </a:t>
            </a:r>
            <a:r>
              <a:rPr dirty="0" spc="-5"/>
              <a:t>보험수요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512" y="2071522"/>
            <a:ext cx="7244140" cy="43486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03136" y="1263720"/>
            <a:ext cx="5969000" cy="2879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885" indent="-274320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349885" algn="l"/>
                <a:tab pos="350520" algn="l"/>
              </a:tabLst>
            </a:pPr>
            <a:r>
              <a:rPr dirty="0" baseline="15277" sz="3000" spc="-3007">
                <a:latin typeface="Microsoft Sans Serif"/>
                <a:cs typeface="Microsoft Sans Serif"/>
              </a:rPr>
              <a:t></a:t>
            </a:r>
            <a:r>
              <a:rPr dirty="0" baseline="1388" sz="3000" spc="-1320">
                <a:latin typeface="Microsoft Sans Serif"/>
                <a:cs typeface="Microsoft Sans Serif"/>
              </a:rPr>
              <a:t></a:t>
            </a:r>
            <a:r>
              <a:rPr dirty="0" sz="2000" b="1">
                <a:latin typeface="Malgun Gothic"/>
                <a:cs typeface="Malgun Gothic"/>
              </a:rPr>
              <a:t>와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baseline="37037" sz="2025" spc="-937">
                <a:latin typeface="Microsoft Sans Serif"/>
                <a:cs typeface="Microsoft Sans Serif"/>
              </a:rPr>
              <a:t>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무차</a:t>
            </a:r>
            <a:r>
              <a:rPr dirty="0" sz="2000" spc="-15" b="1">
                <a:latin typeface="Malgun Gothic"/>
                <a:cs typeface="Malgun Gothic"/>
              </a:rPr>
              <a:t>별</a:t>
            </a:r>
            <a:r>
              <a:rPr dirty="0" sz="2000" b="1">
                <a:latin typeface="Malgun Gothic"/>
                <a:cs typeface="Malgun Gothic"/>
              </a:rPr>
              <a:t>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Malgun Gothic"/>
              <a:cs typeface="Malgun Gothic"/>
            </a:endParaRPr>
          </a:p>
          <a:p>
            <a:pPr marL="201930">
              <a:lnSpc>
                <a:spcPct val="100000"/>
              </a:lnSpc>
              <a:tabLst>
                <a:tab pos="495934" algn="l"/>
              </a:tabLst>
            </a:pPr>
            <a:r>
              <a:rPr dirty="0" baseline="-2777" sz="3000" spc="630" b="1">
                <a:latin typeface="Malgun Gothic"/>
                <a:cs typeface="Malgun Gothic"/>
              </a:rPr>
              <a:t>-</a:t>
            </a:r>
            <a:r>
              <a:rPr dirty="0" baseline="-2777" sz="3000" spc="630" b="1">
                <a:latin typeface="Malgun Gothic"/>
                <a:cs typeface="Malgun Gothic"/>
              </a:rPr>
              <a:t>	</a:t>
            </a:r>
            <a:r>
              <a:rPr dirty="0" baseline="-2645" sz="3150" spc="-712" i="1">
                <a:latin typeface="Arial"/>
                <a:cs typeface="Arial"/>
              </a:rPr>
              <a:t></a:t>
            </a:r>
            <a:r>
              <a:rPr dirty="0" sz="2000" spc="-1155">
                <a:latin typeface="Microsoft Sans Serif"/>
                <a:cs typeface="Microsoft Sans Serif"/>
              </a:rPr>
              <a:t></a:t>
            </a:r>
            <a:r>
              <a:rPr dirty="0" baseline="-2777" sz="3000" spc="-3007">
                <a:latin typeface="Microsoft Sans Serif"/>
                <a:cs typeface="Microsoft Sans Serif"/>
              </a:rPr>
              <a:t></a:t>
            </a:r>
            <a:r>
              <a:rPr dirty="0" baseline="11111" sz="3000" spc="-1402">
                <a:latin typeface="Microsoft Sans Serif"/>
                <a:cs typeface="Microsoft Sans Serif"/>
              </a:rPr>
              <a:t></a:t>
            </a:r>
            <a:r>
              <a:rPr dirty="0" sz="2000" spc="-1235">
                <a:latin typeface="Microsoft Sans Serif"/>
                <a:cs typeface="Microsoft Sans Serif"/>
              </a:rPr>
              <a:t></a:t>
            </a:r>
            <a:r>
              <a:rPr dirty="0" sz="2000" spc="-130">
                <a:latin typeface="Microsoft Sans Serif"/>
                <a:cs typeface="Microsoft Sans Serif"/>
              </a:rPr>
              <a:t> </a:t>
            </a:r>
            <a:r>
              <a:rPr dirty="0" sz="2000" spc="-465">
                <a:latin typeface="Microsoft Sans Serif"/>
                <a:cs typeface="Microsoft Sans Serif"/>
              </a:rPr>
              <a:t></a:t>
            </a:r>
            <a:r>
              <a:rPr dirty="0" sz="2000" spc="-150">
                <a:latin typeface="Microsoft Sans Serif"/>
                <a:cs typeface="Microsoft Sans Serif"/>
              </a:rPr>
              <a:t> </a:t>
            </a:r>
            <a:r>
              <a:rPr dirty="0" baseline="-2645" sz="3150" spc="-697" i="1">
                <a:latin typeface="Arial"/>
                <a:cs typeface="Arial"/>
              </a:rPr>
              <a:t></a:t>
            </a:r>
            <a:r>
              <a:rPr dirty="0" sz="2000" spc="-1265">
                <a:latin typeface="Microsoft Sans Serif"/>
                <a:cs typeface="Microsoft Sans Serif"/>
              </a:rPr>
              <a:t></a:t>
            </a:r>
            <a:r>
              <a:rPr dirty="0" baseline="-2777" sz="3000" spc="-1552">
                <a:latin typeface="Microsoft Sans Serif"/>
                <a:cs typeface="Microsoft Sans Serif"/>
              </a:rPr>
              <a:t></a:t>
            </a:r>
            <a:r>
              <a:rPr dirty="0" baseline="32921" sz="2025" spc="-1012">
                <a:latin typeface="Microsoft Sans Serif"/>
                <a:cs typeface="Microsoft Sans Serif"/>
              </a:rPr>
              <a:t></a:t>
            </a:r>
            <a:r>
              <a:rPr dirty="0" baseline="32921" sz="2025" spc="-247">
                <a:latin typeface="Microsoft Sans Serif"/>
                <a:cs typeface="Microsoft Sans Serif"/>
              </a:rPr>
              <a:t> </a:t>
            </a:r>
            <a:r>
              <a:rPr dirty="0" sz="2000" spc="-1235">
                <a:latin typeface="Microsoft Sans Serif"/>
                <a:cs typeface="Microsoft Sans Serif"/>
              </a:rPr>
              <a:t></a:t>
            </a:r>
            <a:r>
              <a:rPr dirty="0" sz="2000" spc="-130">
                <a:latin typeface="Microsoft Sans Serif"/>
                <a:cs typeface="Microsoft Sans Serif"/>
              </a:rPr>
              <a:t> </a:t>
            </a:r>
            <a:r>
              <a:rPr dirty="0" sz="2000" spc="-715">
                <a:latin typeface="Microsoft Sans Serif"/>
                <a:cs typeface="Microsoft Sans Serif"/>
              </a:rPr>
              <a:t></a:t>
            </a:r>
            <a:r>
              <a:rPr dirty="0" baseline="16666" sz="3000" spc="-4102">
                <a:latin typeface="Microsoft Sans Serif"/>
                <a:cs typeface="Microsoft Sans Serif"/>
              </a:rPr>
              <a:t></a:t>
            </a:r>
            <a:r>
              <a:rPr dirty="0" baseline="-2645" sz="3150" spc="-930" i="1">
                <a:latin typeface="Arial"/>
                <a:cs typeface="Arial"/>
              </a:rPr>
              <a:t></a:t>
            </a:r>
            <a:endParaRPr baseline="-2645" sz="3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00">
              <a:latin typeface="Arial"/>
              <a:cs typeface="Arial"/>
            </a:endParaRPr>
          </a:p>
          <a:p>
            <a:pPr marL="201930">
              <a:lnSpc>
                <a:spcPct val="100000"/>
              </a:lnSpc>
              <a:tabLst>
                <a:tab pos="2951480" algn="l"/>
                <a:tab pos="322072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확실성의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40" b="1">
                <a:latin typeface="Malgun Gothic"/>
                <a:cs typeface="Malgun Gothic"/>
              </a:rPr>
              <a:t>가치(V)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190" b="1">
                <a:latin typeface="Malgun Gothic"/>
                <a:cs typeface="Malgun Gothic"/>
              </a:rPr>
              <a:t>=	</a:t>
            </a:r>
            <a:r>
              <a:rPr dirty="0" baseline="1388" sz="3000" spc="-2279">
                <a:latin typeface="Microsoft Sans Serif"/>
                <a:cs typeface="Microsoft Sans Serif"/>
              </a:rPr>
              <a:t></a:t>
            </a:r>
            <a:r>
              <a:rPr dirty="0" baseline="15277" sz="3000" spc="-2279">
                <a:latin typeface="Microsoft Sans Serif"/>
                <a:cs typeface="Microsoft Sans Serif"/>
              </a:rPr>
              <a:t>	</a:t>
            </a: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855">
                <a:latin typeface="Microsoft Sans Serif"/>
                <a:cs typeface="Microsoft Sans Serif"/>
              </a:rPr>
              <a:t></a:t>
            </a:r>
            <a:r>
              <a:rPr dirty="0" baseline="37037" sz="2025" spc="-1282">
                <a:latin typeface="Microsoft Sans Serif"/>
                <a:cs typeface="Microsoft Sans Serif"/>
              </a:rPr>
              <a:t></a:t>
            </a:r>
            <a:endParaRPr baseline="37037" sz="2025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>
              <a:latin typeface="Microsoft Sans Serif"/>
              <a:cs typeface="Microsoft Sans Serif"/>
            </a:endParaRPr>
          </a:p>
          <a:p>
            <a:pPr marL="201930">
              <a:lnSpc>
                <a:spcPct val="100000"/>
              </a:lnSpc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105" b="1">
                <a:latin typeface="Malgun Gothic"/>
                <a:cs typeface="Malgun Gothic"/>
              </a:rPr>
              <a:t>순보험료(</a:t>
            </a:r>
            <a:r>
              <a:rPr dirty="0" sz="2000" spc="-105">
                <a:latin typeface="Microsoft Sans Serif"/>
                <a:cs typeface="Microsoft Sans Serif"/>
              </a:rPr>
              <a:t></a:t>
            </a:r>
            <a:r>
              <a:rPr dirty="0" sz="2000" spc="-105" b="1">
                <a:latin typeface="Malgun Gothic"/>
                <a:cs typeface="Malgun Gothic"/>
              </a:rPr>
              <a:t>)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190" b="1">
                <a:latin typeface="Malgun Gothic"/>
                <a:cs typeface="Malgun Gothic"/>
              </a:rPr>
              <a:t>&lt;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확실성의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40" b="1">
                <a:latin typeface="Malgun Gothic"/>
                <a:cs typeface="Malgun Gothic"/>
              </a:rPr>
              <a:t>가치(V)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3165">
                <a:latin typeface="Cambria"/>
                <a:cs typeface="Cambria"/>
              </a:rPr>
              <a:t>⟹</a:t>
            </a:r>
            <a:r>
              <a:rPr dirty="0" sz="2000" spc="555">
                <a:latin typeface="Cambria"/>
                <a:cs typeface="Cambria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1675" b="1">
                <a:latin typeface="Malgun Gothic"/>
                <a:cs typeface="Malgun Gothic"/>
              </a:rPr>
              <a:t>가입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6636" y="1124282"/>
            <a:ext cx="6074410" cy="204978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78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90" b="1">
                <a:latin typeface="Malgun Gothic"/>
                <a:cs typeface="Malgun Gothic"/>
              </a:rPr>
              <a:t>순보험료(</a:t>
            </a:r>
            <a:r>
              <a:rPr dirty="0" sz="2000" spc="-90">
                <a:latin typeface="Microsoft Sans Serif"/>
                <a:cs typeface="Microsoft Sans Serif"/>
              </a:rPr>
              <a:t></a:t>
            </a:r>
            <a:r>
              <a:rPr dirty="0" sz="2000" spc="-90" b="1">
                <a:latin typeface="Malgun Gothic"/>
                <a:cs typeface="Malgun Gothic"/>
              </a:rPr>
              <a:t>)와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105" b="1">
                <a:latin typeface="Malgun Gothic"/>
                <a:cs typeface="Malgun Gothic"/>
              </a:rPr>
              <a:t>보험료(</a:t>
            </a:r>
            <a:r>
              <a:rPr dirty="0" sz="2000" spc="-105">
                <a:latin typeface="Microsoft Sans Serif"/>
                <a:cs typeface="Microsoft Sans Serif"/>
              </a:rPr>
              <a:t></a:t>
            </a:r>
            <a:r>
              <a:rPr dirty="0" sz="2000" spc="-105" b="1">
                <a:latin typeface="Malgun Gothic"/>
                <a:cs typeface="Malgun Gothic"/>
              </a:rPr>
              <a:t>)의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구분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725"/>
              </a:spcBef>
              <a:tabLst>
                <a:tab pos="432434" algn="l"/>
                <a:tab pos="1002030" algn="l"/>
                <a:tab pos="1278890" algn="l"/>
                <a:tab pos="493395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spc="-825">
                <a:latin typeface="Microsoft Sans Serif"/>
                <a:cs typeface="Microsoft Sans Serif"/>
              </a:rPr>
              <a:t></a:t>
            </a:r>
            <a:r>
              <a:rPr dirty="0" sz="2000" spc="-825">
                <a:latin typeface="Microsoft Sans Serif"/>
                <a:cs typeface="Microsoft Sans Serif"/>
              </a:rPr>
              <a:t> </a:t>
            </a:r>
            <a:r>
              <a:rPr dirty="0" sz="2000" spc="-70">
                <a:latin typeface="Microsoft Sans Serif"/>
                <a:cs typeface="Microsoft Sans Serif"/>
              </a:rPr>
              <a:t> </a:t>
            </a:r>
            <a:r>
              <a:rPr dirty="0" sz="2000" spc="-190" b="1">
                <a:latin typeface="Malgun Gothic"/>
                <a:cs typeface="Malgun Gothic"/>
              </a:rPr>
              <a:t>=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875">
                <a:latin typeface="Microsoft Sans Serif"/>
                <a:cs typeface="Microsoft Sans Serif"/>
              </a:rPr>
              <a:t>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평균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험급여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90" b="1">
                <a:latin typeface="Malgun Gothic"/>
                <a:cs typeface="Malgun Gothic"/>
              </a:rPr>
              <a:t>=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기대</a:t>
            </a:r>
            <a:r>
              <a:rPr dirty="0" sz="2000" spc="-15" b="1">
                <a:latin typeface="Malgun Gothic"/>
                <a:cs typeface="Malgun Gothic"/>
              </a:rPr>
              <a:t>손</a:t>
            </a:r>
            <a:r>
              <a:rPr dirty="0" sz="2000" b="1">
                <a:latin typeface="Malgun Gothic"/>
                <a:cs typeface="Malgun Gothic"/>
              </a:rPr>
              <a:t>실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90" b="1">
                <a:latin typeface="Malgun Gothic"/>
                <a:cs typeface="Malgun Gothic"/>
              </a:rPr>
              <a:t>=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100" spc="-620" i="1">
                <a:latin typeface="Arial"/>
                <a:cs typeface="Arial"/>
              </a:rPr>
              <a:t>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100" spc="-760" i="1">
                <a:latin typeface="Arial"/>
                <a:cs typeface="Arial"/>
              </a:rPr>
              <a:t>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209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25">
                <a:latin typeface="Microsoft Sans Serif"/>
                <a:cs typeface="Microsoft Sans Serif"/>
              </a:rPr>
              <a:t></a:t>
            </a:r>
            <a:r>
              <a:rPr dirty="0" sz="2100" spc="-865" i="1">
                <a:latin typeface="Arial"/>
                <a:cs typeface="Arial"/>
              </a:rPr>
              <a:t></a:t>
            </a:r>
            <a:endParaRPr sz="2100">
              <a:latin typeface="Arial"/>
              <a:cs typeface="Arial"/>
            </a:endParaRPr>
          </a:p>
          <a:p>
            <a:pPr marL="138430">
              <a:lnSpc>
                <a:spcPct val="100000"/>
              </a:lnSpc>
              <a:spcBef>
                <a:spcPts val="705"/>
              </a:spcBef>
              <a:tabLst>
                <a:tab pos="432434" algn="l"/>
                <a:tab pos="689610" algn="l"/>
                <a:tab pos="3013075" algn="l"/>
                <a:tab pos="329882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	</a:t>
            </a:r>
            <a:r>
              <a:rPr dirty="0" sz="2000" spc="-1010">
                <a:latin typeface="Microsoft Sans Serif"/>
                <a:cs typeface="Microsoft Sans Serif"/>
              </a:rPr>
              <a:t>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발생확률,	</a:t>
            </a:r>
            <a:r>
              <a:rPr dirty="0" sz="2100" spc="-865" i="1">
                <a:latin typeface="Arial"/>
                <a:cs typeface="Arial"/>
              </a:rPr>
              <a:t>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손실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규모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100" b="1">
                <a:latin typeface="Malgun Gothic"/>
                <a:cs typeface="Malgun Gothic"/>
              </a:rPr>
              <a:t>&lt;표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70" b="1">
                <a:latin typeface="Malgun Gothic"/>
                <a:cs typeface="Malgun Gothic"/>
              </a:rPr>
              <a:t>5-1&gt;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총보험료와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순보험료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13586" y="3333483"/>
          <a:ext cx="8457565" cy="2891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6225"/>
                <a:gridCol w="2816225"/>
                <a:gridCol w="2817495"/>
              </a:tblGrid>
              <a:tr h="505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좋은</a:t>
                      </a:r>
                      <a:r>
                        <a:rPr dirty="0" sz="2000" spc="229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해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869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000" spc="-10" b="1">
                          <a:latin typeface="Malgun Gothic"/>
                          <a:cs typeface="Malgun Gothic"/>
                        </a:rPr>
                        <a:t>나쁜</a:t>
                      </a:r>
                      <a:r>
                        <a:rPr dirty="0" sz="2000" spc="2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해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869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01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spc="40" b="1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dirty="0" sz="2000" spc="2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소득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13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spc="35" b="1">
                          <a:latin typeface="Malgun Gothic"/>
                          <a:cs typeface="Malgun Gothic"/>
                        </a:rPr>
                        <a:t>1,000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13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100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13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05926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40" b="1">
                          <a:latin typeface="Malgun Gothic"/>
                          <a:cs typeface="Malgun Gothic"/>
                        </a:rPr>
                        <a:t>2.</a:t>
                      </a:r>
                      <a:r>
                        <a:rPr dirty="0" sz="2000" spc="2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보험료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550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550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6687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40" b="1">
                          <a:latin typeface="Malgun Gothic"/>
                          <a:cs typeface="Malgun Gothic"/>
                        </a:rPr>
                        <a:t>3.</a:t>
                      </a:r>
                      <a:r>
                        <a:rPr dirty="0" sz="2000" spc="24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보험급여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-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900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5926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40" b="1">
                          <a:latin typeface="Malgun Gothic"/>
                          <a:cs typeface="Malgun Gothic"/>
                        </a:rPr>
                        <a:t>4.</a:t>
                      </a:r>
                      <a:r>
                        <a:rPr dirty="0" sz="2000" spc="229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80" b="1">
                          <a:latin typeface="Malgun Gothic"/>
                          <a:cs typeface="Malgun Gothic"/>
                        </a:rPr>
                        <a:t>순소득(1-2+3)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450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450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83183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40" b="1">
                          <a:latin typeface="Malgun Gothic"/>
                          <a:cs typeface="Malgun Gothic"/>
                        </a:rPr>
                        <a:t>5.</a:t>
                      </a:r>
                      <a:r>
                        <a:rPr dirty="0" sz="2000" spc="24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순보험료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100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100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142104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80"/>
              <a:t> </a:t>
            </a:r>
            <a:r>
              <a:rPr dirty="0"/>
              <a:t>보험의</a:t>
            </a:r>
            <a:r>
              <a:rPr dirty="0" spc="280"/>
              <a:t> </a:t>
            </a:r>
            <a:r>
              <a:rPr dirty="0" spc="-10"/>
              <a:t>본질</a:t>
            </a:r>
            <a:r>
              <a:rPr dirty="0" spc="280"/>
              <a:t> </a:t>
            </a:r>
            <a:r>
              <a:rPr dirty="0" spc="140"/>
              <a:t>:</a:t>
            </a:r>
            <a:r>
              <a:rPr dirty="0" spc="285"/>
              <a:t> </a:t>
            </a:r>
            <a:r>
              <a:rPr dirty="0"/>
              <a:t>위험의</a:t>
            </a:r>
            <a:r>
              <a:rPr dirty="0" spc="280"/>
              <a:t> </a:t>
            </a:r>
            <a:r>
              <a:rPr dirty="0" spc="-10"/>
              <a:t>분산</a:t>
            </a:r>
            <a:r>
              <a:rPr dirty="0" spc="280"/>
              <a:t> </a:t>
            </a:r>
            <a:r>
              <a:rPr dirty="0"/>
              <a:t>기구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9387" rIns="0" bIns="0" rtlCol="0" vert="horz">
            <a:spAutoFit/>
          </a:bodyPr>
          <a:lstStyle/>
          <a:p>
            <a:pPr marL="313690" marR="6350" indent="-30162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313690" algn="l"/>
                <a:tab pos="314325" algn="l"/>
                <a:tab pos="1251585" algn="l"/>
                <a:tab pos="2187575" algn="l"/>
                <a:tab pos="3124200" algn="l"/>
                <a:tab pos="4317365" algn="l"/>
                <a:tab pos="4734560" algn="l"/>
                <a:tab pos="5527675" algn="l"/>
                <a:tab pos="7089775" algn="l"/>
                <a:tab pos="8025765" algn="l"/>
              </a:tabLst>
            </a:pPr>
            <a:r>
              <a:rPr dirty="0"/>
              <a:t>보험의</a:t>
            </a:r>
            <a:r>
              <a:rPr dirty="0"/>
              <a:t>	</a:t>
            </a:r>
            <a:r>
              <a:rPr dirty="0" spc="-15"/>
              <a:t>기</a:t>
            </a:r>
            <a:r>
              <a:rPr dirty="0"/>
              <a:t>능은</a:t>
            </a:r>
            <a:r>
              <a:rPr dirty="0"/>
              <a:t>	</a:t>
            </a:r>
            <a:r>
              <a:rPr dirty="0" spc="-15"/>
              <a:t>대</a:t>
            </a:r>
            <a:r>
              <a:rPr dirty="0"/>
              <a:t>수의</a:t>
            </a:r>
            <a:r>
              <a:rPr dirty="0"/>
              <a:t>	</a:t>
            </a:r>
            <a:r>
              <a:rPr dirty="0" spc="-15"/>
              <a:t>법</a:t>
            </a:r>
            <a:r>
              <a:rPr dirty="0"/>
              <a:t>칙</a:t>
            </a:r>
            <a:r>
              <a:rPr dirty="0" spc="35"/>
              <a:t>(</a:t>
            </a:r>
            <a:r>
              <a:rPr dirty="0" spc="35"/>
              <a:t>l</a:t>
            </a:r>
            <a:r>
              <a:rPr dirty="0" spc="-15"/>
              <a:t>a</a:t>
            </a:r>
            <a:r>
              <a:rPr dirty="0" spc="25"/>
              <a:t>w</a:t>
            </a:r>
            <a:r>
              <a:rPr dirty="0"/>
              <a:t>	</a:t>
            </a:r>
            <a:r>
              <a:rPr dirty="0" spc="-70"/>
              <a:t>o</a:t>
            </a:r>
            <a:r>
              <a:rPr dirty="0" spc="-15"/>
              <a:t>f</a:t>
            </a:r>
            <a:r>
              <a:rPr dirty="0"/>
              <a:t>	</a:t>
            </a:r>
            <a:r>
              <a:rPr dirty="0" spc="35"/>
              <a:t>l</a:t>
            </a:r>
            <a:r>
              <a:rPr dirty="0" spc="-15"/>
              <a:t>a</a:t>
            </a:r>
            <a:r>
              <a:rPr dirty="0" spc="95"/>
              <a:t>r</a:t>
            </a:r>
            <a:r>
              <a:rPr dirty="0" spc="-90"/>
              <a:t>g</a:t>
            </a:r>
            <a:r>
              <a:rPr dirty="0" spc="50"/>
              <a:t>e</a:t>
            </a:r>
            <a:r>
              <a:rPr dirty="0"/>
              <a:t>	</a:t>
            </a:r>
            <a:r>
              <a:rPr dirty="0" spc="-85"/>
              <a:t>n</a:t>
            </a:r>
            <a:r>
              <a:rPr dirty="0" spc="-95"/>
              <a:t>u</a:t>
            </a:r>
            <a:r>
              <a:rPr dirty="0" spc="-160"/>
              <a:t>m</a:t>
            </a:r>
            <a:r>
              <a:rPr dirty="0" spc="-105"/>
              <a:t>b</a:t>
            </a:r>
            <a:r>
              <a:rPr dirty="0" spc="45"/>
              <a:t>e</a:t>
            </a:r>
            <a:r>
              <a:rPr dirty="0" spc="95"/>
              <a:t>r</a:t>
            </a:r>
            <a:r>
              <a:rPr dirty="0" spc="105"/>
              <a:t>s</a:t>
            </a:r>
            <a:r>
              <a:rPr dirty="0" spc="35"/>
              <a:t>)</a:t>
            </a:r>
            <a:r>
              <a:rPr dirty="0"/>
              <a:t>과</a:t>
            </a:r>
            <a:r>
              <a:rPr dirty="0"/>
              <a:t>	</a:t>
            </a:r>
            <a:r>
              <a:rPr dirty="0"/>
              <a:t>거래의</a:t>
            </a:r>
            <a:r>
              <a:rPr dirty="0"/>
              <a:t>	</a:t>
            </a:r>
            <a:r>
              <a:rPr dirty="0"/>
              <a:t>이익  </a:t>
            </a:r>
            <a:r>
              <a:rPr dirty="0"/>
              <a:t>(gains</a:t>
            </a:r>
            <a:r>
              <a:rPr dirty="0" spc="275"/>
              <a:t> </a:t>
            </a:r>
            <a:r>
              <a:rPr dirty="0" spc="-40"/>
              <a:t>from</a:t>
            </a:r>
            <a:r>
              <a:rPr dirty="0" spc="285"/>
              <a:t> </a:t>
            </a:r>
            <a:r>
              <a:rPr dirty="0"/>
              <a:t>trade)을</a:t>
            </a:r>
            <a:r>
              <a:rPr dirty="0" spc="290"/>
              <a:t> </a:t>
            </a:r>
            <a:r>
              <a:rPr dirty="0"/>
              <a:t>바탕</a:t>
            </a:r>
          </a:p>
          <a:p>
            <a:pPr lvl="1" marL="432434" marR="5080" indent="-294005">
              <a:lnSpc>
                <a:spcPts val="3200"/>
              </a:lnSpc>
              <a:spcBef>
                <a:spcPts val="229"/>
              </a:spcBef>
              <a:buChar char="-"/>
              <a:tabLst>
                <a:tab pos="432434" algn="l"/>
                <a:tab pos="433070" algn="l"/>
                <a:tab pos="1123315" algn="l"/>
                <a:tab pos="1765935" algn="l"/>
                <a:tab pos="2662555" algn="l"/>
                <a:tab pos="3811904" algn="l"/>
                <a:tab pos="5215890" algn="l"/>
                <a:tab pos="5857875" algn="l"/>
                <a:tab pos="7082155" algn="l"/>
                <a:tab pos="7773034" algn="l"/>
              </a:tabLst>
            </a:pPr>
            <a:r>
              <a:rPr dirty="0" sz="2000" spc="35" b="1">
                <a:latin typeface="Malgun Gothic"/>
                <a:cs typeface="Malgun Gothic"/>
              </a:rPr>
              <a:t>2</a:t>
            </a:r>
            <a:r>
              <a:rPr dirty="0" sz="2000" spc="20" b="1">
                <a:latin typeface="Malgun Gothic"/>
                <a:cs typeface="Malgun Gothic"/>
              </a:rPr>
              <a:t>0</a:t>
            </a:r>
            <a:r>
              <a:rPr dirty="0" sz="2000" b="1">
                <a:latin typeface="Malgun Gothic"/>
                <a:cs typeface="Malgun Gothic"/>
              </a:rPr>
              <a:t>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특정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개인의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교</a:t>
            </a:r>
            <a:r>
              <a:rPr dirty="0" sz="2000" spc="-15" b="1">
                <a:latin typeface="Malgun Gothic"/>
                <a:cs typeface="Malgun Gothic"/>
              </a:rPr>
              <a:t>통</a:t>
            </a:r>
            <a:r>
              <a:rPr dirty="0" sz="2000" b="1">
                <a:latin typeface="Malgun Gothic"/>
                <a:cs typeface="Malgun Gothic"/>
              </a:rPr>
              <a:t>사고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발생</a:t>
            </a:r>
            <a:r>
              <a:rPr dirty="0" sz="2000" spc="-15" b="1">
                <a:latin typeface="Malgun Gothic"/>
                <a:cs typeface="Malgun Gothic"/>
              </a:rPr>
              <a:t>확</a:t>
            </a:r>
            <a:r>
              <a:rPr dirty="0" sz="2000" b="1">
                <a:latin typeface="Malgun Gothic"/>
                <a:cs typeface="Malgun Gothic"/>
              </a:rPr>
              <a:t>률은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알기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어렵</a:t>
            </a:r>
            <a:r>
              <a:rPr dirty="0" sz="2000" spc="-15" b="1">
                <a:latin typeface="Malgun Gothic"/>
                <a:cs typeface="Malgun Gothic"/>
              </a:rPr>
              <a:t>지</a:t>
            </a:r>
            <a:r>
              <a:rPr dirty="0" sz="2000" b="1">
                <a:latin typeface="Malgun Gothic"/>
                <a:cs typeface="Malgun Gothic"/>
              </a:rPr>
              <a:t>만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35" b="1">
                <a:latin typeface="Malgun Gothic"/>
                <a:cs typeface="Malgun Gothic"/>
              </a:rPr>
              <a:t>2</a:t>
            </a:r>
            <a:r>
              <a:rPr dirty="0" sz="2000" spc="20" b="1">
                <a:latin typeface="Malgun Gothic"/>
                <a:cs typeface="Malgun Gothic"/>
              </a:rPr>
              <a:t>0</a:t>
            </a:r>
            <a:r>
              <a:rPr dirty="0" sz="2000" b="1">
                <a:latin typeface="Malgun Gothic"/>
                <a:cs typeface="Malgun Gothic"/>
              </a:rPr>
              <a:t>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집단의  </a:t>
            </a:r>
            <a:r>
              <a:rPr dirty="0" sz="2000" spc="-5" b="1">
                <a:latin typeface="Malgun Gothic"/>
                <a:cs typeface="Malgun Gothic"/>
              </a:rPr>
              <a:t>발생확률은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알려져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56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대수의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법칙으로부터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확보하는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확률은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상대적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확실성</a:t>
            </a:r>
            <a:r>
              <a:rPr dirty="0" sz="2000" spc="-5" b="1">
                <a:latin typeface="Malgun Gothic"/>
                <a:cs typeface="Malgun Gothic"/>
              </a:rPr>
              <a:t>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4333526"/>
            <a:ext cx="6912609" cy="165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5080" indent="-289560">
              <a:lnSpc>
                <a:spcPct val="141900"/>
              </a:lnSpc>
              <a:spcBef>
                <a:spcPts val="100"/>
              </a:spcBef>
              <a:buFont typeface="Cambria"/>
              <a:buChar char="○"/>
              <a:tabLst>
                <a:tab pos="289560" algn="l"/>
                <a:tab pos="290195" algn="l"/>
                <a:tab pos="1144905" algn="l"/>
                <a:tab pos="2309495" algn="l"/>
                <a:tab pos="2968625" algn="l"/>
                <a:tab pos="4491355" algn="l"/>
                <a:tab pos="6390640" algn="l"/>
              </a:tabLst>
            </a:pPr>
            <a:r>
              <a:rPr dirty="0" sz="2000" spc="-40" b="1">
                <a:latin typeface="Malgun Gothic"/>
                <a:cs typeface="Malgun Gothic"/>
              </a:rPr>
              <a:t>N</a:t>
            </a:r>
            <a:r>
              <a:rPr dirty="0" sz="2000" spc="-15" b="1">
                <a:latin typeface="Malgun Gothic"/>
                <a:cs typeface="Malgun Gothic"/>
              </a:rPr>
              <a:t>명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</a:t>
            </a:r>
            <a:r>
              <a:rPr dirty="0" sz="2000" spc="-15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들이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각각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평</a:t>
            </a:r>
            <a:r>
              <a:rPr dirty="0" sz="2000" b="1">
                <a:latin typeface="Malgun Gothic"/>
                <a:cs typeface="Malgun Gothic"/>
              </a:rPr>
              <a:t>균값</a:t>
            </a:r>
            <a:r>
              <a:rPr dirty="0" sz="2000" spc="80" b="1">
                <a:latin typeface="Malgun Gothic"/>
                <a:cs typeface="Malgun Gothic"/>
              </a:rPr>
              <a:t>(</a:t>
            </a:r>
            <a:r>
              <a:rPr dirty="0" sz="2000" spc="-750">
                <a:latin typeface="Microsoft Sans Serif"/>
                <a:cs typeface="Microsoft Sans Serif"/>
              </a:rPr>
              <a:t></a:t>
            </a:r>
            <a:r>
              <a:rPr dirty="0" sz="2000" spc="20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분</a:t>
            </a:r>
            <a:r>
              <a:rPr dirty="0" sz="2000" spc="-15" b="1">
                <a:latin typeface="Malgun Gothic"/>
                <a:cs typeface="Malgun Gothic"/>
              </a:rPr>
              <a:t>산</a:t>
            </a:r>
            <a:r>
              <a:rPr dirty="0" sz="2000" spc="290" b="1">
                <a:latin typeface="Malgun Gothic"/>
                <a:cs typeface="Malgun Gothic"/>
              </a:rPr>
              <a:t>{</a:t>
            </a:r>
            <a:r>
              <a:rPr dirty="0" sz="2000" spc="60" b="1">
                <a:latin typeface="Malgun Gothic"/>
                <a:cs typeface="Malgun Gothic"/>
              </a:rPr>
              <a:t>v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85" b="1">
                <a:latin typeface="Malgun Gothic"/>
                <a:cs typeface="Malgun Gothic"/>
              </a:rPr>
              <a:t>r</a:t>
            </a:r>
            <a:r>
              <a:rPr dirty="0" sz="2000" spc="45" b="1">
                <a:latin typeface="Malgun Gothic"/>
                <a:cs typeface="Malgun Gothic"/>
              </a:rPr>
              <a:t>(</a:t>
            </a:r>
            <a:r>
              <a:rPr dirty="0" sz="2000" spc="90" b="1">
                <a:latin typeface="Malgun Gothic"/>
                <a:cs typeface="Malgun Gothic"/>
              </a:rPr>
              <a:t>y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spc="275" b="1">
                <a:latin typeface="Malgun Gothic"/>
                <a:cs typeface="Malgun Gothic"/>
              </a:rPr>
              <a:t>}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가진  </a:t>
            </a:r>
            <a:r>
              <a:rPr dirty="0" sz="2000" b="1">
                <a:latin typeface="Malgun Gothic"/>
                <a:cs typeface="Malgun Gothic"/>
              </a:rPr>
              <a:t>응하는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소득을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획득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595"/>
              </a:spcBef>
              <a:buChar char="-"/>
              <a:tabLst>
                <a:tab pos="425450" algn="l"/>
              </a:tabLst>
            </a:pP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결과에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동일한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확률분포를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가진다.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600"/>
              </a:spcBef>
              <a:buChar char="-"/>
              <a:tabLst>
                <a:tab pos="425450" algn="l"/>
              </a:tabLst>
            </a:pPr>
            <a:r>
              <a:rPr dirty="0" sz="2000" b="1">
                <a:latin typeface="Malgun Gothic"/>
                <a:cs typeface="Malgun Gothic"/>
              </a:rPr>
              <a:t>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개인들의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5" b="1">
                <a:solidFill>
                  <a:srgbClr val="0000FF"/>
                </a:solidFill>
                <a:latin typeface="Malgun Gothic"/>
                <a:cs typeface="Malgun Gothic"/>
              </a:rPr>
              <a:t>소득,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20" b="1">
                <a:solidFill>
                  <a:srgbClr val="0000FF"/>
                </a:solidFill>
                <a:latin typeface="Malgun Gothic"/>
                <a:cs typeface="Malgun Gothic"/>
              </a:rPr>
              <a:t>평균,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분산은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상호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5" b="1">
                <a:solidFill>
                  <a:srgbClr val="0000FF"/>
                </a:solidFill>
                <a:latin typeface="Malgun Gothic"/>
                <a:cs typeface="Malgun Gothic"/>
              </a:rPr>
              <a:t>독립적</a:t>
            </a:r>
            <a:r>
              <a:rPr dirty="0" sz="2000" spc="5" b="1">
                <a:latin typeface="Malgun Gothic"/>
                <a:cs typeface="Malgun Gothic"/>
              </a:rPr>
              <a:t>이다.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5086" y="4445631"/>
            <a:ext cx="11512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777" sz="3000" spc="-1552">
                <a:latin typeface="Microsoft Sans Serif"/>
                <a:cs typeface="Microsoft Sans Serif"/>
              </a:rPr>
              <a:t></a:t>
            </a:r>
            <a:r>
              <a:rPr dirty="0" baseline="-26748" sz="2025" spc="-1027">
                <a:latin typeface="Microsoft Sans Serif"/>
                <a:cs typeface="Microsoft Sans Serif"/>
              </a:rPr>
              <a:t></a:t>
            </a:r>
            <a:r>
              <a:rPr dirty="0" sz="2000" spc="-1455">
                <a:latin typeface="Microsoft Sans Serif"/>
                <a:cs typeface="Microsoft Sans Serif"/>
              </a:rPr>
              <a:t></a:t>
            </a:r>
            <a:r>
              <a:rPr dirty="0" sz="2000" spc="-155">
                <a:latin typeface="Microsoft Sans Serif"/>
                <a:cs typeface="Microsoft Sans Serif"/>
              </a:rPr>
              <a:t> </a:t>
            </a:r>
            <a:r>
              <a:rPr dirty="0" sz="2000" spc="-1490">
                <a:latin typeface="Microsoft Sans Serif"/>
                <a:cs typeface="Microsoft Sans Serif"/>
              </a:rPr>
              <a:t></a:t>
            </a:r>
            <a:r>
              <a:rPr dirty="0" sz="2000" spc="-1475">
                <a:latin typeface="Microsoft Sans Serif"/>
                <a:cs typeface="Microsoft Sans Serif"/>
              </a:rPr>
              <a:t></a:t>
            </a:r>
            <a:r>
              <a:rPr dirty="0" sz="2000" spc="-1455">
                <a:latin typeface="Microsoft Sans Serif"/>
                <a:cs typeface="Microsoft Sans Serif"/>
              </a:rPr>
              <a:t></a:t>
            </a:r>
            <a:r>
              <a:rPr dirty="0" sz="2000" spc="-300">
                <a:latin typeface="Microsoft Sans Serif"/>
                <a:cs typeface="Microsoft Sans Serif"/>
              </a:rPr>
              <a:t> </a:t>
            </a:r>
            <a:r>
              <a:rPr dirty="0" baseline="-2777" sz="3000" spc="-1552">
                <a:latin typeface="Microsoft Sans Serif"/>
                <a:cs typeface="Microsoft Sans Serif"/>
              </a:rPr>
              <a:t></a:t>
            </a:r>
            <a:r>
              <a:rPr dirty="0" baseline="-25793" sz="2100" spc="-450" i="1">
                <a:latin typeface="Arial"/>
                <a:cs typeface="Arial"/>
              </a:rPr>
              <a:t></a:t>
            </a:r>
            <a:r>
              <a:rPr dirty="0" baseline="-2777" sz="3000" b="1">
                <a:latin typeface="Malgun Gothic"/>
                <a:cs typeface="Malgun Gothic"/>
              </a:rPr>
              <a:t>에</a:t>
            </a:r>
            <a:endParaRPr baseline="-2777" sz="3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35967" y="4460863"/>
            <a:ext cx="280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상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7590" y="6038872"/>
            <a:ext cx="80962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9593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보험이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존재하지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않는	</a:t>
            </a:r>
            <a:r>
              <a:rPr dirty="0" sz="2000" spc="-430">
                <a:latin typeface="Microsoft Sans Serif"/>
                <a:cs typeface="Microsoft Sans Serif"/>
              </a:rPr>
              <a:t></a:t>
            </a:r>
            <a:r>
              <a:rPr dirty="0" sz="2000" spc="-430" b="1">
                <a:latin typeface="Malgun Gothic"/>
                <a:cs typeface="Malgun Gothic"/>
              </a:rPr>
              <a:t>번째</a:t>
            </a:r>
            <a:r>
              <a:rPr dirty="0" sz="2000" spc="-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당면하는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365" b="1">
                <a:solidFill>
                  <a:srgbClr val="0000FF"/>
                </a:solidFill>
                <a:latin typeface="Malgun Gothic"/>
                <a:cs typeface="Malgun Gothic"/>
              </a:rPr>
              <a:t>분산(위험)</a:t>
            </a:r>
            <a:r>
              <a:rPr dirty="0" sz="1600" spc="365">
                <a:latin typeface="Cambria"/>
                <a:cs typeface="Cambria"/>
              </a:rPr>
              <a:t>⟹</a:t>
            </a:r>
            <a:r>
              <a:rPr dirty="0" sz="1600" spc="484">
                <a:latin typeface="Cambria"/>
                <a:cs typeface="Cambria"/>
              </a:rPr>
              <a:t> </a:t>
            </a:r>
            <a:r>
              <a:rPr dirty="0" sz="2000" spc="-1280">
                <a:latin typeface="Microsoft Sans Serif"/>
                <a:cs typeface="Microsoft Sans Serif"/>
              </a:rPr>
              <a:t></a:t>
            </a:r>
            <a:r>
              <a:rPr dirty="0" baseline="2777" sz="3000" spc="-1920">
                <a:latin typeface="Microsoft Sans Serif"/>
                <a:cs typeface="Microsoft Sans Serif"/>
              </a:rPr>
              <a:t></a:t>
            </a:r>
            <a:r>
              <a:rPr dirty="0" sz="2000" spc="-1280">
                <a:latin typeface="Microsoft Sans Serif"/>
                <a:cs typeface="Microsoft Sans Serif"/>
              </a:rPr>
              <a:t></a:t>
            </a:r>
            <a:r>
              <a:rPr dirty="0" baseline="-20576" sz="2025" spc="-1920">
                <a:latin typeface="Microsoft Sans Serif"/>
                <a:cs typeface="Microsoft Sans Serif"/>
              </a:rPr>
              <a:t> </a:t>
            </a:r>
            <a:r>
              <a:rPr dirty="0" baseline="-20576" sz="2025" spc="-51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735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5590" marR="5080" indent="-263525">
              <a:lnSpc>
                <a:spcPct val="132900"/>
              </a:lnSpc>
              <a:spcBef>
                <a:spcPts val="100"/>
              </a:spcBef>
              <a:buFont typeface="Cambria"/>
              <a:buChar char="○"/>
              <a:tabLst>
                <a:tab pos="275590" algn="l"/>
                <a:tab pos="276225" algn="l"/>
                <a:tab pos="1117600" algn="l"/>
                <a:tab pos="2268220" algn="l"/>
                <a:tab pos="3166745" algn="l"/>
                <a:tab pos="4064635" algn="l"/>
                <a:tab pos="5723890" algn="l"/>
                <a:tab pos="6875145" algn="l"/>
                <a:tab pos="7519034" algn="l"/>
              </a:tabLst>
            </a:pPr>
            <a:r>
              <a:rPr dirty="0" sz="2000" spc="-40" b="1">
                <a:latin typeface="Malgun Gothic"/>
                <a:cs typeface="Malgun Gothic"/>
              </a:rPr>
              <a:t>N</a:t>
            </a:r>
            <a:r>
              <a:rPr dirty="0" sz="2000" spc="-15" b="1">
                <a:latin typeface="Malgun Gothic"/>
                <a:cs typeface="Malgun Gothic"/>
              </a:rPr>
              <a:t>명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인들이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자신의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</a:t>
            </a:r>
            <a:r>
              <a:rPr dirty="0" sz="2000" spc="-15" b="1">
                <a:latin typeface="Malgun Gothic"/>
                <a:cs typeface="Malgun Gothic"/>
              </a:rPr>
              <a:t>득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공</a:t>
            </a:r>
            <a:r>
              <a:rPr dirty="0" sz="2000" spc="-15" b="1">
                <a:latin typeface="Malgun Gothic"/>
                <a:cs typeface="Malgun Gothic"/>
              </a:rPr>
              <a:t>동</a:t>
            </a:r>
            <a:r>
              <a:rPr dirty="0" sz="2000" b="1">
                <a:latin typeface="Malgun Gothic"/>
                <a:cs typeface="Malgun Gothic"/>
              </a:rPr>
              <a:t>기금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조</a:t>
            </a:r>
            <a:r>
              <a:rPr dirty="0" sz="2000" b="1">
                <a:latin typeface="Malgun Gothic"/>
                <a:cs typeface="Malgun Gothic"/>
              </a:rPr>
              <a:t>성하여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모두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동일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게  </a:t>
            </a:r>
            <a:r>
              <a:rPr dirty="0" sz="2000" spc="-5" b="1">
                <a:latin typeface="Malgun Gothic"/>
                <a:cs typeface="Malgun Gothic"/>
              </a:rPr>
              <a:t>평균소득을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받아가기로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합의한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52237" y="2601067"/>
            <a:ext cx="1252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Malgun Gothic"/>
                <a:cs typeface="Malgun Gothic"/>
              </a:rPr>
              <a:t>평균소득</a:t>
            </a:r>
            <a:r>
              <a:rPr dirty="0" sz="2000" spc="21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9374" y="2658938"/>
            <a:ext cx="51054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-1315">
                <a:latin typeface="Microsoft Sans Serif"/>
                <a:cs typeface="Microsoft Sans Serif"/>
              </a:rPr>
              <a:t></a:t>
            </a:r>
            <a:r>
              <a:rPr dirty="0" baseline="-18518" sz="3150" spc="-1972" i="1">
                <a:latin typeface="Arial"/>
                <a:cs typeface="Arial"/>
              </a:rPr>
              <a:t></a:t>
            </a:r>
            <a:endParaRPr baseline="-18518" sz="3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3882" y="2744245"/>
            <a:ext cx="5975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97840" algn="l"/>
              </a:tabLst>
            </a:pPr>
            <a:r>
              <a:rPr dirty="0" sz="1350" spc="-675">
                <a:latin typeface="Microsoft Sans Serif"/>
                <a:cs typeface="Microsoft Sans Serif"/>
              </a:rPr>
              <a:t></a:t>
            </a:r>
            <a:r>
              <a:rPr dirty="0" sz="1350" spc="-675">
                <a:latin typeface="Microsoft Sans Serif"/>
                <a:cs typeface="Microsoft Sans Serif"/>
              </a:rPr>
              <a:t>	</a:t>
            </a:r>
            <a:r>
              <a:rPr dirty="0" sz="1350" spc="-675">
                <a:latin typeface="Microsoft Sans Serif"/>
                <a:cs typeface="Microsoft Sans Serif"/>
              </a:rPr>
              <a:t>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338" y="2593451"/>
            <a:ext cx="2667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29920" algn="l"/>
                <a:tab pos="1205230" algn="l"/>
                <a:tab pos="1692275" algn="l"/>
              </a:tabLst>
            </a:pPr>
            <a:r>
              <a:rPr dirty="0" sz="2000" spc="-2005">
                <a:latin typeface="Microsoft Sans Serif"/>
                <a:cs typeface="Microsoft Sans Serif"/>
              </a:rPr>
              <a:t></a:t>
            </a:r>
            <a:r>
              <a:rPr dirty="0" baseline="13888" sz="3000" spc="-1552">
                <a:latin typeface="Microsoft Sans Serif"/>
                <a:cs typeface="Microsoft Sans Serif"/>
              </a:rPr>
              <a:t></a:t>
            </a:r>
            <a:r>
              <a:rPr dirty="0" baseline="13888" sz="3000" spc="359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>
                <a:latin typeface="Microsoft Sans Serif"/>
                <a:cs typeface="Microsoft Sans Serif"/>
              </a:rPr>
              <a:t>	</a:t>
            </a:r>
            <a:r>
              <a:rPr dirty="0" baseline="36111" sz="3000" spc="-1522">
                <a:latin typeface="Microsoft Sans Serif"/>
                <a:cs typeface="Microsoft Sans Serif"/>
              </a:rPr>
              <a:t></a:t>
            </a:r>
            <a:r>
              <a:rPr dirty="0" baseline="36111" sz="3000" spc="322">
                <a:latin typeface="Microsoft Sans Serif"/>
                <a:cs typeface="Microsoft Sans Serif"/>
              </a:rPr>
              <a:t> </a:t>
            </a:r>
            <a:r>
              <a:rPr dirty="0" baseline="2777" sz="3000" spc="-1875">
                <a:latin typeface="Microsoft Sans Serif"/>
                <a:cs typeface="Microsoft Sans Serif"/>
              </a:rPr>
              <a:t>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427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67">
                <a:latin typeface="Microsoft Sans Serif"/>
                <a:cs typeface="Microsoft Sans Serif"/>
              </a:rPr>
              <a:t> </a:t>
            </a:r>
            <a:r>
              <a:rPr dirty="0" baseline="2777" sz="3000" spc="-2182">
                <a:latin typeface="Microsoft Sans Serif"/>
                <a:cs typeface="Microsoft Sans Serif"/>
              </a:rPr>
              <a:t></a:t>
            </a:r>
            <a:r>
              <a:rPr dirty="0" baseline="2777" sz="3000" spc="-472">
                <a:latin typeface="Microsoft Sans Serif"/>
                <a:cs typeface="Microsoft Sans Serif"/>
              </a:rPr>
              <a:t> </a:t>
            </a:r>
            <a:r>
              <a:rPr dirty="0" baseline="2777" sz="3000" spc="-2182">
                <a:latin typeface="Microsoft Sans Serif"/>
                <a:cs typeface="Microsoft Sans Serif"/>
              </a:rPr>
              <a:t></a:t>
            </a:r>
            <a:r>
              <a:rPr dirty="0" baseline="2777" sz="3000" spc="-450">
                <a:latin typeface="Microsoft Sans Serif"/>
                <a:cs typeface="Microsoft Sans Serif"/>
              </a:rPr>
              <a:t> </a:t>
            </a:r>
            <a:r>
              <a:rPr dirty="0" baseline="2777" sz="3000" spc="-2182">
                <a:latin typeface="Microsoft Sans Serif"/>
                <a:cs typeface="Microsoft Sans Serif"/>
              </a:rPr>
              <a:t></a:t>
            </a:r>
            <a:r>
              <a:rPr dirty="0" baseline="2777" sz="3000" spc="-37">
                <a:latin typeface="Microsoft Sans Serif"/>
                <a:cs typeface="Microsoft Sans Serif"/>
              </a:rPr>
              <a:t> </a:t>
            </a:r>
            <a:r>
              <a:rPr dirty="0" baseline="2777" sz="3000" spc="-345">
                <a:latin typeface="Microsoft Sans Serif"/>
                <a:cs typeface="Microsoft Sans Serif"/>
              </a:rPr>
              <a:t>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2754" y="2734963"/>
            <a:ext cx="15494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385" i="1">
                <a:latin typeface="Arial"/>
                <a:cs typeface="Arial"/>
              </a:rPr>
              <a:t>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2600" y="2581266"/>
            <a:ext cx="12318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35">
                <a:latin typeface="Microsoft Sans Serif"/>
                <a:cs typeface="Microsoft Sans Serif"/>
              </a:rPr>
              <a:t>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6952" y="3667280"/>
            <a:ext cx="6722745" cy="1668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0"/>
              </a:spcBef>
              <a:tabLst>
                <a:tab pos="19951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전</a:t>
            </a:r>
            <a:r>
              <a:rPr dirty="0" sz="2000" b="1">
                <a:latin typeface="Malgun Gothic"/>
                <a:cs typeface="Malgun Gothic"/>
              </a:rPr>
              <a:t>체적인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분</a:t>
            </a:r>
            <a:r>
              <a:rPr dirty="0" sz="2000" b="1">
                <a:latin typeface="Malgun Gothic"/>
                <a:cs typeface="Malgun Gothic"/>
              </a:rPr>
              <a:t>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35">
                <a:latin typeface="Microsoft Sans Serif"/>
                <a:cs typeface="Microsoft Sans Serif"/>
              </a:rPr>
              <a:t></a:t>
            </a:r>
            <a:r>
              <a:rPr dirty="0" sz="2000" spc="-950">
                <a:latin typeface="Microsoft Sans Serif"/>
                <a:cs typeface="Microsoft Sans Serif"/>
              </a:rPr>
              <a:t></a:t>
            </a:r>
            <a:r>
              <a:rPr dirty="0" sz="2000" spc="-975">
                <a:latin typeface="Microsoft Sans Serif"/>
                <a:cs typeface="Microsoft Sans Serif"/>
              </a:rPr>
              <a:t></a:t>
            </a:r>
            <a:r>
              <a:rPr dirty="0" baseline="2777" sz="3000" spc="-1875">
                <a:latin typeface="Microsoft Sans Serif"/>
                <a:cs typeface="Microsoft Sans Serif"/>
              </a:rPr>
              <a:t>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</a:t>
            </a:r>
            <a:r>
              <a:rPr dirty="0" baseline="-20576" sz="2025" spc="60">
                <a:latin typeface="Microsoft Sans Serif"/>
                <a:cs typeface="Microsoft Sans Serif"/>
              </a:rPr>
              <a:t> </a:t>
            </a:r>
            <a:r>
              <a:rPr dirty="0" baseline="2777" sz="3000" spc="-345">
                <a:latin typeface="Microsoft Sans Serif"/>
                <a:cs typeface="Microsoft Sans Serif"/>
              </a:rPr>
              <a:t>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baseline="-20576" sz="2025" spc="-1012">
                <a:latin typeface="Microsoft Sans Serif"/>
                <a:cs typeface="Microsoft Sans Serif"/>
              </a:rPr>
              <a:t></a:t>
            </a:r>
            <a:r>
              <a:rPr dirty="0" baseline="-20576" sz="2025" spc="60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67">
                <a:latin typeface="Microsoft Sans Serif"/>
                <a:cs typeface="Microsoft Sans Serif"/>
              </a:rPr>
              <a:t> </a:t>
            </a:r>
            <a:r>
              <a:rPr dirty="0" baseline="2777" sz="3000" spc="-2212">
                <a:latin typeface="Microsoft Sans Serif"/>
                <a:cs typeface="Microsoft Sans Serif"/>
              </a:rPr>
              <a:t></a:t>
            </a:r>
            <a:r>
              <a:rPr dirty="0" baseline="2777" sz="3000" spc="-2182">
                <a:latin typeface="Microsoft Sans Serif"/>
                <a:cs typeface="Microsoft Sans Serif"/>
              </a:rPr>
              <a:t></a:t>
            </a:r>
            <a:r>
              <a:rPr dirty="0" baseline="2777" sz="3000" spc="-52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427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baseline="-19841" sz="2100" spc="-577" i="1">
                <a:latin typeface="Arial"/>
                <a:cs typeface="Arial"/>
              </a:rPr>
              <a:t></a:t>
            </a:r>
            <a:r>
              <a:rPr dirty="0" baseline="-19841" sz="2100" spc="-240" i="1">
                <a:latin typeface="Arial"/>
                <a:cs typeface="Arial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195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100" spc="-610" i="1">
                <a:latin typeface="Arial"/>
                <a:cs typeface="Arial"/>
              </a:rPr>
              <a:t></a:t>
            </a:r>
            <a:r>
              <a:rPr dirty="0" sz="2000" spc="-1035">
                <a:latin typeface="Microsoft Sans Serif"/>
                <a:cs typeface="Microsoft Sans Serif"/>
              </a:rPr>
              <a:t></a:t>
            </a:r>
            <a:r>
              <a:rPr dirty="0" sz="2000" spc="-960">
                <a:latin typeface="Microsoft Sans Serif"/>
                <a:cs typeface="Microsoft Sans Serif"/>
              </a:rPr>
              <a:t></a:t>
            </a:r>
            <a:r>
              <a:rPr dirty="0" sz="2000" spc="-960">
                <a:latin typeface="Microsoft Sans Serif"/>
                <a:cs typeface="Microsoft Sans Serif"/>
              </a:rPr>
              <a:t></a:t>
            </a:r>
            <a:r>
              <a:rPr dirty="0" baseline="2777" sz="3000" spc="-1875">
                <a:latin typeface="Microsoft Sans Serif"/>
                <a:cs typeface="Microsoft Sans Serif"/>
              </a:rPr>
              <a:t></a:t>
            </a:r>
            <a:r>
              <a:rPr dirty="0" sz="2000" spc="-890">
                <a:latin typeface="Microsoft Sans Serif"/>
                <a:cs typeface="Microsoft Sans Serif"/>
              </a:rPr>
              <a:t>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  <a:p>
            <a:pPr algn="ctr" marL="5715">
              <a:lnSpc>
                <a:spcPct val="100000"/>
              </a:lnSpc>
              <a:spcBef>
                <a:spcPts val="2050"/>
              </a:spcBef>
            </a:pPr>
            <a:r>
              <a:rPr dirty="0" sz="1500" spc="315" b="1">
                <a:latin typeface="Malgun Gothic"/>
                <a:cs typeface="Malgun Gothic"/>
              </a:rPr>
              <a:t>-</a:t>
            </a:r>
            <a:r>
              <a:rPr dirty="0" sz="1500" spc="210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모든</a:t>
            </a:r>
            <a:r>
              <a:rPr dirty="0" sz="1500" spc="215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개인들의</a:t>
            </a:r>
            <a:r>
              <a:rPr dirty="0" sz="1500" spc="225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소득이</a:t>
            </a:r>
            <a:r>
              <a:rPr dirty="0" sz="1500" spc="220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상호독립적이며,</a:t>
            </a:r>
            <a:r>
              <a:rPr dirty="0" sz="1500" spc="220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동일한</a:t>
            </a:r>
            <a:r>
              <a:rPr dirty="0" sz="1500" spc="215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분산을</a:t>
            </a:r>
            <a:r>
              <a:rPr dirty="0" sz="1500" spc="220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가짐</a:t>
            </a:r>
            <a:r>
              <a:rPr dirty="0" sz="1500" spc="225" b="1">
                <a:latin typeface="Malgun Gothic"/>
                <a:cs typeface="Malgun Gothic"/>
              </a:rPr>
              <a:t> </a:t>
            </a:r>
            <a:r>
              <a:rPr dirty="0" sz="1500" spc="315" b="1">
                <a:latin typeface="Malgun Gothic"/>
                <a:cs typeface="Malgun Gothic"/>
              </a:rPr>
              <a:t>-</a:t>
            </a:r>
            <a:endParaRPr sz="15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5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dirty="0" sz="1500" spc="35" b="1">
                <a:latin typeface="Malgun Gothic"/>
                <a:cs typeface="Malgun Gothic"/>
              </a:rPr>
              <a:t>참고:</a:t>
            </a:r>
            <a:r>
              <a:rPr dirty="0" sz="1500" spc="220" b="1">
                <a:latin typeface="Malgun Gothic"/>
                <a:cs typeface="Malgun Gothic"/>
              </a:rPr>
              <a:t> </a:t>
            </a:r>
            <a:r>
              <a:rPr dirty="0" sz="1500" spc="20" b="1">
                <a:latin typeface="Malgun Gothic"/>
                <a:cs typeface="Malgun Gothic"/>
              </a:rPr>
              <a:t>2</a:t>
            </a:r>
            <a:r>
              <a:rPr dirty="0" sz="1500" spc="220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확률변수가</a:t>
            </a:r>
            <a:r>
              <a:rPr dirty="0" sz="1500" spc="215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독립적일</a:t>
            </a:r>
            <a:r>
              <a:rPr dirty="0" sz="1500" spc="225" b="1">
                <a:latin typeface="Malgun Gothic"/>
                <a:cs typeface="Malgun Gothic"/>
              </a:rPr>
              <a:t> </a:t>
            </a:r>
            <a:r>
              <a:rPr dirty="0" sz="1500" spc="-5" b="1">
                <a:latin typeface="Malgun Gothic"/>
                <a:cs typeface="Malgun Gothic"/>
              </a:rPr>
              <a:t>경우</a:t>
            </a:r>
            <a:r>
              <a:rPr dirty="0" sz="1500" spc="275" b="1">
                <a:latin typeface="Malgun Gothic"/>
                <a:cs typeface="Malgun Gothic"/>
              </a:rPr>
              <a:t> </a:t>
            </a:r>
            <a:r>
              <a:rPr dirty="0" sz="2000" spc="-985">
                <a:latin typeface="Microsoft Sans Serif"/>
                <a:cs typeface="Microsoft Sans Serif"/>
              </a:rPr>
              <a:t></a:t>
            </a:r>
            <a:r>
              <a:rPr dirty="0" baseline="2777" sz="3000" spc="-1477">
                <a:latin typeface="Microsoft Sans Serif"/>
                <a:cs typeface="Microsoft Sans Serif"/>
              </a:rPr>
              <a:t></a:t>
            </a:r>
            <a:r>
              <a:rPr dirty="0" sz="2000" spc="-985">
                <a:latin typeface="Microsoft Sans Serif"/>
                <a:cs typeface="Microsoft Sans Serif"/>
              </a:rPr>
              <a:t></a:t>
            </a:r>
            <a:r>
              <a:rPr dirty="0" baseline="-20576" sz="2025" spc="-1477">
                <a:latin typeface="Microsoft Sans Serif"/>
                <a:cs typeface="Microsoft Sans Serif"/>
              </a:rPr>
              <a:t></a:t>
            </a:r>
            <a:r>
              <a:rPr dirty="0" baseline="-20576" sz="2025" spc="44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615">
                <a:latin typeface="Microsoft Sans Serif"/>
                <a:cs typeface="Microsoft Sans Serif"/>
              </a:rPr>
              <a:t> </a:t>
            </a:r>
            <a:r>
              <a:rPr dirty="0" sz="2000" spc="-855">
                <a:latin typeface="Microsoft Sans Serif"/>
                <a:cs typeface="Microsoft Sans Serif"/>
              </a:rPr>
              <a:t></a:t>
            </a:r>
            <a:r>
              <a:rPr dirty="0" baseline="-20576" sz="2025" spc="-1282">
                <a:latin typeface="Microsoft Sans Serif"/>
                <a:cs typeface="Microsoft Sans Serif"/>
              </a:rPr>
              <a:t>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209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517">
                <a:latin typeface="Microsoft Sans Serif"/>
                <a:cs typeface="Microsoft Sans Serif"/>
              </a:rPr>
              <a:t> </a:t>
            </a:r>
            <a:r>
              <a:rPr dirty="0" sz="2000" spc="-985">
                <a:latin typeface="Microsoft Sans Serif"/>
                <a:cs typeface="Microsoft Sans Serif"/>
              </a:rPr>
              <a:t></a:t>
            </a:r>
            <a:r>
              <a:rPr dirty="0" baseline="2777" sz="3000" spc="-1477">
                <a:latin typeface="Microsoft Sans Serif"/>
                <a:cs typeface="Microsoft Sans Serif"/>
              </a:rPr>
              <a:t></a:t>
            </a:r>
            <a:r>
              <a:rPr dirty="0" sz="2000" spc="-985">
                <a:latin typeface="Microsoft Sans Serif"/>
                <a:cs typeface="Microsoft Sans Serif"/>
              </a:rPr>
              <a:t></a:t>
            </a:r>
            <a:r>
              <a:rPr dirty="0" baseline="-20576" sz="2025" spc="-1477">
                <a:latin typeface="Microsoft Sans Serif"/>
                <a:cs typeface="Microsoft Sans Serif"/>
              </a:rPr>
              <a:t>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427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525">
                <a:latin typeface="Microsoft Sans Serif"/>
                <a:cs typeface="Microsoft Sans Serif"/>
              </a:rPr>
              <a:t> </a:t>
            </a:r>
            <a:r>
              <a:rPr dirty="0" sz="2000" spc="-985">
                <a:latin typeface="Microsoft Sans Serif"/>
                <a:cs typeface="Microsoft Sans Serif"/>
              </a:rPr>
              <a:t></a:t>
            </a:r>
            <a:r>
              <a:rPr dirty="0" baseline="2777" sz="3000" spc="-1477">
                <a:latin typeface="Microsoft Sans Serif"/>
                <a:cs typeface="Microsoft Sans Serif"/>
              </a:rPr>
              <a:t></a:t>
            </a:r>
            <a:r>
              <a:rPr dirty="0" sz="2000" spc="-985">
                <a:latin typeface="Microsoft Sans Serif"/>
                <a:cs typeface="Microsoft Sans Serif"/>
              </a:rPr>
              <a:t></a:t>
            </a:r>
            <a:r>
              <a:rPr dirty="0" baseline="-20576" sz="2025" spc="-1477">
                <a:latin typeface="Microsoft Sans Serif"/>
                <a:cs typeface="Microsoft Sans Serif"/>
              </a:rPr>
              <a:t>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3275" y="1208885"/>
            <a:ext cx="57359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개인들이</a:t>
            </a:r>
            <a:r>
              <a:rPr dirty="0" spc="280"/>
              <a:t> </a:t>
            </a:r>
            <a:r>
              <a:rPr dirty="0"/>
              <a:t>모두</a:t>
            </a:r>
            <a:r>
              <a:rPr dirty="0" spc="280"/>
              <a:t> </a:t>
            </a:r>
            <a:r>
              <a:rPr dirty="0" spc="-5"/>
              <a:t>동일한</a:t>
            </a:r>
            <a:r>
              <a:rPr dirty="0" spc="280"/>
              <a:t> </a:t>
            </a:r>
            <a:r>
              <a:rPr dirty="0" spc="-5"/>
              <a:t>평균소득을</a:t>
            </a:r>
            <a:r>
              <a:rPr dirty="0" spc="285"/>
              <a:t> </a:t>
            </a:r>
            <a:r>
              <a:rPr dirty="0" spc="-5"/>
              <a:t>수령하는</a:t>
            </a:r>
            <a:r>
              <a:rPr dirty="0" spc="280"/>
              <a:t> </a:t>
            </a:r>
            <a:r>
              <a:rPr dirty="0"/>
              <a:t>경우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1886" y="2020737"/>
            <a:ext cx="3740785" cy="551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23060">
              <a:lnSpc>
                <a:spcPts val="2010"/>
              </a:lnSpc>
              <a:spcBef>
                <a:spcPts val="100"/>
              </a:spcBef>
              <a:tabLst>
                <a:tab pos="2185035" algn="l"/>
                <a:tab pos="3270250" algn="l"/>
              </a:tabLst>
            </a:pPr>
            <a:r>
              <a:rPr dirty="0" sz="2000" spc="-855">
                <a:latin typeface="Microsoft Sans Serif"/>
                <a:cs typeface="Microsoft Sans Serif"/>
              </a:rPr>
              <a:t></a:t>
            </a:r>
            <a:r>
              <a:rPr dirty="0" baseline="-22633" sz="2025" spc="-1282">
                <a:latin typeface="Microsoft Sans Serif"/>
                <a:cs typeface="Microsoft Sans Serif"/>
              </a:rPr>
              <a:t>	</a:t>
            </a:r>
            <a:r>
              <a:rPr dirty="0" sz="2000" spc="-855">
                <a:latin typeface="Microsoft Sans Serif"/>
                <a:cs typeface="Microsoft Sans Serif"/>
              </a:rPr>
              <a:t></a:t>
            </a:r>
            <a:r>
              <a:rPr dirty="0" baseline="-22633" sz="2025" spc="-1282">
                <a:latin typeface="Microsoft Sans Serif"/>
                <a:cs typeface="Microsoft Sans Serif"/>
              </a:rPr>
              <a:t>	</a:t>
            </a:r>
            <a:r>
              <a:rPr dirty="0" sz="2000" spc="-705">
                <a:latin typeface="Microsoft Sans Serif"/>
                <a:cs typeface="Microsoft Sans Serif"/>
              </a:rPr>
              <a:t></a:t>
            </a:r>
            <a:r>
              <a:rPr dirty="0" baseline="-21825" sz="2100" spc="-1057" i="1">
                <a:latin typeface="Arial"/>
                <a:cs typeface="Arial"/>
              </a:rPr>
              <a:t></a:t>
            </a:r>
            <a:endParaRPr baseline="-21825" sz="2100">
              <a:latin typeface="Arial"/>
              <a:cs typeface="Arial"/>
            </a:endParaRPr>
          </a:p>
          <a:p>
            <a:pPr marL="50800">
              <a:lnSpc>
                <a:spcPts val="2130"/>
              </a:lnSpc>
              <a:tabLst>
                <a:tab pos="3303904" algn="l"/>
              </a:tabLst>
            </a:pPr>
            <a:r>
              <a:rPr dirty="0" sz="2000" spc="-1035">
                <a:latin typeface="Microsoft Sans Serif"/>
                <a:cs typeface="Microsoft Sans Serif"/>
              </a:rPr>
              <a:t></a:t>
            </a:r>
            <a:r>
              <a:rPr dirty="0" sz="2000" spc="-950">
                <a:latin typeface="Microsoft Sans Serif"/>
                <a:cs typeface="Microsoft Sans Serif"/>
              </a:rPr>
              <a:t></a:t>
            </a:r>
            <a:r>
              <a:rPr dirty="0" sz="2000" spc="-975">
                <a:latin typeface="Microsoft Sans Serif"/>
                <a:cs typeface="Microsoft Sans Serif"/>
              </a:rPr>
              <a:t></a:t>
            </a:r>
            <a:r>
              <a:rPr dirty="0" baseline="2777" sz="3000" spc="-1732">
                <a:latin typeface="Microsoft Sans Serif"/>
                <a:cs typeface="Microsoft Sans Serif"/>
              </a:rPr>
              <a:t></a:t>
            </a:r>
            <a:r>
              <a:rPr dirty="0" baseline="13888" sz="3000" spc="-3007">
                <a:latin typeface="Microsoft Sans Serif"/>
                <a:cs typeface="Microsoft Sans Serif"/>
              </a:rPr>
              <a:t></a:t>
            </a:r>
            <a:r>
              <a:rPr dirty="0" sz="2000" spc="-940">
                <a:latin typeface="Microsoft Sans Serif"/>
                <a:cs typeface="Microsoft Sans Serif"/>
              </a:rPr>
              <a:t>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r>
              <a:rPr dirty="0" baseline="2777" sz="3000" spc="-195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</a:t>
            </a:r>
            <a:r>
              <a:rPr dirty="0" sz="2000" spc="-950">
                <a:latin typeface="Microsoft Sans Serif"/>
                <a:cs typeface="Microsoft Sans Serif"/>
              </a:rPr>
              <a:t></a:t>
            </a:r>
            <a:r>
              <a:rPr dirty="0" sz="2000" spc="-1955">
                <a:latin typeface="Microsoft Sans Serif"/>
                <a:cs typeface="Microsoft Sans Serif"/>
              </a:rPr>
              <a:t></a:t>
            </a:r>
            <a:r>
              <a:rPr dirty="0" baseline="-16666" sz="3000" spc="-7357">
                <a:latin typeface="Microsoft Sans Serif"/>
                <a:cs typeface="Microsoft Sans Serif"/>
              </a:rPr>
              <a:t></a:t>
            </a:r>
            <a:r>
              <a:rPr dirty="0" baseline="2777" sz="3000" spc="-1852">
                <a:latin typeface="Microsoft Sans Serif"/>
                <a:cs typeface="Microsoft Sans Serif"/>
              </a:rPr>
              <a:t></a:t>
            </a:r>
            <a:r>
              <a:rPr dirty="0" baseline="2777" sz="3000" spc="44">
                <a:latin typeface="Microsoft Sans Serif"/>
                <a:cs typeface="Microsoft Sans Serif"/>
              </a:rPr>
              <a:t> </a:t>
            </a:r>
            <a:r>
              <a:rPr dirty="0" baseline="-34391" sz="3150" spc="-930" i="1">
                <a:latin typeface="Arial"/>
                <a:cs typeface="Arial"/>
              </a:rPr>
              <a:t></a:t>
            </a:r>
            <a:r>
              <a:rPr dirty="0" baseline="-34391" sz="3150" spc="7" i="1">
                <a:latin typeface="Arial"/>
                <a:cs typeface="Arial"/>
              </a:rPr>
              <a:t> </a:t>
            </a:r>
            <a:r>
              <a:rPr dirty="0" baseline="2777" sz="3000" spc="-2947">
                <a:latin typeface="Microsoft Sans Serif"/>
                <a:cs typeface="Microsoft Sans Serif"/>
              </a:rPr>
              <a:t></a:t>
            </a:r>
            <a:r>
              <a:rPr dirty="0" baseline="-16666" sz="3000" spc="-5362">
                <a:latin typeface="Microsoft Sans Serif"/>
                <a:cs typeface="Microsoft Sans Serif"/>
              </a:rPr>
              <a:t></a:t>
            </a:r>
            <a:r>
              <a:rPr dirty="0" baseline="-34391" sz="3150" spc="-930" i="1">
                <a:latin typeface="Arial"/>
                <a:cs typeface="Arial"/>
              </a:rPr>
              <a:t></a:t>
            </a:r>
            <a:r>
              <a:rPr dirty="0" baseline="-34391" sz="3150" spc="7" i="1">
                <a:latin typeface="Arial"/>
                <a:cs typeface="Arial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 spc="-67">
                <a:latin typeface="Microsoft Sans Serif"/>
                <a:cs typeface="Microsoft Sans Serif"/>
              </a:rPr>
              <a:t> </a:t>
            </a:r>
            <a:r>
              <a:rPr dirty="0" baseline="2777" sz="3000" spc="-2212">
                <a:latin typeface="Microsoft Sans Serif"/>
                <a:cs typeface="Microsoft Sans Serif"/>
              </a:rPr>
              <a:t></a:t>
            </a:r>
            <a:r>
              <a:rPr dirty="0" baseline="2777" sz="3000" spc="-2565">
                <a:latin typeface="Microsoft Sans Serif"/>
                <a:cs typeface="Microsoft Sans Serif"/>
              </a:rPr>
              <a:t></a:t>
            </a:r>
            <a:r>
              <a:rPr dirty="0" baseline="-16666" sz="3000" spc="-10065">
                <a:latin typeface="Microsoft Sans Serif"/>
                <a:cs typeface="Microsoft Sans Serif"/>
              </a:rPr>
              <a:t>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r>
              <a:rPr dirty="0" baseline="2777" sz="3000">
                <a:latin typeface="Microsoft Sans Serif"/>
                <a:cs typeface="Microsoft Sans Serif"/>
              </a:rPr>
              <a:t>	</a:t>
            </a:r>
            <a:r>
              <a:rPr dirty="0" baseline="-34391" sz="3150" spc="-930" i="1">
                <a:latin typeface="Arial"/>
                <a:cs typeface="Arial"/>
              </a:rPr>
              <a:t></a:t>
            </a:r>
            <a:r>
              <a:rPr dirty="0" baseline="-34391" sz="3150" spc="292" i="1">
                <a:latin typeface="Arial"/>
                <a:cs typeface="Arial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7696" y="2919401"/>
            <a:ext cx="51054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-1315">
                <a:latin typeface="Microsoft Sans Serif"/>
                <a:cs typeface="Microsoft Sans Serif"/>
              </a:rPr>
              <a:t></a:t>
            </a:r>
            <a:r>
              <a:rPr dirty="0" baseline="-18518" sz="3150" spc="-1972" i="1">
                <a:latin typeface="Arial"/>
                <a:cs typeface="Arial"/>
              </a:rPr>
              <a:t></a:t>
            </a:r>
            <a:endParaRPr baseline="-18518" sz="3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1005" y="2840196"/>
            <a:ext cx="14408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150">
                <a:latin typeface="Microsoft Sans Serif"/>
                <a:cs typeface="Microsoft Sans Serif"/>
              </a:rPr>
              <a:t> </a:t>
            </a:r>
            <a:r>
              <a:rPr dirty="0" sz="2100" spc="-610" i="1">
                <a:latin typeface="Arial"/>
                <a:cs typeface="Arial"/>
              </a:rPr>
              <a:t></a:t>
            </a:r>
            <a:r>
              <a:rPr dirty="0" sz="2000" spc="-1035">
                <a:latin typeface="Microsoft Sans Serif"/>
                <a:cs typeface="Microsoft Sans Serif"/>
              </a:rPr>
              <a:t></a:t>
            </a:r>
            <a:r>
              <a:rPr dirty="0" sz="2000" spc="-960">
                <a:latin typeface="Microsoft Sans Serif"/>
                <a:cs typeface="Microsoft Sans Serif"/>
              </a:rPr>
              <a:t></a:t>
            </a:r>
            <a:r>
              <a:rPr dirty="0" sz="2000" spc="-960">
                <a:latin typeface="Microsoft Sans Serif"/>
                <a:cs typeface="Microsoft Sans Serif"/>
              </a:rPr>
              <a:t></a:t>
            </a:r>
            <a:r>
              <a:rPr dirty="0" baseline="2777" sz="3000" spc="-1852">
                <a:latin typeface="Microsoft Sans Serif"/>
                <a:cs typeface="Microsoft Sans Serif"/>
              </a:rPr>
              <a:t></a:t>
            </a:r>
            <a:r>
              <a:rPr dirty="0" baseline="2777" sz="3000" spc="315">
                <a:latin typeface="Microsoft Sans Serif"/>
                <a:cs typeface="Microsoft Sans Serif"/>
              </a:rPr>
              <a:t> </a:t>
            </a:r>
            <a:r>
              <a:rPr dirty="0" baseline="36111" sz="3000" spc="-1552">
                <a:latin typeface="Microsoft Sans Serif"/>
                <a:cs typeface="Microsoft Sans Serif"/>
              </a:rPr>
              <a:t></a:t>
            </a:r>
            <a:r>
              <a:rPr dirty="0" baseline="36111" sz="3000" spc="352">
                <a:latin typeface="Microsoft Sans Serif"/>
                <a:cs typeface="Microsoft Sans Serif"/>
              </a:rPr>
              <a:t> 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5746" y="3548481"/>
            <a:ext cx="27406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9645">
                <a:latin typeface="Microsoft Sans Serif"/>
                <a:cs typeface="Microsoft Sans Serif"/>
              </a:rPr>
              <a:t>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0772" y="3623107"/>
            <a:ext cx="21399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620" i="1">
                <a:latin typeface="Arial"/>
                <a:cs typeface="Arial"/>
              </a:rPr>
              <a:t>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1005" y="3455558"/>
            <a:ext cx="24834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75920" algn="l"/>
              </a:tabLst>
            </a:pP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697">
                <a:latin typeface="Microsoft Sans Serif"/>
                <a:cs typeface="Microsoft Sans Serif"/>
              </a:rPr>
              <a:t>	</a:t>
            </a:r>
            <a:r>
              <a:rPr dirty="0" baseline="36111" sz="3000" spc="-1537">
                <a:latin typeface="Microsoft Sans Serif"/>
                <a:cs typeface="Microsoft Sans Serif"/>
              </a:rPr>
              <a:t></a:t>
            </a:r>
            <a:r>
              <a:rPr dirty="0" baseline="36111" sz="3000" spc="-1439">
                <a:latin typeface="Microsoft Sans Serif"/>
                <a:cs typeface="Microsoft Sans Serif"/>
              </a:rPr>
              <a:t></a:t>
            </a:r>
            <a:r>
              <a:rPr dirty="0" baseline="36111" sz="3000" spc="-1439">
                <a:latin typeface="Microsoft Sans Serif"/>
                <a:cs typeface="Microsoft Sans Serif"/>
              </a:rPr>
              <a:t></a:t>
            </a:r>
            <a:r>
              <a:rPr dirty="0" baseline="38888" sz="3000" spc="-1897">
                <a:latin typeface="Microsoft Sans Serif"/>
                <a:cs typeface="Microsoft Sans Serif"/>
              </a:rPr>
              <a:t></a:t>
            </a:r>
            <a:r>
              <a:rPr dirty="0" baseline="36111" sz="3000" spc="-1335">
                <a:latin typeface="Microsoft Sans Serif"/>
                <a:cs typeface="Microsoft Sans Serif"/>
              </a:rPr>
              <a:t></a:t>
            </a:r>
            <a:r>
              <a:rPr dirty="0" baseline="38888" sz="3000" spc="-1852">
                <a:latin typeface="Microsoft Sans Serif"/>
                <a:cs typeface="Microsoft Sans Serif"/>
              </a:rPr>
              <a:t></a:t>
            </a:r>
            <a:r>
              <a:rPr dirty="0" baseline="38888" sz="3000" spc="-82">
                <a:latin typeface="Microsoft Sans Serif"/>
                <a:cs typeface="Microsoft Sans Serif"/>
              </a:rPr>
              <a:t> </a:t>
            </a:r>
            <a:r>
              <a:rPr dirty="0" sz="2000" spc="-50">
                <a:latin typeface="Microsoft Sans Serif"/>
                <a:cs typeface="Microsoft Sans Serif"/>
              </a:rPr>
              <a:t>→</a:t>
            </a:r>
            <a:r>
              <a:rPr dirty="0" sz="2000" spc="-890">
                <a:latin typeface="Microsoft Sans Serif"/>
                <a:cs typeface="Microsoft Sans Serif"/>
              </a:rPr>
              <a:t>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100" spc="-610" i="1">
                <a:latin typeface="Arial"/>
                <a:cs typeface="Arial"/>
              </a:rPr>
              <a:t></a:t>
            </a:r>
            <a:r>
              <a:rPr dirty="0" sz="2000" spc="-50">
                <a:latin typeface="Microsoft Sans Serif"/>
                <a:cs typeface="Microsoft Sans Serif"/>
              </a:rPr>
              <a:t>→</a:t>
            </a:r>
            <a:r>
              <a:rPr dirty="0" sz="2000" spc="915">
                <a:latin typeface="Microsoft Sans Serif"/>
                <a:cs typeface="Microsoft Sans Serif"/>
              </a:rPr>
              <a:t>∞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6636" y="4350280"/>
            <a:ext cx="8549005" cy="165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2000" spc="-5" b="1">
                <a:latin typeface="Malgun Gothic"/>
                <a:cs typeface="Malgun Gothic"/>
              </a:rPr>
              <a:t>소득에</a:t>
            </a:r>
            <a:r>
              <a:rPr dirty="0" sz="2000" spc="3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대하여</a:t>
            </a:r>
            <a:r>
              <a:rPr dirty="0" sz="2000" spc="3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동일한</a:t>
            </a:r>
            <a:r>
              <a:rPr dirty="0" sz="2000" spc="3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확률본포와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상호독립성을</a:t>
            </a:r>
            <a:r>
              <a:rPr dirty="0" sz="2000" spc="3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유지하는</a:t>
            </a:r>
            <a:r>
              <a:rPr dirty="0" sz="2000" spc="380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N명의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개인들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 </a:t>
            </a:r>
            <a:r>
              <a:rPr dirty="0" sz="2000" spc="-5" b="1">
                <a:latin typeface="Malgun Gothic"/>
                <a:cs typeface="Malgun Gothic"/>
              </a:rPr>
              <a:t>위험분산의 </a:t>
            </a:r>
            <a:r>
              <a:rPr dirty="0" sz="2000" b="1">
                <a:latin typeface="Malgun Gothic"/>
                <a:cs typeface="Malgun Gothic"/>
              </a:rPr>
              <a:t>기구에 </a:t>
            </a:r>
            <a:r>
              <a:rPr dirty="0" sz="2000" spc="-5" b="1">
                <a:latin typeface="Malgun Gothic"/>
                <a:cs typeface="Malgun Gothic"/>
              </a:rPr>
              <a:t>가입할 </a:t>
            </a:r>
            <a:r>
              <a:rPr dirty="0" sz="2000" b="1">
                <a:latin typeface="Malgun Gothic"/>
                <a:cs typeface="Malgun Gothic"/>
              </a:rPr>
              <a:t>경우 조직의 </a:t>
            </a:r>
            <a:r>
              <a:rPr dirty="0" sz="2000" spc="-5" b="1">
                <a:latin typeface="Malgun Gothic"/>
                <a:cs typeface="Malgun Gothic"/>
              </a:rPr>
              <a:t>규모가 커질수록 평균소득의 </a:t>
            </a:r>
            <a:r>
              <a:rPr dirty="0" sz="20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분산은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점차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0에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근접하는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경향이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즉,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개인들은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위험분산의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기구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에서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상호간의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거래를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확실성을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확보하게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된다.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808" y="1331394"/>
            <a:ext cx="7805784" cy="421713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95536" y="6064766"/>
            <a:ext cx="52901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high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65" b="1">
                <a:solidFill>
                  <a:srgbClr val="0000FF"/>
                </a:solidFill>
                <a:latin typeface="Malgun Gothic"/>
                <a:cs typeface="Malgun Gothic"/>
              </a:rPr>
              <a:t>risk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high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5" b="1">
                <a:solidFill>
                  <a:srgbClr val="0000FF"/>
                </a:solidFill>
                <a:latin typeface="Malgun Gothic"/>
                <a:cs typeface="Malgun Gothic"/>
              </a:rPr>
              <a:t>return,</a:t>
            </a:r>
            <a:r>
              <a:rPr dirty="0" sz="2000" spc="30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low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65" b="1">
                <a:solidFill>
                  <a:srgbClr val="0000FF"/>
                </a:solidFill>
                <a:latin typeface="Malgun Gothic"/>
                <a:cs typeface="Malgun Gothic"/>
              </a:rPr>
              <a:t>risk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low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return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63537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3.</a:t>
            </a:r>
            <a:r>
              <a:rPr dirty="0" spc="275"/>
              <a:t> </a:t>
            </a:r>
            <a:r>
              <a:rPr dirty="0"/>
              <a:t>보험의</a:t>
            </a:r>
            <a:r>
              <a:rPr dirty="0" spc="275"/>
              <a:t> </a:t>
            </a:r>
            <a:r>
              <a:rPr dirty="0" spc="-10"/>
              <a:t>다른</a:t>
            </a:r>
            <a:r>
              <a:rPr dirty="0" spc="275"/>
              <a:t> </a:t>
            </a:r>
            <a:r>
              <a:rPr dirty="0" spc="45"/>
              <a:t>사례:</a:t>
            </a:r>
            <a:r>
              <a:rPr dirty="0" spc="280"/>
              <a:t> </a:t>
            </a:r>
            <a:r>
              <a:rPr dirty="0" spc="-5"/>
              <a:t>종신연금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75260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일시금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A를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매년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y원의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연금으로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제공하는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종신연금(annuity)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3886" y="2986421"/>
            <a:ext cx="868044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620" i="1">
                <a:latin typeface="Arial"/>
                <a:cs typeface="Arial"/>
              </a:rPr>
              <a:t></a:t>
            </a:r>
            <a:r>
              <a:rPr dirty="0" sz="2100" spc="-150" i="1">
                <a:latin typeface="Arial"/>
                <a:cs typeface="Arial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sz="2000" spc="-245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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0123" y="2804258"/>
            <a:ext cx="735330" cy="69278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2000" spc="-1035">
                <a:latin typeface="Microsoft Sans Serif"/>
                <a:cs typeface="Microsoft Sans Serif"/>
              </a:rPr>
              <a:t>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1015">
                <a:latin typeface="Microsoft Sans Serif"/>
                <a:cs typeface="Microsoft Sans Serif"/>
              </a:rPr>
              <a:t></a:t>
            </a:r>
            <a:r>
              <a:rPr dirty="0" sz="2000" spc="-265">
                <a:latin typeface="Microsoft Sans Serif"/>
                <a:cs typeface="Microsoft Sans Serif"/>
              </a:rPr>
              <a:t> </a:t>
            </a:r>
            <a:r>
              <a:rPr dirty="0" baseline="2777" sz="3000" spc="-345">
                <a:latin typeface="Microsoft Sans Serif"/>
                <a:cs typeface="Microsoft Sans Serif"/>
              </a:rPr>
              <a:t></a:t>
            </a:r>
            <a:r>
              <a:rPr dirty="0" sz="2000" spc="-960">
                <a:latin typeface="Microsoft Sans Serif"/>
                <a:cs typeface="Microsoft Sans Serif"/>
              </a:rPr>
              <a:t>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0425" y="2987953"/>
            <a:ext cx="220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65">
                <a:latin typeface="Microsoft Sans Serif"/>
                <a:cs typeface="Microsoft Sans Serif"/>
              </a:rPr>
              <a:t>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9669" y="3198151"/>
            <a:ext cx="12318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35">
                <a:latin typeface="Microsoft Sans Serif"/>
                <a:cs typeface="Microsoft Sans Serif"/>
              </a:rPr>
              <a:t>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054" y="3208814"/>
            <a:ext cx="5245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15">
                <a:latin typeface="Microsoft Sans Serif"/>
                <a:cs typeface="Microsoft Sans Serif"/>
              </a:rPr>
              <a:t></a:t>
            </a:r>
            <a:r>
              <a:rPr dirty="0" sz="2000" spc="-265">
                <a:latin typeface="Microsoft Sans Serif"/>
                <a:cs typeface="Microsoft Sans Serif"/>
              </a:rPr>
              <a:t> </a:t>
            </a:r>
            <a:r>
              <a:rPr dirty="0" baseline="2777" sz="3000" spc="-345">
                <a:latin typeface="Microsoft Sans Serif"/>
                <a:cs typeface="Microsoft Sans Serif"/>
              </a:rPr>
              <a:t></a:t>
            </a:r>
            <a:r>
              <a:rPr dirty="0" sz="2000" spc="-1110">
                <a:latin typeface="Microsoft Sans Serif"/>
                <a:cs typeface="Microsoft Sans Serif"/>
              </a:rPr>
              <a:t>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6248" y="3097622"/>
            <a:ext cx="258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3000" spc="-1439">
                <a:latin typeface="Microsoft Sans Serif"/>
                <a:cs typeface="Microsoft Sans Serif"/>
              </a:rPr>
              <a:t></a:t>
            </a:r>
            <a:r>
              <a:rPr dirty="0" sz="1350" spc="-960">
                <a:latin typeface="Microsoft Sans Serif"/>
                <a:cs typeface="Microsoft Sans Serif"/>
              </a:rPr>
              <a:t>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4583" y="2832589"/>
            <a:ext cx="148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35">
                <a:latin typeface="Microsoft Sans Serif"/>
                <a:cs typeface="Microsoft Sans Serif"/>
              </a:rPr>
              <a:t>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5222" y="2987953"/>
            <a:ext cx="746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65">
                <a:latin typeface="Microsoft Sans Serif"/>
                <a:cs typeface="Microsoft Sans Serif"/>
              </a:rPr>
              <a:t></a:t>
            </a:r>
            <a:r>
              <a:rPr dirty="0" sz="2000" spc="-30">
                <a:latin typeface="Microsoft Sans Serif"/>
                <a:cs typeface="Microsoft Sans Serif"/>
              </a:rPr>
              <a:t> </a:t>
            </a:r>
            <a:r>
              <a:rPr dirty="0" sz="2000" spc="-1490">
                <a:latin typeface="Microsoft Sans Serif"/>
                <a:cs typeface="Microsoft Sans Serif"/>
              </a:rPr>
              <a:t></a:t>
            </a:r>
            <a:r>
              <a:rPr dirty="0" sz="2000" spc="-1475">
                <a:latin typeface="Microsoft Sans Serif"/>
                <a:cs typeface="Microsoft Sans Serif"/>
              </a:rPr>
              <a:t></a:t>
            </a:r>
            <a:r>
              <a:rPr dirty="0" sz="2000" spc="-1455">
                <a:latin typeface="Microsoft Sans Serif"/>
                <a:cs typeface="Microsoft Sans Serif"/>
              </a:rPr>
              <a:t></a:t>
            </a:r>
            <a:r>
              <a:rPr dirty="0" sz="2000" spc="-25">
                <a:latin typeface="Microsoft Sans Serif"/>
                <a:cs typeface="Microsoft Sans Serif"/>
              </a:rPr>
              <a:t> </a:t>
            </a:r>
            <a:r>
              <a:rPr dirty="0" sz="2000" spc="-465">
                <a:latin typeface="Microsoft Sans Serif"/>
                <a:cs typeface="Microsoft Sans Serif"/>
              </a:rPr>
              <a:t>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89672" y="3198151"/>
            <a:ext cx="4749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700" algn="l"/>
              </a:tabLst>
            </a:pPr>
            <a:r>
              <a:rPr dirty="0" sz="2000" spc="-1235">
                <a:latin typeface="Microsoft Sans Serif"/>
                <a:cs typeface="Microsoft Sans Serif"/>
              </a:rPr>
              <a:t></a:t>
            </a:r>
            <a:r>
              <a:rPr dirty="0" sz="2000" spc="-1235">
                <a:latin typeface="Microsoft Sans Serif"/>
                <a:cs typeface="Microsoft Sans Serif"/>
              </a:rPr>
              <a:t>	</a:t>
            </a:r>
            <a:r>
              <a:rPr dirty="0" sz="2000" spc="-465">
                <a:latin typeface="Microsoft Sans Serif"/>
                <a:cs typeface="Microsoft Sans Serif"/>
              </a:rPr>
              <a:t>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85579" y="3208814"/>
            <a:ext cx="522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dirty="0" sz="2000" spc="-1015">
                <a:latin typeface="Microsoft Sans Serif"/>
                <a:cs typeface="Microsoft Sans Serif"/>
              </a:rPr>
              <a:t></a:t>
            </a:r>
            <a:r>
              <a:rPr dirty="0" sz="2000" spc="-1015">
                <a:latin typeface="Microsoft Sans Serif"/>
                <a:cs typeface="Microsoft Sans Serif"/>
              </a:rPr>
              <a:t>	</a:t>
            </a:r>
            <a:r>
              <a:rPr dirty="0" sz="2000" spc="-1110">
                <a:latin typeface="Microsoft Sans Serif"/>
                <a:cs typeface="Microsoft Sans Serif"/>
              </a:rPr>
              <a:t>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6251" y="3097622"/>
            <a:ext cx="542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3000" spc="-1875">
                <a:latin typeface="Microsoft Sans Serif"/>
                <a:cs typeface="Microsoft Sans Serif"/>
              </a:rPr>
              <a:t></a:t>
            </a:r>
            <a:r>
              <a:rPr dirty="0" sz="1350" spc="-540">
                <a:latin typeface="Microsoft Sans Serif"/>
                <a:cs typeface="Microsoft Sans Serif"/>
              </a:rPr>
              <a:t></a:t>
            </a:r>
            <a:r>
              <a:rPr dirty="0" sz="1350" spc="-165">
                <a:latin typeface="Microsoft Sans Serif"/>
                <a:cs typeface="Microsoft Sans Serif"/>
              </a:rPr>
              <a:t> </a:t>
            </a:r>
            <a:r>
              <a:rPr dirty="0" baseline="4115" sz="2025" spc="-494">
                <a:latin typeface="Microsoft Sans Serif"/>
                <a:cs typeface="Microsoft Sans Serif"/>
              </a:rPr>
              <a:t></a:t>
            </a:r>
            <a:r>
              <a:rPr dirty="0" baseline="4115" sz="2025" spc="-225">
                <a:latin typeface="Microsoft Sans Serif"/>
                <a:cs typeface="Microsoft Sans Serif"/>
              </a:rPr>
              <a:t> </a:t>
            </a:r>
            <a:r>
              <a:rPr dirty="0" sz="1350" spc="-675">
                <a:latin typeface="Microsoft Sans Serif"/>
                <a:cs typeface="Microsoft Sans Serif"/>
              </a:rPr>
              <a:t>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7686" y="2832589"/>
            <a:ext cx="148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35">
                <a:latin typeface="Microsoft Sans Serif"/>
                <a:cs typeface="Microsoft Sans Serif"/>
              </a:rPr>
              <a:t>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636" y="4025235"/>
            <a:ext cx="8549005" cy="2364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일정한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소득흐름(연금)에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자본비용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100">
              <a:latin typeface="Malgun Gothic"/>
              <a:cs typeface="Malgun Gothic"/>
            </a:endParaRPr>
          </a:p>
          <a:p>
            <a:pPr algn="ctr" marL="1270">
              <a:lnSpc>
                <a:spcPct val="100000"/>
              </a:lnSpc>
            </a:pPr>
            <a:r>
              <a:rPr dirty="0" sz="2100" spc="-620" i="1">
                <a:latin typeface="Arial"/>
                <a:cs typeface="Arial"/>
              </a:rPr>
              <a:t></a:t>
            </a:r>
            <a:r>
              <a:rPr dirty="0" sz="2100" spc="-150" i="1">
                <a:latin typeface="Arial"/>
                <a:cs typeface="Arial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819">
                <a:latin typeface="Microsoft Sans Serif"/>
                <a:cs typeface="Microsoft Sans Serif"/>
              </a:rPr>
              <a:t></a:t>
            </a:r>
            <a:r>
              <a:rPr dirty="0" baseline="2777" sz="3000" spc="-1875">
                <a:latin typeface="Microsoft Sans Serif"/>
                <a:cs typeface="Microsoft Sans Serif"/>
              </a:rPr>
              <a:t></a:t>
            </a: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baseline="2777" sz="3000" spc="-2182">
                <a:latin typeface="Microsoft Sans Serif"/>
                <a:cs typeface="Microsoft Sans Serif"/>
              </a:rPr>
              <a:t></a:t>
            </a:r>
            <a:r>
              <a:rPr dirty="0" baseline="2777" sz="3000" spc="-254">
                <a:latin typeface="Microsoft Sans Serif"/>
                <a:cs typeface="Microsoft Sans Serif"/>
              </a:rPr>
              <a:t> </a:t>
            </a:r>
            <a:r>
              <a:rPr dirty="0" sz="2000" spc="-805">
                <a:latin typeface="Microsoft Sans Serif"/>
                <a:cs typeface="Microsoft Sans Serif"/>
              </a:rPr>
              <a:t></a:t>
            </a:r>
            <a:r>
              <a:rPr dirty="0" baseline="2777" sz="3000" spc="-2182">
                <a:latin typeface="Microsoft Sans Serif"/>
                <a:cs typeface="Microsoft Sans Serif"/>
              </a:rPr>
              <a:t></a:t>
            </a:r>
            <a:r>
              <a:rPr dirty="0" baseline="2777" sz="3000" spc="-254">
                <a:latin typeface="Microsoft Sans Serif"/>
                <a:cs typeface="Microsoft Sans Serif"/>
              </a:rPr>
              <a:t> </a:t>
            </a:r>
            <a:r>
              <a:rPr dirty="0" sz="2000" spc="-960">
                <a:latin typeface="Microsoft Sans Serif"/>
                <a:cs typeface="Microsoft Sans Serif"/>
              </a:rPr>
              <a:t>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431165" marR="5080" indent="-292735">
              <a:lnSpc>
                <a:spcPct val="133400"/>
              </a:lnSpc>
              <a:tabLst>
                <a:tab pos="440055" algn="l"/>
                <a:tab pos="1849755" algn="l"/>
                <a:tab pos="2752725" algn="l"/>
                <a:tab pos="3909695" algn="l"/>
                <a:tab pos="5319395" algn="l"/>
                <a:tab pos="6221730" algn="l"/>
                <a:tab pos="7378700" algn="l"/>
                <a:tab pos="802767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	</a:t>
            </a:r>
            <a:r>
              <a:rPr dirty="0" sz="2000" spc="-15" b="1">
                <a:latin typeface="Malgun Gothic"/>
                <a:cs typeface="Malgun Gothic"/>
              </a:rPr>
              <a:t>연</a:t>
            </a:r>
            <a:r>
              <a:rPr dirty="0" sz="2000" b="1">
                <a:latin typeface="Malgun Gothic"/>
                <a:cs typeface="Malgun Gothic"/>
              </a:rPr>
              <a:t>금보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</a:t>
            </a:r>
            <a:r>
              <a:rPr dirty="0" sz="2000" spc="-15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불</a:t>
            </a:r>
            <a:r>
              <a:rPr dirty="0" sz="2000" spc="-15" b="1">
                <a:latin typeface="Malgun Gothic"/>
                <a:cs typeface="Malgun Gothic"/>
              </a:rPr>
              <a:t>확</a:t>
            </a:r>
            <a:r>
              <a:rPr dirty="0" sz="2000" b="1">
                <a:latin typeface="Malgun Gothic"/>
                <a:cs typeface="Malgun Gothic"/>
              </a:rPr>
              <a:t>실한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생</a:t>
            </a:r>
            <a:r>
              <a:rPr dirty="0" sz="2000" b="1">
                <a:latin typeface="Malgun Gothic"/>
                <a:cs typeface="Malgun Gothic"/>
              </a:rPr>
              <a:t>애기</a:t>
            </a:r>
            <a:r>
              <a:rPr dirty="0" sz="2000" spc="-15" b="1">
                <a:latin typeface="Malgun Gothic"/>
                <a:cs typeface="Malgun Gothic"/>
              </a:rPr>
              <a:t>간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</a:t>
            </a:r>
            <a:r>
              <a:rPr dirty="0" sz="2000" spc="-15" b="1">
                <a:latin typeface="Malgun Gothic"/>
                <a:cs typeface="Malgun Gothic"/>
              </a:rPr>
              <a:t>비</a:t>
            </a:r>
            <a:r>
              <a:rPr dirty="0" sz="2000" b="1">
                <a:latin typeface="Malgun Gothic"/>
                <a:cs typeface="Malgun Gothic"/>
              </a:rPr>
              <a:t>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충</a:t>
            </a:r>
            <a:r>
              <a:rPr dirty="0" sz="2000" spc="-15" b="1">
                <a:latin typeface="Malgun Gothic"/>
                <a:cs typeface="Malgun Gothic"/>
              </a:rPr>
              <a:t>당</a:t>
            </a:r>
            <a:r>
              <a:rPr dirty="0" sz="2000" b="1">
                <a:latin typeface="Malgun Gothic"/>
                <a:cs typeface="Malgun Gothic"/>
              </a:rPr>
              <a:t>하기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마련  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65" b="1">
                <a:latin typeface="Malgun Gothic"/>
                <a:cs typeface="Malgun Gothic"/>
              </a:rPr>
              <a:t>A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금액을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일생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동안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확실한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보장하는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0" b="1">
                <a:latin typeface="Malgun Gothic"/>
                <a:cs typeface="Malgun Gothic"/>
              </a:rPr>
              <a:t>y의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연금으로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교환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9005" cy="4494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6350" indent="-277495">
              <a:lnSpc>
                <a:spcPct val="132900"/>
              </a:lnSpc>
              <a:spcBef>
                <a:spcPts val="100"/>
              </a:spcBef>
              <a:buFont typeface="Cambria"/>
              <a:buChar char="○"/>
              <a:tabLst>
                <a:tab pos="289560" algn="l"/>
                <a:tab pos="290195" algn="l"/>
                <a:tab pos="1199515" algn="l"/>
                <a:tab pos="2618740" algn="l"/>
                <a:tab pos="3208020" algn="l"/>
                <a:tab pos="4372610" algn="l"/>
                <a:tab pos="4850130" algn="l"/>
                <a:tab pos="6608445" algn="l"/>
                <a:tab pos="80276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인의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노</a:t>
            </a:r>
            <a:r>
              <a:rPr dirty="0" sz="2000" spc="-15" b="1">
                <a:latin typeface="Malgun Gothic"/>
                <a:cs typeface="Malgun Gothic"/>
              </a:rPr>
              <a:t>후</a:t>
            </a:r>
            <a:r>
              <a:rPr dirty="0" sz="2000" b="1">
                <a:latin typeface="Malgun Gothic"/>
                <a:cs typeface="Malgun Gothic"/>
              </a:rPr>
              <a:t>자산이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50" b="1">
                <a:latin typeface="Malgun Gothic"/>
                <a:cs typeface="Malgun Gothic"/>
              </a:rPr>
              <a:t>A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주어</a:t>
            </a:r>
            <a:r>
              <a:rPr dirty="0" sz="2000" spc="-15" b="1">
                <a:latin typeface="Malgun Gothic"/>
                <a:cs typeface="Malgun Gothic"/>
              </a:rPr>
              <a:t>졌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연</a:t>
            </a:r>
            <a:r>
              <a:rPr dirty="0" sz="2000" spc="-15" b="1">
                <a:latin typeface="Malgun Gothic"/>
                <a:cs typeface="Malgun Gothic"/>
              </a:rPr>
              <a:t>금</a:t>
            </a:r>
            <a:r>
              <a:rPr dirty="0" sz="2000" b="1">
                <a:latin typeface="Malgun Gothic"/>
                <a:cs typeface="Malgun Gothic"/>
              </a:rPr>
              <a:t>급여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90" b="1">
                <a:latin typeface="Malgun Gothic"/>
                <a:cs typeface="Malgun Gothic"/>
              </a:rPr>
              <a:t>y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회사가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예</a:t>
            </a:r>
            <a:r>
              <a:rPr dirty="0" sz="2000" b="1">
                <a:latin typeface="Malgun Gothic"/>
                <a:cs typeface="Malgun Gothic"/>
              </a:rPr>
              <a:t>상  </a:t>
            </a:r>
            <a:r>
              <a:rPr dirty="0" sz="2000" spc="-10" b="1">
                <a:latin typeface="Malgun Gothic"/>
                <a:cs typeface="Malgun Gothic"/>
              </a:rPr>
              <a:t>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가입자의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기대수명(n)과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예상이자율(r)에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결정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○"/>
            </a:pPr>
            <a:endParaRPr sz="2150">
              <a:latin typeface="Malgun Gothic"/>
              <a:cs typeface="Malgun Gothic"/>
            </a:endParaRPr>
          </a:p>
          <a:p>
            <a:pPr algn="ctr" marL="1270">
              <a:lnSpc>
                <a:spcPct val="100000"/>
              </a:lnSpc>
            </a:pPr>
            <a:r>
              <a:rPr dirty="0" sz="2000" spc="-1035">
                <a:latin typeface="Microsoft Sans Serif"/>
                <a:cs typeface="Microsoft Sans Serif"/>
              </a:rPr>
              <a:t></a:t>
            </a:r>
            <a:r>
              <a:rPr dirty="0" sz="2000" spc="-114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960">
                <a:latin typeface="Microsoft Sans Serif"/>
                <a:cs typeface="Microsoft Sans Serif"/>
              </a:rPr>
              <a:t></a:t>
            </a:r>
            <a:r>
              <a:rPr dirty="0" baseline="2777" sz="3000" spc="-1875">
                <a:latin typeface="Microsoft Sans Serif"/>
                <a:cs typeface="Microsoft Sans Serif"/>
              </a:rPr>
              <a:t></a:t>
            </a:r>
            <a:r>
              <a:rPr dirty="0" sz="2100" spc="-610" i="1">
                <a:latin typeface="Arial"/>
                <a:cs typeface="Arial"/>
              </a:rPr>
              <a:t></a:t>
            </a:r>
            <a:r>
              <a:rPr dirty="0" baseline="2777" sz="3000" spc="-2182">
                <a:latin typeface="Microsoft Sans Serif"/>
                <a:cs typeface="Microsoft Sans Serif"/>
              </a:rPr>
              <a:t></a:t>
            </a:r>
            <a:r>
              <a:rPr dirty="0" baseline="2777" sz="3000" spc="-254">
                <a:latin typeface="Microsoft Sans Serif"/>
                <a:cs typeface="Microsoft Sans Serif"/>
              </a:rPr>
              <a:t> </a:t>
            </a:r>
            <a:r>
              <a:rPr dirty="0" sz="2000" spc="-805">
                <a:latin typeface="Microsoft Sans Serif"/>
                <a:cs typeface="Microsoft Sans Serif"/>
              </a:rPr>
              <a:t></a:t>
            </a:r>
            <a:r>
              <a:rPr dirty="0" baseline="2777" sz="3000" spc="-2182">
                <a:latin typeface="Microsoft Sans Serif"/>
                <a:cs typeface="Microsoft Sans Serif"/>
              </a:rPr>
              <a:t></a:t>
            </a:r>
            <a:r>
              <a:rPr dirty="0" baseline="2777" sz="3000" spc="-254">
                <a:latin typeface="Microsoft Sans Serif"/>
                <a:cs typeface="Microsoft Sans Serif"/>
              </a:rPr>
              <a:t> </a:t>
            </a:r>
            <a:r>
              <a:rPr dirty="0" sz="2000" spc="-960">
                <a:latin typeface="Microsoft Sans Serif"/>
                <a:cs typeface="Microsoft Sans Serif"/>
              </a:rPr>
              <a:t></a:t>
            </a:r>
            <a:r>
              <a:rPr dirty="0" baseline="2777" sz="3000" spc="-1852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100">
              <a:latin typeface="Microsoft Sans Serif"/>
              <a:cs typeface="Microsoft Sans Serif"/>
            </a:endParaRPr>
          </a:p>
          <a:p>
            <a:pPr lvl="1" marL="424815" indent="-287020">
              <a:lnSpc>
                <a:spcPct val="100000"/>
              </a:lnSpc>
              <a:spcBef>
                <a:spcPts val="162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기대수명이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길수록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연금지급액은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45" b="1">
                <a:latin typeface="Malgun Gothic"/>
                <a:cs typeface="Malgun Gothic"/>
              </a:rPr>
              <a:t>작다: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연령,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성별,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건강,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배우자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lvl="1" marL="472440" marR="5080" indent="-334010">
              <a:lnSpc>
                <a:spcPct val="133400"/>
              </a:lnSpc>
              <a:buChar char="-"/>
              <a:tabLst>
                <a:tab pos="471805" algn="l"/>
                <a:tab pos="472440" algn="l"/>
                <a:tab pos="1405255" algn="l"/>
                <a:tab pos="2848610" algn="l"/>
                <a:tab pos="3781425" algn="l"/>
                <a:tab pos="4716145" algn="l"/>
                <a:tab pos="5650865" algn="l"/>
                <a:tab pos="6331585" algn="l"/>
                <a:tab pos="726630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연</a:t>
            </a:r>
            <a:r>
              <a:rPr dirty="0" sz="2000" b="1">
                <a:latin typeface="Malgun Gothic"/>
                <a:cs typeface="Malgun Gothic"/>
              </a:rPr>
              <a:t>금의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실질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치가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물</a:t>
            </a:r>
            <a:r>
              <a:rPr dirty="0" sz="2000" b="1">
                <a:latin typeface="Malgun Gothic"/>
                <a:cs typeface="Malgun Gothic"/>
              </a:rPr>
              <a:t>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변동에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영향을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받지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않도록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운</a:t>
            </a:r>
            <a:r>
              <a:rPr dirty="0" sz="2000" spc="-15" b="1">
                <a:latin typeface="Malgun Gothic"/>
                <a:cs typeface="Malgun Gothic"/>
              </a:rPr>
              <a:t>영</a:t>
            </a:r>
            <a:r>
              <a:rPr dirty="0" sz="2000" b="1">
                <a:latin typeface="Malgun Gothic"/>
                <a:cs typeface="Malgun Gothic"/>
              </a:rPr>
              <a:t>하려면  </a:t>
            </a:r>
            <a:r>
              <a:rPr dirty="0" sz="2000" spc="-5" b="1">
                <a:latin typeface="Malgun Gothic"/>
                <a:cs typeface="Malgun Gothic"/>
              </a:rPr>
              <a:t>연금산정은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실질이자율(명목이자율-물가상승률)에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기초해야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</a:pPr>
            <a:r>
              <a:rPr dirty="0" sz="2000" spc="1085" b="1">
                <a:solidFill>
                  <a:srgbClr val="0000FF"/>
                </a:solidFill>
                <a:latin typeface="Malgun Gothic"/>
                <a:cs typeface="Malgun Gothic"/>
              </a:rPr>
              <a:t>*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국민연금의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물가연동제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0" b="1">
                <a:solidFill>
                  <a:srgbClr val="0000FF"/>
                </a:solidFill>
                <a:latin typeface="Malgun Gothic"/>
                <a:cs typeface="Malgun Gothic"/>
              </a:rPr>
              <a:t>indexation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78892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제3절.</a:t>
            </a:r>
            <a:r>
              <a:rPr dirty="0" spc="254"/>
              <a:t> </a:t>
            </a:r>
            <a:r>
              <a:rPr dirty="0" spc="-5"/>
              <a:t>보험의</a:t>
            </a:r>
            <a:r>
              <a:rPr dirty="0" spc="254"/>
              <a:t> </a:t>
            </a:r>
            <a:r>
              <a:rPr dirty="0" spc="-5"/>
              <a:t>공급측면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3936" y="2020737"/>
            <a:ext cx="8598535" cy="4413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보험의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공급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5400">
              <a:lnSpc>
                <a:spcPct val="100000"/>
              </a:lnSpc>
            </a:pPr>
            <a:r>
              <a:rPr dirty="0" sz="2000" spc="30" b="1">
                <a:latin typeface="Malgun Gothic"/>
                <a:cs typeface="Malgun Gothic"/>
              </a:rPr>
              <a:t>1)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보험수리적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보험료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Malgun Gothic"/>
              <a:cs typeface="Malgun Gothic"/>
            </a:endParaRPr>
          </a:p>
          <a:p>
            <a:pPr marL="279400" indent="-254635">
              <a:lnSpc>
                <a:spcPct val="100000"/>
              </a:lnSpc>
              <a:buFont typeface="Cambria"/>
              <a:buChar char="○"/>
              <a:tabLst>
                <a:tab pos="279400" algn="l"/>
                <a:tab pos="280035" algn="l"/>
              </a:tabLst>
            </a:pPr>
            <a:r>
              <a:rPr dirty="0" sz="2000" spc="10" b="1">
                <a:latin typeface="Malgun Gothic"/>
                <a:cs typeface="Malgun Gothic"/>
              </a:rPr>
              <a:t>1000만원의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귀중품을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도난보험에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가입,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도난당할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40" b="1">
                <a:latin typeface="Malgun Gothic"/>
                <a:cs typeface="Malgun Gothic"/>
              </a:rPr>
              <a:t>확률=1%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Malgun Gothic"/>
              <a:cs typeface="Malgun Gothic"/>
            </a:endParaRPr>
          </a:p>
          <a:p>
            <a:pPr algn="ctr" marR="19050">
              <a:lnSpc>
                <a:spcPct val="100000"/>
              </a:lnSpc>
            </a:pP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험수</a:t>
            </a:r>
            <a:r>
              <a:rPr dirty="0" sz="2000" spc="-15" b="1">
                <a:latin typeface="Malgun Gothic"/>
                <a:cs typeface="Malgun Gothic"/>
              </a:rPr>
              <a:t>리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spc="-880">
                <a:latin typeface="Microsoft Sans Serif"/>
                <a:cs typeface="Microsoft Sans Serif"/>
              </a:rPr>
              <a:t></a:t>
            </a:r>
            <a:r>
              <a:rPr dirty="0" baseline="-20576" sz="2025" spc="-1327">
                <a:latin typeface="Microsoft Sans Serif"/>
                <a:cs typeface="Microsoft Sans Serif"/>
              </a:rPr>
              <a:t></a:t>
            </a:r>
            <a:r>
              <a:rPr dirty="0" baseline="-20576" sz="2025">
                <a:latin typeface="Microsoft Sans Serif"/>
                <a:cs typeface="Microsoft Sans Serif"/>
              </a:rPr>
              <a:t> </a:t>
            </a:r>
            <a:r>
              <a:rPr dirty="0" baseline="-20576" sz="2025" spc="-195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1015">
                <a:latin typeface="Microsoft Sans Serif"/>
                <a:cs typeface="Microsoft Sans Serif"/>
              </a:rPr>
              <a:t></a:t>
            </a:r>
            <a:r>
              <a:rPr dirty="0" sz="2000" spc="-265">
                <a:latin typeface="Microsoft Sans Serif"/>
                <a:cs typeface="Microsoft Sans Serif"/>
              </a:rPr>
              <a:t> </a:t>
            </a:r>
            <a:r>
              <a:rPr dirty="0" baseline="2777" sz="3000" spc="-345">
                <a:latin typeface="Microsoft Sans Serif"/>
                <a:cs typeface="Microsoft Sans Serif"/>
              </a:rPr>
              <a:t></a:t>
            </a:r>
            <a:r>
              <a:rPr dirty="0" sz="2000" spc="-590">
                <a:latin typeface="Microsoft Sans Serif"/>
                <a:cs typeface="Microsoft Sans Serif"/>
              </a:rPr>
              <a:t></a:t>
            </a:r>
            <a:r>
              <a:rPr dirty="0" baseline="2777" sz="3000" spc="-1897">
                <a:latin typeface="Microsoft Sans Serif"/>
                <a:cs typeface="Microsoft Sans Serif"/>
              </a:rPr>
              <a:t></a:t>
            </a:r>
            <a:r>
              <a:rPr dirty="0" sz="2000" spc="-1025">
                <a:latin typeface="Microsoft Sans Serif"/>
                <a:cs typeface="Microsoft Sans Serif"/>
              </a:rPr>
              <a:t></a:t>
            </a:r>
            <a:r>
              <a:rPr dirty="0" baseline="-20576" sz="2025" spc="-1364">
                <a:latin typeface="Microsoft Sans Serif"/>
                <a:cs typeface="Microsoft Sans Serif"/>
              </a:rPr>
              <a:t></a:t>
            </a:r>
            <a:r>
              <a:rPr dirty="0" sz="2100" spc="-865" i="1">
                <a:latin typeface="Arial"/>
                <a:cs typeface="Arial"/>
              </a:rPr>
              <a:t></a:t>
            </a:r>
            <a:endParaRPr sz="2100">
              <a:latin typeface="Arial"/>
              <a:cs typeface="Arial"/>
            </a:endParaRPr>
          </a:p>
          <a:p>
            <a:pPr marL="1555115">
              <a:lnSpc>
                <a:spcPct val="100000"/>
              </a:lnSpc>
              <a:spcBef>
                <a:spcPts val="1105"/>
              </a:spcBef>
            </a:pP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0576" sz="2025" spc="-1364">
                <a:latin typeface="Microsoft Sans Serif"/>
                <a:cs typeface="Microsoft Sans Serif"/>
              </a:rPr>
              <a:t></a:t>
            </a:r>
            <a:r>
              <a:rPr dirty="0" sz="2100" spc="-865" i="1">
                <a:latin typeface="Arial"/>
                <a:cs typeface="Arial"/>
              </a:rPr>
              <a:t></a:t>
            </a:r>
            <a:r>
              <a:rPr dirty="0" sz="2100" spc="240" i="1">
                <a:latin typeface="Arial"/>
                <a:cs typeface="Arial"/>
              </a:rPr>
              <a:t> </a:t>
            </a:r>
            <a:r>
              <a:rPr dirty="0" sz="1600" spc="110" b="1">
                <a:latin typeface="Malgun Gothic"/>
                <a:cs typeface="Malgun Gothic"/>
              </a:rPr>
              <a:t>: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80" b="1">
                <a:latin typeface="Malgun Gothic"/>
                <a:cs typeface="Malgun Gothic"/>
              </a:rPr>
              <a:t> </a:t>
            </a:r>
            <a:r>
              <a:rPr dirty="0" sz="2000" spc="-1275">
                <a:latin typeface="Microsoft Sans Serif"/>
                <a:cs typeface="Microsoft Sans Serif"/>
              </a:rPr>
              <a:t></a:t>
            </a:r>
            <a:r>
              <a:rPr dirty="0" sz="1600" b="1">
                <a:latin typeface="Malgun Gothic"/>
                <a:cs typeface="Malgun Gothic"/>
              </a:rPr>
              <a:t>번</a:t>
            </a:r>
            <a:r>
              <a:rPr dirty="0" sz="1600" spc="-10" b="1">
                <a:latin typeface="Malgun Gothic"/>
                <a:cs typeface="Malgun Gothic"/>
              </a:rPr>
              <a:t>째</a:t>
            </a:r>
            <a:r>
              <a:rPr dirty="0" sz="1600" spc="240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개인의</a:t>
            </a:r>
            <a:r>
              <a:rPr dirty="0" sz="1600" spc="240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예</a:t>
            </a:r>
            <a:r>
              <a:rPr dirty="0" sz="1600" spc="-10" b="1">
                <a:latin typeface="Malgun Gothic"/>
                <a:cs typeface="Malgun Gothic"/>
              </a:rPr>
              <a:t>상손실</a:t>
            </a:r>
            <a:endParaRPr sz="1600">
              <a:latin typeface="Malgun Gothic"/>
              <a:cs typeface="Malgun Gothic"/>
            </a:endParaRPr>
          </a:p>
          <a:p>
            <a:pPr marL="1555115">
              <a:lnSpc>
                <a:spcPct val="100000"/>
              </a:lnSpc>
              <a:spcBef>
                <a:spcPts val="975"/>
              </a:spcBef>
            </a:pP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0576" sz="2025" spc="-1327">
                <a:latin typeface="Microsoft Sans Serif"/>
                <a:cs typeface="Microsoft Sans Serif"/>
              </a:rPr>
              <a:t></a:t>
            </a:r>
            <a:r>
              <a:rPr dirty="0" baseline="-20576" sz="2025">
                <a:latin typeface="Microsoft Sans Serif"/>
                <a:cs typeface="Microsoft Sans Serif"/>
              </a:rPr>
              <a:t> </a:t>
            </a:r>
            <a:r>
              <a:rPr dirty="0" baseline="-20576" sz="2025" spc="179">
                <a:latin typeface="Microsoft Sans Serif"/>
                <a:cs typeface="Microsoft Sans Serif"/>
              </a:rPr>
              <a:t> </a:t>
            </a:r>
            <a:r>
              <a:rPr dirty="0" sz="1600" spc="110" b="1">
                <a:latin typeface="Malgun Gothic"/>
                <a:cs typeface="Malgun Gothic"/>
              </a:rPr>
              <a:t>:</a:t>
            </a:r>
            <a:r>
              <a:rPr dirty="0" sz="1600" spc="235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위험</a:t>
            </a:r>
            <a:r>
              <a:rPr dirty="0" sz="1600" b="1">
                <a:latin typeface="Malgun Gothic"/>
                <a:cs typeface="Malgun Gothic"/>
              </a:rPr>
              <a:t>발</a:t>
            </a:r>
            <a:r>
              <a:rPr dirty="0" sz="1600" spc="-10" b="1">
                <a:latin typeface="Malgun Gothic"/>
                <a:cs typeface="Malgun Gothic"/>
              </a:rPr>
              <a:t>생확률</a:t>
            </a:r>
            <a:endParaRPr sz="1600">
              <a:latin typeface="Malgun Gothic"/>
              <a:cs typeface="Malgun Gothic"/>
            </a:endParaRPr>
          </a:p>
          <a:p>
            <a:pPr marL="2008505" marR="43180" indent="-454025">
              <a:lnSpc>
                <a:spcPct val="125600"/>
              </a:lnSpc>
              <a:spcBef>
                <a:spcPts val="365"/>
              </a:spcBef>
            </a:pPr>
            <a:r>
              <a:rPr dirty="0" sz="2000" spc="-735">
                <a:latin typeface="Microsoft Sans Serif"/>
                <a:cs typeface="Microsoft Sans Serif"/>
              </a:rPr>
              <a:t></a:t>
            </a:r>
            <a:r>
              <a:rPr dirty="0" sz="2000" spc="-735">
                <a:latin typeface="Microsoft Sans Serif"/>
                <a:cs typeface="Microsoft Sans Serif"/>
              </a:rPr>
              <a:t> </a:t>
            </a:r>
            <a:r>
              <a:rPr dirty="0" sz="2000" spc="-150">
                <a:latin typeface="Microsoft Sans Serif"/>
                <a:cs typeface="Microsoft Sans Serif"/>
              </a:rPr>
              <a:t> </a:t>
            </a:r>
            <a:r>
              <a:rPr dirty="0" sz="1600" spc="110" b="1">
                <a:latin typeface="Malgun Gothic"/>
                <a:cs typeface="Malgun Gothic"/>
              </a:rPr>
              <a:t>: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70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보험</a:t>
            </a:r>
            <a:r>
              <a:rPr dirty="0" sz="1600" b="1">
                <a:latin typeface="Malgun Gothic"/>
                <a:cs typeface="Malgun Gothic"/>
              </a:rPr>
              <a:t>회</a:t>
            </a:r>
            <a:r>
              <a:rPr dirty="0" sz="1600" spc="-10" b="1">
                <a:latin typeface="Malgun Gothic"/>
                <a:cs typeface="Malgun Gothic"/>
              </a:rPr>
              <a:t>사가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65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관</a:t>
            </a:r>
            <a:r>
              <a:rPr dirty="0" sz="1600" b="1">
                <a:latin typeface="Malgun Gothic"/>
                <a:cs typeface="Malgun Gothic"/>
              </a:rPr>
              <a:t>리</a:t>
            </a:r>
            <a:r>
              <a:rPr dirty="0" sz="1600" spc="-10" b="1">
                <a:latin typeface="Malgun Gothic"/>
                <a:cs typeface="Malgun Gothic"/>
              </a:rPr>
              <a:t>비용과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65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정</a:t>
            </a:r>
            <a:r>
              <a:rPr dirty="0" sz="1600" b="1">
                <a:latin typeface="Malgun Gothic"/>
                <a:cs typeface="Malgun Gothic"/>
              </a:rPr>
              <a:t>상</a:t>
            </a:r>
            <a:r>
              <a:rPr dirty="0" sz="1600" spc="-10" b="1">
                <a:latin typeface="Malgun Gothic"/>
                <a:cs typeface="Malgun Gothic"/>
              </a:rPr>
              <a:t>이윤을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65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충</a:t>
            </a:r>
            <a:r>
              <a:rPr dirty="0" sz="1600" b="1">
                <a:latin typeface="Malgun Gothic"/>
                <a:cs typeface="Malgun Gothic"/>
              </a:rPr>
              <a:t>당</a:t>
            </a:r>
            <a:r>
              <a:rPr dirty="0" sz="1600" spc="-10" b="1">
                <a:latin typeface="Malgun Gothic"/>
                <a:cs typeface="Malgun Gothic"/>
              </a:rPr>
              <a:t>하기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65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위해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65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순</a:t>
            </a:r>
            <a:r>
              <a:rPr dirty="0" sz="1600" b="1">
                <a:latin typeface="Malgun Gothic"/>
                <a:cs typeface="Malgun Gothic"/>
              </a:rPr>
              <a:t>보</a:t>
            </a:r>
            <a:r>
              <a:rPr dirty="0" sz="1600" spc="-10" b="1">
                <a:latin typeface="Malgun Gothic"/>
                <a:cs typeface="Malgun Gothic"/>
              </a:rPr>
              <a:t>험료에</a:t>
            </a:r>
            <a:r>
              <a:rPr dirty="0" sz="1600" b="1">
                <a:latin typeface="Malgun Gothic"/>
                <a:cs typeface="Malgun Gothic"/>
              </a:rPr>
              <a:t> </a:t>
            </a:r>
            <a:r>
              <a:rPr dirty="0" sz="1600" spc="-265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부</a:t>
            </a:r>
            <a:r>
              <a:rPr dirty="0" sz="1600" b="1">
                <a:latin typeface="Malgun Gothic"/>
                <a:cs typeface="Malgun Gothic"/>
              </a:rPr>
              <a:t>가</a:t>
            </a:r>
            <a:r>
              <a:rPr dirty="0" sz="1600" spc="-5" b="1">
                <a:latin typeface="Malgun Gothic"/>
                <a:cs typeface="Malgun Gothic"/>
              </a:rPr>
              <a:t>하  </a:t>
            </a:r>
            <a:r>
              <a:rPr dirty="0" sz="1600" spc="-10" b="1">
                <a:latin typeface="Malgun Gothic"/>
                <a:cs typeface="Malgun Gothic"/>
              </a:rPr>
              <a:t>는</a:t>
            </a:r>
            <a:r>
              <a:rPr dirty="0" sz="1600" spc="235" b="1">
                <a:latin typeface="Malgun Gothic"/>
                <a:cs typeface="Malgun Gothic"/>
              </a:rPr>
              <a:t> </a:t>
            </a:r>
            <a:r>
              <a:rPr dirty="0" sz="1600" spc="-5" b="1">
                <a:latin typeface="Malgun Gothic"/>
                <a:cs typeface="Malgun Gothic"/>
              </a:rPr>
              <a:t>부가보험료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93624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2)</a:t>
            </a:r>
            <a:r>
              <a:rPr dirty="0" spc="265"/>
              <a:t> </a:t>
            </a:r>
            <a:r>
              <a:rPr dirty="0" spc="-5"/>
              <a:t>보험시장의</a:t>
            </a:r>
            <a:r>
              <a:rPr dirty="0" spc="270"/>
              <a:t> </a:t>
            </a:r>
            <a:r>
              <a:rPr dirty="0"/>
              <a:t>성립</a:t>
            </a:r>
            <a:r>
              <a:rPr dirty="0" spc="270"/>
              <a:t> </a:t>
            </a:r>
            <a:r>
              <a:rPr dirty="0" spc="-10"/>
              <a:t>요건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9005" cy="83883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000" b="1">
                <a:latin typeface="Malgun Gothic"/>
                <a:cs typeface="Malgun Gothic"/>
              </a:rPr>
              <a:t>①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위험발생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확률의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독립성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800"/>
              </a:spcBef>
              <a:tabLst>
                <a:tab pos="448945" algn="l"/>
                <a:tab pos="1360805" algn="l"/>
                <a:tab pos="2273300" algn="l"/>
                <a:tab pos="3185160" algn="l"/>
                <a:tab pos="3842385" algn="l"/>
                <a:tab pos="4501515" algn="l"/>
                <a:tab pos="5413375" algn="l"/>
                <a:tab pos="772287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기</a:t>
            </a:r>
            <a:r>
              <a:rPr dirty="0" sz="2000" spc="-15" b="1">
                <a:latin typeface="Malgun Gothic"/>
                <a:cs typeface="Malgun Gothic"/>
              </a:rPr>
              <a:t>능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</a:t>
            </a:r>
            <a:r>
              <a:rPr dirty="0" sz="2000" spc="-15" b="1">
                <a:latin typeface="Malgun Gothic"/>
                <a:cs typeface="Malgun Gothic"/>
              </a:rPr>
              <a:t>별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또는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색</a:t>
            </a:r>
            <a:r>
              <a:rPr dirty="0" sz="2000" spc="-15" b="1">
                <a:latin typeface="Malgun Gothic"/>
                <a:cs typeface="Malgun Gothic"/>
              </a:rPr>
              <a:t>다</a:t>
            </a:r>
            <a:r>
              <a:rPr dirty="0" sz="2000" b="1">
                <a:latin typeface="Malgun Gothic"/>
                <a:cs typeface="Malgun Gothic"/>
              </a:rPr>
              <a:t>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-95" b="1">
                <a:latin typeface="Malgun Gothic"/>
                <a:cs typeface="Malgun Gothic"/>
              </a:rPr>
              <a:t>d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114" b="1">
                <a:latin typeface="Malgun Gothic"/>
                <a:cs typeface="Malgun Gothic"/>
              </a:rPr>
              <a:t>s</a:t>
            </a:r>
            <a:r>
              <a:rPr dirty="0" sz="2000" spc="100" b="1">
                <a:latin typeface="Malgun Gothic"/>
                <a:cs typeface="Malgun Gothic"/>
              </a:rPr>
              <a:t>y</a:t>
            </a:r>
            <a:r>
              <a:rPr dirty="0" sz="2000" spc="-85" b="1">
                <a:latin typeface="Malgun Gothic"/>
                <a:cs typeface="Malgun Gothic"/>
              </a:rPr>
              <a:t>n</a:t>
            </a:r>
            <a:r>
              <a:rPr dirty="0" sz="2000" spc="100" b="1">
                <a:latin typeface="Malgun Gothic"/>
                <a:cs typeface="Malgun Gothic"/>
              </a:rPr>
              <a:t>c</a:t>
            </a:r>
            <a:r>
              <a:rPr dirty="0" sz="2000" spc="95" b="1">
                <a:latin typeface="Malgun Gothic"/>
                <a:cs typeface="Malgun Gothic"/>
              </a:rPr>
              <a:t>r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110" b="1">
                <a:latin typeface="Malgun Gothic"/>
                <a:cs typeface="Malgun Gothic"/>
              </a:rPr>
              <a:t>c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95" b="1">
                <a:latin typeface="Malgun Gothic"/>
                <a:cs typeface="Malgun Gothic"/>
              </a:rPr>
              <a:t>r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114" b="1">
                <a:latin typeface="Malgun Gothic"/>
                <a:cs typeface="Malgun Gothic"/>
              </a:rPr>
              <a:t>s</a:t>
            </a:r>
            <a:r>
              <a:rPr dirty="0" sz="2000" spc="25" b="1">
                <a:latin typeface="Malgun Gothic"/>
                <a:cs typeface="Malgun Gothic"/>
              </a:rPr>
              <a:t>k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에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6382" y="2731146"/>
            <a:ext cx="6758940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1183005" algn="l"/>
                <a:tab pos="2101215" algn="l"/>
                <a:tab pos="2512060" algn="l"/>
                <a:tab pos="3503295" algn="l"/>
                <a:tab pos="4420870" algn="l"/>
                <a:tab pos="618871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대</a:t>
            </a:r>
            <a:r>
              <a:rPr dirty="0" sz="2000" b="1">
                <a:latin typeface="Malgun Gothic"/>
                <a:cs typeface="Malgun Gothic"/>
              </a:rPr>
              <a:t>해서는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작</a:t>
            </a:r>
            <a:r>
              <a:rPr dirty="0" sz="2000" spc="-15" b="1">
                <a:latin typeface="Malgun Gothic"/>
                <a:cs typeface="Malgun Gothic"/>
              </a:rPr>
              <a:t>동</a:t>
            </a:r>
            <a:r>
              <a:rPr dirty="0" sz="2000" b="1">
                <a:latin typeface="Malgun Gothic"/>
                <a:cs typeface="Malgun Gothic"/>
              </a:rPr>
              <a:t>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있</a:t>
            </a:r>
            <a:r>
              <a:rPr dirty="0" sz="2000" b="1">
                <a:latin typeface="Malgun Gothic"/>
                <a:cs typeface="Malgun Gothic"/>
              </a:rPr>
              <a:t>지만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공동의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114" b="1">
                <a:latin typeface="Malgun Gothic"/>
                <a:cs typeface="Malgun Gothic"/>
              </a:rPr>
              <a:t>c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-160" b="1">
                <a:latin typeface="Malgun Gothic"/>
                <a:cs typeface="Malgun Gothic"/>
              </a:rPr>
              <a:t>mm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-80" b="1">
                <a:latin typeface="Malgun Gothic"/>
                <a:cs typeface="Malgun Gothic"/>
              </a:rPr>
              <a:t>n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85" b="1">
                <a:latin typeface="Malgun Gothic"/>
                <a:cs typeface="Malgun Gothic"/>
              </a:rPr>
              <a:t>r</a:t>
            </a:r>
            <a:r>
              <a:rPr dirty="0" sz="2000" spc="30" b="1">
                <a:latin typeface="Malgun Gothic"/>
                <a:cs typeface="Malgun Gothic"/>
              </a:rPr>
              <a:t>i</a:t>
            </a:r>
            <a:r>
              <a:rPr dirty="0" sz="2000" spc="105" b="1">
                <a:latin typeface="Malgun Gothic"/>
                <a:cs typeface="Malgun Gothic"/>
              </a:rPr>
              <a:t>s</a:t>
            </a:r>
            <a:r>
              <a:rPr dirty="0" sz="2000" spc="25" b="1">
                <a:latin typeface="Malgun Gothic"/>
                <a:cs typeface="Malgun Gothic"/>
              </a:rPr>
              <a:t>k</a:t>
            </a:r>
            <a:r>
              <a:rPr dirty="0" sz="2000" spc="35" b="1">
                <a:latin typeface="Malgun Gothic"/>
                <a:cs typeface="Malgun Gothic"/>
              </a:rPr>
              <a:t>)  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25" b="1">
                <a:latin typeface="Malgun Gothic"/>
                <a:cs typeface="Malgun Gothic"/>
              </a:rPr>
              <a:t>위험(systemic)에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대해서는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제대로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기능할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없다.</a:t>
            </a:r>
            <a:endParaRPr sz="2000">
              <a:latin typeface="Malgun Gothic"/>
              <a:cs typeface="Malgun Gothic"/>
            </a:endParaRPr>
          </a:p>
          <a:p>
            <a:pPr marL="59690">
              <a:lnSpc>
                <a:spcPct val="100000"/>
              </a:lnSpc>
              <a:spcBef>
                <a:spcPts val="800"/>
              </a:spcBef>
            </a:pPr>
            <a:r>
              <a:rPr dirty="0" sz="2000" spc="75">
                <a:latin typeface="Cambria"/>
                <a:cs typeface="Cambria"/>
              </a:rPr>
              <a:t>▸</a:t>
            </a:r>
            <a:r>
              <a:rPr dirty="0" sz="2000" spc="75" b="1">
                <a:latin typeface="Malgun Gothic"/>
                <a:cs typeface="Malgun Gothic"/>
              </a:rPr>
              <a:t>전염병,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실업,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인플레이션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6476" y="2832589"/>
            <a:ext cx="1197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7545" algn="l"/>
              </a:tabLst>
            </a:pPr>
            <a:r>
              <a:rPr dirty="0" sz="2000" b="1">
                <a:latin typeface="Malgun Gothic"/>
                <a:cs typeface="Malgun Gothic"/>
              </a:rPr>
              <a:t>또는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구</a:t>
            </a:r>
            <a:r>
              <a:rPr dirty="0" sz="2000" b="1">
                <a:latin typeface="Malgun Gothic"/>
                <a:cs typeface="Malgun Gothic"/>
              </a:rPr>
              <a:t>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3936" y="4356374"/>
            <a:ext cx="7677784" cy="1653539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0"/>
              </a:spcBef>
            </a:pPr>
            <a:r>
              <a:rPr dirty="0" sz="2000" b="1">
                <a:latin typeface="Malgun Gothic"/>
                <a:cs typeface="Malgun Gothic"/>
              </a:rPr>
              <a:t>②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1보다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작을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것</a:t>
            </a:r>
            <a:endParaRPr sz="2000">
              <a:latin typeface="Malgun Gothic"/>
              <a:cs typeface="Malgun Gothic"/>
            </a:endParaRPr>
          </a:p>
          <a:p>
            <a:pPr marL="151130">
              <a:lnSpc>
                <a:spcPct val="100000"/>
              </a:lnSpc>
              <a:spcBef>
                <a:spcPts val="8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1보다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클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만성질병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3165">
                <a:latin typeface="Cambria"/>
                <a:cs typeface="Cambria"/>
              </a:rPr>
              <a:t>⟹</a:t>
            </a:r>
            <a:r>
              <a:rPr dirty="0" sz="2000" spc="555">
                <a:latin typeface="Cambria"/>
                <a:cs typeface="Cambria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보험적용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664" b="1">
                <a:latin typeface="Malgun Gothic"/>
                <a:cs typeface="Malgun Gothic"/>
              </a:rPr>
              <a:t>제외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100">
              <a:latin typeface="Malgun Gothic"/>
              <a:cs typeface="Malgun Gothic"/>
            </a:endParaRPr>
          </a:p>
          <a:p>
            <a:pPr marL="3217545">
              <a:lnSpc>
                <a:spcPct val="100000"/>
              </a:lnSpc>
            </a:pPr>
            <a:r>
              <a:rPr dirty="0" sz="2000" spc="-890">
                <a:latin typeface="Microsoft Sans Serif"/>
                <a:cs typeface="Microsoft Sans Serif"/>
              </a:rPr>
              <a:t></a:t>
            </a:r>
            <a:r>
              <a:rPr dirty="0" baseline="-22633" sz="2025" spc="-1327">
                <a:latin typeface="Microsoft Sans Serif"/>
                <a:cs typeface="Microsoft Sans Serif"/>
              </a:rPr>
              <a:t></a:t>
            </a:r>
            <a:r>
              <a:rPr dirty="0" baseline="-22633" sz="2025">
                <a:latin typeface="Microsoft Sans Serif"/>
                <a:cs typeface="Microsoft Sans Serif"/>
              </a:rPr>
              <a:t> </a:t>
            </a:r>
            <a:r>
              <a:rPr dirty="0" baseline="-22633" sz="2025" spc="-195">
                <a:latin typeface="Microsoft Sans Serif"/>
                <a:cs typeface="Microsoft Sans Serif"/>
              </a:rPr>
              <a:t> </a:t>
            </a:r>
            <a:r>
              <a:rPr dirty="0" baseline="2777" sz="3000" spc="-697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baseline="2777" sz="3000" spc="-1897">
                <a:latin typeface="Microsoft Sans Serif"/>
                <a:cs typeface="Microsoft Sans Serif"/>
              </a:rPr>
              <a:t></a:t>
            </a:r>
            <a:r>
              <a:rPr dirty="0" sz="2000" spc="-1015">
                <a:latin typeface="Microsoft Sans Serif"/>
                <a:cs typeface="Microsoft Sans Serif"/>
              </a:rPr>
              <a:t></a:t>
            </a:r>
            <a:r>
              <a:rPr dirty="0" sz="2000" spc="-265">
                <a:latin typeface="Microsoft Sans Serif"/>
                <a:cs typeface="Microsoft Sans Serif"/>
              </a:rPr>
              <a:t> </a:t>
            </a:r>
            <a:r>
              <a:rPr dirty="0" baseline="2777" sz="3000" spc="-345">
                <a:latin typeface="Microsoft Sans Serif"/>
                <a:cs typeface="Microsoft Sans Serif"/>
              </a:rPr>
              <a:t></a:t>
            </a:r>
            <a:r>
              <a:rPr dirty="0" sz="2000" spc="-590">
                <a:latin typeface="Microsoft Sans Serif"/>
                <a:cs typeface="Microsoft Sans Serif"/>
              </a:rPr>
              <a:t></a:t>
            </a:r>
            <a:r>
              <a:rPr dirty="0" baseline="2777" sz="3000" spc="-1875">
                <a:latin typeface="Microsoft Sans Serif"/>
                <a:cs typeface="Microsoft Sans Serif"/>
              </a:rPr>
              <a:t></a:t>
            </a:r>
            <a:r>
              <a:rPr dirty="0" sz="2000" spc="-1035">
                <a:latin typeface="Microsoft Sans Serif"/>
                <a:cs typeface="Microsoft Sans Serif"/>
              </a:rPr>
              <a:t></a:t>
            </a:r>
            <a:r>
              <a:rPr dirty="0" baseline="-22633" sz="2025" spc="-1350">
                <a:latin typeface="Microsoft Sans Serif"/>
                <a:cs typeface="Microsoft Sans Serif"/>
              </a:rPr>
              <a:t></a:t>
            </a:r>
            <a:r>
              <a:rPr dirty="0" sz="2100" spc="-865" i="1">
                <a:latin typeface="Arial"/>
                <a:cs typeface="Arial"/>
              </a:rPr>
              <a:t></a:t>
            </a:r>
            <a:r>
              <a:rPr dirty="0" sz="2100" spc="35" i="1">
                <a:latin typeface="Arial"/>
                <a:cs typeface="Arial"/>
              </a:rPr>
              <a:t> </a:t>
            </a:r>
            <a:r>
              <a:rPr dirty="0" baseline="2777" sz="3000" spc="-502">
                <a:latin typeface="Microsoft Sans Serif"/>
                <a:cs typeface="Microsoft Sans Serif"/>
              </a:rPr>
              <a:t></a:t>
            </a:r>
            <a:r>
              <a:rPr dirty="0" baseline="2777" sz="3000" spc="187">
                <a:latin typeface="Microsoft Sans Serif"/>
                <a:cs typeface="Microsoft Sans Serif"/>
              </a:rPr>
              <a:t> </a:t>
            </a:r>
            <a:r>
              <a:rPr dirty="0" sz="2100" spc="-865" i="1">
                <a:latin typeface="Arial"/>
                <a:cs typeface="Arial"/>
              </a:rPr>
              <a:t>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70522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③</a:t>
            </a:r>
            <a:r>
              <a:rPr dirty="0" spc="265"/>
              <a:t> </a:t>
            </a:r>
            <a:r>
              <a:rPr dirty="0" spc="-5"/>
              <a:t>사고발생확률의</a:t>
            </a:r>
            <a:r>
              <a:rPr dirty="0" spc="265"/>
              <a:t> </a:t>
            </a:r>
            <a:r>
              <a:rPr dirty="0"/>
              <a:t>측정</a:t>
            </a:r>
            <a:r>
              <a:rPr dirty="0" spc="270"/>
              <a:t> </a:t>
            </a:r>
            <a:r>
              <a:rPr dirty="0" spc="-5"/>
              <a:t>가능성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0830" rIns="0" bIns="0" rtlCol="0" vert="horz">
            <a:spAutoFit/>
          </a:bodyPr>
          <a:lstStyle/>
          <a:p>
            <a:pPr marL="424180" indent="-286385">
              <a:lnSpc>
                <a:spcPct val="100000"/>
              </a:lnSpc>
              <a:spcBef>
                <a:spcPts val="100"/>
              </a:spcBef>
              <a:buChar char="-"/>
              <a:tabLst>
                <a:tab pos="425450" algn="l"/>
              </a:tabLst>
            </a:pPr>
            <a:r>
              <a:rPr dirty="0" spc="-5"/>
              <a:t>보험사고에</a:t>
            </a:r>
            <a:r>
              <a:rPr dirty="0" spc="285"/>
              <a:t> </a:t>
            </a:r>
            <a:r>
              <a:rPr dirty="0" spc="-10"/>
              <a:t>대한</a:t>
            </a:r>
            <a:r>
              <a:rPr dirty="0" spc="290"/>
              <a:t> </a:t>
            </a:r>
            <a:r>
              <a:rPr dirty="0"/>
              <a:t>확률은</a:t>
            </a:r>
            <a:r>
              <a:rPr dirty="0" spc="285"/>
              <a:t> </a:t>
            </a:r>
            <a:r>
              <a:rPr dirty="0" spc="-10"/>
              <a:t>예측</a:t>
            </a:r>
            <a:r>
              <a:rPr dirty="0" spc="290"/>
              <a:t> </a:t>
            </a:r>
            <a:r>
              <a:rPr dirty="0" spc="-5"/>
              <a:t>가능하고</a:t>
            </a:r>
            <a:r>
              <a:rPr dirty="0" spc="285"/>
              <a:t> </a:t>
            </a:r>
            <a:r>
              <a:rPr dirty="0"/>
              <a:t>알려진</a:t>
            </a:r>
            <a:r>
              <a:rPr dirty="0" spc="290"/>
              <a:t> </a:t>
            </a:r>
            <a:r>
              <a:rPr dirty="0" spc="-10"/>
              <a:t>값이</a:t>
            </a:r>
            <a:r>
              <a:rPr dirty="0" spc="285"/>
              <a:t> </a:t>
            </a:r>
            <a:r>
              <a:rPr dirty="0"/>
              <a:t>되어야</a:t>
            </a:r>
            <a:r>
              <a:rPr dirty="0" spc="290"/>
              <a:t> </a:t>
            </a:r>
            <a:r>
              <a:rPr dirty="0" spc="15"/>
              <a:t>한다.</a:t>
            </a:r>
          </a:p>
          <a:p>
            <a:pPr marL="125730">
              <a:lnSpc>
                <a:spcPct val="100000"/>
              </a:lnSpc>
              <a:spcBef>
                <a:spcPts val="20"/>
              </a:spcBef>
              <a:buFont typeface="Malgun Gothic"/>
              <a:buChar char="-"/>
            </a:pPr>
            <a:endParaRPr sz="1750"/>
          </a:p>
          <a:p>
            <a:pPr marL="430530" marR="5080" indent="-292735">
              <a:lnSpc>
                <a:spcPct val="133400"/>
              </a:lnSpc>
              <a:buChar char="-"/>
              <a:tabLst>
                <a:tab pos="431800" algn="l"/>
              </a:tabLst>
            </a:pPr>
            <a:r>
              <a:rPr dirty="0" spc="-5"/>
              <a:t>보험은</a:t>
            </a:r>
            <a:r>
              <a:rPr dirty="0" spc="330"/>
              <a:t> </a:t>
            </a:r>
            <a:r>
              <a:rPr dirty="0" spc="-5"/>
              <a:t>위험에</a:t>
            </a:r>
            <a:r>
              <a:rPr dirty="0" spc="320"/>
              <a:t> </a:t>
            </a:r>
            <a:r>
              <a:rPr dirty="0" spc="-5"/>
              <a:t>대해서는</a:t>
            </a:r>
            <a:r>
              <a:rPr dirty="0" spc="335"/>
              <a:t> </a:t>
            </a:r>
            <a:r>
              <a:rPr dirty="0" spc="-5"/>
              <a:t>적절하게</a:t>
            </a:r>
            <a:r>
              <a:rPr dirty="0" spc="330"/>
              <a:t> </a:t>
            </a:r>
            <a:r>
              <a:rPr dirty="0" spc="-5"/>
              <a:t>대응하는</a:t>
            </a:r>
            <a:r>
              <a:rPr dirty="0" spc="320"/>
              <a:t> </a:t>
            </a:r>
            <a:r>
              <a:rPr dirty="0" spc="20"/>
              <a:t>반면,</a:t>
            </a:r>
            <a:r>
              <a:rPr dirty="0" spc="330"/>
              <a:t> </a:t>
            </a:r>
            <a:r>
              <a:rPr dirty="0" spc="-5"/>
              <a:t>확실성이나</a:t>
            </a:r>
            <a:r>
              <a:rPr dirty="0" spc="320"/>
              <a:t> </a:t>
            </a:r>
            <a:r>
              <a:rPr dirty="0"/>
              <a:t>불확실 </a:t>
            </a:r>
            <a:r>
              <a:rPr dirty="0" spc="-690"/>
              <a:t> </a:t>
            </a:r>
            <a:r>
              <a:rPr dirty="0"/>
              <a:t>성</a:t>
            </a:r>
            <a:r>
              <a:rPr dirty="0" spc="285"/>
              <a:t> </a:t>
            </a:r>
            <a:r>
              <a:rPr dirty="0" spc="-5"/>
              <a:t>문제에</a:t>
            </a:r>
            <a:r>
              <a:rPr dirty="0" spc="290"/>
              <a:t> </a:t>
            </a:r>
            <a:r>
              <a:rPr dirty="0" spc="-5"/>
              <a:t>대해서는</a:t>
            </a:r>
            <a:r>
              <a:rPr dirty="0" spc="285"/>
              <a:t> </a:t>
            </a:r>
            <a:r>
              <a:rPr dirty="0" spc="-5"/>
              <a:t>제대로</a:t>
            </a:r>
            <a:r>
              <a:rPr dirty="0" spc="290"/>
              <a:t> </a:t>
            </a:r>
            <a:r>
              <a:rPr dirty="0"/>
              <a:t>기능할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90"/>
              <a:t> </a:t>
            </a:r>
            <a:r>
              <a:rPr dirty="0" spc="15"/>
              <a:t>없다.</a:t>
            </a:r>
          </a:p>
          <a:p>
            <a:pPr marL="125730">
              <a:lnSpc>
                <a:spcPct val="100000"/>
              </a:lnSpc>
            </a:pPr>
            <a:endParaRPr sz="2200"/>
          </a:p>
          <a:p>
            <a:pPr marL="392430">
              <a:lnSpc>
                <a:spcPct val="100000"/>
              </a:lnSpc>
            </a:pPr>
            <a:r>
              <a:rPr dirty="0" spc="35" b="0">
                <a:latin typeface="Cambria"/>
                <a:cs typeface="Cambria"/>
              </a:rPr>
              <a:t>▸</a:t>
            </a:r>
            <a:r>
              <a:rPr dirty="0" spc="35"/>
              <a:t>사고발생건수가</a:t>
            </a:r>
            <a:r>
              <a:rPr dirty="0" spc="285"/>
              <a:t> </a:t>
            </a:r>
            <a:r>
              <a:rPr dirty="0" spc="-10"/>
              <a:t>매우</a:t>
            </a:r>
            <a:r>
              <a:rPr dirty="0" spc="290"/>
              <a:t> </a:t>
            </a:r>
            <a:r>
              <a:rPr dirty="0" spc="-5"/>
              <a:t>제한적이어서</a:t>
            </a:r>
            <a:r>
              <a:rPr dirty="0" spc="290"/>
              <a:t> </a:t>
            </a:r>
            <a:r>
              <a:rPr dirty="0" spc="-5"/>
              <a:t>계산된</a:t>
            </a:r>
            <a:r>
              <a:rPr dirty="0" spc="290"/>
              <a:t> </a:t>
            </a:r>
            <a:r>
              <a:rPr dirty="0" spc="-5"/>
              <a:t>확률에</a:t>
            </a:r>
            <a:r>
              <a:rPr dirty="0" spc="285"/>
              <a:t> </a:t>
            </a:r>
            <a:r>
              <a:rPr dirty="0"/>
              <a:t>상당한</a:t>
            </a:r>
            <a:r>
              <a:rPr dirty="0" spc="290"/>
              <a:t> </a:t>
            </a:r>
            <a:r>
              <a:rPr dirty="0" spc="-10"/>
              <a:t>편차</a:t>
            </a:r>
          </a:p>
          <a:p>
            <a:pPr marL="392430">
              <a:lnSpc>
                <a:spcPct val="100000"/>
              </a:lnSpc>
              <a:spcBef>
                <a:spcPts val="805"/>
              </a:spcBef>
            </a:pPr>
            <a:r>
              <a:rPr dirty="0" spc="80" b="0">
                <a:latin typeface="Cambria"/>
                <a:cs typeface="Cambria"/>
              </a:rPr>
              <a:t>▸</a:t>
            </a:r>
            <a:r>
              <a:rPr dirty="0" spc="80"/>
              <a:t>미래의</a:t>
            </a:r>
            <a:r>
              <a:rPr dirty="0" spc="280"/>
              <a:t> </a:t>
            </a:r>
            <a:r>
              <a:rPr dirty="0" spc="-5"/>
              <a:t>상황을</a:t>
            </a:r>
            <a:r>
              <a:rPr dirty="0" spc="280"/>
              <a:t> </a:t>
            </a:r>
            <a:r>
              <a:rPr dirty="0" spc="-5"/>
              <a:t>예측하기</a:t>
            </a:r>
            <a:r>
              <a:rPr dirty="0" spc="280"/>
              <a:t> </a:t>
            </a:r>
            <a:r>
              <a:rPr dirty="0"/>
              <a:t>어렵다</a:t>
            </a:r>
            <a:r>
              <a:rPr dirty="0" spc="285"/>
              <a:t> </a:t>
            </a:r>
            <a:r>
              <a:rPr dirty="0" spc="140"/>
              <a:t>:</a:t>
            </a:r>
            <a:r>
              <a:rPr dirty="0" spc="285"/>
              <a:t> </a:t>
            </a:r>
            <a:r>
              <a:rPr dirty="0" spc="5"/>
              <a:t>인플레이션,</a:t>
            </a:r>
            <a:r>
              <a:rPr dirty="0" spc="280"/>
              <a:t> </a:t>
            </a:r>
            <a:r>
              <a:rPr dirty="0"/>
              <a:t>치매</a:t>
            </a:r>
          </a:p>
          <a:p>
            <a:pPr marL="392430">
              <a:lnSpc>
                <a:spcPct val="100000"/>
              </a:lnSpc>
              <a:spcBef>
                <a:spcPts val="800"/>
              </a:spcBef>
            </a:pPr>
            <a:r>
              <a:rPr dirty="0" spc="80" b="0">
                <a:latin typeface="Cambria"/>
                <a:cs typeface="Cambria"/>
              </a:rPr>
              <a:t>▸</a:t>
            </a:r>
            <a:r>
              <a:rPr dirty="0" spc="80"/>
              <a:t>위험의</a:t>
            </a:r>
            <a:r>
              <a:rPr dirty="0" spc="285"/>
              <a:t> </a:t>
            </a:r>
            <a:r>
              <a:rPr dirty="0" spc="-5"/>
              <a:t>특성상</a:t>
            </a:r>
            <a:r>
              <a:rPr dirty="0" spc="285"/>
              <a:t> </a:t>
            </a:r>
            <a:r>
              <a:rPr dirty="0" spc="-5"/>
              <a:t>보험계약이</a:t>
            </a:r>
            <a:r>
              <a:rPr dirty="0" spc="285"/>
              <a:t> </a:t>
            </a:r>
            <a:r>
              <a:rPr dirty="0"/>
              <a:t>아주</a:t>
            </a:r>
            <a:r>
              <a:rPr dirty="0" spc="285"/>
              <a:t> </a:t>
            </a:r>
            <a:r>
              <a:rPr dirty="0" spc="-5"/>
              <a:t>장기간</a:t>
            </a:r>
            <a:r>
              <a:rPr dirty="0" spc="285"/>
              <a:t> </a:t>
            </a:r>
            <a:r>
              <a:rPr dirty="0" spc="-5"/>
              <a:t>지속되어야</a:t>
            </a:r>
            <a:r>
              <a:rPr dirty="0" spc="285"/>
              <a:t> </a:t>
            </a:r>
            <a:r>
              <a:rPr dirty="0" spc="-10"/>
              <a:t>하는</a:t>
            </a:r>
            <a:r>
              <a:rPr dirty="0" spc="285"/>
              <a:t> </a:t>
            </a:r>
            <a:r>
              <a:rPr dirty="0"/>
              <a:t>경우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30949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④</a:t>
            </a:r>
            <a:r>
              <a:rPr dirty="0" spc="254"/>
              <a:t> </a:t>
            </a:r>
            <a:r>
              <a:rPr dirty="0" spc="-5"/>
              <a:t>정보문제의</a:t>
            </a:r>
            <a:r>
              <a:rPr dirty="0" spc="254"/>
              <a:t> </a:t>
            </a:r>
            <a:r>
              <a:rPr dirty="0" spc="-10"/>
              <a:t>해결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2990" y="1919294"/>
            <a:ext cx="8422640" cy="36810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01320" marR="5080" indent="-401320">
              <a:lnSpc>
                <a:spcPct val="133200"/>
              </a:lnSpc>
              <a:spcBef>
                <a:spcPts val="105"/>
              </a:spcBef>
              <a:buClr>
                <a:srgbClr val="000000"/>
              </a:buClr>
              <a:buChar char="-"/>
              <a:tabLst>
                <a:tab pos="401320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정보의</a:t>
            </a:r>
            <a:r>
              <a:rPr dirty="0" sz="2000" spc="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10" b="1">
                <a:solidFill>
                  <a:srgbClr val="0000FF"/>
                </a:solidFill>
                <a:latin typeface="Malgun Gothic"/>
                <a:cs typeface="Malgun Gothic"/>
              </a:rPr>
              <a:t>비대칭(asymmetric</a:t>
            </a:r>
            <a:r>
              <a:rPr dirty="0" sz="2000" spc="1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30" b="1">
                <a:solidFill>
                  <a:srgbClr val="0000FF"/>
                </a:solidFill>
                <a:latin typeface="Malgun Gothic"/>
                <a:cs typeface="Malgun Gothic"/>
              </a:rPr>
              <a:t>information)</a:t>
            </a:r>
            <a:r>
              <a:rPr dirty="0" sz="2000" spc="-30" b="1">
                <a:latin typeface="Malgun Gothic"/>
                <a:cs typeface="Malgun Gothic"/>
              </a:rPr>
              <a:t>이</a:t>
            </a:r>
            <a:r>
              <a:rPr dirty="0" sz="2000" spc="-2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발생할</a:t>
            </a:r>
            <a:r>
              <a:rPr dirty="0" sz="200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경우,</a:t>
            </a:r>
            <a:r>
              <a:rPr dirty="0" sz="2000" spc="25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역선택 </a:t>
            </a:r>
            <a:r>
              <a:rPr dirty="0" sz="2000" spc="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35" b="1">
                <a:solidFill>
                  <a:srgbClr val="0000FF"/>
                </a:solidFill>
                <a:latin typeface="Malgun Gothic"/>
                <a:cs typeface="Malgun Gothic"/>
              </a:rPr>
              <a:t>(adverse </a:t>
            </a:r>
            <a:r>
              <a:rPr dirty="0" sz="2000" spc="15" b="1">
                <a:solidFill>
                  <a:srgbClr val="0000FF"/>
                </a:solidFill>
                <a:latin typeface="Malgun Gothic"/>
                <a:cs typeface="Malgun Gothic"/>
              </a:rPr>
              <a:t>selection)</a:t>
            </a:r>
            <a:r>
              <a:rPr dirty="0" sz="2000" spc="15" b="1">
                <a:latin typeface="Malgun Gothic"/>
                <a:cs typeface="Malgun Gothic"/>
              </a:rPr>
              <a:t>의 </a:t>
            </a:r>
            <a:r>
              <a:rPr dirty="0" sz="2000" spc="-5" b="1">
                <a:latin typeface="Malgun Gothic"/>
                <a:cs typeface="Malgun Gothic"/>
              </a:rPr>
              <a:t>문제와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도덕적 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해이(moral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hazard)</a:t>
            </a:r>
            <a:r>
              <a:rPr dirty="0" sz="2000" spc="-5" b="1">
                <a:latin typeface="Malgun Gothic"/>
                <a:cs typeface="Malgun Gothic"/>
              </a:rPr>
              <a:t>의 문제가 </a:t>
            </a:r>
            <a:r>
              <a:rPr dirty="0" sz="20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발생하여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공급이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효율적으로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이루어질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없다.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20040" marR="6350" indent="-320040">
              <a:lnSpc>
                <a:spcPct val="132900"/>
              </a:lnSpc>
              <a:buChar char="-"/>
              <a:tabLst>
                <a:tab pos="320040" algn="l"/>
                <a:tab pos="320675" algn="l"/>
                <a:tab pos="1228725" algn="l"/>
                <a:tab pos="1461770" algn="l"/>
                <a:tab pos="2117725" algn="l"/>
                <a:tab pos="3281045" algn="l"/>
                <a:tab pos="4189729" algn="l"/>
                <a:tab pos="5098415" algn="l"/>
                <a:tab pos="6007100" algn="l"/>
                <a:tab pos="7170420" algn="l"/>
                <a:tab pos="7901305" algn="l"/>
              </a:tabLst>
            </a:pPr>
            <a:r>
              <a:rPr dirty="0" sz="2000" b="1">
                <a:latin typeface="Malgun Gothic"/>
                <a:cs typeface="Malgun Gothic"/>
              </a:rPr>
              <a:t>역</a:t>
            </a:r>
            <a:r>
              <a:rPr dirty="0" sz="2000" spc="-15" b="1">
                <a:latin typeface="Malgun Gothic"/>
                <a:cs typeface="Malgun Gothic"/>
              </a:rPr>
              <a:t>선</a:t>
            </a:r>
            <a:r>
              <a:rPr dirty="0" sz="2000" b="1">
                <a:latin typeface="Malgun Gothic"/>
                <a:cs typeface="Malgun Gothic"/>
              </a:rPr>
              <a:t>택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요자가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험을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숨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가입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정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보 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은폐</a:t>
            </a:r>
            <a:r>
              <a:rPr dirty="0" sz="2000" spc="-5" b="1">
                <a:latin typeface="Malgun Gothic"/>
                <a:cs typeface="Malgun Gothic"/>
              </a:rPr>
              <a:t>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가능한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영역에서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algn="just" marL="301625" marR="5080" indent="-289560">
              <a:lnSpc>
                <a:spcPct val="132900"/>
              </a:lnSpc>
              <a:buChar char="-"/>
              <a:tabLst>
                <a:tab pos="302260" algn="l"/>
              </a:tabLst>
            </a:pPr>
            <a:r>
              <a:rPr dirty="0" sz="2000" b="1">
                <a:latin typeface="Malgun Gothic"/>
                <a:cs typeface="Malgun Gothic"/>
              </a:rPr>
              <a:t>도덕적 </a:t>
            </a:r>
            <a:r>
              <a:rPr dirty="0" sz="2000" spc="-10" b="1">
                <a:latin typeface="Malgun Gothic"/>
                <a:cs typeface="Malgun Gothic"/>
              </a:rPr>
              <a:t>해이 </a:t>
            </a:r>
            <a:r>
              <a:rPr dirty="0" sz="2000" spc="140" b="1">
                <a:latin typeface="Malgun Gothic"/>
                <a:cs typeface="Malgun Gothic"/>
              </a:rPr>
              <a:t>: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은폐된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행동</a:t>
            </a:r>
            <a:r>
              <a:rPr dirty="0" sz="2000" b="1">
                <a:latin typeface="Malgun Gothic"/>
                <a:cs typeface="Malgun Gothic"/>
              </a:rPr>
              <a:t>이 </a:t>
            </a:r>
            <a:r>
              <a:rPr dirty="0" sz="2000" spc="-5" b="1">
                <a:latin typeface="Malgun Gothic"/>
                <a:cs typeface="Malgun Gothic"/>
              </a:rPr>
              <a:t>가능한 분야로서 보험사고의 </a:t>
            </a:r>
            <a:r>
              <a:rPr dirty="0" sz="2000" b="1">
                <a:latin typeface="Malgun Gothic"/>
                <a:cs typeface="Malgun Gothic"/>
              </a:rPr>
              <a:t>확률을 임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조작할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경우에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실업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0275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50"/>
              <a:t> </a:t>
            </a:r>
            <a:r>
              <a:rPr dirty="0"/>
              <a:t>정보의</a:t>
            </a:r>
            <a:r>
              <a:rPr dirty="0" spc="250"/>
              <a:t> </a:t>
            </a:r>
            <a:r>
              <a:rPr dirty="0" spc="-5"/>
              <a:t>비대칭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3936" y="2020737"/>
            <a:ext cx="8598535" cy="3749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1)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역선택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lemons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79400" indent="-254635">
              <a:lnSpc>
                <a:spcPct val="100000"/>
              </a:lnSpc>
              <a:buFont typeface="Cambria"/>
              <a:buChar char="○"/>
              <a:tabLst>
                <a:tab pos="279400" algn="l"/>
                <a:tab pos="2800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역선택의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대응한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보험회사의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행동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lvl="1" marL="437515" indent="-287020">
              <a:lnSpc>
                <a:spcPct val="100000"/>
              </a:lnSpc>
              <a:buChar char="-"/>
              <a:tabLst>
                <a:tab pos="438150" algn="l"/>
              </a:tabLst>
            </a:pPr>
            <a:r>
              <a:rPr dirty="0" sz="2000" spc="65" b="1">
                <a:latin typeface="Malgun Gothic"/>
                <a:cs typeface="Malgun Gothic"/>
              </a:rPr>
              <a:t>A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가입하지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획득할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조합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lvl="1" marL="454659" marR="43180" indent="-303530">
              <a:lnSpc>
                <a:spcPct val="133400"/>
              </a:lnSpc>
              <a:buChar char="-"/>
              <a:tabLst>
                <a:tab pos="454025" algn="l"/>
                <a:tab pos="455295" algn="l"/>
                <a:tab pos="850265" algn="l"/>
                <a:tab pos="1499870" algn="l"/>
                <a:tab pos="1865630" algn="l"/>
                <a:tab pos="2402840" algn="l"/>
                <a:tab pos="3305810" algn="l"/>
                <a:tab pos="3333115" algn="l"/>
                <a:tab pos="4057650" algn="l"/>
                <a:tab pos="4210050" algn="l"/>
                <a:tab pos="5112385" algn="l"/>
                <a:tab pos="5470525" algn="l"/>
                <a:tab pos="6016625" algn="l"/>
                <a:tab pos="6739890" algn="l"/>
                <a:tab pos="7136130" algn="l"/>
                <a:tab pos="7390130" algn="l"/>
                <a:tab pos="80403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험회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행</a:t>
            </a: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비용</a:t>
            </a:r>
            <a:r>
              <a:rPr dirty="0" sz="2000" spc="-195" b="1">
                <a:latin typeface="Malgun Gothic"/>
                <a:cs typeface="Malgun Gothic"/>
              </a:rPr>
              <a:t>=</a:t>
            </a:r>
            <a:r>
              <a:rPr dirty="0" sz="2000" spc="30" b="1">
                <a:latin typeface="Malgun Gothic"/>
                <a:cs typeface="Malgun Gothic"/>
              </a:rPr>
              <a:t>0</a:t>
            </a:r>
            <a:r>
              <a:rPr dirty="0" sz="2000" b="1">
                <a:latin typeface="Malgun Gothic"/>
                <a:cs typeface="Malgun Gothic"/>
              </a:rPr>
              <a:t>		</a:t>
            </a:r>
            <a:r>
              <a:rPr dirty="0" sz="2000" b="1">
                <a:latin typeface="Malgun Gothic"/>
                <a:cs typeface="Malgun Gothic"/>
              </a:rPr>
              <a:t>이고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합리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이고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험회</a:t>
            </a:r>
            <a:r>
              <a:rPr dirty="0" sz="2000" spc="-15" b="1">
                <a:latin typeface="Malgun Gothic"/>
                <a:cs typeface="Malgun Gothic"/>
              </a:rPr>
              <a:t>피</a:t>
            </a:r>
            <a:r>
              <a:rPr dirty="0" sz="2000" b="1">
                <a:latin typeface="Malgun Gothic"/>
                <a:cs typeface="Malgun Gothic"/>
              </a:rPr>
              <a:t>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인이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피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해  에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완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전한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보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상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을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해주는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험에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가입할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경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우</a:t>
            </a:r>
            <a:r>
              <a:rPr dirty="0" sz="2000" spc="60" b="1">
                <a:solidFill>
                  <a:srgbClr val="0000FF"/>
                </a:solidFill>
                <a:latin typeface="Malgun Gothic"/>
                <a:cs typeface="Malgun Gothic"/>
              </a:rPr>
              <a:t>,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일할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때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아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플</a:t>
            </a:r>
            <a:endParaRPr sz="2000">
              <a:latin typeface="Malgun Gothic"/>
              <a:cs typeface="Malgun Gothic"/>
            </a:endParaRPr>
          </a:p>
          <a:p>
            <a:pPr marL="454659">
              <a:lnSpc>
                <a:spcPts val="2080"/>
              </a:lnSpc>
              <a:spcBef>
                <a:spcPts val="1205"/>
              </a:spcBef>
              <a:tabLst>
                <a:tab pos="2997835" algn="l"/>
                <a:tab pos="3447415" algn="l"/>
              </a:tabLst>
            </a:pP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때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나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소득은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동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일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3165">
                <a:latin typeface="Cambria"/>
                <a:cs typeface="Cambria"/>
              </a:rPr>
              <a:t>⟹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</a:t>
            </a:r>
            <a:r>
              <a:rPr dirty="0" sz="2400" spc="-1370">
                <a:solidFill>
                  <a:srgbClr val="0000FF"/>
                </a:solidFill>
                <a:latin typeface="Microsoft Sans Serif"/>
                <a:cs typeface="Microsoft Sans Serif"/>
              </a:rPr>
              <a:t>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	</a:t>
            </a:r>
            <a:r>
              <a:rPr dirty="0" baseline="3472" sz="3600" spc="-2257">
                <a:solidFill>
                  <a:srgbClr val="0000FF"/>
                </a:solidFill>
                <a:latin typeface="Microsoft Sans Serif"/>
                <a:cs typeface="Microsoft Sans Serif"/>
              </a:rPr>
              <a:t>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</a:t>
            </a:r>
            <a:r>
              <a:rPr dirty="0" baseline="39930" sz="2400" spc="-1222">
                <a:solidFill>
                  <a:srgbClr val="0000FF"/>
                </a:solidFill>
                <a:latin typeface="Microsoft Sans Serif"/>
                <a:cs typeface="Microsoft Sans Serif"/>
              </a:rPr>
              <a:t></a:t>
            </a:r>
            <a:r>
              <a:rPr dirty="0" baseline="39930" sz="2400" spc="-22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-2182">
                <a:solidFill>
                  <a:srgbClr val="0000FF"/>
                </a:solidFill>
                <a:latin typeface="Microsoft Sans Serif"/>
                <a:cs typeface="Microsoft Sans Serif"/>
              </a:rPr>
              <a:t></a:t>
            </a:r>
            <a:r>
              <a:rPr dirty="0" sz="2000" b="1">
                <a:latin typeface="Malgun Gothic"/>
                <a:cs typeface="Malgun Gothic"/>
              </a:rPr>
              <a:t>선상의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조</a:t>
            </a:r>
            <a:r>
              <a:rPr dirty="0" sz="2000" b="1">
                <a:latin typeface="Malgun Gothic"/>
                <a:cs typeface="Malgun Gothic"/>
              </a:rPr>
              <a:t>합</a:t>
            </a:r>
            <a:endParaRPr sz="2000">
              <a:latin typeface="Malgun Gothic"/>
              <a:cs typeface="Malgun Gothic"/>
            </a:endParaRPr>
          </a:p>
          <a:p>
            <a:pPr algn="ctr" marR="1891664">
              <a:lnSpc>
                <a:spcPts val="1240"/>
              </a:lnSpc>
            </a:pPr>
            <a:r>
              <a:rPr dirty="0" sz="1700" spc="-685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2972" y="1208885"/>
            <a:ext cx="727519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85"/>
              <a:t> </a:t>
            </a:r>
            <a:r>
              <a:rPr dirty="0" spc="70"/>
              <a:t>5-2&gt;</a:t>
            </a:r>
            <a:r>
              <a:rPr dirty="0" spc="290"/>
              <a:t> </a:t>
            </a:r>
            <a:r>
              <a:rPr dirty="0" spc="-5"/>
              <a:t>역선택의</a:t>
            </a:r>
            <a:r>
              <a:rPr dirty="0" spc="285"/>
              <a:t> </a:t>
            </a:r>
            <a:r>
              <a:rPr dirty="0" spc="-5"/>
              <a:t>문제가</a:t>
            </a:r>
            <a:r>
              <a:rPr dirty="0" spc="285"/>
              <a:t> </a:t>
            </a:r>
            <a:r>
              <a:rPr dirty="0" spc="-5"/>
              <a:t>보험시장의</a:t>
            </a:r>
            <a:r>
              <a:rPr dirty="0" spc="285"/>
              <a:t> </a:t>
            </a:r>
            <a:r>
              <a:rPr dirty="0" spc="-5"/>
              <a:t>균형에</a:t>
            </a:r>
            <a:r>
              <a:rPr dirty="0" spc="290"/>
              <a:t> </a:t>
            </a:r>
            <a:r>
              <a:rPr dirty="0"/>
              <a:t>미치는</a:t>
            </a:r>
            <a:r>
              <a:rPr dirty="0" spc="285"/>
              <a:t> </a:t>
            </a:r>
            <a:r>
              <a:rPr dirty="0" spc="-10"/>
              <a:t>영향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299" y="2071522"/>
            <a:ext cx="5936589" cy="41422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39776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(1)</a:t>
            </a:r>
            <a:r>
              <a:rPr dirty="0" spc="260"/>
              <a:t> </a:t>
            </a:r>
            <a:r>
              <a:rPr dirty="0" spc="-5"/>
              <a:t>보험시장의</a:t>
            </a:r>
            <a:r>
              <a:rPr dirty="0" spc="260"/>
              <a:t> </a:t>
            </a:r>
            <a:r>
              <a:rPr dirty="0" spc="-10"/>
              <a:t>균형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436" y="2020737"/>
            <a:ext cx="7663180" cy="432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보험회사가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숙지한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Malgun Gothic"/>
              <a:cs typeface="Malgun Gothic"/>
            </a:endParaRPr>
          </a:p>
          <a:p>
            <a:pPr marL="375285" marR="81280" indent="-375285">
              <a:lnSpc>
                <a:spcPct val="141400"/>
              </a:lnSpc>
              <a:spcBef>
                <a:spcPts val="5"/>
              </a:spcBef>
              <a:buChar char="-"/>
              <a:tabLst>
                <a:tab pos="37528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가정</a:t>
            </a:r>
            <a:r>
              <a:rPr dirty="0" sz="2000" spc="-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 </a:t>
            </a:r>
            <a:r>
              <a:rPr dirty="0" sz="2000" b="1">
                <a:latin typeface="Malgun Gothic"/>
                <a:cs typeface="Malgun Gothic"/>
              </a:rPr>
              <a:t>질병의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발생확률이</a:t>
            </a:r>
            <a:r>
              <a:rPr dirty="0" sz="2000" b="1">
                <a:latin typeface="Malgun Gothic"/>
                <a:cs typeface="Malgun Gothic"/>
              </a:rPr>
              <a:t> 낮은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195" b="1">
                <a:latin typeface="Malgun Gothic"/>
                <a:cs typeface="Malgun Gothic"/>
              </a:rPr>
              <a:t>집단(</a:t>
            </a:r>
            <a:r>
              <a:rPr dirty="0" sz="2500" spc="-195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19607" sz="2550" spc="-292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sz="2000" spc="-195" b="1">
                <a:latin typeface="Malgun Gothic"/>
                <a:cs typeface="Malgun Gothic"/>
              </a:rPr>
              <a:t>)과</a:t>
            </a:r>
            <a:r>
              <a:rPr dirty="0" sz="2000" spc="-1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190" b="1">
                <a:latin typeface="Malgun Gothic"/>
                <a:cs typeface="Malgun Gothic"/>
              </a:rPr>
              <a:t>집단(</a:t>
            </a:r>
            <a:r>
              <a:rPr dirty="0" sz="2500" spc="-190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19607" sz="2550" spc="-284" i="1">
                <a:solidFill>
                  <a:srgbClr val="0000FF"/>
                </a:solidFill>
                <a:latin typeface="Arial"/>
                <a:cs typeface="Arial"/>
              </a:rPr>
              <a:t></a:t>
            </a:r>
            <a:r>
              <a:rPr dirty="0" sz="2000" spc="-190" b="1">
                <a:latin typeface="Malgun Gothic"/>
                <a:cs typeface="Malgun Gothic"/>
              </a:rPr>
              <a:t>)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보험회사가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개인들의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보험료를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달리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책정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374650" indent="-286385">
              <a:lnSpc>
                <a:spcPct val="100000"/>
              </a:lnSpc>
              <a:buChar char="-"/>
              <a:tabLst>
                <a:tab pos="3752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개별집단의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</a:t>
            </a:r>
            <a:endParaRPr sz="2000">
              <a:latin typeface="Malgun Gothic"/>
              <a:cs typeface="Malgun Gothic"/>
            </a:endParaRPr>
          </a:p>
          <a:p>
            <a:pPr marL="3305175">
              <a:lnSpc>
                <a:spcPct val="100000"/>
              </a:lnSpc>
              <a:spcBef>
                <a:spcPts val="640"/>
              </a:spcBef>
            </a:pPr>
            <a:r>
              <a:rPr dirty="0" sz="2400" spc="-1050">
                <a:solidFill>
                  <a:srgbClr val="0000FF"/>
                </a:solidFill>
                <a:latin typeface="Microsoft Sans Serif"/>
                <a:cs typeface="Microsoft Sans Serif"/>
              </a:rPr>
              <a:t></a:t>
            </a:r>
            <a:r>
              <a:rPr dirty="0" baseline="-19607" sz="2550" spc="-1027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baseline="-19607" sz="255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baseline="-19607" sz="2550" spc="-307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2314" sz="3600" spc="-19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2314" sz="3600" spc="-2257">
                <a:solidFill>
                  <a:srgbClr val="0000FF"/>
                </a:solidFill>
                <a:latin typeface="Microsoft Sans Serif"/>
                <a:cs typeface="Microsoft Sans Serif"/>
              </a:rPr>
              <a:t>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</a:t>
            </a:r>
            <a:r>
              <a:rPr dirty="0" sz="2400" spc="-30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Microsoft Sans Serif"/>
                <a:cs typeface="Microsoft Sans Serif"/>
              </a:rPr>
              <a:t></a:t>
            </a:r>
            <a:r>
              <a:rPr dirty="0" baseline="2314" sz="3600" spc="-42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740">
                <a:solidFill>
                  <a:srgbClr val="0000FF"/>
                </a:solidFill>
                <a:latin typeface="Microsoft Sans Serif"/>
                <a:cs typeface="Microsoft Sans Serif"/>
              </a:rPr>
              <a:t></a:t>
            </a:r>
            <a:r>
              <a:rPr dirty="0" baseline="2314" sz="3600" spc="-2257">
                <a:solidFill>
                  <a:srgbClr val="0000FF"/>
                </a:solidFill>
                <a:latin typeface="Microsoft Sans Serif"/>
                <a:cs typeface="Microsoft Sans Serif"/>
              </a:rPr>
              <a:t>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</a:t>
            </a:r>
            <a:r>
              <a:rPr dirty="0" baseline="-19607" sz="2550" spc="-997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sz="2500" spc="-1005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endParaRPr sz="2500">
              <a:latin typeface="Arial"/>
              <a:cs typeface="Arial"/>
            </a:endParaRPr>
          </a:p>
          <a:p>
            <a:pPr marL="3276600">
              <a:lnSpc>
                <a:spcPct val="100000"/>
              </a:lnSpc>
              <a:spcBef>
                <a:spcPts val="1100"/>
              </a:spcBef>
            </a:pPr>
            <a:r>
              <a:rPr dirty="0" sz="2400" spc="-1050">
                <a:solidFill>
                  <a:srgbClr val="0000FF"/>
                </a:solidFill>
                <a:latin typeface="Microsoft Sans Serif"/>
                <a:cs typeface="Microsoft Sans Serif"/>
              </a:rPr>
              <a:t></a:t>
            </a:r>
            <a:r>
              <a:rPr dirty="0" baseline="-19607" sz="2550" spc="-719" i="1">
                <a:solidFill>
                  <a:srgbClr val="0000FF"/>
                </a:solidFill>
                <a:latin typeface="Arial"/>
                <a:cs typeface="Arial"/>
              </a:rPr>
              <a:t></a:t>
            </a:r>
            <a:r>
              <a:rPr dirty="0" baseline="-19607" sz="255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baseline="-19607" sz="2550" spc="-27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2314" sz="3600" spc="-19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2314" sz="3600" spc="-2257">
                <a:solidFill>
                  <a:srgbClr val="0000FF"/>
                </a:solidFill>
                <a:latin typeface="Microsoft Sans Serif"/>
                <a:cs typeface="Microsoft Sans Serif"/>
              </a:rPr>
              <a:t>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</a:t>
            </a:r>
            <a:r>
              <a:rPr dirty="0" sz="2400" spc="-30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Microsoft Sans Serif"/>
                <a:cs typeface="Microsoft Sans Serif"/>
              </a:rPr>
              <a:t></a:t>
            </a:r>
            <a:r>
              <a:rPr dirty="0" baseline="2314" sz="3600" spc="-42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740">
                <a:solidFill>
                  <a:srgbClr val="0000FF"/>
                </a:solidFill>
                <a:latin typeface="Microsoft Sans Serif"/>
                <a:cs typeface="Microsoft Sans Serif"/>
              </a:rPr>
              <a:t></a:t>
            </a:r>
            <a:r>
              <a:rPr dirty="0" baseline="2314" sz="3600" spc="-2257">
                <a:solidFill>
                  <a:srgbClr val="0000FF"/>
                </a:solidFill>
                <a:latin typeface="Microsoft Sans Serif"/>
                <a:cs typeface="Microsoft Sans Serif"/>
              </a:rPr>
              <a:t>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</a:t>
            </a:r>
            <a:r>
              <a:rPr dirty="0" baseline="-19607" sz="2550" spc="-652" i="1">
                <a:solidFill>
                  <a:srgbClr val="0000FF"/>
                </a:solidFill>
                <a:latin typeface="Arial"/>
                <a:cs typeface="Arial"/>
              </a:rPr>
              <a:t></a:t>
            </a:r>
            <a:r>
              <a:rPr dirty="0" sz="2500" spc="-1005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850">
              <a:latin typeface="Arial"/>
              <a:cs typeface="Arial"/>
            </a:endParaRPr>
          </a:p>
          <a:p>
            <a:pPr marL="374650" indent="-286385">
              <a:lnSpc>
                <a:spcPct val="100000"/>
              </a:lnSpc>
              <a:buChar char="-"/>
              <a:tabLst>
                <a:tab pos="3752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비대칭으로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인한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역선택의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않음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28536" y="1108965"/>
            <a:ext cx="8637905" cy="448691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algn="just" marL="3048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3054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위험수준이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</a:t>
            </a:r>
            <a:endParaRPr sz="2000">
              <a:latin typeface="Malgun Gothic"/>
              <a:cs typeface="Malgun Gothic"/>
            </a:endParaRPr>
          </a:p>
          <a:p>
            <a:pPr algn="just" lvl="1" marL="466090" marR="55880" indent="-289560">
              <a:lnSpc>
                <a:spcPts val="3200"/>
              </a:lnSpc>
              <a:spcBef>
                <a:spcPts val="229"/>
              </a:spcBef>
              <a:buChar char="-"/>
              <a:tabLst>
                <a:tab pos="489584" algn="l"/>
              </a:tabLst>
            </a:pPr>
            <a:r>
              <a:rPr dirty="0" sz="2000" spc="10" b="1">
                <a:latin typeface="Malgun Gothic"/>
                <a:cs typeface="Malgun Gothic"/>
              </a:rPr>
              <a:t>A점에서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자신에게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유리한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조건으로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보험회사와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거래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5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일하고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있을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중</a:t>
            </a:r>
            <a:r>
              <a:rPr dirty="0" sz="2000" spc="4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적은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부분을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보험료로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납부하고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질병이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발생할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관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보험급여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수급</a:t>
            </a:r>
            <a:endParaRPr sz="2000">
              <a:latin typeface="Malgun Gothic"/>
              <a:cs typeface="Malgun Gothic"/>
            </a:endParaRPr>
          </a:p>
          <a:p>
            <a:pPr lvl="1" marL="462915" indent="-287020">
              <a:lnSpc>
                <a:spcPct val="100000"/>
              </a:lnSpc>
              <a:spcBef>
                <a:spcPts val="414"/>
              </a:spcBef>
              <a:buChar char="-"/>
              <a:tabLst>
                <a:tab pos="4635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예산제약선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500" spc="-720" i="1">
                <a:solidFill>
                  <a:srgbClr val="0000FF"/>
                </a:solidFill>
                <a:latin typeface="Arial"/>
                <a:cs typeface="Arial"/>
              </a:rPr>
              <a:t></a:t>
            </a:r>
            <a:r>
              <a:rPr dirty="0" baseline="-19607" sz="2550" spc="-1080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endParaRPr baseline="-19607" sz="2550">
              <a:latin typeface="Arial"/>
              <a:cs typeface="Arial"/>
            </a:endParaRPr>
          </a:p>
          <a:p>
            <a:pPr lvl="1" marL="462915" indent="-287020">
              <a:lnSpc>
                <a:spcPct val="100000"/>
              </a:lnSpc>
              <a:spcBef>
                <a:spcPts val="1100"/>
              </a:spcBef>
              <a:buChar char="-"/>
              <a:tabLst>
                <a:tab pos="463550" algn="l"/>
                <a:tab pos="402209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위험회피적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성향을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가진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	</a:t>
            </a:r>
            <a:r>
              <a:rPr dirty="0" sz="2500" spc="-280" i="1">
                <a:solidFill>
                  <a:srgbClr val="0000FF"/>
                </a:solidFill>
                <a:latin typeface="Arial"/>
                <a:cs typeface="Arial"/>
              </a:rPr>
              <a:t></a:t>
            </a:r>
            <a:r>
              <a:rPr dirty="0" baseline="-19607" sz="2550" spc="-419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sz="2000" spc="-280" b="1">
                <a:latin typeface="Malgun Gothic"/>
                <a:cs typeface="Malgun Gothic"/>
              </a:rPr>
              <a:t>점에서</a:t>
            </a:r>
            <a:r>
              <a:rPr dirty="0" sz="2000" spc="-15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보험계약을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체결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80"/>
              </a:spcBef>
              <a:buFont typeface="Malgun Gothic"/>
              <a:buChar char="-"/>
            </a:pPr>
            <a:endParaRPr sz="2400">
              <a:latin typeface="Malgun Gothic"/>
              <a:cs typeface="Malgun Gothic"/>
            </a:endParaRPr>
          </a:p>
          <a:p>
            <a:pPr algn="just" marL="304800" indent="-254635">
              <a:lnSpc>
                <a:spcPct val="100000"/>
              </a:lnSpc>
              <a:buFont typeface="Cambria"/>
              <a:buChar char="○"/>
              <a:tabLst>
                <a:tab pos="3054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위험수준이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</a:t>
            </a:r>
            <a:endParaRPr sz="2000">
              <a:latin typeface="Malgun Gothic"/>
              <a:cs typeface="Malgun Gothic"/>
            </a:endParaRPr>
          </a:p>
          <a:p>
            <a:pPr lvl="1" marL="462915" indent="-287020">
              <a:lnSpc>
                <a:spcPct val="100000"/>
              </a:lnSpc>
              <a:spcBef>
                <a:spcPts val="660"/>
              </a:spcBef>
              <a:buChar char="-"/>
              <a:tabLst>
                <a:tab pos="4635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예산제약선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500" spc="-655" i="1">
                <a:solidFill>
                  <a:srgbClr val="0000FF"/>
                </a:solidFill>
                <a:latin typeface="Arial"/>
                <a:cs typeface="Arial"/>
              </a:rPr>
              <a:t></a:t>
            </a:r>
            <a:r>
              <a:rPr dirty="0" baseline="-19607" sz="2550" spc="-982" i="1">
                <a:solidFill>
                  <a:srgbClr val="0000FF"/>
                </a:solidFill>
                <a:latin typeface="Arial"/>
                <a:cs typeface="Arial"/>
              </a:rPr>
              <a:t></a:t>
            </a:r>
            <a:endParaRPr baseline="-19607" sz="2550">
              <a:latin typeface="Arial"/>
              <a:cs typeface="Arial"/>
            </a:endParaRPr>
          </a:p>
          <a:p>
            <a:pPr lvl="1" marL="470534" indent="-294640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80000"/>
              <a:buFont typeface="Malgun Gothic"/>
              <a:buChar char="-"/>
              <a:tabLst>
                <a:tab pos="470534" algn="l"/>
                <a:tab pos="471170" algn="l"/>
              </a:tabLst>
            </a:pPr>
            <a:r>
              <a:rPr dirty="0" sz="2500" spc="-235" i="1">
                <a:solidFill>
                  <a:srgbClr val="0000FF"/>
                </a:solidFill>
                <a:latin typeface="Arial"/>
                <a:cs typeface="Arial"/>
              </a:rPr>
              <a:t></a:t>
            </a:r>
            <a:r>
              <a:rPr dirty="0" baseline="-19607" sz="2550" spc="-352" i="1">
                <a:solidFill>
                  <a:srgbClr val="0000FF"/>
                </a:solidFill>
                <a:latin typeface="Arial"/>
                <a:cs typeface="Arial"/>
              </a:rPr>
              <a:t></a:t>
            </a:r>
            <a:r>
              <a:rPr dirty="0" sz="2000" spc="-235" b="1">
                <a:latin typeface="Malgun Gothic"/>
                <a:cs typeface="Malgun Gothic"/>
              </a:rPr>
              <a:t>점에서</a:t>
            </a:r>
            <a:r>
              <a:rPr dirty="0" sz="2000" spc="-2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보험계약을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체결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53936" y="1208885"/>
            <a:ext cx="7153909" cy="444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②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보험회사가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숙지하지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못한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5400">
              <a:lnSpc>
                <a:spcPct val="100000"/>
              </a:lnSpc>
            </a:pPr>
            <a:r>
              <a:rPr dirty="0" sz="2000" spc="10" b="1">
                <a:solidFill>
                  <a:srgbClr val="0000FF"/>
                </a:solidFill>
                <a:latin typeface="Malgun Gothic"/>
                <a:cs typeface="Malgun Gothic"/>
              </a:rPr>
              <a:t>a)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30" b="1">
                <a:solidFill>
                  <a:srgbClr val="0000FF"/>
                </a:solidFill>
                <a:latin typeface="Malgun Gothic"/>
                <a:cs typeface="Malgun Gothic"/>
              </a:rPr>
              <a:t>공동균형(pooling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equilibrium)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200">
              <a:latin typeface="Malgun Gothic"/>
              <a:cs typeface="Malgun Gothic"/>
            </a:endParaRPr>
          </a:p>
          <a:p>
            <a:pPr marL="151130">
              <a:lnSpc>
                <a:spcPct val="100000"/>
              </a:lnSpc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보험회사가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평균위험을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토대로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보험료를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부과하는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Malgun Gothic"/>
              <a:cs typeface="Malgun Gothic"/>
            </a:endParaRPr>
          </a:p>
          <a:p>
            <a:pPr algn="ctr" marL="1411605">
              <a:lnSpc>
                <a:spcPct val="100000"/>
              </a:lnSpc>
            </a:pPr>
            <a:r>
              <a:rPr dirty="0" baseline="11574" sz="3600" spc="-3877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-2314" sz="3600" spc="-1395">
                <a:solidFill>
                  <a:srgbClr val="0000FF"/>
                </a:solidFill>
                <a:latin typeface="Microsoft Sans Serif"/>
                <a:cs typeface="Microsoft Sans Serif"/>
              </a:rPr>
              <a:t></a:t>
            </a:r>
            <a:r>
              <a:rPr dirty="0" sz="2400" spc="-54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sz="2400" spc="-13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</a:t>
            </a:r>
            <a:r>
              <a:rPr dirty="0" baseline="-2314" sz="3600" spc="-1807">
                <a:solidFill>
                  <a:srgbClr val="0000FF"/>
                </a:solidFill>
                <a:latin typeface="Microsoft Sans Serif"/>
                <a:cs typeface="Microsoft Sans Serif"/>
              </a:rPr>
              <a:t></a:t>
            </a:r>
            <a:r>
              <a:rPr dirty="0" baseline="-2314" sz="3600" spc="-45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Microsoft Sans Serif"/>
                <a:cs typeface="Microsoft Sans Serif"/>
              </a:rPr>
              <a:t></a:t>
            </a:r>
            <a:r>
              <a:rPr dirty="0" sz="2400" spc="-29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-2314" sz="3600" spc="-1110">
                <a:solidFill>
                  <a:srgbClr val="0000FF"/>
                </a:solidFill>
                <a:latin typeface="Microsoft Sans Serif"/>
                <a:cs typeface="Microsoft Sans Serif"/>
              </a:rPr>
              <a:t>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</a:t>
            </a:r>
            <a:r>
              <a:rPr dirty="0" sz="2400" spc="-1735">
                <a:solidFill>
                  <a:srgbClr val="0000FF"/>
                </a:solidFill>
                <a:latin typeface="Microsoft Sans Serif"/>
                <a:cs typeface="Microsoft Sans Serif"/>
              </a:rPr>
              <a:t></a:t>
            </a:r>
            <a:r>
              <a:rPr dirty="0" baseline="-2314" sz="3600" spc="-1920">
                <a:solidFill>
                  <a:srgbClr val="0000FF"/>
                </a:solidFill>
                <a:latin typeface="Microsoft Sans Serif"/>
                <a:cs typeface="Microsoft Sans Serif"/>
              </a:rPr>
              <a:t></a:t>
            </a:r>
            <a:r>
              <a:rPr dirty="0" baseline="-2222" sz="3750" spc="-1282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22875" sz="2550" spc="-719" i="1">
                <a:solidFill>
                  <a:srgbClr val="0000FF"/>
                </a:solidFill>
                <a:latin typeface="Arial"/>
                <a:cs typeface="Arial"/>
              </a:rPr>
              <a:t></a:t>
            </a:r>
            <a:r>
              <a:rPr dirty="0" baseline="-22875" sz="2550" spc="82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Microsoft Sans Serif"/>
                <a:cs typeface="Microsoft Sans Serif"/>
              </a:rPr>
              <a:t></a:t>
            </a:r>
            <a:r>
              <a:rPr dirty="0" sz="2400" spc="-29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</a:t>
            </a:r>
            <a:r>
              <a:rPr dirty="0" baseline="-2314" sz="3600" spc="-1807">
                <a:solidFill>
                  <a:srgbClr val="0000FF"/>
                </a:solidFill>
                <a:latin typeface="Microsoft Sans Serif"/>
                <a:cs typeface="Microsoft Sans Serif"/>
              </a:rPr>
              <a:t></a:t>
            </a:r>
            <a:r>
              <a:rPr dirty="0" baseline="-2314" sz="3600" spc="-45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90">
                <a:solidFill>
                  <a:srgbClr val="0000FF"/>
                </a:solidFill>
                <a:latin typeface="Microsoft Sans Serif"/>
                <a:cs typeface="Microsoft Sans Serif"/>
              </a:rPr>
              <a:t></a:t>
            </a:r>
            <a:r>
              <a:rPr dirty="0" sz="2400" spc="-32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-2314" sz="3600" spc="-1664">
                <a:solidFill>
                  <a:srgbClr val="0000FF"/>
                </a:solidFill>
                <a:latin typeface="Microsoft Sans Serif"/>
                <a:cs typeface="Microsoft Sans Serif"/>
              </a:rPr>
              <a:t>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</a:t>
            </a:r>
            <a:r>
              <a:rPr dirty="0" baseline="-2222" sz="3750" spc="-1297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22875" sz="2550" spc="-1027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baseline="-22875" sz="2550" spc="-30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735">
                <a:solidFill>
                  <a:srgbClr val="0000FF"/>
                </a:solidFill>
                <a:latin typeface="Microsoft Sans Serif"/>
                <a:cs typeface="Microsoft Sans Serif"/>
              </a:rPr>
              <a:t></a:t>
            </a:r>
            <a:r>
              <a:rPr dirty="0" baseline="-2222" sz="3750" spc="-1507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endParaRPr baseline="-2222" sz="3750">
              <a:latin typeface="Arial"/>
              <a:cs typeface="Arial"/>
            </a:endParaRPr>
          </a:p>
          <a:p>
            <a:pPr algn="ctr" marL="1426845">
              <a:lnSpc>
                <a:spcPct val="100000"/>
              </a:lnSpc>
              <a:spcBef>
                <a:spcPts val="1235"/>
              </a:spcBef>
              <a:tabLst>
                <a:tab pos="1931670" algn="l"/>
              </a:tabLst>
            </a:pPr>
            <a:r>
              <a:rPr dirty="0" sz="2500" spc="-665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19607" sz="2550" spc="-997" i="1">
                <a:solidFill>
                  <a:srgbClr val="0000FF"/>
                </a:solidFill>
                <a:latin typeface="Arial"/>
                <a:cs typeface="Arial"/>
              </a:rPr>
              <a:t>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위험수준이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높은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위험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</a:t>
            </a:r>
            <a:endParaRPr sz="2000">
              <a:latin typeface="Malgun Gothic"/>
              <a:cs typeface="Malgun Gothic"/>
            </a:endParaRPr>
          </a:p>
          <a:p>
            <a:pPr algn="ctr" marL="1428115">
              <a:lnSpc>
                <a:spcPct val="100000"/>
              </a:lnSpc>
              <a:spcBef>
                <a:spcPts val="1100"/>
              </a:spcBef>
              <a:tabLst>
                <a:tab pos="1904364" algn="l"/>
              </a:tabLst>
            </a:pPr>
            <a:r>
              <a:rPr dirty="0" sz="2500" spc="-775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19607" sz="2550" spc="-1162" i="1">
                <a:solidFill>
                  <a:srgbClr val="0000FF"/>
                </a:solidFill>
                <a:latin typeface="Arial"/>
                <a:cs typeface="Arial"/>
              </a:rPr>
              <a:t>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위험수준이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집단의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</a:t>
            </a:r>
            <a:endParaRPr sz="2000">
              <a:latin typeface="Malgun Gothic"/>
              <a:cs typeface="Malgun Gothic"/>
            </a:endParaRPr>
          </a:p>
          <a:p>
            <a:pPr algn="ctr" marL="1426845">
              <a:lnSpc>
                <a:spcPct val="100000"/>
              </a:lnSpc>
              <a:spcBef>
                <a:spcPts val="1205"/>
              </a:spcBef>
              <a:tabLst>
                <a:tab pos="1703705" algn="l"/>
                <a:tab pos="2653665" algn="l"/>
              </a:tabLst>
            </a:pPr>
            <a:r>
              <a:rPr dirty="0" sz="2400" spc="-1280">
                <a:solidFill>
                  <a:srgbClr val="0000FF"/>
                </a:solidFill>
                <a:latin typeface="Microsoft Sans Serif"/>
                <a:cs typeface="Microsoft Sans Serif"/>
              </a:rPr>
              <a:t>	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</a:t>
            </a:r>
            <a:r>
              <a:rPr dirty="0" sz="2400" spc="-30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-885">
                <a:solidFill>
                  <a:srgbClr val="0000FF"/>
                </a:solidFill>
                <a:latin typeface="Microsoft Sans Serif"/>
                <a:cs typeface="Microsoft Sans Serif"/>
              </a:rPr>
              <a:t>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280">
                <a:solidFill>
                  <a:srgbClr val="0000FF"/>
                </a:solidFill>
                <a:latin typeface="Microsoft Sans Serif"/>
                <a:cs typeface="Microsoft Sans Serif"/>
              </a:rPr>
              <a:t>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개별집단이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전체에서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차지하는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비중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2990" y="1187887"/>
            <a:ext cx="3850004" cy="4108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420"/>
              <a:t>-</a:t>
            </a:r>
            <a:r>
              <a:rPr dirty="0" spc="275"/>
              <a:t> </a:t>
            </a:r>
            <a:r>
              <a:rPr dirty="0" spc="-5"/>
              <a:t>예산제약선</a:t>
            </a:r>
            <a:r>
              <a:rPr dirty="0" spc="270"/>
              <a:t> </a:t>
            </a:r>
            <a:r>
              <a:rPr dirty="0" spc="140"/>
              <a:t>:</a:t>
            </a:r>
            <a:r>
              <a:rPr dirty="0" spc="320"/>
              <a:t> </a:t>
            </a:r>
            <a:r>
              <a:rPr dirty="0" sz="2500" spc="-145" b="0" i="1">
                <a:solidFill>
                  <a:srgbClr val="0000FF"/>
                </a:solidFill>
                <a:latin typeface="Arial"/>
                <a:cs typeface="Arial"/>
              </a:rPr>
              <a:t></a:t>
            </a:r>
            <a:r>
              <a:rPr dirty="0" spc="-145"/>
              <a:t>선(평균위험)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2990" y="1969559"/>
            <a:ext cx="8422640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01625" marR="5080" indent="-289560">
              <a:lnSpc>
                <a:spcPct val="133400"/>
              </a:lnSpc>
              <a:spcBef>
                <a:spcPts val="100"/>
              </a:spcBef>
              <a:buClr>
                <a:srgbClr val="000000"/>
              </a:buClr>
              <a:buChar char="-"/>
              <a:tabLst>
                <a:tab pos="326390" algn="l"/>
              </a:tabLst>
            </a:pP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평균위험에 근거하여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보험료가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책정될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 경우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위험이</a:t>
            </a:r>
            <a:r>
              <a:rPr dirty="0" sz="2000" spc="6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높은 개인은 보 </a:t>
            </a:r>
            <a:r>
              <a:rPr dirty="0" sz="2000" spc="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험을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가능한</a:t>
            </a:r>
            <a:r>
              <a:rPr dirty="0" sz="2000" spc="13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많이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구입하려는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유인을 </a:t>
            </a:r>
            <a:r>
              <a:rPr dirty="0" sz="2000" spc="15" b="1">
                <a:solidFill>
                  <a:srgbClr val="0000FF"/>
                </a:solidFill>
                <a:latin typeface="Malgun Gothic"/>
                <a:cs typeface="Malgun Gothic"/>
              </a:rPr>
              <a:t>갖고,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위험이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낮은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집단은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가 </a:t>
            </a:r>
            <a:r>
              <a:rPr dirty="0" sz="2000" spc="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능한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적게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구입하고자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할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가능성이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20" b="1">
                <a:solidFill>
                  <a:srgbClr val="0000FF"/>
                </a:solidFill>
                <a:latin typeface="Malgun Gothic"/>
                <a:cs typeface="Malgun Gothic"/>
              </a:rPr>
              <a:t>높다.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보험회사에게는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분리적용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방식에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비해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비효율적인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192990" y="1127996"/>
            <a:ext cx="8422640" cy="411797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00355" indent="-288290">
              <a:lnSpc>
                <a:spcPct val="100000"/>
              </a:lnSpc>
              <a:spcBef>
                <a:spcPts val="740"/>
              </a:spcBef>
              <a:buFont typeface="Cambria"/>
              <a:buChar char="○"/>
              <a:tabLst>
                <a:tab pos="300355" algn="l"/>
                <a:tab pos="300990" algn="l"/>
                <a:tab pos="2235200" algn="l"/>
                <a:tab pos="2903220" algn="l"/>
                <a:tab pos="4331335" algn="l"/>
                <a:tab pos="5625465" algn="l"/>
                <a:tab pos="6725920" algn="l"/>
                <a:tab pos="76466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공</a:t>
            </a:r>
            <a:r>
              <a:rPr dirty="0" sz="2000" b="1">
                <a:latin typeface="Malgun Gothic"/>
                <a:cs typeface="Malgun Gothic"/>
              </a:rPr>
              <a:t>동균</a:t>
            </a:r>
            <a:r>
              <a:rPr dirty="0" sz="2000" spc="-15" b="1">
                <a:latin typeface="Malgun Gothic"/>
                <a:cs typeface="Malgun Gothic"/>
              </a:rPr>
              <a:t>형</a:t>
            </a:r>
            <a:r>
              <a:rPr dirty="0" sz="2000" b="1">
                <a:latin typeface="Malgun Gothic"/>
                <a:cs typeface="Malgun Gothic"/>
              </a:rPr>
              <a:t>전략에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험회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65" b="1">
                <a:latin typeface="Malgun Gothic"/>
                <a:cs typeface="Malgun Gothic"/>
              </a:rPr>
              <a:t>A</a:t>
            </a:r>
            <a:r>
              <a:rPr dirty="0" sz="2000" spc="-35" b="1">
                <a:latin typeface="Malgun Gothic"/>
                <a:cs typeface="Malgun Gothic"/>
              </a:rPr>
              <a:t>D</a:t>
            </a:r>
            <a:r>
              <a:rPr dirty="0" sz="2000" b="1">
                <a:latin typeface="Malgun Gothic"/>
                <a:cs typeface="Malgun Gothic"/>
              </a:rPr>
              <a:t>선</a:t>
            </a:r>
            <a:r>
              <a:rPr dirty="0" sz="2000" spc="-15" b="1">
                <a:latin typeface="Malgun Gothic"/>
                <a:cs typeface="Malgun Gothic"/>
              </a:rPr>
              <a:t>상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B</a:t>
            </a:r>
            <a:r>
              <a:rPr dirty="0" sz="2000" b="1">
                <a:latin typeface="Malgun Gothic"/>
                <a:cs typeface="Malgun Gothic"/>
              </a:rPr>
              <a:t>점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제</a:t>
            </a:r>
            <a:r>
              <a:rPr dirty="0" sz="2000" spc="-15" b="1">
                <a:latin typeface="Malgun Gothic"/>
                <a:cs typeface="Malgun Gothic"/>
              </a:rPr>
              <a:t>공</a:t>
            </a:r>
            <a:r>
              <a:rPr dirty="0" sz="2000" b="1">
                <a:latin typeface="Malgun Gothic"/>
                <a:cs typeface="Malgun Gothic"/>
              </a:rPr>
              <a:t>하</a:t>
            </a:r>
            <a:endParaRPr sz="2000">
              <a:latin typeface="Malgun Gothic"/>
              <a:cs typeface="Malgun Gothic"/>
            </a:endParaRPr>
          </a:p>
          <a:p>
            <a:pPr marL="300355">
              <a:lnSpc>
                <a:spcPct val="100000"/>
              </a:lnSpc>
              <a:spcBef>
                <a:spcPts val="760"/>
              </a:spcBef>
            </a:pPr>
            <a:r>
              <a:rPr dirty="0" sz="2000" spc="20" b="1">
                <a:latin typeface="Malgun Gothic"/>
                <a:cs typeface="Malgun Gothic"/>
              </a:rPr>
              <a:t>고,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가입자가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동일한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25" b="1">
                <a:latin typeface="Malgun Gothic"/>
                <a:cs typeface="Malgun Gothic"/>
              </a:rPr>
              <a:t>보험료(</a:t>
            </a:r>
            <a:r>
              <a:rPr dirty="0" sz="2400" spc="-125">
                <a:solidFill>
                  <a:srgbClr val="0000FF"/>
                </a:solidFill>
                <a:latin typeface="Microsoft Sans Serif"/>
                <a:cs typeface="Microsoft Sans Serif"/>
              </a:rPr>
              <a:t></a:t>
            </a:r>
            <a:r>
              <a:rPr dirty="0" sz="2000" spc="-125" b="1">
                <a:latin typeface="Malgun Gothic"/>
                <a:cs typeface="Malgun Gothic"/>
              </a:rPr>
              <a:t>)를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적용받을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집단의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어떠한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보험계약도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불리한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00355" marR="6350" indent="-288290">
              <a:lnSpc>
                <a:spcPct val="133400"/>
              </a:lnSpc>
              <a:buClr>
                <a:srgbClr val="000000"/>
              </a:buClr>
              <a:buChar char="-"/>
              <a:tabLst>
                <a:tab pos="306070" algn="l"/>
                <a:tab pos="306705" algn="l"/>
                <a:tab pos="946785" algn="l"/>
                <a:tab pos="4393565" algn="l"/>
                <a:tab pos="5288915" algn="l"/>
                <a:tab pos="7974330" algn="l"/>
              </a:tabLst>
            </a:pP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다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른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보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회사가</a:t>
            </a:r>
            <a:r>
              <a:rPr dirty="0" sz="2000" spc="33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전략적</a:t>
            </a:r>
            <a:r>
              <a:rPr dirty="0" sz="2000" spc="33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차원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에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서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위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낮은</a:t>
            </a:r>
            <a:r>
              <a:rPr dirty="0" sz="2000" spc="33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집단을</a:t>
            </a:r>
            <a:r>
              <a:rPr dirty="0" sz="2000" spc="33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대상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으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로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135" b="1">
                <a:solidFill>
                  <a:srgbClr val="0000FF"/>
                </a:solidFill>
                <a:latin typeface="Malgun Gothic"/>
                <a:cs typeface="Malgun Gothic"/>
              </a:rPr>
              <a:t>B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점 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위의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사선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영역에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해당하는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새로운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보험계약을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제시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46075" marR="5080" indent="-334010">
              <a:lnSpc>
                <a:spcPct val="133400"/>
              </a:lnSpc>
              <a:buChar char="-"/>
              <a:tabLst>
                <a:tab pos="345440" algn="l"/>
                <a:tab pos="346710" algn="l"/>
                <a:tab pos="1278890" algn="l"/>
                <a:tab pos="2722245" algn="l"/>
                <a:tab pos="3655060" algn="l"/>
                <a:tab pos="4337050" algn="l"/>
                <a:tab pos="5270500" algn="l"/>
                <a:tab pos="6459220" algn="l"/>
                <a:tab pos="76466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존의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보험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험이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집</a:t>
            </a:r>
            <a:r>
              <a:rPr dirty="0" sz="2000" b="1">
                <a:latin typeface="Malgun Gothic"/>
                <a:cs typeface="Malgun Gothic"/>
              </a:rPr>
              <a:t>단만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잔류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역</a:t>
            </a:r>
            <a:r>
              <a:rPr dirty="0" sz="2000" spc="-15" b="1">
                <a:latin typeface="Malgun Gothic"/>
                <a:cs typeface="Malgun Gothic"/>
              </a:rPr>
              <a:t>선</a:t>
            </a:r>
            <a:r>
              <a:rPr dirty="0" sz="2000" b="1">
                <a:latin typeface="Malgun Gothic"/>
                <a:cs typeface="Malgun Gothic"/>
              </a:rPr>
              <a:t>택의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문제가  </a:t>
            </a:r>
            <a:r>
              <a:rPr dirty="0" sz="2000" spc="-10" b="1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34149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>
                <a:solidFill>
                  <a:srgbClr val="0000FF"/>
                </a:solidFill>
              </a:rPr>
              <a:t>b)</a:t>
            </a:r>
            <a:r>
              <a:rPr dirty="0" spc="28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분리균형(separating</a:t>
            </a:r>
            <a:r>
              <a:rPr dirty="0" spc="290">
                <a:solidFill>
                  <a:srgbClr val="0000FF"/>
                </a:solidFill>
              </a:rPr>
              <a:t> </a:t>
            </a:r>
            <a:r>
              <a:rPr dirty="0" spc="-25">
                <a:solidFill>
                  <a:srgbClr val="0000FF"/>
                </a:solidFill>
              </a:rPr>
              <a:t>equilibrium)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0830" rIns="0" bIns="0" rtlCol="0" vert="horz">
            <a:spAutoFit/>
          </a:bodyPr>
          <a:lstStyle/>
          <a:p>
            <a:pPr marL="424180" indent="-286385">
              <a:lnSpc>
                <a:spcPct val="100000"/>
              </a:lnSpc>
              <a:spcBef>
                <a:spcPts val="100"/>
              </a:spcBef>
              <a:buChar char="-"/>
              <a:tabLst>
                <a:tab pos="425450" algn="l"/>
              </a:tabLst>
            </a:pPr>
            <a:r>
              <a:rPr dirty="0" spc="-5"/>
              <a:t>보험회사가</a:t>
            </a:r>
            <a:r>
              <a:rPr dirty="0" spc="280"/>
              <a:t> </a:t>
            </a:r>
            <a:r>
              <a:rPr dirty="0" spc="-5"/>
              <a:t>위험의</a:t>
            </a:r>
            <a:r>
              <a:rPr dirty="0" spc="285"/>
              <a:t> </a:t>
            </a:r>
            <a:r>
              <a:rPr dirty="0" spc="-5"/>
              <a:t>차이가</a:t>
            </a:r>
            <a:r>
              <a:rPr dirty="0" spc="285"/>
              <a:t> </a:t>
            </a:r>
            <a:r>
              <a:rPr dirty="0"/>
              <a:t>있는</a:t>
            </a:r>
            <a:r>
              <a:rPr dirty="0" spc="285"/>
              <a:t> </a:t>
            </a:r>
            <a:r>
              <a:rPr dirty="0"/>
              <a:t>두</a:t>
            </a:r>
            <a:r>
              <a:rPr dirty="0" spc="285"/>
              <a:t> </a:t>
            </a:r>
            <a:r>
              <a:rPr dirty="0" spc="-5"/>
              <a:t>집단을</a:t>
            </a:r>
            <a:r>
              <a:rPr dirty="0" spc="285"/>
              <a:t> </a:t>
            </a:r>
            <a:r>
              <a:rPr dirty="0" spc="-5"/>
              <a:t>분리하는</a:t>
            </a:r>
            <a:r>
              <a:rPr dirty="0" spc="285"/>
              <a:t> </a:t>
            </a:r>
            <a:r>
              <a:rPr dirty="0"/>
              <a:t>정책</a:t>
            </a:r>
          </a:p>
          <a:p>
            <a:pPr marL="125730">
              <a:lnSpc>
                <a:spcPct val="100000"/>
              </a:lnSpc>
              <a:spcBef>
                <a:spcPts val="20"/>
              </a:spcBef>
              <a:buFont typeface="Malgun Gothic"/>
              <a:buChar char="-"/>
            </a:pPr>
            <a:endParaRPr sz="1750"/>
          </a:p>
          <a:p>
            <a:pPr marL="471805" marR="5080" indent="-334010">
              <a:lnSpc>
                <a:spcPct val="133400"/>
              </a:lnSpc>
              <a:buChar char="-"/>
              <a:tabLst>
                <a:tab pos="440055" algn="l"/>
                <a:tab pos="440690" algn="l"/>
                <a:tab pos="1849755" algn="l"/>
                <a:tab pos="2752725" algn="l"/>
                <a:tab pos="4162425" algn="l"/>
                <a:tab pos="5319395" algn="l"/>
                <a:tab pos="6476365" algn="l"/>
                <a:tab pos="7378700" algn="l"/>
                <a:tab pos="8281670" algn="l"/>
              </a:tabLst>
            </a:pPr>
            <a:r>
              <a:rPr dirty="0" spc="-15"/>
              <a:t>보</a:t>
            </a:r>
            <a:r>
              <a:rPr dirty="0"/>
              <a:t>험계</a:t>
            </a:r>
            <a:r>
              <a:rPr dirty="0" spc="-15"/>
              <a:t>약</a:t>
            </a:r>
            <a:r>
              <a:rPr dirty="0"/>
              <a:t>에</a:t>
            </a:r>
            <a:r>
              <a:rPr dirty="0"/>
              <a:t>	</a:t>
            </a:r>
            <a:r>
              <a:rPr dirty="0"/>
              <a:t>별</a:t>
            </a:r>
            <a:r>
              <a:rPr dirty="0" spc="-15"/>
              <a:t>도</a:t>
            </a:r>
            <a:r>
              <a:rPr dirty="0"/>
              <a:t>의</a:t>
            </a:r>
            <a:r>
              <a:rPr dirty="0"/>
              <a:t>	</a:t>
            </a:r>
            <a:r>
              <a:rPr dirty="0"/>
              <a:t>유</a:t>
            </a:r>
            <a:r>
              <a:rPr dirty="0" spc="-15"/>
              <a:t>인</a:t>
            </a:r>
            <a:r>
              <a:rPr dirty="0"/>
              <a:t>장치를</a:t>
            </a:r>
            <a:r>
              <a:rPr dirty="0"/>
              <a:t>	</a:t>
            </a:r>
            <a:r>
              <a:rPr dirty="0"/>
              <a:t>마련</a:t>
            </a:r>
            <a:r>
              <a:rPr dirty="0" spc="-15"/>
              <a:t>하</a:t>
            </a:r>
            <a:r>
              <a:rPr dirty="0"/>
              <a:t>여</a:t>
            </a:r>
            <a:r>
              <a:rPr dirty="0"/>
              <a:t>	</a:t>
            </a:r>
            <a:r>
              <a:rPr dirty="0"/>
              <a:t>개</a:t>
            </a:r>
            <a:r>
              <a:rPr dirty="0" spc="-15"/>
              <a:t>인</a:t>
            </a:r>
            <a:r>
              <a:rPr dirty="0"/>
              <a:t>들이</a:t>
            </a:r>
            <a:r>
              <a:rPr dirty="0"/>
              <a:t>	</a:t>
            </a:r>
            <a:r>
              <a:rPr dirty="0" spc="-15"/>
              <a:t>스</a:t>
            </a:r>
            <a:r>
              <a:rPr dirty="0"/>
              <a:t>스로</a:t>
            </a:r>
            <a:r>
              <a:rPr dirty="0"/>
              <a:t>	</a:t>
            </a:r>
            <a:r>
              <a:rPr dirty="0" spc="-15"/>
              <a:t>자</a:t>
            </a:r>
            <a:r>
              <a:rPr dirty="0"/>
              <a:t>신의</a:t>
            </a:r>
            <a:r>
              <a:rPr dirty="0"/>
              <a:t>	</a:t>
            </a:r>
            <a:r>
              <a:rPr dirty="0"/>
              <a:t>위  </a:t>
            </a:r>
            <a:r>
              <a:rPr dirty="0" spc="-5"/>
              <a:t>험수준을</a:t>
            </a:r>
            <a:r>
              <a:rPr dirty="0" spc="285"/>
              <a:t> </a:t>
            </a:r>
            <a:r>
              <a:rPr dirty="0" spc="-5"/>
              <a:t>드러내</a:t>
            </a:r>
            <a:r>
              <a:rPr dirty="0" spc="290"/>
              <a:t> </a:t>
            </a:r>
            <a:r>
              <a:rPr dirty="0"/>
              <a:t>보일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90"/>
              <a:t> </a:t>
            </a:r>
            <a:r>
              <a:rPr dirty="0" spc="-5"/>
              <a:t>있도록</a:t>
            </a:r>
            <a:r>
              <a:rPr dirty="0" spc="290"/>
              <a:t> </a:t>
            </a:r>
            <a:r>
              <a:rPr dirty="0"/>
              <a:t>유도</a:t>
            </a:r>
          </a:p>
          <a:p>
            <a:pPr marL="125730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/>
          </a:p>
          <a:p>
            <a:pPr marL="443865" marR="6350" indent="-306070">
              <a:lnSpc>
                <a:spcPct val="133400"/>
              </a:lnSpc>
              <a:buClr>
                <a:srgbClr val="000000"/>
              </a:buClr>
              <a:buChar char="-"/>
              <a:tabLst>
                <a:tab pos="444500" algn="l"/>
                <a:tab pos="445134" algn="l"/>
                <a:tab pos="1860550" algn="l"/>
                <a:tab pos="2685415" algn="l"/>
                <a:tab pos="3340100" algn="l"/>
                <a:tab pos="4247515" algn="l"/>
                <a:tab pos="5156200" algn="l"/>
                <a:tab pos="5556885" algn="l"/>
                <a:tab pos="6211570" algn="l"/>
                <a:tab pos="7118350" algn="l"/>
                <a:tab pos="8280400" algn="l"/>
              </a:tabLst>
            </a:pPr>
            <a:r>
              <a:rPr dirty="0">
                <a:solidFill>
                  <a:srgbClr val="0000FF"/>
                </a:solidFill>
              </a:rPr>
              <a:t>보험</a:t>
            </a:r>
            <a:r>
              <a:rPr dirty="0" spc="-15">
                <a:solidFill>
                  <a:srgbClr val="0000FF"/>
                </a:solidFill>
              </a:rPr>
              <a:t>회</a:t>
            </a:r>
            <a:r>
              <a:rPr dirty="0">
                <a:solidFill>
                  <a:srgbClr val="0000FF"/>
                </a:solidFill>
              </a:rPr>
              <a:t>사는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 spc="260">
                <a:solidFill>
                  <a:srgbClr val="0000FF"/>
                </a:solidFill>
              </a:rPr>
              <a:t>E</a:t>
            </a:r>
            <a:r>
              <a:rPr dirty="0">
                <a:solidFill>
                  <a:srgbClr val="0000FF"/>
                </a:solidFill>
              </a:rPr>
              <a:t>점의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>
                <a:solidFill>
                  <a:srgbClr val="0000FF"/>
                </a:solidFill>
              </a:rPr>
              <a:t>왼쪽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 spc="-15">
                <a:solidFill>
                  <a:srgbClr val="0000FF"/>
                </a:solidFill>
              </a:rPr>
              <a:t>영</a:t>
            </a:r>
            <a:r>
              <a:rPr dirty="0">
                <a:solidFill>
                  <a:srgbClr val="0000FF"/>
                </a:solidFill>
              </a:rPr>
              <a:t>역에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>
                <a:solidFill>
                  <a:srgbClr val="0000FF"/>
                </a:solidFill>
              </a:rPr>
              <a:t>해당될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>
                <a:solidFill>
                  <a:srgbClr val="0000FF"/>
                </a:solidFill>
              </a:rPr>
              <a:t>수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>
                <a:solidFill>
                  <a:srgbClr val="0000FF"/>
                </a:solidFill>
              </a:rPr>
              <a:t>있는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 spc="-15">
                <a:solidFill>
                  <a:srgbClr val="0000FF"/>
                </a:solidFill>
              </a:rPr>
              <a:t>보</a:t>
            </a:r>
            <a:r>
              <a:rPr dirty="0">
                <a:solidFill>
                  <a:srgbClr val="0000FF"/>
                </a:solidFill>
              </a:rPr>
              <a:t>험을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>
                <a:solidFill>
                  <a:srgbClr val="0000FF"/>
                </a:solidFill>
              </a:rPr>
              <a:t>제공</a:t>
            </a:r>
            <a:r>
              <a:rPr dirty="0" spc="-15">
                <a:solidFill>
                  <a:srgbClr val="0000FF"/>
                </a:solidFill>
              </a:rPr>
              <a:t>하</a:t>
            </a:r>
            <a:r>
              <a:rPr dirty="0">
                <a:solidFill>
                  <a:srgbClr val="0000FF"/>
                </a:solidFill>
              </a:rPr>
              <a:t>여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>
                <a:solidFill>
                  <a:srgbClr val="0000FF"/>
                </a:solidFill>
              </a:rPr>
              <a:t>위  </a:t>
            </a:r>
            <a:r>
              <a:rPr dirty="0">
                <a:solidFill>
                  <a:srgbClr val="0000FF"/>
                </a:solidFill>
              </a:rPr>
              <a:t>험이</a:t>
            </a:r>
            <a:r>
              <a:rPr dirty="0" spc="285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낮은</a:t>
            </a:r>
            <a:r>
              <a:rPr dirty="0" spc="29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집단들만</a:t>
            </a:r>
            <a:r>
              <a:rPr dirty="0" spc="285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가입하도록</a:t>
            </a:r>
            <a:r>
              <a:rPr dirty="0" spc="29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유도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2990" y="5269669"/>
            <a:ext cx="21907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  <a:tab pos="747395" algn="l"/>
                <a:tab pos="141605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이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9120" y="5269669"/>
            <a:ext cx="60953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0720" algn="l"/>
                <a:tab pos="1603375" algn="l"/>
                <a:tab pos="2457450" algn="l"/>
                <a:tab pos="2788920" algn="l"/>
                <a:tab pos="3711575" algn="l"/>
                <a:tab pos="539559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낮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집</a:t>
            </a:r>
            <a:r>
              <a:rPr dirty="0" sz="2000" b="1">
                <a:latin typeface="Malgun Gothic"/>
                <a:cs typeface="Malgun Gothic"/>
              </a:rPr>
              <a:t>단은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50" b="1">
                <a:latin typeface="Malgun Gothic"/>
                <a:cs typeface="Malgun Gothic"/>
              </a:rPr>
              <a:t>A</a:t>
            </a:r>
            <a:r>
              <a:rPr dirty="0" sz="2000" b="1">
                <a:latin typeface="Malgun Gothic"/>
                <a:cs typeface="Malgun Gothic"/>
              </a:rPr>
              <a:t>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265" b="1">
                <a:latin typeface="Malgun Gothic"/>
                <a:cs typeface="Malgun Gothic"/>
              </a:rPr>
              <a:t>E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험계</a:t>
            </a:r>
            <a:r>
              <a:rPr dirty="0" sz="2000" spc="-15" b="1">
                <a:latin typeface="Malgun Gothic"/>
                <a:cs typeface="Malgun Gothic"/>
              </a:rPr>
              <a:t>약</a:t>
            </a:r>
            <a:r>
              <a:rPr dirty="0" sz="2000" b="1">
                <a:latin typeface="Malgun Gothic"/>
                <a:cs typeface="Malgun Gothic"/>
              </a:rPr>
              <a:t>보다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B</a:t>
            </a:r>
            <a:r>
              <a:rPr dirty="0" sz="2000" spc="-15" b="1">
                <a:latin typeface="Malgun Gothic"/>
                <a:cs typeface="Malgun Gothic"/>
              </a:rPr>
              <a:t>점</a:t>
            </a:r>
            <a:r>
              <a:rPr dirty="0" sz="2000" b="1">
                <a:latin typeface="Malgun Gothic"/>
                <a:cs typeface="Malgun Gothic"/>
              </a:rPr>
              <a:t>과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8979" y="5574913"/>
            <a:ext cx="811720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674370" algn="l"/>
                <a:tab pos="2606675" algn="l"/>
                <a:tab pos="3014345" algn="l"/>
                <a:tab pos="3930650" algn="l"/>
                <a:tab pos="4338955" algn="l"/>
                <a:tab pos="5075555" algn="l"/>
                <a:tab pos="6244590" algn="l"/>
                <a:tab pos="7595234" algn="l"/>
              </a:tabLst>
            </a:pPr>
            <a:r>
              <a:rPr dirty="0" sz="2000" b="1">
                <a:latin typeface="Malgun Gothic"/>
                <a:cs typeface="Malgun Gothic"/>
              </a:rPr>
              <a:t>같은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공동</a:t>
            </a:r>
            <a:r>
              <a:rPr dirty="0" sz="2000" spc="-15" b="1">
                <a:latin typeface="Malgun Gothic"/>
                <a:cs typeface="Malgun Gothic"/>
              </a:rPr>
              <a:t>균</a:t>
            </a:r>
            <a:r>
              <a:rPr dirty="0" sz="2000" b="1">
                <a:latin typeface="Malgun Gothic"/>
                <a:cs typeface="Malgun Gothic"/>
              </a:rPr>
              <a:t>형전</a:t>
            </a:r>
            <a:r>
              <a:rPr dirty="0" sz="2000" spc="-15" b="1">
                <a:latin typeface="Malgun Gothic"/>
                <a:cs typeface="Malgun Gothic"/>
              </a:rPr>
              <a:t>략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선</a:t>
            </a:r>
            <a:r>
              <a:rPr dirty="0" sz="2000" spc="-15" b="1">
                <a:latin typeface="Malgun Gothic"/>
                <a:cs typeface="Malgun Gothic"/>
              </a:rPr>
              <a:t>호</a:t>
            </a:r>
            <a:r>
              <a:rPr dirty="0" sz="2000" b="1">
                <a:latin typeface="Malgun Gothic"/>
                <a:cs typeface="Malgun Gothic"/>
              </a:rPr>
              <a:t>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있다</a:t>
            </a:r>
            <a:r>
              <a:rPr dirty="0" sz="2000" spc="60" b="1">
                <a:latin typeface="Malgun Gothic"/>
                <a:cs typeface="Malgun Gothic"/>
              </a:rPr>
              <a:t>.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왜</a:t>
            </a:r>
            <a:r>
              <a:rPr dirty="0" sz="2000" spc="-15" b="1">
                <a:latin typeface="Malgun Gothic"/>
                <a:cs typeface="Malgun Gothic"/>
              </a:rPr>
              <a:t>냐</a:t>
            </a:r>
            <a:r>
              <a:rPr dirty="0" sz="2000" b="1">
                <a:latin typeface="Malgun Gothic"/>
                <a:cs typeface="Malgun Gothic"/>
              </a:rPr>
              <a:t>하면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B</a:t>
            </a:r>
            <a:r>
              <a:rPr dirty="0" sz="2000" b="1">
                <a:latin typeface="Malgun Gothic"/>
                <a:cs typeface="Malgun Gothic"/>
              </a:rPr>
              <a:t>점에</a:t>
            </a:r>
            <a:r>
              <a:rPr dirty="0" sz="2000" spc="-15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효용  </a:t>
            </a:r>
            <a:r>
              <a:rPr dirty="0" sz="2000" b="1">
                <a:latin typeface="Malgun Gothic"/>
                <a:cs typeface="Malgun Gothic"/>
              </a:rPr>
              <a:t>수준이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높기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때문이다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520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분리균형이나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공동균형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모두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균형의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상태가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유지될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없는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한계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452120" marR="5080" indent="-313690">
              <a:lnSpc>
                <a:spcPct val="133400"/>
              </a:lnSpc>
              <a:tabLst>
                <a:tab pos="452120" algn="l"/>
                <a:tab pos="1367155" algn="l"/>
                <a:tab pos="3043555" algn="l"/>
                <a:tab pos="3957954" algn="l"/>
                <a:tab pos="4620260" algn="l"/>
                <a:tab pos="5535295" algn="l"/>
                <a:tab pos="6197600" algn="l"/>
                <a:tab pos="7112634" algn="l"/>
                <a:tab pos="802767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균</a:t>
            </a:r>
            <a:r>
              <a:rPr dirty="0" sz="2000" spc="-15" b="1">
                <a:latin typeface="Malgun Gothic"/>
                <a:cs typeface="Malgun Gothic"/>
              </a:rPr>
              <a:t>형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존</a:t>
            </a:r>
            <a:r>
              <a:rPr dirty="0" sz="2000" spc="-15" b="1">
                <a:latin typeface="Malgun Gothic"/>
                <a:cs typeface="Malgun Gothic"/>
              </a:rPr>
              <a:t>재</a:t>
            </a:r>
            <a:r>
              <a:rPr dirty="0" sz="2000" b="1">
                <a:latin typeface="Malgun Gothic"/>
                <a:cs typeface="Malgun Gothic"/>
              </a:rPr>
              <a:t>하더</a:t>
            </a:r>
            <a:r>
              <a:rPr dirty="0" sz="2000" spc="-15" b="1">
                <a:latin typeface="Malgun Gothic"/>
                <a:cs typeface="Malgun Gothic"/>
              </a:rPr>
              <a:t>라</a:t>
            </a:r>
            <a:r>
              <a:rPr dirty="0" sz="2000" b="1">
                <a:latin typeface="Malgun Gothic"/>
                <a:cs typeface="Malgun Gothic"/>
              </a:rPr>
              <a:t>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위험이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집</a:t>
            </a:r>
            <a:r>
              <a:rPr dirty="0" sz="2000" spc="-15" b="1">
                <a:latin typeface="Malgun Gothic"/>
                <a:cs typeface="Malgun Gothic"/>
              </a:rPr>
              <a:t>단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충</a:t>
            </a:r>
            <a:r>
              <a:rPr dirty="0" sz="2000" b="1">
                <a:latin typeface="Malgun Gothic"/>
                <a:cs typeface="Malgun Gothic"/>
              </a:rPr>
              <a:t>분한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보험  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구입할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비효율성의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문제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30" b="1">
                <a:latin typeface="Malgun Gothic"/>
                <a:cs typeface="Malgun Gothic"/>
              </a:rPr>
              <a:t>(2)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역선택의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결과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300355" marR="6350" indent="-288290">
              <a:lnSpc>
                <a:spcPct val="133400"/>
              </a:lnSpc>
              <a:buChar char="-"/>
              <a:tabLst>
                <a:tab pos="300990" algn="l"/>
              </a:tabLst>
            </a:pPr>
            <a:r>
              <a:rPr dirty="0" sz="2000" b="1">
                <a:latin typeface="Malgun Gothic"/>
                <a:cs typeface="Malgun Gothic"/>
              </a:rPr>
              <a:t>거품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걷어내기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(cream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skimming),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선별작업(risk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selection)에 </a:t>
            </a:r>
            <a:r>
              <a:rPr dirty="0" sz="2000" spc="-6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직면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15595" marR="6350" indent="-303530">
              <a:lnSpc>
                <a:spcPct val="133400"/>
              </a:lnSpc>
              <a:buClr>
                <a:srgbClr val="000000"/>
              </a:buClr>
              <a:buChar char="-"/>
              <a:tabLst>
                <a:tab pos="314960" algn="l"/>
                <a:tab pos="316230" algn="l"/>
                <a:tab pos="1726564" algn="l"/>
                <a:tab pos="3139440" algn="l"/>
                <a:tab pos="4043679" algn="l"/>
                <a:tab pos="5455920" algn="l"/>
                <a:tab pos="6868795" algn="l"/>
                <a:tab pos="8280400" algn="l"/>
              </a:tabLst>
            </a:pP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험가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입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강제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적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용은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양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질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위험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집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단이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위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분산의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기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구로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터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이 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탈하는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역선택의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문제를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방지하는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효과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dirty="0" sz="2000" spc="1145">
                <a:solidFill>
                  <a:srgbClr val="0000FF"/>
                </a:solidFill>
                <a:latin typeface="Cambria"/>
                <a:cs typeface="Cambria"/>
              </a:rPr>
              <a:t>*</a:t>
            </a:r>
            <a:r>
              <a:rPr dirty="0" sz="2000" spc="5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사회보험의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근거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65" b="1">
                <a:solidFill>
                  <a:srgbClr val="0000FF"/>
                </a:solidFill>
                <a:latin typeface="Malgun Gothic"/>
                <a:cs typeface="Malgun Gothic"/>
              </a:rPr>
              <a:t>risk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5" b="1">
                <a:solidFill>
                  <a:srgbClr val="0000FF"/>
                </a:solidFill>
                <a:latin typeface="Malgun Gothic"/>
                <a:cs typeface="Malgun Gothic"/>
              </a:rPr>
              <a:t>pooling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60299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>
                <a:solidFill>
                  <a:srgbClr val="0000FF"/>
                </a:solidFill>
              </a:rPr>
              <a:t>2)</a:t>
            </a:r>
            <a:r>
              <a:rPr dirty="0" spc="28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도덕적</a:t>
            </a:r>
            <a:r>
              <a:rPr dirty="0" spc="280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해이(moral</a:t>
            </a:r>
            <a:r>
              <a:rPr dirty="0" spc="28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hazard)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0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(1)</a:t>
            </a:r>
            <a:r>
              <a:rPr dirty="0" spc="260"/>
              <a:t> </a:t>
            </a:r>
            <a:r>
              <a:rPr dirty="0" spc="-5"/>
              <a:t>도덕적</a:t>
            </a:r>
            <a:r>
              <a:rPr dirty="0" spc="260"/>
              <a:t> </a:t>
            </a:r>
            <a:r>
              <a:rPr dirty="0"/>
              <a:t>해이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/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pc="-5"/>
              <a:t>도덕적</a:t>
            </a:r>
            <a:r>
              <a:rPr dirty="0" spc="280"/>
              <a:t> </a:t>
            </a:r>
            <a:r>
              <a:rPr dirty="0" spc="-5"/>
              <a:t>해이의</a:t>
            </a:r>
            <a:r>
              <a:rPr dirty="0" spc="280"/>
              <a:t> </a:t>
            </a:r>
            <a:r>
              <a:rPr dirty="0"/>
              <a:t>문제를</a:t>
            </a:r>
            <a:r>
              <a:rPr dirty="0" spc="280"/>
              <a:t> </a:t>
            </a:r>
            <a:r>
              <a:rPr dirty="0" spc="-5"/>
              <a:t>방지할</a:t>
            </a:r>
            <a:r>
              <a:rPr dirty="0" spc="280"/>
              <a:t> </a:t>
            </a:r>
            <a:r>
              <a:rPr dirty="0"/>
              <a:t>수</a:t>
            </a:r>
            <a:r>
              <a:rPr dirty="0" spc="280"/>
              <a:t> </a:t>
            </a:r>
            <a:r>
              <a:rPr dirty="0"/>
              <a:t>있는</a:t>
            </a:r>
            <a:r>
              <a:rPr dirty="0" spc="280"/>
              <a:t> </a:t>
            </a:r>
            <a:r>
              <a:rPr dirty="0" spc="-10"/>
              <a:t>조건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Cambria"/>
              <a:buChar char="○"/>
            </a:pPr>
            <a:endParaRPr sz="1700"/>
          </a:p>
          <a:p>
            <a:pPr lvl="1" marL="452120" marR="6350" indent="-313690">
              <a:lnSpc>
                <a:spcPct val="124600"/>
              </a:lnSpc>
              <a:spcBef>
                <a:spcPts val="5"/>
              </a:spcBef>
              <a:buChar char="-"/>
              <a:tabLst>
                <a:tab pos="452120" algn="l"/>
                <a:tab pos="452755" algn="l"/>
                <a:tab pos="1368425" algn="l"/>
                <a:tab pos="2792095" algn="l"/>
                <a:tab pos="4377055" algn="l"/>
                <a:tab pos="5039360" algn="l"/>
                <a:tab pos="6856730" algn="l"/>
                <a:tab pos="7773034" algn="l"/>
              </a:tabLst>
            </a:pPr>
            <a:r>
              <a:rPr dirty="0" sz="2000" b="1">
                <a:latin typeface="Malgun Gothic"/>
                <a:cs typeface="Malgun Gothic"/>
              </a:rPr>
              <a:t>개인이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사고의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발</a:t>
            </a:r>
            <a:r>
              <a:rPr dirty="0" sz="2000" spc="-15" b="1">
                <a:latin typeface="Malgun Gothic"/>
                <a:cs typeface="Malgun Gothic"/>
              </a:rPr>
              <a:t>생</a:t>
            </a:r>
            <a:r>
              <a:rPr dirty="0" sz="2000" b="1">
                <a:latin typeface="Malgun Gothic"/>
                <a:cs typeface="Malgun Gothic"/>
              </a:rPr>
              <a:t>확률</a:t>
            </a:r>
            <a:r>
              <a:rPr dirty="0" sz="2000" spc="80" b="1">
                <a:latin typeface="Malgun Gothic"/>
                <a:cs typeface="Malgun Gothic"/>
              </a:rPr>
              <a:t>(</a:t>
            </a:r>
            <a:r>
              <a:rPr dirty="0" sz="2500" spc="-805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또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피</a:t>
            </a:r>
            <a:r>
              <a:rPr dirty="0" sz="2000" b="1">
                <a:latin typeface="Malgun Gothic"/>
                <a:cs typeface="Malgun Gothic"/>
              </a:rPr>
              <a:t>해규</a:t>
            </a:r>
            <a:r>
              <a:rPr dirty="0" sz="2000" spc="-15" b="1">
                <a:latin typeface="Malgun Gothic"/>
                <a:cs typeface="Malgun Gothic"/>
              </a:rPr>
              <a:t>모</a:t>
            </a:r>
            <a:r>
              <a:rPr dirty="0" sz="2000" spc="95" b="1">
                <a:latin typeface="Malgun Gothic"/>
                <a:cs typeface="Malgun Gothic"/>
              </a:rPr>
              <a:t>(</a:t>
            </a:r>
            <a:r>
              <a:rPr dirty="0" sz="2500" spc="-960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임의로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조</a:t>
            </a:r>
            <a:r>
              <a:rPr dirty="0" sz="2000" spc="-15" b="1">
                <a:latin typeface="Malgun Gothic"/>
                <a:cs typeface="Malgun Gothic"/>
              </a:rPr>
              <a:t>작</a:t>
            </a:r>
            <a:r>
              <a:rPr dirty="0" sz="2000" b="1">
                <a:latin typeface="Malgun Gothic"/>
                <a:cs typeface="Malgun Gothic"/>
              </a:rPr>
              <a:t>할 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외생적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조건이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갖추어진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/>
          </a:p>
          <a:p>
            <a:pPr lvl="1" marL="452120" marR="5080" indent="-313690">
              <a:lnSpc>
                <a:spcPct val="133400"/>
              </a:lnSpc>
              <a:buChar char="-"/>
              <a:tabLst>
                <a:tab pos="452120" algn="l"/>
                <a:tab pos="452755" algn="l"/>
                <a:tab pos="1367155" algn="l"/>
                <a:tab pos="2282190" algn="l"/>
                <a:tab pos="3705225" algn="l"/>
                <a:tab pos="4620260" algn="l"/>
                <a:tab pos="5789295" algn="l"/>
                <a:tab pos="6958965" algn="l"/>
                <a:tab pos="7619365" algn="l"/>
                <a:tab pos="8027670" algn="l"/>
              </a:tabLst>
            </a:pPr>
            <a:r>
              <a:rPr dirty="0" sz="2000" b="1">
                <a:latin typeface="Malgun Gothic"/>
                <a:cs typeface="Malgun Gothic"/>
              </a:rPr>
              <a:t>개</a:t>
            </a:r>
            <a:r>
              <a:rPr dirty="0" sz="2000" spc="-15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고</a:t>
            </a:r>
            <a:r>
              <a:rPr dirty="0" sz="2000" b="1">
                <a:latin typeface="Malgun Gothic"/>
                <a:cs typeface="Malgun Gothic"/>
              </a:rPr>
              <a:t>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피해</a:t>
            </a:r>
            <a:r>
              <a:rPr dirty="0" sz="2000" spc="-15" b="1">
                <a:latin typeface="Malgun Gothic"/>
                <a:cs typeface="Malgun Gothic"/>
              </a:rPr>
              <a:t>규</a:t>
            </a:r>
            <a:r>
              <a:rPr dirty="0" sz="2000" b="1">
                <a:latin typeface="Malgun Gothic"/>
                <a:cs typeface="Malgun Gothic"/>
              </a:rPr>
              <a:t>모를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임</a:t>
            </a:r>
            <a:r>
              <a:rPr dirty="0" sz="2000" b="1">
                <a:latin typeface="Malgun Gothic"/>
                <a:cs typeface="Malgun Gothic"/>
              </a:rPr>
              <a:t>의로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조</a:t>
            </a:r>
            <a:r>
              <a:rPr dirty="0" sz="2000" spc="-15" b="1">
                <a:latin typeface="Malgun Gothic"/>
                <a:cs typeface="Malgun Gothic"/>
              </a:rPr>
              <a:t>작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과</a:t>
            </a:r>
            <a:r>
              <a:rPr dirty="0" sz="2000" b="1">
                <a:latin typeface="Malgun Gothic"/>
                <a:cs typeface="Malgun Gothic"/>
              </a:rPr>
              <a:t>정에서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겪</a:t>
            </a:r>
            <a:r>
              <a:rPr dirty="0" sz="2000" b="1">
                <a:latin typeface="Malgun Gothic"/>
                <a:cs typeface="Malgun Gothic"/>
              </a:rPr>
              <a:t>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피해  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그것으로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예상되는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기대이익을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초과하게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735" cy="2054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7730" marR="5080" indent="-875665">
              <a:lnSpc>
                <a:spcPct val="132900"/>
              </a:lnSpc>
              <a:spcBef>
                <a:spcPts val="100"/>
              </a:spcBef>
            </a:pPr>
            <a:r>
              <a:rPr dirty="0" sz="2000" spc="35" b="1">
                <a:latin typeface="Malgun Gothic"/>
                <a:cs typeface="Malgun Gothic"/>
              </a:rPr>
              <a:t>사례1: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비록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발생확률이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내생적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특성을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보이지만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이에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상당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심리적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비용을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수반하는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1186180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1186815" algn="l"/>
              </a:tabLst>
            </a:pPr>
            <a:r>
              <a:rPr dirty="0" sz="2000" b="1">
                <a:latin typeface="Malgun Gothic"/>
                <a:cs typeface="Malgun Gothic"/>
              </a:rPr>
              <a:t>자살</a:t>
            </a:r>
            <a:endParaRPr sz="2000">
              <a:latin typeface="Malgun Gothic"/>
              <a:cs typeface="Malgun Gothic"/>
            </a:endParaRPr>
          </a:p>
          <a:p>
            <a:pPr marL="1154430" marR="224154" indent="-254635">
              <a:lnSpc>
                <a:spcPct val="132900"/>
              </a:lnSpc>
              <a:spcBef>
                <a:spcPts val="15"/>
              </a:spcBef>
              <a:buFont typeface="Malgun Gothic"/>
              <a:buChar char="-"/>
              <a:tabLst>
                <a:tab pos="1186815" algn="l"/>
              </a:tabLst>
            </a:pPr>
            <a:r>
              <a:rPr dirty="0"/>
              <a:t>	</a:t>
            </a:r>
            <a:r>
              <a:rPr dirty="0" sz="2000" spc="-5" b="1">
                <a:latin typeface="Malgun Gothic"/>
                <a:cs typeface="Malgun Gothic"/>
              </a:rPr>
              <a:t>보험가입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1년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자살에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대해서는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보험적용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제외전략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도덕적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그다지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심각하지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않음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636" y="3949686"/>
            <a:ext cx="8549005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2969" marR="5080" indent="-890905">
              <a:lnSpc>
                <a:spcPct val="133400"/>
              </a:lnSpc>
              <a:spcBef>
                <a:spcPts val="100"/>
              </a:spcBef>
              <a:tabLst>
                <a:tab pos="902969" algn="l"/>
                <a:tab pos="1813560" algn="l"/>
                <a:tab pos="3228975" algn="l"/>
                <a:tab pos="4645025" algn="l"/>
                <a:tab pos="5553710" algn="l"/>
                <a:tab pos="6464300" algn="l"/>
                <a:tab pos="7118350" algn="l"/>
                <a:tab pos="8027670" algn="l"/>
              </a:tabLst>
            </a:pP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례</a:t>
            </a:r>
            <a:r>
              <a:rPr dirty="0" sz="2000" spc="20" b="1">
                <a:latin typeface="Malgun Gothic"/>
                <a:cs typeface="Malgun Gothic"/>
              </a:rPr>
              <a:t>2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발</a:t>
            </a:r>
            <a:r>
              <a:rPr dirty="0" sz="2000" b="1">
                <a:latin typeface="Malgun Gothic"/>
                <a:cs typeface="Malgun Gothic"/>
              </a:rPr>
              <a:t>생확</a:t>
            </a:r>
            <a:r>
              <a:rPr dirty="0" sz="2000" spc="-15" b="1">
                <a:latin typeface="Malgun Gothic"/>
                <a:cs typeface="Malgun Gothic"/>
              </a:rPr>
              <a:t>률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내</a:t>
            </a:r>
            <a:r>
              <a:rPr dirty="0" sz="2000" spc="-15" b="1">
                <a:latin typeface="Malgun Gothic"/>
                <a:cs typeface="Malgun Gothic"/>
              </a:rPr>
              <a:t>생</a:t>
            </a:r>
            <a:r>
              <a:rPr dirty="0" sz="2000" b="1">
                <a:latin typeface="Malgun Gothic"/>
                <a:cs typeface="Malgun Gothic"/>
              </a:rPr>
              <a:t>적이고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동시에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사고에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따</a:t>
            </a:r>
            <a:r>
              <a:rPr dirty="0" sz="2000" b="1">
                <a:latin typeface="Malgun Gothic"/>
                <a:cs typeface="Malgun Gothic"/>
              </a:rPr>
              <a:t>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심</a:t>
            </a:r>
            <a:r>
              <a:rPr dirty="0" sz="2000" spc="-15" b="1">
                <a:latin typeface="Malgun Gothic"/>
                <a:cs typeface="Malgun Gothic"/>
              </a:rPr>
              <a:t>리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비용  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심각하지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899794">
              <a:lnSpc>
                <a:spcPct val="100000"/>
              </a:lnSpc>
              <a:spcBef>
                <a:spcPts val="8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자동차사고보험의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가입자가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사고예방노력을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게을리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5"/>
              <a:t>사례3:</a:t>
            </a:r>
            <a:r>
              <a:rPr dirty="0" spc="300"/>
              <a:t> </a:t>
            </a:r>
            <a:r>
              <a:rPr dirty="0" spc="-5"/>
              <a:t>발생확률이</a:t>
            </a:r>
            <a:r>
              <a:rPr dirty="0" spc="285"/>
              <a:t> </a:t>
            </a:r>
            <a:r>
              <a:rPr dirty="0" spc="-5"/>
              <a:t>내생적이며</a:t>
            </a:r>
            <a:r>
              <a:rPr dirty="0" spc="285"/>
              <a:t> </a:t>
            </a:r>
            <a:r>
              <a:rPr dirty="0" spc="-5"/>
              <a:t>상당한</a:t>
            </a:r>
            <a:r>
              <a:rPr dirty="0" spc="285"/>
              <a:t> </a:t>
            </a:r>
            <a:r>
              <a:rPr dirty="0"/>
              <a:t>심리적</a:t>
            </a:r>
            <a:r>
              <a:rPr dirty="0" spc="285"/>
              <a:t> </a:t>
            </a:r>
            <a:r>
              <a:rPr dirty="0" spc="-5"/>
              <a:t>이익을</a:t>
            </a:r>
            <a:r>
              <a:rPr dirty="0" spc="290"/>
              <a:t> </a:t>
            </a:r>
            <a:r>
              <a:rPr dirty="0" spc="-5"/>
              <a:t>수반하는</a:t>
            </a:r>
            <a:r>
              <a:rPr dirty="0" spc="285"/>
              <a:t> </a:t>
            </a:r>
            <a:r>
              <a:rPr dirty="0"/>
              <a:t>사고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0" rIns="0" bIns="0" rtlCol="0" vert="horz">
            <a:spAutoFit/>
          </a:bodyPr>
          <a:lstStyle/>
          <a:p>
            <a:pPr algn="just" marL="1186180" indent="-287020">
              <a:lnSpc>
                <a:spcPct val="100000"/>
              </a:lnSpc>
              <a:spcBef>
                <a:spcPts val="900"/>
              </a:spcBef>
              <a:buChar char="-"/>
              <a:tabLst>
                <a:tab pos="1186815" algn="l"/>
              </a:tabLst>
            </a:pPr>
            <a:r>
              <a:rPr dirty="0" spc="-5"/>
              <a:t>자발적</a:t>
            </a:r>
            <a:r>
              <a:rPr dirty="0" spc="275"/>
              <a:t> </a:t>
            </a:r>
            <a:r>
              <a:rPr dirty="0" spc="20"/>
              <a:t>임신,</a:t>
            </a:r>
            <a:r>
              <a:rPr dirty="0" spc="275"/>
              <a:t> </a:t>
            </a:r>
            <a:r>
              <a:rPr dirty="0" spc="-5"/>
              <a:t>고가의</a:t>
            </a:r>
            <a:r>
              <a:rPr dirty="0" spc="280"/>
              <a:t> </a:t>
            </a:r>
            <a:r>
              <a:rPr dirty="0" spc="-5"/>
              <a:t>선택적</a:t>
            </a:r>
            <a:r>
              <a:rPr dirty="0" spc="275"/>
              <a:t> </a:t>
            </a:r>
            <a:r>
              <a:rPr dirty="0" spc="10"/>
              <a:t>의료(모발이식,</a:t>
            </a:r>
            <a:r>
              <a:rPr dirty="0" spc="280"/>
              <a:t> </a:t>
            </a:r>
            <a:r>
              <a:rPr dirty="0" spc="5"/>
              <a:t>성형수술)</a:t>
            </a:r>
          </a:p>
          <a:p>
            <a:pPr algn="just" marL="1191895" marR="5080" indent="-292735">
              <a:lnSpc>
                <a:spcPct val="133200"/>
              </a:lnSpc>
              <a:spcBef>
                <a:spcPts val="5"/>
              </a:spcBef>
              <a:buChar char="-"/>
              <a:tabLst>
                <a:tab pos="1192530" algn="l"/>
              </a:tabLst>
            </a:pPr>
            <a:r>
              <a:rPr dirty="0" spc="-10"/>
              <a:t>아주</a:t>
            </a:r>
            <a:r>
              <a:rPr dirty="0" spc="325"/>
              <a:t> </a:t>
            </a:r>
            <a:r>
              <a:rPr dirty="0"/>
              <a:t>적은</a:t>
            </a:r>
            <a:r>
              <a:rPr dirty="0" spc="320"/>
              <a:t> </a:t>
            </a:r>
            <a:r>
              <a:rPr dirty="0" spc="-5"/>
              <a:t>비용으로</a:t>
            </a:r>
            <a:r>
              <a:rPr dirty="0" spc="330"/>
              <a:t> </a:t>
            </a:r>
            <a:r>
              <a:rPr dirty="0" spc="-5"/>
              <a:t>발생확률을</a:t>
            </a:r>
            <a:r>
              <a:rPr dirty="0" spc="330"/>
              <a:t> </a:t>
            </a:r>
            <a:r>
              <a:rPr dirty="0" spc="15"/>
              <a:t>조절,</a:t>
            </a:r>
            <a:r>
              <a:rPr dirty="0" spc="335"/>
              <a:t> </a:t>
            </a:r>
            <a:r>
              <a:rPr dirty="0" spc="-5"/>
              <a:t>보험회사의</a:t>
            </a:r>
            <a:r>
              <a:rPr dirty="0" spc="320"/>
              <a:t> </a:t>
            </a:r>
            <a:r>
              <a:rPr dirty="0"/>
              <a:t>경우</a:t>
            </a:r>
            <a:r>
              <a:rPr dirty="0" spc="320"/>
              <a:t> </a:t>
            </a:r>
            <a:r>
              <a:rPr dirty="0"/>
              <a:t>예상손 </a:t>
            </a:r>
            <a:r>
              <a:rPr dirty="0" spc="-690"/>
              <a:t> </a:t>
            </a:r>
            <a:r>
              <a:rPr dirty="0"/>
              <a:t>실 </a:t>
            </a:r>
            <a:r>
              <a:rPr dirty="0" spc="-10"/>
              <a:t>추정</a:t>
            </a:r>
            <a:r>
              <a:rPr dirty="0" spc="680"/>
              <a:t> </a:t>
            </a:r>
            <a:r>
              <a:rPr dirty="0"/>
              <a:t>및 </a:t>
            </a:r>
            <a:r>
              <a:rPr dirty="0" spc="-5"/>
              <a:t>보험료 </a:t>
            </a:r>
            <a:r>
              <a:rPr dirty="0"/>
              <a:t>수준의 </a:t>
            </a:r>
            <a:r>
              <a:rPr dirty="0" spc="-5"/>
              <a:t>산정이 </a:t>
            </a:r>
            <a:r>
              <a:rPr dirty="0"/>
              <a:t>어려움 </a:t>
            </a:r>
            <a:r>
              <a:rPr dirty="0" spc="785" b="0">
                <a:latin typeface="Cambria"/>
                <a:cs typeface="Cambria"/>
              </a:rPr>
              <a:t>⟹</a:t>
            </a:r>
            <a:r>
              <a:rPr dirty="0" spc="785"/>
              <a:t>보험의 </a:t>
            </a:r>
            <a:r>
              <a:rPr dirty="0" spc="-145"/>
              <a:t>성립이 </a:t>
            </a:r>
            <a:r>
              <a:rPr dirty="0" spc="-140"/>
              <a:t> </a:t>
            </a:r>
            <a:r>
              <a:rPr dirty="0"/>
              <a:t>불</a:t>
            </a:r>
            <a:r>
              <a:rPr dirty="0" spc="-5"/>
              <a:t> </a:t>
            </a:r>
            <a:r>
              <a:rPr dirty="0" spc="-10"/>
              <a:t>가능</a:t>
            </a:r>
          </a:p>
          <a:p>
            <a:pPr algn="just" marL="1186180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1186815" algn="l"/>
              </a:tabLst>
            </a:pPr>
            <a:r>
              <a:rPr dirty="0" spc="-5"/>
              <a:t>강제적으로</a:t>
            </a:r>
            <a:r>
              <a:rPr dirty="0" spc="275"/>
              <a:t> </a:t>
            </a:r>
            <a:r>
              <a:rPr dirty="0" spc="-5"/>
              <a:t>운영될</a:t>
            </a:r>
            <a:r>
              <a:rPr dirty="0" spc="280"/>
              <a:t> </a:t>
            </a:r>
            <a:r>
              <a:rPr dirty="0"/>
              <a:t>경우</a:t>
            </a:r>
            <a:r>
              <a:rPr dirty="0" spc="280"/>
              <a:t> </a:t>
            </a:r>
            <a:r>
              <a:rPr dirty="0" spc="-5"/>
              <a:t>문제해결</a:t>
            </a:r>
            <a:r>
              <a:rPr dirty="0" spc="280"/>
              <a:t> </a:t>
            </a:r>
            <a:r>
              <a:rPr dirty="0" spc="-10"/>
              <a:t>가능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1650"/>
          </a:p>
          <a:p>
            <a:pPr algn="just" marL="904240" marR="5080" indent="-892175">
              <a:lnSpc>
                <a:spcPct val="128800"/>
              </a:lnSpc>
            </a:pPr>
            <a:r>
              <a:rPr dirty="0" spc="35"/>
              <a:t>사례4: </a:t>
            </a:r>
            <a:r>
              <a:rPr dirty="0" spc="-110"/>
              <a:t>피해규모(</a:t>
            </a:r>
            <a:r>
              <a:rPr dirty="0" sz="2500" spc="-110" b="0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spc="-110"/>
              <a:t>)가</a:t>
            </a:r>
            <a:r>
              <a:rPr dirty="0" spc="-105"/>
              <a:t> </a:t>
            </a:r>
            <a:r>
              <a:rPr dirty="0" spc="-5"/>
              <a:t>내생적인 사고로서 </a:t>
            </a:r>
            <a:r>
              <a:rPr dirty="0"/>
              <a:t>개인적 </a:t>
            </a:r>
            <a:r>
              <a:rPr dirty="0" spc="-5"/>
              <a:t>차원에서 부담해야 </a:t>
            </a:r>
            <a:r>
              <a:rPr dirty="0"/>
              <a:t>할 </a:t>
            </a:r>
            <a:r>
              <a:rPr dirty="0" spc="5"/>
              <a:t> </a:t>
            </a:r>
            <a:r>
              <a:rPr dirty="0" spc="-5"/>
              <a:t>비용이 경미하거나 </a:t>
            </a:r>
            <a:r>
              <a:rPr dirty="0"/>
              <a:t>전혀 </a:t>
            </a:r>
            <a:r>
              <a:rPr dirty="0" spc="-10"/>
              <a:t>없게 </a:t>
            </a:r>
            <a:r>
              <a:rPr dirty="0"/>
              <a:t>될 경우 </a:t>
            </a:r>
            <a:r>
              <a:rPr dirty="0" spc="420"/>
              <a:t>- </a:t>
            </a:r>
            <a:r>
              <a:rPr dirty="0" spc="-10"/>
              <a:t>소위 </a:t>
            </a:r>
            <a:r>
              <a:rPr dirty="0" spc="5"/>
              <a:t>제3자 </a:t>
            </a:r>
            <a:r>
              <a:rPr dirty="0" spc="-5"/>
              <a:t>지불방식 </a:t>
            </a:r>
            <a:r>
              <a:rPr dirty="0"/>
              <a:t> </a:t>
            </a:r>
            <a:r>
              <a:rPr dirty="0" spc="25"/>
              <a:t>(third-party-payment)의</a:t>
            </a:r>
            <a:r>
              <a:rPr dirty="0" spc="285"/>
              <a:t> </a:t>
            </a:r>
            <a:r>
              <a:rPr dirty="0" spc="-5"/>
              <a:t>문제점</a:t>
            </a:r>
            <a:endParaRPr sz="2500">
              <a:latin typeface="Arial"/>
              <a:cs typeface="Arial"/>
            </a:endParaRPr>
          </a:p>
          <a:p>
            <a:pPr marL="1186180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1186815" algn="l"/>
              </a:tabLst>
            </a:pPr>
            <a:r>
              <a:rPr dirty="0" spc="-5"/>
              <a:t>본인부담</a:t>
            </a:r>
            <a:r>
              <a:rPr dirty="0" spc="260"/>
              <a:t> </a:t>
            </a:r>
            <a:r>
              <a:rPr dirty="0"/>
              <a:t>없는</a:t>
            </a:r>
            <a:r>
              <a:rPr dirty="0" spc="265"/>
              <a:t> </a:t>
            </a:r>
            <a:r>
              <a:rPr dirty="0" spc="-5"/>
              <a:t>의료보험</a:t>
            </a:r>
          </a:p>
          <a:p>
            <a:pPr marL="1186180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1186815" algn="l"/>
              </a:tabLst>
            </a:pPr>
            <a:r>
              <a:rPr dirty="0" spc="-5"/>
              <a:t>개인적</a:t>
            </a:r>
            <a:r>
              <a:rPr dirty="0" spc="280"/>
              <a:t> </a:t>
            </a:r>
            <a:r>
              <a:rPr dirty="0"/>
              <a:t>비용과</a:t>
            </a:r>
            <a:r>
              <a:rPr dirty="0" spc="280"/>
              <a:t> </a:t>
            </a:r>
            <a:r>
              <a:rPr dirty="0" spc="-5"/>
              <a:t>사회적</a:t>
            </a:r>
            <a:r>
              <a:rPr dirty="0" spc="280"/>
              <a:t> </a:t>
            </a:r>
            <a:r>
              <a:rPr dirty="0" spc="-5"/>
              <a:t>비용의</a:t>
            </a:r>
            <a:r>
              <a:rPr dirty="0" spc="280"/>
              <a:t> </a:t>
            </a:r>
            <a:r>
              <a:rPr dirty="0"/>
              <a:t>괴리로</a:t>
            </a:r>
            <a:r>
              <a:rPr dirty="0" spc="280"/>
              <a:t> </a:t>
            </a:r>
            <a:r>
              <a:rPr dirty="0" spc="-5"/>
              <a:t>의료소비가</a:t>
            </a:r>
            <a:r>
              <a:rPr dirty="0" spc="280"/>
              <a:t> </a:t>
            </a:r>
            <a:r>
              <a:rPr dirty="0"/>
              <a:t>팽창</a:t>
            </a:r>
          </a:p>
          <a:p>
            <a:pPr marL="1186180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1186815" algn="l"/>
              </a:tabLst>
            </a:pPr>
            <a:r>
              <a:rPr dirty="0" spc="-5"/>
              <a:t>의료보험료의</a:t>
            </a:r>
            <a:r>
              <a:rPr dirty="0" spc="265"/>
              <a:t> </a:t>
            </a:r>
            <a:r>
              <a:rPr dirty="0"/>
              <a:t>과도한</a:t>
            </a:r>
            <a:r>
              <a:rPr dirty="0" spc="270"/>
              <a:t> </a:t>
            </a:r>
            <a:r>
              <a:rPr dirty="0" spc="-5"/>
              <a:t>인상을</a:t>
            </a:r>
            <a:r>
              <a:rPr dirty="0" spc="270"/>
              <a:t> </a:t>
            </a:r>
            <a:r>
              <a:rPr dirty="0"/>
              <a:t>초래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7735" cy="520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도덕적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해이는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과다소비의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초래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30" b="1">
                <a:latin typeface="Malgun Gothic"/>
                <a:cs typeface="Malgun Gothic"/>
              </a:rPr>
              <a:t>(2)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대책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규제의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형태로서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조사(inspection)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10" b="1">
                <a:latin typeface="Malgun Gothic"/>
                <a:cs typeface="Malgun Gothic"/>
              </a:rPr>
              <a:t>유인(incentive)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lvl="1" marL="434340" indent="-309245">
              <a:lnSpc>
                <a:spcPct val="100000"/>
              </a:lnSpc>
              <a:buChar char="-"/>
              <a:tabLst>
                <a:tab pos="421005" algn="l"/>
                <a:tab pos="434975" algn="l"/>
                <a:tab pos="3954779" algn="l"/>
                <a:tab pos="4175125" algn="l"/>
                <a:tab pos="5071745" algn="l"/>
                <a:tab pos="6475730" algn="l"/>
                <a:tab pos="7118350" algn="l"/>
                <a:tab pos="8267700" algn="l"/>
              </a:tabLst>
            </a:pPr>
            <a:r>
              <a:rPr dirty="0" sz="2000" spc="25" b="1">
                <a:latin typeface="Malgun Gothic"/>
                <a:cs typeface="Malgun Gothic"/>
              </a:rPr>
              <a:t>경험요율(experience</a:t>
            </a:r>
            <a:r>
              <a:rPr dirty="0" sz="2000" spc="515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rating)	</a:t>
            </a:r>
            <a:r>
              <a:rPr dirty="0" sz="2000" spc="140" b="1">
                <a:latin typeface="Malgun Gothic"/>
                <a:cs typeface="Malgun Gothic"/>
              </a:rPr>
              <a:t>:	</a:t>
            </a:r>
            <a:r>
              <a:rPr dirty="0" sz="2000" spc="-5" b="1">
                <a:latin typeface="Malgun Gothic"/>
                <a:cs typeface="Malgun Gothic"/>
              </a:rPr>
              <a:t>사고의	발생비율에	</a:t>
            </a:r>
            <a:r>
              <a:rPr dirty="0" sz="2000" spc="-10" b="1">
                <a:latin typeface="Malgun Gothic"/>
                <a:cs typeface="Malgun Gothic"/>
              </a:rPr>
              <a:t>따라	</a:t>
            </a:r>
            <a:r>
              <a:rPr dirty="0" sz="2000" spc="-5" b="1">
                <a:latin typeface="Malgun Gothic"/>
                <a:cs typeface="Malgun Gothic"/>
              </a:rPr>
              <a:t>보험료를	</a:t>
            </a:r>
            <a:r>
              <a:rPr dirty="0" sz="2000" b="1">
                <a:latin typeface="Malgun Gothic"/>
                <a:cs typeface="Malgun Gothic"/>
              </a:rPr>
              <a:t>차</a:t>
            </a:r>
            <a:endParaRPr sz="2000">
              <a:latin typeface="Malgun Gothic"/>
              <a:cs typeface="Malgun Gothic"/>
            </a:endParaRPr>
          </a:p>
          <a:p>
            <a:pPr algn="ctr" marL="590550">
              <a:lnSpc>
                <a:spcPct val="100000"/>
              </a:lnSpc>
              <a:spcBef>
                <a:spcPts val="800"/>
              </a:spcBef>
            </a:pPr>
            <a:r>
              <a:rPr dirty="0" sz="2000" spc="-5" b="1">
                <a:latin typeface="Malgun Gothic"/>
                <a:cs typeface="Malgun Gothic"/>
              </a:rPr>
              <a:t>등적용</a:t>
            </a:r>
            <a:endParaRPr sz="2000">
              <a:latin typeface="Malgun Gothic"/>
              <a:cs typeface="Malgun Gothic"/>
            </a:endParaRPr>
          </a:p>
          <a:p>
            <a:pPr lvl="1" marL="464820" indent="-339725">
              <a:lnSpc>
                <a:spcPct val="100000"/>
              </a:lnSpc>
              <a:spcBef>
                <a:spcPts val="790"/>
              </a:spcBef>
              <a:buChar char="-"/>
              <a:tabLst>
                <a:tab pos="451484" algn="l"/>
                <a:tab pos="465455" algn="l"/>
                <a:tab pos="3208655" algn="l"/>
                <a:tab pos="3460115" algn="l"/>
                <a:tab pos="4134485" algn="l"/>
                <a:tab pos="4808855" algn="l"/>
                <a:tab pos="5230495" algn="l"/>
                <a:tab pos="6157595" algn="l"/>
                <a:tab pos="6831965" algn="l"/>
                <a:tab pos="7760334" algn="l"/>
              </a:tabLst>
            </a:pPr>
            <a:r>
              <a:rPr dirty="0" sz="2000" spc="-5" b="1">
                <a:latin typeface="Malgun Gothic"/>
                <a:cs typeface="Malgun Gothic"/>
              </a:rPr>
              <a:t>기초공제(deductibles)	</a:t>
            </a:r>
            <a:r>
              <a:rPr dirty="0" sz="2000" spc="140" b="1">
                <a:latin typeface="Malgun Gothic"/>
                <a:cs typeface="Malgun Gothic"/>
              </a:rPr>
              <a:t>:	</a:t>
            </a:r>
            <a:r>
              <a:rPr dirty="0" sz="2000" b="1">
                <a:latin typeface="Malgun Gothic"/>
                <a:cs typeface="Malgun Gothic"/>
              </a:rPr>
              <a:t>피해	금액	중	</a:t>
            </a:r>
            <a:r>
              <a:rPr dirty="0" sz="2000" spc="-5" b="1">
                <a:latin typeface="Malgun Gothic"/>
                <a:cs typeface="Malgun Gothic"/>
              </a:rPr>
              <a:t>처음의	</a:t>
            </a:r>
            <a:r>
              <a:rPr dirty="0" sz="2000" b="1">
                <a:latin typeface="Malgun Gothic"/>
                <a:cs typeface="Malgun Gothic"/>
              </a:rPr>
              <a:t>일정	부분을	</a:t>
            </a:r>
            <a:r>
              <a:rPr dirty="0" sz="2000" spc="-5" b="1">
                <a:latin typeface="Malgun Gothic"/>
                <a:cs typeface="Malgun Gothic"/>
              </a:rPr>
              <a:t>가입자</a:t>
            </a:r>
            <a:endParaRPr sz="2000">
              <a:latin typeface="Malgun Gothic"/>
              <a:cs typeface="Malgun Gothic"/>
            </a:endParaRPr>
          </a:p>
          <a:p>
            <a:pPr algn="ctr" marR="368300">
              <a:lnSpc>
                <a:spcPct val="100000"/>
              </a:lnSpc>
              <a:spcBef>
                <a:spcPts val="805"/>
              </a:spcBef>
            </a:pPr>
            <a:r>
              <a:rPr dirty="0" sz="2000" b="1">
                <a:latin typeface="Malgun Gothic"/>
                <a:cs typeface="Malgun Gothic"/>
              </a:rPr>
              <a:t>본인이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부담</a:t>
            </a:r>
            <a:endParaRPr sz="2000">
              <a:latin typeface="Malgun Gothic"/>
              <a:cs typeface="Malgun Gothic"/>
            </a:endParaRPr>
          </a:p>
          <a:p>
            <a:pPr lvl="1" marL="424815" marR="534035" indent="-42545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10" b="1">
                <a:latin typeface="Malgun Gothic"/>
                <a:cs typeface="Malgun Gothic"/>
              </a:rPr>
              <a:t>공동부담(coinsurance)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피해액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중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일정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비율은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가입자가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부담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508317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"/>
              <a:t>제4절</a:t>
            </a:r>
            <a:r>
              <a:rPr dirty="0" spc="280"/>
              <a:t> </a:t>
            </a:r>
            <a:r>
              <a:rPr dirty="0"/>
              <a:t>전체</a:t>
            </a:r>
            <a:r>
              <a:rPr dirty="0" spc="280"/>
              <a:t> </a:t>
            </a:r>
            <a:r>
              <a:rPr dirty="0" spc="20"/>
              <a:t>보험시장:</a:t>
            </a:r>
            <a:r>
              <a:rPr dirty="0" spc="290"/>
              <a:t> </a:t>
            </a:r>
            <a:r>
              <a:rPr dirty="0" spc="-5"/>
              <a:t>민영보험과</a:t>
            </a:r>
            <a:r>
              <a:rPr dirty="0" spc="280"/>
              <a:t> </a:t>
            </a:r>
            <a:r>
              <a:rPr dirty="0" spc="-5"/>
              <a:t>사회보험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1236" y="2020737"/>
            <a:ext cx="6556375" cy="369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민영보험시장의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성립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요건과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효율성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38100">
              <a:lnSpc>
                <a:spcPct val="100000"/>
              </a:lnSpc>
            </a:pPr>
            <a:r>
              <a:rPr dirty="0" sz="2000" spc="30" b="1">
                <a:solidFill>
                  <a:srgbClr val="0000FF"/>
                </a:solidFill>
                <a:latin typeface="Malgun Gothic"/>
                <a:cs typeface="Malgun Gothic"/>
              </a:rPr>
              <a:t>1)</a:t>
            </a:r>
            <a:r>
              <a:rPr dirty="0" sz="2000" spc="27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민영보험시장의</a:t>
            </a:r>
            <a:r>
              <a:rPr dirty="0" sz="2000" spc="27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성립</a:t>
            </a:r>
            <a:r>
              <a:rPr dirty="0" sz="2000" spc="27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요건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Malgun Gothic"/>
              <a:cs typeface="Malgun Gothic"/>
            </a:endParaRPr>
          </a:p>
          <a:p>
            <a:pPr marL="38100">
              <a:lnSpc>
                <a:spcPct val="100000"/>
              </a:lnSpc>
            </a:pPr>
            <a:r>
              <a:rPr dirty="0" sz="2000" b="1">
                <a:latin typeface="Malgun Gothic"/>
                <a:cs typeface="Malgun Gothic"/>
              </a:rPr>
              <a:t>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수요가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존재해야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350">
              <a:latin typeface="Malgun Gothic"/>
              <a:cs typeface="Malgun Gothic"/>
            </a:endParaRPr>
          </a:p>
          <a:p>
            <a:pPr algn="ctr" marL="2035810">
              <a:lnSpc>
                <a:spcPct val="100000"/>
              </a:lnSpc>
              <a:tabLst>
                <a:tab pos="3818254" algn="l"/>
              </a:tabLst>
            </a:pP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확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실성의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500" spc="-705" i="1">
                <a:solidFill>
                  <a:srgbClr val="0000FF"/>
                </a:solidFill>
                <a:latin typeface="Arial"/>
                <a:cs typeface="Arial"/>
              </a:rPr>
              <a:t></a:t>
            </a:r>
            <a:r>
              <a:rPr dirty="0" sz="2500" spc="-19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baseline="3472" sz="3600" spc="-81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3472" sz="3600" spc="-1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13888" sz="3600" spc="-3607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sz="2400" spc="-1085">
                <a:solidFill>
                  <a:srgbClr val="0000FF"/>
                </a:solidFill>
                <a:latin typeface="Microsoft Sans Serif"/>
                <a:cs typeface="Microsoft Sans Serif"/>
              </a:rPr>
              <a:t></a:t>
            </a:r>
            <a:r>
              <a:rPr dirty="0" baseline="3472" sz="3600" spc="-885">
                <a:solidFill>
                  <a:srgbClr val="0000FF"/>
                </a:solidFill>
                <a:latin typeface="Microsoft Sans Serif"/>
                <a:cs typeface="Microsoft Sans Serif"/>
              </a:rPr>
              <a:t>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</a:t>
            </a:r>
            <a:r>
              <a:rPr dirty="0" baseline="39930" sz="2400" spc="-1177">
                <a:solidFill>
                  <a:srgbClr val="0000FF"/>
                </a:solidFill>
                <a:latin typeface="Microsoft Sans Serif"/>
                <a:cs typeface="Microsoft Sans Serif"/>
              </a:rPr>
              <a:t></a:t>
            </a:r>
            <a:r>
              <a:rPr dirty="0" baseline="39930" sz="240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9930" sz="2400" spc="-179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-569">
                <a:solidFill>
                  <a:srgbClr val="0000FF"/>
                </a:solidFill>
                <a:latin typeface="Microsoft Sans Serif"/>
                <a:cs typeface="Microsoft Sans Serif"/>
              </a:rPr>
              <a:t></a:t>
            </a:r>
            <a:r>
              <a:rPr dirty="0" baseline="3472" sz="3600" spc="24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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Microsoft Sans Serif"/>
              <a:cs typeface="Microsoft Sans Serif"/>
            </a:endParaRPr>
          </a:p>
          <a:p>
            <a:pPr algn="ctr" marL="2043430">
              <a:lnSpc>
                <a:spcPct val="100000"/>
              </a:lnSpc>
            </a:pPr>
            <a:r>
              <a:rPr dirty="0" sz="2000" spc="30" b="1">
                <a:latin typeface="Malgun Gothic"/>
                <a:cs typeface="Malgun Gothic"/>
              </a:rPr>
              <a:t>즉,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위험회피적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성향을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갖는다.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58089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②</a:t>
            </a:r>
            <a:r>
              <a:rPr dirty="0" spc="280"/>
              <a:t> </a:t>
            </a:r>
            <a:r>
              <a:rPr dirty="0" spc="-5"/>
              <a:t>보험상품의</a:t>
            </a:r>
            <a:r>
              <a:rPr dirty="0" spc="285"/>
              <a:t> </a:t>
            </a:r>
            <a:r>
              <a:rPr dirty="0" spc="-5"/>
              <a:t>생산이</a:t>
            </a:r>
            <a:r>
              <a:rPr dirty="0" spc="280"/>
              <a:t> </a:t>
            </a:r>
            <a:r>
              <a:rPr dirty="0" spc="-5"/>
              <a:t>기술적으로</a:t>
            </a:r>
            <a:r>
              <a:rPr dirty="0" spc="285"/>
              <a:t> </a:t>
            </a:r>
            <a:r>
              <a:rPr dirty="0" spc="-5"/>
              <a:t>가능해야</a:t>
            </a:r>
            <a:r>
              <a:rPr dirty="0" spc="280"/>
              <a:t> </a:t>
            </a:r>
            <a:r>
              <a:rPr dirty="0" spc="15"/>
              <a:t>한다.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1236" y="2020737"/>
            <a:ext cx="8599805" cy="38627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1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민영보험의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성립을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제약하는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어떠한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존재하지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않아야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433705" marR="30480" indent="-396240">
              <a:lnSpc>
                <a:spcPct val="133400"/>
              </a:lnSpc>
              <a:tabLst>
                <a:tab pos="433705" algn="l"/>
                <a:tab pos="1590675" algn="l"/>
                <a:tab pos="2493010" algn="l"/>
                <a:tab pos="3395979" algn="l"/>
                <a:tab pos="4046220" algn="l"/>
                <a:tab pos="4948555" algn="l"/>
                <a:tab pos="6105525" algn="l"/>
                <a:tab pos="7008495" algn="l"/>
                <a:tab pos="7911465" algn="l"/>
                <a:tab pos="8307070" algn="l"/>
              </a:tabLst>
            </a:pPr>
            <a:r>
              <a:rPr dirty="0" sz="2000" b="1">
                <a:latin typeface="Malgun Gothic"/>
                <a:cs typeface="Malgun Gothic"/>
              </a:rPr>
              <a:t>③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-15" b="1">
                <a:latin typeface="Malgun Gothic"/>
                <a:cs typeface="Malgun Gothic"/>
              </a:rPr>
              <a:t>요</a:t>
            </a:r>
            <a:r>
              <a:rPr dirty="0" sz="2000" b="1">
                <a:latin typeface="Malgun Gothic"/>
                <a:cs typeface="Malgun Gothic"/>
              </a:rPr>
              <a:t>자가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지</a:t>
            </a:r>
            <a:r>
              <a:rPr dirty="0" sz="2000" b="1">
                <a:latin typeface="Malgun Gothic"/>
                <a:cs typeface="Malgun Gothic"/>
              </a:rPr>
              <a:t>불할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용</a:t>
            </a:r>
            <a:r>
              <a:rPr dirty="0" sz="2000" spc="-15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격에서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공될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  </a:t>
            </a:r>
            <a:r>
              <a:rPr dirty="0" sz="2000" b="1">
                <a:latin typeface="Malgun Gothic"/>
                <a:cs typeface="Malgun Gothic"/>
              </a:rPr>
              <a:t>어야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350">
              <a:latin typeface="Malgun Gothic"/>
              <a:cs typeface="Malgun Gothic"/>
            </a:endParaRPr>
          </a:p>
          <a:p>
            <a:pPr marL="274955">
              <a:lnSpc>
                <a:spcPct val="100000"/>
              </a:lnSpc>
            </a:pP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-15" b="1">
                <a:latin typeface="Malgun Gothic"/>
                <a:cs typeface="Malgun Gothic"/>
              </a:rPr>
              <a:t>요</a:t>
            </a:r>
            <a:r>
              <a:rPr dirty="0" sz="2000" b="1">
                <a:latin typeface="Malgun Gothic"/>
                <a:cs typeface="Malgun Gothic"/>
              </a:rPr>
              <a:t>가격</a:t>
            </a:r>
            <a:r>
              <a:rPr dirty="0" sz="2000" spc="20" b="1">
                <a:latin typeface="Malgun Gothic"/>
                <a:cs typeface="Malgun Gothic"/>
              </a:rPr>
              <a:t>(</a:t>
            </a:r>
            <a:r>
              <a:rPr dirty="0" sz="2000" b="1">
                <a:latin typeface="Malgun Gothic"/>
                <a:cs typeface="Malgun Gothic"/>
              </a:rPr>
              <a:t>확실</a:t>
            </a:r>
            <a:r>
              <a:rPr dirty="0" sz="2000" spc="-15" b="1">
                <a:latin typeface="Malgun Gothic"/>
                <a:cs typeface="Malgun Gothic"/>
              </a:rPr>
              <a:t>성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가격</a:t>
            </a:r>
            <a:r>
              <a:rPr dirty="0" sz="2000" spc="80" b="1">
                <a:latin typeface="Malgun Gothic"/>
                <a:cs typeface="Malgun Gothic"/>
              </a:rPr>
              <a:t>)</a:t>
            </a:r>
            <a:r>
              <a:rPr dirty="0" sz="2500" spc="-705" i="1">
                <a:solidFill>
                  <a:srgbClr val="0000FF"/>
                </a:solidFill>
                <a:latin typeface="Arial"/>
                <a:cs typeface="Arial"/>
              </a:rPr>
              <a:t></a:t>
            </a:r>
            <a:r>
              <a:rPr dirty="0" sz="2500" spc="-19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baseline="3472" sz="3600" spc="-81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3472" sz="3600" spc="-1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405">
                <a:solidFill>
                  <a:srgbClr val="0000FF"/>
                </a:solidFill>
                <a:latin typeface="Microsoft Sans Serif"/>
                <a:cs typeface="Microsoft Sans Serif"/>
              </a:rPr>
              <a:t></a:t>
            </a:r>
            <a:r>
              <a:rPr dirty="0" baseline="13888" sz="3600" spc="-1635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3472" sz="3600" spc="-885">
                <a:solidFill>
                  <a:srgbClr val="0000FF"/>
                </a:solidFill>
                <a:latin typeface="Microsoft Sans Serif"/>
                <a:cs typeface="Microsoft Sans Serif"/>
              </a:rPr>
              <a:t>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</a:t>
            </a:r>
            <a:r>
              <a:rPr dirty="0" baseline="38194" sz="2400" spc="-1177">
                <a:solidFill>
                  <a:srgbClr val="0000FF"/>
                </a:solidFill>
                <a:latin typeface="Microsoft Sans Serif"/>
                <a:cs typeface="Microsoft Sans Serif"/>
              </a:rPr>
              <a:t></a:t>
            </a:r>
            <a:r>
              <a:rPr dirty="0" baseline="38194" sz="240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8194" sz="2400" spc="-179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994">
                <a:solidFill>
                  <a:srgbClr val="0000FF"/>
                </a:solidFill>
                <a:latin typeface="Microsoft Sans Serif"/>
                <a:cs typeface="Microsoft Sans Serif"/>
              </a:rPr>
              <a:t>≥</a:t>
            </a:r>
            <a:r>
              <a:rPr dirty="0" sz="2400" spc="16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915">
                <a:solidFill>
                  <a:srgbClr val="0000FF"/>
                </a:solidFill>
                <a:latin typeface="Microsoft Sans Serif"/>
                <a:cs typeface="Microsoft Sans Serif"/>
              </a:rPr>
              <a:t></a:t>
            </a:r>
            <a:r>
              <a:rPr dirty="0" sz="2000" spc="-15" b="1">
                <a:latin typeface="Malgun Gothic"/>
                <a:cs typeface="Malgun Gothic"/>
              </a:rPr>
              <a:t>순</a:t>
            </a:r>
            <a:r>
              <a:rPr dirty="0" sz="2000" b="1">
                <a:latin typeface="Malgun Gothic"/>
                <a:cs typeface="Malgun Gothic"/>
              </a:rPr>
              <a:t>공급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격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-15" b="1">
                <a:latin typeface="Malgun Gothic"/>
                <a:cs typeface="Malgun Gothic"/>
              </a:rPr>
              <a:t>순</a:t>
            </a:r>
            <a:r>
              <a:rPr dirty="0" sz="2000" b="1">
                <a:latin typeface="Malgun Gothic"/>
                <a:cs typeface="Malgun Gothic"/>
              </a:rPr>
              <a:t>보험</a:t>
            </a:r>
            <a:r>
              <a:rPr dirty="0" sz="2000" spc="-15" b="1">
                <a:latin typeface="Malgun Gothic"/>
                <a:cs typeface="Malgun Gothic"/>
              </a:rPr>
              <a:t>료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endParaRPr sz="20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2400" spc="-975">
                <a:solidFill>
                  <a:srgbClr val="0000FF"/>
                </a:solidFill>
                <a:latin typeface="Microsoft Sans Serif"/>
                <a:cs typeface="Microsoft Sans Serif"/>
              </a:rPr>
              <a:t></a:t>
            </a:r>
            <a:r>
              <a:rPr dirty="0" sz="2400" spc="-15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-81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3472" sz="3600" spc="-172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35">
                <a:solidFill>
                  <a:srgbClr val="0000FF"/>
                </a:solidFill>
                <a:latin typeface="Microsoft Sans Serif"/>
                <a:cs typeface="Microsoft Sans Serif"/>
              </a:rPr>
              <a:t></a:t>
            </a:r>
            <a:r>
              <a:rPr dirty="0" sz="2400" spc="-33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-885">
                <a:solidFill>
                  <a:srgbClr val="0000FF"/>
                </a:solidFill>
                <a:latin typeface="Microsoft Sans Serif"/>
                <a:cs typeface="Microsoft Sans Serif"/>
              </a:rPr>
              <a:t>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</a:t>
            </a:r>
            <a:r>
              <a:rPr dirty="0" sz="2500" spc="-950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sz="2000" spc="20" b="1">
                <a:latin typeface="Malgun Gothic"/>
                <a:cs typeface="Malgun Gothic"/>
              </a:rPr>
              <a:t>(</a:t>
            </a:r>
            <a:r>
              <a:rPr dirty="0" sz="2000" b="1">
                <a:latin typeface="Malgun Gothic"/>
                <a:cs typeface="Malgun Gothic"/>
              </a:rPr>
              <a:t>총보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료</a:t>
            </a:r>
            <a:r>
              <a:rPr dirty="0" sz="2000" spc="415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기대</a:t>
            </a:r>
            <a:r>
              <a:rPr dirty="0" sz="2000" spc="-15" b="1">
                <a:latin typeface="Malgun Gothic"/>
                <a:cs typeface="Malgun Gothic"/>
              </a:rPr>
              <a:t>급</a:t>
            </a:r>
            <a:r>
              <a:rPr dirty="0" sz="2000" b="1">
                <a:latin typeface="Malgun Gothic"/>
                <a:cs typeface="Malgun Gothic"/>
              </a:rPr>
              <a:t>여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spc="-135" b="1">
                <a:latin typeface="Malgun Gothic"/>
                <a:cs typeface="Malgun Gothic"/>
              </a:rPr>
              <a:t>=</a:t>
            </a:r>
            <a:r>
              <a:rPr dirty="0" sz="2400" spc="-910">
                <a:solidFill>
                  <a:srgbClr val="0000FF"/>
                </a:solidFill>
                <a:latin typeface="Microsoft Sans Serif"/>
                <a:cs typeface="Microsoft Sans Serif"/>
              </a:rPr>
              <a:t>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</a:t>
            </a:r>
            <a:r>
              <a:rPr dirty="0" sz="2500" spc="-1005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00">
              <a:latin typeface="Arial"/>
              <a:cs typeface="Arial"/>
            </a:endParaRPr>
          </a:p>
          <a:p>
            <a:pPr algn="ctr" marL="22225">
              <a:lnSpc>
                <a:spcPct val="100000"/>
              </a:lnSpc>
              <a:spcBef>
                <a:spcPts val="5"/>
              </a:spcBef>
            </a:pPr>
            <a:r>
              <a:rPr dirty="0" sz="2400" spc="-2405">
                <a:solidFill>
                  <a:srgbClr val="0000FF"/>
                </a:solidFill>
                <a:latin typeface="Microsoft Sans Serif"/>
                <a:cs typeface="Microsoft Sans Serif"/>
              </a:rPr>
              <a:t></a:t>
            </a:r>
            <a:r>
              <a:rPr dirty="0" baseline="13888" sz="3600" spc="-1635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3472" sz="3600" spc="-885">
                <a:solidFill>
                  <a:srgbClr val="0000FF"/>
                </a:solidFill>
                <a:latin typeface="Microsoft Sans Serif"/>
                <a:cs typeface="Microsoft Sans Serif"/>
              </a:rPr>
              <a:t>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</a:t>
            </a:r>
            <a:r>
              <a:rPr dirty="0" baseline="39930" sz="2400" spc="-1177">
                <a:solidFill>
                  <a:srgbClr val="0000FF"/>
                </a:solidFill>
                <a:latin typeface="Microsoft Sans Serif"/>
                <a:cs typeface="Microsoft Sans Serif"/>
              </a:rPr>
              <a:t></a:t>
            </a:r>
            <a:r>
              <a:rPr dirty="0" baseline="39930" sz="240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9930" sz="2400" spc="-202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994">
                <a:solidFill>
                  <a:srgbClr val="0000FF"/>
                </a:solidFill>
                <a:latin typeface="Microsoft Sans Serif"/>
                <a:cs typeface="Microsoft Sans Serif"/>
              </a:rPr>
              <a:t>≥</a:t>
            </a:r>
            <a:r>
              <a:rPr dirty="0" sz="2400" spc="16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910">
                <a:solidFill>
                  <a:srgbClr val="0000FF"/>
                </a:solidFill>
                <a:latin typeface="Microsoft Sans Serif"/>
                <a:cs typeface="Microsoft Sans Serif"/>
              </a:rPr>
              <a:t></a:t>
            </a:r>
            <a:r>
              <a:rPr dirty="0" sz="2400" spc="-1205">
                <a:solidFill>
                  <a:srgbClr val="0000FF"/>
                </a:solidFill>
                <a:latin typeface="Microsoft Sans Serif"/>
                <a:cs typeface="Microsoft Sans Serif"/>
              </a:rPr>
              <a:t></a:t>
            </a:r>
            <a:r>
              <a:rPr dirty="0" sz="2500" spc="-950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험회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이윤을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포</a:t>
            </a:r>
            <a:r>
              <a:rPr dirty="0" sz="2000" b="1">
                <a:latin typeface="Malgun Gothic"/>
                <a:cs typeface="Malgun Gothic"/>
              </a:rPr>
              <a:t>함한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</a:t>
            </a:r>
            <a:r>
              <a:rPr dirty="0" sz="2000" spc="-15" b="1">
                <a:latin typeface="Malgun Gothic"/>
                <a:cs typeface="Malgun Gothic"/>
              </a:rPr>
              <a:t>상</a:t>
            </a:r>
            <a:r>
              <a:rPr dirty="0" sz="2000" b="1">
                <a:latin typeface="Malgun Gothic"/>
                <a:cs typeface="Malgun Gothic"/>
              </a:rPr>
              <a:t>비용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824604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2)</a:t>
            </a:r>
            <a:r>
              <a:rPr dirty="0" spc="265"/>
              <a:t> </a:t>
            </a:r>
            <a:r>
              <a:rPr dirty="0"/>
              <a:t>보험은</a:t>
            </a:r>
            <a:r>
              <a:rPr dirty="0" spc="265"/>
              <a:t> </a:t>
            </a:r>
            <a:r>
              <a:rPr dirty="0" spc="-5"/>
              <a:t>경쟁적이어야</a:t>
            </a:r>
            <a:r>
              <a:rPr dirty="0" spc="265"/>
              <a:t> </a:t>
            </a:r>
            <a:r>
              <a:rPr dirty="0" spc="20"/>
              <a:t>하는가?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9387" rIns="0" bIns="0" rtlCol="0" vert="horz">
            <a:spAutoFit/>
          </a:bodyPr>
          <a:lstStyle/>
          <a:p>
            <a:pPr marL="309245" marR="6350" indent="-297180">
              <a:lnSpc>
                <a:spcPct val="133400"/>
              </a:lnSpc>
              <a:spcBef>
                <a:spcPts val="100"/>
              </a:spcBef>
              <a:tabLst>
                <a:tab pos="309245" algn="l"/>
                <a:tab pos="1207135" algn="l"/>
                <a:tab pos="2105660" algn="l"/>
                <a:tab pos="3258185" algn="l"/>
                <a:tab pos="3903345" algn="l"/>
                <a:tab pos="4549140" algn="l"/>
                <a:tab pos="5193030" algn="l"/>
                <a:tab pos="5838190" algn="l"/>
                <a:tab pos="6229350" algn="l"/>
                <a:tab pos="7127875" algn="l"/>
                <a:tab pos="8027670" algn="l"/>
              </a:tabLst>
            </a:pPr>
            <a:r>
              <a:rPr dirty="0" spc="420"/>
              <a:t>-</a:t>
            </a:r>
            <a:r>
              <a:rPr dirty="0" spc="420"/>
              <a:t>	</a:t>
            </a:r>
            <a:r>
              <a:rPr dirty="0" spc="-15"/>
              <a:t>교</a:t>
            </a:r>
            <a:r>
              <a:rPr dirty="0"/>
              <a:t>장이</a:t>
            </a:r>
            <a:r>
              <a:rPr dirty="0"/>
              <a:t>	</a:t>
            </a:r>
            <a:r>
              <a:rPr dirty="0"/>
              <a:t>학</a:t>
            </a:r>
            <a:r>
              <a:rPr dirty="0" spc="-15"/>
              <a:t>교</a:t>
            </a:r>
            <a:r>
              <a:rPr dirty="0"/>
              <a:t>의</a:t>
            </a:r>
            <a:r>
              <a:rPr dirty="0"/>
              <a:t>	</a:t>
            </a:r>
            <a:r>
              <a:rPr dirty="0"/>
              <a:t>모금</a:t>
            </a:r>
            <a:r>
              <a:rPr dirty="0" spc="-15"/>
              <a:t>행</a:t>
            </a:r>
            <a:r>
              <a:rPr dirty="0"/>
              <a:t>사</a:t>
            </a:r>
            <a:r>
              <a:rPr dirty="0"/>
              <a:t>	</a:t>
            </a:r>
            <a:r>
              <a:rPr dirty="0"/>
              <a:t>당일</a:t>
            </a:r>
            <a:r>
              <a:rPr dirty="0"/>
              <a:t>	</a:t>
            </a:r>
            <a:r>
              <a:rPr dirty="0"/>
              <a:t>비가</a:t>
            </a:r>
            <a:r>
              <a:rPr dirty="0"/>
              <a:t>	</a:t>
            </a:r>
            <a:r>
              <a:rPr dirty="0" spc="-15"/>
              <a:t>와</a:t>
            </a:r>
            <a:r>
              <a:rPr dirty="0"/>
              <a:t>서</a:t>
            </a:r>
            <a:r>
              <a:rPr dirty="0"/>
              <a:t>	</a:t>
            </a:r>
            <a:r>
              <a:rPr dirty="0"/>
              <a:t>입게</a:t>
            </a:r>
            <a:r>
              <a:rPr dirty="0"/>
              <a:t>	</a:t>
            </a:r>
            <a:r>
              <a:rPr dirty="0"/>
              <a:t>될</a:t>
            </a:r>
            <a:r>
              <a:rPr dirty="0"/>
              <a:t>	</a:t>
            </a:r>
            <a:r>
              <a:rPr dirty="0"/>
              <a:t>경</a:t>
            </a:r>
            <a:r>
              <a:rPr dirty="0" spc="-15"/>
              <a:t>제</a:t>
            </a:r>
            <a:r>
              <a:rPr dirty="0"/>
              <a:t>적</a:t>
            </a:r>
            <a:r>
              <a:rPr dirty="0"/>
              <a:t>	</a:t>
            </a:r>
            <a:r>
              <a:rPr dirty="0"/>
              <a:t>손실에</a:t>
            </a:r>
            <a:r>
              <a:rPr dirty="0"/>
              <a:t>	</a:t>
            </a:r>
            <a:r>
              <a:rPr dirty="0" spc="-15"/>
              <a:t>대</a:t>
            </a:r>
            <a:r>
              <a:rPr dirty="0"/>
              <a:t>비  </a:t>
            </a:r>
            <a:r>
              <a:rPr dirty="0"/>
              <a:t>해</a:t>
            </a:r>
            <a:r>
              <a:rPr dirty="0" spc="285"/>
              <a:t> </a:t>
            </a:r>
            <a:r>
              <a:rPr dirty="0" spc="-5"/>
              <a:t>보험을</a:t>
            </a:r>
            <a:r>
              <a:rPr dirty="0" spc="290"/>
              <a:t> </a:t>
            </a:r>
            <a:r>
              <a:rPr dirty="0" spc="-5"/>
              <a:t>가입하는</a:t>
            </a:r>
            <a:r>
              <a:rPr dirty="0" spc="285"/>
              <a:t> </a:t>
            </a:r>
            <a:r>
              <a:rPr dirty="0"/>
              <a:t>경우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/>
          </a:p>
          <a:p>
            <a:pPr marL="269875" marR="6350" indent="-257810">
              <a:lnSpc>
                <a:spcPct val="133400"/>
              </a:lnSpc>
              <a:buFont typeface="Cambria"/>
              <a:buChar char="○"/>
              <a:tabLst>
                <a:tab pos="269875" algn="l"/>
                <a:tab pos="270510" algn="l"/>
              </a:tabLst>
            </a:pPr>
            <a:r>
              <a:rPr dirty="0" spc="-5"/>
              <a:t>경쟁적</a:t>
            </a:r>
            <a:r>
              <a:rPr dirty="0" spc="310"/>
              <a:t> </a:t>
            </a:r>
            <a:r>
              <a:rPr dirty="0" spc="-5"/>
              <a:t>민영보험시장의</a:t>
            </a:r>
            <a:r>
              <a:rPr dirty="0" spc="310"/>
              <a:t> </a:t>
            </a:r>
            <a:r>
              <a:rPr dirty="0" spc="-5"/>
              <a:t>성립을</a:t>
            </a:r>
            <a:r>
              <a:rPr dirty="0" spc="310"/>
              <a:t> </a:t>
            </a:r>
            <a:r>
              <a:rPr dirty="0" spc="-10"/>
              <a:t>위한</a:t>
            </a:r>
            <a:r>
              <a:rPr dirty="0" spc="310"/>
              <a:t> </a:t>
            </a:r>
            <a:r>
              <a:rPr dirty="0" spc="-5"/>
              <a:t>전제조건이</a:t>
            </a:r>
            <a:r>
              <a:rPr dirty="0" spc="310"/>
              <a:t> </a:t>
            </a:r>
            <a:r>
              <a:rPr dirty="0" spc="-5"/>
              <a:t>취약하거나</a:t>
            </a:r>
            <a:r>
              <a:rPr dirty="0" spc="310"/>
              <a:t> </a:t>
            </a:r>
            <a:r>
              <a:rPr dirty="0"/>
              <a:t>지켜질</a:t>
            </a:r>
            <a:r>
              <a:rPr dirty="0" spc="295"/>
              <a:t> </a:t>
            </a:r>
            <a:r>
              <a:rPr dirty="0"/>
              <a:t>수 </a:t>
            </a:r>
            <a:r>
              <a:rPr dirty="0" spc="-690"/>
              <a:t> </a:t>
            </a:r>
            <a:r>
              <a:rPr dirty="0" spc="-10"/>
              <a:t>없는</a:t>
            </a:r>
            <a:r>
              <a:rPr dirty="0" spc="285"/>
              <a:t> </a:t>
            </a:r>
            <a:r>
              <a:rPr dirty="0"/>
              <a:t>경우</a:t>
            </a:r>
            <a:r>
              <a:rPr dirty="0" spc="285"/>
              <a:t> </a:t>
            </a:r>
            <a:r>
              <a:rPr dirty="0" spc="-5"/>
              <a:t>민영보험은</a:t>
            </a:r>
            <a:r>
              <a:rPr dirty="0" spc="285"/>
              <a:t> </a:t>
            </a:r>
            <a:r>
              <a:rPr dirty="0" spc="-5"/>
              <a:t>비효율적인</a:t>
            </a:r>
            <a:r>
              <a:rPr dirty="0" spc="285"/>
              <a:t> </a:t>
            </a:r>
            <a:r>
              <a:rPr dirty="0"/>
              <a:t>결과를</a:t>
            </a:r>
            <a:r>
              <a:rPr dirty="0" spc="285"/>
              <a:t> </a:t>
            </a:r>
            <a:r>
              <a:rPr dirty="0" spc="-5"/>
              <a:t>초래하거나</a:t>
            </a:r>
            <a:r>
              <a:rPr dirty="0" spc="285"/>
              <a:t> </a:t>
            </a:r>
            <a:r>
              <a:rPr dirty="0"/>
              <a:t>공급이</a:t>
            </a:r>
            <a:r>
              <a:rPr dirty="0" spc="285"/>
              <a:t> </a:t>
            </a:r>
            <a:r>
              <a:rPr dirty="0" spc="-5"/>
              <a:t>불가능</a:t>
            </a: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소비자가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불완전한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소유하게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장기요양보험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보험회사가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불완전한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소유하게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dirty="0" spc="80" b="0">
                <a:latin typeface="Cambria"/>
                <a:cs typeface="Cambria"/>
              </a:rPr>
              <a:t>▸</a:t>
            </a:r>
            <a:r>
              <a:rPr dirty="0" spc="80"/>
              <a:t>위험의</a:t>
            </a:r>
            <a:r>
              <a:rPr dirty="0" spc="285"/>
              <a:t> </a:t>
            </a:r>
            <a:r>
              <a:rPr dirty="0" spc="10"/>
              <a:t>선별작업(cream</a:t>
            </a:r>
            <a:r>
              <a:rPr dirty="0" spc="285"/>
              <a:t> </a:t>
            </a:r>
            <a:r>
              <a:rPr dirty="0" spc="-30"/>
              <a:t>skimming)에</a:t>
            </a:r>
            <a:r>
              <a:rPr dirty="0" spc="285"/>
              <a:t> </a:t>
            </a:r>
            <a:r>
              <a:rPr dirty="0"/>
              <a:t>따른</a:t>
            </a:r>
            <a:r>
              <a:rPr dirty="0" spc="290"/>
              <a:t> </a:t>
            </a:r>
            <a:r>
              <a:rPr dirty="0" spc="-5">
                <a:solidFill>
                  <a:srgbClr val="0000FF"/>
                </a:solidFill>
              </a:rPr>
              <a:t>보장의</a:t>
            </a:r>
            <a:r>
              <a:rPr dirty="0" spc="29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사각지대</a:t>
            </a:r>
          </a:p>
          <a:p>
            <a:pPr lvl="1" marL="440055" marR="5080" indent="-301625">
              <a:lnSpc>
                <a:spcPct val="125899"/>
              </a:lnSpc>
              <a:spcBef>
                <a:spcPts val="15"/>
              </a:spcBef>
              <a:buChar char="-"/>
              <a:tabLst>
                <a:tab pos="440055" algn="l"/>
                <a:tab pos="440690" algn="l"/>
                <a:tab pos="2356485" algn="l"/>
                <a:tab pos="3259454" algn="l"/>
                <a:tab pos="3909695" algn="l"/>
                <a:tab pos="4812030" algn="l"/>
                <a:tab pos="5967730" algn="l"/>
                <a:tab pos="82816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행</a:t>
            </a:r>
            <a:r>
              <a:rPr dirty="0" sz="2000" b="1">
                <a:latin typeface="Malgun Gothic"/>
                <a:cs typeface="Malgun Gothic"/>
              </a:rPr>
              <a:t>정관</a:t>
            </a:r>
            <a:r>
              <a:rPr dirty="0" sz="2000" spc="-15" b="1">
                <a:latin typeface="Malgun Gothic"/>
                <a:cs typeface="Malgun Gothic"/>
              </a:rPr>
              <a:t>리</a:t>
            </a:r>
            <a:r>
              <a:rPr dirty="0" sz="2000" b="1">
                <a:latin typeface="Malgun Gothic"/>
                <a:cs typeface="Malgun Gothic"/>
              </a:rPr>
              <a:t>비용의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충당을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별</a:t>
            </a:r>
            <a:r>
              <a:rPr dirty="0" sz="2000" b="1">
                <a:latin typeface="Malgun Gothic"/>
                <a:cs typeface="Malgun Gothic"/>
              </a:rPr>
              <a:t>도로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부</a:t>
            </a:r>
            <a:r>
              <a:rPr dirty="0" sz="2000" b="1">
                <a:latin typeface="Malgun Gothic"/>
                <a:cs typeface="Malgun Gothic"/>
              </a:rPr>
              <a:t>과하는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부가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험요</a:t>
            </a:r>
            <a:r>
              <a:rPr dirty="0" sz="2000" spc="-15" b="1">
                <a:latin typeface="Malgun Gothic"/>
                <a:cs typeface="Malgun Gothic"/>
              </a:rPr>
              <a:t>율</a:t>
            </a:r>
            <a:r>
              <a:rPr dirty="0" sz="2000" spc="95" b="1">
                <a:latin typeface="Malgun Gothic"/>
                <a:cs typeface="Malgun Gothic"/>
              </a:rPr>
              <a:t>(</a:t>
            </a:r>
            <a:r>
              <a:rPr dirty="0" sz="2400" spc="-860">
                <a:solidFill>
                  <a:srgbClr val="0000FF"/>
                </a:solidFill>
                <a:latin typeface="Microsoft Sans Serif"/>
                <a:cs typeface="Microsoft Sans Serif"/>
              </a:rPr>
              <a:t>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과  </a:t>
            </a:r>
            <a:r>
              <a:rPr dirty="0" sz="2000" spc="-5" b="1">
                <a:latin typeface="Malgun Gothic"/>
                <a:cs typeface="Malgun Gothic"/>
              </a:rPr>
              <a:t>도하게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높아질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93624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3)</a:t>
            </a:r>
            <a:r>
              <a:rPr dirty="0" spc="265"/>
              <a:t> </a:t>
            </a:r>
            <a:r>
              <a:rPr dirty="0" spc="-5"/>
              <a:t>보험료의</a:t>
            </a:r>
            <a:r>
              <a:rPr dirty="0" spc="265"/>
              <a:t> </a:t>
            </a:r>
            <a:r>
              <a:rPr dirty="0"/>
              <a:t>차등화</a:t>
            </a:r>
            <a:r>
              <a:rPr dirty="0" spc="270"/>
              <a:t> </a:t>
            </a:r>
            <a:r>
              <a:rPr dirty="0" spc="-10"/>
              <a:t>방안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7543165" cy="20574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9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자발적으로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보험가입이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이루어지는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위험발생확률에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차등적으로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보험료를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부과할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효율적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보험가입의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강제성이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적용될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위험이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집단과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위험분산이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2990" y="3949686"/>
            <a:ext cx="842137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3375" marR="5080" indent="-321310">
              <a:lnSpc>
                <a:spcPct val="133400"/>
              </a:lnSpc>
              <a:spcBef>
                <a:spcPts val="100"/>
              </a:spcBef>
              <a:tabLst>
                <a:tab pos="333375" algn="l"/>
                <a:tab pos="1510030" algn="l"/>
                <a:tab pos="3448050" algn="l"/>
                <a:tab pos="4624705" algn="l"/>
                <a:tab pos="5801995" algn="l"/>
                <a:tab pos="6724015" algn="l"/>
                <a:tab pos="790130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평</a:t>
            </a:r>
            <a:r>
              <a:rPr dirty="0" sz="2000" spc="-15" b="1">
                <a:latin typeface="Malgun Gothic"/>
                <a:cs typeface="Malgun Gothic"/>
              </a:rPr>
              <a:t>균</a:t>
            </a:r>
            <a:r>
              <a:rPr dirty="0" sz="2000" b="1">
                <a:latin typeface="Malgun Gothic"/>
                <a:cs typeface="Malgun Gothic"/>
              </a:rPr>
              <a:t>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발생</a:t>
            </a:r>
            <a:r>
              <a:rPr dirty="0" sz="2000" spc="-15" b="1">
                <a:latin typeface="Malgun Gothic"/>
                <a:cs typeface="Malgun Gothic"/>
              </a:rPr>
              <a:t>확</a:t>
            </a:r>
            <a:r>
              <a:rPr dirty="0" sz="2000" b="1">
                <a:latin typeface="Malgun Gothic"/>
                <a:cs typeface="Malgun Gothic"/>
              </a:rPr>
              <a:t>률에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근</a:t>
            </a:r>
            <a:r>
              <a:rPr dirty="0" sz="2000" b="1">
                <a:latin typeface="Malgun Gothic"/>
                <a:cs typeface="Malgun Gothic"/>
              </a:rPr>
              <a:t>거하여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모</a:t>
            </a:r>
            <a:r>
              <a:rPr dirty="0" sz="2000" b="1">
                <a:latin typeface="Malgun Gothic"/>
                <a:cs typeface="Malgun Gothic"/>
              </a:rPr>
              <a:t>두에게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동</a:t>
            </a:r>
            <a:r>
              <a:rPr dirty="0" sz="2000" b="1">
                <a:latin typeface="Malgun Gothic"/>
                <a:cs typeface="Malgun Gothic"/>
              </a:rPr>
              <a:t>일한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-15" b="1">
                <a:latin typeface="Malgun Gothic"/>
                <a:cs typeface="Malgun Gothic"/>
              </a:rPr>
              <a:t>준</a:t>
            </a:r>
            <a:r>
              <a:rPr dirty="0" sz="2000" b="1">
                <a:latin typeface="Malgun Gothic"/>
                <a:cs typeface="Malgun Gothic"/>
              </a:rPr>
              <a:t>으로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험  </a:t>
            </a:r>
            <a:r>
              <a:rPr dirty="0" sz="2000" b="1">
                <a:latin typeface="Malgun Gothic"/>
                <a:cs typeface="Malgun Gothic"/>
              </a:rPr>
              <a:t>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부과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7590" y="4667287"/>
            <a:ext cx="6548120" cy="1515110"/>
          </a:xfrm>
          <a:prstGeom prst="rect">
            <a:avLst/>
          </a:prstGeom>
        </p:spPr>
        <p:txBody>
          <a:bodyPr wrap="square" lIns="0" tIns="234950" rIns="0" bIns="0" rtlCol="0" vert="horz">
            <a:spAutoFit/>
          </a:bodyPr>
          <a:lstStyle/>
          <a:p>
            <a:pPr marL="2232025">
              <a:lnSpc>
                <a:spcPct val="100000"/>
              </a:lnSpc>
              <a:spcBef>
                <a:spcPts val="1850"/>
              </a:spcBef>
            </a:pPr>
            <a:r>
              <a:rPr dirty="0" baseline="11574" sz="3600" spc="-3877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-2314" sz="3600" spc="-1395">
                <a:solidFill>
                  <a:srgbClr val="0000FF"/>
                </a:solidFill>
                <a:latin typeface="Microsoft Sans Serif"/>
                <a:cs typeface="Microsoft Sans Serif"/>
              </a:rPr>
              <a:t></a:t>
            </a:r>
            <a:r>
              <a:rPr dirty="0" sz="2400" spc="-54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sz="2400" spc="-13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</a:t>
            </a:r>
            <a:r>
              <a:rPr dirty="0" baseline="-2314" sz="3600" spc="-1807">
                <a:solidFill>
                  <a:srgbClr val="0000FF"/>
                </a:solidFill>
                <a:latin typeface="Microsoft Sans Serif"/>
                <a:cs typeface="Microsoft Sans Serif"/>
              </a:rPr>
              <a:t></a:t>
            </a:r>
            <a:r>
              <a:rPr dirty="0" baseline="-2314" sz="3600" spc="-45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Microsoft Sans Serif"/>
                <a:cs typeface="Microsoft Sans Serif"/>
              </a:rPr>
              <a:t></a:t>
            </a:r>
            <a:r>
              <a:rPr dirty="0" sz="2400" spc="-29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-2314" sz="3600" spc="-1110">
                <a:solidFill>
                  <a:srgbClr val="0000FF"/>
                </a:solidFill>
                <a:latin typeface="Microsoft Sans Serif"/>
                <a:cs typeface="Microsoft Sans Serif"/>
              </a:rPr>
              <a:t>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</a:t>
            </a:r>
            <a:r>
              <a:rPr dirty="0" sz="2400" spc="-1735">
                <a:solidFill>
                  <a:srgbClr val="0000FF"/>
                </a:solidFill>
                <a:latin typeface="Microsoft Sans Serif"/>
                <a:cs typeface="Microsoft Sans Serif"/>
              </a:rPr>
              <a:t></a:t>
            </a:r>
            <a:r>
              <a:rPr dirty="0" baseline="-2314" sz="3600" spc="-1920">
                <a:solidFill>
                  <a:srgbClr val="0000FF"/>
                </a:solidFill>
                <a:latin typeface="Microsoft Sans Serif"/>
                <a:cs typeface="Microsoft Sans Serif"/>
              </a:rPr>
              <a:t></a:t>
            </a:r>
            <a:r>
              <a:rPr dirty="0" baseline="-2222" sz="3750" spc="-1282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22875" sz="2550" spc="-719" i="1">
                <a:solidFill>
                  <a:srgbClr val="0000FF"/>
                </a:solidFill>
                <a:latin typeface="Arial"/>
                <a:cs typeface="Arial"/>
              </a:rPr>
              <a:t></a:t>
            </a:r>
            <a:r>
              <a:rPr dirty="0" baseline="-22875" sz="2550" spc="82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Microsoft Sans Serif"/>
                <a:cs typeface="Microsoft Sans Serif"/>
              </a:rPr>
              <a:t></a:t>
            </a:r>
            <a:r>
              <a:rPr dirty="0" sz="2400" spc="-29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</a:t>
            </a:r>
            <a:r>
              <a:rPr dirty="0" baseline="-2314" sz="3600" spc="-1807">
                <a:solidFill>
                  <a:srgbClr val="0000FF"/>
                </a:solidFill>
                <a:latin typeface="Microsoft Sans Serif"/>
                <a:cs typeface="Microsoft Sans Serif"/>
              </a:rPr>
              <a:t></a:t>
            </a:r>
            <a:r>
              <a:rPr dirty="0" baseline="-2314" sz="3600" spc="-45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90">
                <a:solidFill>
                  <a:srgbClr val="0000FF"/>
                </a:solidFill>
                <a:latin typeface="Microsoft Sans Serif"/>
                <a:cs typeface="Microsoft Sans Serif"/>
              </a:rPr>
              <a:t></a:t>
            </a:r>
            <a:r>
              <a:rPr dirty="0" sz="2400" spc="-32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-2314" sz="3600" spc="-1664">
                <a:solidFill>
                  <a:srgbClr val="0000FF"/>
                </a:solidFill>
                <a:latin typeface="Microsoft Sans Serif"/>
                <a:cs typeface="Microsoft Sans Serif"/>
              </a:rPr>
              <a:t></a:t>
            </a:r>
            <a:r>
              <a:rPr dirty="0" sz="2400" spc="-1505">
                <a:solidFill>
                  <a:srgbClr val="0000FF"/>
                </a:solidFill>
                <a:latin typeface="Microsoft Sans Serif"/>
                <a:cs typeface="Microsoft Sans Serif"/>
              </a:rPr>
              <a:t></a:t>
            </a:r>
            <a:r>
              <a:rPr dirty="0" baseline="-2222" sz="3750" spc="-1297" i="1">
                <a:solidFill>
                  <a:srgbClr val="0000FF"/>
                </a:solidFill>
                <a:latin typeface="Arial"/>
                <a:cs typeface="Arial"/>
              </a:rPr>
              <a:t></a:t>
            </a:r>
            <a:r>
              <a:rPr dirty="0" baseline="-22875" sz="2550" spc="-1027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r>
              <a:rPr dirty="0" baseline="-22875" sz="2550" spc="-30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735">
                <a:solidFill>
                  <a:srgbClr val="0000FF"/>
                </a:solidFill>
                <a:latin typeface="Microsoft Sans Serif"/>
                <a:cs typeface="Microsoft Sans Serif"/>
              </a:rPr>
              <a:t></a:t>
            </a:r>
            <a:r>
              <a:rPr dirty="0" baseline="-2222" sz="3750" spc="-1507" i="1">
                <a:solidFill>
                  <a:srgbClr val="0000FF"/>
                </a:solidFill>
                <a:latin typeface="Arial"/>
                <a:cs typeface="Arial"/>
              </a:rPr>
              <a:t></a:t>
            </a:r>
            <a:endParaRPr baseline="-2222" sz="37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1946년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영국의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40" b="1">
                <a:latin typeface="Malgun Gothic"/>
                <a:cs typeface="Malgun Gothic"/>
              </a:rPr>
              <a:t>국민보험법(1948-1975)</a:t>
            </a:r>
            <a:endParaRPr sz="2000">
              <a:latin typeface="Malgun Gothic"/>
              <a:cs typeface="Malgun Gothic"/>
            </a:endParaRPr>
          </a:p>
          <a:p>
            <a:pPr marL="292100">
              <a:lnSpc>
                <a:spcPct val="100000"/>
              </a:lnSpc>
              <a:spcBef>
                <a:spcPts val="800"/>
              </a:spcBef>
            </a:pPr>
            <a:r>
              <a:rPr dirty="0" sz="2000" spc="330">
                <a:latin typeface="Cambria"/>
                <a:cs typeface="Cambria"/>
              </a:rPr>
              <a:t>▸</a:t>
            </a:r>
            <a:r>
              <a:rPr dirty="0" sz="2000" spc="540">
                <a:latin typeface="Cambria"/>
                <a:cs typeface="Cambria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경제활동연령의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남성들은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정액보험료를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납부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79451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4)</a:t>
            </a:r>
            <a:r>
              <a:rPr dirty="0" spc="250"/>
              <a:t> </a:t>
            </a:r>
            <a:r>
              <a:rPr dirty="0"/>
              <a:t>잘못된</a:t>
            </a:r>
            <a:r>
              <a:rPr dirty="0" spc="250"/>
              <a:t> </a:t>
            </a:r>
            <a:r>
              <a:rPr dirty="0" spc="-10"/>
              <a:t>주장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9387" rIns="0" bIns="0" rtlCol="0" vert="horz">
            <a:spAutoFit/>
          </a:bodyPr>
          <a:lstStyle/>
          <a:p>
            <a:pPr marL="283210" marR="5080" indent="-27114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83210" algn="l"/>
                <a:tab pos="283845" algn="l"/>
                <a:tab pos="1187450" algn="l"/>
                <a:tab pos="2091689" algn="l"/>
                <a:tab pos="3250565" algn="l"/>
                <a:tab pos="3902075" algn="l"/>
                <a:tab pos="5567045" algn="l"/>
                <a:tab pos="5964555" algn="l"/>
                <a:tab pos="6868795" algn="l"/>
                <a:tab pos="8281670" algn="l"/>
              </a:tabLst>
            </a:pPr>
            <a:r>
              <a:rPr dirty="0" spc="-15"/>
              <a:t>보</a:t>
            </a:r>
            <a:r>
              <a:rPr dirty="0"/>
              <a:t>험은</a:t>
            </a:r>
            <a:r>
              <a:rPr dirty="0"/>
              <a:t>	</a:t>
            </a:r>
            <a:r>
              <a:rPr dirty="0"/>
              <a:t>급</a:t>
            </a:r>
            <a:r>
              <a:rPr dirty="0" spc="-15"/>
              <a:t>여</a:t>
            </a:r>
            <a:r>
              <a:rPr dirty="0"/>
              <a:t>를</a:t>
            </a:r>
            <a:r>
              <a:rPr dirty="0"/>
              <a:t>	</a:t>
            </a:r>
            <a:r>
              <a:rPr dirty="0"/>
              <a:t>청</a:t>
            </a:r>
            <a:r>
              <a:rPr dirty="0" spc="-15"/>
              <a:t>구</a:t>
            </a:r>
            <a:r>
              <a:rPr dirty="0"/>
              <a:t>하지</a:t>
            </a:r>
            <a:r>
              <a:rPr dirty="0"/>
              <a:t>	</a:t>
            </a:r>
            <a:r>
              <a:rPr dirty="0"/>
              <a:t>않은</a:t>
            </a:r>
            <a:r>
              <a:rPr dirty="0"/>
              <a:t>	</a:t>
            </a:r>
            <a:r>
              <a:rPr dirty="0" spc="-15"/>
              <a:t>사</a:t>
            </a:r>
            <a:r>
              <a:rPr dirty="0"/>
              <a:t>람들</a:t>
            </a:r>
            <a:r>
              <a:rPr dirty="0" spc="-15"/>
              <a:t>로</a:t>
            </a:r>
            <a:r>
              <a:rPr dirty="0"/>
              <a:t>부터</a:t>
            </a:r>
            <a:r>
              <a:rPr dirty="0"/>
              <a:t>	</a:t>
            </a:r>
            <a:r>
              <a:rPr dirty="0"/>
              <a:t>그</a:t>
            </a:r>
            <a:r>
              <a:rPr dirty="0"/>
              <a:t>	</a:t>
            </a:r>
            <a:r>
              <a:rPr dirty="0" spc="-15"/>
              <a:t>반</a:t>
            </a:r>
            <a:r>
              <a:rPr dirty="0"/>
              <a:t>대의</a:t>
            </a:r>
            <a:r>
              <a:rPr dirty="0"/>
              <a:t>	</a:t>
            </a:r>
            <a:r>
              <a:rPr dirty="0"/>
              <a:t>사</a:t>
            </a:r>
            <a:r>
              <a:rPr dirty="0" spc="-15"/>
              <a:t>람</a:t>
            </a:r>
            <a:r>
              <a:rPr dirty="0"/>
              <a:t>들에게</a:t>
            </a:r>
            <a:r>
              <a:rPr dirty="0"/>
              <a:t>	</a:t>
            </a:r>
            <a:r>
              <a:rPr dirty="0"/>
              <a:t>소  </a:t>
            </a:r>
            <a:r>
              <a:rPr dirty="0" spc="-10"/>
              <a:t>득을</a:t>
            </a:r>
            <a:r>
              <a:rPr dirty="0" spc="285"/>
              <a:t> </a:t>
            </a:r>
            <a:r>
              <a:rPr dirty="0" spc="-5"/>
              <a:t>이전하는</a:t>
            </a:r>
            <a:r>
              <a:rPr dirty="0" spc="290"/>
              <a:t> </a:t>
            </a:r>
            <a:r>
              <a:rPr dirty="0"/>
              <a:t>기능을</a:t>
            </a:r>
            <a:r>
              <a:rPr dirty="0" spc="290"/>
              <a:t> </a:t>
            </a:r>
            <a:r>
              <a:rPr dirty="0" spc="-10"/>
              <a:t>하기</a:t>
            </a:r>
            <a:r>
              <a:rPr dirty="0" spc="285"/>
              <a:t> </a:t>
            </a:r>
            <a:r>
              <a:rPr dirty="0"/>
              <a:t>때문에</a:t>
            </a:r>
            <a:r>
              <a:rPr dirty="0" spc="290"/>
              <a:t> </a:t>
            </a:r>
            <a:r>
              <a:rPr dirty="0" spc="-5"/>
              <a:t>불공평한</a:t>
            </a:r>
            <a:r>
              <a:rPr dirty="0" spc="290"/>
              <a:t> </a:t>
            </a:r>
            <a:r>
              <a:rPr dirty="0" spc="10"/>
              <a:t>제도다.</a:t>
            </a: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보험의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핵심원리에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이해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부족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Malgun Gothic"/>
              <a:buChar char="-"/>
            </a:pPr>
            <a:endParaRPr sz="1750"/>
          </a:p>
          <a:p>
            <a:pPr marL="267970" marR="5080" indent="-267970">
              <a:lnSpc>
                <a:spcPct val="132900"/>
              </a:lnSpc>
              <a:buFont typeface="Cambria"/>
              <a:buChar char="○"/>
              <a:tabLst>
                <a:tab pos="267970" algn="l"/>
                <a:tab pos="268605" algn="l"/>
              </a:tabLst>
            </a:pPr>
            <a:r>
              <a:rPr dirty="0"/>
              <a:t>가난한</a:t>
            </a:r>
            <a:r>
              <a:rPr dirty="0" spc="295"/>
              <a:t> </a:t>
            </a:r>
            <a:r>
              <a:rPr dirty="0" spc="-5"/>
              <a:t>사람이</a:t>
            </a:r>
            <a:r>
              <a:rPr dirty="0" spc="310"/>
              <a:t> </a:t>
            </a:r>
            <a:r>
              <a:rPr dirty="0" spc="-5"/>
              <a:t>적절한</a:t>
            </a:r>
            <a:r>
              <a:rPr dirty="0" spc="310"/>
              <a:t> </a:t>
            </a:r>
            <a:r>
              <a:rPr dirty="0" spc="-5"/>
              <a:t>보호를</a:t>
            </a:r>
            <a:r>
              <a:rPr dirty="0" spc="310"/>
              <a:t> </a:t>
            </a:r>
            <a:r>
              <a:rPr dirty="0" spc="-10"/>
              <a:t>받기</a:t>
            </a:r>
            <a:r>
              <a:rPr dirty="0" spc="310"/>
              <a:t> </a:t>
            </a:r>
            <a:r>
              <a:rPr dirty="0" spc="-5"/>
              <a:t>위하여</a:t>
            </a:r>
            <a:r>
              <a:rPr dirty="0" spc="310"/>
              <a:t> </a:t>
            </a:r>
            <a:r>
              <a:rPr dirty="0" spc="-5"/>
              <a:t>보험에</a:t>
            </a:r>
            <a:r>
              <a:rPr dirty="0" spc="295"/>
              <a:t> </a:t>
            </a:r>
            <a:r>
              <a:rPr dirty="0"/>
              <a:t>가입할</a:t>
            </a:r>
            <a:r>
              <a:rPr dirty="0" spc="295"/>
              <a:t> </a:t>
            </a:r>
            <a:r>
              <a:rPr dirty="0"/>
              <a:t>만한</a:t>
            </a:r>
            <a:r>
              <a:rPr dirty="0" spc="295"/>
              <a:t> </a:t>
            </a:r>
            <a:r>
              <a:rPr dirty="0"/>
              <a:t>경제적 </a:t>
            </a:r>
            <a:r>
              <a:rPr dirty="0" spc="-690"/>
              <a:t> </a:t>
            </a:r>
            <a:r>
              <a:rPr dirty="0" spc="-5"/>
              <a:t>여력이</a:t>
            </a:r>
            <a:r>
              <a:rPr dirty="0" spc="285"/>
              <a:t> </a:t>
            </a:r>
            <a:r>
              <a:rPr dirty="0"/>
              <a:t>없기</a:t>
            </a:r>
            <a:r>
              <a:rPr dirty="0" spc="290"/>
              <a:t> </a:t>
            </a:r>
            <a:r>
              <a:rPr dirty="0" spc="-5"/>
              <a:t>때문에</a:t>
            </a:r>
            <a:r>
              <a:rPr dirty="0" spc="285"/>
              <a:t> </a:t>
            </a:r>
            <a:r>
              <a:rPr dirty="0" spc="-5"/>
              <a:t>민영보험은</a:t>
            </a:r>
            <a:r>
              <a:rPr dirty="0" spc="290"/>
              <a:t> </a:t>
            </a:r>
            <a:r>
              <a:rPr dirty="0" spc="5"/>
              <a:t>불공정하다.</a:t>
            </a:r>
          </a:p>
          <a:p>
            <a:pPr lvl="1" marL="436880" marR="6350" indent="-298450">
              <a:lnSpc>
                <a:spcPct val="133400"/>
              </a:lnSpc>
              <a:buChar char="-"/>
              <a:tabLst>
                <a:tab pos="436880" algn="l"/>
                <a:tab pos="437515" algn="l"/>
                <a:tab pos="1082675" algn="l"/>
                <a:tab pos="1982470" algn="l"/>
                <a:tab pos="2627630" algn="l"/>
                <a:tab pos="3527425" algn="l"/>
                <a:tab pos="4681220" algn="l"/>
                <a:tab pos="5581015" algn="l"/>
                <a:tab pos="6734809" algn="l"/>
                <a:tab pos="7380605" algn="l"/>
                <a:tab pos="828040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만</a:t>
            </a:r>
            <a:r>
              <a:rPr dirty="0" sz="2000" b="1">
                <a:latin typeface="Malgun Gothic"/>
                <a:cs typeface="Malgun Gothic"/>
              </a:rPr>
              <a:t>약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-15" b="1">
                <a:latin typeface="Malgun Gothic"/>
                <a:cs typeface="Malgun Gothic"/>
              </a:rPr>
              <a:t>난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유일한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어려</a:t>
            </a:r>
            <a:r>
              <a:rPr dirty="0" sz="2000" spc="-15" b="1">
                <a:latin typeface="Malgun Gothic"/>
                <a:cs typeface="Malgun Gothic"/>
              </a:rPr>
              <a:t>움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경</a:t>
            </a:r>
            <a:r>
              <a:rPr dirty="0" sz="2000" spc="-15" b="1"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문</a:t>
            </a:r>
            <a:r>
              <a:rPr dirty="0" sz="2000" spc="-15" b="1"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라면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시</a:t>
            </a:r>
            <a:r>
              <a:rPr dirty="0" sz="2000" spc="-15" b="1">
                <a:latin typeface="Malgun Gothic"/>
                <a:cs typeface="Malgun Gothic"/>
              </a:rPr>
              <a:t>장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  </a:t>
            </a:r>
            <a:r>
              <a:rPr dirty="0" sz="2000" spc="-5" b="1">
                <a:latin typeface="Malgun Gothic"/>
                <a:cs typeface="Malgun Gothic"/>
              </a:rPr>
              <a:t>원배분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기능의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아니라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소득분배의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문제이다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3165">
                <a:latin typeface="Cambria"/>
                <a:cs typeface="Cambria"/>
              </a:rPr>
              <a:t>⟹</a:t>
            </a:r>
            <a:r>
              <a:rPr dirty="0" sz="2000" spc="545">
                <a:latin typeface="Cambria"/>
                <a:cs typeface="Cambria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현금이전</a:t>
            </a:r>
            <a:endParaRPr sz="2000">
              <a:latin typeface="Malgun Gothic"/>
              <a:cs typeface="Malgun Gothic"/>
            </a:endParaRPr>
          </a:p>
          <a:p>
            <a:pPr lvl="1" marL="459740" marR="6350" indent="-321310">
              <a:lnSpc>
                <a:spcPts val="3200"/>
              </a:lnSpc>
              <a:spcBef>
                <a:spcPts val="95"/>
              </a:spcBef>
              <a:buChar char="-"/>
              <a:tabLst>
                <a:tab pos="459740" algn="l"/>
                <a:tab pos="460375" algn="l"/>
                <a:tab pos="1891030" algn="l"/>
                <a:tab pos="3320415" algn="l"/>
                <a:tab pos="4751070" algn="l"/>
                <a:tab pos="5673725" algn="l"/>
                <a:tab pos="7105015" algn="l"/>
                <a:tab pos="8280400" algn="l"/>
              </a:tabLst>
            </a:pPr>
            <a:r>
              <a:rPr dirty="0" sz="2000" b="1">
                <a:latin typeface="Malgun Gothic"/>
                <a:cs typeface="Malgun Gothic"/>
              </a:rPr>
              <a:t>공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보험은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민</a:t>
            </a:r>
            <a:r>
              <a:rPr dirty="0" sz="2000" b="1">
                <a:latin typeface="Malgun Gothic"/>
                <a:cs typeface="Malgun Gothic"/>
              </a:rPr>
              <a:t>영보</a:t>
            </a:r>
            <a:r>
              <a:rPr dirty="0" sz="2000" spc="-15" b="1">
                <a:latin typeface="Malgun Gothic"/>
                <a:cs typeface="Malgun Gothic"/>
              </a:rPr>
              <a:t>험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비</a:t>
            </a:r>
            <a:r>
              <a:rPr dirty="0" sz="2000" spc="-15" b="1">
                <a:latin typeface="Malgun Gothic"/>
                <a:cs typeface="Malgun Gothic"/>
              </a:rPr>
              <a:t>효</a:t>
            </a:r>
            <a:r>
              <a:rPr dirty="0" sz="2000" b="1">
                <a:latin typeface="Malgun Gothic"/>
                <a:cs typeface="Malgun Gothic"/>
              </a:rPr>
              <a:t>율성의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문</a:t>
            </a:r>
            <a:r>
              <a:rPr dirty="0" sz="2000" b="1">
                <a:latin typeface="Malgun Gothic"/>
                <a:cs typeface="Malgun Gothic"/>
              </a:rPr>
              <a:t>제를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초</a:t>
            </a:r>
            <a:r>
              <a:rPr dirty="0" sz="2000" spc="-15" b="1">
                <a:latin typeface="Malgun Gothic"/>
                <a:cs typeface="Malgun Gothic"/>
              </a:rPr>
              <a:t>래</a:t>
            </a:r>
            <a:r>
              <a:rPr dirty="0" sz="2000" b="1">
                <a:latin typeface="Malgun Gothic"/>
                <a:cs typeface="Malgun Gothic"/>
              </a:rPr>
              <a:t>하거나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인들이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불  </a:t>
            </a:r>
            <a:r>
              <a:rPr dirty="0" sz="2000" spc="-5" b="1">
                <a:latin typeface="Malgun Gothic"/>
                <a:cs typeface="Malgun Gothic"/>
              </a:rPr>
              <a:t>완전한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갖게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경우에만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정당성을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갖는다.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3925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15"/>
              <a:t> </a:t>
            </a:r>
            <a:r>
              <a:rPr dirty="0" spc="-5"/>
              <a:t>사회보험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0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1)</a:t>
            </a:r>
            <a:r>
              <a:rPr dirty="0" spc="275"/>
              <a:t> </a:t>
            </a:r>
            <a:r>
              <a:rPr dirty="0"/>
              <a:t>정보의</a:t>
            </a:r>
            <a:r>
              <a:rPr dirty="0" spc="280"/>
              <a:t> </a:t>
            </a:r>
            <a:r>
              <a:rPr dirty="0" spc="-5"/>
              <a:t>실패에</a:t>
            </a:r>
            <a:r>
              <a:rPr dirty="0" spc="275"/>
              <a:t> </a:t>
            </a:r>
            <a:r>
              <a:rPr dirty="0"/>
              <a:t>대한</a:t>
            </a:r>
            <a:r>
              <a:rPr dirty="0" spc="280"/>
              <a:t> </a:t>
            </a:r>
            <a:r>
              <a:rPr dirty="0" spc="-5"/>
              <a:t>대응으로서</a:t>
            </a:r>
            <a:r>
              <a:rPr dirty="0" spc="280"/>
              <a:t> </a:t>
            </a:r>
            <a:r>
              <a:rPr dirty="0" spc="-5"/>
              <a:t>사회보험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/>
          </a:p>
          <a:p>
            <a:pPr algn="just" marL="300990" marR="6350" indent="-300990">
              <a:lnSpc>
                <a:spcPct val="133400"/>
              </a:lnSpc>
              <a:buChar char="-"/>
              <a:tabLst>
                <a:tab pos="300990" algn="l"/>
              </a:tabLst>
            </a:pPr>
            <a:r>
              <a:rPr dirty="0" spc="30"/>
              <a:t>Hayek</a:t>
            </a:r>
            <a:r>
              <a:rPr dirty="0" spc="300"/>
              <a:t> </a:t>
            </a:r>
            <a:r>
              <a:rPr dirty="0" spc="140"/>
              <a:t>:</a:t>
            </a:r>
            <a:r>
              <a:rPr dirty="0" spc="305"/>
              <a:t> </a:t>
            </a:r>
            <a:r>
              <a:rPr dirty="0"/>
              <a:t>개인</a:t>
            </a:r>
            <a:r>
              <a:rPr dirty="0" spc="295"/>
              <a:t> </a:t>
            </a:r>
            <a:r>
              <a:rPr dirty="0"/>
              <a:t>간</a:t>
            </a:r>
            <a:r>
              <a:rPr dirty="0" spc="300"/>
              <a:t> </a:t>
            </a:r>
            <a:r>
              <a:rPr dirty="0"/>
              <a:t>정보의</a:t>
            </a:r>
            <a:r>
              <a:rPr dirty="0" spc="295"/>
              <a:t> </a:t>
            </a:r>
            <a:r>
              <a:rPr dirty="0" spc="-5"/>
              <a:t>차이는</a:t>
            </a:r>
            <a:r>
              <a:rPr dirty="0" spc="300"/>
              <a:t> </a:t>
            </a:r>
            <a:r>
              <a:rPr dirty="0"/>
              <a:t>마치</a:t>
            </a:r>
            <a:r>
              <a:rPr dirty="0" spc="300"/>
              <a:t> </a:t>
            </a:r>
            <a:r>
              <a:rPr dirty="0" spc="-5"/>
              <a:t>생산기술에서</a:t>
            </a:r>
            <a:r>
              <a:rPr dirty="0" spc="295"/>
              <a:t> </a:t>
            </a:r>
            <a:r>
              <a:rPr dirty="0" spc="-5"/>
              <a:t>개인별</a:t>
            </a:r>
            <a:r>
              <a:rPr dirty="0" spc="315"/>
              <a:t> </a:t>
            </a:r>
            <a:r>
              <a:rPr dirty="0" spc="-5"/>
              <a:t>차이와</a:t>
            </a:r>
            <a:r>
              <a:rPr dirty="0" spc="295"/>
              <a:t> </a:t>
            </a:r>
            <a:r>
              <a:rPr dirty="0"/>
              <a:t>같 </a:t>
            </a:r>
            <a:r>
              <a:rPr dirty="0" spc="-690"/>
              <a:t> </a:t>
            </a:r>
            <a:r>
              <a:rPr dirty="0"/>
              <a:t>이 </a:t>
            </a:r>
            <a:r>
              <a:rPr dirty="0" spc="-5"/>
              <a:t>시장기구에 </a:t>
            </a:r>
            <a:r>
              <a:rPr dirty="0" spc="-10"/>
              <a:t>의한 </a:t>
            </a:r>
            <a:r>
              <a:rPr dirty="0"/>
              <a:t>거래를 </a:t>
            </a:r>
            <a:r>
              <a:rPr dirty="0" spc="-5"/>
              <a:t>통하여 상호보완적 </a:t>
            </a:r>
            <a:r>
              <a:rPr dirty="0"/>
              <a:t>기능을 </a:t>
            </a:r>
            <a:r>
              <a:rPr dirty="0" spc="-10"/>
              <a:t>수행 </a:t>
            </a:r>
            <a:r>
              <a:rPr dirty="0" spc="-5"/>
              <a:t> </a:t>
            </a:r>
            <a:r>
              <a:rPr dirty="0" spc="20"/>
              <a:t>하고,</a:t>
            </a:r>
            <a:r>
              <a:rPr dirty="0" spc="285"/>
              <a:t> </a:t>
            </a:r>
            <a:r>
              <a:rPr dirty="0" spc="-5"/>
              <a:t>긍정적인</a:t>
            </a:r>
            <a:r>
              <a:rPr dirty="0" spc="285"/>
              <a:t> </a:t>
            </a:r>
            <a:r>
              <a:rPr dirty="0" spc="-5"/>
              <a:t>결과를</a:t>
            </a:r>
            <a:r>
              <a:rPr dirty="0" spc="290"/>
              <a:t> </a:t>
            </a:r>
            <a:r>
              <a:rPr dirty="0" spc="10"/>
              <a:t>초래한다.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/>
          </a:p>
          <a:p>
            <a:pPr algn="just" marL="311150" marR="6350" indent="-311150">
              <a:lnSpc>
                <a:spcPct val="133400"/>
              </a:lnSpc>
              <a:buChar char="-"/>
              <a:tabLst>
                <a:tab pos="311150" algn="l"/>
              </a:tabLst>
            </a:pPr>
            <a:r>
              <a:rPr dirty="0" spc="40"/>
              <a:t>Arrow</a:t>
            </a:r>
            <a:r>
              <a:rPr dirty="0" spc="390"/>
              <a:t> </a:t>
            </a:r>
            <a:r>
              <a:rPr dirty="0" spc="140"/>
              <a:t>:</a:t>
            </a:r>
            <a:r>
              <a:rPr dirty="0" spc="385"/>
              <a:t> </a:t>
            </a:r>
            <a:r>
              <a:rPr dirty="0" spc="-5"/>
              <a:t>시장은</a:t>
            </a:r>
            <a:r>
              <a:rPr dirty="0" spc="395"/>
              <a:t> </a:t>
            </a:r>
            <a:r>
              <a:rPr dirty="0" spc="-5"/>
              <a:t>개인들</a:t>
            </a:r>
            <a:r>
              <a:rPr dirty="0" spc="390"/>
              <a:t> </a:t>
            </a:r>
            <a:r>
              <a:rPr dirty="0"/>
              <a:t>상호</a:t>
            </a:r>
            <a:r>
              <a:rPr dirty="0" spc="380"/>
              <a:t> </a:t>
            </a:r>
            <a:r>
              <a:rPr dirty="0"/>
              <a:t>간</a:t>
            </a:r>
            <a:r>
              <a:rPr dirty="0" spc="395"/>
              <a:t> </a:t>
            </a:r>
            <a:r>
              <a:rPr dirty="0" spc="-5"/>
              <a:t>중요한</a:t>
            </a:r>
            <a:r>
              <a:rPr dirty="0" spc="390"/>
              <a:t> </a:t>
            </a:r>
            <a:r>
              <a:rPr dirty="0" spc="-5"/>
              <a:t>정보의</a:t>
            </a:r>
            <a:r>
              <a:rPr dirty="0" spc="395"/>
              <a:t> </a:t>
            </a:r>
            <a:r>
              <a:rPr dirty="0" spc="-5"/>
              <a:t>차이를</a:t>
            </a:r>
            <a:r>
              <a:rPr dirty="0" spc="395"/>
              <a:t> </a:t>
            </a:r>
            <a:r>
              <a:rPr dirty="0" spc="-5"/>
              <a:t>조절해</a:t>
            </a:r>
            <a:r>
              <a:rPr dirty="0" spc="375"/>
              <a:t> </a:t>
            </a:r>
            <a:r>
              <a:rPr dirty="0"/>
              <a:t>줄</a:t>
            </a:r>
            <a:r>
              <a:rPr dirty="0" spc="395"/>
              <a:t> </a:t>
            </a:r>
            <a:r>
              <a:rPr dirty="0"/>
              <a:t>수 </a:t>
            </a:r>
            <a:r>
              <a:rPr dirty="0" spc="-690"/>
              <a:t> </a:t>
            </a:r>
            <a:r>
              <a:rPr dirty="0"/>
              <a:t>없는</a:t>
            </a:r>
            <a:r>
              <a:rPr dirty="0" spc="285"/>
              <a:t> </a:t>
            </a:r>
            <a:r>
              <a:rPr dirty="0" spc="-5"/>
              <a:t>비효율적인</a:t>
            </a:r>
            <a:r>
              <a:rPr dirty="0" spc="285"/>
              <a:t> </a:t>
            </a:r>
            <a:r>
              <a:rPr dirty="0" spc="10"/>
              <a:t>기구이다.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Malgun Gothic"/>
              <a:buChar char="-"/>
            </a:pPr>
            <a:endParaRPr sz="1750"/>
          </a:p>
          <a:p>
            <a:pPr marL="328930" marR="5080" indent="-316865">
              <a:lnSpc>
                <a:spcPct val="133400"/>
              </a:lnSpc>
              <a:buChar char="-"/>
              <a:tabLst>
                <a:tab pos="328930" algn="l"/>
                <a:tab pos="329565" algn="l"/>
                <a:tab pos="1501140" algn="l"/>
                <a:tab pos="2419350" algn="l"/>
                <a:tab pos="3338829" algn="l"/>
                <a:tab pos="4256405" algn="l"/>
                <a:tab pos="5175885" algn="l"/>
                <a:tab pos="5840095" algn="l"/>
                <a:tab pos="7266305" algn="l"/>
              </a:tabLst>
            </a:pPr>
            <a:r>
              <a:rPr dirty="0" spc="-15"/>
              <a:t>개</a:t>
            </a:r>
            <a:r>
              <a:rPr dirty="0"/>
              <a:t>인별로</a:t>
            </a:r>
            <a:r>
              <a:rPr dirty="0"/>
              <a:t>	</a:t>
            </a:r>
            <a:r>
              <a:rPr dirty="0"/>
              <a:t>소</a:t>
            </a:r>
            <a:r>
              <a:rPr dirty="0" spc="-15"/>
              <a:t>유</a:t>
            </a:r>
            <a:r>
              <a:rPr dirty="0"/>
              <a:t>한</a:t>
            </a:r>
            <a:r>
              <a:rPr dirty="0"/>
              <a:t>	</a:t>
            </a:r>
            <a:r>
              <a:rPr dirty="0"/>
              <a:t>정보를</a:t>
            </a:r>
            <a:r>
              <a:rPr dirty="0"/>
              <a:t>	</a:t>
            </a:r>
            <a:r>
              <a:rPr dirty="0" spc="-15"/>
              <a:t>토</a:t>
            </a:r>
            <a:r>
              <a:rPr dirty="0"/>
              <a:t>대로</a:t>
            </a:r>
            <a:r>
              <a:rPr dirty="0"/>
              <a:t>	</a:t>
            </a:r>
            <a:r>
              <a:rPr dirty="0"/>
              <a:t>경</a:t>
            </a:r>
            <a:r>
              <a:rPr dirty="0" spc="-15"/>
              <a:t>쟁</a:t>
            </a:r>
            <a:r>
              <a:rPr dirty="0"/>
              <a:t>을</a:t>
            </a:r>
            <a:r>
              <a:rPr dirty="0"/>
              <a:t>	</a:t>
            </a:r>
            <a:r>
              <a:rPr dirty="0" spc="-15"/>
              <a:t>하</a:t>
            </a:r>
            <a:r>
              <a:rPr dirty="0"/>
              <a:t>는</a:t>
            </a:r>
            <a:r>
              <a:rPr dirty="0"/>
              <a:t>	</a:t>
            </a:r>
            <a:r>
              <a:rPr dirty="0"/>
              <a:t>시장</a:t>
            </a:r>
            <a:r>
              <a:rPr dirty="0" spc="-15"/>
              <a:t>제</a:t>
            </a:r>
            <a:r>
              <a:rPr dirty="0"/>
              <a:t>도는</a:t>
            </a:r>
            <a:r>
              <a:rPr dirty="0"/>
              <a:t>	</a:t>
            </a:r>
            <a:r>
              <a:rPr dirty="0"/>
              <a:t>위</a:t>
            </a:r>
            <a:r>
              <a:rPr dirty="0" spc="-15"/>
              <a:t>험</a:t>
            </a:r>
            <a:r>
              <a:rPr dirty="0"/>
              <a:t>분산의  </a:t>
            </a:r>
            <a:r>
              <a:rPr dirty="0" spc="-5"/>
              <a:t>기능을</a:t>
            </a:r>
            <a:r>
              <a:rPr dirty="0" spc="285"/>
              <a:t> </a:t>
            </a:r>
            <a:r>
              <a:rPr dirty="0" spc="-5"/>
              <a:t>제대로</a:t>
            </a:r>
            <a:r>
              <a:rPr dirty="0" spc="285"/>
              <a:t> </a:t>
            </a:r>
            <a:r>
              <a:rPr dirty="0"/>
              <a:t>할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90"/>
              <a:t> </a:t>
            </a:r>
            <a:r>
              <a:rPr dirty="0"/>
              <a:t>없기</a:t>
            </a:r>
            <a:r>
              <a:rPr dirty="0" spc="285"/>
              <a:t> </a:t>
            </a:r>
            <a:r>
              <a:rPr dirty="0" spc="-5"/>
              <a:t>때문에</a:t>
            </a:r>
            <a:r>
              <a:rPr dirty="0" spc="285"/>
              <a:t> </a:t>
            </a:r>
            <a:r>
              <a:rPr dirty="0" spc="-5"/>
              <a:t>사회보험의</a:t>
            </a:r>
            <a:r>
              <a:rPr dirty="0" spc="290"/>
              <a:t> </a:t>
            </a:r>
            <a:r>
              <a:rPr dirty="0" spc="-5"/>
              <a:t>필요성이</a:t>
            </a:r>
            <a:r>
              <a:rPr dirty="0" spc="285"/>
              <a:t> </a:t>
            </a:r>
            <a:r>
              <a:rPr dirty="0" spc="10"/>
              <a:t>제기된다.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276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사회보험의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필요성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mbria"/>
              <a:buChar char="○"/>
            </a:pPr>
            <a:endParaRPr sz="1750">
              <a:latin typeface="Malgun Gothic"/>
              <a:cs typeface="Malgun Gothic"/>
            </a:endParaRPr>
          </a:p>
          <a:p>
            <a:pPr lvl="1" marL="440055" marR="5080" indent="-301625">
              <a:lnSpc>
                <a:spcPct val="133400"/>
              </a:lnSpc>
              <a:buChar char="-"/>
              <a:tabLst>
                <a:tab pos="440055" algn="l"/>
                <a:tab pos="440690" algn="l"/>
                <a:tab pos="1343025" algn="l"/>
                <a:tab pos="2245360" algn="l"/>
                <a:tab pos="3655060" algn="l"/>
                <a:tab pos="5064760" algn="l"/>
                <a:tab pos="5967730" algn="l"/>
                <a:tab pos="6617970" algn="l"/>
                <a:tab pos="7773034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취</a:t>
            </a:r>
            <a:r>
              <a:rPr dirty="0" sz="2000" b="1">
                <a:latin typeface="Malgun Gothic"/>
                <a:cs typeface="Malgun Gothic"/>
              </a:rPr>
              <a:t>업과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실</a:t>
            </a:r>
            <a:r>
              <a:rPr dirty="0" sz="2000" b="1">
                <a:latin typeface="Malgun Gothic"/>
                <a:cs typeface="Malgun Gothic"/>
              </a:rPr>
              <a:t>업의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선</a:t>
            </a:r>
            <a:r>
              <a:rPr dirty="0" sz="2000" b="1">
                <a:latin typeface="Malgun Gothic"/>
                <a:cs typeface="Malgun Gothic"/>
              </a:rPr>
              <a:t>택문</a:t>
            </a:r>
            <a:r>
              <a:rPr dirty="0" sz="2000" spc="-15" b="1"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회</a:t>
            </a:r>
            <a:r>
              <a:rPr dirty="0" sz="2000" b="1">
                <a:latin typeface="Malgun Gothic"/>
                <a:cs typeface="Malgun Gothic"/>
              </a:rPr>
              <a:t>구조적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요인에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의해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발</a:t>
            </a:r>
            <a:r>
              <a:rPr dirty="0" sz="2000" b="1">
                <a:latin typeface="Malgun Gothic"/>
                <a:cs typeface="Malgun Gothic"/>
              </a:rPr>
              <a:t>생하는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사회적 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산물</a:t>
            </a:r>
            <a:r>
              <a:rPr dirty="0" sz="2000" spc="-5" b="1">
                <a:latin typeface="Malgun Gothic"/>
                <a:cs typeface="Malgun Gothic"/>
              </a:rPr>
              <a:t>이기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때문에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사회보험이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바람직한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정책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대안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lvl="1" marL="459740" marR="6350" indent="-321310">
              <a:lnSpc>
                <a:spcPct val="133400"/>
              </a:lnSpc>
              <a:buChar char="-"/>
              <a:tabLst>
                <a:tab pos="459740" algn="l"/>
                <a:tab pos="460375" algn="l"/>
                <a:tab pos="2143760" algn="l"/>
                <a:tab pos="3066415" algn="l"/>
                <a:tab pos="4497070" algn="l"/>
                <a:tab pos="5928360" algn="l"/>
                <a:tab pos="6596380" algn="l"/>
                <a:tab pos="8027670" algn="l"/>
              </a:tabLst>
            </a:pPr>
            <a:r>
              <a:rPr dirty="0" sz="2000" b="1">
                <a:latin typeface="Malgun Gothic"/>
                <a:cs typeface="Malgun Gothic"/>
              </a:rPr>
              <a:t>공</a:t>
            </a:r>
            <a:r>
              <a:rPr dirty="0" sz="2000" spc="-15" b="1">
                <a:latin typeface="Malgun Gothic"/>
                <a:cs typeface="Malgun Gothic"/>
              </a:rPr>
              <a:t>급</a:t>
            </a:r>
            <a:r>
              <a:rPr dirty="0" sz="2000" b="1">
                <a:latin typeface="Malgun Gothic"/>
                <a:cs typeface="Malgun Gothic"/>
              </a:rPr>
              <a:t>측면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정보의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실패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문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회</a:t>
            </a:r>
            <a:r>
              <a:rPr dirty="0" sz="2000" b="1">
                <a:latin typeface="Malgun Gothic"/>
                <a:cs typeface="Malgun Gothic"/>
              </a:rPr>
              <a:t>보험을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통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국가</a:t>
            </a: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입의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당  </a:t>
            </a:r>
            <a:r>
              <a:rPr dirty="0" sz="2000" b="1">
                <a:latin typeface="Malgun Gothic"/>
                <a:cs typeface="Malgun Gothic"/>
              </a:rPr>
              <a:t>성을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이론적으로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뒷받침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19087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2)</a:t>
            </a:r>
            <a:r>
              <a:rPr dirty="0" spc="265"/>
              <a:t> </a:t>
            </a:r>
            <a:r>
              <a:rPr dirty="0" spc="-5"/>
              <a:t>사회보험의</a:t>
            </a:r>
            <a:r>
              <a:rPr dirty="0" spc="270"/>
              <a:t> </a:t>
            </a:r>
            <a:r>
              <a:rPr dirty="0" spc="-5"/>
              <a:t>기본적</a:t>
            </a:r>
            <a:r>
              <a:rPr dirty="0" spc="265"/>
              <a:t> </a:t>
            </a:r>
            <a:r>
              <a:rPr dirty="0"/>
              <a:t>특징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9387" rIns="0" bIns="0" rtlCol="0" vert="horz">
            <a:spAutoFit/>
          </a:bodyPr>
          <a:lstStyle/>
          <a:p>
            <a:pPr marL="283210" marR="5080" indent="-27114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83210" algn="l"/>
                <a:tab pos="283845" algn="l"/>
                <a:tab pos="1187450" algn="l"/>
                <a:tab pos="2346325" algn="l"/>
                <a:tab pos="3757295" algn="l"/>
                <a:tab pos="4915535" algn="l"/>
                <a:tab pos="5313045" algn="l"/>
                <a:tab pos="5964555" algn="l"/>
                <a:tab pos="6868795" algn="l"/>
                <a:tab pos="8281670" algn="l"/>
              </a:tabLst>
            </a:pPr>
            <a:r>
              <a:rPr dirty="0" spc="-15"/>
              <a:t>가</a:t>
            </a:r>
            <a:r>
              <a:rPr dirty="0"/>
              <a:t>입의</a:t>
            </a:r>
            <a:r>
              <a:rPr dirty="0"/>
              <a:t>	</a:t>
            </a:r>
            <a:r>
              <a:rPr dirty="0"/>
              <a:t>강</a:t>
            </a:r>
            <a:r>
              <a:rPr dirty="0" spc="-15"/>
              <a:t>제</a:t>
            </a:r>
            <a:r>
              <a:rPr dirty="0"/>
              <a:t>성은</a:t>
            </a:r>
            <a:r>
              <a:rPr dirty="0"/>
              <a:t>	</a:t>
            </a:r>
            <a:r>
              <a:rPr dirty="0" spc="-15"/>
              <a:t>사</a:t>
            </a:r>
            <a:r>
              <a:rPr dirty="0"/>
              <a:t>회문</a:t>
            </a:r>
            <a:r>
              <a:rPr dirty="0" spc="-15"/>
              <a:t>제</a:t>
            </a:r>
            <a:r>
              <a:rPr dirty="0"/>
              <a:t>의</a:t>
            </a:r>
            <a:r>
              <a:rPr dirty="0"/>
              <a:t>	</a:t>
            </a:r>
            <a:r>
              <a:rPr dirty="0"/>
              <a:t>해결</a:t>
            </a:r>
            <a:r>
              <a:rPr dirty="0" spc="-15"/>
              <a:t>에</a:t>
            </a:r>
            <a:r>
              <a:rPr dirty="0"/>
              <a:t>서</a:t>
            </a:r>
            <a:r>
              <a:rPr dirty="0"/>
              <a:t>	</a:t>
            </a:r>
            <a:r>
              <a:rPr dirty="0"/>
              <a:t>세</a:t>
            </a:r>
            <a:r>
              <a:rPr dirty="0"/>
              <a:t>	</a:t>
            </a:r>
            <a:r>
              <a:rPr dirty="0"/>
              <a:t>가지</a:t>
            </a:r>
            <a:r>
              <a:rPr dirty="0"/>
              <a:t>	</a:t>
            </a:r>
            <a:r>
              <a:rPr dirty="0" spc="-15"/>
              <a:t>제</a:t>
            </a:r>
            <a:r>
              <a:rPr dirty="0"/>
              <a:t>도적</a:t>
            </a:r>
            <a:r>
              <a:rPr dirty="0"/>
              <a:t>	</a:t>
            </a:r>
            <a:r>
              <a:rPr dirty="0"/>
              <a:t>대</a:t>
            </a:r>
            <a:r>
              <a:rPr dirty="0" spc="-15"/>
              <a:t>처</a:t>
            </a:r>
            <a:r>
              <a:rPr dirty="0"/>
              <a:t>방안을</a:t>
            </a:r>
            <a:r>
              <a:rPr dirty="0"/>
              <a:t>	</a:t>
            </a:r>
            <a:r>
              <a:rPr dirty="0"/>
              <a:t>제  </a:t>
            </a:r>
            <a:r>
              <a:rPr dirty="0" spc="-10"/>
              <a:t>시할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90"/>
              <a:t> </a:t>
            </a:r>
            <a:r>
              <a:rPr dirty="0" spc="20"/>
              <a:t>있다.</a:t>
            </a:r>
          </a:p>
          <a:p>
            <a:pPr>
              <a:lnSpc>
                <a:spcPct val="100000"/>
              </a:lnSpc>
              <a:buFont typeface="Cambria"/>
              <a:buChar char="○"/>
            </a:pPr>
            <a:endParaRPr sz="2200"/>
          </a:p>
          <a:p>
            <a:pPr lvl="1" marL="432434" indent="-308610">
              <a:lnSpc>
                <a:spcPct val="100000"/>
              </a:lnSpc>
              <a:buChar char="-"/>
              <a:tabLst>
                <a:tab pos="418465" algn="l"/>
                <a:tab pos="433070" algn="l"/>
                <a:tab pos="2365375" algn="l"/>
                <a:tab pos="3983354" algn="l"/>
                <a:tab pos="5740400" algn="l"/>
                <a:tab pos="6635750" algn="l"/>
                <a:tab pos="8037830" algn="l"/>
              </a:tabLst>
            </a:pPr>
            <a:r>
              <a:rPr dirty="0" sz="2000" spc="20" b="1">
                <a:latin typeface="Malgun Gothic"/>
                <a:cs typeface="Malgun Gothic"/>
              </a:rPr>
              <a:t>사회보험(social	</a:t>
            </a:r>
            <a:r>
              <a:rPr dirty="0" sz="2000" spc="15" b="1">
                <a:latin typeface="Malgun Gothic"/>
                <a:cs typeface="Malgun Gothic"/>
              </a:rPr>
              <a:t>insurance)</a:t>
            </a:r>
            <a:r>
              <a:rPr dirty="0" sz="2000" spc="34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	</a:t>
            </a:r>
            <a:r>
              <a:rPr dirty="0" sz="2000" spc="60" b="1">
                <a:latin typeface="Malgun Gothic"/>
                <a:cs typeface="Malgun Gothic"/>
              </a:rPr>
              <a:t>1948-1975년	</a:t>
            </a:r>
            <a:r>
              <a:rPr dirty="0" sz="2000" spc="-5" b="1">
                <a:latin typeface="Malgun Gothic"/>
                <a:cs typeface="Malgun Gothic"/>
              </a:rPr>
              <a:t>영국의	정액보험료	</a:t>
            </a:r>
            <a:r>
              <a:rPr dirty="0" sz="2000" spc="-130" b="1">
                <a:latin typeface="Malgun Gothic"/>
                <a:cs typeface="Malgun Gothic"/>
              </a:rPr>
              <a:t>/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</a:t>
            </a:r>
            <a:endParaRPr sz="2000">
              <a:latin typeface="Malgun Gothic"/>
              <a:cs typeface="Malgun Gothic"/>
            </a:endParaRPr>
          </a:p>
          <a:p>
            <a:pPr marL="3997960">
              <a:lnSpc>
                <a:spcPct val="100000"/>
              </a:lnSpc>
              <a:spcBef>
                <a:spcPts val="805"/>
              </a:spcBef>
            </a:pPr>
            <a:r>
              <a:rPr dirty="0" spc="-5"/>
              <a:t>득비례</a:t>
            </a:r>
            <a:r>
              <a:rPr dirty="0" spc="235"/>
              <a:t> </a:t>
            </a:r>
            <a:r>
              <a:rPr dirty="0"/>
              <a:t>보험료</a:t>
            </a:r>
          </a:p>
          <a:p>
            <a:pPr>
              <a:lnSpc>
                <a:spcPct val="100000"/>
              </a:lnSpc>
            </a:pPr>
            <a:endParaRPr sz="2200"/>
          </a:p>
          <a:p>
            <a:pPr lvl="1" marL="443230" indent="-318135">
              <a:lnSpc>
                <a:spcPct val="100000"/>
              </a:lnSpc>
              <a:buChar char="-"/>
              <a:tabLst>
                <a:tab pos="430530" algn="l"/>
                <a:tab pos="443865" algn="l"/>
                <a:tab pos="1337945" algn="l"/>
                <a:tab pos="3195320" algn="l"/>
                <a:tab pos="4408170" algn="l"/>
                <a:tab pos="4638040" algn="l"/>
                <a:tab pos="5545455" algn="l"/>
                <a:tab pos="6273165" algn="l"/>
                <a:tab pos="7507605" algn="l"/>
              </a:tabLst>
            </a:pPr>
            <a:r>
              <a:rPr dirty="0" sz="2000" b="1">
                <a:latin typeface="Malgun Gothic"/>
                <a:cs typeface="Malgun Gothic"/>
              </a:rPr>
              <a:t>보편적	</a:t>
            </a:r>
            <a:r>
              <a:rPr dirty="0" sz="2000" spc="15" b="1">
                <a:latin typeface="Malgun Gothic"/>
                <a:cs typeface="Malgun Gothic"/>
              </a:rPr>
              <a:t>급여(universal	</a:t>
            </a:r>
            <a:r>
              <a:rPr dirty="0" sz="2000" b="1">
                <a:latin typeface="Malgun Gothic"/>
                <a:cs typeface="Malgun Gothic"/>
              </a:rPr>
              <a:t>benefits)	</a:t>
            </a:r>
            <a:r>
              <a:rPr dirty="0" sz="2000" spc="140" b="1">
                <a:latin typeface="Malgun Gothic"/>
                <a:cs typeface="Malgun Gothic"/>
              </a:rPr>
              <a:t>:	</a:t>
            </a:r>
            <a:r>
              <a:rPr dirty="0" sz="2000" b="1">
                <a:latin typeface="Malgun Gothic"/>
                <a:cs typeface="Malgun Gothic"/>
              </a:rPr>
              <a:t>조세를	</a:t>
            </a:r>
            <a:r>
              <a:rPr dirty="0" sz="2000" spc="15" b="1">
                <a:latin typeface="Malgun Gothic"/>
                <a:cs typeface="Malgun Gothic"/>
              </a:rPr>
              <a:t>재원,	</a:t>
            </a:r>
            <a:r>
              <a:rPr dirty="0" sz="2000" spc="5" b="1">
                <a:latin typeface="Malgun Gothic"/>
                <a:cs typeface="Malgun Gothic"/>
              </a:rPr>
              <a:t>기초연금,	</a:t>
            </a:r>
            <a:r>
              <a:rPr dirty="0" sz="2000" spc="-5" b="1">
                <a:latin typeface="Malgun Gothic"/>
                <a:cs typeface="Malgun Gothic"/>
              </a:rPr>
              <a:t>무상의료</a:t>
            </a:r>
            <a:endParaRPr sz="2000">
              <a:latin typeface="Malgun Gothic"/>
              <a:cs typeface="Malgun Gothic"/>
            </a:endParaRPr>
          </a:p>
          <a:p>
            <a:pPr algn="ctr" marL="1768475">
              <a:lnSpc>
                <a:spcPct val="100000"/>
              </a:lnSpc>
              <a:spcBef>
                <a:spcPts val="805"/>
              </a:spcBef>
            </a:pPr>
            <a:r>
              <a:rPr dirty="0" spc="-5"/>
              <a:t>보장제도</a:t>
            </a:r>
          </a:p>
          <a:p>
            <a:pPr>
              <a:lnSpc>
                <a:spcPct val="100000"/>
              </a:lnSpc>
            </a:pPr>
            <a:endParaRPr sz="2200"/>
          </a:p>
          <a:p>
            <a:pPr lvl="1" marL="438784" indent="-314960">
              <a:lnSpc>
                <a:spcPct val="100000"/>
              </a:lnSpc>
              <a:buChar char="-"/>
              <a:tabLst>
                <a:tab pos="424180" algn="l"/>
                <a:tab pos="439420" algn="l"/>
                <a:tab pos="2377440" algn="l"/>
                <a:tab pos="3877310" algn="l"/>
                <a:tab pos="4102100" algn="l"/>
                <a:tab pos="5003800" algn="l"/>
                <a:tab pos="6603365" algn="l"/>
                <a:tab pos="8013065" algn="l"/>
              </a:tabLst>
            </a:pPr>
            <a:r>
              <a:rPr dirty="0" sz="2000" spc="20" b="1">
                <a:latin typeface="Malgun Gothic"/>
                <a:cs typeface="Malgun Gothic"/>
              </a:rPr>
              <a:t>사회부조(social	</a:t>
            </a:r>
            <a:r>
              <a:rPr dirty="0" sz="2000" spc="35" b="1">
                <a:latin typeface="Malgun Gothic"/>
                <a:cs typeface="Malgun Gothic"/>
              </a:rPr>
              <a:t>assistance)	</a:t>
            </a:r>
            <a:r>
              <a:rPr dirty="0" sz="2000" spc="140" b="1">
                <a:latin typeface="Malgun Gothic"/>
                <a:cs typeface="Malgun Gothic"/>
              </a:rPr>
              <a:t>:	</a:t>
            </a:r>
            <a:r>
              <a:rPr dirty="0" sz="2000" spc="-5" b="1">
                <a:latin typeface="Malgun Gothic"/>
                <a:cs typeface="Malgun Gothic"/>
              </a:rPr>
              <a:t>특정한	</a:t>
            </a:r>
            <a:r>
              <a:rPr dirty="0" sz="2000" spc="5" b="1">
                <a:latin typeface="Malgun Gothic"/>
                <a:cs typeface="Malgun Gothic"/>
              </a:rPr>
              <a:t>상황(빈곤)과	</a:t>
            </a:r>
            <a:r>
              <a:rPr dirty="0" sz="2000" spc="-5" b="1">
                <a:latin typeface="Malgun Gothic"/>
                <a:cs typeface="Malgun Gothic"/>
              </a:rPr>
              <a:t>소득조사에	</a:t>
            </a:r>
            <a:r>
              <a:rPr dirty="0" sz="2000" spc="-10" b="1">
                <a:latin typeface="Malgun Gothic"/>
                <a:cs typeface="Malgun Gothic"/>
              </a:rPr>
              <a:t>기초</a:t>
            </a:r>
            <a:endParaRPr sz="2000">
              <a:latin typeface="Malgun Gothic"/>
              <a:cs typeface="Malgun Gothic"/>
            </a:endParaRPr>
          </a:p>
          <a:p>
            <a:pPr marL="4116704">
              <a:lnSpc>
                <a:spcPct val="100000"/>
              </a:lnSpc>
              <a:spcBef>
                <a:spcPts val="805"/>
              </a:spcBef>
            </a:pPr>
            <a:r>
              <a:rPr dirty="0"/>
              <a:t>하여</a:t>
            </a:r>
            <a:r>
              <a:rPr dirty="0" spc="235"/>
              <a:t> </a:t>
            </a:r>
            <a:r>
              <a:rPr dirty="0" spc="-10"/>
              <a:t>제공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4119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사회보험과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민영보험의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차이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mbria"/>
              <a:buChar char="○"/>
            </a:pPr>
            <a:endParaRPr sz="1750">
              <a:latin typeface="Malgun Gothic"/>
              <a:cs typeface="Malgun Gothic"/>
            </a:endParaRPr>
          </a:p>
          <a:p>
            <a:pPr algn="just" lvl="1" marL="440055" marR="5080" indent="-301625">
              <a:lnSpc>
                <a:spcPct val="133200"/>
              </a:lnSpc>
              <a:buChar char="-"/>
              <a:tabLst>
                <a:tab pos="44069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가입의 강제성으로 </a:t>
            </a:r>
            <a:r>
              <a:rPr dirty="0" sz="2000" b="1">
                <a:latin typeface="Malgun Gothic"/>
                <a:cs typeface="Malgun Gothic"/>
              </a:rPr>
              <a:t>인해 반드시 </a:t>
            </a:r>
            <a:r>
              <a:rPr dirty="0" sz="2000" spc="-5" b="1">
                <a:latin typeface="Malgun Gothic"/>
                <a:cs typeface="Malgun Gothic"/>
              </a:rPr>
              <a:t>보험수리적으로 보험료가 책정될 </a:t>
            </a:r>
            <a:r>
              <a:rPr dirty="0" sz="2000" b="1">
                <a:latin typeface="Malgun Gothic"/>
                <a:cs typeface="Malgun Gothic"/>
              </a:rPr>
              <a:t>필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요가</a:t>
            </a:r>
            <a:r>
              <a:rPr dirty="0" sz="2000" spc="-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없다. </a:t>
            </a:r>
            <a:r>
              <a:rPr dirty="0" sz="2000" spc="-5" b="1">
                <a:latin typeface="Malgun Gothic"/>
                <a:cs typeface="Malgun Gothic"/>
              </a:rPr>
              <a:t>따라서</a:t>
            </a:r>
            <a:r>
              <a:rPr dirty="0" sz="20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사회보험에서</a:t>
            </a:r>
            <a:r>
              <a:rPr dirty="0" sz="2000" spc="6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위험분산의</a:t>
            </a:r>
            <a:r>
              <a:rPr dirty="0" sz="2000" spc="6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기능은</a:t>
            </a:r>
            <a:r>
              <a:rPr dirty="0" sz="2000" spc="6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선택사안이</a:t>
            </a:r>
            <a:r>
              <a:rPr dirty="0" sz="2000" spc="6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algn="just" lvl="1" marL="424815" indent="-287020">
              <a:lnSpc>
                <a:spcPct val="100000"/>
              </a:lnSpc>
              <a:spcBef>
                <a:spcPts val="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사회보험에서의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계약내용은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구체적이지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않다</a:t>
            </a:r>
            <a:endParaRPr sz="2000">
              <a:latin typeface="Malgun Gothic"/>
              <a:cs typeface="Malgun Gothic"/>
            </a:endParaRPr>
          </a:p>
          <a:p>
            <a:pPr algn="just" marL="647065" marR="6350" indent="-254635">
              <a:lnSpc>
                <a:spcPct val="132000"/>
              </a:lnSpc>
              <a:spcBef>
                <a:spcPts val="20"/>
              </a:spcBef>
            </a:pPr>
            <a:r>
              <a:rPr dirty="0" sz="2000" spc="50">
                <a:latin typeface="Cambria"/>
                <a:cs typeface="Cambria"/>
              </a:rPr>
              <a:t>▸</a:t>
            </a:r>
            <a:r>
              <a:rPr dirty="0" sz="2000" spc="50" b="1">
                <a:latin typeface="Malgun Gothic"/>
                <a:cs typeface="Malgun Gothic"/>
              </a:rPr>
              <a:t>사회보험은 </a:t>
            </a:r>
            <a:r>
              <a:rPr dirty="0" sz="2000" spc="-5" b="1">
                <a:latin typeface="Malgun Gothic"/>
                <a:cs typeface="Malgun Gothic"/>
              </a:rPr>
              <a:t>민간시장에서는 보험의 성립이 불가능한 </a:t>
            </a:r>
            <a:r>
              <a:rPr dirty="0" sz="2000" spc="15" b="1">
                <a:latin typeface="Malgun Gothic"/>
                <a:cs typeface="Malgun Gothic"/>
              </a:rPr>
              <a:t>위험(실업, </a:t>
            </a:r>
            <a:r>
              <a:rPr dirty="0" sz="2000" b="1">
                <a:latin typeface="Malgun Gothic"/>
                <a:cs typeface="Malgun Gothic"/>
              </a:rPr>
              <a:t>전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염병), </a:t>
            </a:r>
            <a:r>
              <a:rPr dirty="0" sz="2000" spc="-5" b="1">
                <a:latin typeface="Malgun Gothic"/>
                <a:cs typeface="Malgun Gothic"/>
              </a:rPr>
              <a:t>시간의 경과에 </a:t>
            </a:r>
            <a:r>
              <a:rPr dirty="0" sz="2000" spc="-10" b="1">
                <a:latin typeface="Malgun Gothic"/>
                <a:cs typeface="Malgun Gothic"/>
              </a:rPr>
              <a:t>따라 </a:t>
            </a:r>
            <a:r>
              <a:rPr dirty="0" sz="2000" spc="-5" b="1">
                <a:latin typeface="Malgun Gothic"/>
                <a:cs typeface="Malgun Gothic"/>
              </a:rPr>
              <a:t>위험의 본질이나 특성이 변화하여 </a:t>
            </a:r>
            <a:r>
              <a:rPr dirty="0" sz="2400" spc="-5" b="1">
                <a:solidFill>
                  <a:srgbClr val="0000FF"/>
                </a:solidFill>
                <a:latin typeface="Malgun Gothic"/>
                <a:cs typeface="Malgun Gothic"/>
              </a:rPr>
              <a:t>불확 </a:t>
            </a:r>
            <a:r>
              <a:rPr dirty="0" sz="240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Malgun Gothic"/>
                <a:cs typeface="Malgun Gothic"/>
              </a:rPr>
              <a:t>실성</a:t>
            </a:r>
            <a:r>
              <a:rPr dirty="0" sz="2000" spc="-5" b="1">
                <a:latin typeface="Malgun Gothic"/>
                <a:cs typeface="Malgun Gothic"/>
              </a:rPr>
              <a:t>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보이는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장기성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대해서도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보장할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2024-11-26T21:13:19Z</dcterms:created>
  <dcterms:modified xsi:type="dcterms:W3CDTF">2024-11-26T21:13:19Z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Call PDF</vt:lpwstr>
  </property>
</Properties>
</file>