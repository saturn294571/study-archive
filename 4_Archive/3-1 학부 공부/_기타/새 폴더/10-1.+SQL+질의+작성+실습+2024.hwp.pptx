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7556500" cy="10680700"/>
  <p:notesSz cx="7556500" cy="106807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26" autoAdjust="0"/>
  </p:normalViewPr>
  <p:slideViewPr>
    <p:cSldViewPr>
      <p:cViewPr>
        <p:scale>
          <a:sx n="125" d="100"/>
          <a:sy n="125" d="100"/>
        </p:scale>
        <p:origin x="72" y="-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1017"/>
            <a:ext cx="6423025" cy="2242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1192"/>
            <a:ext cx="5289550" cy="267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228"/>
            <a:ext cx="6800850" cy="1708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6561"/>
            <a:ext cx="6800850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33051"/>
            <a:ext cx="2418080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203" y="7515771"/>
            <a:ext cx="6476568" cy="19957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6503" y="675395"/>
            <a:ext cx="6502400" cy="1475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3250">
              <a:lnSpc>
                <a:spcPct val="100000"/>
              </a:lnSpc>
              <a:spcBef>
                <a:spcPts val="95"/>
              </a:spcBef>
              <a:tabLst>
                <a:tab pos="1837055" algn="l"/>
                <a:tab pos="4059554" algn="l"/>
              </a:tabLst>
            </a:pPr>
            <a:r>
              <a:rPr sz="1600" spc="-25" dirty="0">
                <a:latin typeface="Malgun Gothic"/>
                <a:cs typeface="Malgun Gothic"/>
              </a:rPr>
              <a:t>2024-2학기	</a:t>
            </a:r>
            <a:r>
              <a:rPr sz="1600" spc="60" dirty="0">
                <a:latin typeface="Malgun Gothic"/>
                <a:cs typeface="Malgun Gothic"/>
              </a:rPr>
              <a:t>데이터베이스(SCSC)	</a:t>
            </a:r>
            <a:r>
              <a:rPr sz="1600" spc="130" dirty="0">
                <a:latin typeface="Malgun Gothic"/>
                <a:cs typeface="Malgun Gothic"/>
              </a:rPr>
              <a:t>SQL</a:t>
            </a:r>
            <a:r>
              <a:rPr sz="1600" spc="210" dirty="0">
                <a:latin typeface="Malgun Gothic"/>
                <a:cs typeface="Malgun Gothic"/>
              </a:rPr>
              <a:t> </a:t>
            </a:r>
            <a:r>
              <a:rPr sz="1600" spc="-5" dirty="0">
                <a:latin typeface="Malgun Gothic"/>
                <a:cs typeface="Malgun Gothic"/>
              </a:rPr>
              <a:t>질의</a:t>
            </a:r>
            <a:r>
              <a:rPr sz="1600" spc="21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작성</a:t>
            </a:r>
            <a:r>
              <a:rPr sz="1600" spc="215" dirty="0">
                <a:latin typeface="Malgun Gothic"/>
                <a:cs typeface="Malgun Gothic"/>
              </a:rPr>
              <a:t> </a:t>
            </a:r>
            <a:r>
              <a:rPr sz="1600" spc="-5" dirty="0">
                <a:latin typeface="Malgun Gothic"/>
                <a:cs typeface="Malgun Gothic"/>
              </a:rPr>
              <a:t>실습</a:t>
            </a:r>
            <a:endParaRPr sz="16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Malgun Gothic"/>
              <a:cs typeface="Malgun Gothic"/>
            </a:endParaRPr>
          </a:p>
          <a:p>
            <a:pPr marL="247015" marR="5080" indent="-234950" algn="just">
              <a:lnSpc>
                <a:spcPct val="133200"/>
              </a:lnSpc>
            </a:pPr>
            <a:r>
              <a:rPr sz="1200" spc="-5" dirty="0">
                <a:latin typeface="Times New Roman"/>
                <a:cs typeface="Times New Roman"/>
              </a:rPr>
              <a:t>※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아래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‘CompanyDB’를</a:t>
            </a:r>
            <a:r>
              <a:rPr sz="1200" spc="2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위한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데이터베이스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스키마를</a:t>
            </a:r>
            <a:r>
              <a:rPr sz="1200" spc="2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참고하고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50" dirty="0">
                <a:latin typeface="Malgun Gothic"/>
                <a:cs typeface="Malgun Gothic"/>
              </a:rPr>
              <a:t>I-class에</a:t>
            </a:r>
            <a:r>
              <a:rPr sz="1200" spc="2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제공된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엑셀</a:t>
            </a:r>
            <a:r>
              <a:rPr sz="1200" spc="2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파일 </a:t>
            </a:r>
            <a:r>
              <a:rPr sz="1200" spc="-409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을 이용하여 </a:t>
            </a:r>
            <a:r>
              <a:rPr sz="1200" spc="5" dirty="0">
                <a:latin typeface="Malgun Gothic"/>
                <a:cs typeface="Malgun Gothic"/>
              </a:rPr>
              <a:t>CompanyDB를 </a:t>
            </a:r>
            <a:r>
              <a:rPr sz="1200" dirty="0">
                <a:latin typeface="Malgun Gothic"/>
                <a:cs typeface="Malgun Gothic"/>
              </a:rPr>
              <a:t>생성하고, </a:t>
            </a:r>
            <a:r>
              <a:rPr sz="1200" spc="-5" dirty="0">
                <a:latin typeface="Malgun Gothic"/>
                <a:cs typeface="Malgun Gothic"/>
              </a:rPr>
              <a:t>우선 각 테이블에 포함된 속성의 데이터 타입 지 </a:t>
            </a:r>
            <a:r>
              <a:rPr sz="1200" dirty="0">
                <a:latin typeface="Malgun Gothic"/>
                <a:cs typeface="Malgun Gothic"/>
              </a:rPr>
              <a:t> </a:t>
            </a:r>
            <a:r>
              <a:rPr sz="1200" spc="20" dirty="0">
                <a:latin typeface="Malgun Gothic"/>
                <a:cs typeface="Malgun Gothic"/>
              </a:rPr>
              <a:t>정(참조 </a:t>
            </a:r>
            <a:r>
              <a:rPr sz="1200" spc="-5" dirty="0">
                <a:latin typeface="Malgun Gothic"/>
                <a:cs typeface="Malgun Gothic"/>
              </a:rPr>
              <a:t>키의 데이터 타입은 원본 기본 키와 데이터 타입 </a:t>
            </a:r>
            <a:r>
              <a:rPr sz="1200" spc="25" dirty="0">
                <a:latin typeface="Malgun Gothic"/>
                <a:cs typeface="Malgun Gothic"/>
              </a:rPr>
              <a:t>통일), </a:t>
            </a:r>
            <a:r>
              <a:rPr sz="1200" spc="-5" dirty="0">
                <a:latin typeface="Malgun Gothic"/>
                <a:cs typeface="Malgun Gothic"/>
              </a:rPr>
              <a:t>그리고 기본 키 지정을 </a:t>
            </a:r>
            <a:r>
              <a:rPr sz="1200" dirty="0">
                <a:latin typeface="Malgun Gothic"/>
                <a:cs typeface="Malgun Gothic"/>
              </a:rPr>
              <a:t> 완료하시오.</a:t>
            </a:r>
            <a:r>
              <a:rPr sz="1200" spc="4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이후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제시된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질의를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spc="75" dirty="0">
                <a:latin typeface="Malgun Gothic"/>
                <a:cs typeface="Malgun Gothic"/>
              </a:rPr>
              <a:t>SQL로</a:t>
            </a:r>
            <a:r>
              <a:rPr sz="1200" spc="34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작성하고</a:t>
            </a:r>
            <a:r>
              <a:rPr sz="1200" spc="4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실행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결과를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확인하시오.</a:t>
            </a:r>
            <a:endParaRPr sz="120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3772" y="2221090"/>
            <a:ext cx="5465178" cy="325474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6503" y="5714329"/>
            <a:ext cx="6502400" cy="1487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925" marR="5080" indent="-149860">
              <a:lnSpc>
                <a:spcPct val="133200"/>
              </a:lnSpc>
              <a:spcBef>
                <a:spcPts val="100"/>
              </a:spcBef>
              <a:buAutoNum type="romanUcPeriod"/>
              <a:tabLst>
                <a:tab pos="186690" algn="l"/>
              </a:tabLst>
            </a:pPr>
            <a:r>
              <a:rPr sz="1200" spc="50" dirty="0">
                <a:latin typeface="Malgun Gothic"/>
                <a:cs typeface="Malgun Gothic"/>
              </a:rPr>
              <a:t>I-class에</a:t>
            </a:r>
            <a:r>
              <a:rPr sz="1200" spc="24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제공된</a:t>
            </a:r>
            <a:r>
              <a:rPr sz="1200" spc="250" dirty="0">
                <a:latin typeface="Malgun Gothic"/>
                <a:cs typeface="Malgun Gothic"/>
              </a:rPr>
              <a:t> </a:t>
            </a:r>
            <a:r>
              <a:rPr sz="1200" spc="15" dirty="0">
                <a:latin typeface="Malgun Gothic"/>
                <a:cs typeface="Malgun Gothic"/>
              </a:rPr>
              <a:t>“CompanyDB</a:t>
            </a:r>
            <a:r>
              <a:rPr sz="1200" spc="2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20241127.xlsx”을</a:t>
            </a:r>
            <a:r>
              <a:rPr sz="1200" spc="25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이용하여</a:t>
            </a:r>
            <a:r>
              <a:rPr sz="1200" spc="24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필요한</a:t>
            </a:r>
            <a:r>
              <a:rPr sz="1200" spc="24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테이블을</a:t>
            </a:r>
            <a:r>
              <a:rPr sz="1200" spc="25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생성하고</a:t>
            </a:r>
            <a:r>
              <a:rPr sz="1200" spc="25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해 </a:t>
            </a:r>
            <a:r>
              <a:rPr sz="1200" spc="-40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당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테이블의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샘플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인스턴스를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입력하시오.</a:t>
            </a:r>
            <a:r>
              <a:rPr sz="1200" spc="190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단,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아래의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데이터의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자료형을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참고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바람.</a:t>
            </a:r>
            <a:endParaRPr sz="1200">
              <a:latin typeface="Malgun Gothic"/>
              <a:cs typeface="Malgun Gothic"/>
            </a:endParaRPr>
          </a:p>
          <a:p>
            <a:pPr marL="683895" lvl="1" indent="-165100">
              <a:lnSpc>
                <a:spcPct val="100000"/>
              </a:lnSpc>
              <a:spcBef>
                <a:spcPts val="475"/>
              </a:spcBef>
              <a:buChar char="-"/>
              <a:tabLst>
                <a:tab pos="684530" algn="l"/>
              </a:tabLst>
            </a:pPr>
            <a:r>
              <a:rPr sz="1200" spc="5" dirty="0">
                <a:latin typeface="Malgun Gothic"/>
                <a:cs typeface="Malgun Gothic"/>
              </a:rPr>
              <a:t>이름,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45" dirty="0">
                <a:latin typeface="Malgun Gothic"/>
                <a:cs typeface="Malgun Gothic"/>
              </a:rPr>
              <a:t>ID,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주소,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성별,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위치,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관계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등의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관련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데이터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속성을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짧은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텍스트로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지정</a:t>
            </a:r>
            <a:endParaRPr sz="1200">
              <a:latin typeface="Malgun Gothic"/>
              <a:cs typeface="Malgun Gothic"/>
            </a:endParaRPr>
          </a:p>
          <a:p>
            <a:pPr marL="683895" lvl="1" indent="-165100">
              <a:lnSpc>
                <a:spcPct val="100000"/>
              </a:lnSpc>
              <a:spcBef>
                <a:spcPts val="480"/>
              </a:spcBef>
              <a:buChar char="-"/>
              <a:tabLst>
                <a:tab pos="684530" algn="l"/>
              </a:tabLst>
            </a:pPr>
            <a:r>
              <a:rPr sz="1200" dirty="0">
                <a:latin typeface="Malgun Gothic"/>
                <a:cs typeface="Malgun Gothic"/>
              </a:rPr>
              <a:t>부서번호,</a:t>
            </a:r>
            <a:r>
              <a:rPr sz="1200" spc="16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번호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등은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정수</a:t>
            </a:r>
            <a:endParaRPr sz="1200">
              <a:latin typeface="Malgun Gothic"/>
              <a:cs typeface="Malgun Gothic"/>
            </a:endParaRPr>
          </a:p>
          <a:p>
            <a:pPr marL="683895" lvl="1" indent="-165100">
              <a:lnSpc>
                <a:spcPct val="100000"/>
              </a:lnSpc>
              <a:spcBef>
                <a:spcPts val="475"/>
              </a:spcBef>
              <a:buChar char="-"/>
              <a:tabLst>
                <a:tab pos="684530" algn="l"/>
              </a:tabLst>
            </a:pPr>
            <a:r>
              <a:rPr sz="1200" spc="-5" dirty="0">
                <a:latin typeface="Malgun Gothic"/>
                <a:cs typeface="Malgun Gothic"/>
              </a:rPr>
              <a:t>급여는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30" dirty="0">
                <a:latin typeface="Malgun Gothic"/>
                <a:cs typeface="Malgun Gothic"/>
              </a:rPr>
              <a:t>정수(Long)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그리고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참여시간은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실수(double)로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지정</a:t>
            </a:r>
            <a:endParaRPr sz="1200">
              <a:latin typeface="Malgun Gothic"/>
              <a:cs typeface="Malgun Gothic"/>
            </a:endParaRPr>
          </a:p>
          <a:p>
            <a:pPr marL="683895" lvl="1" indent="-165100">
              <a:lnSpc>
                <a:spcPct val="100000"/>
              </a:lnSpc>
              <a:spcBef>
                <a:spcPts val="480"/>
              </a:spcBef>
              <a:buChar char="-"/>
              <a:tabLst>
                <a:tab pos="684530" algn="l"/>
              </a:tabLst>
            </a:pPr>
            <a:r>
              <a:rPr sz="1200" dirty="0">
                <a:latin typeface="Malgun Gothic"/>
                <a:cs typeface="Malgun Gothic"/>
              </a:rPr>
              <a:t>Bdate,</a:t>
            </a:r>
            <a:r>
              <a:rPr sz="1200" spc="160" dirty="0">
                <a:latin typeface="Malgun Gothic"/>
                <a:cs typeface="Malgun Gothic"/>
              </a:rPr>
              <a:t> </a:t>
            </a:r>
            <a:r>
              <a:rPr sz="1200" spc="35" dirty="0">
                <a:latin typeface="Malgun Gothic"/>
                <a:cs typeface="Malgun Gothic"/>
              </a:rPr>
              <a:t>Mgr_Start는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날짜/시간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타입으로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지정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26096" y="1004735"/>
            <a:ext cx="5758180" cy="7620"/>
          </a:xfrm>
          <a:custGeom>
            <a:avLst/>
            <a:gdLst/>
            <a:ahLst/>
            <a:cxnLst/>
            <a:rect l="l" t="t" r="r" b="b"/>
            <a:pathLst>
              <a:path w="5758180" h="7619">
                <a:moveTo>
                  <a:pt x="0" y="0"/>
                </a:moveTo>
                <a:lnTo>
                  <a:pt x="5757621" y="7619"/>
                </a:lnTo>
              </a:path>
            </a:pathLst>
          </a:custGeom>
          <a:ln w="25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5767" y="7474661"/>
            <a:ext cx="3202305" cy="916940"/>
          </a:xfrm>
          <a:prstGeom prst="rect">
            <a:avLst/>
          </a:prstGeom>
          <a:ln w="4572">
            <a:solidFill>
              <a:srgbClr val="000000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63500" marR="1651635">
              <a:lnSpc>
                <a:spcPct val="133200"/>
              </a:lnSpc>
              <a:spcBef>
                <a:spcPts val="430"/>
              </a:spcBef>
            </a:pPr>
            <a:r>
              <a:rPr sz="1200" spc="-5" dirty="0">
                <a:latin typeface="Malgun Gothic"/>
                <a:cs typeface="Malgun Gothic"/>
              </a:rPr>
              <a:t>select</a:t>
            </a:r>
            <a:r>
              <a:rPr sz="1200" spc="145" dirty="0">
                <a:latin typeface="Malgun Gothic"/>
                <a:cs typeface="Malgun Gothic"/>
              </a:rPr>
              <a:t> </a:t>
            </a:r>
            <a:r>
              <a:rPr sz="1200" spc="-35" dirty="0">
                <a:latin typeface="Malgun Gothic"/>
                <a:cs typeface="Malgun Gothic"/>
              </a:rPr>
              <a:t>bdate,</a:t>
            </a:r>
            <a:r>
              <a:rPr sz="1200" spc="14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address </a:t>
            </a:r>
            <a:r>
              <a:rPr sz="1200" spc="-409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from</a:t>
            </a:r>
            <a:r>
              <a:rPr sz="1200" spc="155" dirty="0">
                <a:latin typeface="Malgun Gothic"/>
                <a:cs typeface="Malgun Gothic"/>
              </a:rPr>
              <a:t> </a:t>
            </a:r>
            <a:r>
              <a:rPr sz="1200" spc="-40" dirty="0">
                <a:latin typeface="Malgun Gothic"/>
                <a:cs typeface="Malgun Gothic"/>
              </a:rPr>
              <a:t>employee</a:t>
            </a:r>
            <a:endParaRPr sz="1200" dirty="0">
              <a:latin typeface="Malgun Gothic"/>
              <a:cs typeface="Malgun Gothic"/>
            </a:endParaRPr>
          </a:p>
          <a:p>
            <a:pPr marL="63500">
              <a:lnSpc>
                <a:spcPct val="100000"/>
              </a:lnSpc>
              <a:spcBef>
                <a:spcPts val="480"/>
              </a:spcBef>
            </a:pPr>
            <a:r>
              <a:rPr sz="1200" spc="5" dirty="0">
                <a:latin typeface="Malgun Gothic"/>
                <a:cs typeface="Malgun Gothic"/>
              </a:rPr>
              <a:t>where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fname='John'</a:t>
            </a:r>
            <a:r>
              <a:rPr sz="1200" spc="160" dirty="0">
                <a:latin typeface="Malgun Gothic"/>
                <a:cs typeface="Malgun Gothic"/>
              </a:rPr>
              <a:t> </a:t>
            </a:r>
            <a:r>
              <a:rPr sz="1200" spc="-35" dirty="0">
                <a:latin typeface="Malgun Gothic"/>
                <a:cs typeface="Malgun Gothic"/>
              </a:rPr>
              <a:t>and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20" dirty="0">
                <a:latin typeface="Malgun Gothic"/>
                <a:cs typeface="Malgun Gothic"/>
              </a:rPr>
              <a:t>lname='Smith';</a:t>
            </a:r>
            <a:endParaRPr sz="1200" dirty="0">
              <a:latin typeface="Malgun Gothic"/>
              <a:cs typeface="Malgun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2981" y="7601013"/>
            <a:ext cx="2587879" cy="66526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74243" y="7474661"/>
            <a:ext cx="6408420" cy="916940"/>
          </a:xfrm>
          <a:custGeom>
            <a:avLst/>
            <a:gdLst/>
            <a:ahLst/>
            <a:cxnLst/>
            <a:rect l="l" t="t" r="r" b="b"/>
            <a:pathLst>
              <a:path w="6408420" h="916940">
                <a:moveTo>
                  <a:pt x="3203244" y="0"/>
                </a:moveTo>
                <a:lnTo>
                  <a:pt x="3203244" y="916444"/>
                </a:lnTo>
              </a:path>
              <a:path w="6408420" h="916940">
                <a:moveTo>
                  <a:pt x="6404965" y="0"/>
                </a:moveTo>
                <a:lnTo>
                  <a:pt x="6404965" y="916444"/>
                </a:lnTo>
              </a:path>
              <a:path w="6408420" h="916940">
                <a:moveTo>
                  <a:pt x="0" y="0"/>
                </a:moveTo>
                <a:lnTo>
                  <a:pt x="6408013" y="0"/>
                </a:lnTo>
              </a:path>
              <a:path w="6408420" h="916940">
                <a:moveTo>
                  <a:pt x="0" y="916444"/>
                </a:moveTo>
                <a:lnTo>
                  <a:pt x="6408013" y="916444"/>
                </a:lnTo>
              </a:path>
              <a:path w="6408420" h="916940">
                <a:moveTo>
                  <a:pt x="6404965" y="0"/>
                </a:moveTo>
                <a:lnTo>
                  <a:pt x="6404965" y="916444"/>
                </a:lnTo>
              </a:path>
              <a:path w="6408420" h="916940">
                <a:moveTo>
                  <a:pt x="0" y="916444"/>
                </a:moveTo>
                <a:lnTo>
                  <a:pt x="6408013" y="916444"/>
                </a:lnTo>
              </a:path>
              <a:path w="6408420" h="916940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4243" y="8931541"/>
            <a:ext cx="6408420" cy="189230"/>
          </a:xfrm>
          <a:custGeom>
            <a:avLst/>
            <a:gdLst/>
            <a:ahLst/>
            <a:cxnLst/>
            <a:rect l="l" t="t" r="r" b="b"/>
            <a:pathLst>
              <a:path w="6408420" h="189229">
                <a:moveTo>
                  <a:pt x="1523" y="0"/>
                </a:moveTo>
                <a:lnTo>
                  <a:pt x="1523" y="188760"/>
                </a:lnTo>
              </a:path>
              <a:path w="6408420" h="189229">
                <a:moveTo>
                  <a:pt x="3634308" y="0"/>
                </a:moveTo>
                <a:lnTo>
                  <a:pt x="3634308" y="188760"/>
                </a:lnTo>
              </a:path>
              <a:path w="6408420" h="189229">
                <a:moveTo>
                  <a:pt x="6404965" y="0"/>
                </a:moveTo>
                <a:lnTo>
                  <a:pt x="6404965" y="188760"/>
                </a:lnTo>
              </a:path>
              <a:path w="6408420" h="189229">
                <a:moveTo>
                  <a:pt x="0" y="0"/>
                </a:moveTo>
                <a:lnTo>
                  <a:pt x="6408013" y="0"/>
                </a:lnTo>
              </a:path>
              <a:path w="6408420" h="189229">
                <a:moveTo>
                  <a:pt x="0" y="188760"/>
                </a:moveTo>
                <a:lnTo>
                  <a:pt x="6408013" y="188760"/>
                </a:lnTo>
              </a:path>
              <a:path w="6408420" h="189229">
                <a:moveTo>
                  <a:pt x="6404965" y="0"/>
                </a:moveTo>
                <a:lnTo>
                  <a:pt x="6404965" y="188760"/>
                </a:lnTo>
              </a:path>
              <a:path w="6408420" h="189229">
                <a:moveTo>
                  <a:pt x="1523" y="0"/>
                </a:moveTo>
                <a:lnTo>
                  <a:pt x="1523" y="188760"/>
                </a:lnTo>
              </a:path>
              <a:path w="6408420" h="189229">
                <a:moveTo>
                  <a:pt x="0" y="188760"/>
                </a:moveTo>
                <a:lnTo>
                  <a:pt x="6408013" y="188760"/>
                </a:lnTo>
              </a:path>
              <a:path w="6408420" h="189229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203" y="718553"/>
            <a:ext cx="3343376" cy="9697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5365" y="1969897"/>
            <a:ext cx="1649602" cy="11432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21927" y="1779612"/>
            <a:ext cx="2760002" cy="13685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9203" y="3239528"/>
            <a:ext cx="2211654" cy="313448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55505" y="4507636"/>
            <a:ext cx="3654107" cy="164259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26503" y="6673401"/>
            <a:ext cx="554164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indent="-216535">
              <a:lnSpc>
                <a:spcPct val="100000"/>
              </a:lnSpc>
              <a:spcBef>
                <a:spcPts val="95"/>
              </a:spcBef>
              <a:buAutoNum type="romanUcPeriod" startAt="2"/>
              <a:tabLst>
                <a:tab pos="229235" algn="l"/>
              </a:tabLst>
            </a:pPr>
            <a:r>
              <a:rPr sz="1200" spc="-5" dirty="0">
                <a:latin typeface="Malgun Gothic"/>
                <a:cs typeface="Malgun Gothic"/>
              </a:rPr>
              <a:t>다음의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질의를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75" dirty="0">
                <a:latin typeface="Malgun Gothic"/>
                <a:cs typeface="Malgun Gothic"/>
              </a:rPr>
              <a:t>SQL로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작성하고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실행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결과를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주어진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결과와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비교하시오.</a:t>
            </a:r>
            <a:endParaRPr sz="12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Malgun Gothic"/>
              <a:buAutoNum type="romanUcPeriod" startAt="2"/>
            </a:pPr>
            <a:endParaRPr sz="1300">
              <a:latin typeface="Malgun Gothic"/>
              <a:cs typeface="Malgun Gothic"/>
            </a:endParaRPr>
          </a:p>
          <a:p>
            <a:pPr marL="201295" lvl="1" indent="-189230">
              <a:lnSpc>
                <a:spcPct val="100000"/>
              </a:lnSpc>
              <a:buAutoNum type="arabicPeriod"/>
              <a:tabLst>
                <a:tab pos="201930" algn="l"/>
              </a:tabLst>
            </a:pPr>
            <a:r>
              <a:rPr sz="1200" spc="30" dirty="0">
                <a:latin typeface="Malgun Gothic"/>
                <a:cs typeface="Malgun Gothic"/>
              </a:rPr>
              <a:t>'John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45" dirty="0">
                <a:latin typeface="Malgun Gothic"/>
                <a:cs typeface="Malgun Gothic"/>
              </a:rPr>
              <a:t>Smith'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생일과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주소를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35" dirty="0">
                <a:latin typeface="Malgun Gothic"/>
                <a:cs typeface="Malgun Gothic"/>
              </a:rPr>
              <a:t>(작성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40" dirty="0">
                <a:latin typeface="Malgun Gothic"/>
                <a:cs typeface="Malgun Gothic"/>
              </a:rPr>
              <a:t>예)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6503" y="8635692"/>
            <a:ext cx="503428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latin typeface="Malgun Gothic"/>
                <a:cs typeface="Malgun Gothic"/>
              </a:rPr>
              <a:t>2.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40" dirty="0">
                <a:latin typeface="Malgun Gothic"/>
                <a:cs typeface="Malgun Gothic"/>
              </a:rPr>
              <a:t>'Research'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부서에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근무하는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모든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이름과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주소를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4045" y="771817"/>
            <a:ext cx="2641193" cy="104736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75767" y="755078"/>
            <a:ext cx="0" cy="1082675"/>
          </a:xfrm>
          <a:custGeom>
            <a:avLst/>
            <a:gdLst/>
            <a:ahLst/>
            <a:cxnLst/>
            <a:rect l="l" t="t" r="r" b="b"/>
            <a:pathLst>
              <a:path h="1082675">
                <a:moveTo>
                  <a:pt x="0" y="0"/>
                </a:moveTo>
                <a:lnTo>
                  <a:pt x="0" y="1082382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08551" y="755078"/>
            <a:ext cx="0" cy="1082675"/>
          </a:xfrm>
          <a:custGeom>
            <a:avLst/>
            <a:gdLst/>
            <a:ahLst/>
            <a:cxnLst/>
            <a:rect l="l" t="t" r="r" b="b"/>
            <a:pathLst>
              <a:path h="1082675">
                <a:moveTo>
                  <a:pt x="0" y="0"/>
                </a:moveTo>
                <a:lnTo>
                  <a:pt x="0" y="1082382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4243" y="755078"/>
            <a:ext cx="6408420" cy="1082675"/>
          </a:xfrm>
          <a:custGeom>
            <a:avLst/>
            <a:gdLst/>
            <a:ahLst/>
            <a:cxnLst/>
            <a:rect l="l" t="t" r="r" b="b"/>
            <a:pathLst>
              <a:path w="6408420" h="1082675">
                <a:moveTo>
                  <a:pt x="6404965" y="0"/>
                </a:moveTo>
                <a:lnTo>
                  <a:pt x="6404965" y="1082382"/>
                </a:lnTo>
              </a:path>
              <a:path w="6408420" h="1082675">
                <a:moveTo>
                  <a:pt x="0" y="0"/>
                </a:moveTo>
                <a:lnTo>
                  <a:pt x="6408013" y="0"/>
                </a:lnTo>
              </a:path>
              <a:path w="6408420" h="1082675">
                <a:moveTo>
                  <a:pt x="0" y="1082382"/>
                </a:moveTo>
                <a:lnTo>
                  <a:pt x="6408013" y="1082382"/>
                </a:lnTo>
              </a:path>
              <a:path w="6408420" h="1082675">
                <a:moveTo>
                  <a:pt x="6404965" y="0"/>
                </a:moveTo>
                <a:lnTo>
                  <a:pt x="6404965" y="1082382"/>
                </a:lnTo>
              </a:path>
              <a:path w="6408420" h="1082675">
                <a:moveTo>
                  <a:pt x="1523" y="0"/>
                </a:moveTo>
                <a:lnTo>
                  <a:pt x="1523" y="1082382"/>
                </a:lnTo>
              </a:path>
              <a:path w="6408420" h="1082675">
                <a:moveTo>
                  <a:pt x="0" y="1082382"/>
                </a:moveTo>
                <a:lnTo>
                  <a:pt x="6408013" y="1082382"/>
                </a:lnTo>
              </a:path>
              <a:path w="6408420" h="108267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5368" y="3082721"/>
            <a:ext cx="3539870" cy="59218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75767" y="2621457"/>
            <a:ext cx="0" cy="1513205"/>
          </a:xfrm>
          <a:custGeom>
            <a:avLst/>
            <a:gdLst/>
            <a:ahLst/>
            <a:cxnLst/>
            <a:rect l="l" t="t" r="r" b="b"/>
            <a:pathLst>
              <a:path h="1513204">
                <a:moveTo>
                  <a:pt x="0" y="0"/>
                </a:moveTo>
                <a:lnTo>
                  <a:pt x="0" y="1513204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09873" y="2621457"/>
            <a:ext cx="0" cy="1513205"/>
          </a:xfrm>
          <a:custGeom>
            <a:avLst/>
            <a:gdLst/>
            <a:ahLst/>
            <a:cxnLst/>
            <a:rect l="l" t="t" r="r" b="b"/>
            <a:pathLst>
              <a:path h="1513204">
                <a:moveTo>
                  <a:pt x="0" y="0"/>
                </a:moveTo>
                <a:lnTo>
                  <a:pt x="0" y="1513204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243" y="2621457"/>
            <a:ext cx="6408420" cy="1513205"/>
          </a:xfrm>
          <a:custGeom>
            <a:avLst/>
            <a:gdLst/>
            <a:ahLst/>
            <a:cxnLst/>
            <a:rect l="l" t="t" r="r" b="b"/>
            <a:pathLst>
              <a:path w="6408420" h="1513204">
                <a:moveTo>
                  <a:pt x="6404965" y="0"/>
                </a:moveTo>
                <a:lnTo>
                  <a:pt x="6404965" y="1513204"/>
                </a:lnTo>
              </a:path>
              <a:path w="6408420" h="1513204">
                <a:moveTo>
                  <a:pt x="0" y="0"/>
                </a:moveTo>
                <a:lnTo>
                  <a:pt x="6408013" y="0"/>
                </a:lnTo>
              </a:path>
              <a:path w="6408420" h="1513204">
                <a:moveTo>
                  <a:pt x="0" y="1513204"/>
                </a:moveTo>
                <a:lnTo>
                  <a:pt x="6408013" y="1513204"/>
                </a:lnTo>
              </a:path>
              <a:path w="6408420" h="1513204">
                <a:moveTo>
                  <a:pt x="6404965" y="0"/>
                </a:moveTo>
                <a:lnTo>
                  <a:pt x="6404965" y="1513204"/>
                </a:lnTo>
              </a:path>
              <a:path w="6408420" h="1513204">
                <a:moveTo>
                  <a:pt x="1523" y="0"/>
                </a:moveTo>
                <a:lnTo>
                  <a:pt x="1523" y="1513204"/>
                </a:lnTo>
              </a:path>
              <a:path w="6408420" h="1513204">
                <a:moveTo>
                  <a:pt x="0" y="1513204"/>
                </a:moveTo>
                <a:lnTo>
                  <a:pt x="6408013" y="1513204"/>
                </a:lnTo>
              </a:path>
              <a:path w="6408420" h="1513204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65904" y="4693361"/>
            <a:ext cx="2749334" cy="1677606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575767" y="4675085"/>
            <a:ext cx="0" cy="1714500"/>
          </a:xfrm>
          <a:custGeom>
            <a:avLst/>
            <a:gdLst/>
            <a:ahLst/>
            <a:cxnLst/>
            <a:rect l="l" t="t" r="r" b="b"/>
            <a:pathLst>
              <a:path h="1714500">
                <a:moveTo>
                  <a:pt x="0" y="0"/>
                </a:moveTo>
                <a:lnTo>
                  <a:pt x="0" y="1714157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00398" y="4675085"/>
            <a:ext cx="0" cy="1714500"/>
          </a:xfrm>
          <a:custGeom>
            <a:avLst/>
            <a:gdLst/>
            <a:ahLst/>
            <a:cxnLst/>
            <a:rect l="l" t="t" r="r" b="b"/>
            <a:pathLst>
              <a:path h="1714500">
                <a:moveTo>
                  <a:pt x="0" y="0"/>
                </a:moveTo>
                <a:lnTo>
                  <a:pt x="0" y="1714157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4243" y="4675085"/>
            <a:ext cx="6408420" cy="1714500"/>
          </a:xfrm>
          <a:custGeom>
            <a:avLst/>
            <a:gdLst/>
            <a:ahLst/>
            <a:cxnLst/>
            <a:rect l="l" t="t" r="r" b="b"/>
            <a:pathLst>
              <a:path w="6408420" h="1714500">
                <a:moveTo>
                  <a:pt x="6404965" y="0"/>
                </a:moveTo>
                <a:lnTo>
                  <a:pt x="6404965" y="1714157"/>
                </a:lnTo>
              </a:path>
              <a:path w="6408420" h="1714500">
                <a:moveTo>
                  <a:pt x="0" y="0"/>
                </a:moveTo>
                <a:lnTo>
                  <a:pt x="6408013" y="0"/>
                </a:lnTo>
              </a:path>
              <a:path w="6408420" h="1714500">
                <a:moveTo>
                  <a:pt x="0" y="1714157"/>
                </a:moveTo>
                <a:lnTo>
                  <a:pt x="6408013" y="1714157"/>
                </a:lnTo>
              </a:path>
              <a:path w="6408420" h="1714500">
                <a:moveTo>
                  <a:pt x="6404965" y="0"/>
                </a:moveTo>
                <a:lnTo>
                  <a:pt x="6404965" y="1714157"/>
                </a:lnTo>
              </a:path>
              <a:path w="6408420" h="1714500">
                <a:moveTo>
                  <a:pt x="1523" y="0"/>
                </a:moveTo>
                <a:lnTo>
                  <a:pt x="1523" y="1714157"/>
                </a:lnTo>
              </a:path>
              <a:path w="6408420" h="1714500">
                <a:moveTo>
                  <a:pt x="0" y="1714157"/>
                </a:moveTo>
                <a:lnTo>
                  <a:pt x="6408013" y="1714157"/>
                </a:lnTo>
              </a:path>
              <a:path w="6408420" h="1714500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65904" y="6947941"/>
            <a:ext cx="1028141" cy="197902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575767" y="6929666"/>
            <a:ext cx="0" cy="2014220"/>
          </a:xfrm>
          <a:custGeom>
            <a:avLst/>
            <a:gdLst/>
            <a:ahLst/>
            <a:cxnLst/>
            <a:rect l="l" t="t" r="r" b="b"/>
            <a:pathLst>
              <a:path h="2014220">
                <a:moveTo>
                  <a:pt x="0" y="0"/>
                </a:moveTo>
                <a:lnTo>
                  <a:pt x="0" y="2014054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00398" y="6929666"/>
            <a:ext cx="0" cy="2014220"/>
          </a:xfrm>
          <a:custGeom>
            <a:avLst/>
            <a:gdLst/>
            <a:ahLst/>
            <a:cxnLst/>
            <a:rect l="l" t="t" r="r" b="b"/>
            <a:pathLst>
              <a:path h="2014220">
                <a:moveTo>
                  <a:pt x="0" y="0"/>
                </a:moveTo>
                <a:lnTo>
                  <a:pt x="0" y="2014054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4243" y="6929666"/>
            <a:ext cx="6408420" cy="2014220"/>
          </a:xfrm>
          <a:custGeom>
            <a:avLst/>
            <a:gdLst/>
            <a:ahLst/>
            <a:cxnLst/>
            <a:rect l="l" t="t" r="r" b="b"/>
            <a:pathLst>
              <a:path w="6408420" h="2014220">
                <a:moveTo>
                  <a:pt x="6404965" y="0"/>
                </a:moveTo>
                <a:lnTo>
                  <a:pt x="6404965" y="2014054"/>
                </a:lnTo>
              </a:path>
              <a:path w="6408420" h="2014220">
                <a:moveTo>
                  <a:pt x="0" y="0"/>
                </a:moveTo>
                <a:lnTo>
                  <a:pt x="6408013" y="0"/>
                </a:lnTo>
              </a:path>
              <a:path w="6408420" h="2014220">
                <a:moveTo>
                  <a:pt x="0" y="2014054"/>
                </a:moveTo>
                <a:lnTo>
                  <a:pt x="6408013" y="2014054"/>
                </a:lnTo>
              </a:path>
              <a:path w="6408420" h="2014220">
                <a:moveTo>
                  <a:pt x="6404965" y="0"/>
                </a:moveTo>
                <a:lnTo>
                  <a:pt x="6404965" y="2014054"/>
                </a:lnTo>
              </a:path>
              <a:path w="6408420" h="2014220">
                <a:moveTo>
                  <a:pt x="1523" y="0"/>
                </a:moveTo>
                <a:lnTo>
                  <a:pt x="1523" y="2014054"/>
                </a:lnTo>
              </a:path>
              <a:path w="6408420" h="2014220">
                <a:moveTo>
                  <a:pt x="0" y="2014054"/>
                </a:moveTo>
                <a:lnTo>
                  <a:pt x="6408013" y="2014054"/>
                </a:lnTo>
              </a:path>
              <a:path w="6408420" h="2014220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6503" y="2019618"/>
            <a:ext cx="6502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200"/>
              </a:lnSpc>
              <a:spcBef>
                <a:spcPts val="100"/>
              </a:spcBef>
            </a:pPr>
            <a:r>
              <a:rPr sz="1200" spc="-20" dirty="0">
                <a:latin typeface="Malgun Gothic"/>
                <a:cs typeface="Malgun Gothic"/>
              </a:rPr>
              <a:t>3.</a:t>
            </a:r>
            <a:r>
              <a:rPr sz="1200" spc="305" dirty="0">
                <a:latin typeface="Malgun Gothic"/>
                <a:cs typeface="Malgun Gothic"/>
              </a:rPr>
              <a:t> </a:t>
            </a:r>
            <a:r>
              <a:rPr sz="1200" spc="35" dirty="0">
                <a:latin typeface="Malgun Gothic"/>
                <a:cs typeface="Malgun Gothic"/>
              </a:rPr>
              <a:t>'Stafford'에서</a:t>
            </a:r>
            <a:r>
              <a:rPr sz="1200" spc="30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진행되는</a:t>
            </a:r>
            <a:r>
              <a:rPr sz="1200" spc="3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프로젝트에</a:t>
            </a:r>
            <a:r>
              <a:rPr sz="1200" spc="3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대해</a:t>
            </a:r>
            <a:r>
              <a:rPr sz="1200" spc="3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</a:t>
            </a:r>
            <a:r>
              <a:rPr sz="1200" spc="315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번호,</a:t>
            </a:r>
            <a:r>
              <a:rPr sz="1200" spc="30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</a:t>
            </a:r>
            <a:r>
              <a:rPr sz="1200" spc="3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프로젝트를</a:t>
            </a:r>
            <a:r>
              <a:rPr sz="1200" spc="3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담당하는</a:t>
            </a:r>
            <a:r>
              <a:rPr sz="1200" spc="3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 </a:t>
            </a:r>
            <a:r>
              <a:rPr sz="1200" spc="-409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번호,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관리자의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이름,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주소,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생년월일을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26503" y="4379240"/>
            <a:ext cx="58889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latin typeface="Malgun Gothic"/>
                <a:cs typeface="Malgun Gothic"/>
              </a:rPr>
              <a:t>4.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각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이름과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그리고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직속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15" dirty="0">
                <a:latin typeface="Malgun Gothic"/>
                <a:cs typeface="Malgun Gothic"/>
              </a:rPr>
              <a:t>상사(supervisor)의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이름을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26503" y="6632298"/>
            <a:ext cx="232156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latin typeface="Malgun Gothic"/>
                <a:cs typeface="Malgun Gothic"/>
              </a:rPr>
              <a:t>5.</a:t>
            </a:r>
            <a:r>
              <a:rPr sz="1200" spc="16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모든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35" dirty="0">
                <a:latin typeface="Malgun Gothic"/>
                <a:cs typeface="Malgun Gothic"/>
              </a:rPr>
              <a:t>ID를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E6D2C0-AEBA-593A-F77E-FD0D19DA4320}"/>
              </a:ext>
            </a:extLst>
          </p:cNvPr>
          <p:cNvSpPr txBox="1"/>
          <p:nvPr/>
        </p:nvSpPr>
        <p:spPr>
          <a:xfrm>
            <a:off x="573837" y="865507"/>
            <a:ext cx="352656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SELECT </a:t>
            </a:r>
            <a:r>
              <a:rPr lang="en-US" altLang="ko-KR" sz="1100" dirty="0" err="1"/>
              <a:t>E.Fname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E.Lname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E.Address</a:t>
            </a:r>
            <a:endParaRPr lang="en-US" altLang="ko-KR" sz="1100" dirty="0"/>
          </a:p>
          <a:p>
            <a:r>
              <a:rPr lang="en-US" altLang="ko-KR" sz="1100" dirty="0"/>
              <a:t>FROM Employee AS</a:t>
            </a:r>
            <a:r>
              <a:rPr lang="ko-KR" altLang="en-US" sz="1100" dirty="0"/>
              <a:t> </a:t>
            </a:r>
            <a:r>
              <a:rPr lang="en-US" altLang="ko-KR" sz="1100" dirty="0"/>
              <a:t>E</a:t>
            </a:r>
          </a:p>
          <a:p>
            <a:r>
              <a:rPr lang="en-US" altLang="ko-KR" sz="1100" dirty="0"/>
              <a:t>INNER JOIN Department AS D</a:t>
            </a:r>
          </a:p>
          <a:p>
            <a:r>
              <a:rPr lang="en-US" altLang="ko-KR" sz="1100" dirty="0"/>
              <a:t>ON </a:t>
            </a:r>
            <a:r>
              <a:rPr lang="en-US" altLang="ko-KR" sz="1100" dirty="0" err="1"/>
              <a:t>E.Dno</a:t>
            </a:r>
            <a:r>
              <a:rPr lang="en-US" altLang="ko-KR" sz="1100" dirty="0"/>
              <a:t> = </a:t>
            </a:r>
            <a:r>
              <a:rPr lang="en-US" altLang="ko-KR" sz="1100" dirty="0" err="1"/>
              <a:t>D.Dnumber</a:t>
            </a:r>
            <a:endParaRPr lang="en-US" altLang="ko-KR" sz="1100" dirty="0"/>
          </a:p>
          <a:p>
            <a:r>
              <a:rPr lang="en-US" altLang="ko-KR" sz="1100" dirty="0"/>
              <a:t>WHERE </a:t>
            </a:r>
            <a:r>
              <a:rPr lang="en-US" altLang="ko-KR" sz="1100" dirty="0" err="1"/>
              <a:t>D.Dname</a:t>
            </a:r>
            <a:r>
              <a:rPr lang="en-US" altLang="ko-KR" sz="1100" dirty="0"/>
              <a:t> = 'Research';</a:t>
            </a:r>
            <a:endParaRPr lang="ko-KR" alt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82D420-7610-A1F8-3E77-F19F514D080D}"/>
              </a:ext>
            </a:extLst>
          </p:cNvPr>
          <p:cNvSpPr txBox="1"/>
          <p:nvPr/>
        </p:nvSpPr>
        <p:spPr>
          <a:xfrm>
            <a:off x="641262" y="2651938"/>
            <a:ext cx="30027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/>
              <a:t>SELECT </a:t>
            </a:r>
          </a:p>
          <a:p>
            <a:r>
              <a:rPr lang="en-US" altLang="ko-KR" sz="600" dirty="0"/>
              <a:t>    </a:t>
            </a:r>
            <a:r>
              <a:rPr lang="en-US" altLang="ko-KR" sz="600" dirty="0" err="1"/>
              <a:t>P.Pnumber</a:t>
            </a:r>
            <a:r>
              <a:rPr lang="en-US" altLang="ko-KR" sz="600" dirty="0"/>
              <a:t>, </a:t>
            </a:r>
            <a:r>
              <a:rPr lang="en-US" altLang="ko-KR" sz="600" dirty="0" err="1"/>
              <a:t>P.Dnum</a:t>
            </a:r>
            <a:r>
              <a:rPr lang="en-US" altLang="ko-KR" sz="600" dirty="0"/>
              <a:t>,  </a:t>
            </a:r>
            <a:r>
              <a:rPr lang="en-US" altLang="ko-KR" sz="600" dirty="0" err="1"/>
              <a:t>E.Fname</a:t>
            </a:r>
            <a:r>
              <a:rPr lang="en-US" altLang="ko-KR" sz="600" dirty="0"/>
              <a:t>, </a:t>
            </a:r>
            <a:r>
              <a:rPr lang="en-US" altLang="ko-KR" sz="600" dirty="0" err="1"/>
              <a:t>E.Lname</a:t>
            </a:r>
            <a:r>
              <a:rPr lang="en-US" altLang="ko-KR" sz="600" dirty="0"/>
              <a:t>, </a:t>
            </a:r>
            <a:r>
              <a:rPr lang="en-US" altLang="ko-KR" sz="600" dirty="0" err="1"/>
              <a:t>E.Address</a:t>
            </a:r>
            <a:r>
              <a:rPr lang="en-US" altLang="ko-KR" sz="600" dirty="0"/>
              <a:t>, </a:t>
            </a:r>
            <a:r>
              <a:rPr lang="en-US" altLang="ko-KR" sz="600" dirty="0" err="1"/>
              <a:t>E.Bdate</a:t>
            </a:r>
            <a:endParaRPr lang="en-US" altLang="ko-KR" sz="600" dirty="0"/>
          </a:p>
          <a:p>
            <a:r>
              <a:rPr lang="en-US" altLang="ko-KR" sz="600" dirty="0"/>
              <a:t>FROM </a:t>
            </a:r>
          </a:p>
          <a:p>
            <a:r>
              <a:rPr lang="en-US" altLang="ko-KR" sz="600" dirty="0"/>
              <a:t>    (Project AS P</a:t>
            </a:r>
          </a:p>
          <a:p>
            <a:r>
              <a:rPr lang="en-US" altLang="ko-KR" sz="600" dirty="0"/>
              <a:t>    INNER JOIN Department AS D</a:t>
            </a:r>
          </a:p>
          <a:p>
            <a:r>
              <a:rPr lang="en-US" altLang="ko-KR" sz="600" dirty="0"/>
              <a:t>        ON </a:t>
            </a:r>
            <a:r>
              <a:rPr lang="en-US" altLang="ko-KR" sz="600" dirty="0" err="1"/>
              <a:t>P.Dnum</a:t>
            </a:r>
            <a:r>
              <a:rPr lang="en-US" altLang="ko-KR" sz="600" dirty="0"/>
              <a:t> =</a:t>
            </a:r>
            <a:r>
              <a:rPr lang="en-US" altLang="ko-KR" sz="600" dirty="0" err="1"/>
              <a:t>D.Dnumber</a:t>
            </a:r>
            <a:r>
              <a:rPr lang="en-US" altLang="ko-KR" sz="600" dirty="0"/>
              <a:t>)</a:t>
            </a:r>
          </a:p>
          <a:p>
            <a:r>
              <a:rPr lang="en-US" altLang="ko-KR" sz="600" dirty="0"/>
              <a:t>    INNER JOIN Employee AS E</a:t>
            </a:r>
          </a:p>
          <a:p>
            <a:r>
              <a:rPr lang="en-US" altLang="ko-KR" sz="600" dirty="0"/>
              <a:t>        ON </a:t>
            </a:r>
            <a:r>
              <a:rPr lang="en-US" altLang="ko-KR" sz="600" dirty="0" err="1"/>
              <a:t>D.Mgr_ID</a:t>
            </a:r>
            <a:r>
              <a:rPr lang="en-US" altLang="ko-KR" sz="600" dirty="0"/>
              <a:t> = E.ID</a:t>
            </a:r>
          </a:p>
          <a:p>
            <a:r>
              <a:rPr lang="en-US" altLang="ko-KR" sz="600" dirty="0"/>
              <a:t>WHERE </a:t>
            </a:r>
          </a:p>
          <a:p>
            <a:r>
              <a:rPr lang="en-US" altLang="ko-KR" sz="600" dirty="0"/>
              <a:t>    </a:t>
            </a:r>
            <a:r>
              <a:rPr lang="en-US" altLang="ko-KR" sz="600" dirty="0" err="1"/>
              <a:t>P.Plocation</a:t>
            </a:r>
            <a:r>
              <a:rPr lang="en-US" altLang="ko-KR" sz="600" dirty="0"/>
              <a:t> = 'Stafford';</a:t>
            </a:r>
            <a:endParaRPr lang="ko-KR" altLang="en-US" sz="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9EF58D-26F3-3679-FF86-364CCE8AF76A}"/>
              </a:ext>
            </a:extLst>
          </p:cNvPr>
          <p:cNvSpPr txBox="1"/>
          <p:nvPr/>
        </p:nvSpPr>
        <p:spPr>
          <a:xfrm>
            <a:off x="573837" y="4715944"/>
            <a:ext cx="3002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SELECT </a:t>
            </a:r>
          </a:p>
          <a:p>
            <a:r>
              <a:rPr lang="en-US" altLang="ko-KR" sz="900" dirty="0"/>
              <a:t>    </a:t>
            </a:r>
            <a:r>
              <a:rPr lang="en-US" altLang="ko-KR" sz="900" dirty="0" err="1"/>
              <a:t>E.Fname</a:t>
            </a:r>
            <a:r>
              <a:rPr lang="en-US" altLang="ko-KR" sz="900" dirty="0"/>
              <a:t>, </a:t>
            </a:r>
            <a:r>
              <a:rPr lang="en-US" altLang="ko-KR" sz="900" dirty="0" err="1"/>
              <a:t>E.Lname</a:t>
            </a:r>
            <a:r>
              <a:rPr lang="en-US" altLang="ko-KR" sz="900" dirty="0"/>
              <a:t>, </a:t>
            </a:r>
            <a:r>
              <a:rPr lang="en-US" altLang="ko-KR" sz="900" dirty="0" err="1"/>
              <a:t>S.Fname</a:t>
            </a:r>
            <a:r>
              <a:rPr lang="en-US" altLang="ko-KR" sz="900" dirty="0"/>
              <a:t>, </a:t>
            </a:r>
            <a:r>
              <a:rPr lang="en-US" altLang="ko-KR" sz="900" dirty="0" err="1"/>
              <a:t>S.Lname</a:t>
            </a:r>
            <a:r>
              <a:rPr lang="en-US" altLang="ko-KR" sz="900" dirty="0"/>
              <a:t> </a:t>
            </a:r>
          </a:p>
          <a:p>
            <a:r>
              <a:rPr lang="en-US" altLang="ko-KR" sz="900" dirty="0"/>
              <a:t>FROM </a:t>
            </a:r>
          </a:p>
          <a:p>
            <a:r>
              <a:rPr lang="en-US" altLang="ko-KR" sz="900" dirty="0"/>
              <a:t>    Employee AS E</a:t>
            </a:r>
          </a:p>
          <a:p>
            <a:r>
              <a:rPr lang="en-US" altLang="ko-KR" sz="900" dirty="0"/>
              <a:t>LEFT JOIN </a:t>
            </a:r>
          </a:p>
          <a:p>
            <a:r>
              <a:rPr lang="en-US" altLang="ko-KR" sz="900" dirty="0"/>
              <a:t>    Employee AS S</a:t>
            </a:r>
          </a:p>
          <a:p>
            <a:r>
              <a:rPr lang="en-US" altLang="ko-KR" sz="900" dirty="0"/>
              <a:t>ON </a:t>
            </a:r>
          </a:p>
          <a:p>
            <a:r>
              <a:rPr lang="en-US" altLang="ko-KR" sz="900" dirty="0"/>
              <a:t>    </a:t>
            </a:r>
            <a:r>
              <a:rPr lang="en-US" altLang="ko-KR" sz="900" dirty="0" err="1"/>
              <a:t>E.Super_ID</a:t>
            </a:r>
            <a:r>
              <a:rPr lang="en-US" altLang="ko-KR" sz="900" dirty="0"/>
              <a:t> = S.ID;</a:t>
            </a:r>
            <a:endParaRPr lang="ko-KR" altLang="en-US" sz="9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F5756B-3DE7-35BA-8D4E-7726C101DFA3}"/>
              </a:ext>
            </a:extLst>
          </p:cNvPr>
          <p:cNvSpPr txBox="1"/>
          <p:nvPr/>
        </p:nvSpPr>
        <p:spPr>
          <a:xfrm>
            <a:off x="641262" y="7045255"/>
            <a:ext cx="3002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SELECT ID</a:t>
            </a:r>
          </a:p>
          <a:p>
            <a:r>
              <a:rPr lang="en-US" altLang="ko-KR" sz="900" dirty="0"/>
              <a:t>FROM Employee;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753" y="997127"/>
            <a:ext cx="1264234" cy="331260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75767" y="980389"/>
            <a:ext cx="0" cy="3347720"/>
          </a:xfrm>
          <a:custGeom>
            <a:avLst/>
            <a:gdLst/>
            <a:ahLst/>
            <a:cxnLst/>
            <a:rect l="l" t="t" r="r" b="b"/>
            <a:pathLst>
              <a:path h="3347720">
                <a:moveTo>
                  <a:pt x="0" y="0"/>
                </a:moveTo>
                <a:lnTo>
                  <a:pt x="0" y="3347605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43783" y="980389"/>
            <a:ext cx="0" cy="3347720"/>
          </a:xfrm>
          <a:custGeom>
            <a:avLst/>
            <a:gdLst/>
            <a:ahLst/>
            <a:cxnLst/>
            <a:rect l="l" t="t" r="r" b="b"/>
            <a:pathLst>
              <a:path h="3347720">
                <a:moveTo>
                  <a:pt x="0" y="0"/>
                </a:moveTo>
                <a:lnTo>
                  <a:pt x="0" y="3347605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4243" y="980389"/>
            <a:ext cx="6408420" cy="3347720"/>
          </a:xfrm>
          <a:custGeom>
            <a:avLst/>
            <a:gdLst/>
            <a:ahLst/>
            <a:cxnLst/>
            <a:rect l="l" t="t" r="r" b="b"/>
            <a:pathLst>
              <a:path w="6408420" h="3347720">
                <a:moveTo>
                  <a:pt x="6404965" y="0"/>
                </a:moveTo>
                <a:lnTo>
                  <a:pt x="6404965" y="3347605"/>
                </a:lnTo>
              </a:path>
              <a:path w="6408420" h="3347720">
                <a:moveTo>
                  <a:pt x="0" y="0"/>
                </a:moveTo>
                <a:lnTo>
                  <a:pt x="6408013" y="0"/>
                </a:lnTo>
              </a:path>
              <a:path w="6408420" h="3347720">
                <a:moveTo>
                  <a:pt x="0" y="3347605"/>
                </a:moveTo>
                <a:lnTo>
                  <a:pt x="6408013" y="3347605"/>
                </a:lnTo>
              </a:path>
              <a:path w="6408420" h="3347720">
                <a:moveTo>
                  <a:pt x="6404965" y="0"/>
                </a:moveTo>
                <a:lnTo>
                  <a:pt x="6404965" y="3347605"/>
                </a:lnTo>
              </a:path>
              <a:path w="6408420" h="3347720">
                <a:moveTo>
                  <a:pt x="1523" y="0"/>
                </a:moveTo>
                <a:lnTo>
                  <a:pt x="1523" y="3347605"/>
                </a:lnTo>
              </a:path>
              <a:path w="6408420" h="3347720">
                <a:moveTo>
                  <a:pt x="0" y="3347605"/>
                </a:moveTo>
                <a:lnTo>
                  <a:pt x="6408013" y="3347605"/>
                </a:lnTo>
              </a:path>
              <a:path w="6408420" h="3347720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1920" y="5025225"/>
            <a:ext cx="4653318" cy="80531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75767" y="4868430"/>
            <a:ext cx="0" cy="1119505"/>
          </a:xfrm>
          <a:custGeom>
            <a:avLst/>
            <a:gdLst/>
            <a:ahLst/>
            <a:cxnLst/>
            <a:rect l="l" t="t" r="r" b="b"/>
            <a:pathLst>
              <a:path h="1119504">
                <a:moveTo>
                  <a:pt x="0" y="0"/>
                </a:moveTo>
                <a:lnTo>
                  <a:pt x="0" y="1118908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96426" y="4868430"/>
            <a:ext cx="0" cy="1119505"/>
          </a:xfrm>
          <a:custGeom>
            <a:avLst/>
            <a:gdLst/>
            <a:ahLst/>
            <a:cxnLst/>
            <a:rect l="l" t="t" r="r" b="b"/>
            <a:pathLst>
              <a:path h="1119504">
                <a:moveTo>
                  <a:pt x="0" y="0"/>
                </a:moveTo>
                <a:lnTo>
                  <a:pt x="0" y="1118908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243" y="4868430"/>
            <a:ext cx="6408420" cy="1119505"/>
          </a:xfrm>
          <a:custGeom>
            <a:avLst/>
            <a:gdLst/>
            <a:ahLst/>
            <a:cxnLst/>
            <a:rect l="l" t="t" r="r" b="b"/>
            <a:pathLst>
              <a:path w="6408420" h="1119504">
                <a:moveTo>
                  <a:pt x="6404965" y="0"/>
                </a:moveTo>
                <a:lnTo>
                  <a:pt x="6404965" y="1118908"/>
                </a:lnTo>
              </a:path>
              <a:path w="6408420" h="1119504">
                <a:moveTo>
                  <a:pt x="0" y="0"/>
                </a:moveTo>
                <a:lnTo>
                  <a:pt x="6408013" y="0"/>
                </a:lnTo>
              </a:path>
              <a:path w="6408420" h="1119504">
                <a:moveTo>
                  <a:pt x="0" y="1118908"/>
                </a:moveTo>
                <a:lnTo>
                  <a:pt x="6408013" y="1118908"/>
                </a:lnTo>
              </a:path>
              <a:path w="6408420" h="1119504">
                <a:moveTo>
                  <a:pt x="6404965" y="0"/>
                </a:moveTo>
                <a:lnTo>
                  <a:pt x="6404965" y="1118908"/>
                </a:lnTo>
              </a:path>
              <a:path w="6408420" h="1119504">
                <a:moveTo>
                  <a:pt x="1523" y="0"/>
                </a:moveTo>
                <a:lnTo>
                  <a:pt x="1523" y="1118908"/>
                </a:lnTo>
              </a:path>
              <a:path w="6408420" h="1119504">
                <a:moveTo>
                  <a:pt x="0" y="1118908"/>
                </a:moveTo>
                <a:lnTo>
                  <a:pt x="6408013" y="1118908"/>
                </a:lnTo>
              </a:path>
              <a:path w="6408420" h="1119504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61920" y="6585622"/>
            <a:ext cx="638213" cy="1399019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575767" y="6527774"/>
            <a:ext cx="0" cy="1513205"/>
          </a:xfrm>
          <a:custGeom>
            <a:avLst/>
            <a:gdLst/>
            <a:ahLst/>
            <a:cxnLst/>
            <a:rect l="l" t="t" r="r" b="b"/>
            <a:pathLst>
              <a:path h="1513204">
                <a:moveTo>
                  <a:pt x="0" y="0"/>
                </a:moveTo>
                <a:lnTo>
                  <a:pt x="0" y="1513192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96426" y="6527774"/>
            <a:ext cx="0" cy="1513205"/>
          </a:xfrm>
          <a:custGeom>
            <a:avLst/>
            <a:gdLst/>
            <a:ahLst/>
            <a:cxnLst/>
            <a:rect l="l" t="t" r="r" b="b"/>
            <a:pathLst>
              <a:path h="1513204">
                <a:moveTo>
                  <a:pt x="0" y="0"/>
                </a:moveTo>
                <a:lnTo>
                  <a:pt x="0" y="1513192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4243" y="6527774"/>
            <a:ext cx="6408420" cy="1513205"/>
          </a:xfrm>
          <a:custGeom>
            <a:avLst/>
            <a:gdLst/>
            <a:ahLst/>
            <a:cxnLst/>
            <a:rect l="l" t="t" r="r" b="b"/>
            <a:pathLst>
              <a:path w="6408420" h="1513204">
                <a:moveTo>
                  <a:pt x="6404965" y="0"/>
                </a:moveTo>
                <a:lnTo>
                  <a:pt x="6404965" y="1513192"/>
                </a:lnTo>
              </a:path>
              <a:path w="6408420" h="1513204">
                <a:moveTo>
                  <a:pt x="0" y="0"/>
                </a:moveTo>
                <a:lnTo>
                  <a:pt x="6408013" y="0"/>
                </a:lnTo>
              </a:path>
              <a:path w="6408420" h="1513204">
                <a:moveTo>
                  <a:pt x="0" y="1513192"/>
                </a:moveTo>
                <a:lnTo>
                  <a:pt x="6408013" y="1513192"/>
                </a:lnTo>
              </a:path>
              <a:path w="6408420" h="1513204">
                <a:moveTo>
                  <a:pt x="6404965" y="0"/>
                </a:moveTo>
                <a:lnTo>
                  <a:pt x="6404965" y="1513192"/>
                </a:lnTo>
              </a:path>
              <a:path w="6408420" h="1513204">
                <a:moveTo>
                  <a:pt x="1523" y="0"/>
                </a:moveTo>
                <a:lnTo>
                  <a:pt x="1523" y="1513192"/>
                </a:lnTo>
              </a:path>
              <a:path w="6408420" h="1513204">
                <a:moveTo>
                  <a:pt x="0" y="1513192"/>
                </a:moveTo>
                <a:lnTo>
                  <a:pt x="6408013" y="1513192"/>
                </a:lnTo>
              </a:path>
              <a:path w="6408420" h="1513204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52457" y="8605761"/>
            <a:ext cx="725030" cy="128179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575767" y="8582926"/>
            <a:ext cx="0" cy="1329055"/>
          </a:xfrm>
          <a:custGeom>
            <a:avLst/>
            <a:gdLst/>
            <a:ahLst/>
            <a:cxnLst/>
            <a:rect l="l" t="t" r="r" b="b"/>
            <a:pathLst>
              <a:path h="1329054">
                <a:moveTo>
                  <a:pt x="0" y="0"/>
                </a:moveTo>
                <a:lnTo>
                  <a:pt x="0" y="1328991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86963" y="8582926"/>
            <a:ext cx="0" cy="1329055"/>
          </a:xfrm>
          <a:custGeom>
            <a:avLst/>
            <a:gdLst/>
            <a:ahLst/>
            <a:cxnLst/>
            <a:rect l="l" t="t" r="r" b="b"/>
            <a:pathLst>
              <a:path h="1329054">
                <a:moveTo>
                  <a:pt x="0" y="0"/>
                </a:moveTo>
                <a:lnTo>
                  <a:pt x="0" y="1328991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4243" y="8582926"/>
            <a:ext cx="6408420" cy="1329055"/>
          </a:xfrm>
          <a:custGeom>
            <a:avLst/>
            <a:gdLst/>
            <a:ahLst/>
            <a:cxnLst/>
            <a:rect l="l" t="t" r="r" b="b"/>
            <a:pathLst>
              <a:path w="6408420" h="1329054">
                <a:moveTo>
                  <a:pt x="6404965" y="0"/>
                </a:moveTo>
                <a:lnTo>
                  <a:pt x="6404965" y="1328991"/>
                </a:lnTo>
              </a:path>
              <a:path w="6408420" h="1329054">
                <a:moveTo>
                  <a:pt x="0" y="0"/>
                </a:moveTo>
                <a:lnTo>
                  <a:pt x="6408013" y="0"/>
                </a:lnTo>
              </a:path>
              <a:path w="6408420" h="1329054">
                <a:moveTo>
                  <a:pt x="0" y="1328991"/>
                </a:moveTo>
                <a:lnTo>
                  <a:pt x="6408013" y="1328991"/>
                </a:lnTo>
              </a:path>
              <a:path w="6408420" h="1329054">
                <a:moveTo>
                  <a:pt x="6404965" y="0"/>
                </a:moveTo>
                <a:lnTo>
                  <a:pt x="6404965" y="1328991"/>
                </a:lnTo>
              </a:path>
              <a:path w="6408420" h="1329054">
                <a:moveTo>
                  <a:pt x="1523" y="0"/>
                </a:moveTo>
                <a:lnTo>
                  <a:pt x="1523" y="1328991"/>
                </a:lnTo>
              </a:path>
              <a:path w="6408420" h="1329054">
                <a:moveTo>
                  <a:pt x="0" y="1328991"/>
                </a:moveTo>
                <a:lnTo>
                  <a:pt x="6408013" y="1328991"/>
                </a:lnTo>
              </a:path>
              <a:path w="6408420" h="1329054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6503" y="683007"/>
            <a:ext cx="44538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latin typeface="Malgun Gothic"/>
                <a:cs typeface="Malgun Gothic"/>
              </a:rPr>
              <a:t>6.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35" dirty="0">
                <a:latin typeface="Malgun Gothic"/>
                <a:cs typeface="Malgun Gothic"/>
              </a:rPr>
              <a:t>ID와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가능한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모든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조합을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6503" y="4572576"/>
            <a:ext cx="489712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latin typeface="Malgun Gothic"/>
                <a:cs typeface="Malgun Gothic"/>
              </a:rPr>
              <a:t>7.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부서번호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35" dirty="0">
                <a:latin typeface="Malgun Gothic"/>
                <a:cs typeface="Malgun Gothic"/>
              </a:rPr>
              <a:t>5에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근무하는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모든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모든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속성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정보를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6503" y="6231923"/>
            <a:ext cx="3643629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latin typeface="Malgun Gothic"/>
                <a:cs typeface="Malgun Gothic"/>
              </a:rPr>
              <a:t>8.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모든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20" dirty="0">
                <a:latin typeface="Malgun Gothic"/>
                <a:cs typeface="Malgun Gothic"/>
              </a:rPr>
              <a:t>급여(중복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25" dirty="0">
                <a:latin typeface="Malgun Gothic"/>
                <a:cs typeface="Malgun Gothic"/>
              </a:rPr>
              <a:t>포함)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정보를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26503" y="8285555"/>
            <a:ext cx="3643629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latin typeface="Malgun Gothic"/>
                <a:cs typeface="Malgun Gothic"/>
              </a:rPr>
              <a:t>9.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모든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20" dirty="0">
                <a:latin typeface="Malgun Gothic"/>
                <a:cs typeface="Malgun Gothic"/>
              </a:rPr>
              <a:t>급여(중복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25" dirty="0">
                <a:latin typeface="Malgun Gothic"/>
                <a:cs typeface="Malgun Gothic"/>
              </a:rPr>
              <a:t>제거)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정보를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65A06F-338E-C312-A740-A2BBA8CD829F}"/>
              </a:ext>
            </a:extLst>
          </p:cNvPr>
          <p:cNvSpPr txBox="1"/>
          <p:nvPr/>
        </p:nvSpPr>
        <p:spPr>
          <a:xfrm>
            <a:off x="695056" y="1562232"/>
            <a:ext cx="30027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SELECT </a:t>
            </a:r>
          </a:p>
          <a:p>
            <a:r>
              <a:rPr lang="en-US" altLang="ko-KR" sz="900" dirty="0"/>
              <a:t>    Employee.ID,</a:t>
            </a:r>
          </a:p>
          <a:p>
            <a:r>
              <a:rPr lang="en-US" altLang="ko-KR" sz="900" dirty="0"/>
              <a:t>    </a:t>
            </a:r>
            <a:r>
              <a:rPr lang="en-US" altLang="ko-KR" sz="900" dirty="0" err="1"/>
              <a:t>Department.Dname</a:t>
            </a:r>
            <a:endParaRPr lang="en-US" altLang="ko-KR" sz="900" dirty="0"/>
          </a:p>
          <a:p>
            <a:r>
              <a:rPr lang="en-US" altLang="ko-KR" sz="900" dirty="0"/>
              <a:t>FROM </a:t>
            </a:r>
          </a:p>
          <a:p>
            <a:r>
              <a:rPr lang="en-US" altLang="ko-KR" sz="900" dirty="0"/>
              <a:t>    Employee, Department;</a:t>
            </a:r>
            <a:endParaRPr lang="ko-KR" altLang="en-US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74F7DB-C04A-2FC9-9424-03242D8BA13C}"/>
              </a:ext>
            </a:extLst>
          </p:cNvPr>
          <p:cNvSpPr txBox="1"/>
          <p:nvPr/>
        </p:nvSpPr>
        <p:spPr>
          <a:xfrm>
            <a:off x="651680" y="4986903"/>
            <a:ext cx="300274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SELECT *</a:t>
            </a:r>
          </a:p>
          <a:p>
            <a:r>
              <a:rPr lang="en-US" altLang="ko-KR" sz="900" dirty="0"/>
              <a:t>FROM Employee</a:t>
            </a:r>
          </a:p>
          <a:p>
            <a:r>
              <a:rPr lang="en-US" altLang="ko-KR" sz="900" dirty="0"/>
              <a:t>WHERE </a:t>
            </a:r>
            <a:r>
              <a:rPr lang="en-US" altLang="ko-KR" sz="900" dirty="0" err="1"/>
              <a:t>Dno</a:t>
            </a:r>
            <a:r>
              <a:rPr lang="en-US" altLang="ko-KR" sz="900" dirty="0"/>
              <a:t> = 5;</a:t>
            </a:r>
            <a:endParaRPr lang="ko-KR" altLang="en-US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ED0FFC-55A2-8E9A-10F5-098F30644573}"/>
              </a:ext>
            </a:extLst>
          </p:cNvPr>
          <p:cNvSpPr txBox="1"/>
          <p:nvPr/>
        </p:nvSpPr>
        <p:spPr>
          <a:xfrm>
            <a:off x="701406" y="6587626"/>
            <a:ext cx="3002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SELECT Salary</a:t>
            </a:r>
          </a:p>
          <a:p>
            <a:r>
              <a:rPr lang="en-US" altLang="ko-KR" sz="900" dirty="0"/>
              <a:t>FROM Employee;</a:t>
            </a:r>
            <a:endParaRPr lang="ko-KR" altLang="en-US" sz="9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57683E-7CB4-58E6-FC42-BCD2ECE1167A}"/>
              </a:ext>
            </a:extLst>
          </p:cNvPr>
          <p:cNvSpPr txBox="1"/>
          <p:nvPr/>
        </p:nvSpPr>
        <p:spPr>
          <a:xfrm>
            <a:off x="665650" y="8584709"/>
            <a:ext cx="30027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SELECT </a:t>
            </a:r>
          </a:p>
          <a:p>
            <a:r>
              <a:rPr lang="en-US" altLang="ko-KR" sz="900" dirty="0"/>
              <a:t>    Employee.ID,</a:t>
            </a:r>
          </a:p>
          <a:p>
            <a:r>
              <a:rPr lang="en-US" altLang="ko-KR" sz="900" dirty="0"/>
              <a:t>    </a:t>
            </a:r>
            <a:r>
              <a:rPr lang="en-US" altLang="ko-KR" sz="900" dirty="0" err="1"/>
              <a:t>Department.Dname</a:t>
            </a:r>
            <a:endParaRPr lang="en-US" altLang="ko-KR" sz="900" dirty="0"/>
          </a:p>
          <a:p>
            <a:r>
              <a:rPr lang="en-US" altLang="ko-KR" sz="900" dirty="0"/>
              <a:t>FROM </a:t>
            </a:r>
          </a:p>
          <a:p>
            <a:r>
              <a:rPr lang="en-US" altLang="ko-KR" sz="900" dirty="0"/>
              <a:t>    Employee, Department;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7224" y="1790268"/>
            <a:ext cx="1149997" cy="86772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75767" y="1467535"/>
            <a:ext cx="0" cy="1513205"/>
          </a:xfrm>
          <a:custGeom>
            <a:avLst/>
            <a:gdLst/>
            <a:ahLst/>
            <a:cxnLst/>
            <a:rect l="l" t="t" r="r" b="b"/>
            <a:pathLst>
              <a:path h="1513205">
                <a:moveTo>
                  <a:pt x="0" y="0"/>
                </a:moveTo>
                <a:lnTo>
                  <a:pt x="0" y="1513192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51731" y="1467535"/>
            <a:ext cx="0" cy="1513205"/>
          </a:xfrm>
          <a:custGeom>
            <a:avLst/>
            <a:gdLst/>
            <a:ahLst/>
            <a:cxnLst/>
            <a:rect l="l" t="t" r="r" b="b"/>
            <a:pathLst>
              <a:path h="1513205">
                <a:moveTo>
                  <a:pt x="0" y="0"/>
                </a:moveTo>
                <a:lnTo>
                  <a:pt x="0" y="1513192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4243" y="1467535"/>
            <a:ext cx="6408420" cy="1513205"/>
          </a:xfrm>
          <a:custGeom>
            <a:avLst/>
            <a:gdLst/>
            <a:ahLst/>
            <a:cxnLst/>
            <a:rect l="l" t="t" r="r" b="b"/>
            <a:pathLst>
              <a:path w="6408420" h="1513205">
                <a:moveTo>
                  <a:pt x="6404965" y="0"/>
                </a:moveTo>
                <a:lnTo>
                  <a:pt x="6404965" y="1513192"/>
                </a:lnTo>
              </a:path>
              <a:path w="6408420" h="1513205">
                <a:moveTo>
                  <a:pt x="0" y="0"/>
                </a:moveTo>
                <a:lnTo>
                  <a:pt x="6408013" y="0"/>
                </a:lnTo>
              </a:path>
              <a:path w="6408420" h="1513205">
                <a:moveTo>
                  <a:pt x="0" y="1513192"/>
                </a:moveTo>
                <a:lnTo>
                  <a:pt x="6408013" y="1513192"/>
                </a:lnTo>
              </a:path>
              <a:path w="6408420" h="1513205">
                <a:moveTo>
                  <a:pt x="6404965" y="0"/>
                </a:moveTo>
                <a:lnTo>
                  <a:pt x="6404965" y="1513192"/>
                </a:lnTo>
              </a:path>
              <a:path w="6408420" h="1513205">
                <a:moveTo>
                  <a:pt x="1523" y="0"/>
                </a:moveTo>
                <a:lnTo>
                  <a:pt x="1523" y="1513192"/>
                </a:lnTo>
              </a:path>
              <a:path w="6408420" h="1513205">
                <a:moveTo>
                  <a:pt x="0" y="1513192"/>
                </a:moveTo>
                <a:lnTo>
                  <a:pt x="6408013" y="1513192"/>
                </a:lnTo>
              </a:path>
              <a:path w="6408420" h="151320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7224" y="3539426"/>
            <a:ext cx="1354112" cy="119655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75767" y="3521163"/>
            <a:ext cx="0" cy="1233170"/>
          </a:xfrm>
          <a:custGeom>
            <a:avLst/>
            <a:gdLst/>
            <a:ahLst/>
            <a:cxnLst/>
            <a:rect l="l" t="t" r="r" b="b"/>
            <a:pathLst>
              <a:path h="1233170">
                <a:moveTo>
                  <a:pt x="0" y="0"/>
                </a:moveTo>
                <a:lnTo>
                  <a:pt x="0" y="1233081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51731" y="3521163"/>
            <a:ext cx="0" cy="1233170"/>
          </a:xfrm>
          <a:custGeom>
            <a:avLst/>
            <a:gdLst/>
            <a:ahLst/>
            <a:cxnLst/>
            <a:rect l="l" t="t" r="r" b="b"/>
            <a:pathLst>
              <a:path h="1233170">
                <a:moveTo>
                  <a:pt x="0" y="0"/>
                </a:moveTo>
                <a:lnTo>
                  <a:pt x="0" y="1233081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243" y="3521163"/>
            <a:ext cx="6408420" cy="1233170"/>
          </a:xfrm>
          <a:custGeom>
            <a:avLst/>
            <a:gdLst/>
            <a:ahLst/>
            <a:cxnLst/>
            <a:rect l="l" t="t" r="r" b="b"/>
            <a:pathLst>
              <a:path w="6408420" h="1233170">
                <a:moveTo>
                  <a:pt x="6404965" y="0"/>
                </a:moveTo>
                <a:lnTo>
                  <a:pt x="6404965" y="1233081"/>
                </a:lnTo>
              </a:path>
              <a:path w="6408420" h="1233170">
                <a:moveTo>
                  <a:pt x="0" y="0"/>
                </a:moveTo>
                <a:lnTo>
                  <a:pt x="6408013" y="0"/>
                </a:lnTo>
              </a:path>
              <a:path w="6408420" h="1233170">
                <a:moveTo>
                  <a:pt x="0" y="1233081"/>
                </a:moveTo>
                <a:lnTo>
                  <a:pt x="6408013" y="1233081"/>
                </a:lnTo>
              </a:path>
              <a:path w="6408420" h="1233170">
                <a:moveTo>
                  <a:pt x="6404965" y="0"/>
                </a:moveTo>
                <a:lnTo>
                  <a:pt x="6404965" y="1233081"/>
                </a:lnTo>
              </a:path>
              <a:path w="6408420" h="1233170">
                <a:moveTo>
                  <a:pt x="1523" y="0"/>
                </a:moveTo>
                <a:lnTo>
                  <a:pt x="1523" y="1233081"/>
                </a:lnTo>
              </a:path>
              <a:path w="6408420" h="1233170">
                <a:moveTo>
                  <a:pt x="0" y="1233081"/>
                </a:moveTo>
                <a:lnTo>
                  <a:pt x="6408013" y="1233081"/>
                </a:lnTo>
              </a:path>
              <a:path w="6408420" h="1233170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17224" y="5329694"/>
            <a:ext cx="1561261" cy="1012355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575767" y="5294680"/>
            <a:ext cx="0" cy="1082675"/>
          </a:xfrm>
          <a:custGeom>
            <a:avLst/>
            <a:gdLst/>
            <a:ahLst/>
            <a:cxnLst/>
            <a:rect l="l" t="t" r="r" b="b"/>
            <a:pathLst>
              <a:path h="1082675">
                <a:moveTo>
                  <a:pt x="0" y="0"/>
                </a:moveTo>
                <a:lnTo>
                  <a:pt x="0" y="1082382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51731" y="5294680"/>
            <a:ext cx="0" cy="1082675"/>
          </a:xfrm>
          <a:custGeom>
            <a:avLst/>
            <a:gdLst/>
            <a:ahLst/>
            <a:cxnLst/>
            <a:rect l="l" t="t" r="r" b="b"/>
            <a:pathLst>
              <a:path h="1082675">
                <a:moveTo>
                  <a:pt x="0" y="0"/>
                </a:moveTo>
                <a:lnTo>
                  <a:pt x="0" y="1082382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4243" y="5294680"/>
            <a:ext cx="6408420" cy="1082675"/>
          </a:xfrm>
          <a:custGeom>
            <a:avLst/>
            <a:gdLst/>
            <a:ahLst/>
            <a:cxnLst/>
            <a:rect l="l" t="t" r="r" b="b"/>
            <a:pathLst>
              <a:path w="6408420" h="1082675">
                <a:moveTo>
                  <a:pt x="6404965" y="0"/>
                </a:moveTo>
                <a:lnTo>
                  <a:pt x="6404965" y="1082382"/>
                </a:lnTo>
              </a:path>
              <a:path w="6408420" h="1082675">
                <a:moveTo>
                  <a:pt x="0" y="0"/>
                </a:moveTo>
                <a:lnTo>
                  <a:pt x="6408013" y="0"/>
                </a:lnTo>
              </a:path>
              <a:path w="6408420" h="1082675">
                <a:moveTo>
                  <a:pt x="0" y="1082382"/>
                </a:moveTo>
                <a:lnTo>
                  <a:pt x="6408013" y="1082382"/>
                </a:lnTo>
              </a:path>
              <a:path w="6408420" h="1082675">
                <a:moveTo>
                  <a:pt x="6404965" y="0"/>
                </a:moveTo>
                <a:lnTo>
                  <a:pt x="6404965" y="1082382"/>
                </a:lnTo>
              </a:path>
              <a:path w="6408420" h="1082675">
                <a:moveTo>
                  <a:pt x="1523" y="0"/>
                </a:moveTo>
                <a:lnTo>
                  <a:pt x="1523" y="1082382"/>
                </a:lnTo>
              </a:path>
              <a:path w="6408420" h="1082675">
                <a:moveTo>
                  <a:pt x="0" y="1082382"/>
                </a:moveTo>
                <a:lnTo>
                  <a:pt x="6408013" y="1082382"/>
                </a:lnTo>
              </a:path>
              <a:path w="6408420" h="108267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40135" y="6935761"/>
            <a:ext cx="2239073" cy="669823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575767" y="6917487"/>
            <a:ext cx="0" cy="706755"/>
          </a:xfrm>
          <a:custGeom>
            <a:avLst/>
            <a:gdLst/>
            <a:ahLst/>
            <a:cxnLst/>
            <a:rect l="l" t="t" r="r" b="b"/>
            <a:pathLst>
              <a:path h="706754">
                <a:moveTo>
                  <a:pt x="0" y="0"/>
                </a:moveTo>
                <a:lnTo>
                  <a:pt x="0" y="706361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76165" y="6917487"/>
            <a:ext cx="0" cy="706755"/>
          </a:xfrm>
          <a:custGeom>
            <a:avLst/>
            <a:gdLst/>
            <a:ahLst/>
            <a:cxnLst/>
            <a:rect l="l" t="t" r="r" b="b"/>
            <a:pathLst>
              <a:path h="706754">
                <a:moveTo>
                  <a:pt x="0" y="0"/>
                </a:moveTo>
                <a:lnTo>
                  <a:pt x="0" y="706361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4243" y="6917487"/>
            <a:ext cx="6408420" cy="706755"/>
          </a:xfrm>
          <a:custGeom>
            <a:avLst/>
            <a:gdLst/>
            <a:ahLst/>
            <a:cxnLst/>
            <a:rect l="l" t="t" r="r" b="b"/>
            <a:pathLst>
              <a:path w="6408420" h="706754">
                <a:moveTo>
                  <a:pt x="6404965" y="0"/>
                </a:moveTo>
                <a:lnTo>
                  <a:pt x="6404965" y="706361"/>
                </a:lnTo>
              </a:path>
              <a:path w="6408420" h="706754">
                <a:moveTo>
                  <a:pt x="0" y="0"/>
                </a:moveTo>
                <a:lnTo>
                  <a:pt x="6408013" y="0"/>
                </a:lnTo>
              </a:path>
              <a:path w="6408420" h="706754">
                <a:moveTo>
                  <a:pt x="0" y="706361"/>
                </a:moveTo>
                <a:lnTo>
                  <a:pt x="6408013" y="706361"/>
                </a:lnTo>
              </a:path>
              <a:path w="6408420" h="706754">
                <a:moveTo>
                  <a:pt x="6404965" y="0"/>
                </a:moveTo>
                <a:lnTo>
                  <a:pt x="6404965" y="706361"/>
                </a:lnTo>
              </a:path>
              <a:path w="6408420" h="706754">
                <a:moveTo>
                  <a:pt x="1523" y="0"/>
                </a:moveTo>
                <a:lnTo>
                  <a:pt x="1523" y="706361"/>
                </a:lnTo>
              </a:path>
              <a:path w="6408420" h="706754">
                <a:moveTo>
                  <a:pt x="0" y="706361"/>
                </a:moveTo>
                <a:lnTo>
                  <a:pt x="6408013" y="706361"/>
                </a:lnTo>
              </a:path>
              <a:path w="6408420" h="706754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14571" y="8182546"/>
            <a:ext cx="2179675" cy="1531467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575767" y="8164283"/>
            <a:ext cx="0" cy="1568450"/>
          </a:xfrm>
          <a:custGeom>
            <a:avLst/>
            <a:gdLst/>
            <a:ahLst/>
            <a:cxnLst/>
            <a:rect l="l" t="t" r="r" b="b"/>
            <a:pathLst>
              <a:path h="1568450">
                <a:moveTo>
                  <a:pt x="0" y="0"/>
                </a:moveTo>
                <a:lnTo>
                  <a:pt x="0" y="1568005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49077" y="8164283"/>
            <a:ext cx="0" cy="1568450"/>
          </a:xfrm>
          <a:custGeom>
            <a:avLst/>
            <a:gdLst/>
            <a:ahLst/>
            <a:cxnLst/>
            <a:rect l="l" t="t" r="r" b="b"/>
            <a:pathLst>
              <a:path h="1568450">
                <a:moveTo>
                  <a:pt x="0" y="0"/>
                </a:moveTo>
                <a:lnTo>
                  <a:pt x="0" y="1568005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4243" y="8164283"/>
            <a:ext cx="6408420" cy="1568450"/>
          </a:xfrm>
          <a:custGeom>
            <a:avLst/>
            <a:gdLst/>
            <a:ahLst/>
            <a:cxnLst/>
            <a:rect l="l" t="t" r="r" b="b"/>
            <a:pathLst>
              <a:path w="6408420" h="1568450">
                <a:moveTo>
                  <a:pt x="6404965" y="0"/>
                </a:moveTo>
                <a:lnTo>
                  <a:pt x="6404965" y="1568005"/>
                </a:lnTo>
              </a:path>
              <a:path w="6408420" h="1568450">
                <a:moveTo>
                  <a:pt x="0" y="0"/>
                </a:moveTo>
                <a:lnTo>
                  <a:pt x="6408013" y="0"/>
                </a:lnTo>
              </a:path>
              <a:path w="6408420" h="1568450">
                <a:moveTo>
                  <a:pt x="0" y="1568005"/>
                </a:moveTo>
                <a:lnTo>
                  <a:pt x="6408013" y="1568005"/>
                </a:lnTo>
              </a:path>
              <a:path w="6408420" h="1568450">
                <a:moveTo>
                  <a:pt x="6404965" y="0"/>
                </a:moveTo>
                <a:lnTo>
                  <a:pt x="6404965" y="1568005"/>
                </a:lnTo>
              </a:path>
              <a:path w="6408420" h="1568450">
                <a:moveTo>
                  <a:pt x="1523" y="0"/>
                </a:moveTo>
                <a:lnTo>
                  <a:pt x="1523" y="1568005"/>
                </a:lnTo>
              </a:path>
              <a:path w="6408420" h="1568450">
                <a:moveTo>
                  <a:pt x="0" y="1568005"/>
                </a:moveTo>
                <a:lnTo>
                  <a:pt x="6408013" y="1568005"/>
                </a:lnTo>
              </a:path>
              <a:path w="6408420" h="1568450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26503" y="865687"/>
            <a:ext cx="6502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200"/>
              </a:lnSpc>
              <a:spcBef>
                <a:spcPts val="100"/>
              </a:spcBef>
            </a:pPr>
            <a:r>
              <a:rPr lang="en-US" altLang="ko-KR" sz="1200" spc="-35" dirty="0">
                <a:latin typeface="Malgun Gothic"/>
                <a:cs typeface="Malgun Gothic"/>
              </a:rPr>
              <a:t>10.</a:t>
            </a:r>
            <a:r>
              <a:rPr lang="ko-KR" altLang="en-US" sz="1200" spc="245" dirty="0">
                <a:latin typeface="Malgun Gothic"/>
                <a:cs typeface="Malgun Gothic"/>
              </a:rPr>
              <a:t> </a:t>
            </a:r>
            <a:r>
              <a:rPr lang="ko-KR" altLang="en-US" sz="1200" spc="10" dirty="0">
                <a:latin typeface="Malgun Gothic"/>
                <a:cs typeface="Malgun Gothic"/>
              </a:rPr>
              <a:t>‘</a:t>
            </a:r>
            <a:r>
              <a:rPr lang="en-US" altLang="ko-KR" sz="1200" spc="10" dirty="0">
                <a:latin typeface="Malgun Gothic"/>
                <a:cs typeface="Malgun Gothic"/>
              </a:rPr>
              <a:t>Smith’</a:t>
            </a:r>
            <a:r>
              <a:rPr lang="ko-KR" altLang="en-US" sz="1200" spc="10" dirty="0">
                <a:latin typeface="Malgun Gothic"/>
                <a:cs typeface="Malgun Gothic"/>
              </a:rPr>
              <a:t>라는</a:t>
            </a:r>
            <a:r>
              <a:rPr lang="ko-KR" altLang="en-US" sz="1200" spc="250" dirty="0">
                <a:latin typeface="Malgun Gothic"/>
                <a:cs typeface="Malgun Gothic"/>
              </a:rPr>
              <a:t> </a:t>
            </a:r>
            <a:r>
              <a:rPr lang="ko-KR" altLang="en-US" sz="1200" spc="-5" dirty="0">
                <a:latin typeface="Malgun Gothic"/>
                <a:cs typeface="Malgun Gothic"/>
              </a:rPr>
              <a:t>사원이</a:t>
            </a:r>
            <a:r>
              <a:rPr lang="ko-KR" altLang="en-US" sz="1200" spc="245" dirty="0">
                <a:latin typeface="Malgun Gothic"/>
                <a:cs typeface="Malgun Gothic"/>
              </a:rPr>
              <a:t> </a:t>
            </a:r>
            <a:r>
              <a:rPr lang="ko-KR" altLang="en-US" sz="1200" spc="-5" dirty="0">
                <a:latin typeface="Malgun Gothic"/>
                <a:cs typeface="Malgun Gothic"/>
              </a:rPr>
              <a:t>직접</a:t>
            </a:r>
            <a:r>
              <a:rPr lang="ko-KR" altLang="en-US" sz="1200" spc="250" dirty="0">
                <a:latin typeface="Malgun Gothic"/>
                <a:cs typeface="Malgun Gothic"/>
              </a:rPr>
              <a:t> </a:t>
            </a:r>
            <a:r>
              <a:rPr lang="ko-KR" altLang="en-US" sz="1200" spc="-5" dirty="0">
                <a:latin typeface="Malgun Gothic"/>
                <a:cs typeface="Malgun Gothic"/>
              </a:rPr>
              <a:t>참여하고</a:t>
            </a:r>
            <a:r>
              <a:rPr lang="ko-KR" altLang="en-US" sz="1200" spc="250" dirty="0">
                <a:latin typeface="Malgun Gothic"/>
                <a:cs typeface="Malgun Gothic"/>
              </a:rPr>
              <a:t> </a:t>
            </a:r>
            <a:r>
              <a:rPr lang="ko-KR" altLang="en-US" sz="1200" spc="-5" dirty="0">
                <a:latin typeface="Malgun Gothic"/>
                <a:cs typeface="Malgun Gothic"/>
              </a:rPr>
              <a:t>있는</a:t>
            </a:r>
            <a:r>
              <a:rPr lang="ko-KR" altLang="en-US" sz="1200" spc="245" dirty="0">
                <a:latin typeface="Malgun Gothic"/>
                <a:cs typeface="Malgun Gothic"/>
              </a:rPr>
              <a:t> </a:t>
            </a:r>
            <a:r>
              <a:rPr lang="ko-KR" altLang="en-US" sz="1200" spc="-5" dirty="0">
                <a:latin typeface="Malgun Gothic"/>
                <a:cs typeface="Malgun Gothic"/>
              </a:rPr>
              <a:t>프로젝트</a:t>
            </a:r>
            <a:r>
              <a:rPr lang="ko-KR" altLang="en-US" sz="1200" spc="250" dirty="0">
                <a:latin typeface="Malgun Gothic"/>
                <a:cs typeface="Malgun Gothic"/>
              </a:rPr>
              <a:t> </a:t>
            </a:r>
            <a:r>
              <a:rPr lang="ko-KR" altLang="en-US" sz="1200" spc="-5" dirty="0">
                <a:latin typeface="Malgun Gothic"/>
                <a:cs typeface="Malgun Gothic"/>
              </a:rPr>
              <a:t>번호</a:t>
            </a:r>
            <a:r>
              <a:rPr lang="ko-KR" altLang="en-US" sz="1200" spc="250" dirty="0">
                <a:latin typeface="Malgun Gothic"/>
                <a:cs typeface="Malgun Gothic"/>
              </a:rPr>
              <a:t> </a:t>
            </a:r>
            <a:r>
              <a:rPr lang="ko-KR" altLang="en-US" sz="1200" spc="-5" dirty="0">
                <a:latin typeface="Malgun Gothic"/>
                <a:cs typeface="Malgun Gothic"/>
              </a:rPr>
              <a:t>또는</a:t>
            </a:r>
            <a:r>
              <a:rPr lang="ko-KR" altLang="en-US" sz="1200" spc="245" dirty="0">
                <a:latin typeface="Malgun Gothic"/>
                <a:cs typeface="Malgun Gothic"/>
              </a:rPr>
              <a:t> </a:t>
            </a:r>
            <a:r>
              <a:rPr lang="ko-KR" altLang="en-US" sz="1200" spc="-5" dirty="0">
                <a:latin typeface="Malgun Gothic"/>
                <a:cs typeface="Malgun Gothic"/>
              </a:rPr>
              <a:t>관리자로</a:t>
            </a:r>
            <a:r>
              <a:rPr lang="ko-KR" altLang="en-US" sz="1200" spc="250" dirty="0">
                <a:latin typeface="Malgun Gothic"/>
                <a:cs typeface="Malgun Gothic"/>
              </a:rPr>
              <a:t> </a:t>
            </a:r>
            <a:r>
              <a:rPr lang="ko-KR" altLang="en-US" sz="1200" spc="-5" dirty="0">
                <a:latin typeface="Malgun Gothic"/>
                <a:cs typeface="Malgun Gothic"/>
              </a:rPr>
              <a:t>일하는</a:t>
            </a:r>
            <a:r>
              <a:rPr lang="ko-KR" altLang="en-US" sz="1200" spc="250" dirty="0">
                <a:latin typeface="Malgun Gothic"/>
                <a:cs typeface="Malgun Gothic"/>
              </a:rPr>
              <a:t> </a:t>
            </a:r>
            <a:r>
              <a:rPr lang="ko-KR" altLang="en-US" sz="1200" spc="-5" dirty="0">
                <a:latin typeface="Malgun Gothic"/>
                <a:cs typeface="Malgun Gothic"/>
              </a:rPr>
              <a:t>부서에서 </a:t>
            </a:r>
            <a:r>
              <a:rPr lang="ko-KR" altLang="en-US" sz="1200" spc="-405" dirty="0">
                <a:latin typeface="Malgun Gothic"/>
                <a:cs typeface="Malgun Gothic"/>
              </a:rPr>
              <a:t> </a:t>
            </a:r>
            <a:r>
              <a:rPr lang="ko-KR" altLang="en-US" sz="1200" spc="-5" dirty="0">
                <a:latin typeface="Malgun Gothic"/>
                <a:cs typeface="Malgun Gothic"/>
              </a:rPr>
              <a:t>진행하고</a:t>
            </a:r>
            <a:r>
              <a:rPr lang="ko-KR" altLang="en-US" sz="1200" spc="170" dirty="0">
                <a:latin typeface="Malgun Gothic"/>
                <a:cs typeface="Malgun Gothic"/>
              </a:rPr>
              <a:t> </a:t>
            </a:r>
            <a:r>
              <a:rPr lang="ko-KR" altLang="en-US" sz="1200" spc="-5" dirty="0">
                <a:latin typeface="Malgun Gothic"/>
                <a:cs typeface="Malgun Gothic"/>
              </a:rPr>
              <a:t>있는</a:t>
            </a:r>
            <a:r>
              <a:rPr lang="ko-KR" altLang="en-US" sz="1200" spc="175" dirty="0">
                <a:latin typeface="Malgun Gothic"/>
                <a:cs typeface="Malgun Gothic"/>
              </a:rPr>
              <a:t> </a:t>
            </a:r>
            <a:r>
              <a:rPr lang="ko-KR" altLang="en-US" sz="1200" spc="-5" dirty="0">
                <a:latin typeface="Malgun Gothic"/>
                <a:cs typeface="Malgun Gothic"/>
              </a:rPr>
              <a:t>프로젝트의</a:t>
            </a:r>
            <a:r>
              <a:rPr lang="ko-KR" altLang="en-US" sz="1200" spc="175" dirty="0">
                <a:latin typeface="Malgun Gothic"/>
                <a:cs typeface="Malgun Gothic"/>
              </a:rPr>
              <a:t> </a:t>
            </a:r>
            <a:r>
              <a:rPr lang="ko-KR" altLang="en-US" sz="1200" spc="-5" dirty="0">
                <a:latin typeface="Malgun Gothic"/>
                <a:cs typeface="Malgun Gothic"/>
              </a:rPr>
              <a:t>번호를</a:t>
            </a:r>
            <a:r>
              <a:rPr lang="ko-KR" altLang="en-US" sz="1200" spc="175" dirty="0">
                <a:latin typeface="Malgun Gothic"/>
                <a:cs typeface="Malgun Gothic"/>
              </a:rPr>
              <a:t> </a:t>
            </a:r>
            <a:r>
              <a:rPr lang="ko-KR" altLang="en-US" sz="1200" dirty="0" err="1">
                <a:latin typeface="Malgun Gothic"/>
                <a:cs typeface="Malgun Gothic"/>
              </a:rPr>
              <a:t>검색하시오</a:t>
            </a:r>
            <a:r>
              <a:rPr lang="en-US" altLang="ko-KR" sz="1200" dirty="0">
                <a:latin typeface="Malgun Gothic"/>
                <a:cs typeface="Malgun Gothic"/>
              </a:rPr>
              <a:t>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26503" y="3223786"/>
            <a:ext cx="348551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11.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‘Huston’에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사는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사원들의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이름을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26503" y="4997308"/>
            <a:ext cx="386651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12.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‘Huston’에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살지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않는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사원들의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이름을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26503" y="6621641"/>
            <a:ext cx="4059554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13.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40" dirty="0">
                <a:latin typeface="Malgun Gothic"/>
                <a:cs typeface="Malgun Gothic"/>
              </a:rPr>
              <a:t>1950년대에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태어난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이름과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생일을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26503" y="7866912"/>
            <a:ext cx="428815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14.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0" dirty="0">
                <a:latin typeface="Malgun Gothic"/>
                <a:cs typeface="Malgun Gothic"/>
              </a:rPr>
              <a:t>1970년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이전에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태어난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이름과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생일을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F55BC1-F868-FC4F-2415-F09CEF7727AC}"/>
              </a:ext>
            </a:extLst>
          </p:cNvPr>
          <p:cNvSpPr txBox="1"/>
          <p:nvPr/>
        </p:nvSpPr>
        <p:spPr>
          <a:xfrm>
            <a:off x="641260" y="3825014"/>
            <a:ext cx="3002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SELECT </a:t>
            </a:r>
            <a:r>
              <a:rPr lang="en-US" altLang="ko-KR" sz="700" dirty="0" err="1"/>
              <a:t>Fname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Lname</a:t>
            </a:r>
            <a:endParaRPr lang="en-US" altLang="ko-KR" sz="700" dirty="0"/>
          </a:p>
          <a:p>
            <a:r>
              <a:rPr lang="en-US" altLang="ko-KR" sz="700" dirty="0"/>
              <a:t>FROM Employee</a:t>
            </a:r>
          </a:p>
          <a:p>
            <a:r>
              <a:rPr lang="en-US" altLang="ko-KR" sz="700" dirty="0"/>
              <a:t>WHERE Address LIKE '*Huston*';</a:t>
            </a:r>
            <a:endParaRPr lang="ko-KR" altLang="en-US" sz="7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2173CE-AC42-0CA2-8E08-EC988862C6C0}"/>
              </a:ext>
            </a:extLst>
          </p:cNvPr>
          <p:cNvSpPr txBox="1"/>
          <p:nvPr/>
        </p:nvSpPr>
        <p:spPr>
          <a:xfrm>
            <a:off x="641260" y="5498116"/>
            <a:ext cx="3002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SELECT </a:t>
            </a:r>
            <a:r>
              <a:rPr lang="en-US" altLang="ko-KR" sz="700" dirty="0" err="1"/>
              <a:t>Fname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Lname</a:t>
            </a:r>
            <a:endParaRPr lang="en-US" altLang="ko-KR" sz="700" dirty="0"/>
          </a:p>
          <a:p>
            <a:r>
              <a:rPr lang="en-US" altLang="ko-KR" sz="700" dirty="0"/>
              <a:t>FROM Employee</a:t>
            </a:r>
          </a:p>
          <a:p>
            <a:r>
              <a:rPr lang="en-US" altLang="ko-KR" sz="700" dirty="0"/>
              <a:t>WHERE Address NOT LIKE '*Huston*';</a:t>
            </a:r>
            <a:endParaRPr lang="ko-KR" altLang="en-US" sz="7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C8E58E-9EE3-B7FC-82B7-083F67D79E16}"/>
              </a:ext>
            </a:extLst>
          </p:cNvPr>
          <p:cNvSpPr txBox="1"/>
          <p:nvPr/>
        </p:nvSpPr>
        <p:spPr>
          <a:xfrm>
            <a:off x="630847" y="6950606"/>
            <a:ext cx="3002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SELECT </a:t>
            </a:r>
            <a:r>
              <a:rPr lang="en-US" altLang="ko-KR" sz="700" dirty="0" err="1"/>
              <a:t>Fname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Lname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Bdate</a:t>
            </a:r>
            <a:endParaRPr lang="en-US" altLang="ko-KR" sz="700" dirty="0"/>
          </a:p>
          <a:p>
            <a:r>
              <a:rPr lang="en-US" altLang="ko-KR" sz="700" dirty="0"/>
              <a:t>FROM Employee AS E</a:t>
            </a:r>
          </a:p>
          <a:p>
            <a:r>
              <a:rPr lang="en-US" altLang="ko-KR" sz="700" dirty="0"/>
              <a:t>WHERE </a:t>
            </a:r>
            <a:r>
              <a:rPr lang="en-US" altLang="ko-KR" sz="700" dirty="0" err="1"/>
              <a:t>Bdate</a:t>
            </a:r>
            <a:r>
              <a:rPr lang="en-US" altLang="ko-KR" sz="700" dirty="0"/>
              <a:t> BETWEEN #1950-01-01# AND #1959-12-31#;</a:t>
            </a:r>
            <a:endParaRPr lang="ko-KR" altLang="en-US" sz="7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A2FF11-42A0-E0C7-7D7A-5802853B09B7}"/>
              </a:ext>
            </a:extLst>
          </p:cNvPr>
          <p:cNvSpPr txBox="1"/>
          <p:nvPr/>
        </p:nvSpPr>
        <p:spPr>
          <a:xfrm>
            <a:off x="695794" y="8432306"/>
            <a:ext cx="3002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SELECT </a:t>
            </a:r>
            <a:r>
              <a:rPr lang="en-US" altLang="ko-KR" sz="700" dirty="0" err="1"/>
              <a:t>Fname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Lname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Bdate</a:t>
            </a:r>
            <a:endParaRPr lang="en-US" altLang="ko-KR" sz="700" dirty="0"/>
          </a:p>
          <a:p>
            <a:r>
              <a:rPr lang="en-US" altLang="ko-KR" sz="700" dirty="0"/>
              <a:t>FROM Employee</a:t>
            </a:r>
          </a:p>
          <a:p>
            <a:r>
              <a:rPr lang="en-US" altLang="ko-KR" sz="700" dirty="0"/>
              <a:t>WHERE </a:t>
            </a:r>
            <a:r>
              <a:rPr lang="en-US" altLang="ko-KR" sz="700" dirty="0" err="1"/>
              <a:t>Bdate</a:t>
            </a:r>
            <a:r>
              <a:rPr lang="en-US" altLang="ko-KR" sz="700" dirty="0"/>
              <a:t> &lt; #1970-01-01#;</a:t>
            </a:r>
            <a:endParaRPr lang="ko-KR" alt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5635" y="997127"/>
            <a:ext cx="2505633" cy="121025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75767" y="980389"/>
            <a:ext cx="0" cy="1245870"/>
          </a:xfrm>
          <a:custGeom>
            <a:avLst/>
            <a:gdLst/>
            <a:ahLst/>
            <a:cxnLst/>
            <a:rect l="l" t="t" r="r" b="b"/>
            <a:pathLst>
              <a:path h="1245870">
                <a:moveTo>
                  <a:pt x="0" y="0"/>
                </a:moveTo>
                <a:lnTo>
                  <a:pt x="0" y="124526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0141" y="980389"/>
            <a:ext cx="0" cy="1245870"/>
          </a:xfrm>
          <a:custGeom>
            <a:avLst/>
            <a:gdLst/>
            <a:ahLst/>
            <a:cxnLst/>
            <a:rect l="l" t="t" r="r" b="b"/>
            <a:pathLst>
              <a:path h="1245870">
                <a:moveTo>
                  <a:pt x="0" y="0"/>
                </a:moveTo>
                <a:lnTo>
                  <a:pt x="0" y="124526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4243" y="980389"/>
            <a:ext cx="6408420" cy="1245870"/>
          </a:xfrm>
          <a:custGeom>
            <a:avLst/>
            <a:gdLst/>
            <a:ahLst/>
            <a:cxnLst/>
            <a:rect l="l" t="t" r="r" b="b"/>
            <a:pathLst>
              <a:path w="6408420" h="1245870">
                <a:moveTo>
                  <a:pt x="6404965" y="0"/>
                </a:moveTo>
                <a:lnTo>
                  <a:pt x="6404965" y="1245260"/>
                </a:lnTo>
              </a:path>
              <a:path w="6408420" h="1245870">
                <a:moveTo>
                  <a:pt x="0" y="0"/>
                </a:moveTo>
                <a:lnTo>
                  <a:pt x="6408013" y="0"/>
                </a:lnTo>
              </a:path>
              <a:path w="6408420" h="1245870">
                <a:moveTo>
                  <a:pt x="0" y="1245260"/>
                </a:moveTo>
                <a:lnTo>
                  <a:pt x="6408013" y="1245260"/>
                </a:lnTo>
              </a:path>
              <a:path w="6408420" h="1245870">
                <a:moveTo>
                  <a:pt x="6404965" y="0"/>
                </a:moveTo>
                <a:lnTo>
                  <a:pt x="6404965" y="1245260"/>
                </a:lnTo>
              </a:path>
              <a:path w="6408420" h="1245870">
                <a:moveTo>
                  <a:pt x="1523" y="0"/>
                </a:moveTo>
                <a:lnTo>
                  <a:pt x="1523" y="1245260"/>
                </a:lnTo>
              </a:path>
              <a:path w="6408420" h="1245870">
                <a:moveTo>
                  <a:pt x="0" y="1245260"/>
                </a:moveTo>
                <a:lnTo>
                  <a:pt x="6408013" y="1245260"/>
                </a:lnTo>
              </a:path>
              <a:path w="6408420" h="1245870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7224" y="2784348"/>
            <a:ext cx="2482786" cy="83728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75767" y="2766085"/>
            <a:ext cx="0" cy="874394"/>
          </a:xfrm>
          <a:custGeom>
            <a:avLst/>
            <a:gdLst/>
            <a:ahLst/>
            <a:cxnLst/>
            <a:rect l="l" t="t" r="r" b="b"/>
            <a:pathLst>
              <a:path h="874395">
                <a:moveTo>
                  <a:pt x="0" y="0"/>
                </a:moveTo>
                <a:lnTo>
                  <a:pt x="0" y="87381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51731" y="2766085"/>
            <a:ext cx="0" cy="874394"/>
          </a:xfrm>
          <a:custGeom>
            <a:avLst/>
            <a:gdLst/>
            <a:ahLst/>
            <a:cxnLst/>
            <a:rect l="l" t="t" r="r" b="b"/>
            <a:pathLst>
              <a:path h="874395">
                <a:moveTo>
                  <a:pt x="0" y="0"/>
                </a:moveTo>
                <a:lnTo>
                  <a:pt x="0" y="87381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243" y="2766085"/>
            <a:ext cx="6408420" cy="874394"/>
          </a:xfrm>
          <a:custGeom>
            <a:avLst/>
            <a:gdLst/>
            <a:ahLst/>
            <a:cxnLst/>
            <a:rect l="l" t="t" r="r" b="b"/>
            <a:pathLst>
              <a:path w="6408420" h="874395">
                <a:moveTo>
                  <a:pt x="6404965" y="0"/>
                </a:moveTo>
                <a:lnTo>
                  <a:pt x="6404965" y="873810"/>
                </a:lnTo>
              </a:path>
              <a:path w="6408420" h="874395">
                <a:moveTo>
                  <a:pt x="0" y="0"/>
                </a:moveTo>
                <a:lnTo>
                  <a:pt x="6408013" y="0"/>
                </a:lnTo>
              </a:path>
              <a:path w="6408420" h="874395">
                <a:moveTo>
                  <a:pt x="0" y="873810"/>
                </a:moveTo>
                <a:lnTo>
                  <a:pt x="6408013" y="873810"/>
                </a:lnTo>
              </a:path>
              <a:path w="6408420" h="874395">
                <a:moveTo>
                  <a:pt x="6404965" y="0"/>
                </a:moveTo>
                <a:lnTo>
                  <a:pt x="6404965" y="873810"/>
                </a:lnTo>
              </a:path>
              <a:path w="6408420" h="874395">
                <a:moveTo>
                  <a:pt x="1523" y="0"/>
                </a:moveTo>
                <a:lnTo>
                  <a:pt x="1523" y="873810"/>
                </a:lnTo>
              </a:path>
              <a:path w="6408420" h="874395">
                <a:moveTo>
                  <a:pt x="0" y="873810"/>
                </a:moveTo>
                <a:lnTo>
                  <a:pt x="6408013" y="873810"/>
                </a:lnTo>
              </a:path>
              <a:path w="6408420" h="87439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65904" y="4442168"/>
            <a:ext cx="2749334" cy="90883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575767" y="4423905"/>
            <a:ext cx="0" cy="945515"/>
          </a:xfrm>
          <a:custGeom>
            <a:avLst/>
            <a:gdLst/>
            <a:ahLst/>
            <a:cxnLst/>
            <a:rect l="l" t="t" r="r" b="b"/>
            <a:pathLst>
              <a:path h="945514">
                <a:moveTo>
                  <a:pt x="0" y="0"/>
                </a:moveTo>
                <a:lnTo>
                  <a:pt x="0" y="945362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00398" y="4423905"/>
            <a:ext cx="0" cy="945515"/>
          </a:xfrm>
          <a:custGeom>
            <a:avLst/>
            <a:gdLst/>
            <a:ahLst/>
            <a:cxnLst/>
            <a:rect l="l" t="t" r="r" b="b"/>
            <a:pathLst>
              <a:path h="945514">
                <a:moveTo>
                  <a:pt x="0" y="0"/>
                </a:moveTo>
                <a:lnTo>
                  <a:pt x="0" y="945362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4243" y="4423905"/>
            <a:ext cx="6408420" cy="945515"/>
          </a:xfrm>
          <a:custGeom>
            <a:avLst/>
            <a:gdLst/>
            <a:ahLst/>
            <a:cxnLst/>
            <a:rect l="l" t="t" r="r" b="b"/>
            <a:pathLst>
              <a:path w="6408420" h="945514">
                <a:moveTo>
                  <a:pt x="6404965" y="0"/>
                </a:moveTo>
                <a:lnTo>
                  <a:pt x="6404965" y="945362"/>
                </a:lnTo>
              </a:path>
              <a:path w="6408420" h="945514">
                <a:moveTo>
                  <a:pt x="0" y="0"/>
                </a:moveTo>
                <a:lnTo>
                  <a:pt x="6408013" y="0"/>
                </a:lnTo>
              </a:path>
              <a:path w="6408420" h="945514">
                <a:moveTo>
                  <a:pt x="0" y="945362"/>
                </a:moveTo>
                <a:lnTo>
                  <a:pt x="6408013" y="945362"/>
                </a:lnTo>
              </a:path>
              <a:path w="6408420" h="945514">
                <a:moveTo>
                  <a:pt x="6404965" y="0"/>
                </a:moveTo>
                <a:lnTo>
                  <a:pt x="6404965" y="945362"/>
                </a:lnTo>
              </a:path>
              <a:path w="6408420" h="945514">
                <a:moveTo>
                  <a:pt x="1523" y="0"/>
                </a:moveTo>
                <a:lnTo>
                  <a:pt x="1523" y="945362"/>
                </a:lnTo>
              </a:path>
              <a:path w="6408420" h="945514">
                <a:moveTo>
                  <a:pt x="0" y="945362"/>
                </a:moveTo>
                <a:lnTo>
                  <a:pt x="6408013" y="945362"/>
                </a:lnTo>
              </a:path>
              <a:path w="6408420" h="945514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45635" y="6171539"/>
            <a:ext cx="2569603" cy="263516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575767" y="6153277"/>
            <a:ext cx="0" cy="2723515"/>
          </a:xfrm>
          <a:custGeom>
            <a:avLst/>
            <a:gdLst/>
            <a:ahLst/>
            <a:cxnLst/>
            <a:rect l="l" t="t" r="r" b="b"/>
            <a:pathLst>
              <a:path h="2723515">
                <a:moveTo>
                  <a:pt x="0" y="0"/>
                </a:moveTo>
                <a:lnTo>
                  <a:pt x="0" y="2723451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80141" y="6153277"/>
            <a:ext cx="0" cy="2723515"/>
          </a:xfrm>
          <a:custGeom>
            <a:avLst/>
            <a:gdLst/>
            <a:ahLst/>
            <a:cxnLst/>
            <a:rect l="l" t="t" r="r" b="b"/>
            <a:pathLst>
              <a:path h="2723515">
                <a:moveTo>
                  <a:pt x="0" y="0"/>
                </a:moveTo>
                <a:lnTo>
                  <a:pt x="0" y="2723451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4243" y="6153277"/>
            <a:ext cx="6408420" cy="2723515"/>
          </a:xfrm>
          <a:custGeom>
            <a:avLst/>
            <a:gdLst/>
            <a:ahLst/>
            <a:cxnLst/>
            <a:rect l="l" t="t" r="r" b="b"/>
            <a:pathLst>
              <a:path w="6408420" h="2723515">
                <a:moveTo>
                  <a:pt x="6404965" y="0"/>
                </a:moveTo>
                <a:lnTo>
                  <a:pt x="6404965" y="2723451"/>
                </a:lnTo>
              </a:path>
              <a:path w="6408420" h="2723515">
                <a:moveTo>
                  <a:pt x="0" y="0"/>
                </a:moveTo>
                <a:lnTo>
                  <a:pt x="6408013" y="0"/>
                </a:lnTo>
              </a:path>
              <a:path w="6408420" h="2723515">
                <a:moveTo>
                  <a:pt x="0" y="2723451"/>
                </a:moveTo>
                <a:lnTo>
                  <a:pt x="6408013" y="2723451"/>
                </a:lnTo>
              </a:path>
              <a:path w="6408420" h="2723515">
                <a:moveTo>
                  <a:pt x="6404965" y="0"/>
                </a:moveTo>
                <a:lnTo>
                  <a:pt x="6404965" y="2723451"/>
                </a:lnTo>
              </a:path>
              <a:path w="6408420" h="2723515">
                <a:moveTo>
                  <a:pt x="1523" y="0"/>
                </a:moveTo>
                <a:lnTo>
                  <a:pt x="1523" y="2723451"/>
                </a:lnTo>
              </a:path>
              <a:path w="6408420" h="2723515">
                <a:moveTo>
                  <a:pt x="0" y="2723451"/>
                </a:moveTo>
                <a:lnTo>
                  <a:pt x="6408013" y="2723451"/>
                </a:lnTo>
              </a:path>
              <a:path w="6408420" h="272351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6503" y="683007"/>
            <a:ext cx="512572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15.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40" dirty="0">
                <a:latin typeface="Malgun Gothic"/>
                <a:cs typeface="Malgun Gothic"/>
              </a:rPr>
              <a:t>1965년부터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0" dirty="0">
                <a:latin typeface="Malgun Gothic"/>
                <a:cs typeface="Malgun Gothic"/>
              </a:rPr>
              <a:t>1975년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사이에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태어난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이름과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생일을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26503" y="2470230"/>
            <a:ext cx="594360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16.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10" dirty="0">
                <a:latin typeface="Malgun Gothic"/>
                <a:cs typeface="Malgun Gothic"/>
              </a:rPr>
              <a:t>‘ProductX’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프로젝트에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참여하는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이름과,</a:t>
            </a:r>
            <a:r>
              <a:rPr sz="1200" spc="19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급여를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10%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증액하여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제시하라.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6503" y="3822065"/>
            <a:ext cx="6502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200"/>
              </a:lnSpc>
              <a:spcBef>
                <a:spcPts val="100"/>
              </a:spcBef>
            </a:pPr>
            <a:r>
              <a:rPr sz="1200" spc="-35" dirty="0">
                <a:latin typeface="Malgun Gothic"/>
                <a:cs typeface="Malgun Gothic"/>
              </a:rPr>
              <a:t>17.</a:t>
            </a:r>
            <a:r>
              <a:rPr sz="1200" spc="19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소속부서가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20" dirty="0">
                <a:latin typeface="Malgun Gothic"/>
                <a:cs typeface="Malgun Gothic"/>
              </a:rPr>
              <a:t>5번이고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급여가</a:t>
            </a:r>
            <a:r>
              <a:rPr sz="1200" spc="190" dirty="0">
                <a:latin typeface="Malgun Gothic"/>
                <a:cs typeface="Malgun Gothic"/>
              </a:rPr>
              <a:t> </a:t>
            </a:r>
            <a:r>
              <a:rPr sz="1200" spc="-45" dirty="0">
                <a:latin typeface="Malgun Gothic"/>
                <a:cs typeface="Malgun Gothic"/>
              </a:rPr>
              <a:t>30000에서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65" dirty="0">
                <a:latin typeface="Malgun Gothic"/>
                <a:cs typeface="Malgun Gothic"/>
              </a:rPr>
              <a:t>40000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사이인</a:t>
            </a:r>
            <a:r>
              <a:rPr sz="1200" spc="19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이름과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급여,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그리고</a:t>
            </a:r>
            <a:r>
              <a:rPr sz="1200" spc="19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생년월 </a:t>
            </a:r>
            <a:r>
              <a:rPr sz="1200" spc="-40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일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정보를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26503" y="5551439"/>
            <a:ext cx="6502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200"/>
              </a:lnSpc>
              <a:spcBef>
                <a:spcPts val="100"/>
              </a:spcBef>
            </a:pPr>
            <a:r>
              <a:rPr sz="1200" spc="-35" dirty="0">
                <a:latin typeface="Malgun Gothic"/>
                <a:cs typeface="Malgun Gothic"/>
              </a:rPr>
              <a:t>18.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이름,</a:t>
            </a:r>
            <a:r>
              <a:rPr sz="1200" spc="2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이름,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</a:t>
            </a:r>
            <a:r>
              <a:rPr sz="1200" spc="2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이름의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리스트를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각</a:t>
            </a:r>
            <a:r>
              <a:rPr sz="1200" spc="2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부서의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이름순으로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그리고</a:t>
            </a:r>
            <a:r>
              <a:rPr sz="1200" spc="2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같은</a:t>
            </a:r>
            <a:r>
              <a:rPr sz="1200" spc="20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 </a:t>
            </a:r>
            <a:r>
              <a:rPr sz="1200" spc="-40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서에서는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20" dirty="0">
                <a:latin typeface="Malgun Gothic"/>
                <a:cs typeface="Malgun Gothic"/>
              </a:rPr>
              <a:t>이름(Lname,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20" dirty="0">
                <a:latin typeface="Malgun Gothic"/>
                <a:cs typeface="Malgun Gothic"/>
              </a:rPr>
              <a:t>Fname)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순으로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B43B1D-1F73-1E06-582A-FCFB92720696}"/>
              </a:ext>
            </a:extLst>
          </p:cNvPr>
          <p:cNvSpPr txBox="1"/>
          <p:nvPr/>
        </p:nvSpPr>
        <p:spPr>
          <a:xfrm>
            <a:off x="774963" y="1223363"/>
            <a:ext cx="3002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SELECT </a:t>
            </a:r>
            <a:r>
              <a:rPr lang="en-US" altLang="ko-KR" sz="700" dirty="0" err="1"/>
              <a:t>Fname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Lname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Bdate</a:t>
            </a:r>
            <a:endParaRPr lang="en-US" altLang="ko-KR" sz="700" dirty="0"/>
          </a:p>
          <a:p>
            <a:r>
              <a:rPr lang="en-US" altLang="ko-KR" sz="700" dirty="0"/>
              <a:t>FROM Employee</a:t>
            </a:r>
          </a:p>
          <a:p>
            <a:r>
              <a:rPr lang="en-US" altLang="ko-KR" sz="700" dirty="0"/>
              <a:t>WHERE </a:t>
            </a:r>
            <a:r>
              <a:rPr lang="en-US" altLang="ko-KR" sz="700" dirty="0" err="1"/>
              <a:t>Bdate</a:t>
            </a:r>
            <a:r>
              <a:rPr lang="en-US" altLang="ko-KR" sz="700" dirty="0"/>
              <a:t> BETWEEN #1965-01-01# AND #1975-12-31#;</a:t>
            </a:r>
            <a:endParaRPr lang="ko-KR" altLang="en-US" sz="7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0F3697-3C35-C522-76F2-D2EC38935FCC}"/>
              </a:ext>
            </a:extLst>
          </p:cNvPr>
          <p:cNvSpPr txBox="1"/>
          <p:nvPr/>
        </p:nvSpPr>
        <p:spPr>
          <a:xfrm>
            <a:off x="774963" y="2802659"/>
            <a:ext cx="300274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SELECT </a:t>
            </a:r>
            <a:r>
              <a:rPr lang="en-US" altLang="ko-KR" sz="700" dirty="0" err="1"/>
              <a:t>E.Fname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E.Lname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E.Salary</a:t>
            </a:r>
            <a:r>
              <a:rPr lang="en-US" altLang="ko-KR" sz="700" dirty="0"/>
              <a:t> * 1.1 AS </a:t>
            </a:r>
            <a:r>
              <a:rPr lang="en-US" altLang="ko-KR" sz="700" dirty="0" err="1"/>
              <a:t>Increased_salary</a:t>
            </a:r>
            <a:endParaRPr lang="en-US" altLang="ko-KR" sz="700" dirty="0"/>
          </a:p>
          <a:p>
            <a:r>
              <a:rPr lang="en-US" altLang="ko-KR" sz="700" dirty="0"/>
              <a:t>FROM Employee AS E</a:t>
            </a:r>
          </a:p>
          <a:p>
            <a:r>
              <a:rPr lang="en-US" altLang="ko-KR" sz="700" dirty="0"/>
              <a:t>INNER JOIN </a:t>
            </a:r>
            <a:r>
              <a:rPr lang="en-US" altLang="ko-KR" sz="700" dirty="0" err="1"/>
              <a:t>Works_On</a:t>
            </a:r>
            <a:r>
              <a:rPr lang="en-US" altLang="ko-KR" sz="700" dirty="0"/>
              <a:t> AS W</a:t>
            </a:r>
          </a:p>
          <a:p>
            <a:r>
              <a:rPr lang="en-US" altLang="ko-KR" sz="700" dirty="0"/>
              <a:t>    ON E.ID = </a:t>
            </a:r>
            <a:r>
              <a:rPr lang="en-US" altLang="ko-KR" sz="700" dirty="0" err="1"/>
              <a:t>W.EmpID</a:t>
            </a:r>
            <a:endParaRPr lang="en-US" altLang="ko-KR" sz="700" dirty="0"/>
          </a:p>
          <a:p>
            <a:r>
              <a:rPr lang="en-US" altLang="ko-KR" sz="700" dirty="0"/>
              <a:t>INNER JOIN Project AS P</a:t>
            </a:r>
          </a:p>
          <a:p>
            <a:r>
              <a:rPr lang="en-US" altLang="ko-KR" sz="700" dirty="0"/>
              <a:t>    ON </a:t>
            </a:r>
            <a:r>
              <a:rPr lang="en-US" altLang="ko-KR" sz="700" dirty="0" err="1"/>
              <a:t>W.Pno</a:t>
            </a:r>
            <a:r>
              <a:rPr lang="en-US" altLang="ko-KR" sz="700" dirty="0"/>
              <a:t> = </a:t>
            </a:r>
            <a:r>
              <a:rPr lang="en-US" altLang="ko-KR" sz="700" dirty="0" err="1"/>
              <a:t>P.Pnumber</a:t>
            </a:r>
            <a:endParaRPr lang="en-US" altLang="ko-KR" sz="700" dirty="0"/>
          </a:p>
          <a:p>
            <a:r>
              <a:rPr lang="en-US" altLang="ko-KR" sz="700" dirty="0"/>
              <a:t>WHERE </a:t>
            </a:r>
            <a:r>
              <a:rPr lang="en-US" altLang="ko-KR" sz="700" dirty="0" err="1"/>
              <a:t>P.Pname</a:t>
            </a:r>
            <a:r>
              <a:rPr lang="en-US" altLang="ko-KR" sz="700" dirty="0"/>
              <a:t> = '</a:t>
            </a:r>
            <a:r>
              <a:rPr lang="en-US" altLang="ko-KR" sz="700" dirty="0" err="1"/>
              <a:t>ProductX</a:t>
            </a:r>
            <a:r>
              <a:rPr lang="en-US" altLang="ko-KR" sz="700" dirty="0"/>
              <a:t>';</a:t>
            </a:r>
            <a:endParaRPr lang="ko-KR" altLang="en-US" sz="7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468579-6624-C742-EA61-DB12AFCE470A}"/>
              </a:ext>
            </a:extLst>
          </p:cNvPr>
          <p:cNvSpPr txBox="1"/>
          <p:nvPr/>
        </p:nvSpPr>
        <p:spPr>
          <a:xfrm>
            <a:off x="750833" y="4606214"/>
            <a:ext cx="3002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SELECT </a:t>
            </a:r>
            <a:r>
              <a:rPr lang="en-US" altLang="ko-KR" sz="700" dirty="0" err="1"/>
              <a:t>Fname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Lname</a:t>
            </a:r>
            <a:r>
              <a:rPr lang="en-US" altLang="ko-KR" sz="700" dirty="0"/>
              <a:t>, Salary, </a:t>
            </a:r>
            <a:r>
              <a:rPr lang="en-US" altLang="ko-KR" sz="700" dirty="0" err="1"/>
              <a:t>Bdate</a:t>
            </a:r>
            <a:endParaRPr lang="en-US" altLang="ko-KR" sz="700" dirty="0"/>
          </a:p>
          <a:p>
            <a:r>
              <a:rPr lang="en-US" altLang="ko-KR" sz="700" dirty="0"/>
              <a:t>FROM Employee</a:t>
            </a:r>
          </a:p>
          <a:p>
            <a:r>
              <a:rPr lang="en-US" altLang="ko-KR" sz="700" dirty="0"/>
              <a:t>WHERE </a:t>
            </a:r>
            <a:r>
              <a:rPr lang="en-US" altLang="ko-KR" sz="700" dirty="0" err="1"/>
              <a:t>Dno</a:t>
            </a:r>
            <a:r>
              <a:rPr lang="en-US" altLang="ko-KR" sz="700" dirty="0"/>
              <a:t> = 5 </a:t>
            </a:r>
          </a:p>
          <a:p>
            <a:r>
              <a:rPr lang="en-US" altLang="ko-KR" sz="700" dirty="0"/>
              <a:t>  AND Salary BETWEEN 30000 AND 40000;</a:t>
            </a:r>
            <a:endParaRPr lang="ko-KR" altLang="en-US" sz="7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B1B02A-AF6E-3B02-3BFB-03624709F68D}"/>
              </a:ext>
            </a:extLst>
          </p:cNvPr>
          <p:cNvSpPr txBox="1"/>
          <p:nvPr/>
        </p:nvSpPr>
        <p:spPr>
          <a:xfrm>
            <a:off x="774963" y="6585714"/>
            <a:ext cx="300274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SELECT </a:t>
            </a:r>
            <a:r>
              <a:rPr lang="en-US" altLang="ko-KR" sz="700" dirty="0" err="1"/>
              <a:t>D.Dname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E.Lname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E.Fname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P.Pname</a:t>
            </a:r>
            <a:endParaRPr lang="en-US" altLang="ko-KR" sz="700" dirty="0"/>
          </a:p>
          <a:p>
            <a:r>
              <a:rPr lang="en-US" altLang="ko-KR" sz="700" dirty="0"/>
              <a:t>FROM ((Employee AS E</a:t>
            </a:r>
          </a:p>
          <a:p>
            <a:r>
              <a:rPr lang="en-US" altLang="ko-KR" sz="700" dirty="0"/>
              <a:t>       INNER JOIN Department AS D </a:t>
            </a:r>
          </a:p>
          <a:p>
            <a:r>
              <a:rPr lang="en-US" altLang="ko-KR" sz="700" dirty="0"/>
              <a:t>           ON </a:t>
            </a:r>
            <a:r>
              <a:rPr lang="en-US" altLang="ko-KR" sz="700" dirty="0" err="1"/>
              <a:t>E.Dno</a:t>
            </a:r>
            <a:r>
              <a:rPr lang="en-US" altLang="ko-KR" sz="700" dirty="0"/>
              <a:t> = </a:t>
            </a:r>
            <a:r>
              <a:rPr lang="en-US" altLang="ko-KR" sz="700" dirty="0" err="1"/>
              <a:t>D.Dnumber</a:t>
            </a:r>
            <a:r>
              <a:rPr lang="en-US" altLang="ko-KR" sz="700" dirty="0"/>
              <a:t>)</a:t>
            </a:r>
          </a:p>
          <a:p>
            <a:r>
              <a:rPr lang="en-US" altLang="ko-KR" sz="700" dirty="0"/>
              <a:t>       INNER JOIN </a:t>
            </a:r>
            <a:r>
              <a:rPr lang="en-US" altLang="ko-KR" sz="700" dirty="0" err="1"/>
              <a:t>Works_On</a:t>
            </a:r>
            <a:r>
              <a:rPr lang="en-US" altLang="ko-KR" sz="700" dirty="0"/>
              <a:t> AS W </a:t>
            </a:r>
          </a:p>
          <a:p>
            <a:r>
              <a:rPr lang="en-US" altLang="ko-KR" sz="700" dirty="0"/>
              <a:t>           ON E.ID = </a:t>
            </a:r>
            <a:r>
              <a:rPr lang="en-US" altLang="ko-KR" sz="700" dirty="0" err="1"/>
              <a:t>W.EmpID</a:t>
            </a:r>
            <a:r>
              <a:rPr lang="en-US" altLang="ko-KR" sz="700" dirty="0"/>
              <a:t>)</a:t>
            </a:r>
          </a:p>
          <a:p>
            <a:r>
              <a:rPr lang="en-US" altLang="ko-KR" sz="700" dirty="0"/>
              <a:t>       INNER JOIN Project AS P </a:t>
            </a:r>
          </a:p>
          <a:p>
            <a:r>
              <a:rPr lang="en-US" altLang="ko-KR" sz="700" dirty="0"/>
              <a:t>           ON </a:t>
            </a:r>
            <a:r>
              <a:rPr lang="en-US" altLang="ko-KR" sz="700" dirty="0" err="1"/>
              <a:t>W.Pno</a:t>
            </a:r>
            <a:r>
              <a:rPr lang="en-US" altLang="ko-KR" sz="700" dirty="0"/>
              <a:t> = </a:t>
            </a:r>
            <a:r>
              <a:rPr lang="en-US" altLang="ko-KR" sz="700" dirty="0" err="1"/>
              <a:t>P.Pnumber</a:t>
            </a:r>
            <a:endParaRPr lang="en-US" altLang="ko-KR" sz="700" dirty="0"/>
          </a:p>
          <a:p>
            <a:r>
              <a:rPr lang="en-US" altLang="ko-KR" sz="700" dirty="0"/>
              <a:t>ORDER BY </a:t>
            </a:r>
            <a:r>
              <a:rPr lang="en-US" altLang="ko-KR" sz="700" dirty="0" err="1"/>
              <a:t>D.Dname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E.Lname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E.Fname</a:t>
            </a:r>
            <a:r>
              <a:rPr lang="en-US" altLang="ko-KR" sz="700" dirty="0"/>
              <a:t>;</a:t>
            </a:r>
            <a:endParaRPr lang="ko-KR" alt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5635" y="1061072"/>
            <a:ext cx="1599336" cy="6545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75767" y="980389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203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0141" y="980389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203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4243" y="980389"/>
            <a:ext cx="6408420" cy="866775"/>
          </a:xfrm>
          <a:custGeom>
            <a:avLst/>
            <a:gdLst/>
            <a:ahLst/>
            <a:cxnLst/>
            <a:rect l="l" t="t" r="r" b="b"/>
            <a:pathLst>
              <a:path w="6408420" h="866775">
                <a:moveTo>
                  <a:pt x="6404965" y="0"/>
                </a:moveTo>
                <a:lnTo>
                  <a:pt x="6404965" y="866203"/>
                </a:lnTo>
              </a:path>
              <a:path w="6408420" h="866775">
                <a:moveTo>
                  <a:pt x="0" y="0"/>
                </a:moveTo>
                <a:lnTo>
                  <a:pt x="6408013" y="0"/>
                </a:lnTo>
              </a:path>
              <a:path w="6408420" h="866775">
                <a:moveTo>
                  <a:pt x="0" y="866203"/>
                </a:moveTo>
                <a:lnTo>
                  <a:pt x="6408013" y="866203"/>
                </a:lnTo>
              </a:path>
              <a:path w="6408420" h="866775">
                <a:moveTo>
                  <a:pt x="6404965" y="0"/>
                </a:moveTo>
                <a:lnTo>
                  <a:pt x="6404965" y="866203"/>
                </a:lnTo>
              </a:path>
              <a:path w="6408420" h="866775">
                <a:moveTo>
                  <a:pt x="1523" y="0"/>
                </a:moveTo>
                <a:lnTo>
                  <a:pt x="1523" y="866203"/>
                </a:lnTo>
              </a:path>
              <a:path w="6408420" h="866775">
                <a:moveTo>
                  <a:pt x="0" y="866203"/>
                </a:moveTo>
                <a:lnTo>
                  <a:pt x="6408013" y="866203"/>
                </a:lnTo>
              </a:path>
              <a:path w="6408420" h="86677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5635" y="2405291"/>
            <a:ext cx="1622183" cy="82205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75767" y="2388539"/>
            <a:ext cx="0" cy="907415"/>
          </a:xfrm>
          <a:custGeom>
            <a:avLst/>
            <a:gdLst/>
            <a:ahLst/>
            <a:cxnLst/>
            <a:rect l="l" t="t" r="r" b="b"/>
            <a:pathLst>
              <a:path h="907414">
                <a:moveTo>
                  <a:pt x="0" y="0"/>
                </a:moveTo>
                <a:lnTo>
                  <a:pt x="0" y="907313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80141" y="2388539"/>
            <a:ext cx="0" cy="907415"/>
          </a:xfrm>
          <a:custGeom>
            <a:avLst/>
            <a:gdLst/>
            <a:ahLst/>
            <a:cxnLst/>
            <a:rect l="l" t="t" r="r" b="b"/>
            <a:pathLst>
              <a:path h="907414">
                <a:moveTo>
                  <a:pt x="0" y="0"/>
                </a:moveTo>
                <a:lnTo>
                  <a:pt x="0" y="907313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243" y="2388539"/>
            <a:ext cx="6408420" cy="907415"/>
          </a:xfrm>
          <a:custGeom>
            <a:avLst/>
            <a:gdLst/>
            <a:ahLst/>
            <a:cxnLst/>
            <a:rect l="l" t="t" r="r" b="b"/>
            <a:pathLst>
              <a:path w="6408420" h="907414">
                <a:moveTo>
                  <a:pt x="6404965" y="0"/>
                </a:moveTo>
                <a:lnTo>
                  <a:pt x="6404965" y="907313"/>
                </a:lnTo>
              </a:path>
              <a:path w="6408420" h="907414">
                <a:moveTo>
                  <a:pt x="0" y="0"/>
                </a:moveTo>
                <a:lnTo>
                  <a:pt x="6408013" y="0"/>
                </a:lnTo>
              </a:path>
              <a:path w="6408420" h="907414">
                <a:moveTo>
                  <a:pt x="0" y="907313"/>
                </a:moveTo>
                <a:lnTo>
                  <a:pt x="6408013" y="907313"/>
                </a:lnTo>
              </a:path>
              <a:path w="6408420" h="907414">
                <a:moveTo>
                  <a:pt x="6404965" y="0"/>
                </a:moveTo>
                <a:lnTo>
                  <a:pt x="6404965" y="907313"/>
                </a:lnTo>
              </a:path>
              <a:path w="6408420" h="907414">
                <a:moveTo>
                  <a:pt x="1523" y="0"/>
                </a:moveTo>
                <a:lnTo>
                  <a:pt x="1523" y="907313"/>
                </a:lnTo>
              </a:path>
              <a:path w="6408420" h="907414">
                <a:moveTo>
                  <a:pt x="0" y="907313"/>
                </a:moveTo>
                <a:lnTo>
                  <a:pt x="6408013" y="907313"/>
                </a:lnTo>
              </a:path>
              <a:path w="6408420" h="907414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5635" y="4261015"/>
            <a:ext cx="1591729" cy="456704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575767" y="4081373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216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80141" y="4081373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216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4243" y="4081373"/>
            <a:ext cx="6408420" cy="866775"/>
          </a:xfrm>
          <a:custGeom>
            <a:avLst/>
            <a:gdLst/>
            <a:ahLst/>
            <a:cxnLst/>
            <a:rect l="l" t="t" r="r" b="b"/>
            <a:pathLst>
              <a:path w="6408420" h="866775">
                <a:moveTo>
                  <a:pt x="6404965" y="0"/>
                </a:moveTo>
                <a:lnTo>
                  <a:pt x="6404965" y="866216"/>
                </a:lnTo>
              </a:path>
              <a:path w="6408420" h="866775">
                <a:moveTo>
                  <a:pt x="0" y="0"/>
                </a:moveTo>
                <a:lnTo>
                  <a:pt x="6408013" y="0"/>
                </a:lnTo>
              </a:path>
              <a:path w="6408420" h="866775">
                <a:moveTo>
                  <a:pt x="0" y="866216"/>
                </a:moveTo>
                <a:lnTo>
                  <a:pt x="6408013" y="866216"/>
                </a:lnTo>
              </a:path>
              <a:path w="6408420" h="866775">
                <a:moveTo>
                  <a:pt x="6404965" y="0"/>
                </a:moveTo>
                <a:lnTo>
                  <a:pt x="6404965" y="866216"/>
                </a:lnTo>
              </a:path>
              <a:path w="6408420" h="866775">
                <a:moveTo>
                  <a:pt x="1523" y="0"/>
                </a:moveTo>
                <a:lnTo>
                  <a:pt x="1523" y="866216"/>
                </a:lnTo>
              </a:path>
              <a:path w="6408420" h="866775">
                <a:moveTo>
                  <a:pt x="0" y="866216"/>
                </a:moveTo>
                <a:lnTo>
                  <a:pt x="6408013" y="866216"/>
                </a:lnTo>
              </a:path>
              <a:path w="6408420" h="86677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45635" y="5506288"/>
            <a:ext cx="1296225" cy="1125004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575767" y="5488013"/>
            <a:ext cx="0" cy="1212215"/>
          </a:xfrm>
          <a:custGeom>
            <a:avLst/>
            <a:gdLst/>
            <a:ahLst/>
            <a:cxnLst/>
            <a:rect l="l" t="t" r="r" b="b"/>
            <a:pathLst>
              <a:path h="1212215">
                <a:moveTo>
                  <a:pt x="0" y="0"/>
                </a:moveTo>
                <a:lnTo>
                  <a:pt x="0" y="1211783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80141" y="5488013"/>
            <a:ext cx="0" cy="1212215"/>
          </a:xfrm>
          <a:custGeom>
            <a:avLst/>
            <a:gdLst/>
            <a:ahLst/>
            <a:cxnLst/>
            <a:rect l="l" t="t" r="r" b="b"/>
            <a:pathLst>
              <a:path h="1212215">
                <a:moveTo>
                  <a:pt x="0" y="0"/>
                </a:moveTo>
                <a:lnTo>
                  <a:pt x="0" y="1211783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4243" y="5488013"/>
            <a:ext cx="6408420" cy="1212215"/>
          </a:xfrm>
          <a:custGeom>
            <a:avLst/>
            <a:gdLst/>
            <a:ahLst/>
            <a:cxnLst/>
            <a:rect l="l" t="t" r="r" b="b"/>
            <a:pathLst>
              <a:path w="6408420" h="1212215">
                <a:moveTo>
                  <a:pt x="6404965" y="0"/>
                </a:moveTo>
                <a:lnTo>
                  <a:pt x="6404965" y="1211783"/>
                </a:lnTo>
              </a:path>
              <a:path w="6408420" h="1212215">
                <a:moveTo>
                  <a:pt x="0" y="0"/>
                </a:moveTo>
                <a:lnTo>
                  <a:pt x="6408013" y="0"/>
                </a:lnTo>
              </a:path>
              <a:path w="6408420" h="1212215">
                <a:moveTo>
                  <a:pt x="0" y="1211783"/>
                </a:moveTo>
                <a:lnTo>
                  <a:pt x="6408013" y="1211783"/>
                </a:lnTo>
              </a:path>
              <a:path w="6408420" h="1212215">
                <a:moveTo>
                  <a:pt x="6404965" y="0"/>
                </a:moveTo>
                <a:lnTo>
                  <a:pt x="6404965" y="1211783"/>
                </a:lnTo>
              </a:path>
              <a:path w="6408420" h="1212215">
                <a:moveTo>
                  <a:pt x="1523" y="0"/>
                </a:moveTo>
                <a:lnTo>
                  <a:pt x="1523" y="1211783"/>
                </a:lnTo>
              </a:path>
              <a:path w="6408420" h="1212215">
                <a:moveTo>
                  <a:pt x="0" y="1211783"/>
                </a:moveTo>
                <a:lnTo>
                  <a:pt x="6408013" y="1211783"/>
                </a:lnTo>
              </a:path>
              <a:path w="6408420" h="121221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50929" y="7992262"/>
            <a:ext cx="1564309" cy="826617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575767" y="7240219"/>
            <a:ext cx="0" cy="2382520"/>
          </a:xfrm>
          <a:custGeom>
            <a:avLst/>
            <a:gdLst/>
            <a:ahLst/>
            <a:cxnLst/>
            <a:rect l="l" t="t" r="r" b="b"/>
            <a:pathLst>
              <a:path h="2382520">
                <a:moveTo>
                  <a:pt x="0" y="0"/>
                </a:moveTo>
                <a:lnTo>
                  <a:pt x="0" y="2382456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286959" y="7240219"/>
            <a:ext cx="0" cy="2382520"/>
          </a:xfrm>
          <a:custGeom>
            <a:avLst/>
            <a:gdLst/>
            <a:ahLst/>
            <a:cxnLst/>
            <a:rect l="l" t="t" r="r" b="b"/>
            <a:pathLst>
              <a:path h="2382520">
                <a:moveTo>
                  <a:pt x="0" y="0"/>
                </a:moveTo>
                <a:lnTo>
                  <a:pt x="0" y="2382456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4243" y="7240219"/>
            <a:ext cx="6408420" cy="2382520"/>
          </a:xfrm>
          <a:custGeom>
            <a:avLst/>
            <a:gdLst/>
            <a:ahLst/>
            <a:cxnLst/>
            <a:rect l="l" t="t" r="r" b="b"/>
            <a:pathLst>
              <a:path w="6408420" h="2382520">
                <a:moveTo>
                  <a:pt x="6404965" y="0"/>
                </a:moveTo>
                <a:lnTo>
                  <a:pt x="6404965" y="2382456"/>
                </a:lnTo>
              </a:path>
              <a:path w="6408420" h="2382520">
                <a:moveTo>
                  <a:pt x="0" y="0"/>
                </a:moveTo>
                <a:lnTo>
                  <a:pt x="6408013" y="0"/>
                </a:lnTo>
              </a:path>
              <a:path w="6408420" h="2382520">
                <a:moveTo>
                  <a:pt x="0" y="2382456"/>
                </a:moveTo>
                <a:lnTo>
                  <a:pt x="6408013" y="2382456"/>
                </a:lnTo>
              </a:path>
              <a:path w="6408420" h="2382520">
                <a:moveTo>
                  <a:pt x="6404965" y="0"/>
                </a:moveTo>
                <a:lnTo>
                  <a:pt x="6404965" y="2382456"/>
                </a:lnTo>
              </a:path>
              <a:path w="6408420" h="2382520">
                <a:moveTo>
                  <a:pt x="1523" y="0"/>
                </a:moveTo>
                <a:lnTo>
                  <a:pt x="1523" y="2382456"/>
                </a:lnTo>
              </a:path>
              <a:path w="6408420" h="2382520">
                <a:moveTo>
                  <a:pt x="0" y="2382456"/>
                </a:moveTo>
                <a:lnTo>
                  <a:pt x="6408013" y="2382456"/>
                </a:lnTo>
              </a:path>
              <a:path w="6408420" h="2382520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26503" y="683007"/>
            <a:ext cx="34505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19.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직속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상사가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없는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이름을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26503" y="2091168"/>
            <a:ext cx="581152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20.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부서번호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35" dirty="0">
                <a:latin typeface="Malgun Gothic"/>
                <a:cs typeface="Malgun Gothic"/>
              </a:rPr>
              <a:t>5에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근무하는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모든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사원보다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급여가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많은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이름을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26503" y="3479539"/>
            <a:ext cx="6502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200"/>
              </a:lnSpc>
              <a:spcBef>
                <a:spcPts val="100"/>
              </a:spcBef>
            </a:pPr>
            <a:r>
              <a:rPr sz="1200" spc="-35" dirty="0">
                <a:latin typeface="Malgun Gothic"/>
                <a:cs typeface="Malgun Gothic"/>
              </a:rPr>
              <a:t>21.</a:t>
            </a:r>
            <a:r>
              <a:rPr sz="1200" spc="20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Fname과</a:t>
            </a:r>
            <a:r>
              <a:rPr sz="1200" spc="19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같은</a:t>
            </a:r>
            <a:r>
              <a:rPr sz="1200" spc="2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이름을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갖고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성별이</a:t>
            </a:r>
            <a:r>
              <a:rPr sz="1200" spc="19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같은</a:t>
            </a:r>
            <a:r>
              <a:rPr sz="1200" spc="2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부양가족을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가진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9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이름을</a:t>
            </a:r>
            <a:r>
              <a:rPr sz="1200" spc="2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검색하 </a:t>
            </a:r>
            <a:r>
              <a:rPr sz="1200" spc="-409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시오.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6503" y="5192167"/>
            <a:ext cx="33743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22.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부양가족이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없는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이름을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26503" y="6942854"/>
            <a:ext cx="444055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23.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부양가족이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한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명이라도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있는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관리자의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이름을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17C45A-D15E-DBBC-C802-0FA48B85C394}"/>
              </a:ext>
            </a:extLst>
          </p:cNvPr>
          <p:cNvSpPr txBox="1"/>
          <p:nvPr/>
        </p:nvSpPr>
        <p:spPr>
          <a:xfrm>
            <a:off x="804173" y="1135033"/>
            <a:ext cx="3002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SELECT </a:t>
            </a:r>
            <a:r>
              <a:rPr lang="en-US" altLang="ko-KR" sz="700" dirty="0" err="1"/>
              <a:t>Fname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Lname</a:t>
            </a:r>
            <a:endParaRPr lang="en-US" altLang="ko-KR" sz="700" dirty="0"/>
          </a:p>
          <a:p>
            <a:r>
              <a:rPr lang="en-US" altLang="ko-KR" sz="700" dirty="0"/>
              <a:t>FROM Employee</a:t>
            </a:r>
          </a:p>
          <a:p>
            <a:r>
              <a:rPr lang="en-US" altLang="ko-KR" sz="700" dirty="0"/>
              <a:t>WHERE </a:t>
            </a:r>
            <a:r>
              <a:rPr lang="en-US" altLang="ko-KR" sz="700" dirty="0" err="1"/>
              <a:t>Super_ID</a:t>
            </a:r>
            <a:r>
              <a:rPr lang="en-US" altLang="ko-KR" sz="700" dirty="0"/>
              <a:t> IS NULL;</a:t>
            </a:r>
            <a:endParaRPr lang="ko-KR" altLang="en-US" sz="7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31C6A1-B0EB-44BE-0490-A7296EC5140B}"/>
              </a:ext>
            </a:extLst>
          </p:cNvPr>
          <p:cNvSpPr txBox="1"/>
          <p:nvPr/>
        </p:nvSpPr>
        <p:spPr>
          <a:xfrm>
            <a:off x="712328" y="2499316"/>
            <a:ext cx="300274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SELECT </a:t>
            </a:r>
            <a:r>
              <a:rPr lang="en-US" altLang="ko-KR" sz="700" dirty="0" err="1"/>
              <a:t>Fname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Lname</a:t>
            </a:r>
            <a:endParaRPr lang="en-US" altLang="ko-KR" sz="700" dirty="0"/>
          </a:p>
          <a:p>
            <a:r>
              <a:rPr lang="en-US" altLang="ko-KR" sz="700" dirty="0"/>
              <a:t>FROM Employee</a:t>
            </a:r>
          </a:p>
          <a:p>
            <a:r>
              <a:rPr lang="en-US" altLang="ko-KR" sz="700" dirty="0"/>
              <a:t>WHERE Salary &gt; ALL (</a:t>
            </a:r>
          </a:p>
          <a:p>
            <a:r>
              <a:rPr lang="en-US" altLang="ko-KR" sz="700" dirty="0"/>
              <a:t>    SELECT Salary</a:t>
            </a:r>
          </a:p>
          <a:p>
            <a:r>
              <a:rPr lang="en-US" altLang="ko-KR" sz="700" dirty="0"/>
              <a:t>    FROM Employee</a:t>
            </a:r>
          </a:p>
          <a:p>
            <a:r>
              <a:rPr lang="en-US" altLang="ko-KR" sz="700" dirty="0"/>
              <a:t>    WHERE </a:t>
            </a:r>
            <a:r>
              <a:rPr lang="en-US" altLang="ko-KR" sz="700" dirty="0" err="1"/>
              <a:t>Dno</a:t>
            </a:r>
            <a:r>
              <a:rPr lang="en-US" altLang="ko-KR" sz="700" dirty="0"/>
              <a:t> = 5</a:t>
            </a:r>
          </a:p>
          <a:p>
            <a:r>
              <a:rPr lang="en-US" altLang="ko-KR" sz="700" dirty="0"/>
              <a:t>);</a:t>
            </a:r>
            <a:endParaRPr lang="ko-KR" altLang="en-US" sz="7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11872E-713B-A982-D51D-59ADA5FDB940}"/>
              </a:ext>
            </a:extLst>
          </p:cNvPr>
          <p:cNvSpPr txBox="1"/>
          <p:nvPr/>
        </p:nvSpPr>
        <p:spPr>
          <a:xfrm>
            <a:off x="712328" y="5551962"/>
            <a:ext cx="300274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SELECT </a:t>
            </a:r>
            <a:r>
              <a:rPr lang="en-US" altLang="ko-KR" sz="700" dirty="0" err="1"/>
              <a:t>E.Fname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E.Lname</a:t>
            </a:r>
            <a:endParaRPr lang="en-US" altLang="ko-KR" sz="700" dirty="0"/>
          </a:p>
          <a:p>
            <a:r>
              <a:rPr lang="en-US" altLang="ko-KR" sz="700" dirty="0"/>
              <a:t>FROM Employee AS E</a:t>
            </a:r>
          </a:p>
          <a:p>
            <a:r>
              <a:rPr lang="en-US" altLang="ko-KR" sz="700" dirty="0"/>
              <a:t>LEFT JOIN Dependent AS D</a:t>
            </a:r>
          </a:p>
          <a:p>
            <a:r>
              <a:rPr lang="en-US" altLang="ko-KR" sz="700" dirty="0"/>
              <a:t>    ON E.ID = </a:t>
            </a:r>
            <a:r>
              <a:rPr lang="en-US" altLang="ko-KR" sz="700" dirty="0" err="1"/>
              <a:t>D.EmpID</a:t>
            </a:r>
            <a:endParaRPr lang="en-US" altLang="ko-KR" sz="700" dirty="0"/>
          </a:p>
          <a:p>
            <a:r>
              <a:rPr lang="en-US" altLang="ko-KR" sz="700" dirty="0"/>
              <a:t>WHERE </a:t>
            </a:r>
            <a:r>
              <a:rPr lang="en-US" altLang="ko-KR" sz="700" dirty="0" err="1"/>
              <a:t>D.EmpID</a:t>
            </a:r>
            <a:r>
              <a:rPr lang="en-US" altLang="ko-KR" sz="700" dirty="0"/>
              <a:t> IS NULL;</a:t>
            </a:r>
            <a:endParaRPr lang="ko-KR" altLang="en-US" sz="7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176A5E-C0C7-6020-6BA6-926EB4A20112}"/>
              </a:ext>
            </a:extLst>
          </p:cNvPr>
          <p:cNvSpPr txBox="1"/>
          <p:nvPr/>
        </p:nvSpPr>
        <p:spPr>
          <a:xfrm>
            <a:off x="641261" y="4051631"/>
            <a:ext cx="30027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SELECT DISTINCT </a:t>
            </a:r>
            <a:r>
              <a:rPr lang="en-US" altLang="ko-KR" sz="700" dirty="0" err="1"/>
              <a:t>E.Fname</a:t>
            </a:r>
            <a:r>
              <a:rPr lang="en-US" altLang="ko-KR" sz="700" dirty="0"/>
              <a:t>, </a:t>
            </a:r>
            <a:r>
              <a:rPr lang="en-US" altLang="ko-KR" sz="700" dirty="0" err="1"/>
              <a:t>E.Lname</a:t>
            </a:r>
            <a:endParaRPr lang="en-US" altLang="ko-KR" sz="700" dirty="0"/>
          </a:p>
          <a:p>
            <a:r>
              <a:rPr lang="en-US" altLang="ko-KR" sz="700" dirty="0"/>
              <a:t>FROM Employee AS E</a:t>
            </a:r>
          </a:p>
          <a:p>
            <a:r>
              <a:rPr lang="en-US" altLang="ko-KR" sz="700" dirty="0"/>
              <a:t>INNER JOIN Dependent AS D</a:t>
            </a:r>
          </a:p>
          <a:p>
            <a:r>
              <a:rPr lang="en-US" altLang="ko-KR" sz="700" dirty="0"/>
              <a:t>    ON E.ID = </a:t>
            </a:r>
            <a:r>
              <a:rPr lang="en-US" altLang="ko-KR" sz="700" dirty="0" err="1"/>
              <a:t>D.EmpID</a:t>
            </a:r>
            <a:endParaRPr lang="en-US" altLang="ko-KR" sz="700" dirty="0"/>
          </a:p>
          <a:p>
            <a:r>
              <a:rPr lang="en-US" altLang="ko-KR" sz="700" dirty="0"/>
              <a:t>WHERE </a:t>
            </a:r>
            <a:r>
              <a:rPr lang="en-US" altLang="ko-KR" sz="700" dirty="0" err="1"/>
              <a:t>E.Fname</a:t>
            </a:r>
            <a:r>
              <a:rPr lang="en-US" altLang="ko-KR" sz="700" dirty="0"/>
              <a:t> = </a:t>
            </a:r>
            <a:r>
              <a:rPr lang="en-US" altLang="ko-KR" sz="700" dirty="0" err="1"/>
              <a:t>D.DepName</a:t>
            </a:r>
            <a:endParaRPr lang="en-US" altLang="ko-KR" sz="700" dirty="0"/>
          </a:p>
          <a:p>
            <a:r>
              <a:rPr lang="en-US" altLang="ko-KR" sz="700" dirty="0"/>
              <a:t>  AND </a:t>
            </a:r>
            <a:r>
              <a:rPr lang="en-US" altLang="ko-KR" sz="700" dirty="0" err="1"/>
              <a:t>E.Sex</a:t>
            </a:r>
            <a:r>
              <a:rPr lang="en-US" altLang="ko-KR" sz="700" dirty="0"/>
              <a:t> = </a:t>
            </a:r>
            <a:r>
              <a:rPr lang="en-US" altLang="ko-KR" sz="700" dirty="0" err="1"/>
              <a:t>D.Sex</a:t>
            </a:r>
            <a:r>
              <a:rPr lang="en-US" altLang="ko-KR" sz="700" dirty="0"/>
              <a:t>;</a:t>
            </a:r>
            <a:endParaRPr lang="ko-KR" altLang="en-US" sz="7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65617E-F066-371E-072B-CD07BC7E28B6}"/>
              </a:ext>
            </a:extLst>
          </p:cNvPr>
          <p:cNvSpPr txBox="1"/>
          <p:nvPr/>
        </p:nvSpPr>
        <p:spPr>
          <a:xfrm>
            <a:off x="703438" y="7361320"/>
            <a:ext cx="3002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DISTINCT </a:t>
            </a:r>
            <a:r>
              <a:rPr lang="en-US" altLang="ko-KR" sz="800" dirty="0" err="1"/>
              <a:t>E.Fname</a:t>
            </a:r>
            <a:r>
              <a:rPr lang="en-US" altLang="ko-KR" sz="800" dirty="0"/>
              <a:t>, </a:t>
            </a:r>
            <a:r>
              <a:rPr lang="en-US" altLang="ko-KR" sz="800" dirty="0" err="1"/>
              <a:t>E.Lname</a:t>
            </a:r>
            <a:endParaRPr lang="en-US" altLang="ko-KR" sz="800" dirty="0"/>
          </a:p>
          <a:p>
            <a:r>
              <a:rPr lang="en-US" altLang="ko-KR" sz="800" dirty="0"/>
              <a:t>FROM Employee AS E</a:t>
            </a:r>
          </a:p>
          <a:p>
            <a:r>
              <a:rPr lang="en-US" altLang="ko-KR" sz="800" dirty="0"/>
              <a:t>INNER JOIN Dependent AS D</a:t>
            </a:r>
          </a:p>
          <a:p>
            <a:r>
              <a:rPr lang="en-US" altLang="ko-KR" sz="800" dirty="0"/>
              <a:t>    ON E.ID = </a:t>
            </a:r>
            <a:r>
              <a:rPr lang="en-US" altLang="ko-KR" sz="800" dirty="0" err="1"/>
              <a:t>D.EmpID</a:t>
            </a:r>
            <a:endParaRPr lang="en-US" altLang="ko-KR" sz="800" dirty="0"/>
          </a:p>
          <a:p>
            <a:r>
              <a:rPr lang="en-US" altLang="ko-KR" sz="800" dirty="0"/>
              <a:t>INNER JOIN Department AS Dept</a:t>
            </a:r>
          </a:p>
          <a:p>
            <a:r>
              <a:rPr lang="en-US" altLang="ko-KR" sz="800" dirty="0"/>
              <a:t>    ON E.ID = </a:t>
            </a:r>
            <a:r>
              <a:rPr lang="en-US" altLang="ko-KR" sz="800" dirty="0" err="1"/>
              <a:t>Dept.Mgr_ID</a:t>
            </a:r>
            <a:r>
              <a:rPr lang="en-US" altLang="ko-KR" sz="800" dirty="0"/>
              <a:t>;</a:t>
            </a:r>
            <a:endParaRPr lang="ko-KR" alt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5635" y="997127"/>
            <a:ext cx="897153" cy="94993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75767" y="980389"/>
            <a:ext cx="0" cy="1036955"/>
          </a:xfrm>
          <a:custGeom>
            <a:avLst/>
            <a:gdLst/>
            <a:ahLst/>
            <a:cxnLst/>
            <a:rect l="l" t="t" r="r" b="b"/>
            <a:pathLst>
              <a:path h="1036955">
                <a:moveTo>
                  <a:pt x="0" y="0"/>
                </a:moveTo>
                <a:lnTo>
                  <a:pt x="0" y="1036701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0141" y="980389"/>
            <a:ext cx="0" cy="1036955"/>
          </a:xfrm>
          <a:custGeom>
            <a:avLst/>
            <a:gdLst/>
            <a:ahLst/>
            <a:cxnLst/>
            <a:rect l="l" t="t" r="r" b="b"/>
            <a:pathLst>
              <a:path h="1036955">
                <a:moveTo>
                  <a:pt x="0" y="0"/>
                </a:moveTo>
                <a:lnTo>
                  <a:pt x="0" y="1036701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4243" y="980389"/>
            <a:ext cx="6408420" cy="1036955"/>
          </a:xfrm>
          <a:custGeom>
            <a:avLst/>
            <a:gdLst/>
            <a:ahLst/>
            <a:cxnLst/>
            <a:rect l="l" t="t" r="r" b="b"/>
            <a:pathLst>
              <a:path w="6408420" h="1036955">
                <a:moveTo>
                  <a:pt x="6404965" y="0"/>
                </a:moveTo>
                <a:lnTo>
                  <a:pt x="6404965" y="1036701"/>
                </a:lnTo>
              </a:path>
              <a:path w="6408420" h="1036955">
                <a:moveTo>
                  <a:pt x="0" y="0"/>
                </a:moveTo>
                <a:lnTo>
                  <a:pt x="6408013" y="0"/>
                </a:lnTo>
              </a:path>
              <a:path w="6408420" h="1036955">
                <a:moveTo>
                  <a:pt x="0" y="1036701"/>
                </a:moveTo>
                <a:lnTo>
                  <a:pt x="6408013" y="1036701"/>
                </a:lnTo>
              </a:path>
              <a:path w="6408420" h="1036955">
                <a:moveTo>
                  <a:pt x="6404965" y="0"/>
                </a:moveTo>
                <a:lnTo>
                  <a:pt x="6404965" y="1036701"/>
                </a:lnTo>
              </a:path>
              <a:path w="6408420" h="1036955">
                <a:moveTo>
                  <a:pt x="1523" y="0"/>
                </a:moveTo>
                <a:lnTo>
                  <a:pt x="1523" y="1036701"/>
                </a:lnTo>
              </a:path>
              <a:path w="6408420" h="1036955">
                <a:moveTo>
                  <a:pt x="0" y="1036701"/>
                </a:moveTo>
                <a:lnTo>
                  <a:pt x="6408013" y="1036701"/>
                </a:lnTo>
              </a:path>
              <a:path w="6408420" h="103695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1198" y="2819361"/>
            <a:ext cx="1482051" cy="183136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75767" y="2801099"/>
            <a:ext cx="0" cy="1918335"/>
          </a:xfrm>
          <a:custGeom>
            <a:avLst/>
            <a:gdLst/>
            <a:ahLst/>
            <a:cxnLst/>
            <a:rect l="l" t="t" r="r" b="b"/>
            <a:pathLst>
              <a:path h="1918335">
                <a:moveTo>
                  <a:pt x="0" y="0"/>
                </a:moveTo>
                <a:lnTo>
                  <a:pt x="0" y="1918131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07228" y="2801099"/>
            <a:ext cx="0" cy="1918335"/>
          </a:xfrm>
          <a:custGeom>
            <a:avLst/>
            <a:gdLst/>
            <a:ahLst/>
            <a:cxnLst/>
            <a:rect l="l" t="t" r="r" b="b"/>
            <a:pathLst>
              <a:path h="1918335">
                <a:moveTo>
                  <a:pt x="0" y="0"/>
                </a:moveTo>
                <a:lnTo>
                  <a:pt x="0" y="1918131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243" y="2801099"/>
            <a:ext cx="6408420" cy="1918335"/>
          </a:xfrm>
          <a:custGeom>
            <a:avLst/>
            <a:gdLst/>
            <a:ahLst/>
            <a:cxnLst/>
            <a:rect l="l" t="t" r="r" b="b"/>
            <a:pathLst>
              <a:path w="6408420" h="1918335">
                <a:moveTo>
                  <a:pt x="6404965" y="0"/>
                </a:moveTo>
                <a:lnTo>
                  <a:pt x="6404965" y="1918131"/>
                </a:lnTo>
              </a:path>
              <a:path w="6408420" h="1918335">
                <a:moveTo>
                  <a:pt x="0" y="0"/>
                </a:moveTo>
                <a:lnTo>
                  <a:pt x="6408013" y="0"/>
                </a:lnTo>
              </a:path>
              <a:path w="6408420" h="1918335">
                <a:moveTo>
                  <a:pt x="0" y="1918131"/>
                </a:moveTo>
                <a:lnTo>
                  <a:pt x="6408013" y="1918131"/>
                </a:lnTo>
              </a:path>
              <a:path w="6408420" h="1918335">
                <a:moveTo>
                  <a:pt x="6404965" y="0"/>
                </a:moveTo>
                <a:lnTo>
                  <a:pt x="6404965" y="1918131"/>
                </a:lnTo>
              </a:path>
              <a:path w="6408420" h="1918335">
                <a:moveTo>
                  <a:pt x="1523" y="0"/>
                </a:moveTo>
                <a:lnTo>
                  <a:pt x="1523" y="1918131"/>
                </a:lnTo>
              </a:path>
              <a:path w="6408420" h="1918335">
                <a:moveTo>
                  <a:pt x="0" y="1918131"/>
                </a:moveTo>
                <a:lnTo>
                  <a:pt x="6408013" y="1918131"/>
                </a:lnTo>
              </a:path>
              <a:path w="6408420" h="191833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5635" y="5439295"/>
            <a:ext cx="2569603" cy="45822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575767" y="5261190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203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80141" y="5261190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203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4243" y="5261190"/>
            <a:ext cx="6408420" cy="866775"/>
          </a:xfrm>
          <a:custGeom>
            <a:avLst/>
            <a:gdLst/>
            <a:ahLst/>
            <a:cxnLst/>
            <a:rect l="l" t="t" r="r" b="b"/>
            <a:pathLst>
              <a:path w="6408420" h="866775">
                <a:moveTo>
                  <a:pt x="6404965" y="0"/>
                </a:moveTo>
                <a:lnTo>
                  <a:pt x="6404965" y="866203"/>
                </a:lnTo>
              </a:path>
              <a:path w="6408420" h="866775">
                <a:moveTo>
                  <a:pt x="0" y="0"/>
                </a:moveTo>
                <a:lnTo>
                  <a:pt x="6408013" y="0"/>
                </a:lnTo>
              </a:path>
              <a:path w="6408420" h="866775">
                <a:moveTo>
                  <a:pt x="0" y="866203"/>
                </a:moveTo>
                <a:lnTo>
                  <a:pt x="6408013" y="866203"/>
                </a:lnTo>
              </a:path>
              <a:path w="6408420" h="866775">
                <a:moveTo>
                  <a:pt x="6404965" y="0"/>
                </a:moveTo>
                <a:lnTo>
                  <a:pt x="6404965" y="866203"/>
                </a:lnTo>
              </a:path>
              <a:path w="6408420" h="866775">
                <a:moveTo>
                  <a:pt x="1523" y="0"/>
                </a:moveTo>
                <a:lnTo>
                  <a:pt x="1523" y="866203"/>
                </a:lnTo>
              </a:path>
              <a:path w="6408420" h="866775">
                <a:moveTo>
                  <a:pt x="0" y="866203"/>
                </a:moveTo>
                <a:lnTo>
                  <a:pt x="6408013" y="866203"/>
                </a:lnTo>
              </a:path>
              <a:path w="6408420" h="86677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45635" y="6850506"/>
            <a:ext cx="2569603" cy="452132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575767" y="6667830"/>
            <a:ext cx="0" cy="868044"/>
          </a:xfrm>
          <a:custGeom>
            <a:avLst/>
            <a:gdLst/>
            <a:ahLst/>
            <a:cxnLst/>
            <a:rect l="l" t="t" r="r" b="b"/>
            <a:pathLst>
              <a:path h="868045">
                <a:moveTo>
                  <a:pt x="0" y="0"/>
                </a:moveTo>
                <a:lnTo>
                  <a:pt x="0" y="867727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80141" y="6667830"/>
            <a:ext cx="0" cy="868044"/>
          </a:xfrm>
          <a:custGeom>
            <a:avLst/>
            <a:gdLst/>
            <a:ahLst/>
            <a:cxnLst/>
            <a:rect l="l" t="t" r="r" b="b"/>
            <a:pathLst>
              <a:path h="868045">
                <a:moveTo>
                  <a:pt x="0" y="0"/>
                </a:moveTo>
                <a:lnTo>
                  <a:pt x="0" y="867727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4243" y="6667830"/>
            <a:ext cx="6408420" cy="868044"/>
          </a:xfrm>
          <a:custGeom>
            <a:avLst/>
            <a:gdLst/>
            <a:ahLst/>
            <a:cxnLst/>
            <a:rect l="l" t="t" r="r" b="b"/>
            <a:pathLst>
              <a:path w="6408420" h="868045">
                <a:moveTo>
                  <a:pt x="6404965" y="0"/>
                </a:moveTo>
                <a:lnTo>
                  <a:pt x="6404965" y="867727"/>
                </a:lnTo>
              </a:path>
              <a:path w="6408420" h="868045">
                <a:moveTo>
                  <a:pt x="0" y="0"/>
                </a:moveTo>
                <a:lnTo>
                  <a:pt x="6408013" y="0"/>
                </a:lnTo>
              </a:path>
              <a:path w="6408420" h="868045">
                <a:moveTo>
                  <a:pt x="0" y="867727"/>
                </a:moveTo>
                <a:lnTo>
                  <a:pt x="6408013" y="867727"/>
                </a:lnTo>
              </a:path>
              <a:path w="6408420" h="868045">
                <a:moveTo>
                  <a:pt x="6404965" y="0"/>
                </a:moveTo>
                <a:lnTo>
                  <a:pt x="6404965" y="867727"/>
                </a:lnTo>
              </a:path>
              <a:path w="6408420" h="868045">
                <a:moveTo>
                  <a:pt x="1523" y="0"/>
                </a:moveTo>
                <a:lnTo>
                  <a:pt x="1523" y="867727"/>
                </a:lnTo>
              </a:path>
              <a:path w="6408420" h="868045">
                <a:moveTo>
                  <a:pt x="0" y="867727"/>
                </a:moveTo>
                <a:lnTo>
                  <a:pt x="6408013" y="867727"/>
                </a:lnTo>
              </a:path>
              <a:path w="6408420" h="86804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45635" y="8174938"/>
            <a:ext cx="1149997" cy="669823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575767" y="8075980"/>
            <a:ext cx="0" cy="868044"/>
          </a:xfrm>
          <a:custGeom>
            <a:avLst/>
            <a:gdLst/>
            <a:ahLst/>
            <a:cxnLst/>
            <a:rect l="l" t="t" r="r" b="b"/>
            <a:pathLst>
              <a:path h="868045">
                <a:moveTo>
                  <a:pt x="0" y="0"/>
                </a:moveTo>
                <a:lnTo>
                  <a:pt x="0" y="86774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80141" y="8075980"/>
            <a:ext cx="0" cy="868044"/>
          </a:xfrm>
          <a:custGeom>
            <a:avLst/>
            <a:gdLst/>
            <a:ahLst/>
            <a:cxnLst/>
            <a:rect l="l" t="t" r="r" b="b"/>
            <a:pathLst>
              <a:path h="868045">
                <a:moveTo>
                  <a:pt x="0" y="0"/>
                </a:moveTo>
                <a:lnTo>
                  <a:pt x="0" y="86774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4243" y="8075980"/>
            <a:ext cx="6408420" cy="868044"/>
          </a:xfrm>
          <a:custGeom>
            <a:avLst/>
            <a:gdLst/>
            <a:ahLst/>
            <a:cxnLst/>
            <a:rect l="l" t="t" r="r" b="b"/>
            <a:pathLst>
              <a:path w="6408420" h="868045">
                <a:moveTo>
                  <a:pt x="6404965" y="0"/>
                </a:moveTo>
                <a:lnTo>
                  <a:pt x="6404965" y="867740"/>
                </a:lnTo>
              </a:path>
              <a:path w="6408420" h="868045">
                <a:moveTo>
                  <a:pt x="0" y="0"/>
                </a:moveTo>
                <a:lnTo>
                  <a:pt x="6408013" y="0"/>
                </a:lnTo>
              </a:path>
              <a:path w="6408420" h="868045">
                <a:moveTo>
                  <a:pt x="0" y="867740"/>
                </a:moveTo>
                <a:lnTo>
                  <a:pt x="6408013" y="867740"/>
                </a:lnTo>
              </a:path>
              <a:path w="6408420" h="868045">
                <a:moveTo>
                  <a:pt x="6404965" y="0"/>
                </a:moveTo>
                <a:lnTo>
                  <a:pt x="6404965" y="867740"/>
                </a:lnTo>
              </a:path>
              <a:path w="6408420" h="868045">
                <a:moveTo>
                  <a:pt x="1523" y="0"/>
                </a:moveTo>
                <a:lnTo>
                  <a:pt x="1523" y="867740"/>
                </a:lnTo>
              </a:path>
              <a:path w="6408420" h="868045">
                <a:moveTo>
                  <a:pt x="0" y="867740"/>
                </a:moveTo>
                <a:lnTo>
                  <a:pt x="6408013" y="867740"/>
                </a:lnTo>
              </a:path>
              <a:path w="6408420" h="86804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26503" y="683007"/>
            <a:ext cx="521144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24.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번호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1,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2,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35" dirty="0">
                <a:latin typeface="Malgun Gothic"/>
                <a:cs typeface="Malgun Gothic"/>
              </a:rPr>
              <a:t>3에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참여하고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있는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모든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35" dirty="0">
                <a:latin typeface="Malgun Gothic"/>
                <a:cs typeface="Malgun Gothic"/>
              </a:rPr>
              <a:t>ID를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26503" y="2199253"/>
            <a:ext cx="6502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200"/>
              </a:lnSpc>
              <a:spcBef>
                <a:spcPts val="100"/>
              </a:spcBef>
            </a:pPr>
            <a:r>
              <a:rPr sz="1200" spc="-35" dirty="0">
                <a:latin typeface="Malgun Gothic"/>
                <a:cs typeface="Malgun Gothic"/>
              </a:rPr>
              <a:t>25.</a:t>
            </a:r>
            <a:r>
              <a:rPr sz="1200" spc="2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모든</a:t>
            </a:r>
            <a:r>
              <a:rPr sz="1200" spc="2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사원에</a:t>
            </a:r>
            <a:r>
              <a:rPr sz="1200" spc="2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대해서</a:t>
            </a:r>
            <a:r>
              <a:rPr sz="1200" spc="2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직속</a:t>
            </a:r>
            <a:r>
              <a:rPr sz="1200" spc="2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상관의</a:t>
            </a:r>
            <a:r>
              <a:rPr sz="1200" spc="2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이름을</a:t>
            </a:r>
            <a:r>
              <a:rPr sz="1200" spc="2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함께</a:t>
            </a:r>
            <a:r>
              <a:rPr sz="1200" spc="2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검색하여</a:t>
            </a:r>
            <a:r>
              <a:rPr sz="1200" spc="29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제시하시오.</a:t>
            </a:r>
            <a:r>
              <a:rPr sz="1200" spc="2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만일</a:t>
            </a:r>
            <a:r>
              <a:rPr sz="1200" spc="2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직속</a:t>
            </a:r>
            <a:r>
              <a:rPr sz="1200" spc="2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상관이 </a:t>
            </a:r>
            <a:r>
              <a:rPr sz="1200" spc="-40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없는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경우에는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이름과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직속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상관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부분은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95" dirty="0">
                <a:latin typeface="Malgun Gothic"/>
                <a:cs typeface="Malgun Gothic"/>
              </a:rPr>
              <a:t>NULL로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표현</a:t>
            </a:r>
            <a:endParaRPr sz="1200" dirty="0">
              <a:latin typeface="Malgun Gothic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6503" y="4963817"/>
            <a:ext cx="515810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26.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전체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급여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합,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최대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급여,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최소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급여,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평균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급여를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26503" y="6371978"/>
            <a:ext cx="585533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27.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‘Research’부서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급여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합,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최대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급여,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최소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급여,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평균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급여를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26503" y="7780139"/>
            <a:ext cx="238442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28.</a:t>
            </a:r>
            <a:r>
              <a:rPr sz="1200" spc="16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전체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수를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D9FD24-D148-3E1A-6112-2EE857B1204E}"/>
              </a:ext>
            </a:extLst>
          </p:cNvPr>
          <p:cNvSpPr txBox="1"/>
          <p:nvPr/>
        </p:nvSpPr>
        <p:spPr>
          <a:xfrm>
            <a:off x="645970" y="1195832"/>
            <a:ext cx="3002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DISTINCT </a:t>
            </a:r>
            <a:r>
              <a:rPr lang="en-US" altLang="ko-KR" sz="800" dirty="0" err="1"/>
              <a:t>EmpID</a:t>
            </a:r>
            <a:r>
              <a:rPr lang="en-US" altLang="ko-KR" sz="800" dirty="0"/>
              <a:t> AS ID</a:t>
            </a:r>
          </a:p>
          <a:p>
            <a:r>
              <a:rPr lang="en-US" altLang="ko-KR" sz="800" dirty="0"/>
              <a:t>FROM </a:t>
            </a:r>
            <a:r>
              <a:rPr lang="en-US" altLang="ko-KR" sz="800" dirty="0" err="1"/>
              <a:t>Works_On</a:t>
            </a:r>
            <a:endParaRPr lang="en-US" altLang="ko-KR" sz="800" dirty="0"/>
          </a:p>
          <a:p>
            <a:r>
              <a:rPr lang="en-US" altLang="ko-KR" sz="800" dirty="0"/>
              <a:t>WHERE </a:t>
            </a:r>
            <a:r>
              <a:rPr lang="en-US" altLang="ko-KR" sz="800" dirty="0" err="1"/>
              <a:t>Pno</a:t>
            </a:r>
            <a:r>
              <a:rPr lang="en-US" altLang="ko-KR" sz="800" dirty="0"/>
              <a:t> IN (1, 2, 3);</a:t>
            </a:r>
            <a:endParaRPr lang="ko-KR" altLang="en-US" sz="7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BA5510-3BAD-C958-09FA-A8358C67A287}"/>
              </a:ext>
            </a:extLst>
          </p:cNvPr>
          <p:cNvSpPr txBox="1"/>
          <p:nvPr/>
        </p:nvSpPr>
        <p:spPr>
          <a:xfrm>
            <a:off x="609514" y="2912253"/>
            <a:ext cx="3002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</a:t>
            </a:r>
            <a:r>
              <a:rPr lang="en-US" altLang="ko-KR" sz="800" dirty="0" err="1"/>
              <a:t>E.Fname</a:t>
            </a:r>
            <a:r>
              <a:rPr lang="en-US" altLang="ko-KR" sz="800" dirty="0"/>
              <a:t> AS </a:t>
            </a:r>
            <a:r>
              <a:rPr lang="en-US" altLang="ko-KR" sz="800" dirty="0" err="1"/>
              <a:t>EMP_name</a:t>
            </a:r>
            <a:r>
              <a:rPr lang="en-US" altLang="ko-KR" sz="800" dirty="0"/>
              <a:t>, </a:t>
            </a:r>
          </a:p>
          <a:p>
            <a:r>
              <a:rPr lang="en-US" altLang="ko-KR" sz="800" dirty="0" err="1"/>
              <a:t>S.Fname</a:t>
            </a:r>
            <a:r>
              <a:rPr lang="en-US" altLang="ko-KR" sz="800" dirty="0"/>
              <a:t> AS </a:t>
            </a:r>
            <a:r>
              <a:rPr lang="en-US" altLang="ko-KR" sz="800" dirty="0" err="1"/>
              <a:t>SUP_name</a:t>
            </a:r>
            <a:r>
              <a:rPr lang="en-US" altLang="ko-KR" sz="800" dirty="0"/>
              <a:t>, </a:t>
            </a:r>
          </a:p>
          <a:p>
            <a:r>
              <a:rPr lang="en-US" altLang="ko-KR" sz="800" dirty="0"/>
              <a:t>FROM Employee AS E</a:t>
            </a:r>
          </a:p>
          <a:p>
            <a:r>
              <a:rPr lang="en-US" altLang="ko-KR" sz="800" dirty="0"/>
              <a:t>LEFT JOIN Employee AS S</a:t>
            </a:r>
          </a:p>
          <a:p>
            <a:r>
              <a:rPr lang="en-US" altLang="ko-KR" sz="800" dirty="0"/>
              <a:t>    ON </a:t>
            </a:r>
            <a:r>
              <a:rPr lang="en-US" altLang="ko-KR" sz="800" dirty="0" err="1"/>
              <a:t>E.Super_ID</a:t>
            </a:r>
            <a:r>
              <a:rPr lang="en-US" altLang="ko-KR" sz="800" dirty="0"/>
              <a:t> = S.ID;</a:t>
            </a:r>
            <a:endParaRPr lang="ko-KR" altLang="en-US" sz="7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4A4BED-D1BD-CBAD-511C-647A739BE229}"/>
              </a:ext>
            </a:extLst>
          </p:cNvPr>
          <p:cNvSpPr txBox="1"/>
          <p:nvPr/>
        </p:nvSpPr>
        <p:spPr>
          <a:xfrm>
            <a:off x="645970" y="5335948"/>
            <a:ext cx="3002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 SUM(Salary),  MAX(Salary),  MIN(Salary),  AVG(Salary)</a:t>
            </a:r>
          </a:p>
          <a:p>
            <a:r>
              <a:rPr lang="en-US" altLang="ko-KR" sz="800" dirty="0"/>
              <a:t>FROM Employee;</a:t>
            </a:r>
            <a:endParaRPr lang="ko-KR" altLang="en-US" sz="7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EF4268-7F3B-9086-4E2D-2174039C1831}"/>
              </a:ext>
            </a:extLst>
          </p:cNvPr>
          <p:cNvSpPr txBox="1"/>
          <p:nvPr/>
        </p:nvSpPr>
        <p:spPr>
          <a:xfrm>
            <a:off x="645970" y="6748640"/>
            <a:ext cx="3002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 SUM(</a:t>
            </a:r>
            <a:r>
              <a:rPr lang="en-US" altLang="ko-KR" sz="800" dirty="0" err="1"/>
              <a:t>E.Salary</a:t>
            </a:r>
            <a:r>
              <a:rPr lang="en-US" altLang="ko-KR" sz="800" dirty="0"/>
              <a:t>), MAX(</a:t>
            </a:r>
            <a:r>
              <a:rPr lang="en-US" altLang="ko-KR" sz="800" dirty="0" err="1"/>
              <a:t>E.Salary</a:t>
            </a:r>
            <a:r>
              <a:rPr lang="en-US" altLang="ko-KR" sz="800" dirty="0"/>
              <a:t>), MIN(</a:t>
            </a:r>
            <a:r>
              <a:rPr lang="en-US" altLang="ko-KR" sz="800" dirty="0" err="1"/>
              <a:t>E.Salary</a:t>
            </a:r>
            <a:r>
              <a:rPr lang="en-US" altLang="ko-KR" sz="800" dirty="0"/>
              <a:t>),  AVG(</a:t>
            </a:r>
            <a:r>
              <a:rPr lang="en-US" altLang="ko-KR" sz="800" dirty="0" err="1"/>
              <a:t>E.Salary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FROM Employee AS E</a:t>
            </a:r>
          </a:p>
          <a:p>
            <a:r>
              <a:rPr lang="en-US" altLang="ko-KR" sz="800" dirty="0"/>
              <a:t>INNER JOIN Department AS D</a:t>
            </a:r>
          </a:p>
          <a:p>
            <a:r>
              <a:rPr lang="en-US" altLang="ko-KR" sz="800" dirty="0"/>
              <a:t>    ON </a:t>
            </a:r>
            <a:r>
              <a:rPr lang="en-US" altLang="ko-KR" sz="800" dirty="0" err="1"/>
              <a:t>E.Dno</a:t>
            </a:r>
            <a:r>
              <a:rPr lang="en-US" altLang="ko-KR" sz="800" dirty="0"/>
              <a:t> = </a:t>
            </a:r>
            <a:r>
              <a:rPr lang="en-US" altLang="ko-KR" sz="800" dirty="0" err="1"/>
              <a:t>D.Dnumber</a:t>
            </a:r>
            <a:endParaRPr lang="en-US" altLang="ko-KR" sz="800" dirty="0"/>
          </a:p>
          <a:p>
            <a:r>
              <a:rPr lang="en-US" altLang="ko-KR" sz="800" dirty="0"/>
              <a:t>WHERE </a:t>
            </a:r>
            <a:r>
              <a:rPr lang="en-US" altLang="ko-KR" sz="800" dirty="0" err="1"/>
              <a:t>D.Dname</a:t>
            </a:r>
            <a:r>
              <a:rPr lang="en-US" altLang="ko-KR" sz="800" dirty="0"/>
              <a:t> = 'Research';</a:t>
            </a:r>
            <a:endParaRPr lang="ko-KR" altLang="en-US" sz="7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BF7A21-B5BB-6412-D9A8-F51D1EDD357A}"/>
              </a:ext>
            </a:extLst>
          </p:cNvPr>
          <p:cNvSpPr txBox="1"/>
          <p:nvPr/>
        </p:nvSpPr>
        <p:spPr>
          <a:xfrm>
            <a:off x="730250" y="8153648"/>
            <a:ext cx="3002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COUNT(*)</a:t>
            </a:r>
          </a:p>
          <a:p>
            <a:r>
              <a:rPr lang="en-US" altLang="ko-KR" sz="800" dirty="0"/>
              <a:t>FROM Employee;</a:t>
            </a:r>
            <a:endParaRPr lang="ko-KR" alt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5635" y="1048892"/>
            <a:ext cx="1172844" cy="67743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75767" y="980389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203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0141" y="980389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203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4243" y="980389"/>
            <a:ext cx="6408420" cy="866775"/>
          </a:xfrm>
          <a:custGeom>
            <a:avLst/>
            <a:gdLst/>
            <a:ahLst/>
            <a:cxnLst/>
            <a:rect l="l" t="t" r="r" b="b"/>
            <a:pathLst>
              <a:path w="6408420" h="866775">
                <a:moveTo>
                  <a:pt x="6404965" y="0"/>
                </a:moveTo>
                <a:lnTo>
                  <a:pt x="6404965" y="866203"/>
                </a:lnTo>
              </a:path>
              <a:path w="6408420" h="866775">
                <a:moveTo>
                  <a:pt x="0" y="0"/>
                </a:moveTo>
                <a:lnTo>
                  <a:pt x="6408013" y="0"/>
                </a:lnTo>
              </a:path>
              <a:path w="6408420" h="866775">
                <a:moveTo>
                  <a:pt x="0" y="866203"/>
                </a:moveTo>
                <a:lnTo>
                  <a:pt x="6408013" y="866203"/>
                </a:lnTo>
              </a:path>
              <a:path w="6408420" h="866775">
                <a:moveTo>
                  <a:pt x="6404965" y="0"/>
                </a:moveTo>
                <a:lnTo>
                  <a:pt x="6404965" y="866203"/>
                </a:lnTo>
              </a:path>
              <a:path w="6408420" h="866775">
                <a:moveTo>
                  <a:pt x="1523" y="0"/>
                </a:moveTo>
                <a:lnTo>
                  <a:pt x="1523" y="866203"/>
                </a:lnTo>
              </a:path>
              <a:path w="6408420" h="866775">
                <a:moveTo>
                  <a:pt x="0" y="866203"/>
                </a:moveTo>
                <a:lnTo>
                  <a:pt x="6408013" y="866203"/>
                </a:lnTo>
              </a:path>
              <a:path w="6408420" h="86677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5635" y="2405291"/>
            <a:ext cx="2178151" cy="88143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75767" y="2388539"/>
            <a:ext cx="0" cy="967105"/>
          </a:xfrm>
          <a:custGeom>
            <a:avLst/>
            <a:gdLst/>
            <a:ahLst/>
            <a:cxnLst/>
            <a:rect l="l" t="t" r="r" b="b"/>
            <a:pathLst>
              <a:path h="967104">
                <a:moveTo>
                  <a:pt x="0" y="0"/>
                </a:moveTo>
                <a:lnTo>
                  <a:pt x="0" y="966685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80141" y="2388539"/>
            <a:ext cx="0" cy="967105"/>
          </a:xfrm>
          <a:custGeom>
            <a:avLst/>
            <a:gdLst/>
            <a:ahLst/>
            <a:cxnLst/>
            <a:rect l="l" t="t" r="r" b="b"/>
            <a:pathLst>
              <a:path h="967104">
                <a:moveTo>
                  <a:pt x="0" y="0"/>
                </a:moveTo>
                <a:lnTo>
                  <a:pt x="0" y="966685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243" y="2388539"/>
            <a:ext cx="6408420" cy="967105"/>
          </a:xfrm>
          <a:custGeom>
            <a:avLst/>
            <a:gdLst/>
            <a:ahLst/>
            <a:cxnLst/>
            <a:rect l="l" t="t" r="r" b="b"/>
            <a:pathLst>
              <a:path w="6408420" h="967104">
                <a:moveTo>
                  <a:pt x="6404965" y="0"/>
                </a:moveTo>
                <a:lnTo>
                  <a:pt x="6404965" y="966685"/>
                </a:lnTo>
              </a:path>
              <a:path w="6408420" h="967104">
                <a:moveTo>
                  <a:pt x="0" y="0"/>
                </a:moveTo>
                <a:lnTo>
                  <a:pt x="6408013" y="0"/>
                </a:lnTo>
              </a:path>
              <a:path w="6408420" h="967104">
                <a:moveTo>
                  <a:pt x="0" y="966685"/>
                </a:moveTo>
                <a:lnTo>
                  <a:pt x="6408013" y="966685"/>
                </a:lnTo>
              </a:path>
              <a:path w="6408420" h="967104">
                <a:moveTo>
                  <a:pt x="6404965" y="0"/>
                </a:moveTo>
                <a:lnTo>
                  <a:pt x="6404965" y="966685"/>
                </a:lnTo>
              </a:path>
              <a:path w="6408420" h="967104">
                <a:moveTo>
                  <a:pt x="1523" y="0"/>
                </a:moveTo>
                <a:lnTo>
                  <a:pt x="1523" y="966685"/>
                </a:lnTo>
              </a:path>
              <a:path w="6408420" h="967104">
                <a:moveTo>
                  <a:pt x="0" y="966685"/>
                </a:moveTo>
                <a:lnTo>
                  <a:pt x="6408013" y="966685"/>
                </a:lnTo>
              </a:path>
              <a:path w="6408420" h="967104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5635" y="3913924"/>
            <a:ext cx="2062391" cy="113108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575767" y="3895648"/>
            <a:ext cx="0" cy="1217930"/>
          </a:xfrm>
          <a:custGeom>
            <a:avLst/>
            <a:gdLst/>
            <a:ahLst/>
            <a:cxnLst/>
            <a:rect l="l" t="t" r="r" b="b"/>
            <a:pathLst>
              <a:path h="1217929">
                <a:moveTo>
                  <a:pt x="0" y="0"/>
                </a:moveTo>
                <a:lnTo>
                  <a:pt x="0" y="1217879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80141" y="3895648"/>
            <a:ext cx="0" cy="1217930"/>
          </a:xfrm>
          <a:custGeom>
            <a:avLst/>
            <a:gdLst/>
            <a:ahLst/>
            <a:cxnLst/>
            <a:rect l="l" t="t" r="r" b="b"/>
            <a:pathLst>
              <a:path h="1217929">
                <a:moveTo>
                  <a:pt x="0" y="0"/>
                </a:moveTo>
                <a:lnTo>
                  <a:pt x="0" y="1217879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4243" y="3895648"/>
            <a:ext cx="6408420" cy="1217930"/>
          </a:xfrm>
          <a:custGeom>
            <a:avLst/>
            <a:gdLst/>
            <a:ahLst/>
            <a:cxnLst/>
            <a:rect l="l" t="t" r="r" b="b"/>
            <a:pathLst>
              <a:path w="6408420" h="1217929">
                <a:moveTo>
                  <a:pt x="6404965" y="0"/>
                </a:moveTo>
                <a:lnTo>
                  <a:pt x="6404965" y="1217879"/>
                </a:lnTo>
              </a:path>
              <a:path w="6408420" h="1217929">
                <a:moveTo>
                  <a:pt x="0" y="0"/>
                </a:moveTo>
                <a:lnTo>
                  <a:pt x="6408013" y="0"/>
                </a:lnTo>
              </a:path>
              <a:path w="6408420" h="1217929">
                <a:moveTo>
                  <a:pt x="0" y="1217879"/>
                </a:moveTo>
                <a:lnTo>
                  <a:pt x="6408013" y="1217879"/>
                </a:lnTo>
              </a:path>
              <a:path w="6408420" h="1217929">
                <a:moveTo>
                  <a:pt x="6404965" y="0"/>
                </a:moveTo>
                <a:lnTo>
                  <a:pt x="6404965" y="1217879"/>
                </a:lnTo>
              </a:path>
              <a:path w="6408420" h="1217929">
                <a:moveTo>
                  <a:pt x="1523" y="0"/>
                </a:moveTo>
                <a:lnTo>
                  <a:pt x="1523" y="1217879"/>
                </a:lnTo>
              </a:path>
              <a:path w="6408420" h="1217929">
                <a:moveTo>
                  <a:pt x="0" y="1217879"/>
                </a:moveTo>
                <a:lnTo>
                  <a:pt x="6408013" y="1217879"/>
                </a:lnTo>
              </a:path>
              <a:path w="6408420" h="1217929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94314" y="5915786"/>
            <a:ext cx="2392908" cy="12894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575767" y="5899048"/>
            <a:ext cx="0" cy="1374775"/>
          </a:xfrm>
          <a:custGeom>
            <a:avLst/>
            <a:gdLst/>
            <a:ahLst/>
            <a:cxnLst/>
            <a:rect l="l" t="t" r="r" b="b"/>
            <a:pathLst>
              <a:path h="1374775">
                <a:moveTo>
                  <a:pt x="0" y="0"/>
                </a:moveTo>
                <a:lnTo>
                  <a:pt x="0" y="137466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28808" y="5899048"/>
            <a:ext cx="0" cy="1374775"/>
          </a:xfrm>
          <a:custGeom>
            <a:avLst/>
            <a:gdLst/>
            <a:ahLst/>
            <a:cxnLst/>
            <a:rect l="l" t="t" r="r" b="b"/>
            <a:pathLst>
              <a:path h="1374775">
                <a:moveTo>
                  <a:pt x="0" y="0"/>
                </a:moveTo>
                <a:lnTo>
                  <a:pt x="0" y="137466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4243" y="5899048"/>
            <a:ext cx="6408420" cy="1374775"/>
          </a:xfrm>
          <a:custGeom>
            <a:avLst/>
            <a:gdLst/>
            <a:ahLst/>
            <a:cxnLst/>
            <a:rect l="l" t="t" r="r" b="b"/>
            <a:pathLst>
              <a:path w="6408420" h="1374775">
                <a:moveTo>
                  <a:pt x="6404965" y="0"/>
                </a:moveTo>
                <a:lnTo>
                  <a:pt x="6404965" y="1374660"/>
                </a:lnTo>
              </a:path>
              <a:path w="6408420" h="1374775">
                <a:moveTo>
                  <a:pt x="0" y="0"/>
                </a:moveTo>
                <a:lnTo>
                  <a:pt x="6408013" y="0"/>
                </a:lnTo>
              </a:path>
              <a:path w="6408420" h="1374775">
                <a:moveTo>
                  <a:pt x="0" y="1374660"/>
                </a:moveTo>
                <a:lnTo>
                  <a:pt x="6408013" y="1374660"/>
                </a:lnTo>
              </a:path>
              <a:path w="6408420" h="1374775">
                <a:moveTo>
                  <a:pt x="6404965" y="0"/>
                </a:moveTo>
                <a:lnTo>
                  <a:pt x="6404965" y="1374660"/>
                </a:lnTo>
              </a:path>
              <a:path w="6408420" h="1374775">
                <a:moveTo>
                  <a:pt x="1523" y="0"/>
                </a:moveTo>
                <a:lnTo>
                  <a:pt x="1523" y="1374660"/>
                </a:lnTo>
              </a:path>
              <a:path w="6408420" h="1374775">
                <a:moveTo>
                  <a:pt x="0" y="1374660"/>
                </a:moveTo>
                <a:lnTo>
                  <a:pt x="6408013" y="1374660"/>
                </a:lnTo>
              </a:path>
              <a:path w="6408420" h="137477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6503" y="683007"/>
            <a:ext cx="308165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29.</a:t>
            </a:r>
            <a:r>
              <a:rPr sz="1200" spc="160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‘Research’부서의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</a:t>
            </a:r>
            <a:r>
              <a:rPr sz="1200" spc="16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수를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26503" y="2091168"/>
            <a:ext cx="451358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30.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소속부서별로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부서번호,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수,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평균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급여를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26503" y="3599803"/>
            <a:ext cx="634111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31.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각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프로젝트별로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번호,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이름,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그리고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참여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수를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26503" y="5297208"/>
            <a:ext cx="6502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200"/>
              </a:lnSpc>
              <a:spcBef>
                <a:spcPts val="100"/>
              </a:spcBef>
            </a:pPr>
            <a:r>
              <a:rPr sz="1200" spc="-35" dirty="0">
                <a:latin typeface="Malgun Gothic"/>
                <a:cs typeface="Malgun Gothic"/>
              </a:rPr>
              <a:t>32.</a:t>
            </a:r>
            <a:r>
              <a:rPr sz="1200" spc="295" dirty="0">
                <a:latin typeface="Malgun Gothic"/>
                <a:cs typeface="Malgun Gothic"/>
              </a:rPr>
              <a:t> </a:t>
            </a:r>
            <a:r>
              <a:rPr sz="1200" spc="-35" dirty="0">
                <a:latin typeface="Malgun Gothic"/>
                <a:cs typeface="Malgun Gothic"/>
              </a:rPr>
              <a:t>2명</a:t>
            </a:r>
            <a:r>
              <a:rPr sz="1200" spc="2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이상의</a:t>
            </a:r>
            <a:r>
              <a:rPr sz="1200" spc="30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사원이</a:t>
            </a:r>
            <a:r>
              <a:rPr sz="1200" spc="2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참여하는</a:t>
            </a:r>
            <a:r>
              <a:rPr sz="1200" spc="29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프로젝트에</a:t>
            </a:r>
            <a:r>
              <a:rPr sz="1200" spc="30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대해서</a:t>
            </a:r>
            <a:r>
              <a:rPr sz="1200" spc="29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</a:t>
            </a:r>
            <a:r>
              <a:rPr sz="1200" spc="300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번호,</a:t>
            </a:r>
            <a:r>
              <a:rPr sz="1200" spc="29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</a:t>
            </a:r>
            <a:r>
              <a:rPr sz="1200" spc="29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</a:t>
            </a:r>
            <a:r>
              <a:rPr sz="1200" spc="30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그리고 </a:t>
            </a:r>
            <a:r>
              <a:rPr sz="1200" spc="-40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참여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수를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845EB7-7644-2CE1-D71C-CCF2073633EA}"/>
              </a:ext>
            </a:extLst>
          </p:cNvPr>
          <p:cNvSpPr txBox="1"/>
          <p:nvPr/>
        </p:nvSpPr>
        <p:spPr>
          <a:xfrm>
            <a:off x="642248" y="1074916"/>
            <a:ext cx="3002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COUNT(*)</a:t>
            </a:r>
          </a:p>
          <a:p>
            <a:r>
              <a:rPr lang="en-US" altLang="ko-KR" sz="800" dirty="0"/>
              <a:t>FROM Employee AS E</a:t>
            </a:r>
          </a:p>
          <a:p>
            <a:r>
              <a:rPr lang="en-US" altLang="ko-KR" sz="800" dirty="0"/>
              <a:t>INNER JOIN Department AS D</a:t>
            </a:r>
          </a:p>
          <a:p>
            <a:r>
              <a:rPr lang="en-US" altLang="ko-KR" sz="800" dirty="0"/>
              <a:t>    ON </a:t>
            </a:r>
            <a:r>
              <a:rPr lang="en-US" altLang="ko-KR" sz="800" dirty="0" err="1"/>
              <a:t>E.Dno</a:t>
            </a:r>
            <a:r>
              <a:rPr lang="en-US" altLang="ko-KR" sz="800" dirty="0"/>
              <a:t> = </a:t>
            </a:r>
            <a:r>
              <a:rPr lang="en-US" altLang="ko-KR" sz="800" dirty="0" err="1"/>
              <a:t>D.Dnumber</a:t>
            </a:r>
            <a:endParaRPr lang="en-US" altLang="ko-KR" sz="800" dirty="0"/>
          </a:p>
          <a:p>
            <a:r>
              <a:rPr lang="en-US" altLang="ko-KR" sz="800" dirty="0"/>
              <a:t>WHERE </a:t>
            </a:r>
            <a:r>
              <a:rPr lang="en-US" altLang="ko-KR" sz="800" dirty="0" err="1"/>
              <a:t>D.Dname</a:t>
            </a:r>
            <a:r>
              <a:rPr lang="en-US" altLang="ko-KR" sz="800" dirty="0"/>
              <a:t> = 'Research';</a:t>
            </a:r>
            <a:endParaRPr lang="ko-KR" altLang="en-US" sz="7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FC6948-38B1-9D40-FA90-DB396439C54A}"/>
              </a:ext>
            </a:extLst>
          </p:cNvPr>
          <p:cNvSpPr txBox="1"/>
          <p:nvPr/>
        </p:nvSpPr>
        <p:spPr>
          <a:xfrm>
            <a:off x="694318" y="2516686"/>
            <a:ext cx="3002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</a:t>
            </a:r>
            <a:r>
              <a:rPr lang="en-US" altLang="ko-KR" sz="800" dirty="0" err="1"/>
              <a:t>Dno</a:t>
            </a:r>
            <a:r>
              <a:rPr lang="en-US" altLang="ko-KR" sz="800" dirty="0"/>
              <a:t>, COUNT(*),  AVG(Salary)</a:t>
            </a:r>
          </a:p>
          <a:p>
            <a:r>
              <a:rPr lang="en-US" altLang="ko-KR" sz="800" dirty="0"/>
              <a:t>FROM Employee</a:t>
            </a:r>
          </a:p>
          <a:p>
            <a:r>
              <a:rPr lang="en-US" altLang="ko-KR" sz="800" dirty="0"/>
              <a:t>GROUP BY </a:t>
            </a:r>
            <a:r>
              <a:rPr lang="en-US" altLang="ko-KR" sz="800" dirty="0" err="1"/>
              <a:t>Dno</a:t>
            </a:r>
            <a:r>
              <a:rPr lang="en-US" altLang="ko-KR" sz="800" dirty="0"/>
              <a:t>;</a:t>
            </a:r>
            <a:endParaRPr lang="ko-KR" altLang="en-US" sz="7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92755A-FC51-4D12-5ECF-9B4A169325A0}"/>
              </a:ext>
            </a:extLst>
          </p:cNvPr>
          <p:cNvSpPr txBox="1"/>
          <p:nvPr/>
        </p:nvSpPr>
        <p:spPr>
          <a:xfrm>
            <a:off x="694318" y="4013302"/>
            <a:ext cx="3002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</a:t>
            </a:r>
            <a:r>
              <a:rPr lang="en-US" altLang="ko-KR" sz="800" dirty="0" err="1"/>
              <a:t>P.Pnumber</a:t>
            </a:r>
            <a:r>
              <a:rPr lang="en-US" altLang="ko-KR" sz="800" dirty="0"/>
              <a:t>,  </a:t>
            </a:r>
            <a:r>
              <a:rPr lang="en-US" altLang="ko-KR" sz="800" dirty="0" err="1"/>
              <a:t>P.Pname</a:t>
            </a:r>
            <a:r>
              <a:rPr lang="en-US" altLang="ko-KR" sz="800" dirty="0"/>
              <a:t>, COUNT(</a:t>
            </a:r>
            <a:r>
              <a:rPr lang="en-US" altLang="ko-KR" sz="800" dirty="0" err="1"/>
              <a:t>W.EmpID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FROM Project AS P</a:t>
            </a:r>
          </a:p>
          <a:p>
            <a:r>
              <a:rPr lang="en-US" altLang="ko-KR" sz="800" dirty="0"/>
              <a:t>LEFT JOIN </a:t>
            </a:r>
            <a:r>
              <a:rPr lang="en-US" altLang="ko-KR" sz="800" dirty="0" err="1"/>
              <a:t>Works_On</a:t>
            </a:r>
            <a:r>
              <a:rPr lang="en-US" altLang="ko-KR" sz="800" dirty="0"/>
              <a:t> AS W</a:t>
            </a:r>
          </a:p>
          <a:p>
            <a:r>
              <a:rPr lang="en-US" altLang="ko-KR" sz="800" dirty="0"/>
              <a:t>    ON </a:t>
            </a:r>
            <a:r>
              <a:rPr lang="en-US" altLang="ko-KR" sz="800" dirty="0" err="1"/>
              <a:t>P.Pnumber</a:t>
            </a:r>
            <a:r>
              <a:rPr lang="en-US" altLang="ko-KR" sz="800" dirty="0"/>
              <a:t> = </a:t>
            </a:r>
            <a:r>
              <a:rPr lang="en-US" altLang="ko-KR" sz="800" dirty="0" err="1"/>
              <a:t>W.Pno</a:t>
            </a:r>
            <a:endParaRPr lang="en-US" altLang="ko-KR" sz="800" dirty="0"/>
          </a:p>
          <a:p>
            <a:r>
              <a:rPr lang="en-US" altLang="ko-KR" sz="800" dirty="0"/>
              <a:t>GROUP BY </a:t>
            </a:r>
            <a:r>
              <a:rPr lang="en-US" altLang="ko-KR" sz="800" dirty="0" err="1"/>
              <a:t>P.Pnumber</a:t>
            </a:r>
            <a:r>
              <a:rPr lang="en-US" altLang="ko-KR" sz="800" dirty="0"/>
              <a:t>, </a:t>
            </a:r>
            <a:r>
              <a:rPr lang="en-US" altLang="ko-KR" sz="800" dirty="0" err="1"/>
              <a:t>P.Pname</a:t>
            </a:r>
            <a:r>
              <a:rPr lang="en-US" altLang="ko-KR" sz="800" dirty="0"/>
              <a:t>;</a:t>
            </a:r>
            <a:endParaRPr lang="ko-KR" altLang="en-US" sz="7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DE9CF8-9A9D-CFE1-866F-003E0E67845A}"/>
              </a:ext>
            </a:extLst>
          </p:cNvPr>
          <p:cNvSpPr txBox="1"/>
          <p:nvPr/>
        </p:nvSpPr>
        <p:spPr>
          <a:xfrm>
            <a:off x="642248" y="6032562"/>
            <a:ext cx="3002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</a:t>
            </a:r>
            <a:r>
              <a:rPr lang="en-US" altLang="ko-KR" sz="800" dirty="0" err="1"/>
              <a:t>P.Pnumber</a:t>
            </a:r>
            <a:r>
              <a:rPr lang="en-US" altLang="ko-KR" sz="800" dirty="0"/>
              <a:t>, </a:t>
            </a:r>
            <a:r>
              <a:rPr lang="en-US" altLang="ko-KR" sz="800" dirty="0" err="1"/>
              <a:t>P.Pname</a:t>
            </a:r>
            <a:r>
              <a:rPr lang="en-US" altLang="ko-KR" sz="800" dirty="0"/>
              <a:t>, COUNT(</a:t>
            </a:r>
            <a:r>
              <a:rPr lang="en-US" altLang="ko-KR" sz="800" dirty="0" err="1"/>
              <a:t>W.EmpID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FROM Project AS P</a:t>
            </a:r>
          </a:p>
          <a:p>
            <a:r>
              <a:rPr lang="en-US" altLang="ko-KR" sz="800" dirty="0"/>
              <a:t>INNER JOIN </a:t>
            </a:r>
            <a:r>
              <a:rPr lang="en-US" altLang="ko-KR" sz="800" dirty="0" err="1"/>
              <a:t>Works_On</a:t>
            </a:r>
            <a:r>
              <a:rPr lang="en-US" altLang="ko-KR" sz="800" dirty="0"/>
              <a:t> AS W</a:t>
            </a:r>
          </a:p>
          <a:p>
            <a:r>
              <a:rPr lang="en-US" altLang="ko-KR" sz="800" dirty="0"/>
              <a:t>    ON </a:t>
            </a:r>
            <a:r>
              <a:rPr lang="en-US" altLang="ko-KR" sz="800" dirty="0" err="1"/>
              <a:t>P.Pnumber</a:t>
            </a:r>
            <a:r>
              <a:rPr lang="en-US" altLang="ko-KR" sz="800" dirty="0"/>
              <a:t> = </a:t>
            </a:r>
            <a:r>
              <a:rPr lang="en-US" altLang="ko-KR" sz="800" dirty="0" err="1"/>
              <a:t>W.Pno</a:t>
            </a:r>
            <a:endParaRPr lang="en-US" altLang="ko-KR" sz="800" dirty="0"/>
          </a:p>
          <a:p>
            <a:r>
              <a:rPr lang="en-US" altLang="ko-KR" sz="800" dirty="0"/>
              <a:t>GROUP BY </a:t>
            </a:r>
            <a:r>
              <a:rPr lang="en-US" altLang="ko-KR" sz="800" dirty="0" err="1"/>
              <a:t>P.Pnumber</a:t>
            </a:r>
            <a:r>
              <a:rPr lang="en-US" altLang="ko-KR" sz="800" dirty="0"/>
              <a:t>, </a:t>
            </a:r>
            <a:r>
              <a:rPr lang="en-US" altLang="ko-KR" sz="800" dirty="0" err="1"/>
              <a:t>P.Pname</a:t>
            </a:r>
            <a:endParaRPr lang="en-US" altLang="ko-KR" sz="800" dirty="0"/>
          </a:p>
          <a:p>
            <a:r>
              <a:rPr lang="en-US" altLang="ko-KR" sz="800" dirty="0"/>
              <a:t>HAVING COUNT(</a:t>
            </a:r>
            <a:r>
              <a:rPr lang="en-US" altLang="ko-KR" sz="800" dirty="0" err="1"/>
              <a:t>W.EmpID</a:t>
            </a:r>
            <a:r>
              <a:rPr lang="en-US" altLang="ko-KR" sz="800" dirty="0"/>
              <a:t>) &gt;= 2;</a:t>
            </a:r>
            <a:endParaRPr lang="ko-KR" alt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4314" y="1240713"/>
            <a:ext cx="2514765" cy="120263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75767" y="1223962"/>
            <a:ext cx="0" cy="1288415"/>
          </a:xfrm>
          <a:custGeom>
            <a:avLst/>
            <a:gdLst/>
            <a:ahLst/>
            <a:cxnLst/>
            <a:rect l="l" t="t" r="r" b="b"/>
            <a:pathLst>
              <a:path h="1288414">
                <a:moveTo>
                  <a:pt x="0" y="0"/>
                </a:moveTo>
                <a:lnTo>
                  <a:pt x="0" y="1287894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28808" y="1223962"/>
            <a:ext cx="0" cy="1288415"/>
          </a:xfrm>
          <a:custGeom>
            <a:avLst/>
            <a:gdLst/>
            <a:ahLst/>
            <a:cxnLst/>
            <a:rect l="l" t="t" r="r" b="b"/>
            <a:pathLst>
              <a:path h="1288414">
                <a:moveTo>
                  <a:pt x="0" y="0"/>
                </a:moveTo>
                <a:lnTo>
                  <a:pt x="0" y="1287894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4243" y="1223962"/>
            <a:ext cx="6408420" cy="1288415"/>
          </a:xfrm>
          <a:custGeom>
            <a:avLst/>
            <a:gdLst/>
            <a:ahLst/>
            <a:cxnLst/>
            <a:rect l="l" t="t" r="r" b="b"/>
            <a:pathLst>
              <a:path w="6408420" h="1288414">
                <a:moveTo>
                  <a:pt x="6404965" y="0"/>
                </a:moveTo>
                <a:lnTo>
                  <a:pt x="6404965" y="1287894"/>
                </a:lnTo>
              </a:path>
              <a:path w="6408420" h="1288414">
                <a:moveTo>
                  <a:pt x="0" y="0"/>
                </a:moveTo>
                <a:lnTo>
                  <a:pt x="6408013" y="0"/>
                </a:lnTo>
              </a:path>
              <a:path w="6408420" h="1288414">
                <a:moveTo>
                  <a:pt x="0" y="1287894"/>
                </a:moveTo>
                <a:lnTo>
                  <a:pt x="6408013" y="1287894"/>
                </a:lnTo>
              </a:path>
              <a:path w="6408420" h="1288414">
                <a:moveTo>
                  <a:pt x="6404965" y="0"/>
                </a:moveTo>
                <a:lnTo>
                  <a:pt x="6404965" y="1287894"/>
                </a:lnTo>
              </a:path>
              <a:path w="6408420" h="1288414">
                <a:moveTo>
                  <a:pt x="1523" y="0"/>
                </a:moveTo>
                <a:lnTo>
                  <a:pt x="1523" y="1287894"/>
                </a:lnTo>
              </a:path>
              <a:path w="6408420" h="1288414">
                <a:moveTo>
                  <a:pt x="0" y="1287894"/>
                </a:moveTo>
                <a:lnTo>
                  <a:pt x="6408013" y="1287894"/>
                </a:lnTo>
              </a:path>
              <a:path w="6408420" h="1288414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5635" y="3314128"/>
            <a:ext cx="1185037" cy="82661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75767" y="3295853"/>
            <a:ext cx="0" cy="913765"/>
          </a:xfrm>
          <a:custGeom>
            <a:avLst/>
            <a:gdLst/>
            <a:ahLst/>
            <a:cxnLst/>
            <a:rect l="l" t="t" r="r" b="b"/>
            <a:pathLst>
              <a:path h="913764">
                <a:moveTo>
                  <a:pt x="0" y="0"/>
                </a:moveTo>
                <a:lnTo>
                  <a:pt x="0" y="913396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80141" y="3295853"/>
            <a:ext cx="0" cy="913765"/>
          </a:xfrm>
          <a:custGeom>
            <a:avLst/>
            <a:gdLst/>
            <a:ahLst/>
            <a:cxnLst/>
            <a:rect l="l" t="t" r="r" b="b"/>
            <a:pathLst>
              <a:path h="913764">
                <a:moveTo>
                  <a:pt x="0" y="0"/>
                </a:moveTo>
                <a:lnTo>
                  <a:pt x="0" y="913396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243" y="3295853"/>
            <a:ext cx="6408420" cy="913765"/>
          </a:xfrm>
          <a:custGeom>
            <a:avLst/>
            <a:gdLst/>
            <a:ahLst/>
            <a:cxnLst/>
            <a:rect l="l" t="t" r="r" b="b"/>
            <a:pathLst>
              <a:path w="6408420" h="913764">
                <a:moveTo>
                  <a:pt x="6404965" y="0"/>
                </a:moveTo>
                <a:lnTo>
                  <a:pt x="6404965" y="913396"/>
                </a:lnTo>
              </a:path>
              <a:path w="6408420" h="913764">
                <a:moveTo>
                  <a:pt x="0" y="0"/>
                </a:moveTo>
                <a:lnTo>
                  <a:pt x="6408013" y="0"/>
                </a:lnTo>
              </a:path>
              <a:path w="6408420" h="913764">
                <a:moveTo>
                  <a:pt x="0" y="913396"/>
                </a:moveTo>
                <a:lnTo>
                  <a:pt x="6408013" y="913396"/>
                </a:lnTo>
              </a:path>
              <a:path w="6408420" h="913764">
                <a:moveTo>
                  <a:pt x="6404965" y="0"/>
                </a:moveTo>
                <a:lnTo>
                  <a:pt x="6404965" y="913396"/>
                </a:lnTo>
              </a:path>
              <a:path w="6408420" h="913764">
                <a:moveTo>
                  <a:pt x="1523" y="0"/>
                </a:moveTo>
                <a:lnTo>
                  <a:pt x="1523" y="913396"/>
                </a:lnTo>
              </a:path>
              <a:path w="6408420" h="913764">
                <a:moveTo>
                  <a:pt x="0" y="913396"/>
                </a:moveTo>
                <a:lnTo>
                  <a:pt x="6408013" y="913396"/>
                </a:lnTo>
              </a:path>
              <a:path w="6408420" h="913764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5635" y="6663258"/>
            <a:ext cx="1523174" cy="86012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575767" y="6644995"/>
            <a:ext cx="0" cy="947419"/>
          </a:xfrm>
          <a:custGeom>
            <a:avLst/>
            <a:gdLst/>
            <a:ahLst/>
            <a:cxnLst/>
            <a:rect l="l" t="t" r="r" b="b"/>
            <a:pathLst>
              <a:path h="947420">
                <a:moveTo>
                  <a:pt x="0" y="0"/>
                </a:moveTo>
                <a:lnTo>
                  <a:pt x="0" y="946886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80141" y="6644995"/>
            <a:ext cx="0" cy="947419"/>
          </a:xfrm>
          <a:custGeom>
            <a:avLst/>
            <a:gdLst/>
            <a:ahLst/>
            <a:cxnLst/>
            <a:rect l="l" t="t" r="r" b="b"/>
            <a:pathLst>
              <a:path h="947420">
                <a:moveTo>
                  <a:pt x="0" y="0"/>
                </a:moveTo>
                <a:lnTo>
                  <a:pt x="0" y="946886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4243" y="6644995"/>
            <a:ext cx="6408420" cy="947419"/>
          </a:xfrm>
          <a:custGeom>
            <a:avLst/>
            <a:gdLst/>
            <a:ahLst/>
            <a:cxnLst/>
            <a:rect l="l" t="t" r="r" b="b"/>
            <a:pathLst>
              <a:path w="6408420" h="947420">
                <a:moveTo>
                  <a:pt x="6404965" y="0"/>
                </a:moveTo>
                <a:lnTo>
                  <a:pt x="6404965" y="946886"/>
                </a:lnTo>
              </a:path>
              <a:path w="6408420" h="947420">
                <a:moveTo>
                  <a:pt x="0" y="0"/>
                </a:moveTo>
                <a:lnTo>
                  <a:pt x="6408013" y="0"/>
                </a:lnTo>
              </a:path>
              <a:path w="6408420" h="947420">
                <a:moveTo>
                  <a:pt x="0" y="946886"/>
                </a:moveTo>
                <a:lnTo>
                  <a:pt x="6408013" y="946886"/>
                </a:lnTo>
              </a:path>
              <a:path w="6408420" h="947420">
                <a:moveTo>
                  <a:pt x="6404965" y="0"/>
                </a:moveTo>
                <a:lnTo>
                  <a:pt x="6404965" y="946886"/>
                </a:lnTo>
              </a:path>
              <a:path w="6408420" h="947420">
                <a:moveTo>
                  <a:pt x="1523" y="0"/>
                </a:moveTo>
                <a:lnTo>
                  <a:pt x="1523" y="946886"/>
                </a:lnTo>
              </a:path>
              <a:path w="6408420" h="947420">
                <a:moveTo>
                  <a:pt x="0" y="946886"/>
                </a:moveTo>
                <a:lnTo>
                  <a:pt x="6408013" y="946886"/>
                </a:lnTo>
              </a:path>
              <a:path w="6408420" h="947420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45635" y="5073942"/>
            <a:ext cx="1469872" cy="65460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575767" y="4993259"/>
            <a:ext cx="0" cy="868044"/>
          </a:xfrm>
          <a:custGeom>
            <a:avLst/>
            <a:gdLst/>
            <a:ahLst/>
            <a:cxnLst/>
            <a:rect l="l" t="t" r="r" b="b"/>
            <a:pathLst>
              <a:path h="868045">
                <a:moveTo>
                  <a:pt x="0" y="0"/>
                </a:moveTo>
                <a:lnTo>
                  <a:pt x="0" y="867727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80141" y="4993259"/>
            <a:ext cx="0" cy="868044"/>
          </a:xfrm>
          <a:custGeom>
            <a:avLst/>
            <a:gdLst/>
            <a:ahLst/>
            <a:cxnLst/>
            <a:rect l="l" t="t" r="r" b="b"/>
            <a:pathLst>
              <a:path h="868045">
                <a:moveTo>
                  <a:pt x="0" y="0"/>
                </a:moveTo>
                <a:lnTo>
                  <a:pt x="0" y="867727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4243" y="4993259"/>
            <a:ext cx="6408420" cy="868044"/>
          </a:xfrm>
          <a:custGeom>
            <a:avLst/>
            <a:gdLst/>
            <a:ahLst/>
            <a:cxnLst/>
            <a:rect l="l" t="t" r="r" b="b"/>
            <a:pathLst>
              <a:path w="6408420" h="868045">
                <a:moveTo>
                  <a:pt x="6404965" y="0"/>
                </a:moveTo>
                <a:lnTo>
                  <a:pt x="6404965" y="867727"/>
                </a:lnTo>
              </a:path>
              <a:path w="6408420" h="868045">
                <a:moveTo>
                  <a:pt x="0" y="0"/>
                </a:moveTo>
                <a:lnTo>
                  <a:pt x="6408013" y="0"/>
                </a:lnTo>
              </a:path>
              <a:path w="6408420" h="868045">
                <a:moveTo>
                  <a:pt x="0" y="867727"/>
                </a:moveTo>
                <a:lnTo>
                  <a:pt x="6408013" y="867727"/>
                </a:lnTo>
              </a:path>
              <a:path w="6408420" h="868045">
                <a:moveTo>
                  <a:pt x="6404965" y="0"/>
                </a:moveTo>
                <a:lnTo>
                  <a:pt x="6404965" y="867727"/>
                </a:lnTo>
              </a:path>
              <a:path w="6408420" h="868045">
                <a:moveTo>
                  <a:pt x="1523" y="0"/>
                </a:moveTo>
                <a:lnTo>
                  <a:pt x="1523" y="867727"/>
                </a:lnTo>
              </a:path>
              <a:path w="6408420" h="868045">
                <a:moveTo>
                  <a:pt x="0" y="867727"/>
                </a:moveTo>
                <a:lnTo>
                  <a:pt x="6408013" y="867727"/>
                </a:lnTo>
              </a:path>
              <a:path w="6408420" h="86804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6503" y="622114"/>
            <a:ext cx="6502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200"/>
              </a:lnSpc>
              <a:spcBef>
                <a:spcPts val="100"/>
              </a:spcBef>
            </a:pPr>
            <a:r>
              <a:rPr sz="1200" spc="-35" dirty="0">
                <a:latin typeface="Malgun Gothic"/>
                <a:cs typeface="Malgun Gothic"/>
              </a:rPr>
              <a:t>33.</a:t>
            </a:r>
            <a:r>
              <a:rPr sz="1200" spc="19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각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프로젝트에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대해서</a:t>
            </a:r>
            <a:r>
              <a:rPr sz="1200" spc="19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번호,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</a:t>
            </a:r>
            <a:r>
              <a:rPr sz="1200" spc="19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그리고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부서번호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20" dirty="0">
                <a:latin typeface="Malgun Gothic"/>
                <a:cs typeface="Malgun Gothic"/>
              </a:rPr>
              <a:t>5번에서</a:t>
            </a:r>
            <a:r>
              <a:rPr sz="1200" spc="19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참여하는 </a:t>
            </a:r>
            <a:r>
              <a:rPr sz="1200" spc="-40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수를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26503" y="2695536"/>
            <a:ext cx="6502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200"/>
              </a:lnSpc>
              <a:spcBef>
                <a:spcPts val="100"/>
              </a:spcBef>
            </a:pPr>
            <a:r>
              <a:rPr sz="1200" spc="-35" dirty="0">
                <a:latin typeface="Malgun Gothic"/>
                <a:cs typeface="Malgun Gothic"/>
              </a:rPr>
              <a:t>34.</a:t>
            </a:r>
            <a:r>
              <a:rPr sz="1200" spc="32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부서별로</a:t>
            </a:r>
            <a:r>
              <a:rPr sz="1200" spc="32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급여가</a:t>
            </a:r>
            <a:r>
              <a:rPr sz="1200" spc="310" dirty="0">
                <a:latin typeface="Malgun Gothic"/>
                <a:cs typeface="Malgun Gothic"/>
              </a:rPr>
              <a:t> </a:t>
            </a:r>
            <a:r>
              <a:rPr sz="1200" spc="-65" dirty="0">
                <a:latin typeface="Malgun Gothic"/>
                <a:cs typeface="Malgun Gothic"/>
              </a:rPr>
              <a:t>30000</a:t>
            </a:r>
            <a:r>
              <a:rPr sz="1200" spc="-3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이상인</a:t>
            </a:r>
            <a:r>
              <a:rPr sz="1200" spc="3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32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수를</a:t>
            </a:r>
            <a:r>
              <a:rPr sz="1200" spc="3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부서번호와</a:t>
            </a:r>
            <a:r>
              <a:rPr sz="1200" spc="32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그런</a:t>
            </a:r>
            <a:r>
              <a:rPr sz="1200" spc="32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조건을</a:t>
            </a:r>
            <a:r>
              <a:rPr sz="1200" spc="3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만족하는</a:t>
            </a:r>
            <a:r>
              <a:rPr sz="1200" spc="32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 </a:t>
            </a:r>
            <a:r>
              <a:rPr sz="1200" spc="-409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수를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6503" y="4392941"/>
            <a:ext cx="65004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200"/>
              </a:lnSpc>
              <a:spcBef>
                <a:spcPts val="100"/>
              </a:spcBef>
            </a:pPr>
            <a:r>
              <a:rPr sz="1200" spc="-35" dirty="0">
                <a:latin typeface="Malgun Gothic"/>
                <a:cs typeface="Malgun Gothic"/>
              </a:rPr>
              <a:t>35.</a:t>
            </a:r>
            <a:r>
              <a:rPr sz="1200" spc="24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부서별로</a:t>
            </a:r>
            <a:r>
              <a:rPr sz="1200" spc="25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급여가</a:t>
            </a:r>
            <a:r>
              <a:rPr sz="1200" spc="254" dirty="0">
                <a:latin typeface="Malgun Gothic"/>
                <a:cs typeface="Malgun Gothic"/>
              </a:rPr>
              <a:t> </a:t>
            </a:r>
            <a:r>
              <a:rPr sz="1200" spc="-65" dirty="0">
                <a:latin typeface="Malgun Gothic"/>
                <a:cs typeface="Malgun Gothic"/>
              </a:rPr>
              <a:t>30000</a:t>
            </a:r>
            <a:r>
              <a:rPr sz="1200" spc="25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이상인</a:t>
            </a:r>
            <a:r>
              <a:rPr sz="1200" spc="25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사원을</a:t>
            </a:r>
            <a:r>
              <a:rPr sz="1200" spc="250" dirty="0">
                <a:latin typeface="Malgun Gothic"/>
                <a:cs typeface="Malgun Gothic"/>
              </a:rPr>
              <a:t> </a:t>
            </a:r>
            <a:r>
              <a:rPr sz="1200" spc="-35" dirty="0">
                <a:latin typeface="Malgun Gothic"/>
                <a:cs typeface="Malgun Gothic"/>
              </a:rPr>
              <a:t>2명</a:t>
            </a:r>
            <a:r>
              <a:rPr sz="1200" spc="25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이상</a:t>
            </a:r>
            <a:r>
              <a:rPr sz="1200" spc="25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갖고</a:t>
            </a:r>
            <a:r>
              <a:rPr sz="1200" spc="25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있는</a:t>
            </a:r>
            <a:r>
              <a:rPr sz="1200" spc="25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부서번호와</a:t>
            </a:r>
            <a:r>
              <a:rPr sz="1200" spc="24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그런</a:t>
            </a:r>
            <a:r>
              <a:rPr sz="1200" spc="25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25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수 </a:t>
            </a:r>
            <a:r>
              <a:rPr sz="1200" spc="-40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를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26503" y="6044676"/>
            <a:ext cx="65004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200"/>
              </a:lnSpc>
              <a:spcBef>
                <a:spcPts val="100"/>
              </a:spcBef>
            </a:pPr>
            <a:r>
              <a:rPr sz="1200" spc="-35" dirty="0">
                <a:latin typeface="Malgun Gothic"/>
                <a:cs typeface="Malgun Gothic"/>
              </a:rPr>
              <a:t>36.</a:t>
            </a:r>
            <a:r>
              <a:rPr sz="1200" spc="30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3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수가</a:t>
            </a:r>
            <a:r>
              <a:rPr sz="1200" spc="300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2명을</a:t>
            </a:r>
            <a:r>
              <a:rPr sz="1200" spc="3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초과하는</a:t>
            </a:r>
            <a:r>
              <a:rPr sz="1200" spc="30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부서에</a:t>
            </a:r>
            <a:r>
              <a:rPr sz="1200" spc="3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대해서</a:t>
            </a:r>
            <a:r>
              <a:rPr sz="1200" spc="30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</a:t>
            </a:r>
            <a:r>
              <a:rPr sz="1200" spc="3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부서에서</a:t>
            </a:r>
            <a:r>
              <a:rPr sz="1200" spc="3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급여가</a:t>
            </a:r>
            <a:r>
              <a:rPr sz="1200" spc="305" dirty="0">
                <a:latin typeface="Malgun Gothic"/>
                <a:cs typeface="Malgun Gothic"/>
              </a:rPr>
              <a:t> </a:t>
            </a:r>
            <a:r>
              <a:rPr sz="1200" spc="-65" dirty="0">
                <a:latin typeface="Malgun Gothic"/>
                <a:cs typeface="Malgun Gothic"/>
              </a:rPr>
              <a:t>30000</a:t>
            </a:r>
            <a:r>
              <a:rPr sz="1200" spc="-3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이상인</a:t>
            </a:r>
            <a:r>
              <a:rPr sz="1200" spc="30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 </a:t>
            </a:r>
            <a:r>
              <a:rPr sz="1200" spc="-409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수를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B713F5-98F6-F884-B9F5-B63C70BCD185}"/>
              </a:ext>
            </a:extLst>
          </p:cNvPr>
          <p:cNvSpPr txBox="1"/>
          <p:nvPr/>
        </p:nvSpPr>
        <p:spPr>
          <a:xfrm>
            <a:off x="641273" y="1303423"/>
            <a:ext cx="30027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</a:t>
            </a:r>
            <a:r>
              <a:rPr lang="en-US" altLang="ko-KR" sz="800" dirty="0" err="1"/>
              <a:t>P.Pnumber</a:t>
            </a:r>
            <a:r>
              <a:rPr lang="en-US" altLang="ko-KR" sz="800" dirty="0"/>
              <a:t>, </a:t>
            </a:r>
          </a:p>
          <a:p>
            <a:r>
              <a:rPr lang="en-US" altLang="ko-KR" sz="800" dirty="0"/>
              <a:t>       </a:t>
            </a:r>
            <a:r>
              <a:rPr lang="en-US" altLang="ko-KR" sz="800" dirty="0" err="1"/>
              <a:t>P.Pname</a:t>
            </a:r>
            <a:r>
              <a:rPr lang="en-US" altLang="ko-KR" sz="800" dirty="0"/>
              <a:t>, </a:t>
            </a:r>
          </a:p>
          <a:p>
            <a:r>
              <a:rPr lang="en-US" altLang="ko-KR" sz="800" dirty="0"/>
              <a:t>       COUNT(</a:t>
            </a:r>
            <a:r>
              <a:rPr lang="en-US" altLang="ko-KR" sz="800" dirty="0" err="1"/>
              <a:t>W.EmpID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FROM Project AS P</a:t>
            </a:r>
          </a:p>
          <a:p>
            <a:r>
              <a:rPr lang="en-US" altLang="ko-KR" sz="800" dirty="0"/>
              <a:t>INNER JOIN </a:t>
            </a:r>
            <a:r>
              <a:rPr lang="en-US" altLang="ko-KR" sz="800" dirty="0" err="1"/>
              <a:t>Works_On</a:t>
            </a:r>
            <a:r>
              <a:rPr lang="en-US" altLang="ko-KR" sz="800" dirty="0"/>
              <a:t> AS W</a:t>
            </a:r>
          </a:p>
          <a:p>
            <a:r>
              <a:rPr lang="en-US" altLang="ko-KR" sz="800" dirty="0"/>
              <a:t>    ON </a:t>
            </a:r>
            <a:r>
              <a:rPr lang="en-US" altLang="ko-KR" sz="800" dirty="0" err="1"/>
              <a:t>P.Pnumber</a:t>
            </a:r>
            <a:r>
              <a:rPr lang="en-US" altLang="ko-KR" sz="800" dirty="0"/>
              <a:t> = </a:t>
            </a:r>
            <a:r>
              <a:rPr lang="en-US" altLang="ko-KR" sz="800" dirty="0" err="1"/>
              <a:t>W.Pno</a:t>
            </a:r>
            <a:endParaRPr lang="en-US" altLang="ko-KR" sz="800" dirty="0"/>
          </a:p>
          <a:p>
            <a:r>
              <a:rPr lang="en-US" altLang="ko-KR" sz="800" dirty="0"/>
              <a:t>GROUP BY </a:t>
            </a:r>
            <a:r>
              <a:rPr lang="en-US" altLang="ko-KR" sz="800" dirty="0" err="1"/>
              <a:t>P.Pnumber</a:t>
            </a:r>
            <a:r>
              <a:rPr lang="en-US" altLang="ko-KR" sz="800" dirty="0"/>
              <a:t>, </a:t>
            </a:r>
            <a:r>
              <a:rPr lang="en-US" altLang="ko-KR" sz="800" dirty="0" err="1"/>
              <a:t>P.Pname</a:t>
            </a:r>
            <a:endParaRPr lang="en-US" altLang="ko-KR" sz="800" dirty="0"/>
          </a:p>
          <a:p>
            <a:r>
              <a:rPr lang="en-US" altLang="ko-KR" sz="800" dirty="0"/>
              <a:t>HAVING COUNT(</a:t>
            </a:r>
            <a:r>
              <a:rPr lang="en-US" altLang="ko-KR" sz="800" dirty="0" err="1"/>
              <a:t>W.EmpID</a:t>
            </a:r>
            <a:r>
              <a:rPr lang="en-US" altLang="ko-KR" sz="800" dirty="0"/>
              <a:t>) &gt;= 2;</a:t>
            </a:r>
            <a:endParaRPr lang="ko-KR" altLang="en-US" sz="7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BA3B44-4C5C-BF8F-46DA-F26A5EBFF87E}"/>
              </a:ext>
            </a:extLst>
          </p:cNvPr>
          <p:cNvSpPr txBox="1"/>
          <p:nvPr/>
        </p:nvSpPr>
        <p:spPr>
          <a:xfrm>
            <a:off x="641261" y="3224037"/>
            <a:ext cx="30027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</a:t>
            </a:r>
            <a:r>
              <a:rPr lang="en-US" altLang="ko-KR" sz="800" dirty="0" err="1"/>
              <a:t>P.Pnumber</a:t>
            </a:r>
            <a:r>
              <a:rPr lang="en-US" altLang="ko-KR" sz="800" dirty="0"/>
              <a:t>, </a:t>
            </a:r>
            <a:r>
              <a:rPr lang="en-US" altLang="ko-KR" sz="800" dirty="0" err="1"/>
              <a:t>P.Pname</a:t>
            </a:r>
            <a:r>
              <a:rPr lang="en-US" altLang="ko-KR" sz="800" dirty="0"/>
              <a:t>, COUNT(E.ID)</a:t>
            </a:r>
          </a:p>
          <a:p>
            <a:r>
              <a:rPr lang="en-US" altLang="ko-KR" sz="800" dirty="0"/>
              <a:t>FROM Project AS P</a:t>
            </a:r>
          </a:p>
          <a:p>
            <a:r>
              <a:rPr lang="en-US" altLang="ko-KR" sz="800" dirty="0"/>
              <a:t>INNER JOIN </a:t>
            </a:r>
            <a:r>
              <a:rPr lang="en-US" altLang="ko-KR" sz="800" dirty="0" err="1"/>
              <a:t>Works_On</a:t>
            </a:r>
            <a:r>
              <a:rPr lang="en-US" altLang="ko-KR" sz="800" dirty="0"/>
              <a:t> AS W</a:t>
            </a:r>
          </a:p>
          <a:p>
            <a:r>
              <a:rPr lang="en-US" altLang="ko-KR" sz="800" dirty="0"/>
              <a:t>    ON </a:t>
            </a:r>
            <a:r>
              <a:rPr lang="en-US" altLang="ko-KR" sz="800" dirty="0" err="1"/>
              <a:t>P.Pnumber</a:t>
            </a:r>
            <a:r>
              <a:rPr lang="en-US" altLang="ko-KR" sz="800" dirty="0"/>
              <a:t> = </a:t>
            </a:r>
            <a:r>
              <a:rPr lang="en-US" altLang="ko-KR" sz="800" dirty="0" err="1"/>
              <a:t>W.Pno</a:t>
            </a:r>
            <a:endParaRPr lang="en-US" altLang="ko-KR" sz="800" dirty="0"/>
          </a:p>
          <a:p>
            <a:r>
              <a:rPr lang="en-US" altLang="ko-KR" sz="800" dirty="0"/>
              <a:t>INNER JOIN Employee AS E</a:t>
            </a:r>
          </a:p>
          <a:p>
            <a:r>
              <a:rPr lang="en-US" altLang="ko-KR" sz="800" dirty="0"/>
              <a:t>    ON </a:t>
            </a:r>
            <a:r>
              <a:rPr lang="en-US" altLang="ko-KR" sz="800" dirty="0" err="1"/>
              <a:t>W.EmpID</a:t>
            </a:r>
            <a:r>
              <a:rPr lang="en-US" altLang="ko-KR" sz="800" dirty="0"/>
              <a:t> = E.ID</a:t>
            </a:r>
          </a:p>
          <a:p>
            <a:r>
              <a:rPr lang="en-US" altLang="ko-KR" sz="800" dirty="0"/>
              <a:t>WHERE </a:t>
            </a:r>
            <a:r>
              <a:rPr lang="en-US" altLang="ko-KR" sz="800" dirty="0" err="1"/>
              <a:t>E.Dno</a:t>
            </a:r>
            <a:r>
              <a:rPr lang="en-US" altLang="ko-KR" sz="800" dirty="0"/>
              <a:t> = 5</a:t>
            </a:r>
          </a:p>
          <a:p>
            <a:r>
              <a:rPr lang="en-US" altLang="ko-KR" sz="800" dirty="0"/>
              <a:t>GROUP BY </a:t>
            </a:r>
            <a:r>
              <a:rPr lang="en-US" altLang="ko-KR" sz="800" dirty="0" err="1"/>
              <a:t>P.Pnumber</a:t>
            </a:r>
            <a:r>
              <a:rPr lang="en-US" altLang="ko-KR" sz="800" dirty="0"/>
              <a:t>, </a:t>
            </a:r>
            <a:r>
              <a:rPr lang="en-US" altLang="ko-KR" sz="800" dirty="0" err="1"/>
              <a:t>P.Pname</a:t>
            </a:r>
            <a:r>
              <a:rPr lang="en-US" altLang="ko-KR" sz="800" dirty="0"/>
              <a:t>;</a:t>
            </a:r>
            <a:endParaRPr lang="ko-KR" altLang="en-US" sz="7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F0CEDF-7CEB-8059-0B06-6390FDC597B9}"/>
              </a:ext>
            </a:extLst>
          </p:cNvPr>
          <p:cNvSpPr txBox="1"/>
          <p:nvPr/>
        </p:nvSpPr>
        <p:spPr>
          <a:xfrm>
            <a:off x="548093" y="5110783"/>
            <a:ext cx="3002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</a:t>
            </a:r>
            <a:r>
              <a:rPr lang="en-US" altLang="ko-KR" sz="800" dirty="0" err="1"/>
              <a:t>Dno</a:t>
            </a:r>
            <a:r>
              <a:rPr lang="en-US" altLang="ko-KR" sz="800" dirty="0"/>
              <a:t>, COUNT(*)</a:t>
            </a:r>
          </a:p>
          <a:p>
            <a:r>
              <a:rPr lang="en-US" altLang="ko-KR" sz="800" dirty="0"/>
              <a:t>FROM Employee</a:t>
            </a:r>
          </a:p>
          <a:p>
            <a:r>
              <a:rPr lang="en-US" altLang="ko-KR" sz="800" dirty="0"/>
              <a:t>WHERE Salary &gt;= 30000</a:t>
            </a:r>
          </a:p>
          <a:p>
            <a:r>
              <a:rPr lang="en-US" altLang="ko-KR" sz="800" dirty="0"/>
              <a:t>GROUP BY </a:t>
            </a:r>
            <a:r>
              <a:rPr lang="en-US" altLang="ko-KR" sz="800" dirty="0" err="1"/>
              <a:t>Dno</a:t>
            </a:r>
            <a:endParaRPr lang="en-US" altLang="ko-KR" sz="800" dirty="0"/>
          </a:p>
          <a:p>
            <a:r>
              <a:rPr lang="en-US" altLang="ko-KR" sz="800" dirty="0"/>
              <a:t>HAVING COUNT(*) &gt;= 2;</a:t>
            </a:r>
            <a:endParaRPr lang="ko-KR" alt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1201" y="1240701"/>
            <a:ext cx="2894037" cy="82815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75767" y="1223962"/>
            <a:ext cx="0" cy="913765"/>
          </a:xfrm>
          <a:custGeom>
            <a:avLst/>
            <a:gdLst/>
            <a:ahLst/>
            <a:cxnLst/>
            <a:rect l="l" t="t" r="r" b="b"/>
            <a:pathLst>
              <a:path h="913764">
                <a:moveTo>
                  <a:pt x="0" y="0"/>
                </a:moveTo>
                <a:lnTo>
                  <a:pt x="0" y="913396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57218" y="1223962"/>
            <a:ext cx="0" cy="913765"/>
          </a:xfrm>
          <a:custGeom>
            <a:avLst/>
            <a:gdLst/>
            <a:ahLst/>
            <a:cxnLst/>
            <a:rect l="l" t="t" r="r" b="b"/>
            <a:pathLst>
              <a:path h="913764">
                <a:moveTo>
                  <a:pt x="0" y="0"/>
                </a:moveTo>
                <a:lnTo>
                  <a:pt x="0" y="913396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4243" y="1223962"/>
            <a:ext cx="6408420" cy="913765"/>
          </a:xfrm>
          <a:custGeom>
            <a:avLst/>
            <a:gdLst/>
            <a:ahLst/>
            <a:cxnLst/>
            <a:rect l="l" t="t" r="r" b="b"/>
            <a:pathLst>
              <a:path w="6408420" h="913764">
                <a:moveTo>
                  <a:pt x="6404965" y="0"/>
                </a:moveTo>
                <a:lnTo>
                  <a:pt x="6404965" y="913396"/>
                </a:lnTo>
              </a:path>
              <a:path w="6408420" h="913764">
                <a:moveTo>
                  <a:pt x="0" y="0"/>
                </a:moveTo>
                <a:lnTo>
                  <a:pt x="6408013" y="0"/>
                </a:lnTo>
              </a:path>
              <a:path w="6408420" h="913764">
                <a:moveTo>
                  <a:pt x="0" y="913396"/>
                </a:moveTo>
                <a:lnTo>
                  <a:pt x="6408013" y="913396"/>
                </a:lnTo>
              </a:path>
              <a:path w="6408420" h="913764">
                <a:moveTo>
                  <a:pt x="6404965" y="0"/>
                </a:moveTo>
                <a:lnTo>
                  <a:pt x="6404965" y="913396"/>
                </a:lnTo>
              </a:path>
              <a:path w="6408420" h="913764">
                <a:moveTo>
                  <a:pt x="1523" y="0"/>
                </a:moveTo>
                <a:lnTo>
                  <a:pt x="1523" y="913396"/>
                </a:lnTo>
              </a:path>
              <a:path w="6408420" h="913764">
                <a:moveTo>
                  <a:pt x="0" y="913396"/>
                </a:moveTo>
                <a:lnTo>
                  <a:pt x="6408013" y="913396"/>
                </a:lnTo>
              </a:path>
              <a:path w="6408420" h="913764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6431" y="2939630"/>
            <a:ext cx="2226894" cy="89361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75767" y="2921355"/>
            <a:ext cx="0" cy="982344"/>
          </a:xfrm>
          <a:custGeom>
            <a:avLst/>
            <a:gdLst/>
            <a:ahLst/>
            <a:cxnLst/>
            <a:rect l="l" t="t" r="r" b="b"/>
            <a:pathLst>
              <a:path h="982345">
                <a:moveTo>
                  <a:pt x="0" y="0"/>
                </a:moveTo>
                <a:lnTo>
                  <a:pt x="0" y="981913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40937" y="2921355"/>
            <a:ext cx="0" cy="982344"/>
          </a:xfrm>
          <a:custGeom>
            <a:avLst/>
            <a:gdLst/>
            <a:ahLst/>
            <a:cxnLst/>
            <a:rect l="l" t="t" r="r" b="b"/>
            <a:pathLst>
              <a:path h="982345">
                <a:moveTo>
                  <a:pt x="0" y="0"/>
                </a:moveTo>
                <a:lnTo>
                  <a:pt x="0" y="981913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243" y="2921355"/>
            <a:ext cx="6408420" cy="982344"/>
          </a:xfrm>
          <a:custGeom>
            <a:avLst/>
            <a:gdLst/>
            <a:ahLst/>
            <a:cxnLst/>
            <a:rect l="l" t="t" r="r" b="b"/>
            <a:pathLst>
              <a:path w="6408420" h="982345">
                <a:moveTo>
                  <a:pt x="6404965" y="0"/>
                </a:moveTo>
                <a:lnTo>
                  <a:pt x="6404965" y="981913"/>
                </a:lnTo>
              </a:path>
              <a:path w="6408420" h="982345">
                <a:moveTo>
                  <a:pt x="0" y="0"/>
                </a:moveTo>
                <a:lnTo>
                  <a:pt x="6408013" y="0"/>
                </a:lnTo>
              </a:path>
              <a:path w="6408420" h="982345">
                <a:moveTo>
                  <a:pt x="0" y="981913"/>
                </a:moveTo>
                <a:lnTo>
                  <a:pt x="6408013" y="981913"/>
                </a:lnTo>
              </a:path>
              <a:path w="6408420" h="982345">
                <a:moveTo>
                  <a:pt x="6404965" y="0"/>
                </a:moveTo>
                <a:lnTo>
                  <a:pt x="6404965" y="981913"/>
                </a:lnTo>
              </a:path>
              <a:path w="6408420" h="982345">
                <a:moveTo>
                  <a:pt x="1523" y="0"/>
                </a:moveTo>
                <a:lnTo>
                  <a:pt x="1523" y="981913"/>
                </a:lnTo>
              </a:path>
              <a:path w="6408420" h="982345">
                <a:moveTo>
                  <a:pt x="0" y="981913"/>
                </a:moveTo>
                <a:lnTo>
                  <a:pt x="6408013" y="981913"/>
                </a:lnTo>
              </a:path>
              <a:path w="6408420" h="98234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6431" y="4516767"/>
            <a:ext cx="2498013" cy="669823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575767" y="4443691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216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40937" y="4443691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216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4243" y="4443691"/>
            <a:ext cx="6408420" cy="866775"/>
          </a:xfrm>
          <a:custGeom>
            <a:avLst/>
            <a:gdLst/>
            <a:ahLst/>
            <a:cxnLst/>
            <a:rect l="l" t="t" r="r" b="b"/>
            <a:pathLst>
              <a:path w="6408420" h="866775">
                <a:moveTo>
                  <a:pt x="6404965" y="0"/>
                </a:moveTo>
                <a:lnTo>
                  <a:pt x="6404965" y="866216"/>
                </a:lnTo>
              </a:path>
              <a:path w="6408420" h="866775">
                <a:moveTo>
                  <a:pt x="0" y="0"/>
                </a:moveTo>
                <a:lnTo>
                  <a:pt x="6408013" y="0"/>
                </a:lnTo>
              </a:path>
              <a:path w="6408420" h="866775">
                <a:moveTo>
                  <a:pt x="0" y="866216"/>
                </a:moveTo>
                <a:lnTo>
                  <a:pt x="6408013" y="866216"/>
                </a:lnTo>
              </a:path>
              <a:path w="6408420" h="866775">
                <a:moveTo>
                  <a:pt x="6404965" y="0"/>
                </a:moveTo>
                <a:lnTo>
                  <a:pt x="6404965" y="866216"/>
                </a:lnTo>
              </a:path>
              <a:path w="6408420" h="866775">
                <a:moveTo>
                  <a:pt x="1523" y="0"/>
                </a:moveTo>
                <a:lnTo>
                  <a:pt x="1523" y="866216"/>
                </a:lnTo>
              </a:path>
              <a:path w="6408420" h="866775">
                <a:moveTo>
                  <a:pt x="0" y="866216"/>
                </a:moveTo>
                <a:lnTo>
                  <a:pt x="6408013" y="866216"/>
                </a:lnTo>
              </a:path>
              <a:path w="6408420" h="86677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94314" y="6355753"/>
            <a:ext cx="2820923" cy="81443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575767" y="6339001"/>
            <a:ext cx="0" cy="901700"/>
          </a:xfrm>
          <a:custGeom>
            <a:avLst/>
            <a:gdLst/>
            <a:ahLst/>
            <a:cxnLst/>
            <a:rect l="l" t="t" r="r" b="b"/>
            <a:pathLst>
              <a:path h="901700">
                <a:moveTo>
                  <a:pt x="0" y="0"/>
                </a:moveTo>
                <a:lnTo>
                  <a:pt x="0" y="901217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28808" y="6339001"/>
            <a:ext cx="0" cy="901700"/>
          </a:xfrm>
          <a:custGeom>
            <a:avLst/>
            <a:gdLst/>
            <a:ahLst/>
            <a:cxnLst/>
            <a:rect l="l" t="t" r="r" b="b"/>
            <a:pathLst>
              <a:path h="901700">
                <a:moveTo>
                  <a:pt x="0" y="0"/>
                </a:moveTo>
                <a:lnTo>
                  <a:pt x="0" y="901217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4243" y="6339001"/>
            <a:ext cx="6408420" cy="901700"/>
          </a:xfrm>
          <a:custGeom>
            <a:avLst/>
            <a:gdLst/>
            <a:ahLst/>
            <a:cxnLst/>
            <a:rect l="l" t="t" r="r" b="b"/>
            <a:pathLst>
              <a:path w="6408420" h="901700">
                <a:moveTo>
                  <a:pt x="6404965" y="0"/>
                </a:moveTo>
                <a:lnTo>
                  <a:pt x="6404965" y="901217"/>
                </a:lnTo>
              </a:path>
              <a:path w="6408420" h="901700">
                <a:moveTo>
                  <a:pt x="0" y="0"/>
                </a:moveTo>
                <a:lnTo>
                  <a:pt x="6408013" y="0"/>
                </a:lnTo>
              </a:path>
              <a:path w="6408420" h="901700">
                <a:moveTo>
                  <a:pt x="0" y="901217"/>
                </a:moveTo>
                <a:lnTo>
                  <a:pt x="6408013" y="901217"/>
                </a:lnTo>
              </a:path>
              <a:path w="6408420" h="901700">
                <a:moveTo>
                  <a:pt x="6404965" y="0"/>
                </a:moveTo>
                <a:lnTo>
                  <a:pt x="6404965" y="901217"/>
                </a:lnTo>
              </a:path>
              <a:path w="6408420" h="901700">
                <a:moveTo>
                  <a:pt x="1523" y="0"/>
                </a:moveTo>
                <a:lnTo>
                  <a:pt x="1523" y="901217"/>
                </a:lnTo>
              </a:path>
              <a:path w="6408420" h="901700">
                <a:moveTo>
                  <a:pt x="0" y="901217"/>
                </a:moveTo>
                <a:lnTo>
                  <a:pt x="6408013" y="901217"/>
                </a:lnTo>
              </a:path>
              <a:path w="6408420" h="901700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6503" y="622114"/>
            <a:ext cx="6502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200"/>
              </a:lnSpc>
              <a:spcBef>
                <a:spcPts val="100"/>
              </a:spcBef>
            </a:pPr>
            <a:r>
              <a:rPr sz="1200" spc="-35" dirty="0">
                <a:latin typeface="Malgun Gothic"/>
                <a:cs typeface="Malgun Gothic"/>
              </a:rPr>
              <a:t>37.</a:t>
            </a:r>
            <a:r>
              <a:rPr sz="1200" spc="2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수가</a:t>
            </a:r>
            <a:r>
              <a:rPr sz="1200" spc="215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2명을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초과하는</a:t>
            </a:r>
            <a:r>
              <a:rPr sz="1200" spc="2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부서에</a:t>
            </a:r>
            <a:r>
              <a:rPr sz="1200" spc="2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대해서</a:t>
            </a:r>
            <a:r>
              <a:rPr sz="1200" spc="2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부서번호,</a:t>
            </a:r>
            <a:r>
              <a:rPr sz="1200" spc="2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부서이름,</a:t>
            </a:r>
            <a:r>
              <a:rPr sz="1200" spc="2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그리고</a:t>
            </a:r>
            <a:r>
              <a:rPr sz="1200" spc="2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부서에서</a:t>
            </a:r>
            <a:r>
              <a:rPr sz="1200" spc="22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급 </a:t>
            </a:r>
            <a:r>
              <a:rPr sz="1200" spc="-40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여가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65" dirty="0">
                <a:latin typeface="Malgun Gothic"/>
                <a:cs typeface="Malgun Gothic"/>
              </a:rPr>
              <a:t>30000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이상인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수를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26503" y="2321041"/>
            <a:ext cx="65017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33200"/>
              </a:lnSpc>
              <a:spcBef>
                <a:spcPts val="100"/>
              </a:spcBef>
            </a:pPr>
            <a:r>
              <a:rPr sz="1200" spc="-35" dirty="0">
                <a:latin typeface="Malgun Gothic"/>
                <a:cs typeface="Malgun Gothic"/>
              </a:rPr>
              <a:t>38.</a:t>
            </a:r>
            <a:r>
              <a:rPr sz="1200" spc="21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자신이</a:t>
            </a:r>
            <a:r>
              <a:rPr sz="1200" spc="2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속한</a:t>
            </a:r>
            <a:r>
              <a:rPr sz="1200" spc="2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부서의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사원들의평균</a:t>
            </a:r>
            <a:r>
              <a:rPr sz="1200" spc="22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급여보다</a:t>
            </a:r>
            <a:r>
              <a:rPr sz="1200" spc="2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많은</a:t>
            </a:r>
            <a:r>
              <a:rPr sz="1200" spc="22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급여를</a:t>
            </a:r>
            <a:r>
              <a:rPr sz="1200" spc="204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받는</a:t>
            </a:r>
            <a:r>
              <a:rPr sz="1200" spc="2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사원들의</a:t>
            </a:r>
            <a:r>
              <a:rPr sz="1200" spc="220" dirty="0">
                <a:latin typeface="Malgun Gothic"/>
                <a:cs typeface="Malgun Gothic"/>
              </a:rPr>
              <a:t> </a:t>
            </a:r>
            <a:r>
              <a:rPr sz="1200" spc="5" dirty="0">
                <a:latin typeface="Malgun Gothic"/>
                <a:cs typeface="Malgun Gothic"/>
              </a:rPr>
              <a:t>이름,</a:t>
            </a:r>
            <a:r>
              <a:rPr sz="1200" spc="2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부서번호, </a:t>
            </a:r>
            <a:r>
              <a:rPr sz="1200" spc="-409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급여를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26503" y="4146322"/>
            <a:ext cx="466915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39.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직속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상사가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없는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이름과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소속부서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이름을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26503" y="5493590"/>
            <a:ext cx="650240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marR="5080" indent="-266700" algn="just">
              <a:lnSpc>
                <a:spcPct val="133200"/>
              </a:lnSpc>
              <a:spcBef>
                <a:spcPts val="100"/>
              </a:spcBef>
            </a:pPr>
            <a:r>
              <a:rPr sz="1200" spc="-35" dirty="0">
                <a:latin typeface="Malgun Gothic"/>
                <a:cs typeface="Malgun Gothic"/>
              </a:rPr>
              <a:t>40. 2명 </a:t>
            </a:r>
            <a:r>
              <a:rPr sz="1200" spc="-5" dirty="0">
                <a:latin typeface="Malgun Gothic"/>
                <a:cs typeface="Malgun Gothic"/>
              </a:rPr>
              <a:t>이상의 사원이 </a:t>
            </a:r>
            <a:r>
              <a:rPr sz="1200" spc="-35" dirty="0">
                <a:latin typeface="Malgun Gothic"/>
                <a:cs typeface="Malgun Gothic"/>
              </a:rPr>
              <a:t>20시간 </a:t>
            </a:r>
            <a:r>
              <a:rPr sz="1200" spc="-5" dirty="0">
                <a:latin typeface="Malgun Gothic"/>
                <a:cs typeface="Malgun Gothic"/>
              </a:rPr>
              <a:t>이상씩 참여하는 프로젝트에 대해서 프로젝트 </a:t>
            </a:r>
            <a:r>
              <a:rPr sz="1200" spc="5" dirty="0">
                <a:latin typeface="Malgun Gothic"/>
                <a:cs typeface="Malgun Gothic"/>
              </a:rPr>
              <a:t>번호, </a:t>
            </a:r>
            <a:r>
              <a:rPr sz="1200" spc="-5" dirty="0">
                <a:latin typeface="Malgun Gothic"/>
                <a:cs typeface="Malgun Gothic"/>
              </a:rPr>
              <a:t>프로젝트 </a:t>
            </a:r>
            <a:r>
              <a:rPr sz="120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 그리고</a:t>
            </a:r>
            <a:r>
              <a:rPr sz="120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참여 사원의 수를</a:t>
            </a:r>
            <a:r>
              <a:rPr sz="120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검색하여 참여</a:t>
            </a:r>
            <a:r>
              <a:rPr sz="120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 수가 작은</a:t>
            </a:r>
            <a:r>
              <a:rPr sz="1200" spc="409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프로젝트부터 오름차순 </a:t>
            </a:r>
            <a:r>
              <a:rPr sz="120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으로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출력하시오.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59D9BC-FC7F-3376-BC6E-D5B4B0207FFD}"/>
              </a:ext>
            </a:extLst>
          </p:cNvPr>
          <p:cNvSpPr txBox="1"/>
          <p:nvPr/>
        </p:nvSpPr>
        <p:spPr>
          <a:xfrm>
            <a:off x="639991" y="4529633"/>
            <a:ext cx="3002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</a:t>
            </a:r>
            <a:r>
              <a:rPr lang="en-US" altLang="ko-KR" sz="800" dirty="0" err="1"/>
              <a:t>E.Fname</a:t>
            </a:r>
            <a:r>
              <a:rPr lang="en-US" altLang="ko-KR" sz="800" dirty="0"/>
              <a:t>, </a:t>
            </a:r>
            <a:r>
              <a:rPr lang="en-US" altLang="ko-KR" sz="800" dirty="0" err="1"/>
              <a:t>E.Lname</a:t>
            </a:r>
            <a:r>
              <a:rPr lang="en-US" altLang="ko-KR" sz="800" dirty="0"/>
              <a:t>, </a:t>
            </a:r>
            <a:r>
              <a:rPr lang="en-US" altLang="ko-KR" sz="800" dirty="0" err="1"/>
              <a:t>D.Dname</a:t>
            </a:r>
            <a:endParaRPr lang="en-US" altLang="ko-KR" sz="800" dirty="0"/>
          </a:p>
          <a:p>
            <a:r>
              <a:rPr lang="en-US" altLang="ko-KR" sz="800" dirty="0"/>
              <a:t>FROM Employee AS E</a:t>
            </a:r>
          </a:p>
          <a:p>
            <a:r>
              <a:rPr lang="en-US" altLang="ko-KR" sz="800" dirty="0"/>
              <a:t>INNER JOIN Department AS D</a:t>
            </a:r>
          </a:p>
          <a:p>
            <a:r>
              <a:rPr lang="en-US" altLang="ko-KR" sz="800" dirty="0"/>
              <a:t>    ON </a:t>
            </a:r>
            <a:r>
              <a:rPr lang="en-US" altLang="ko-KR" sz="800" dirty="0" err="1"/>
              <a:t>E.Dno</a:t>
            </a:r>
            <a:r>
              <a:rPr lang="en-US" altLang="ko-KR" sz="800" dirty="0"/>
              <a:t> = </a:t>
            </a:r>
            <a:r>
              <a:rPr lang="en-US" altLang="ko-KR" sz="800" dirty="0" err="1"/>
              <a:t>D.Dnumber</a:t>
            </a:r>
            <a:endParaRPr lang="en-US" altLang="ko-KR" sz="800" dirty="0"/>
          </a:p>
          <a:p>
            <a:r>
              <a:rPr lang="en-US" altLang="ko-KR" sz="800" dirty="0"/>
              <a:t>WHERE </a:t>
            </a:r>
            <a:r>
              <a:rPr lang="en-US" altLang="ko-KR" sz="800" dirty="0" err="1"/>
              <a:t>E.Super_ID</a:t>
            </a:r>
            <a:r>
              <a:rPr lang="en-US" altLang="ko-KR" sz="800" dirty="0"/>
              <a:t> IS NULL;</a:t>
            </a:r>
            <a:endParaRPr lang="ko-KR" altLang="en-US" sz="7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25FF66-1C02-70F7-F6ED-BB9A64497A68}"/>
              </a:ext>
            </a:extLst>
          </p:cNvPr>
          <p:cNvSpPr txBox="1"/>
          <p:nvPr/>
        </p:nvSpPr>
        <p:spPr>
          <a:xfrm>
            <a:off x="526503" y="2894072"/>
            <a:ext cx="30027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E1.Fname , E1.Lname, E1.Dno, E1.Salary</a:t>
            </a:r>
          </a:p>
          <a:p>
            <a:r>
              <a:rPr lang="en-US" altLang="ko-KR" sz="800" dirty="0"/>
              <a:t>FROM Employee AS E1</a:t>
            </a:r>
          </a:p>
          <a:p>
            <a:r>
              <a:rPr lang="en-US" altLang="ko-KR" sz="800" dirty="0"/>
              <a:t>WHERE E1.Salary &gt; (</a:t>
            </a:r>
          </a:p>
          <a:p>
            <a:r>
              <a:rPr lang="en-US" altLang="ko-KR" sz="800" dirty="0"/>
              <a:t>    SELECT AVG(E2.Salary)</a:t>
            </a:r>
          </a:p>
          <a:p>
            <a:r>
              <a:rPr lang="en-US" altLang="ko-KR" sz="800" dirty="0"/>
              <a:t>    FROM Employee AS E2</a:t>
            </a:r>
          </a:p>
          <a:p>
            <a:r>
              <a:rPr lang="en-US" altLang="ko-KR" sz="800" dirty="0"/>
              <a:t>    WHERE E2.Dno = E1.Dno</a:t>
            </a:r>
          </a:p>
          <a:p>
            <a:r>
              <a:rPr lang="en-US" altLang="ko-KR" sz="800" dirty="0"/>
              <a:t>)</a:t>
            </a:r>
          </a:p>
          <a:p>
            <a:r>
              <a:rPr lang="en-US" altLang="ko-KR" sz="800" dirty="0"/>
              <a:t>ORDER BY E1.Dno;</a:t>
            </a:r>
            <a:endParaRPr lang="ko-KR" alt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9341" y="1510157"/>
            <a:ext cx="2820936" cy="7307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75767" y="1467535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203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65371" y="1467535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203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4243" y="1467535"/>
            <a:ext cx="6408420" cy="866775"/>
          </a:xfrm>
          <a:custGeom>
            <a:avLst/>
            <a:gdLst/>
            <a:ahLst/>
            <a:cxnLst/>
            <a:rect l="l" t="t" r="r" b="b"/>
            <a:pathLst>
              <a:path w="6408420" h="866775">
                <a:moveTo>
                  <a:pt x="6404965" y="0"/>
                </a:moveTo>
                <a:lnTo>
                  <a:pt x="6404965" y="866203"/>
                </a:lnTo>
              </a:path>
              <a:path w="6408420" h="866775">
                <a:moveTo>
                  <a:pt x="0" y="0"/>
                </a:moveTo>
                <a:lnTo>
                  <a:pt x="6408013" y="0"/>
                </a:lnTo>
              </a:path>
              <a:path w="6408420" h="866775">
                <a:moveTo>
                  <a:pt x="0" y="866203"/>
                </a:moveTo>
                <a:lnTo>
                  <a:pt x="6408013" y="866203"/>
                </a:lnTo>
              </a:path>
              <a:path w="6408420" h="866775">
                <a:moveTo>
                  <a:pt x="6404965" y="0"/>
                </a:moveTo>
                <a:lnTo>
                  <a:pt x="6404965" y="866203"/>
                </a:lnTo>
              </a:path>
              <a:path w="6408420" h="866775">
                <a:moveTo>
                  <a:pt x="1523" y="0"/>
                </a:moveTo>
                <a:lnTo>
                  <a:pt x="1523" y="866203"/>
                </a:lnTo>
              </a:path>
              <a:path w="6408420" h="866775">
                <a:moveTo>
                  <a:pt x="0" y="866203"/>
                </a:moveTo>
                <a:lnTo>
                  <a:pt x="6408013" y="866203"/>
                </a:lnTo>
              </a:path>
              <a:path w="6408420" h="86677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5635" y="2982252"/>
            <a:ext cx="2569603" cy="60131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75767" y="2875686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216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80141" y="2875686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216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243" y="2875686"/>
            <a:ext cx="6408420" cy="866775"/>
          </a:xfrm>
          <a:custGeom>
            <a:avLst/>
            <a:gdLst/>
            <a:ahLst/>
            <a:cxnLst/>
            <a:rect l="l" t="t" r="r" b="b"/>
            <a:pathLst>
              <a:path w="6408420" h="866775">
                <a:moveTo>
                  <a:pt x="6404965" y="0"/>
                </a:moveTo>
                <a:lnTo>
                  <a:pt x="6404965" y="866216"/>
                </a:lnTo>
              </a:path>
              <a:path w="6408420" h="866775">
                <a:moveTo>
                  <a:pt x="0" y="0"/>
                </a:moveTo>
                <a:lnTo>
                  <a:pt x="6408013" y="0"/>
                </a:lnTo>
              </a:path>
              <a:path w="6408420" h="866775">
                <a:moveTo>
                  <a:pt x="0" y="866216"/>
                </a:moveTo>
                <a:lnTo>
                  <a:pt x="6408013" y="866216"/>
                </a:lnTo>
              </a:path>
              <a:path w="6408420" h="866775">
                <a:moveTo>
                  <a:pt x="6404965" y="0"/>
                </a:moveTo>
                <a:lnTo>
                  <a:pt x="6404965" y="866216"/>
                </a:lnTo>
              </a:path>
              <a:path w="6408420" h="866775">
                <a:moveTo>
                  <a:pt x="1523" y="0"/>
                </a:moveTo>
                <a:lnTo>
                  <a:pt x="1523" y="866216"/>
                </a:lnTo>
              </a:path>
              <a:path w="6408420" h="866775">
                <a:moveTo>
                  <a:pt x="0" y="866216"/>
                </a:moveTo>
                <a:lnTo>
                  <a:pt x="6408013" y="866216"/>
                </a:lnTo>
              </a:path>
              <a:path w="6408420" h="86677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5635" y="4678133"/>
            <a:ext cx="2569603" cy="514553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575767" y="4525898"/>
            <a:ext cx="0" cy="868044"/>
          </a:xfrm>
          <a:custGeom>
            <a:avLst/>
            <a:gdLst/>
            <a:ahLst/>
            <a:cxnLst/>
            <a:rect l="l" t="t" r="r" b="b"/>
            <a:pathLst>
              <a:path h="868045">
                <a:moveTo>
                  <a:pt x="0" y="0"/>
                </a:moveTo>
                <a:lnTo>
                  <a:pt x="0" y="867727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80141" y="4525898"/>
            <a:ext cx="0" cy="868044"/>
          </a:xfrm>
          <a:custGeom>
            <a:avLst/>
            <a:gdLst/>
            <a:ahLst/>
            <a:cxnLst/>
            <a:rect l="l" t="t" r="r" b="b"/>
            <a:pathLst>
              <a:path h="868045">
                <a:moveTo>
                  <a:pt x="0" y="0"/>
                </a:moveTo>
                <a:lnTo>
                  <a:pt x="0" y="867727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4243" y="4525898"/>
            <a:ext cx="6408420" cy="868044"/>
          </a:xfrm>
          <a:custGeom>
            <a:avLst/>
            <a:gdLst/>
            <a:ahLst/>
            <a:cxnLst/>
            <a:rect l="l" t="t" r="r" b="b"/>
            <a:pathLst>
              <a:path w="6408420" h="868045">
                <a:moveTo>
                  <a:pt x="6404965" y="0"/>
                </a:moveTo>
                <a:lnTo>
                  <a:pt x="6404965" y="867727"/>
                </a:lnTo>
              </a:path>
              <a:path w="6408420" h="868045">
                <a:moveTo>
                  <a:pt x="0" y="0"/>
                </a:moveTo>
                <a:lnTo>
                  <a:pt x="6408013" y="0"/>
                </a:lnTo>
              </a:path>
              <a:path w="6408420" h="868045">
                <a:moveTo>
                  <a:pt x="0" y="867727"/>
                </a:moveTo>
                <a:lnTo>
                  <a:pt x="6408013" y="867727"/>
                </a:lnTo>
              </a:path>
              <a:path w="6408420" h="868045">
                <a:moveTo>
                  <a:pt x="6404965" y="0"/>
                </a:moveTo>
                <a:lnTo>
                  <a:pt x="6404965" y="867727"/>
                </a:lnTo>
              </a:path>
              <a:path w="6408420" h="868045">
                <a:moveTo>
                  <a:pt x="1523" y="0"/>
                </a:moveTo>
                <a:lnTo>
                  <a:pt x="1523" y="867727"/>
                </a:lnTo>
              </a:path>
              <a:path w="6408420" h="868045">
                <a:moveTo>
                  <a:pt x="0" y="867727"/>
                </a:moveTo>
                <a:lnTo>
                  <a:pt x="6408013" y="867727"/>
                </a:lnTo>
              </a:path>
              <a:path w="6408420" h="868045">
                <a:moveTo>
                  <a:pt x="0" y="0"/>
                </a:moveTo>
                <a:lnTo>
                  <a:pt x="6408013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26503" y="622114"/>
            <a:ext cx="650240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marR="5080" indent="-266700" algn="just">
              <a:lnSpc>
                <a:spcPct val="133200"/>
              </a:lnSpc>
              <a:spcBef>
                <a:spcPts val="100"/>
              </a:spcBef>
            </a:pPr>
            <a:r>
              <a:rPr sz="1200" spc="-35" dirty="0">
                <a:latin typeface="Malgun Gothic"/>
                <a:cs typeface="Malgun Gothic"/>
              </a:rPr>
              <a:t>41. </a:t>
            </a:r>
            <a:r>
              <a:rPr sz="1200" spc="-5" dirty="0">
                <a:latin typeface="Malgun Gothic"/>
                <a:cs typeface="Malgun Gothic"/>
              </a:rPr>
              <a:t>소속 부서의 평균 연봉보다 많은 연봉을 받는 직원의 소속 </a:t>
            </a:r>
            <a:r>
              <a:rPr sz="1200" dirty="0">
                <a:latin typeface="Malgun Gothic"/>
                <a:cs typeface="Malgun Gothic"/>
              </a:rPr>
              <a:t>부서번호, </a:t>
            </a:r>
            <a:r>
              <a:rPr sz="1200" spc="-5" dirty="0">
                <a:latin typeface="Malgun Gothic"/>
                <a:cs typeface="Malgun Gothic"/>
              </a:rPr>
              <a:t>소속 </a:t>
            </a:r>
            <a:r>
              <a:rPr sz="1200" dirty="0">
                <a:latin typeface="Malgun Gothic"/>
                <a:cs typeface="Malgun Gothic"/>
              </a:rPr>
              <a:t>부서이름, </a:t>
            </a:r>
            <a:r>
              <a:rPr sz="1200" spc="-5" dirty="0">
                <a:latin typeface="Malgun Gothic"/>
                <a:cs typeface="Malgun Gothic"/>
              </a:rPr>
              <a:t>사 </a:t>
            </a:r>
            <a:r>
              <a:rPr sz="1200" dirty="0">
                <a:latin typeface="Malgun Gothic"/>
                <a:cs typeface="Malgun Gothic"/>
              </a:rPr>
              <a:t> </a:t>
            </a:r>
            <a:r>
              <a:rPr sz="1200" spc="15" dirty="0">
                <a:latin typeface="Malgun Gothic"/>
                <a:cs typeface="Malgun Gothic"/>
              </a:rPr>
              <a:t>원이름(Fname, </a:t>
            </a:r>
            <a:r>
              <a:rPr sz="1200" spc="20" dirty="0">
                <a:latin typeface="Malgun Gothic"/>
                <a:cs typeface="Malgun Gothic"/>
              </a:rPr>
              <a:t>Lname), </a:t>
            </a:r>
            <a:r>
              <a:rPr sz="1200" spc="-5" dirty="0">
                <a:latin typeface="Malgun Gothic"/>
                <a:cs typeface="Malgun Gothic"/>
              </a:rPr>
              <a:t>그리고 연봉을 </a:t>
            </a:r>
            <a:r>
              <a:rPr sz="1200" spc="-35" dirty="0">
                <a:latin typeface="Malgun Gothic"/>
                <a:cs typeface="Malgun Gothic"/>
              </a:rPr>
              <a:t>2명</a:t>
            </a:r>
            <a:r>
              <a:rPr sz="1200" spc="35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부서번호의 내림차순으로 같은 부서번호에 </a:t>
            </a:r>
            <a:r>
              <a:rPr sz="120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서는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10" dirty="0">
                <a:latin typeface="Malgun Gothic"/>
                <a:cs typeface="Malgun Gothic"/>
              </a:rPr>
              <a:t>Lname의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오름차순으로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출력하시오.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26503" y="2578316"/>
            <a:ext cx="642048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Malgun Gothic"/>
                <a:cs typeface="Malgun Gothic"/>
              </a:rPr>
              <a:t>42.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부양가족이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있는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평균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연봉과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부양가족이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없는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18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평균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연봉을</a:t>
            </a:r>
            <a:r>
              <a:rPr sz="1200" spc="18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26503" y="3925583"/>
            <a:ext cx="6502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>
              <a:lnSpc>
                <a:spcPct val="133200"/>
              </a:lnSpc>
              <a:spcBef>
                <a:spcPts val="100"/>
              </a:spcBef>
            </a:pPr>
            <a:r>
              <a:rPr sz="1200" spc="-35" dirty="0">
                <a:latin typeface="Malgun Gothic"/>
                <a:cs typeface="Malgun Gothic"/>
              </a:rPr>
              <a:t>43.</a:t>
            </a:r>
            <a:r>
              <a:rPr sz="1200" spc="-3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</a:t>
            </a:r>
            <a:r>
              <a:rPr sz="120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중에서</a:t>
            </a:r>
            <a:r>
              <a:rPr sz="1200" dirty="0">
                <a:latin typeface="Malgun Gothic"/>
                <a:cs typeface="Malgun Gothic"/>
              </a:rPr>
              <a:t> </a:t>
            </a:r>
            <a:r>
              <a:rPr sz="1200" spc="-40" dirty="0">
                <a:latin typeface="Malgun Gothic"/>
                <a:cs typeface="Malgun Gothic"/>
              </a:rPr>
              <a:t>1982년생의</a:t>
            </a:r>
            <a:r>
              <a:rPr sz="1200" spc="-3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부양가족이</a:t>
            </a:r>
            <a:r>
              <a:rPr sz="120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있는</a:t>
            </a:r>
            <a:r>
              <a:rPr sz="1200" spc="409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사원의</a:t>
            </a:r>
            <a:r>
              <a:rPr sz="1200" spc="409" dirty="0">
                <a:latin typeface="Malgun Gothic"/>
                <a:cs typeface="Malgun Gothic"/>
              </a:rPr>
              <a:t> </a:t>
            </a:r>
            <a:r>
              <a:rPr sz="1200" spc="20" dirty="0">
                <a:latin typeface="Malgun Gothic"/>
                <a:cs typeface="Malgun Gothic"/>
              </a:rPr>
              <a:t>이름(Fname, Lname)과 </a:t>
            </a:r>
            <a:r>
              <a:rPr sz="1200" spc="-5" dirty="0">
                <a:latin typeface="Malgun Gothic"/>
                <a:cs typeface="Malgun Gothic"/>
              </a:rPr>
              <a:t>부양</a:t>
            </a:r>
            <a:r>
              <a:rPr sz="1200" spc="41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가족의 </a:t>
            </a:r>
            <a:r>
              <a:rPr sz="1200" spc="-409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이름</a:t>
            </a:r>
            <a:r>
              <a:rPr sz="1200" spc="17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그리고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부양가족의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생년월일을</a:t>
            </a:r>
            <a:r>
              <a:rPr sz="1200" spc="17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검색하시오.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2EFD2C-E416-6F5D-8C8D-C6D2EB503FC5}"/>
              </a:ext>
            </a:extLst>
          </p:cNvPr>
          <p:cNvSpPr txBox="1"/>
          <p:nvPr/>
        </p:nvSpPr>
        <p:spPr>
          <a:xfrm>
            <a:off x="578917" y="4581466"/>
            <a:ext cx="3002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</a:t>
            </a:r>
            <a:r>
              <a:rPr lang="en-US" altLang="ko-KR" sz="800" dirty="0" err="1"/>
              <a:t>E.Fname</a:t>
            </a:r>
            <a:r>
              <a:rPr lang="en-US" altLang="ko-KR" sz="800" dirty="0"/>
              <a:t>, </a:t>
            </a:r>
            <a:r>
              <a:rPr lang="en-US" altLang="ko-KR" sz="800" dirty="0" err="1"/>
              <a:t>E.Lname</a:t>
            </a:r>
            <a:r>
              <a:rPr lang="en-US" altLang="ko-KR" sz="800" dirty="0"/>
              <a:t>, </a:t>
            </a:r>
            <a:r>
              <a:rPr lang="en-US" altLang="ko-KR" sz="800" dirty="0" err="1"/>
              <a:t>D.DepName</a:t>
            </a:r>
            <a:r>
              <a:rPr lang="en-US" altLang="ko-KR" sz="800" dirty="0"/>
              <a:t>, </a:t>
            </a:r>
            <a:r>
              <a:rPr lang="en-US" altLang="ko-KR" sz="800" dirty="0" err="1"/>
              <a:t>D.Bdate</a:t>
            </a:r>
            <a:endParaRPr lang="en-US" altLang="ko-KR" sz="800" dirty="0"/>
          </a:p>
          <a:p>
            <a:r>
              <a:rPr lang="en-US" altLang="ko-KR" sz="800" dirty="0"/>
              <a:t>FROM Employee AS E</a:t>
            </a:r>
          </a:p>
          <a:p>
            <a:r>
              <a:rPr lang="en-US" altLang="ko-KR" sz="800" dirty="0"/>
              <a:t>INNER JOIN Dependent AS D</a:t>
            </a:r>
          </a:p>
          <a:p>
            <a:r>
              <a:rPr lang="en-US" altLang="ko-KR" sz="800" dirty="0"/>
              <a:t>    ON E.ID = </a:t>
            </a:r>
            <a:r>
              <a:rPr lang="en-US" altLang="ko-KR" sz="800" dirty="0" err="1"/>
              <a:t>D.EmpID</a:t>
            </a:r>
            <a:endParaRPr lang="en-US" altLang="ko-KR" sz="800" dirty="0"/>
          </a:p>
          <a:p>
            <a:r>
              <a:rPr lang="en-US" altLang="ko-KR" sz="800" dirty="0"/>
              <a:t>WHERE YEAR(</a:t>
            </a:r>
            <a:r>
              <a:rPr lang="en-US" altLang="ko-KR" sz="800" dirty="0" err="1"/>
              <a:t>D.Bdate</a:t>
            </a:r>
            <a:r>
              <a:rPr lang="en-US" altLang="ko-KR" sz="800" dirty="0"/>
              <a:t>) = 1982;</a:t>
            </a:r>
            <a:endParaRPr lang="ko-KR" alt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2031</Words>
  <Application>Microsoft Office PowerPoint</Application>
  <PresentationFormat>사용자 지정</PresentationFormat>
  <Paragraphs>232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Malgun Gothic</vt:lpstr>
      <vt:lpstr>Calibri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노동주</cp:lastModifiedBy>
  <cp:revision>3</cp:revision>
  <dcterms:created xsi:type="dcterms:W3CDTF">2024-11-27T08:23:19Z</dcterms:created>
  <dcterms:modified xsi:type="dcterms:W3CDTF">2024-12-10T14:06:29Z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Call PDF</vt:lpwstr>
  </property>
</Properties>
</file>