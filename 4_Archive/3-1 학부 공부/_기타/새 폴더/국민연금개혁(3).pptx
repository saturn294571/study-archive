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83" r:id="rId2"/>
    <p:sldId id="362" r:id="rId3"/>
    <p:sldId id="364" r:id="rId4"/>
    <p:sldId id="47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1358" autoAdjust="0"/>
  </p:normalViewPr>
  <p:slideViewPr>
    <p:cSldViewPr snapToGrid="0">
      <p:cViewPr varScale="1">
        <p:scale>
          <a:sx n="48" d="100"/>
          <a:sy n="48" d="100"/>
        </p:scale>
        <p:origin x="67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77661-FE46-4541-B7ED-8A6E64BC87E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F7F65-8B86-4CDE-B57F-22FFC168F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48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보험료인상 </a:t>
            </a:r>
            <a:r>
              <a:rPr lang="en-US" altLang="ko-KR" dirty="0"/>
              <a:t>-&gt; </a:t>
            </a:r>
          </a:p>
          <a:p>
            <a:r>
              <a:rPr lang="ko-KR" altLang="en-US" dirty="0"/>
              <a:t>소득대체율 </a:t>
            </a:r>
            <a:r>
              <a:rPr lang="en-US" altLang="ko-KR" dirty="0"/>
              <a:t>– </a:t>
            </a:r>
            <a:r>
              <a:rPr lang="ko-KR" altLang="en-US" dirty="0"/>
              <a:t>한국이 </a:t>
            </a:r>
            <a:r>
              <a:rPr lang="en-US" altLang="ko-KR" dirty="0"/>
              <a:t>OECD</a:t>
            </a:r>
            <a:r>
              <a:rPr lang="ko-KR" altLang="en-US" dirty="0"/>
              <a:t>보다 낮음</a:t>
            </a:r>
            <a:endParaRPr lang="en-US" altLang="ko-KR" dirty="0"/>
          </a:p>
          <a:p>
            <a:r>
              <a:rPr lang="ko-KR" altLang="en-US" dirty="0"/>
              <a:t>공적연금제도 </a:t>
            </a:r>
            <a:r>
              <a:rPr lang="en-US" altLang="ko-KR" dirty="0"/>
              <a:t>– </a:t>
            </a:r>
            <a:r>
              <a:rPr lang="ko-KR" altLang="en-US" dirty="0"/>
              <a:t>상한</a:t>
            </a:r>
            <a:endParaRPr lang="en-US" altLang="ko-KR" dirty="0"/>
          </a:p>
          <a:p>
            <a:r>
              <a:rPr lang="ko-KR" altLang="en-US" dirty="0"/>
              <a:t>국민연금 </a:t>
            </a:r>
            <a:r>
              <a:rPr lang="en-US" altLang="ko-KR" dirty="0"/>
              <a:t>&amp; </a:t>
            </a:r>
            <a:r>
              <a:rPr lang="ko-KR" altLang="en-US" dirty="0"/>
              <a:t>공적연금 초과해서 개혁</a:t>
            </a:r>
            <a:endParaRPr lang="en-US" altLang="ko-KR" dirty="0"/>
          </a:p>
          <a:p>
            <a:r>
              <a:rPr lang="ko-KR" altLang="en-US" dirty="0"/>
              <a:t>연금 보험료율과 소득대체율을 조정</a:t>
            </a:r>
            <a:endParaRPr lang="en-US" altLang="ko-KR" dirty="0"/>
          </a:p>
          <a:p>
            <a:r>
              <a:rPr lang="ko-KR" altLang="en-US" dirty="0"/>
              <a:t>정규직 비정규직 </a:t>
            </a:r>
            <a:r>
              <a:rPr lang="en-US" altLang="ko-KR" dirty="0"/>
              <a:t>– </a:t>
            </a:r>
            <a:r>
              <a:rPr lang="ko-KR" altLang="en-US" dirty="0"/>
              <a:t>국민연금 가입비율 차이가 남 </a:t>
            </a:r>
            <a:r>
              <a:rPr lang="en-US" altLang="ko-KR" dirty="0"/>
              <a:t>;  </a:t>
            </a:r>
            <a:r>
              <a:rPr lang="ko-KR" altLang="en-US" dirty="0"/>
              <a:t>자영업자의 가입유도</a:t>
            </a:r>
            <a:r>
              <a:rPr lang="en-US" altLang="ko-KR" dirty="0"/>
              <a:t>; </a:t>
            </a:r>
            <a:r>
              <a:rPr lang="ko-KR" altLang="en-US" dirty="0"/>
              <a:t>자영업자가 가입시 정부보조</a:t>
            </a:r>
            <a:endParaRPr lang="en-US" altLang="ko-KR" dirty="0"/>
          </a:p>
          <a:p>
            <a:r>
              <a:rPr lang="ko-KR" altLang="en-US" dirty="0"/>
              <a:t>국민연금의 사각지대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F7F65-8B86-4CDE-B57F-22FFC168F42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109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ko-KR" altLang="en-US" dirty="0"/>
              <a:t>고용형태의 변화 </a:t>
            </a:r>
            <a:r>
              <a:rPr lang="en-US" altLang="ko-KR" dirty="0"/>
              <a:t>– </a:t>
            </a:r>
            <a:r>
              <a:rPr lang="ko-KR" altLang="en-US" dirty="0"/>
              <a:t>기존사회보험이 포괄하지 못하던 부분을 </a:t>
            </a:r>
            <a:r>
              <a:rPr lang="ko-KR" altLang="en-US" dirty="0" err="1"/>
              <a:t>해결하고자함</a:t>
            </a:r>
            <a:endParaRPr lang="en-US" altLang="ko-KR" dirty="0"/>
          </a:p>
          <a:p>
            <a:pPr marL="228600" indent="-228600">
              <a:buAutoNum type="arabicParenR"/>
            </a:pPr>
            <a:r>
              <a:rPr lang="ko-KR" altLang="en-US" dirty="0"/>
              <a:t>자영업 </a:t>
            </a:r>
            <a:r>
              <a:rPr lang="en-US" altLang="ko-KR" dirty="0"/>
              <a:t>– </a:t>
            </a:r>
            <a:r>
              <a:rPr lang="ko-KR" altLang="en-US" dirty="0"/>
              <a:t>소득세를 더 </a:t>
            </a:r>
            <a:r>
              <a:rPr lang="ko-KR" altLang="en-US" dirty="0" err="1"/>
              <a:t>내야할</a:t>
            </a:r>
            <a:r>
              <a:rPr lang="ko-KR" altLang="en-US" dirty="0"/>
              <a:t> 수도 있으므로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F7F65-8B86-4CDE-B57F-22FFC168F42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40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FAF2C-76EC-42B3-9BE2-EBD06D15DF13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75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29A70-94E5-4C15-921E-96ED75DEACC2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24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B8C83-39F5-4493-859D-FA157FA10550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996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26E5-29E8-44E7-A77B-2D84990B0957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33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68B7-92B2-4CE3-B62B-C013CEC0586D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83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4703B-A50F-4810-B1CF-16531B730851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0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7A622-A71E-4121-97B6-EA3976D5682C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132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67CD-2412-4C50-80D3-46F87600A0B3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79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B430C-54BD-47D2-BB3A-DD6F78011368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03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536C-AD49-4011-84B8-845F621C329D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03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8548E-E8F1-45F9-BCC3-369FFA7F47E2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43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F3DEF-8A08-4CC8-9728-0C468FC9BA8E}" type="datetime1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F1B64-5049-4CF3-ACDA-2C910E8C7E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82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810"/>
          </a:xfrm>
          <a:solidFill>
            <a:srgbClr val="0062AC"/>
          </a:solidFill>
        </p:spPr>
        <p:txBody>
          <a:bodyPr>
            <a:norm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사회보험의</a:t>
            </a:r>
            <a:r>
              <a:rPr lang="en-US" altLang="ko-KR" sz="2800" b="1" dirty="0">
                <a:solidFill>
                  <a:schemeClr val="bg1"/>
                </a:solidFill>
              </a:rPr>
              <a:t> </a:t>
            </a:r>
            <a:r>
              <a:rPr lang="ko-KR" altLang="en-US" sz="2800" b="1" dirty="0">
                <a:solidFill>
                  <a:schemeClr val="bg1"/>
                </a:solidFill>
              </a:rPr>
              <a:t>사각지대와 국제비교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17144" y="5124653"/>
            <a:ext cx="491104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주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1: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전체 근로자 평균임금의 배수로 측정한 연금보험료 적용 상한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1.33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배는</a:t>
            </a: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OECD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회원국 가운데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6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번째로 낮은 수준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   2: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소득대체율의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3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유형은 </a:t>
            </a:r>
            <a:r>
              <a:rPr kumimoji="0" lang="ko-KR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남자근로자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 평균임금의 배수임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.</a:t>
            </a:r>
            <a:endParaRPr kumimoji="0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자료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 OECD Pension at a Glance 2023.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017144" y="1986430"/>
          <a:ext cx="4787756" cy="3058180"/>
        </p:xfrm>
        <a:graphic>
          <a:graphicData uri="http://schemas.openxmlformats.org/drawingml/2006/table">
            <a:tbl>
              <a:tblPr/>
              <a:tblGrid>
                <a:gridCol w="683965">
                  <a:extLst>
                    <a:ext uri="{9D8B030D-6E8A-4147-A177-3AD203B41FA5}">
                      <a16:colId xmlns:a16="http://schemas.microsoft.com/office/drawing/2014/main" val="1555937657"/>
                    </a:ext>
                  </a:extLst>
                </a:gridCol>
                <a:gridCol w="651667">
                  <a:extLst>
                    <a:ext uri="{9D8B030D-6E8A-4147-A177-3AD203B41FA5}">
                      <a16:colId xmlns:a16="http://schemas.microsoft.com/office/drawing/2014/main" val="3337049456"/>
                    </a:ext>
                  </a:extLst>
                </a:gridCol>
                <a:gridCol w="651667">
                  <a:extLst>
                    <a:ext uri="{9D8B030D-6E8A-4147-A177-3AD203B41FA5}">
                      <a16:colId xmlns:a16="http://schemas.microsoft.com/office/drawing/2014/main" val="3509606965"/>
                    </a:ext>
                  </a:extLst>
                </a:gridCol>
                <a:gridCol w="651667">
                  <a:extLst>
                    <a:ext uri="{9D8B030D-6E8A-4147-A177-3AD203B41FA5}">
                      <a16:colId xmlns:a16="http://schemas.microsoft.com/office/drawing/2014/main" val="1101292"/>
                    </a:ext>
                  </a:extLst>
                </a:gridCol>
                <a:gridCol w="651667">
                  <a:extLst>
                    <a:ext uri="{9D8B030D-6E8A-4147-A177-3AD203B41FA5}">
                      <a16:colId xmlns:a16="http://schemas.microsoft.com/office/drawing/2014/main" val="3831772717"/>
                    </a:ext>
                  </a:extLst>
                </a:gridCol>
                <a:gridCol w="651667">
                  <a:extLst>
                    <a:ext uri="{9D8B030D-6E8A-4147-A177-3AD203B41FA5}">
                      <a16:colId xmlns:a16="http://schemas.microsoft.com/office/drawing/2014/main" val="3720585011"/>
                    </a:ext>
                  </a:extLst>
                </a:gridCol>
                <a:gridCol w="845456">
                  <a:extLst>
                    <a:ext uri="{9D8B030D-6E8A-4147-A177-3AD203B41FA5}">
                      <a16:colId xmlns:a16="http://schemas.microsoft.com/office/drawing/2014/main" val="1405264086"/>
                    </a:ext>
                  </a:extLst>
                </a:gridCol>
              </a:tblGrid>
              <a:tr h="76454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보험료율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소득대체율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적용소득 상한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005876"/>
                  </a:ext>
                </a:extLst>
              </a:tr>
              <a:tr h="7645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종업원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고용주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배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1.0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배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1.5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배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019486"/>
                  </a:ext>
                </a:extLst>
              </a:tr>
              <a:tr h="7645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한국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4.5%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4.5%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47.6%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31.2%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18.8%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1.33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배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615935"/>
                  </a:ext>
                </a:extLst>
              </a:tr>
              <a:tr h="7645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OECD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6.3%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9.1%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56.3%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42.3%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33.5%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353735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6030928" y="1986433"/>
          <a:ext cx="5198728" cy="3058180"/>
        </p:xfrm>
        <a:graphic>
          <a:graphicData uri="http://schemas.openxmlformats.org/drawingml/2006/table">
            <a:tbl>
              <a:tblPr/>
              <a:tblGrid>
                <a:gridCol w="1299682">
                  <a:extLst>
                    <a:ext uri="{9D8B030D-6E8A-4147-A177-3AD203B41FA5}">
                      <a16:colId xmlns:a16="http://schemas.microsoft.com/office/drawing/2014/main" val="673451257"/>
                    </a:ext>
                  </a:extLst>
                </a:gridCol>
                <a:gridCol w="1299682">
                  <a:extLst>
                    <a:ext uri="{9D8B030D-6E8A-4147-A177-3AD203B41FA5}">
                      <a16:colId xmlns:a16="http://schemas.microsoft.com/office/drawing/2014/main" val="3379942970"/>
                    </a:ext>
                  </a:extLst>
                </a:gridCol>
                <a:gridCol w="1299682">
                  <a:extLst>
                    <a:ext uri="{9D8B030D-6E8A-4147-A177-3AD203B41FA5}">
                      <a16:colId xmlns:a16="http://schemas.microsoft.com/office/drawing/2014/main" val="3896351626"/>
                    </a:ext>
                  </a:extLst>
                </a:gridCol>
                <a:gridCol w="1299682">
                  <a:extLst>
                    <a:ext uri="{9D8B030D-6E8A-4147-A177-3AD203B41FA5}">
                      <a16:colId xmlns:a16="http://schemas.microsoft.com/office/drawing/2014/main" val="89516934"/>
                    </a:ext>
                  </a:extLst>
                </a:gridCol>
              </a:tblGrid>
              <a:tr h="440156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국민연금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직장가입자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건강보험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직장가입자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고용보험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452757"/>
                  </a:ext>
                </a:extLst>
              </a:tr>
              <a:tr h="32725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임금근로자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443698"/>
                  </a:ext>
                </a:extLst>
              </a:tr>
              <a:tr h="32725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정규직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05840"/>
                  </a:ext>
                </a:extLst>
              </a:tr>
              <a:tr h="32725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비정규직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037231"/>
                  </a:ext>
                </a:extLst>
              </a:tr>
              <a:tr h="32725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한시적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0366691"/>
                  </a:ext>
                </a:extLst>
              </a:tr>
              <a:tr h="32725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기간제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49.0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600522"/>
                  </a:ext>
                </a:extLst>
              </a:tr>
              <a:tr h="32725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비기간제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110651"/>
                  </a:ext>
                </a:extLst>
              </a:tr>
              <a:tr h="32725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시간제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32.4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816563"/>
                  </a:ext>
                </a:extLst>
              </a:tr>
              <a:tr h="327253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비전형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746351"/>
                  </a:ext>
                </a:extLst>
              </a:tr>
            </a:tbl>
          </a:graphicData>
        </a:graphic>
      </p:graphicFrame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5977860" y="5161097"/>
            <a:ext cx="491104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자료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: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통계청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경제활동인구조사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2023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년 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8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월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3267" y="1602769"/>
            <a:ext cx="399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근로형태별</a:t>
            </a:r>
            <a:r>
              <a:rPr lang="ko-KR" altLang="en-US" dirty="0"/>
              <a:t> 사회보험 가입자 비율</a:t>
            </a:r>
            <a:r>
              <a:rPr lang="en-US" altLang="ko-KR" dirty="0"/>
              <a:t>(%)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253447" y="1613043"/>
            <a:ext cx="3945277" cy="373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공적연금의</a:t>
            </a:r>
            <a:r>
              <a:rPr lang="ko-KR" altLang="en-US" dirty="0"/>
              <a:t> 국제비교</a:t>
            </a:r>
          </a:p>
        </p:txBody>
      </p:sp>
    </p:spTree>
    <p:extLst>
      <p:ext uri="{BB962C8B-B14F-4D97-AF65-F5344CB8AC3E}">
        <p14:creationId xmlns:p14="http://schemas.microsoft.com/office/powerpoint/2010/main" val="2728336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810"/>
          </a:xfrm>
          <a:solidFill>
            <a:srgbClr val="0062AC"/>
          </a:solidFill>
        </p:spPr>
        <p:txBody>
          <a:bodyPr>
            <a:norm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사회보험 개편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09608" y="1367944"/>
            <a:ext cx="102441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고용형태 기반의 사회보험을 </a:t>
            </a:r>
            <a:r>
              <a:rPr lang="ko-KR" altLang="en-US" sz="1600" b="1" kern="0" dirty="0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소득기반 사회보험으로 전환</a:t>
            </a:r>
            <a:endParaRPr lang="en-US" altLang="ko-KR" sz="1600" b="1" kern="0" dirty="0">
              <a:solidFill>
                <a:srgbClr val="0000FF"/>
              </a:solidFill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latin typeface="바탕" panose="02030600000101010101" pitchFamily="18" charset="-127"/>
                <a:ea typeface="바탕" panose="02030600000101010101" pitchFamily="18" charset="-127"/>
              </a:rPr>
              <a:t>적용대상을 모든 취업자로 확대</a:t>
            </a:r>
            <a:endParaRPr lang="en-US" altLang="ko-KR" sz="1600" b="1" kern="0" dirty="0"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latin typeface="바탕" panose="02030600000101010101" pitchFamily="18" charset="-127"/>
                <a:ea typeface="바탕" panose="02030600000101010101" pitchFamily="18" charset="-127"/>
              </a:rPr>
              <a:t>근로소득과 사업소득에</a:t>
            </a:r>
            <a:r>
              <a:rPr lang="en-US" altLang="ko-KR" sz="1600" b="1" kern="0" dirty="0"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600" b="1" kern="0" dirty="0">
                <a:latin typeface="바탕" panose="02030600000101010101" pitchFamily="18" charset="-127"/>
                <a:ea typeface="바탕" panose="02030600000101010101" pitchFamily="18" charset="-127"/>
              </a:rPr>
              <a:t>보험료 부과</a:t>
            </a:r>
            <a:endParaRPr lang="en-US" altLang="ko-KR" sz="1600" b="1" kern="0" dirty="0"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latin typeface="바탕" panose="02030600000101010101" pitchFamily="18" charset="-127"/>
                <a:ea typeface="바탕" panose="02030600000101010101" pitchFamily="18" charset="-127"/>
              </a:rPr>
              <a:t>소득 단절 시 기여에 비례하는 급여 제공</a:t>
            </a:r>
            <a:r>
              <a:rPr lang="en-US" altLang="ko-KR" sz="1600" b="1" kern="0" dirty="0"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</a:p>
          <a:p>
            <a:pPr algn="just" fontAlgn="base">
              <a:lnSpc>
                <a:spcPct val="150000"/>
              </a:lnSpc>
            </a:pPr>
            <a:endParaRPr lang="en-US" altLang="ko-KR" sz="1600" b="1" kern="0" dirty="0"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+mj-ea"/>
              <a:buAutoNum type="circleNumDbPlain" startAt="2"/>
            </a:pPr>
            <a:r>
              <a:rPr lang="en-US" altLang="ko-KR" sz="1600" b="1" kern="0" dirty="0"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임금노동자를 중심으로 설계되어 있는 고용보험제도를  </a:t>
            </a:r>
            <a:r>
              <a:rPr lang="ko-KR" altLang="en-US" sz="1600" b="1" kern="0" dirty="0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소득기반 고용보험제도로 전환</a:t>
            </a:r>
            <a:endParaRPr lang="en-US" altLang="ko-KR" sz="1600" b="1" kern="0" dirty="0">
              <a:solidFill>
                <a:srgbClr val="0000FF"/>
              </a:solidFill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실업이나 출산 급여의 사각지대 획기적으로 축소</a:t>
            </a: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다만</a:t>
            </a: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, </a:t>
            </a: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자영자의 제도 순응을 위해 두루누리사업 등을 통해 사회보험료 지원 확대</a:t>
            </a: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소득파악체계 개선</a:t>
            </a: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342900" indent="-342900" algn="just" fontAlgn="base">
              <a:lnSpc>
                <a:spcPct val="150000"/>
              </a:lnSpc>
              <a:buFont typeface="+mj-ea"/>
              <a:buAutoNum type="circleNumDbPlain" startAt="3"/>
            </a:pPr>
            <a:r>
              <a:rPr lang="ko-KR" altLang="en-US" sz="1600" b="1" kern="0" dirty="0">
                <a:latin typeface="바탕" panose="02030600000101010101" pitchFamily="18" charset="-127"/>
                <a:ea typeface="바탕" panose="02030600000101010101" pitchFamily="18" charset="-127"/>
              </a:rPr>
              <a:t>건</a:t>
            </a: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강보험 </a:t>
            </a:r>
            <a:r>
              <a:rPr lang="ko-KR" altLang="en-US" sz="1600" b="1" kern="0" dirty="0" err="1">
                <a:latin typeface="함초롬바탕" panose="02030604000101010101" pitchFamily="18" charset="-127"/>
                <a:ea typeface="함초롬바탕" panose="02030604000101010101" pitchFamily="18" charset="-127"/>
              </a:rPr>
              <a:t>법정료율</a:t>
            </a: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 상한에 대한 법개정 논의가 필요</a:t>
            </a: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  <a:p>
            <a:pPr marL="800100" lvl="1" indent="-34290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2026</a:t>
            </a: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년 건강보험의 </a:t>
            </a:r>
            <a:r>
              <a:rPr lang="ko-KR" altLang="en-US" sz="1600" b="1" kern="0" dirty="0" err="1">
                <a:latin typeface="함초롬바탕" panose="02030604000101010101" pitchFamily="18" charset="-127"/>
                <a:ea typeface="함초롬바탕" panose="02030604000101010101" pitchFamily="18" charset="-127"/>
              </a:rPr>
              <a:t>보험료률</a:t>
            </a: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 법적 상한 </a:t>
            </a:r>
            <a:r>
              <a:rPr lang="en-US" altLang="ko-KR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8%</a:t>
            </a:r>
            <a:r>
              <a:rPr lang="ko-KR" altLang="en-US" sz="1600" b="1" kern="0" dirty="0">
                <a:latin typeface="함초롬바탕" panose="02030604000101010101" pitchFamily="18" charset="-127"/>
                <a:ea typeface="함초롬바탕" panose="02030604000101010101" pitchFamily="18" charset="-127"/>
              </a:rPr>
              <a:t>에 도달 </a:t>
            </a:r>
            <a:endParaRPr lang="en-US" altLang="ko-KR" sz="1600" b="1" kern="0" dirty="0">
              <a:latin typeface="함초롬바탕" panose="02030604000101010101" pitchFamily="18" charset="-127"/>
              <a:ea typeface="함초롬바탕" panose="02030604000101010101" pitchFamily="18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715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810"/>
          </a:xfrm>
          <a:solidFill>
            <a:srgbClr val="0062AC"/>
          </a:solidFill>
        </p:spPr>
        <p:txBody>
          <a:bodyPr>
            <a:normAutofit/>
          </a:bodyPr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국민연금 개편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33254" y="1414753"/>
            <a:ext cx="1042054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개별 연금제도를 개선하는 </a:t>
            </a:r>
            <a:r>
              <a:rPr lang="ko-KR" altLang="en-US" b="1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모수개혁과</a:t>
            </a: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제도 간 역할 분담을 재구조화하는</a:t>
            </a:r>
            <a:r>
              <a:rPr lang="en-US" altLang="ko-KR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구조개혁의 적절한 결합 </a:t>
            </a:r>
            <a:endParaRPr lang="en-US" altLang="ko-KR" b="1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기본 가정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인구 변수 중위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거시경제변수 중립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하에서 현행 국민연금기금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2055</a:t>
            </a:r>
            <a:r>
              <a:rPr lang="ko-KR" altLang="en-US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년에 소진</a:t>
            </a:r>
            <a:endParaRPr lang="en-US" altLang="ko-KR" sz="16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4</a:t>
            </a:r>
            <a:r>
              <a:rPr lang="ko-KR" altLang="en-US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차 대비 인구구조 악화로 제도부양비가 높아짐에 따라 </a:t>
            </a:r>
            <a:r>
              <a:rPr lang="en-US" altLang="ko-KR" kern="0" dirty="0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2060</a:t>
            </a:r>
            <a:r>
              <a:rPr lang="ko-KR" altLang="en-US" kern="0" dirty="0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년 </a:t>
            </a:r>
            <a:r>
              <a:rPr lang="ko-KR" altLang="en-US" kern="0" dirty="0" err="1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부과방식비용률은</a:t>
            </a:r>
            <a:r>
              <a:rPr lang="ko-KR" altLang="en-US" kern="0" dirty="0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kern="0" dirty="0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29.8%</a:t>
            </a:r>
            <a:r>
              <a:rPr lang="ko-KR" altLang="en-US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</a:t>
            </a:r>
            <a:r>
              <a:rPr lang="en-US" altLang="ko-KR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전망</a:t>
            </a:r>
            <a:endParaRPr lang="en-US" altLang="ko-KR" sz="1600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b="1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kern="0" dirty="0" err="1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모수개혁</a:t>
            </a:r>
            <a:r>
              <a:rPr lang="ko-KR" altLang="en-US" b="1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</a:t>
            </a: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차원에서 보장성 강화와 수입 확충 </a:t>
            </a:r>
            <a:endParaRPr lang="en-US" altLang="ko-KR" b="1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사각지대 축소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가입기간 확대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소득대체율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인상</a:t>
            </a:r>
            <a:endParaRPr lang="en-US" altLang="ko-KR" sz="1600" b="1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보험료 부과대상 기반 확대</a:t>
            </a:r>
            <a:endParaRPr lang="en-US" altLang="ko-KR" sz="1600" b="1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보험료율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인상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및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누진성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강화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보험료 부과 소득의 상한 제거 및 급여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상한설정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보험료 노사 분담 비율 조정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</a:p>
          <a:p>
            <a:pPr algn="just" fontAlgn="base">
              <a:lnSpc>
                <a:spcPct val="150000"/>
              </a:lnSpc>
            </a:pPr>
            <a:endParaRPr lang="en-US" altLang="ko-KR" sz="1600" b="1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kern="0" dirty="0">
                <a:solidFill>
                  <a:srgbClr val="0000FF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구조개혁 </a:t>
            </a:r>
            <a:r>
              <a:rPr lang="ko-KR" altLang="en-US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방안</a:t>
            </a:r>
            <a:endParaRPr lang="en-US" altLang="ko-KR" b="1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기초연금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국민연금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퇴직연금 등의 소득보장제도를 적절히 결합하는 방식과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공적연금의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통합</a:t>
            </a:r>
            <a:endParaRPr lang="en-US" altLang="ko-KR" sz="1600" b="1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742950" lvl="1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일본은 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1985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년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단일연금을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b="1" kern="0" dirty="0" err="1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기초연금과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소득비례연금의 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ko-KR" altLang="en-US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층 구조로 개편</a:t>
            </a:r>
            <a:r>
              <a:rPr lang="en-US" altLang="ko-KR" sz="1600" b="1" kern="0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668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810"/>
          </a:xfrm>
          <a:solidFill>
            <a:srgbClr val="0062AC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2024</a:t>
            </a:r>
            <a:r>
              <a:rPr lang="ko-KR" altLang="en-US" sz="2800" b="1" dirty="0">
                <a:solidFill>
                  <a:schemeClr val="bg1"/>
                </a:solidFill>
              </a:rPr>
              <a:t>년 연금개혁 쟁점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33254" y="1414753"/>
            <a:ext cx="10420545" cy="503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 </a:t>
            </a:r>
            <a:r>
              <a:rPr lang="en-US" altLang="ko-KR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2024</a:t>
            </a: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년 연금개혁 공론화위원회 </a:t>
            </a:r>
            <a:r>
              <a:rPr lang="ko-KR" altLang="en-US" sz="1600" b="1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연금개혁안</a:t>
            </a:r>
            <a:endParaRPr lang="en-US" altLang="ko-KR" sz="16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 - 1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안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(</a:t>
            </a:r>
            <a:r>
              <a:rPr lang="ko-KR" altLang="en-US" sz="1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소득보장론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) : 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연금보험료율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13% + </a:t>
            </a:r>
            <a:r>
              <a:rPr lang="ko-KR" altLang="en-US" sz="1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소득대체율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50%</a:t>
            </a:r>
          </a:p>
          <a:p>
            <a:pPr algn="just" fontAlgn="base">
              <a:lnSpc>
                <a:spcPct val="15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 - 2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안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(</a:t>
            </a:r>
            <a:r>
              <a:rPr lang="ko-KR" altLang="en-US" sz="1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재정안정론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) : 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연금보험료율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12% + </a:t>
            </a:r>
            <a:r>
              <a:rPr lang="ko-KR" altLang="en-US" sz="1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소득대체율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40%</a:t>
            </a:r>
          </a:p>
          <a:p>
            <a:pPr algn="just" fontAlgn="base">
              <a:lnSpc>
                <a:spcPct val="150000"/>
              </a:lnSpc>
            </a:pPr>
            <a:endParaRPr lang="en-US" altLang="ko-KR" sz="16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  논의 진행</a:t>
            </a:r>
            <a:endParaRPr lang="en-US" altLang="ko-KR" sz="16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 - 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공론화위원회 </a:t>
            </a:r>
            <a:r>
              <a:rPr lang="ko-KR" altLang="en-US" sz="1600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시민대표단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 과반은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1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안 찬성</a:t>
            </a:r>
            <a:endParaRPr lang="en-US" altLang="ko-KR" sz="16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 - 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국회 연금개혁특위는 연금보험료율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13% 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인상에 합의했지만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, </a:t>
            </a:r>
            <a:r>
              <a:rPr lang="ko-KR" altLang="en-US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소득대체율은 의견 불일치</a:t>
            </a:r>
            <a:endParaRPr lang="en-US" altLang="ko-KR" sz="1600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함초롬바탕" panose="02030604000101010101" pitchFamily="18" charset="-127"/>
            </a:endParaRPr>
          </a:p>
          <a:p>
            <a:pPr algn="just" fontAlgn="base">
              <a:lnSpc>
                <a:spcPct val="150000"/>
              </a:lnSpc>
            </a:pPr>
            <a:endParaRPr lang="en-US" altLang="ko-KR" sz="16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  연금보험료와 </a:t>
            </a:r>
            <a:r>
              <a:rPr lang="ko-KR" altLang="en-US" sz="1600" b="1" kern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소득대체율</a:t>
            </a:r>
            <a:r>
              <a:rPr lang="ko-KR" altLang="en-US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대안</a:t>
            </a:r>
            <a:endParaRPr lang="en-US" altLang="ko-KR" sz="16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600" b="1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소득보장과 재정안정을 위해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소득대체율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50%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확대하고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보험료율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15%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인상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영세자영업자 등 취약계층에 대한 보험료 지원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보험료 부과 대상 기반의 확대와 고용주의 보험료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부담비율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상향조정</a:t>
            </a:r>
          </a:p>
          <a:p>
            <a:pPr algn="just" fontAlgn="base">
              <a:lnSpc>
                <a:spcPct val="150000"/>
              </a:lnSpc>
            </a:pPr>
            <a:endParaRPr lang="en-US" altLang="ko-KR" sz="1600" b="1" kern="0" dirty="0">
              <a:solidFill>
                <a:srgbClr val="00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1B64-5049-4CF3-ACDA-2C910E8C7E0B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226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15904</TotalTime>
  <Words>474</Words>
  <Application>Microsoft Office PowerPoint</Application>
  <PresentationFormat>와이드스크린</PresentationFormat>
  <Paragraphs>121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맑은 고딕</vt:lpstr>
      <vt:lpstr>바탕</vt:lpstr>
      <vt:lpstr>함초롬바탕</vt:lpstr>
      <vt:lpstr>Arial</vt:lpstr>
      <vt:lpstr>Wingdings</vt:lpstr>
      <vt:lpstr>Office 테마</vt:lpstr>
      <vt:lpstr>사회보험의 사각지대와 국제비교</vt:lpstr>
      <vt:lpstr>사회보험 개편</vt:lpstr>
      <vt:lpstr>국민연금 개편</vt:lpstr>
      <vt:lpstr>2024년 연금개혁 쟁점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포용재정포럼 월례 연구모임</dc:title>
  <dc:creator>Andrew Kang</dc:creator>
  <cp:lastModifiedBy>노동주</cp:lastModifiedBy>
  <cp:revision>954</cp:revision>
  <dcterms:created xsi:type="dcterms:W3CDTF">2022-01-21T10:24:58Z</dcterms:created>
  <dcterms:modified xsi:type="dcterms:W3CDTF">2024-11-10T15:32:43Z</dcterms:modified>
</cp:coreProperties>
</file>