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  <p:sldMasterId id="2147483756" r:id="rId2"/>
  </p:sldMasterIdLst>
  <p:notesMasterIdLst>
    <p:notesMasterId r:id="rId41"/>
  </p:notesMasterIdLst>
  <p:sldIdLst>
    <p:sldId id="513" r:id="rId3"/>
    <p:sldId id="514" r:id="rId4"/>
    <p:sldId id="497" r:id="rId5"/>
    <p:sldId id="498" r:id="rId6"/>
    <p:sldId id="499" r:id="rId7"/>
    <p:sldId id="526" r:id="rId8"/>
    <p:sldId id="527" r:id="rId9"/>
    <p:sldId id="491" r:id="rId10"/>
    <p:sldId id="446" r:id="rId11"/>
    <p:sldId id="447" r:id="rId12"/>
    <p:sldId id="501" r:id="rId13"/>
    <p:sldId id="517" r:id="rId14"/>
    <p:sldId id="518" r:id="rId15"/>
    <p:sldId id="519" r:id="rId16"/>
    <p:sldId id="502" r:id="rId17"/>
    <p:sldId id="337" r:id="rId18"/>
    <p:sldId id="445" r:id="rId19"/>
    <p:sldId id="504" r:id="rId20"/>
    <p:sldId id="520" r:id="rId21"/>
    <p:sldId id="521" r:id="rId22"/>
    <p:sldId id="522" r:id="rId23"/>
    <p:sldId id="405" r:id="rId24"/>
    <p:sldId id="535" r:id="rId25"/>
    <p:sldId id="506" r:id="rId26"/>
    <p:sldId id="341" r:id="rId27"/>
    <p:sldId id="528" r:id="rId28"/>
    <p:sldId id="529" r:id="rId29"/>
    <p:sldId id="536" r:id="rId30"/>
    <p:sldId id="537" r:id="rId31"/>
    <p:sldId id="532" r:id="rId32"/>
    <p:sldId id="515" r:id="rId33"/>
    <p:sldId id="507" r:id="rId34"/>
    <p:sldId id="343" r:id="rId35"/>
    <p:sldId id="533" r:id="rId36"/>
    <p:sldId id="407" r:id="rId37"/>
    <p:sldId id="508" r:id="rId38"/>
    <p:sldId id="408" r:id="rId39"/>
    <p:sldId id="509" r:id="rId4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6CF8"/>
    <a:srgbClr val="01BF06"/>
    <a:srgbClr val="2D15DB"/>
    <a:srgbClr val="FF66FF"/>
    <a:srgbClr val="3399FF"/>
    <a:srgbClr val="45E30D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24692E-5BC9-4B2A-9142-C832B4FFA30A}" v="1" dt="2021-11-14T02:31:46.013"/>
    <p1510:client id="{A2F0A38A-58BE-4C80-92FE-F024BE172443}" v="80" dt="2021-11-13T20:41:10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34" autoAdjust="0"/>
    <p:restoredTop sz="77954" autoAdjust="0"/>
  </p:normalViewPr>
  <p:slideViewPr>
    <p:cSldViewPr>
      <p:cViewPr varScale="1">
        <p:scale>
          <a:sx n="67" d="100"/>
          <a:sy n="67" d="100"/>
        </p:scale>
        <p:origin x="62" y="4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microsoft.com/office/2016/11/relationships/changesInfo" Target="changesInfos/changesInfo1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진화" userId="92eb4c3a-09df-4608-b9c9-92d107705cdc" providerId="ADAL" clId="{8829C68E-4ECD-4DDD-90AA-ACC9C0EFEB52}"/>
    <pc:docChg chg="undo custSel addSld delSld modSld">
      <pc:chgData name="박진화" userId="92eb4c3a-09df-4608-b9c9-92d107705cdc" providerId="ADAL" clId="{8829C68E-4ECD-4DDD-90AA-ACC9C0EFEB52}" dt="2021-10-21T10:13:04.153" v="254" actId="255"/>
      <pc:docMkLst>
        <pc:docMk/>
      </pc:docMkLst>
      <pc:sldChg chg="modSp mod">
        <pc:chgData name="박진화" userId="92eb4c3a-09df-4608-b9c9-92d107705cdc" providerId="ADAL" clId="{8829C68E-4ECD-4DDD-90AA-ACC9C0EFEB52}" dt="2021-10-21T10:02:20.283" v="133" actId="2711"/>
        <pc:sldMkLst>
          <pc:docMk/>
          <pc:sldMk cId="4163122407" sldId="341"/>
        </pc:sldMkLst>
        <pc:graphicFrameChg chg="mod modGraphic">
          <ac:chgData name="박진화" userId="92eb4c3a-09df-4608-b9c9-92d107705cdc" providerId="ADAL" clId="{8829C68E-4ECD-4DDD-90AA-ACC9C0EFEB52}" dt="2021-10-21T10:02:20.283" v="133" actId="2711"/>
          <ac:graphicFrameMkLst>
            <pc:docMk/>
            <pc:sldMk cId="4163122407" sldId="341"/>
            <ac:graphicFrameMk id="3" creationId="{62D95F26-1446-4368-AD42-863BD8F1775B}"/>
          </ac:graphicFrameMkLst>
        </pc:graphicFrameChg>
      </pc:sldChg>
      <pc:sldChg chg="modSp mod">
        <pc:chgData name="박진화" userId="92eb4c3a-09df-4608-b9c9-92d107705cdc" providerId="ADAL" clId="{8829C68E-4ECD-4DDD-90AA-ACC9C0EFEB52}" dt="2021-10-21T09:52:34.204" v="11" actId="20577"/>
        <pc:sldMkLst>
          <pc:docMk/>
          <pc:sldMk cId="1626145115" sldId="502"/>
        </pc:sldMkLst>
        <pc:spChg chg="mod">
          <ac:chgData name="박진화" userId="92eb4c3a-09df-4608-b9c9-92d107705cdc" providerId="ADAL" clId="{8829C68E-4ECD-4DDD-90AA-ACC9C0EFEB52}" dt="2021-10-21T09:52:34.204" v="11" actId="20577"/>
          <ac:spMkLst>
            <pc:docMk/>
            <pc:sldMk cId="1626145115" sldId="502"/>
            <ac:spMk id="9" creationId="{00000000-0000-0000-0000-000000000000}"/>
          </ac:spMkLst>
        </pc:spChg>
        <pc:graphicFrameChg chg="mod modGraphic">
          <ac:chgData name="박진화" userId="92eb4c3a-09df-4608-b9c9-92d107705cdc" providerId="ADAL" clId="{8829C68E-4ECD-4DDD-90AA-ACC9C0EFEB52}" dt="2021-10-21T09:52:22.893" v="7" actId="255"/>
          <ac:graphicFrameMkLst>
            <pc:docMk/>
            <pc:sldMk cId="1626145115" sldId="502"/>
            <ac:graphicFrameMk id="3" creationId="{2C548257-F50B-430C-9139-16D95EAC929C}"/>
          </ac:graphicFrameMkLst>
        </pc:graphicFrameChg>
      </pc:sldChg>
      <pc:sldChg chg="modSp mod">
        <pc:chgData name="박진화" userId="92eb4c3a-09df-4608-b9c9-92d107705cdc" providerId="ADAL" clId="{8829C68E-4ECD-4DDD-90AA-ACC9C0EFEB52}" dt="2021-10-21T09:53:27.637" v="22" actId="6549"/>
        <pc:sldMkLst>
          <pc:docMk/>
          <pc:sldMk cId="1526352438" sldId="504"/>
        </pc:sldMkLst>
        <pc:graphicFrameChg chg="modGraphic">
          <ac:chgData name="박진화" userId="92eb4c3a-09df-4608-b9c9-92d107705cdc" providerId="ADAL" clId="{8829C68E-4ECD-4DDD-90AA-ACC9C0EFEB52}" dt="2021-10-21T09:53:27.637" v="22" actId="6549"/>
          <ac:graphicFrameMkLst>
            <pc:docMk/>
            <pc:sldMk cId="1526352438" sldId="504"/>
            <ac:graphicFrameMk id="6" creationId="{00000000-0000-0000-0000-000000000000}"/>
          </ac:graphicFrameMkLst>
        </pc:graphicFrameChg>
      </pc:sldChg>
      <pc:sldChg chg="addSp delSp modSp mod">
        <pc:chgData name="박진화" userId="92eb4c3a-09df-4608-b9c9-92d107705cdc" providerId="ADAL" clId="{8829C68E-4ECD-4DDD-90AA-ACC9C0EFEB52}" dt="2021-10-21T09:57:46.532" v="75" actId="113"/>
        <pc:sldMkLst>
          <pc:docMk/>
          <pc:sldMk cId="3650340471" sldId="506"/>
        </pc:sldMkLst>
        <pc:spChg chg="del">
          <ac:chgData name="박진화" userId="92eb4c3a-09df-4608-b9c9-92d107705cdc" providerId="ADAL" clId="{8829C68E-4ECD-4DDD-90AA-ACC9C0EFEB52}" dt="2021-10-21T09:55:44.515" v="61" actId="478"/>
          <ac:spMkLst>
            <pc:docMk/>
            <pc:sldMk cId="3650340471" sldId="506"/>
            <ac:spMk id="8" creationId="{F5EAB85C-48E7-4CA9-9D23-B279F3DB46BC}"/>
          </ac:spMkLst>
        </pc:spChg>
        <pc:spChg chg="mod">
          <ac:chgData name="박진화" userId="92eb4c3a-09df-4608-b9c9-92d107705cdc" providerId="ADAL" clId="{8829C68E-4ECD-4DDD-90AA-ACC9C0EFEB52}" dt="2021-10-21T09:54:36.613" v="50" actId="20577"/>
          <ac:spMkLst>
            <pc:docMk/>
            <pc:sldMk cId="3650340471" sldId="506"/>
            <ac:spMk id="9" creationId="{00000000-0000-0000-0000-000000000000}"/>
          </ac:spMkLst>
        </pc:spChg>
        <pc:spChg chg="del">
          <ac:chgData name="박진화" userId="92eb4c3a-09df-4608-b9c9-92d107705cdc" providerId="ADAL" clId="{8829C68E-4ECD-4DDD-90AA-ACC9C0EFEB52}" dt="2021-10-21T09:54:17.653" v="24" actId="478"/>
          <ac:spMkLst>
            <pc:docMk/>
            <pc:sldMk cId="3650340471" sldId="506"/>
            <ac:spMk id="10" creationId="{00000000-0000-0000-0000-000000000000}"/>
          </ac:spMkLst>
        </pc:spChg>
        <pc:spChg chg="add del mod">
          <ac:chgData name="박진화" userId="92eb4c3a-09df-4608-b9c9-92d107705cdc" providerId="ADAL" clId="{8829C68E-4ECD-4DDD-90AA-ACC9C0EFEB52}" dt="2021-10-21T09:56:17.387" v="64" actId="478"/>
          <ac:spMkLst>
            <pc:docMk/>
            <pc:sldMk cId="3650340471" sldId="506"/>
            <ac:spMk id="11" creationId="{524324FC-7238-47DD-809A-8787E9B30D30}"/>
          </ac:spMkLst>
        </pc:spChg>
        <pc:graphicFrameChg chg="add mod modGraphic">
          <ac:chgData name="박진화" userId="92eb4c3a-09df-4608-b9c9-92d107705cdc" providerId="ADAL" clId="{8829C68E-4ECD-4DDD-90AA-ACC9C0EFEB52}" dt="2021-10-21T09:57:46.532" v="75" actId="113"/>
          <ac:graphicFrameMkLst>
            <pc:docMk/>
            <pc:sldMk cId="3650340471" sldId="506"/>
            <ac:graphicFrameMk id="5" creationId="{687D844F-B4A4-44DA-80CD-985FBC70DA1E}"/>
          </ac:graphicFrameMkLst>
        </pc:graphicFrameChg>
        <pc:picChg chg="del">
          <ac:chgData name="박진화" userId="92eb4c3a-09df-4608-b9c9-92d107705cdc" providerId="ADAL" clId="{8829C68E-4ECD-4DDD-90AA-ACC9C0EFEB52}" dt="2021-10-21T09:54:07.843" v="23" actId="478"/>
          <ac:picMkLst>
            <pc:docMk/>
            <pc:sldMk cId="3650340471" sldId="506"/>
            <ac:picMk id="4097" creationId="{32BCF2FD-413C-45CC-BFBF-B4B8F19104EF}"/>
          </ac:picMkLst>
        </pc:picChg>
      </pc:sldChg>
      <pc:sldChg chg="modSp mod">
        <pc:chgData name="박진화" userId="92eb4c3a-09df-4608-b9c9-92d107705cdc" providerId="ADAL" clId="{8829C68E-4ECD-4DDD-90AA-ACC9C0EFEB52}" dt="2021-10-21T10:12:37.638" v="251" actId="14100"/>
        <pc:sldMkLst>
          <pc:docMk/>
          <pc:sldMk cId="1859921601" sldId="515"/>
        </pc:sldMkLst>
        <pc:graphicFrameChg chg="mod modGraphic">
          <ac:chgData name="박진화" userId="92eb4c3a-09df-4608-b9c9-92d107705cdc" providerId="ADAL" clId="{8829C68E-4ECD-4DDD-90AA-ACC9C0EFEB52}" dt="2021-10-21T10:12:37.638" v="251" actId="14100"/>
          <ac:graphicFrameMkLst>
            <pc:docMk/>
            <pc:sldMk cId="1859921601" sldId="515"/>
            <ac:graphicFrameMk id="4" creationId="{24CA8425-24D5-4C51-B573-0B5A12CF8AA6}"/>
          </ac:graphicFrameMkLst>
        </pc:graphicFrameChg>
      </pc:sldChg>
      <pc:sldChg chg="modSp mod">
        <pc:chgData name="박진화" userId="92eb4c3a-09df-4608-b9c9-92d107705cdc" providerId="ADAL" clId="{8829C68E-4ECD-4DDD-90AA-ACC9C0EFEB52}" dt="2021-10-21T09:51:37.592" v="1" actId="6549"/>
        <pc:sldMkLst>
          <pc:docMk/>
          <pc:sldMk cId="717659421" sldId="526"/>
        </pc:sldMkLst>
        <pc:spChg chg="mod">
          <ac:chgData name="박진화" userId="92eb4c3a-09df-4608-b9c9-92d107705cdc" providerId="ADAL" clId="{8829C68E-4ECD-4DDD-90AA-ACC9C0EFEB52}" dt="2021-10-21T09:51:37.592" v="1" actId="6549"/>
          <ac:spMkLst>
            <pc:docMk/>
            <pc:sldMk cId="717659421" sldId="526"/>
            <ac:spMk id="6" creationId="{00000000-0000-0000-0000-000000000000}"/>
          </ac:spMkLst>
        </pc:spChg>
      </pc:sldChg>
      <pc:sldChg chg="modSp mod">
        <pc:chgData name="박진화" userId="92eb4c3a-09df-4608-b9c9-92d107705cdc" providerId="ADAL" clId="{8829C68E-4ECD-4DDD-90AA-ACC9C0EFEB52}" dt="2021-10-21T09:51:41.517" v="3" actId="6549"/>
        <pc:sldMkLst>
          <pc:docMk/>
          <pc:sldMk cId="3591149353" sldId="527"/>
        </pc:sldMkLst>
        <pc:spChg chg="mod">
          <ac:chgData name="박진화" userId="92eb4c3a-09df-4608-b9c9-92d107705cdc" providerId="ADAL" clId="{8829C68E-4ECD-4DDD-90AA-ACC9C0EFEB52}" dt="2021-10-21T09:51:41.517" v="3" actId="6549"/>
          <ac:spMkLst>
            <pc:docMk/>
            <pc:sldMk cId="3591149353" sldId="527"/>
            <ac:spMk id="7" creationId="{00000000-0000-0000-0000-000000000000}"/>
          </ac:spMkLst>
        </pc:spChg>
      </pc:sldChg>
      <pc:sldChg chg="modSp mod">
        <pc:chgData name="박진화" userId="92eb4c3a-09df-4608-b9c9-92d107705cdc" providerId="ADAL" clId="{8829C68E-4ECD-4DDD-90AA-ACC9C0EFEB52}" dt="2021-10-21T10:02:47.276" v="136" actId="20577"/>
        <pc:sldMkLst>
          <pc:docMk/>
          <pc:sldMk cId="3005919495" sldId="529"/>
        </pc:sldMkLst>
        <pc:graphicFrameChg chg="modGraphic">
          <ac:chgData name="박진화" userId="92eb4c3a-09df-4608-b9c9-92d107705cdc" providerId="ADAL" clId="{8829C68E-4ECD-4DDD-90AA-ACC9C0EFEB52}" dt="2021-10-21T10:02:47.276" v="136" actId="20577"/>
          <ac:graphicFrameMkLst>
            <pc:docMk/>
            <pc:sldMk cId="3005919495" sldId="529"/>
            <ac:graphicFrameMk id="7" creationId="{00000000-0000-0000-0000-000000000000}"/>
          </ac:graphicFrameMkLst>
        </pc:graphicFrameChg>
      </pc:sldChg>
      <pc:sldChg chg="addSp delSp modSp del mod">
        <pc:chgData name="박진화" userId="92eb4c3a-09df-4608-b9c9-92d107705cdc" providerId="ADAL" clId="{8829C68E-4ECD-4DDD-90AA-ACC9C0EFEB52}" dt="2021-10-21T10:06:02.454" v="176" actId="2696"/>
        <pc:sldMkLst>
          <pc:docMk/>
          <pc:sldMk cId="1976468621" sldId="530"/>
        </pc:sldMkLst>
        <pc:spChg chg="add del mod">
          <ac:chgData name="박진화" userId="92eb4c3a-09df-4608-b9c9-92d107705cdc" providerId="ADAL" clId="{8829C68E-4ECD-4DDD-90AA-ACC9C0EFEB52}" dt="2021-10-21T10:03:35.885" v="140" actId="478"/>
          <ac:spMkLst>
            <pc:docMk/>
            <pc:sldMk cId="1976468621" sldId="530"/>
            <ac:spMk id="4" creationId="{3180B926-8D82-4293-86A5-3B9D5E9D6C15}"/>
          </ac:spMkLst>
        </pc:spChg>
        <pc:graphicFrameChg chg="add del mod modGraphic">
          <ac:chgData name="박진화" userId="92eb4c3a-09df-4608-b9c9-92d107705cdc" providerId="ADAL" clId="{8829C68E-4ECD-4DDD-90AA-ACC9C0EFEB52}" dt="2021-10-21T10:04:18.204" v="144" actId="255"/>
          <ac:graphicFrameMkLst>
            <pc:docMk/>
            <pc:sldMk cId="1976468621" sldId="530"/>
            <ac:graphicFrameMk id="3" creationId="{63C020EB-160A-4C4F-A64B-07366808E4A0}"/>
          </ac:graphicFrameMkLst>
        </pc:graphicFrameChg>
        <pc:graphicFrameChg chg="del">
          <ac:chgData name="박진화" userId="92eb4c3a-09df-4608-b9c9-92d107705cdc" providerId="ADAL" clId="{8829C68E-4ECD-4DDD-90AA-ACC9C0EFEB52}" dt="2021-10-21T10:03:13.485" v="137" actId="478"/>
          <ac:graphicFrameMkLst>
            <pc:docMk/>
            <pc:sldMk cId="1976468621" sldId="530"/>
            <ac:graphicFrameMk id="7" creationId="{00000000-0000-0000-0000-000000000000}"/>
          </ac:graphicFrameMkLst>
        </pc:graphicFrameChg>
      </pc:sldChg>
      <pc:sldChg chg="addSp delSp modSp add mod">
        <pc:chgData name="박진화" userId="92eb4c3a-09df-4608-b9c9-92d107705cdc" providerId="ADAL" clId="{8829C68E-4ECD-4DDD-90AA-ACC9C0EFEB52}" dt="2021-10-21T10:09:27.177" v="204" actId="255"/>
        <pc:sldMkLst>
          <pc:docMk/>
          <pc:sldMk cId="3872195091" sldId="530"/>
        </pc:sldMkLst>
        <pc:graphicFrameChg chg="add del mod modGraphic">
          <ac:chgData name="박진화" userId="92eb4c3a-09df-4608-b9c9-92d107705cdc" providerId="ADAL" clId="{8829C68E-4ECD-4DDD-90AA-ACC9C0EFEB52}" dt="2021-10-21T10:09:27.177" v="204" actId="255"/>
          <ac:graphicFrameMkLst>
            <pc:docMk/>
            <pc:sldMk cId="3872195091" sldId="530"/>
            <ac:graphicFrameMk id="3" creationId="{63C020EB-160A-4C4F-A64B-07366808E4A0}"/>
          </ac:graphicFrameMkLst>
        </pc:graphicFrameChg>
      </pc:sldChg>
      <pc:sldChg chg="modSp mod">
        <pc:chgData name="박진화" userId="92eb4c3a-09df-4608-b9c9-92d107705cdc" providerId="ADAL" clId="{8829C68E-4ECD-4DDD-90AA-ACC9C0EFEB52}" dt="2021-10-21T10:13:04.153" v="254" actId="255"/>
        <pc:sldMkLst>
          <pc:docMk/>
          <pc:sldMk cId="2030664368" sldId="533"/>
        </pc:sldMkLst>
        <pc:graphicFrameChg chg="mod modGraphic">
          <ac:chgData name="박진화" userId="92eb4c3a-09df-4608-b9c9-92d107705cdc" providerId="ADAL" clId="{8829C68E-4ECD-4DDD-90AA-ACC9C0EFEB52}" dt="2021-10-21T10:13:04.153" v="254" actId="255"/>
          <ac:graphicFrameMkLst>
            <pc:docMk/>
            <pc:sldMk cId="2030664368" sldId="533"/>
            <ac:graphicFrameMk id="11" creationId="{984E9FA3-E712-400E-B0F4-F863A874FBAA}"/>
          </ac:graphicFrameMkLst>
        </pc:graphicFrameChg>
      </pc:sldChg>
      <pc:sldChg chg="modSp add mod">
        <pc:chgData name="박진화" userId="92eb4c3a-09df-4608-b9c9-92d107705cdc" providerId="ADAL" clId="{8829C68E-4ECD-4DDD-90AA-ACC9C0EFEB52}" dt="2021-10-21T10:11:27.187" v="244" actId="255"/>
        <pc:sldMkLst>
          <pc:docMk/>
          <pc:sldMk cId="470540871" sldId="534"/>
        </pc:sldMkLst>
        <pc:graphicFrameChg chg="mod modGraphic">
          <ac:chgData name="박진화" userId="92eb4c3a-09df-4608-b9c9-92d107705cdc" providerId="ADAL" clId="{8829C68E-4ECD-4DDD-90AA-ACC9C0EFEB52}" dt="2021-10-21T10:11:27.187" v="244" actId="255"/>
          <ac:graphicFrameMkLst>
            <pc:docMk/>
            <pc:sldMk cId="470540871" sldId="534"/>
            <ac:graphicFrameMk id="3" creationId="{63C020EB-160A-4C4F-A64B-07366808E4A0}"/>
          </ac:graphicFrameMkLst>
        </pc:graphicFrameChg>
      </pc:sldChg>
    </pc:docChg>
  </pc:docChgLst>
  <pc:docChgLst>
    <pc:chgData name="박진화" userId="92eb4c3a-09df-4608-b9c9-92d107705cdc" providerId="ADAL" clId="{A2F0A38A-58BE-4C80-92FE-F024BE172443}"/>
    <pc:docChg chg="custSel addSld modSld">
      <pc:chgData name="박진화" userId="92eb4c3a-09df-4608-b9c9-92d107705cdc" providerId="ADAL" clId="{A2F0A38A-58BE-4C80-92FE-F024BE172443}" dt="2021-11-13T21:00:10.478" v="1083" actId="1076"/>
      <pc:docMkLst>
        <pc:docMk/>
      </pc:docMkLst>
      <pc:sldChg chg="addSp modSp mod">
        <pc:chgData name="박진화" userId="92eb4c3a-09df-4608-b9c9-92d107705cdc" providerId="ADAL" clId="{A2F0A38A-58BE-4C80-92FE-F024BE172443}" dt="2021-11-13T19:59:13.771" v="47" actId="1076"/>
        <pc:sldMkLst>
          <pc:docMk/>
          <pc:sldMk cId="3245700448" sldId="405"/>
        </pc:sldMkLst>
        <pc:spChg chg="add mod">
          <ac:chgData name="박진화" userId="92eb4c3a-09df-4608-b9c9-92d107705cdc" providerId="ADAL" clId="{A2F0A38A-58BE-4C80-92FE-F024BE172443}" dt="2021-11-13T19:59:13.771" v="47" actId="1076"/>
          <ac:spMkLst>
            <pc:docMk/>
            <pc:sldMk cId="3245700448" sldId="405"/>
            <ac:spMk id="6" creationId="{78DDD351-37E6-457C-850A-3BA02D5B63F8}"/>
          </ac:spMkLst>
        </pc:spChg>
        <pc:spChg chg="mod">
          <ac:chgData name="박진화" userId="92eb4c3a-09df-4608-b9c9-92d107705cdc" providerId="ADAL" clId="{A2F0A38A-58BE-4C80-92FE-F024BE172443}" dt="2021-11-13T19:59:03.212" v="46" actId="1076"/>
          <ac:spMkLst>
            <pc:docMk/>
            <pc:sldMk cId="3245700448" sldId="405"/>
            <ac:spMk id="7" creationId="{00000000-0000-0000-0000-000000000000}"/>
          </ac:spMkLst>
        </pc:spChg>
        <pc:graphicFrameChg chg="mod modGraphic">
          <ac:chgData name="박진화" userId="92eb4c3a-09df-4608-b9c9-92d107705cdc" providerId="ADAL" clId="{A2F0A38A-58BE-4C80-92FE-F024BE172443}" dt="2021-11-13T19:58:56.413" v="45" actId="1076"/>
          <ac:graphicFrameMkLst>
            <pc:docMk/>
            <pc:sldMk cId="3245700448" sldId="405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A2F0A38A-58BE-4C80-92FE-F024BE172443}" dt="2021-11-13T21:00:10.478" v="1083" actId="1076"/>
        <pc:sldMkLst>
          <pc:docMk/>
          <pc:sldMk cId="3872195091" sldId="530"/>
        </pc:sldMkLst>
        <pc:graphicFrameChg chg="mod modGraphic">
          <ac:chgData name="박진화" userId="92eb4c3a-09df-4608-b9c9-92d107705cdc" providerId="ADAL" clId="{A2F0A38A-58BE-4C80-92FE-F024BE172443}" dt="2021-11-13T21:00:10.478" v="1083" actId="1076"/>
          <ac:graphicFrameMkLst>
            <pc:docMk/>
            <pc:sldMk cId="3872195091" sldId="530"/>
            <ac:graphicFrameMk id="3" creationId="{63C020EB-160A-4C4F-A64B-07366808E4A0}"/>
          </ac:graphicFrameMkLst>
        </pc:graphicFrameChg>
      </pc:sldChg>
      <pc:sldChg chg="modSp mod">
        <pc:chgData name="박진화" userId="92eb4c3a-09df-4608-b9c9-92d107705cdc" providerId="ADAL" clId="{A2F0A38A-58BE-4C80-92FE-F024BE172443}" dt="2021-11-13T21:00:01.022" v="1082" actId="207"/>
        <pc:sldMkLst>
          <pc:docMk/>
          <pc:sldMk cId="470540871" sldId="534"/>
        </pc:sldMkLst>
        <pc:graphicFrameChg chg="mod modGraphic">
          <ac:chgData name="박진화" userId="92eb4c3a-09df-4608-b9c9-92d107705cdc" providerId="ADAL" clId="{A2F0A38A-58BE-4C80-92FE-F024BE172443}" dt="2021-11-13T21:00:01.022" v="1082" actId="207"/>
          <ac:graphicFrameMkLst>
            <pc:docMk/>
            <pc:sldMk cId="470540871" sldId="534"/>
            <ac:graphicFrameMk id="3" creationId="{63C020EB-160A-4C4F-A64B-07366808E4A0}"/>
          </ac:graphicFrameMkLst>
        </pc:graphicFrameChg>
      </pc:sldChg>
      <pc:sldChg chg="addSp delSp modSp add mod">
        <pc:chgData name="박진화" userId="92eb4c3a-09df-4608-b9c9-92d107705cdc" providerId="ADAL" clId="{A2F0A38A-58BE-4C80-92FE-F024BE172443}" dt="2021-11-13T20:10:32.101" v="945" actId="14100"/>
        <pc:sldMkLst>
          <pc:docMk/>
          <pc:sldMk cId="509577303" sldId="535"/>
        </pc:sldMkLst>
        <pc:spChg chg="add del mod">
          <ac:chgData name="박진화" userId="92eb4c3a-09df-4608-b9c9-92d107705cdc" providerId="ADAL" clId="{A2F0A38A-58BE-4C80-92FE-F024BE172443}" dt="2021-11-13T19:59:25.967" v="48" actId="478"/>
          <ac:spMkLst>
            <pc:docMk/>
            <pc:sldMk cId="509577303" sldId="535"/>
            <ac:spMk id="6" creationId="{7990FABD-1B72-48BC-9C93-B3824C6A4BA6}"/>
          </ac:spMkLst>
        </pc:spChg>
        <pc:spChg chg="del">
          <ac:chgData name="박진화" userId="92eb4c3a-09df-4608-b9c9-92d107705cdc" providerId="ADAL" clId="{A2F0A38A-58BE-4C80-92FE-F024BE172443}" dt="2021-11-13T19:56:09.615" v="8" actId="478"/>
          <ac:spMkLst>
            <pc:docMk/>
            <pc:sldMk cId="509577303" sldId="535"/>
            <ac:spMk id="7" creationId="{00000000-0000-0000-0000-000000000000}"/>
          </ac:spMkLst>
        </pc:spChg>
        <pc:spChg chg="add mod">
          <ac:chgData name="박진화" userId="92eb4c3a-09df-4608-b9c9-92d107705cdc" providerId="ADAL" clId="{A2F0A38A-58BE-4C80-92FE-F024BE172443}" dt="2021-11-13T19:59:30.771" v="50" actId="1076"/>
          <ac:spMkLst>
            <pc:docMk/>
            <pc:sldMk cId="509577303" sldId="535"/>
            <ac:spMk id="8" creationId="{4B7D9863-C2F1-4DE7-8213-72CBA144F4EC}"/>
          </ac:spMkLst>
        </pc:spChg>
        <pc:graphicFrameChg chg="mod modGraphic">
          <ac:chgData name="박진화" userId="92eb4c3a-09df-4608-b9c9-92d107705cdc" providerId="ADAL" clId="{A2F0A38A-58BE-4C80-92FE-F024BE172443}" dt="2021-11-13T20:10:32.101" v="945" actId="14100"/>
          <ac:graphicFrameMkLst>
            <pc:docMk/>
            <pc:sldMk cId="509577303" sldId="535"/>
            <ac:graphicFrameMk id="4" creationId="{00000000-0000-0000-0000-000000000000}"/>
          </ac:graphicFrameMkLst>
        </pc:graphicFrameChg>
      </pc:sldChg>
    </pc:docChg>
  </pc:docChgLst>
  <pc:docChgLst>
    <pc:chgData name="박진화" userId="92eb4c3a-09df-4608-b9c9-92d107705cdc" providerId="ADAL" clId="{8F24692E-5BC9-4B2A-9142-C832B4FFA30A}"/>
    <pc:docChg chg="addSld delSld modSld">
      <pc:chgData name="박진화" userId="92eb4c3a-09df-4608-b9c9-92d107705cdc" providerId="ADAL" clId="{8F24692E-5BC9-4B2A-9142-C832B4FFA30A}" dt="2021-11-14T02:32:15.891" v="2" actId="2696"/>
      <pc:docMkLst>
        <pc:docMk/>
      </pc:docMkLst>
      <pc:sldChg chg="del">
        <pc:chgData name="박진화" userId="92eb4c3a-09df-4608-b9c9-92d107705cdc" providerId="ADAL" clId="{8F24692E-5BC9-4B2A-9142-C832B4FFA30A}" dt="2021-11-14T02:32:15.891" v="2" actId="2696"/>
        <pc:sldMkLst>
          <pc:docMk/>
          <pc:sldMk cId="3872195091" sldId="530"/>
        </pc:sldMkLst>
      </pc:sldChg>
      <pc:sldChg chg="del">
        <pc:chgData name="박진화" userId="92eb4c3a-09df-4608-b9c9-92d107705cdc" providerId="ADAL" clId="{8F24692E-5BC9-4B2A-9142-C832B4FFA30A}" dt="2021-11-14T02:32:12.221" v="1" actId="2696"/>
        <pc:sldMkLst>
          <pc:docMk/>
          <pc:sldMk cId="470540871" sldId="534"/>
        </pc:sldMkLst>
      </pc:sldChg>
      <pc:sldChg chg="add">
        <pc:chgData name="박진화" userId="92eb4c3a-09df-4608-b9c9-92d107705cdc" providerId="ADAL" clId="{8F24692E-5BC9-4B2A-9142-C832B4FFA30A}" dt="2021-11-14T02:31:46.012" v="0"/>
        <pc:sldMkLst>
          <pc:docMk/>
          <pc:sldMk cId="3608084997" sldId="536"/>
        </pc:sldMkLst>
      </pc:sldChg>
      <pc:sldChg chg="add">
        <pc:chgData name="박진화" userId="92eb4c3a-09df-4608-b9c9-92d107705cdc" providerId="ADAL" clId="{8F24692E-5BC9-4B2A-9142-C832B4FFA30A}" dt="2021-11-14T02:31:46.012" v="0"/>
        <pc:sldMkLst>
          <pc:docMk/>
          <pc:sldMk cId="3776373465" sldId="53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9FB78-2087-48E7-A297-280F5EFD347C}" type="datetimeFigureOut">
              <a:rPr lang="ko-KR" altLang="en-US" smtClean="0"/>
              <a:t>2024-11-12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0B801-CA2D-4ADF-9C19-FA669F2B45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094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2E892-F7E8-4C8A-9E4C-D5D0254224D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255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0B801-CA2D-4ADF-9C19-FA669F2B453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98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2E892-F7E8-4C8A-9E4C-D5D0254224D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255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C0B801-CA2D-4ADF-9C19-FA669F2B453D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879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2024-11-12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774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779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69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77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383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684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488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07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487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2008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145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DEEF3-857F-4874-AA1A-D8F1248EFAA6}" type="datetimeFigureOut">
              <a:rPr lang="ko-KR" altLang="en-US" smtClean="0"/>
              <a:pPr/>
              <a:t>2024-11-12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2024-11-12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62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1071423" y="1381512"/>
            <a:ext cx="809837" cy="400110"/>
          </a:xfrm>
        </p:spPr>
        <p:txBody>
          <a:bodyPr wrap="none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8</a:t>
            </a:r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51520" y="1806484"/>
            <a:ext cx="26468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400" dirty="0">
                <a:solidFill>
                  <a:srgbClr val="FFFF00"/>
                </a:solidFill>
                <a:ea typeface="나눔스퀘어 ExtraBold" panose="020B0600000101010101" pitchFamily="50" charset="-127"/>
              </a:rPr>
              <a:t>국민건강보험제도</a:t>
            </a:r>
            <a:endParaRPr lang="ko-KR" altLang="en-US" sz="2400" dirty="0">
              <a:solidFill>
                <a:srgbClr val="FFFF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18127" y="260648"/>
            <a:ext cx="19303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제 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부 사회보장의 총론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endParaRPr lang="ko-KR" altLang="en-US" sz="1200" dirty="0">
              <a:solidFill>
                <a:prstClr val="white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724547" y="3284984"/>
            <a:ext cx="6336704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7030A0"/>
                </a:solidFill>
                <a:latin typeface="HY울릉도M"/>
                <a:ea typeface="HY울릉도M"/>
              </a:rPr>
              <a:t>                        ▲ 수업목표</a:t>
            </a:r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국민건강보험제도의 의의와 목적을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국민건강보험제도의 도입배경과 발전과정을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 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의료보장제도의 종류를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국민건강보험제도의 </a:t>
            </a:r>
            <a:r>
              <a:rPr lang="ko-KR" altLang="en-US" sz="1600">
                <a:solidFill>
                  <a:srgbClr val="7030A0"/>
                </a:solidFill>
              </a:rPr>
              <a:t>적용대상과 급여내용을 </a:t>
            </a:r>
            <a:r>
              <a:rPr lang="ko-KR" altLang="en-US" sz="1600" dirty="0">
                <a:solidFill>
                  <a:srgbClr val="7030A0"/>
                </a:solidFill>
              </a:rPr>
              <a:t>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국민건강보험제도의 재원조달과 운영체계를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  <a:endParaRPr lang="ko-KR" altLang="en-US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92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36296" y="476672"/>
            <a:ext cx="1149674" cy="523220"/>
          </a:xfrm>
        </p:spPr>
        <p:txBody>
          <a:bodyPr wrap="none">
            <a:spAutoFit/>
          </a:bodyPr>
          <a:lstStyle/>
          <a:p>
            <a:pPr algn="l"/>
            <a:r>
              <a:rPr lang="en-US" altLang="ko-KR" sz="2800" dirty="0">
                <a:solidFill>
                  <a:srgbClr val="FFFF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content</a:t>
            </a:r>
            <a:endParaRPr lang="ko-KR" altLang="en-US" sz="2800" dirty="0">
              <a:solidFill>
                <a:srgbClr val="FFFF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63" name="Group 24"/>
          <p:cNvGrpSpPr>
            <a:grpSpLocks/>
          </p:cNvGrpSpPr>
          <p:nvPr/>
        </p:nvGrpSpPr>
        <p:grpSpPr bwMode="auto">
          <a:xfrm>
            <a:off x="2127137" y="1994611"/>
            <a:ext cx="443696" cy="408976"/>
            <a:chOff x="2078" y="1680"/>
            <a:chExt cx="1615" cy="1615"/>
          </a:xfrm>
        </p:grpSpPr>
        <p:sp>
          <p:nvSpPr>
            <p:cNvPr id="64" name="Oval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Oval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7" name="Oval 28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Oval 30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1" name="Group 30"/>
          <p:cNvGrpSpPr>
            <a:grpSpLocks/>
          </p:cNvGrpSpPr>
          <p:nvPr/>
        </p:nvGrpSpPr>
        <p:grpSpPr bwMode="auto">
          <a:xfrm>
            <a:off x="2133961" y="2637526"/>
            <a:ext cx="432778" cy="428048"/>
            <a:chOff x="2078" y="1680"/>
            <a:chExt cx="1615" cy="1615"/>
          </a:xfrm>
        </p:grpSpPr>
        <p:sp>
          <p:nvSpPr>
            <p:cNvPr id="72" name="Oval 3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Oval 3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Oval 33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Oval 3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Oval 35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Oval 36"/>
            <p:cNvSpPr>
              <a:spLocks noChangeArrowheads="1"/>
            </p:cNvSpPr>
            <p:nvPr/>
          </p:nvSpPr>
          <p:spPr bwMode="gray">
            <a:xfrm>
              <a:off x="2337" y="1948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9" name="Group 37"/>
          <p:cNvGrpSpPr>
            <a:grpSpLocks/>
          </p:cNvGrpSpPr>
          <p:nvPr/>
        </p:nvGrpSpPr>
        <p:grpSpPr bwMode="auto">
          <a:xfrm>
            <a:off x="2132830" y="3243513"/>
            <a:ext cx="432778" cy="417872"/>
            <a:chOff x="2078" y="1680"/>
            <a:chExt cx="1615" cy="1615"/>
          </a:xfrm>
        </p:grpSpPr>
        <p:sp>
          <p:nvSpPr>
            <p:cNvPr id="80" name="Oval 3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Oval 3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Oval 40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Oval 41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Oval 42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Oval 43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04" name="Group 16"/>
          <p:cNvGrpSpPr>
            <a:grpSpLocks/>
          </p:cNvGrpSpPr>
          <p:nvPr/>
        </p:nvGrpSpPr>
        <p:grpSpPr bwMode="auto">
          <a:xfrm>
            <a:off x="2148885" y="3882999"/>
            <a:ext cx="446384" cy="422201"/>
            <a:chOff x="2078" y="1680"/>
            <a:chExt cx="1615" cy="1615"/>
          </a:xfrm>
        </p:grpSpPr>
        <p:sp>
          <p:nvSpPr>
            <p:cNvPr id="105" name="Oval 17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Oval 18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Oval 19"/>
            <p:cNvSpPr>
              <a:spLocks noChangeArrowheads="1"/>
            </p:cNvSpPr>
            <p:nvPr/>
          </p:nvSpPr>
          <p:spPr bwMode="gray">
            <a:xfrm>
              <a:off x="2253" y="1856"/>
              <a:ext cx="1265" cy="1263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Oval 20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Oval 21"/>
            <p:cNvSpPr>
              <a:spLocks noChangeArrowheads="1"/>
            </p:cNvSpPr>
            <p:nvPr/>
          </p:nvSpPr>
          <p:spPr bwMode="gray">
            <a:xfrm>
              <a:off x="2335" y="1938"/>
              <a:ext cx="1100" cy="1099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Oval 22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18" name="직사각형 117"/>
          <p:cNvSpPr/>
          <p:nvPr/>
        </p:nvSpPr>
        <p:spPr>
          <a:xfrm>
            <a:off x="21650" y="476672"/>
            <a:ext cx="45568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ko-KR" altLang="en-US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제</a:t>
            </a:r>
            <a:r>
              <a:rPr lang="en-US" altLang="ko-KR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8</a:t>
            </a:r>
            <a:r>
              <a:rPr lang="ko-KR" altLang="en-US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 국민건강보험제도</a:t>
            </a:r>
          </a:p>
        </p:txBody>
      </p:sp>
      <p:grpSp>
        <p:nvGrpSpPr>
          <p:cNvPr id="37" name="Group 24"/>
          <p:cNvGrpSpPr>
            <a:grpSpLocks/>
          </p:cNvGrpSpPr>
          <p:nvPr/>
        </p:nvGrpSpPr>
        <p:grpSpPr bwMode="auto">
          <a:xfrm>
            <a:off x="2150142" y="4524840"/>
            <a:ext cx="443696" cy="408976"/>
            <a:chOff x="2078" y="1680"/>
            <a:chExt cx="1615" cy="1615"/>
          </a:xfrm>
        </p:grpSpPr>
        <p:sp>
          <p:nvSpPr>
            <p:cNvPr id="38" name="Oval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Oval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1" name="Oval 28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Oval 30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5" name="Group 30"/>
          <p:cNvGrpSpPr>
            <a:grpSpLocks/>
          </p:cNvGrpSpPr>
          <p:nvPr/>
        </p:nvGrpSpPr>
        <p:grpSpPr bwMode="auto">
          <a:xfrm>
            <a:off x="2182028" y="5124425"/>
            <a:ext cx="432778" cy="428048"/>
            <a:chOff x="2078" y="1680"/>
            <a:chExt cx="1615" cy="1615"/>
          </a:xfrm>
        </p:grpSpPr>
        <p:sp>
          <p:nvSpPr>
            <p:cNvPr id="46" name="Oval 3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7" name="Oval 3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8" name="Oval 33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9" name="Oval 3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0" name="Oval 35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Oval 36"/>
            <p:cNvSpPr>
              <a:spLocks noChangeArrowheads="1"/>
            </p:cNvSpPr>
            <p:nvPr/>
          </p:nvSpPr>
          <p:spPr bwMode="gray">
            <a:xfrm>
              <a:off x="2337" y="1948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8" name="AutoShape 7"/>
          <p:cNvSpPr>
            <a:spLocks noChangeArrowheads="1"/>
          </p:cNvSpPr>
          <p:nvPr/>
        </p:nvSpPr>
        <p:spPr bwMode="gray">
          <a:xfrm>
            <a:off x="2802260" y="1941009"/>
            <a:ext cx="3763341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의의 및 목적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61" name="AutoShape 8"/>
          <p:cNvSpPr>
            <a:spLocks noChangeArrowheads="1"/>
          </p:cNvSpPr>
          <p:nvPr/>
        </p:nvSpPr>
        <p:spPr bwMode="gray">
          <a:xfrm>
            <a:off x="2817200" y="2560698"/>
            <a:ext cx="3748402" cy="52131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도입배경 및 발전과정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87" name="AutoShape 7"/>
          <p:cNvSpPr>
            <a:spLocks noChangeArrowheads="1"/>
          </p:cNvSpPr>
          <p:nvPr/>
        </p:nvSpPr>
        <p:spPr bwMode="gray">
          <a:xfrm>
            <a:off x="2832689" y="3207421"/>
            <a:ext cx="3732913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의료보장제도의 유형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89" name="AutoShape 7"/>
          <p:cNvSpPr>
            <a:spLocks noChangeArrowheads="1"/>
          </p:cNvSpPr>
          <p:nvPr/>
        </p:nvSpPr>
        <p:spPr bwMode="gray">
          <a:xfrm>
            <a:off x="2843808" y="4455129"/>
            <a:ext cx="3721794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급여내용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90" name="AutoShape 8"/>
          <p:cNvSpPr>
            <a:spLocks noChangeArrowheads="1"/>
          </p:cNvSpPr>
          <p:nvPr/>
        </p:nvSpPr>
        <p:spPr bwMode="gray">
          <a:xfrm>
            <a:off x="2824943" y="5069587"/>
            <a:ext cx="3748403" cy="5093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재      정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91" name="AutoShape 8"/>
          <p:cNvSpPr>
            <a:spLocks noChangeArrowheads="1"/>
          </p:cNvSpPr>
          <p:nvPr/>
        </p:nvSpPr>
        <p:spPr bwMode="gray">
          <a:xfrm>
            <a:off x="2848162" y="3810819"/>
            <a:ext cx="3717439" cy="52131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적용대상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grpSp>
        <p:nvGrpSpPr>
          <p:cNvPr id="52" name="Group 37"/>
          <p:cNvGrpSpPr>
            <a:grpSpLocks/>
          </p:cNvGrpSpPr>
          <p:nvPr/>
        </p:nvGrpSpPr>
        <p:grpSpPr bwMode="auto">
          <a:xfrm>
            <a:off x="2181749" y="5722398"/>
            <a:ext cx="432778" cy="417872"/>
            <a:chOff x="2078" y="1680"/>
            <a:chExt cx="1615" cy="1615"/>
          </a:xfrm>
        </p:grpSpPr>
        <p:sp>
          <p:nvSpPr>
            <p:cNvPr id="53" name="Oval 3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Oval 3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Oval 40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Oval 41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Oval 42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Oval 43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60" name="AutoShape 7"/>
          <p:cNvSpPr>
            <a:spLocks noChangeArrowheads="1"/>
          </p:cNvSpPr>
          <p:nvPr/>
        </p:nvSpPr>
        <p:spPr bwMode="gray">
          <a:xfrm>
            <a:off x="2851552" y="5716867"/>
            <a:ext cx="3721794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운영체계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</p:spTree>
    <p:extLst>
      <p:ext uri="{BB962C8B-B14F-4D97-AF65-F5344CB8AC3E}">
        <p14:creationId xmlns:p14="http://schemas.microsoft.com/office/powerpoint/2010/main" val="422851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1" grpId="0" animBg="1"/>
      <p:bldP spid="87" grpId="0" animBg="1"/>
      <p:bldP spid="89" grpId="0" animBg="1"/>
      <p:bldP spid="90" grpId="0" animBg="1"/>
      <p:bldP spid="91" grpId="0" animBg="1"/>
      <p:bldP spid="6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 txBox="1">
            <a:spLocks/>
          </p:cNvSpPr>
          <p:nvPr/>
        </p:nvSpPr>
        <p:spPr>
          <a:xfrm>
            <a:off x="270993" y="260648"/>
            <a:ext cx="8640960" cy="576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울릉도B" pitchFamily="18" charset="-127"/>
                <a:ea typeface="HY울릉도B" pitchFamily="18" charset="-127"/>
                <a:cs typeface="+mj-cs"/>
              </a:rPr>
              <a:t>1.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울릉도B" pitchFamily="18" charset="-127"/>
                <a:ea typeface="HY울릉도B" pitchFamily="18" charset="-127"/>
                <a:cs typeface="+mj-cs"/>
              </a:rPr>
              <a:t>의의 및 목적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울릉도B" pitchFamily="18" charset="-127"/>
              <a:ea typeface="HY울릉도B" pitchFamily="18" charset="-127"/>
              <a:cs typeface="+mj-cs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501892"/>
              </p:ext>
            </p:extLst>
          </p:nvPr>
        </p:nvGraphicFramePr>
        <p:xfrm>
          <a:off x="343001" y="1556792"/>
          <a:ext cx="8496944" cy="4752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479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 의</a:t>
                      </a: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사회보험방식을 통하여 국민의 건강을 확보하고</a:t>
                      </a: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소득유지와 생활의 안정을 함께 도모하는 사회보장제도</a:t>
                      </a:r>
                      <a:endParaRPr lang="en-US" altLang="ko-KR" sz="1800" b="0" kern="1200" dirty="0">
                        <a:solidFill>
                          <a:schemeClr val="lt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기본적인 진료비 보장과 질병치료는 물론 건강진단</a:t>
                      </a: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재활 및 예방의 범위까지 포함하는 적극적이고 포괄적인 의미를 가지는 제도</a:t>
                      </a:r>
                      <a:endParaRPr lang="ko-KR" altLang="en-US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86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목 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국민의 질병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부상에 대한 예방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진단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치료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재활과 출산</a:t>
                      </a:r>
                      <a:r>
                        <a:rPr lang="en-US" altLang="ko-KR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사망 및 건강증진에 대하여 보험 급여를 실시함으로써 국민보건 향상과 사회보장 증진에 이바지함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86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 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의료보장기능</a:t>
                      </a:r>
                      <a:r>
                        <a:rPr lang="en-US" altLang="ko-KR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균등하게 적정수준의 의료 보장</a:t>
                      </a:r>
                      <a:r>
                        <a:rPr lang="en-US" altLang="ko-KR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사회적 연대기능</a:t>
                      </a:r>
                      <a:r>
                        <a:rPr lang="en-US" altLang="ko-KR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비용부담은 소득과 능력에 따라 부담</a:t>
                      </a:r>
                      <a:r>
                        <a:rPr lang="en-US" altLang="ko-KR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342900" marR="0" indent="-3429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소득재분배 기능</a:t>
                      </a:r>
                      <a:r>
                        <a:rPr lang="en-US" altLang="ko-KR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부담에 관계없이 균등한 의료서비스 제공</a:t>
                      </a:r>
                      <a:r>
                        <a:rPr lang="en-US" altLang="ko-KR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628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7666" y="188640"/>
            <a:ext cx="8568952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46475" y="1772816"/>
            <a:ext cx="8587614" cy="46628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의료보험제도는 </a:t>
            </a:r>
            <a:r>
              <a:rPr lang="en-US" altLang="ko-KR" sz="2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1963</a:t>
            </a:r>
            <a:r>
              <a:rPr lang="ko-KR" altLang="en-US" sz="2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년의 의료보험법에서 시작되었으나 임의 가입 형태를 취하고 있어 확대되지 못하였음</a:t>
            </a: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1976</a:t>
            </a:r>
            <a:r>
              <a:rPr lang="ko-KR" altLang="en-US" sz="2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년 </a:t>
            </a:r>
            <a:r>
              <a:rPr lang="en-US" altLang="ko-KR" sz="2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12</a:t>
            </a:r>
            <a:r>
              <a:rPr lang="ko-KR" altLang="en-US" sz="2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월 기존의 의료보험법을 전면 개정</a:t>
            </a:r>
            <a:r>
              <a:rPr lang="en-US" altLang="ko-KR" sz="2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, 1977</a:t>
            </a:r>
            <a:r>
              <a:rPr lang="ko-KR" altLang="en-US" sz="2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년 </a:t>
            </a:r>
            <a:r>
              <a:rPr lang="en-US" altLang="ko-KR" sz="2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7</a:t>
            </a:r>
            <a:r>
              <a:rPr lang="ko-KR" altLang="en-US" sz="2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월부터  강제적용 시행</a:t>
            </a:r>
            <a:r>
              <a:rPr lang="en-US" altLang="ko-KR" sz="2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(500</a:t>
            </a:r>
            <a:r>
              <a:rPr lang="ko-KR" altLang="en-US" sz="2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인 이상 사업장</a:t>
            </a:r>
            <a:r>
              <a:rPr lang="en-US" altLang="ko-KR" sz="2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) </a:t>
            </a: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같은 해 </a:t>
            </a:r>
            <a:r>
              <a:rPr lang="en-US" altLang="ko-KR" sz="2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12</a:t>
            </a:r>
            <a:r>
              <a:rPr lang="ko-KR" altLang="en-US" sz="2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월에 공무원 및 사립학교교직원 의료보험법이 제정</a:t>
            </a:r>
            <a:r>
              <a:rPr lang="en-US" altLang="ko-KR" sz="2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(1979</a:t>
            </a:r>
            <a:r>
              <a:rPr lang="ko-KR" altLang="en-US" sz="2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 시행</a:t>
            </a:r>
            <a:r>
              <a:rPr lang="en-US" altLang="ko-KR" sz="2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)</a:t>
            </a:r>
            <a:endParaRPr lang="ko-KR" altLang="en-US" sz="2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1988</a:t>
            </a:r>
            <a:r>
              <a:rPr lang="ko-KR" altLang="en-US" sz="2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 </a:t>
            </a:r>
            <a:r>
              <a:rPr lang="en-US" altLang="ko-KR" sz="2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1</a:t>
            </a:r>
            <a:r>
              <a:rPr lang="ko-KR" altLang="en-US" sz="2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월부터 농어촌지역 의료보험이 실시</a:t>
            </a:r>
            <a:endParaRPr lang="en-US" altLang="ko-KR" sz="2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200" dirty="0">
                <a:solidFill>
                  <a:srgbClr val="7030A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1989</a:t>
            </a:r>
            <a:r>
              <a:rPr lang="ko-KR" altLang="en-US" sz="2200" dirty="0">
                <a:solidFill>
                  <a:srgbClr val="7030A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년 </a:t>
            </a:r>
            <a:r>
              <a:rPr lang="en-US" altLang="ko-KR" sz="2200" dirty="0">
                <a:solidFill>
                  <a:srgbClr val="7030A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7</a:t>
            </a:r>
            <a:r>
              <a:rPr lang="ko-KR" altLang="en-US" sz="2200" dirty="0">
                <a:solidFill>
                  <a:srgbClr val="7030A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월부터는 도시지역 의료보험이 실시됨</a:t>
            </a:r>
            <a:endParaRPr lang="en-US" altLang="ko-KR" sz="2200" dirty="0">
              <a:solidFill>
                <a:srgbClr val="7030A0"/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algn="just" fontAlgn="base">
              <a:lnSpc>
                <a:spcPct val="150000"/>
              </a:lnSpc>
            </a:pPr>
            <a:r>
              <a:rPr lang="en-US" altLang="ko-KR" sz="2200" dirty="0">
                <a:solidFill>
                  <a:srgbClr val="7030A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  (</a:t>
            </a:r>
            <a:r>
              <a:rPr lang="ko-KR" altLang="en-US" sz="2200" dirty="0">
                <a:solidFill>
                  <a:srgbClr val="7030A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전 국민 의료보험 시대 개막</a:t>
            </a:r>
            <a:r>
              <a:rPr lang="en-US" altLang="ko-KR" sz="2200" dirty="0">
                <a:solidFill>
                  <a:srgbClr val="7030A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)</a:t>
            </a:r>
            <a:endParaRPr lang="ko-KR" altLang="en-US" sz="2200" dirty="0">
              <a:solidFill>
                <a:srgbClr val="7030A0"/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232858" y="1000687"/>
            <a:ext cx="7219462" cy="4320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1) 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의료보험제도 도입과 확대과정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(</a:t>
            </a:r>
            <a:r>
              <a:rPr lang="ko-KR" altLang="en-US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조합주의방식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endParaRPr lang="ko-KR" altLang="en-US" sz="240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1341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7666" y="188640"/>
            <a:ext cx="8568952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206060040" descr="EMB00001e6c122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6" t="32208" r="50000" b="26933"/>
          <a:stretch>
            <a:fillRect/>
          </a:stretch>
        </p:blipFill>
        <p:spPr bwMode="auto">
          <a:xfrm>
            <a:off x="251520" y="1700808"/>
            <a:ext cx="8496944" cy="503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251520" y="1124744"/>
            <a:ext cx="3044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표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의료보험제도의 연혁</a:t>
            </a:r>
          </a:p>
        </p:txBody>
      </p:sp>
    </p:spTree>
    <p:extLst>
      <p:ext uri="{BB962C8B-B14F-4D97-AF65-F5344CB8AC3E}">
        <p14:creationId xmlns:p14="http://schemas.microsoft.com/office/powerpoint/2010/main" val="4152886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7666" y="188640"/>
            <a:ext cx="8568952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32858" y="1700808"/>
            <a:ext cx="8540717" cy="42473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의료보험제도는 </a:t>
            </a:r>
            <a:r>
              <a:rPr lang="ko-KR" altLang="en-US" sz="20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의료보험법에 기반을 둔 직장의료보험조합</a:t>
            </a:r>
            <a:r>
              <a:rPr lang="en-US" altLang="ko-KR" sz="20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(139</a:t>
            </a:r>
            <a:r>
              <a:rPr lang="ko-KR" altLang="en-US" sz="20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개</a:t>
            </a:r>
            <a:r>
              <a:rPr lang="en-US" altLang="ko-KR" sz="20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)</a:t>
            </a:r>
            <a:r>
              <a:rPr lang="ko-KR" altLang="en-US" sz="20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와</a:t>
            </a:r>
            <a:r>
              <a:rPr lang="en-US" altLang="ko-KR" sz="20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지역의료보험조합</a:t>
            </a:r>
            <a:r>
              <a:rPr lang="en-US" altLang="ko-KR" sz="20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(227</a:t>
            </a:r>
            <a:r>
              <a:rPr lang="ko-KR" altLang="en-US" sz="20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개</a:t>
            </a:r>
            <a:r>
              <a:rPr lang="en-US" altLang="ko-KR" sz="20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),</a:t>
            </a:r>
            <a:r>
              <a:rPr lang="ko-KR" altLang="en-US" sz="20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ko-KR" altLang="en-US" sz="2000" dirty="0">
                <a:solidFill>
                  <a:srgbClr val="0C6CF8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공무원 및 사립학교교직원 의료보험법에 기반을 둔 공무원 및 사립학교교직원 의료보험관리공단</a:t>
            </a:r>
            <a:r>
              <a:rPr lang="en-US" altLang="ko-KR" sz="2000" dirty="0">
                <a:solidFill>
                  <a:srgbClr val="0C6CF8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(1</a:t>
            </a:r>
            <a:r>
              <a:rPr lang="ko-KR" altLang="en-US" sz="2000" dirty="0">
                <a:solidFill>
                  <a:srgbClr val="0C6CF8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개</a:t>
            </a:r>
            <a:r>
              <a:rPr lang="en-US" altLang="ko-KR" sz="2000" dirty="0">
                <a:solidFill>
                  <a:srgbClr val="0C6CF8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)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로 </a:t>
            </a: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2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개의 법에 의해 운영</a:t>
            </a:r>
            <a:endParaRPr lang="en-US" altLang="ko-KR" sz="20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이에 따라 의료보험 통합에 대한 논의가 꾸준히 전개되어 </a:t>
            </a: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1997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 </a:t>
            </a: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12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월 국민의료보험법이 제정</a:t>
            </a: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국민의료보험법 제정으로 </a:t>
            </a: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1998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 </a:t>
            </a: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10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월부터 </a:t>
            </a:r>
            <a:r>
              <a:rPr lang="ko-KR" altLang="en-US" sz="2000" dirty="0">
                <a:solidFill>
                  <a:srgbClr val="7030A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공무원 및 사립학교교직원 의료보험조합과 지역의료보험조합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을 합쳐서 국민의료보험관리공단이 출범함</a:t>
            </a: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(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부분통합</a:t>
            </a: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)</a:t>
            </a:r>
            <a:endParaRPr lang="ko-KR" altLang="en-US" sz="20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232858" y="1000687"/>
            <a:ext cx="5779302" cy="4320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국민의료보험법 도입과정</a:t>
            </a:r>
            <a:r>
              <a:rPr lang="en-US" altLang="ko-KR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(</a:t>
            </a:r>
            <a:r>
              <a:rPr lang="ko-KR" altLang="en-US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부분통합</a:t>
            </a:r>
            <a:r>
              <a:rPr lang="en-US" altLang="ko-KR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endParaRPr lang="ko-KR" altLang="en-US" sz="220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7659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7666" y="188640"/>
            <a:ext cx="8568952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32858" y="1556792"/>
            <a:ext cx="8540717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1999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 </a:t>
            </a: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2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월 국민건강보험법이 제정</a:t>
            </a: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(2000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 </a:t>
            </a: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7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월 시행</a:t>
            </a: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)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됨에 따라 직장의료보험조합과 국민의료보험관리공단이 통합되어 </a:t>
            </a:r>
            <a:r>
              <a:rPr lang="ko-KR" altLang="en-US" sz="20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국민건강보험공단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으로 단일화</a:t>
            </a: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(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완전통합</a:t>
            </a: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)</a:t>
            </a:r>
          </a:p>
          <a:p>
            <a:pPr marL="285750" indent="-285750" algn="just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재정에 대한 통합은 </a:t>
            </a: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2003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 </a:t>
            </a:r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7</a:t>
            </a: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월에 이루어짐</a:t>
            </a:r>
          </a:p>
        </p:txBody>
      </p:sp>
      <p:pic>
        <p:nvPicPr>
          <p:cNvPr id="5" name="_x206059880" descr="EMB00001e6c122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2" t="37906" r="44379" b="36923"/>
          <a:stretch>
            <a:fillRect/>
          </a:stretch>
        </p:blipFill>
        <p:spPr bwMode="auto">
          <a:xfrm>
            <a:off x="382054" y="4077072"/>
            <a:ext cx="8496944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모서리가 둥근 직사각형 5"/>
          <p:cNvSpPr/>
          <p:nvPr/>
        </p:nvSpPr>
        <p:spPr>
          <a:xfrm>
            <a:off x="2411760" y="3645024"/>
            <a:ext cx="4032448" cy="31430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16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&lt;</a:t>
            </a:r>
            <a:r>
              <a:rPr lang="ko-KR" altLang="en-US" sz="16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그림</a:t>
            </a:r>
            <a:r>
              <a:rPr lang="en-US" altLang="ko-KR" sz="16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&gt;</a:t>
            </a:r>
            <a:r>
              <a:rPr lang="en-US" altLang="ko-KR" sz="16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ko-KR" altLang="en-US" sz="16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국민건강보험공단의 </a:t>
            </a:r>
            <a:r>
              <a:rPr lang="en-US" altLang="ko-KR" sz="1600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설립</a:t>
            </a:r>
            <a:r>
              <a:rPr lang="en-US" altLang="ko-KR" sz="16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1600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과정</a:t>
            </a:r>
            <a:endParaRPr lang="ko-KR" altLang="en-US" sz="160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32858" y="1000687"/>
            <a:ext cx="5970215" cy="432048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국민건강보험법 도입과정</a:t>
            </a:r>
            <a:r>
              <a:rPr lang="en-US" altLang="ko-KR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(</a:t>
            </a:r>
            <a:r>
              <a:rPr lang="ko-KR" altLang="en-US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완전통합</a:t>
            </a:r>
            <a:r>
              <a:rPr lang="en-US" altLang="ko-KR" sz="22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endParaRPr lang="ko-KR" altLang="en-US" sz="220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1149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7666" y="188640"/>
            <a:ext cx="8568952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950902"/>
              </p:ext>
            </p:extLst>
          </p:nvPr>
        </p:nvGraphicFramePr>
        <p:xfrm>
          <a:off x="251520" y="1412777"/>
          <a:ext cx="8496944" cy="3598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 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  용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비 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12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1963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 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▶ 의료보험법 제정</a:t>
                      </a:r>
                      <a:r>
                        <a:rPr lang="en-US" altLang="ko-KR" sz="1800" b="1" kern="0" spc="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1" kern="0" spc="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임의적용</a:t>
                      </a:r>
                      <a:r>
                        <a:rPr lang="en-US" altLang="ko-KR" sz="1800" b="1" kern="0" spc="0" dirty="0">
                          <a:solidFill>
                            <a:srgbClr val="7030A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b="1" kern="0" spc="0" dirty="0">
                        <a:solidFill>
                          <a:srgbClr val="7030A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rowSpan="5">
                  <a:txBody>
                    <a:bodyPr/>
                    <a:lstStyle/>
                    <a:p>
                      <a:pPr algn="ctr" latinLnBrk="1"/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조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합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53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1976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45E30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▶ 의료보험법 개정</a:t>
                      </a:r>
                      <a:r>
                        <a:rPr lang="en-US" altLang="ko-KR" sz="1800" b="1" kern="0" spc="0" dirty="0">
                          <a:solidFill>
                            <a:srgbClr val="45E30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1" kern="0" spc="0" dirty="0">
                          <a:solidFill>
                            <a:srgbClr val="45E30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강제적용</a:t>
                      </a:r>
                      <a:r>
                        <a:rPr lang="en-US" altLang="ko-KR" sz="1800" b="1" kern="0" spc="0" dirty="0">
                          <a:solidFill>
                            <a:srgbClr val="45E30D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1977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07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 실시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(500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이상 사업장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b="1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12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1977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▶ 공무원 및 사립학교교직원 의료보험법 제정</a:t>
                      </a: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12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1988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01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▶ 농어촌지역의료보험 실시</a:t>
                      </a: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12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1989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07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▶ 도시지역 </a:t>
                      </a:r>
                      <a:r>
                        <a:rPr lang="ko-KR" altLang="en-US" sz="1800" kern="0" spc="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자영자</a:t>
                      </a:r>
                      <a:r>
                        <a:rPr lang="ko-KR" altLang="en-US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포함</a:t>
                      </a:r>
                      <a:r>
                        <a:rPr lang="en-US" altLang="ko-KR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전 국민 의료보험법 실시</a:t>
                      </a:r>
                      <a:r>
                        <a:rPr lang="en-US" altLang="ko-KR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107504" y="1001579"/>
            <a:ext cx="4608512" cy="36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00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국민건강보험제도의 발전과정</a:t>
            </a:r>
            <a:r>
              <a:rPr lang="en-US" altLang="ko-KR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&gt;</a:t>
            </a:r>
            <a:endParaRPr lang="ko-KR" altLang="en-US" sz="20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9488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7666" y="188640"/>
            <a:ext cx="8568952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441906"/>
              </p:ext>
            </p:extLst>
          </p:nvPr>
        </p:nvGraphicFramePr>
        <p:xfrm>
          <a:off x="323528" y="1393333"/>
          <a:ext cx="8496944" cy="4322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2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 도</a:t>
                      </a:r>
                    </a:p>
                  </a:txBody>
                  <a:tcPr marL="64770" marR="64770" marT="17907" marB="17907" anchor="ctr"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  용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8721">
                <a:tc rowSpan="6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1997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</a:t>
                      </a:r>
                    </a:p>
                  </a:txBody>
                  <a:tcPr marL="64770" marR="64770" marT="17907" marB="17907" anchor="ctr"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▶ 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국민의료보험법 제정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(1998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10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 시행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28440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국민의료보험공단이 출범하여 직장의료보험조합을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제외한 나머지 의료보험조합들을 먼저 통합함</a:t>
                      </a:r>
                      <a:r>
                        <a:rPr lang="ko-KR" altLang="en-US" sz="1800" b="1" kern="0" spc="-50" dirty="0">
                          <a:solidFill>
                            <a:srgbClr val="0000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 </a:t>
                      </a:r>
                      <a:endParaRPr lang="ko-KR" altLang="en-US" sz="1800" b="1" kern="0" spc="0" dirty="0">
                        <a:solidFill>
                          <a:srgbClr val="0C6CF8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700" b="1" kern="0" spc="0" dirty="0">
                        <a:solidFill>
                          <a:srgbClr val="0C6CF8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700" b="1" kern="0" spc="0" dirty="0">
                        <a:solidFill>
                          <a:srgbClr val="0C6CF8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rowSpan="6">
                  <a:txBody>
                    <a:bodyPr/>
                    <a:lstStyle/>
                    <a:p>
                      <a:pPr algn="ctr" latinLnBrk="1"/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조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합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+</a:t>
                      </a:r>
                    </a:p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통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합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5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kern="0" spc="-5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공무원 및 사립학교교직원 </a:t>
                      </a:r>
                      <a:endParaRPr lang="en-US" altLang="ko-KR" sz="2000" b="1" kern="0" spc="-50" dirty="0">
                        <a:solidFill>
                          <a:srgbClr val="FFFF00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kern="0" spc="-5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의료보험조합</a:t>
                      </a:r>
                      <a:r>
                        <a:rPr lang="en-US" altLang="ko-KR" sz="2000" b="1" kern="0" spc="-5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(1</a:t>
                      </a:r>
                      <a:r>
                        <a:rPr lang="ko-KR" altLang="en-US" sz="2000" b="1" kern="0" spc="-5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개</a:t>
                      </a:r>
                      <a:r>
                        <a:rPr lang="en-US" altLang="ko-KR" sz="2000" b="1" kern="0" spc="-5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)</a:t>
                      </a:r>
                      <a:endParaRPr lang="ko-KR" altLang="en-US" sz="2000" b="1" kern="0" spc="0" dirty="0">
                        <a:solidFill>
                          <a:srgbClr val="FFFF00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rgbClr val="3399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800" b="1" kern="0" spc="0" dirty="0">
                        <a:solidFill>
                          <a:srgbClr val="0C6CF8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국민의료</a:t>
                      </a:r>
                      <a:endParaRPr lang="en-US" altLang="ko-KR" sz="2000" b="1" kern="0" spc="0" dirty="0">
                        <a:solidFill>
                          <a:srgbClr val="FFFF00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  <a:p>
                      <a:pPr marL="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보험공단</a:t>
                      </a:r>
                      <a:endParaRPr lang="en-US" altLang="ko-KR" sz="2000" b="1" kern="0" spc="0" dirty="0">
                        <a:solidFill>
                          <a:srgbClr val="FFFF00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  <a:p>
                      <a:pPr marL="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통합</a:t>
                      </a:r>
                    </a:p>
                  </a:txBody>
                  <a:tcPr marL="64770" marR="64770" marT="17907" marB="17907" anchor="ctr">
                    <a:solidFill>
                      <a:srgbClr val="3399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800" b="1" kern="0" spc="0" dirty="0">
                        <a:solidFill>
                          <a:srgbClr val="0C6CF8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700" b="1" kern="0" spc="0" dirty="0">
                        <a:solidFill>
                          <a:srgbClr val="0C6CF8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700" b="1" kern="0" spc="0" dirty="0">
                        <a:solidFill>
                          <a:srgbClr val="0C6CF8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2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2000" b="1" kern="0" spc="-5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지역의료보험조합</a:t>
                      </a:r>
                      <a:r>
                        <a:rPr lang="en-US" altLang="ko-KR" sz="2000" b="1" kern="0" spc="-5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(227</a:t>
                      </a:r>
                      <a:r>
                        <a:rPr lang="ko-KR" altLang="en-US" sz="2000" b="1" kern="0" spc="-5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개</a:t>
                      </a:r>
                      <a:r>
                        <a:rPr lang="en-US" altLang="ko-KR" sz="2000" b="1" kern="0" spc="-5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)</a:t>
                      </a:r>
                      <a:endParaRPr lang="ko-KR" altLang="en-US" sz="2000" b="1" kern="0" spc="0" dirty="0">
                        <a:solidFill>
                          <a:srgbClr val="FFFF00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rgbClr val="3399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700" b="1" kern="0" spc="0" dirty="0">
                        <a:solidFill>
                          <a:srgbClr val="0C6CF8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700" b="1" kern="0" spc="0" dirty="0">
                        <a:solidFill>
                          <a:srgbClr val="0C6CF8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6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64770" marR="64770" marT="17907" marB="17907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64770" marR="64770" marT="17907" marB="17907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9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2000" b="1" kern="0" spc="0" dirty="0">
                          <a:solidFill>
                            <a:srgbClr val="FF00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직장의료보험조합</a:t>
                      </a:r>
                      <a:r>
                        <a:rPr lang="en-US" altLang="ko-KR" sz="2000" b="1" kern="0" spc="0" dirty="0">
                          <a:solidFill>
                            <a:srgbClr val="FF00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(139</a:t>
                      </a:r>
                      <a:r>
                        <a:rPr lang="ko-KR" altLang="en-US" sz="2000" b="1" kern="0" spc="0" dirty="0">
                          <a:solidFill>
                            <a:srgbClr val="FF00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개</a:t>
                      </a:r>
                      <a:r>
                        <a:rPr lang="en-US" altLang="ko-KR" sz="2000" b="1" kern="0" spc="0" dirty="0">
                          <a:solidFill>
                            <a:srgbClr val="FF00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)</a:t>
                      </a:r>
                      <a:endParaRPr lang="ko-KR" altLang="en-US" sz="2000" b="1" kern="0" spc="0" dirty="0">
                        <a:solidFill>
                          <a:srgbClr val="FF0000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64770" marR="64770" marT="17907" marB="17907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rgbClr val="FF0000"/>
                          </a:solidFill>
                          <a:ea typeface="태 나무" panose="02030603000101010101" pitchFamily="18" charset="-127"/>
                        </a:rPr>
                        <a:t>조합주의</a:t>
                      </a:r>
                      <a:endParaRPr lang="en-US" altLang="ko-KR" sz="2000" b="1" dirty="0">
                        <a:solidFill>
                          <a:srgbClr val="FF0000"/>
                        </a:solidFill>
                        <a:ea typeface="태 나무" panose="0203060300010101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2000" b="1" dirty="0">
                          <a:solidFill>
                            <a:srgbClr val="FF0000"/>
                          </a:solidFill>
                          <a:ea typeface="태 나무" panose="02030603000101010101" pitchFamily="18" charset="-127"/>
                        </a:rPr>
                        <a:t>유지</a:t>
                      </a:r>
                    </a:p>
                  </a:txBody>
                  <a:tcPr marL="64770" marR="64770" marT="17907" marB="17907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107504" y="993628"/>
            <a:ext cx="3600400" cy="36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국민건강보험의 발전과정</a:t>
            </a:r>
            <a:r>
              <a:rPr lang="en-US" altLang="ko-KR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&gt;</a:t>
            </a:r>
            <a:endParaRPr lang="ko-KR" altLang="en-US" sz="20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6" name="덧셈 기호 5"/>
          <p:cNvSpPr/>
          <p:nvPr/>
        </p:nvSpPr>
        <p:spPr>
          <a:xfrm>
            <a:off x="3919049" y="3867498"/>
            <a:ext cx="318002" cy="274178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6287380" y="3857569"/>
            <a:ext cx="288032" cy="28410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른쪽 화살표 8"/>
          <p:cNvSpPr/>
          <p:nvPr/>
        </p:nvSpPr>
        <p:spPr>
          <a:xfrm>
            <a:off x="6303887" y="5301208"/>
            <a:ext cx="288032" cy="28803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794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7666" y="188640"/>
            <a:ext cx="8568952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791472"/>
              </p:ext>
            </p:extLst>
          </p:nvPr>
        </p:nvGraphicFramePr>
        <p:xfrm>
          <a:off x="323528" y="1427229"/>
          <a:ext cx="8496944" cy="443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55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 도</a:t>
                      </a:r>
                    </a:p>
                  </a:txBody>
                  <a:tcPr marL="64770" marR="64770" marT="17907" marB="17907" anchor="ctr"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  용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634">
                <a:tc rowSpan="4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1999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</a:t>
                      </a:r>
                    </a:p>
                  </a:txBody>
                  <a:tcPr marL="64770" marR="64770" marT="17907" marB="17907" anchor="ctr"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▶ 국민건강보험법 제정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(2000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7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 시행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284400" marR="0" indent="-285750" algn="just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직장의료보험조합을 국민의료보험관리공단과 통합하여    국민건강보험공단으로 업무 단일화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4400" marR="0" indent="-285750" algn="just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재정은 당분간 각각 분리하여 관리함 </a:t>
                      </a:r>
                      <a:endParaRPr lang="ko-KR" altLang="en-US" sz="1800" b="1" kern="0" spc="0" dirty="0">
                        <a:solidFill>
                          <a:srgbClr val="0C6CF8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7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7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통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합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2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국민의료보험관리공단</a:t>
                      </a:r>
                      <a:endParaRPr lang="en-US" altLang="ko-KR" sz="2000" b="1" kern="0" spc="0" dirty="0">
                        <a:solidFill>
                          <a:srgbClr val="FFFF00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kern="0" spc="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(</a:t>
                      </a: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공무원 및 사립교원의보</a:t>
                      </a:r>
                      <a:r>
                        <a:rPr lang="en-US" altLang="ko-KR" sz="2000" b="1" kern="0" spc="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+ </a:t>
                      </a: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지역의보</a:t>
                      </a:r>
                      <a:r>
                        <a:rPr lang="en-US" altLang="ko-KR" sz="2000" b="1" kern="0" spc="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)</a:t>
                      </a:r>
                      <a:endParaRPr lang="ko-KR" altLang="en-US" sz="2000" b="1" kern="0" spc="0" dirty="0">
                        <a:solidFill>
                          <a:srgbClr val="FFFF00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rgbClr val="3399FF"/>
                    </a:solidFill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endParaRPr lang="ko-KR" altLang="en-US" sz="1700" dirty="0"/>
                    </a:p>
                  </a:txBody>
                  <a:tcPr marL="64770" marR="64770" marT="17907" marB="17907" anchor="ctr"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국민건강</a:t>
                      </a:r>
                      <a:endParaRPr lang="en-US" altLang="ko-KR" sz="2000" b="1" kern="0" spc="0" dirty="0">
                        <a:solidFill>
                          <a:srgbClr val="FFFF00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  <a:p>
                      <a:pPr marL="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보험공단</a:t>
                      </a:r>
                      <a:endParaRPr lang="en-US" altLang="ko-KR" sz="2000" b="1" kern="0" spc="0" dirty="0">
                        <a:solidFill>
                          <a:srgbClr val="FFFF00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  <a:p>
                      <a:pPr marL="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통합</a:t>
                      </a:r>
                    </a:p>
                  </a:txBody>
                  <a:tcPr marL="64770" marR="64770" marT="17907" marB="17907" anchor="ctr">
                    <a:solidFill>
                      <a:srgbClr val="3399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6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/>
                    </a:p>
                  </a:txBody>
                  <a:tcPr marL="64770" marR="64770" marT="17907" marB="17907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6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2000" b="1" kern="0" spc="-5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직장의료보험조합</a:t>
                      </a:r>
                      <a:r>
                        <a:rPr lang="en-US" altLang="ko-KR" sz="2000" b="1" kern="0" spc="-5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(139</a:t>
                      </a:r>
                      <a:r>
                        <a:rPr lang="ko-KR" altLang="en-US" sz="2000" b="1" kern="0" spc="-5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개</a:t>
                      </a:r>
                      <a:r>
                        <a:rPr lang="en-US" altLang="ko-KR" sz="2000" b="1" kern="0" spc="-50" dirty="0">
                          <a:solidFill>
                            <a:srgbClr val="FFFF00"/>
                          </a:solidFill>
                          <a:effectLst/>
                          <a:latin typeface="한컴 솔잎 B" panose="02020603020101020101" pitchFamily="18" charset="-127"/>
                          <a:ea typeface="태 나무" panose="02030603000101010101" pitchFamily="18" charset="-127"/>
                        </a:rPr>
                        <a:t>)</a:t>
                      </a:r>
                      <a:endParaRPr lang="ko-KR" altLang="en-US" sz="2000" b="1" kern="0" spc="0" dirty="0">
                        <a:solidFill>
                          <a:srgbClr val="FFFF00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rgbClr val="3399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700" b="1" kern="0" spc="0" dirty="0">
                        <a:solidFill>
                          <a:srgbClr val="0C6CF8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700" b="1" kern="0" spc="0" dirty="0">
                        <a:solidFill>
                          <a:srgbClr val="0C6CF8"/>
                        </a:solidFill>
                        <a:effectLst/>
                        <a:latin typeface="한컴 솔잎 B" panose="02020603020101020101" pitchFamily="18" charset="-127"/>
                        <a:ea typeface="태 나무" panose="02030603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3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2000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 </a:t>
                      </a:r>
                    </a:p>
                  </a:txBody>
                  <a:tcPr marL="64770" marR="64770" marT="17907" marB="17907" anchor="ctr"/>
                </a:tc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▶ 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이상 사업장으로 당연가입대상 확대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(2001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년부터 적용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64770" marR="64770" marT="17907" marB="17907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86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2003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07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 </a:t>
                      </a:r>
                    </a:p>
                  </a:txBody>
                  <a:tcPr marL="64770" marR="64770" marT="17907" marB="17907" anchor="ctr"/>
                </a:tc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▶ 국민건강보험법의 직장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지역가입자 재정까지 모두 통합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179512" y="980728"/>
            <a:ext cx="4464496" cy="36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국민건강보험의 발전과정</a:t>
            </a:r>
            <a:r>
              <a:rPr lang="en-US" altLang="ko-KR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&gt;</a:t>
            </a:r>
            <a:endParaRPr lang="ko-KR" altLang="en-US" sz="20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6" name="덧셈 기호 5"/>
          <p:cNvSpPr/>
          <p:nvPr/>
        </p:nvSpPr>
        <p:spPr>
          <a:xfrm>
            <a:off x="3887722" y="4101452"/>
            <a:ext cx="318002" cy="274178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6463762" y="4119120"/>
            <a:ext cx="288032" cy="25651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906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 txBox="1">
            <a:spLocks/>
          </p:cNvSpPr>
          <p:nvPr/>
        </p:nvSpPr>
        <p:spPr>
          <a:xfrm>
            <a:off x="270993" y="260648"/>
            <a:ext cx="8640960" cy="576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울릉도B" pitchFamily="18" charset="-127"/>
                <a:ea typeface="HY울릉도B" pitchFamily="18" charset="-127"/>
                <a:cs typeface="+mj-cs"/>
              </a:rPr>
              <a:t>3. 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울릉도B" pitchFamily="18" charset="-127"/>
                <a:ea typeface="HY울릉도B" pitchFamily="18" charset="-127"/>
                <a:cs typeface="+mj-cs"/>
              </a:rPr>
              <a:t>의료보장제도의 유형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울릉도B" pitchFamily="18" charset="-127"/>
              <a:ea typeface="HY울릉도B" pitchFamily="18" charset="-127"/>
              <a:cs typeface="+mj-cs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454868"/>
              </p:ext>
            </p:extLst>
          </p:nvPr>
        </p:nvGraphicFramePr>
        <p:xfrm>
          <a:off x="251520" y="1390123"/>
          <a:ext cx="8571636" cy="5297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3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7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유   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0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사회보험방식</a:t>
                      </a:r>
                      <a:r>
                        <a:rPr lang="en-US" altLang="ko-KR" sz="15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en-US" altLang="ko-KR" sz="1500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SHI)</a:t>
                      </a:r>
                      <a:endParaRPr lang="ko-KR" altLang="en-US" sz="15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(Social Health Insurance)</a:t>
                      </a:r>
                      <a:endParaRPr lang="ko-KR" altLang="en-US" sz="15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000" marR="0" indent="-18000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독일의 비스마르크가 창시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(1883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질병보험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하여 비스마르크 방식이라고도 함</a:t>
                      </a:r>
                      <a:endParaRPr lang="en-US" altLang="ko-KR" sz="15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180000" indent="-180000" fontAlgn="base" latinLnBrk="1">
                        <a:lnSpc>
                          <a:spcPts val="2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정부기관이 아닌 건강보험조합이 보험자가 되어 갹출된 보험료로 재원을 마련하여 의료를 보장하는 방식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.</a:t>
                      </a:r>
                    </a:p>
                    <a:p>
                      <a:pPr marL="180000" indent="-180000" fontAlgn="base" latinLnBrk="1">
                        <a:lnSpc>
                          <a:spcPts val="2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조합주의로 국가 내에 보험자가 여러 개임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다보험자 체계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5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180000" indent="-180000" fontAlgn="base" latinLnBrk="1">
                        <a:lnSpc>
                          <a:spcPts val="2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독일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프랑스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오스트리아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벨기에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일본 등 </a:t>
                      </a:r>
                      <a:endParaRPr lang="ko-KR" altLang="en-US" sz="15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714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국민건강보험 방식</a:t>
                      </a:r>
                      <a:r>
                        <a:rPr lang="en-US" altLang="ko-KR" sz="1500" b="1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(NHI)</a:t>
                      </a:r>
                      <a:endParaRPr lang="ko-KR" altLang="en-US" sz="15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(National Health Insurance)</a:t>
                      </a:r>
                      <a:endParaRPr lang="ko-KR" altLang="en-US" sz="15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000" indent="-180000" fontAlgn="base" latinLnBrk="1">
                        <a:lnSpc>
                          <a:spcPts val="2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사회보험방식과 마찬가지로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갹출된 </a:t>
                      </a:r>
                      <a:r>
                        <a:rPr lang="ko-KR" altLang="en-US" sz="15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보험료를 재원으로 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운영</a:t>
                      </a:r>
                      <a:endParaRPr lang="en-US" altLang="ko-KR" sz="15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180000" indent="-180000" fontAlgn="base" latinLnBrk="1">
                        <a:lnSpc>
                          <a:spcPts val="2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국가가 피보험자인 국민에게 직접 또는 의료기관을 통하여        </a:t>
                      </a:r>
                      <a:endParaRPr lang="en-US" altLang="ko-KR" sz="15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ts val="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보험급여를 실시하는 제도</a:t>
                      </a:r>
                    </a:p>
                    <a:p>
                      <a:pPr marL="180000" indent="-180000" fontAlgn="base" latinLnBrk="1">
                        <a:lnSpc>
                          <a:spcPts val="2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국가가 관리하므로 국가 내 보험자가 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개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단일보험자 체계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5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180000" indent="-180000" fontAlgn="base" latinLnBrk="1">
                        <a:lnSpc>
                          <a:spcPts val="2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한국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핀란드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노르웨이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스페인 등</a:t>
                      </a:r>
                      <a:endParaRPr lang="ko-KR" altLang="en-US" sz="15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921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국민보건서비스 방식</a:t>
                      </a:r>
                      <a:r>
                        <a:rPr lang="en-US" altLang="ko-KR" sz="1500" b="1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(NHS)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(National Health Service) </a:t>
                      </a:r>
                      <a:endParaRPr lang="ko-KR" altLang="en-US" sz="15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000" indent="-180000" fontAlgn="base" latinLnBrk="1">
                        <a:lnSpc>
                          <a:spcPts val="2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세금에서 재원을 확보함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소득재분배 효과가 큼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</a:p>
                    <a:p>
                      <a:pPr marL="180000" indent="-180000" fontAlgn="base" latinLnBrk="1">
                        <a:lnSpc>
                          <a:spcPts val="2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국유의료기관을 통하여 국가가 책임을 가지고 감독하는 전 국민 균등 의료시스템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의료의 사회화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</a:p>
                    <a:p>
                      <a:pPr marL="180000" indent="-180000" fontAlgn="base" latinLnBrk="1">
                        <a:lnSpc>
                          <a:spcPts val="2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영국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스웨덴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덴마크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호주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뉴질랜드</a:t>
                      </a:r>
                      <a:r>
                        <a:rPr lang="en-US" altLang="ko-KR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5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캐나다 등</a:t>
                      </a:r>
                      <a:endParaRPr lang="ko-KR" altLang="en-US" sz="15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모서리가 둥근 직사각형 3"/>
          <p:cNvSpPr/>
          <p:nvPr/>
        </p:nvSpPr>
        <p:spPr>
          <a:xfrm>
            <a:off x="179512" y="980728"/>
            <a:ext cx="3960440" cy="360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의료보장제도의 유형과 내용</a:t>
            </a:r>
            <a:r>
              <a:rPr lang="en-US" altLang="ko-KR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&gt;</a:t>
            </a:r>
            <a:endParaRPr lang="ko-KR" altLang="en-US" sz="2000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1079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  <a:solidFill>
            <a:schemeClr val="accent4">
              <a:lumMod val="7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4. </a:t>
            </a:r>
            <a:r>
              <a:rPr lang="ko-KR" altLang="en-US" sz="3200" dirty="0">
                <a:solidFill>
                  <a:schemeClr val="bg1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제도의 내용과 현황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82659" y="1844824"/>
            <a:ext cx="8640960" cy="3600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국내에 거주하는 </a:t>
            </a:r>
            <a:r>
              <a:rPr lang="ko-KR" altLang="en-US" sz="1800" dirty="0">
                <a:solidFill>
                  <a:srgbClr val="FF0000"/>
                </a:solidFill>
                <a:latin typeface="HY울릉도M" pitchFamily="18" charset="-127"/>
                <a:ea typeface="HY울릉도M" pitchFamily="18" charset="-127"/>
              </a:rPr>
              <a:t>모든 국민은 가입자 또는 피부양자가 됨</a:t>
            </a:r>
            <a:endParaRPr lang="en-US" altLang="ko-KR" sz="1800" dirty="0">
              <a:solidFill>
                <a:srgbClr val="FF0000"/>
              </a:solidFill>
              <a:latin typeface="HY울릉도M" pitchFamily="18" charset="-127"/>
              <a:ea typeface="HY울릉도M" pitchFamily="18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다만 의료급여 대상자와 독립유공자 및 국가유공자들은 적용대상에서 제외됨</a:t>
            </a:r>
            <a:endParaRPr lang="en-US" altLang="ko-KR" sz="1800" dirty="0">
              <a:latin typeface="HY울릉도M" pitchFamily="18" charset="-127"/>
              <a:ea typeface="HY울릉도M" pitchFamily="18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따라서 기초생활수급자나 유공자 등으로 보험료를 납부하지 않는 의료급여    대상자를 제외한 모든 국민은 국민건강보험의 가입자가 됨</a:t>
            </a:r>
            <a:endParaRPr lang="en-US" altLang="ko-KR" sz="1800" dirty="0">
              <a:latin typeface="HY울릉도M" pitchFamily="18" charset="-127"/>
              <a:ea typeface="HY울릉도M" pitchFamily="18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제외 대상자의 경우 건강보험료를 납부하지는 않지만 국가 및 지방자치단체의 재정으로 조성된 </a:t>
            </a:r>
            <a:r>
              <a:rPr lang="ko-KR" altLang="en-US" sz="1800" dirty="0">
                <a:solidFill>
                  <a:srgbClr val="7030A0"/>
                </a:solidFill>
                <a:latin typeface="HY울릉도M" pitchFamily="18" charset="-127"/>
                <a:ea typeface="HY울릉도M" pitchFamily="18" charset="-127"/>
              </a:rPr>
              <a:t>의료급여기금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에서 급여비용을 부담하므로 국민건강보험 가입자와 같은 건강보장급여를 받을 수 있음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800" dirty="0" err="1">
                <a:latin typeface="HY울릉도M" pitchFamily="18" charset="-127"/>
                <a:ea typeface="HY울릉도M" pitchFamily="18" charset="-127"/>
              </a:rPr>
              <a:t>의료급여법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 적용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)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66976" y="188640"/>
            <a:ext cx="8640960" cy="6340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266976" y="1052736"/>
            <a:ext cx="2538942" cy="4320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1)</a:t>
            </a:r>
            <a:r>
              <a:rPr lang="en-US" altLang="ko-KR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가입대상</a:t>
            </a:r>
          </a:p>
        </p:txBody>
      </p:sp>
    </p:spTree>
    <p:extLst>
      <p:ext uri="{BB962C8B-B14F-4D97-AF65-F5344CB8AC3E}">
        <p14:creationId xmlns:p14="http://schemas.microsoft.com/office/powerpoint/2010/main" val="2405446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  <a:solidFill>
            <a:schemeClr val="accent4">
              <a:lumMod val="7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4. </a:t>
            </a:r>
            <a:r>
              <a:rPr lang="ko-KR" altLang="en-US" sz="3200" dirty="0">
                <a:solidFill>
                  <a:schemeClr val="bg1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제도의 내용과 현황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74940" y="1772816"/>
            <a:ext cx="8640960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가입자 종류는 </a:t>
            </a:r>
            <a:r>
              <a:rPr lang="ko-KR" altLang="en-US" sz="1800" b="1" dirty="0">
                <a:solidFill>
                  <a:srgbClr val="FF0000"/>
                </a:solidFill>
                <a:latin typeface="HY울릉도M" pitchFamily="18" charset="-127"/>
                <a:ea typeface="태 나무" panose="02030603000101010101" pitchFamily="18" charset="-127"/>
              </a:rPr>
              <a:t>직장가입자 </a:t>
            </a:r>
            <a:r>
              <a:rPr lang="ko-KR" altLang="en-US" sz="1800" b="1" dirty="0">
                <a:latin typeface="HY울릉도M" pitchFamily="18" charset="-127"/>
                <a:ea typeface="태 나무" panose="02030603000101010101" pitchFamily="18" charset="-127"/>
              </a:rPr>
              <a:t>와</a:t>
            </a:r>
            <a:r>
              <a:rPr lang="en-US" altLang="ko-KR" sz="1800" b="1" dirty="0">
                <a:solidFill>
                  <a:srgbClr val="FF0000"/>
                </a:solidFill>
                <a:latin typeface="HY울릉도M" pitchFamily="18" charset="-127"/>
                <a:ea typeface="태 나무" panose="02030603000101010101" pitchFamily="18" charset="-127"/>
              </a:rPr>
              <a:t> </a:t>
            </a:r>
            <a:r>
              <a:rPr lang="ko-KR" altLang="en-US" sz="1800" b="1" dirty="0">
                <a:solidFill>
                  <a:srgbClr val="00B0F0"/>
                </a:solidFill>
                <a:latin typeface="HY울릉도M" pitchFamily="18" charset="-127"/>
                <a:ea typeface="태 나무" panose="02030603000101010101" pitchFamily="18" charset="-127"/>
              </a:rPr>
              <a:t>지역가입자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로</a:t>
            </a:r>
            <a:r>
              <a:rPr lang="ko-KR" altLang="en-US" sz="1800" dirty="0">
                <a:solidFill>
                  <a:srgbClr val="FF0000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구분됨</a:t>
            </a:r>
            <a:endParaRPr lang="en-US" altLang="ko-KR" sz="1800" dirty="0">
              <a:latin typeface="HY울릉도M" pitchFamily="18" charset="-127"/>
              <a:ea typeface="HY울릉도M" pitchFamily="18" charset="-127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ko-KR" sz="1800" dirty="0">
              <a:latin typeface="HY울릉도M" pitchFamily="18" charset="-127"/>
              <a:ea typeface="HY울릉도M" pitchFamily="18" charset="-127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1800" dirty="0">
              <a:latin typeface="HY울릉도M" pitchFamily="18" charset="-127"/>
              <a:ea typeface="HY울릉도M" pitchFamily="18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997391"/>
              </p:ext>
            </p:extLst>
          </p:nvPr>
        </p:nvGraphicFramePr>
        <p:xfrm>
          <a:off x="266976" y="2276873"/>
          <a:ext cx="8640960" cy="4759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88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1">
                <a:tc>
                  <a:txBody>
                    <a:bodyPr/>
                    <a:lstStyle/>
                    <a:p>
                      <a:pPr>
                        <a:lnSpc>
                          <a:spcPts val="2500"/>
                        </a:lnSpc>
                      </a:pPr>
                      <a:r>
                        <a:rPr lang="ko-KR" altLang="en-US" dirty="0">
                          <a:solidFill>
                            <a:srgbClr val="FFFF00"/>
                          </a:solidFill>
                          <a:latin typeface="HY울릉도M" pitchFamily="18" charset="-127"/>
                          <a:ea typeface="HY울릉도M" pitchFamily="18" charset="-127"/>
                        </a:rPr>
                        <a:t> 종 류</a:t>
                      </a:r>
                      <a:endParaRPr lang="en-US" altLang="ko-KR" dirty="0">
                        <a:solidFill>
                          <a:srgbClr val="FFFF00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solidFill>
                            <a:srgbClr val="FFFF00"/>
                          </a:solidFill>
                          <a:latin typeface="HY울릉도M" pitchFamily="18" charset="-127"/>
                          <a:ea typeface="HY울릉도M" pitchFamily="18" charset="-127"/>
                        </a:rPr>
                        <a:t>내    용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800" b="0" dirty="0"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257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ts val="3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3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3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직장</a:t>
                      </a:r>
                      <a:endParaRPr lang="en-US" altLang="ko-KR" b="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3000"/>
                        </a:lnSpc>
                      </a:pPr>
                      <a:r>
                        <a:rPr lang="ko-KR" altLang="en-US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가입자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b="0" dirty="0">
                          <a:solidFill>
                            <a:srgbClr val="00B050"/>
                          </a:solidFill>
                          <a:latin typeface="HY울릉도M" pitchFamily="18" charset="-127"/>
                          <a:ea typeface="HY울릉도M" pitchFamily="18" charset="-127"/>
                        </a:rPr>
                        <a:t>모든 사업장의 노동자 및 사용자</a:t>
                      </a:r>
                      <a:r>
                        <a:rPr lang="en-US" altLang="ko-KR" sz="1800" b="0" dirty="0">
                          <a:solidFill>
                            <a:srgbClr val="00B050"/>
                          </a:solidFill>
                          <a:latin typeface="HY울릉도M" pitchFamily="18" charset="-127"/>
                          <a:ea typeface="HY울릉도M" pitchFamily="18" charset="-127"/>
                        </a:rPr>
                        <a:t>, </a:t>
                      </a:r>
                      <a:r>
                        <a:rPr lang="ko-KR" altLang="en-US" sz="1800" b="0" dirty="0">
                          <a:solidFill>
                            <a:srgbClr val="00B050"/>
                          </a:solidFill>
                          <a:latin typeface="HY울릉도M" pitchFamily="18" charset="-127"/>
                          <a:ea typeface="HY울릉도M" pitchFamily="18" charset="-127"/>
                        </a:rPr>
                        <a:t>공무원</a:t>
                      </a:r>
                      <a:r>
                        <a:rPr lang="en-US" altLang="ko-KR" sz="1800" b="0" dirty="0">
                          <a:solidFill>
                            <a:srgbClr val="00B050"/>
                          </a:solidFill>
                          <a:latin typeface="HY울릉도M" pitchFamily="18" charset="-127"/>
                          <a:ea typeface="HY울릉도M" pitchFamily="18" charset="-127"/>
                        </a:rPr>
                        <a:t> </a:t>
                      </a:r>
                      <a:r>
                        <a:rPr lang="ko-KR" altLang="en-US" sz="1800" b="0" dirty="0">
                          <a:solidFill>
                            <a:srgbClr val="00B050"/>
                          </a:solidFill>
                          <a:latin typeface="HY울릉도M" pitchFamily="18" charset="-127"/>
                          <a:ea typeface="HY울릉도M" pitchFamily="18" charset="-127"/>
                        </a:rPr>
                        <a:t>및</a:t>
                      </a:r>
                      <a:r>
                        <a:rPr lang="en-US" altLang="ko-KR" sz="1800" b="0" dirty="0">
                          <a:solidFill>
                            <a:srgbClr val="00B050"/>
                          </a:solidFill>
                          <a:latin typeface="HY울릉도M" pitchFamily="18" charset="-127"/>
                          <a:ea typeface="HY울릉도M" pitchFamily="18" charset="-127"/>
                        </a:rPr>
                        <a:t> </a:t>
                      </a:r>
                      <a:r>
                        <a:rPr lang="ko-KR" altLang="en-US" sz="1800" b="0" dirty="0">
                          <a:solidFill>
                            <a:srgbClr val="00B050"/>
                          </a:solidFill>
                          <a:latin typeface="HY울릉도M" pitchFamily="18" charset="-127"/>
                          <a:ea typeface="HY울릉도M" pitchFamily="18" charset="-127"/>
                        </a:rPr>
                        <a:t>교직원과 그 피부양자</a:t>
                      </a:r>
                      <a:endParaRPr lang="ko-KR" altLang="en-US" b="0" dirty="0">
                        <a:solidFill>
                          <a:srgbClr val="00B05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lvl="0" indent="-285750" fontAlgn="base" latinLnBrk="1">
                        <a:lnSpc>
                          <a:spcPts val="2500"/>
                        </a:lnSpc>
                        <a:buFont typeface="Arial" pitchFamily="34" charset="0"/>
                        <a:buChar char="•"/>
                      </a:pPr>
                      <a:endParaRPr lang="ko-KR" altLang="en-US" sz="1800" b="0" dirty="0"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6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3000"/>
                        </a:lnSpc>
                      </a:pPr>
                      <a:endParaRPr lang="en-US" altLang="ko-KR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3000"/>
                        </a:lnSpc>
                      </a:pPr>
                      <a:r>
                        <a:rPr lang="ko-KR" altLang="en-US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제외대상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fontAlgn="base" latinLnBrk="1">
                        <a:lnSpc>
                          <a:spcPts val="3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 기간이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개월 미만인 일용노동자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  <a:cs typeface="+mn-cs"/>
                      </a:endParaRPr>
                    </a:p>
                    <a:p>
                      <a:pPr marL="285750" lvl="0" indent="-285750" fontAlgn="base" latinLnBrk="1">
                        <a:lnSpc>
                          <a:spcPts val="3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병역법에 따른 현역병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전환 복무된 사람 및 군 간부 후보생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  <a:cs typeface="+mn-cs"/>
                      </a:endParaRPr>
                    </a:p>
                    <a:p>
                      <a:pPr marL="285750" lvl="0" indent="-285750" fontAlgn="base" latinLnBrk="1">
                        <a:lnSpc>
                          <a:spcPts val="3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선거에 당선되어 취임하는 공무원으로서 매월 보수 또는 보수에  준하는 급료를 받지 아니하는 사람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  <a:cs typeface="+mn-cs"/>
                      </a:endParaRPr>
                    </a:p>
                    <a:p>
                      <a:pPr marL="285750" lvl="0" indent="-285750" fontAlgn="base" latinLnBrk="1">
                        <a:lnSpc>
                          <a:spcPts val="3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그 밖에 사업장의 특성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고용 형태 및 사업의 종류 등을 고려하여 대통령령으로 정하는 사업장 노동자 및 사용자와 공무원 및 교직원</a:t>
                      </a:r>
                      <a:endParaRPr lang="ko-KR" altLang="en-US" sz="1800" b="0" dirty="0"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7645">
                <a:tc>
                  <a:txBody>
                    <a:bodyPr/>
                    <a:lstStyle/>
                    <a:p>
                      <a:pPr algn="ctr" latinLnBrk="1">
                        <a:lnSpc>
                          <a:spcPts val="3000"/>
                        </a:lnSpc>
                      </a:pPr>
                      <a:r>
                        <a:rPr lang="ko-KR" altLang="en-US" b="0" dirty="0">
                          <a:solidFill>
                            <a:srgbClr val="0070C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지역</a:t>
                      </a:r>
                      <a:endParaRPr lang="en-US" altLang="ko-KR" b="0" dirty="0">
                        <a:solidFill>
                          <a:srgbClr val="0070C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3000"/>
                        </a:lnSpc>
                      </a:pPr>
                      <a:r>
                        <a:rPr lang="ko-KR" altLang="en-US" b="0" dirty="0">
                          <a:solidFill>
                            <a:srgbClr val="0070C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가입자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직장가입자와 그 피부양자를 제외한 가입자</a:t>
                      </a: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지역가입자의 경우 피부양자도 모두 가입자가 되는데 직장가입자처럼 피부양자라는 명칭을 쓰지 않고 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세대주와 </a:t>
                      </a:r>
                      <a:r>
                        <a:rPr lang="ko-KR" altLang="en-US" sz="1800" kern="1200" dirty="0" err="1">
                          <a:solidFill>
                            <a:srgbClr val="FF0000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세대원</a:t>
                      </a:r>
                      <a:r>
                        <a:rPr lang="ko-KR" altLang="en-US" sz="1800" kern="1200" dirty="0" err="1">
                          <a:solidFill>
                            <a:schemeClr val="tx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이라는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itchFamily="18" charset="-127"/>
                          <a:ea typeface="HY울릉도M" pitchFamily="18" charset="-127"/>
                          <a:cs typeface="+mn-cs"/>
                        </a:rPr>
                        <a:t>명칭을 사용</a:t>
                      </a:r>
                      <a:endParaRPr lang="ko-KR" altLang="en-US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lvl="0" indent="-285750" fontAlgn="base" latinLnBrk="1">
                        <a:lnSpc>
                          <a:spcPts val="2500"/>
                        </a:lnSpc>
                        <a:buFont typeface="Arial" pitchFamily="34" charset="0"/>
                        <a:buChar char="•"/>
                      </a:pPr>
                      <a:endParaRPr lang="ko-KR" altLang="en-US" sz="1800" b="0" dirty="0"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제목 1"/>
          <p:cNvSpPr txBox="1">
            <a:spLocks/>
          </p:cNvSpPr>
          <p:nvPr/>
        </p:nvSpPr>
        <p:spPr>
          <a:xfrm>
            <a:off x="266976" y="188640"/>
            <a:ext cx="8640960" cy="6340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 적용대상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280426" y="1124744"/>
            <a:ext cx="2923421" cy="4320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2)</a:t>
            </a:r>
            <a:r>
              <a:rPr lang="en-US" altLang="ko-KR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가입자의  종류</a:t>
            </a:r>
          </a:p>
        </p:txBody>
      </p:sp>
    </p:spTree>
    <p:extLst>
      <p:ext uri="{BB962C8B-B14F-4D97-AF65-F5344CB8AC3E}">
        <p14:creationId xmlns:p14="http://schemas.microsoft.com/office/powerpoint/2010/main" val="2418172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  <a:solidFill>
            <a:schemeClr val="accent4">
              <a:lumMod val="7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4. </a:t>
            </a:r>
            <a:r>
              <a:rPr lang="ko-KR" altLang="en-US" sz="3200" dirty="0">
                <a:solidFill>
                  <a:schemeClr val="bg1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제도의 내용과 현황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66976" y="1772816"/>
            <a:ext cx="8640960" cy="46085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  <a:defRPr/>
            </a:pPr>
            <a:r>
              <a:rPr lang="ko-KR" altLang="en-US" sz="1800" dirty="0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직장가입자의 피부양자</a:t>
            </a:r>
            <a:endParaRPr lang="en-US" altLang="ko-KR" sz="1800" dirty="0">
              <a:solidFill>
                <a:srgbClr val="FF0000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  <a:defRPr/>
            </a:pPr>
            <a:endParaRPr lang="en-US" altLang="ko-KR" sz="1800" dirty="0">
              <a:solidFill>
                <a:srgbClr val="FF0000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직장가입자에 의해 주로 생계를 의존하는 사람으로서 소득 및 재산이 </a:t>
            </a:r>
            <a:r>
              <a:rPr lang="ko-KR" altLang="en-US" sz="1800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보건복지부령으로</a:t>
            </a: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정하는 기준 이하에 해당하는 사람</a:t>
            </a: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endParaRPr lang="en-US" altLang="ko-KR" sz="1000" dirty="0">
              <a:latin typeface="HY울릉도M" pitchFamily="18" charset="-127"/>
              <a:ea typeface="HY울릉도M" pitchFamily="18" charset="-127"/>
            </a:endParaRPr>
          </a:p>
          <a:p>
            <a:pPr indent="342900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  <a:defRPr/>
            </a:pP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직장가입자의 배우자</a:t>
            </a:r>
            <a:endParaRPr lang="en-US" altLang="ko-KR" sz="1800" dirty="0">
              <a:latin typeface="HY울릉도M" pitchFamily="18" charset="-127"/>
              <a:ea typeface="HY울릉도M" pitchFamily="18" charset="-127"/>
            </a:endParaRPr>
          </a:p>
          <a:p>
            <a:pPr indent="342900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  <a:defRPr/>
            </a:pP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직장가입자의 직계존속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배우자의 직계존속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포함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)</a:t>
            </a:r>
          </a:p>
          <a:p>
            <a:pPr indent="342900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  <a:defRPr/>
            </a:pP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직장가입자의 직계비속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배우자의 직계비속 포함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) </a:t>
            </a: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및 그 배우자</a:t>
            </a:r>
            <a:endParaRPr lang="en-US" altLang="ko-KR" sz="1800" dirty="0">
              <a:latin typeface="HY울릉도M" pitchFamily="18" charset="-127"/>
              <a:ea typeface="HY울릉도M" pitchFamily="18" charset="-127"/>
            </a:endParaRPr>
          </a:p>
          <a:p>
            <a:pPr indent="342900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  <a:defRPr/>
            </a:pP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직장가입자의 형제자매</a:t>
            </a:r>
            <a:r>
              <a:rPr lang="en-US" altLang="ko-KR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(30</a:t>
            </a: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세 미만</a:t>
            </a:r>
            <a:r>
              <a:rPr lang="en-US" altLang="ko-KR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65</a:t>
            </a: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세 이상</a:t>
            </a:r>
            <a:r>
              <a:rPr lang="en-US" altLang="ko-KR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장애인</a:t>
            </a:r>
            <a:r>
              <a:rPr lang="en-US" altLang="ko-KR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국가유공자 등</a:t>
            </a:r>
            <a:r>
              <a:rPr lang="en-US" altLang="ko-KR" sz="18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  <a:defRPr/>
            </a:pP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ko-KR" sz="1800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  <a:defRPr/>
            </a:pPr>
            <a:endParaRPr lang="ko-KR" altLang="en-US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66976" y="188640"/>
            <a:ext cx="8640960" cy="6340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 적용대상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280426" y="1124744"/>
            <a:ext cx="2923421" cy="4320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2)</a:t>
            </a:r>
            <a:r>
              <a:rPr lang="en-US" altLang="ko-KR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가입자의 종류</a:t>
            </a:r>
          </a:p>
        </p:txBody>
      </p:sp>
    </p:spTree>
    <p:extLst>
      <p:ext uri="{BB962C8B-B14F-4D97-AF65-F5344CB8AC3E}">
        <p14:creationId xmlns:p14="http://schemas.microsoft.com/office/powerpoint/2010/main" val="1561005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  <a:solidFill>
            <a:schemeClr val="accent4">
              <a:lumMod val="7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4. </a:t>
            </a:r>
            <a:r>
              <a:rPr lang="ko-KR" altLang="en-US" sz="3200" dirty="0">
                <a:solidFill>
                  <a:schemeClr val="bg1"/>
                </a:solidFill>
                <a:latin typeface="HY울릉도B" panose="02030600000101010101" pitchFamily="18" charset="-127"/>
                <a:ea typeface="HY울릉도B" panose="02030600000101010101" pitchFamily="18" charset="-127"/>
              </a:rPr>
              <a:t>제도의 내용과 현황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251520" y="2060848"/>
            <a:ext cx="8640960" cy="4464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sz="3400" b="1" dirty="0">
                <a:latin typeface="HY울릉도M" pitchFamily="18" charset="-127"/>
                <a:ea typeface="HY울릉도M" pitchFamily="18" charset="-127"/>
              </a:rPr>
              <a:t> </a:t>
            </a:r>
            <a:endParaRPr lang="en-US" altLang="ko-KR" sz="2400" b="1" dirty="0">
              <a:latin typeface="HY울릉도M" pitchFamily="18" charset="-127"/>
              <a:ea typeface="HY울릉도M" pitchFamily="18" charset="-127"/>
            </a:endParaRPr>
          </a:p>
          <a:p>
            <a:pPr>
              <a:buFont typeface="Arial" pitchFamily="34" charset="0"/>
              <a:buNone/>
            </a:pPr>
            <a:endParaRPr lang="en-US" altLang="ko-KR" sz="4400" b="1" dirty="0">
              <a:latin typeface="HY울릉도M" pitchFamily="18" charset="-127"/>
              <a:ea typeface="HY울릉도M" pitchFamily="18" charset="-127"/>
            </a:endParaRPr>
          </a:p>
          <a:p>
            <a:pPr>
              <a:buFont typeface="Arial" pitchFamily="34" charset="0"/>
              <a:buNone/>
            </a:pPr>
            <a:endParaRPr lang="en-US" altLang="ko-KR" sz="3400" b="1" dirty="0">
              <a:latin typeface="HY울릉도M" pitchFamily="18" charset="-127"/>
              <a:ea typeface="HY울릉도M" pitchFamily="18" charset="-127"/>
            </a:endParaRPr>
          </a:p>
          <a:p>
            <a:endParaRPr lang="ko-KR" altLang="en-US" dirty="0"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331640" y="1588150"/>
            <a:ext cx="5943128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표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연도별 의료보장 적용인구 현황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(2014-2020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년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endParaRPr lang="ko-KR" altLang="en-US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553276" y="2194411"/>
            <a:ext cx="11385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1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(</a:t>
            </a:r>
            <a:r>
              <a:rPr lang="ko-KR" altLang="en-US" sz="1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단위</a:t>
            </a:r>
            <a:r>
              <a:rPr lang="en-US" altLang="ko-KR" sz="1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: </a:t>
            </a:r>
            <a:r>
              <a:rPr lang="ko-KR" altLang="en-US" sz="1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천 명</a:t>
            </a:r>
            <a:r>
              <a:rPr lang="en-US" altLang="ko-KR" sz="1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endParaRPr lang="ko-KR" altLang="en-US" sz="14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66976" y="188640"/>
            <a:ext cx="8640960" cy="6340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C548257-F50B-430C-9139-16D95EAC9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886965"/>
              </p:ext>
            </p:extLst>
          </p:nvPr>
        </p:nvGraphicFramePr>
        <p:xfrm>
          <a:off x="194342" y="2502188"/>
          <a:ext cx="8465910" cy="3384372"/>
        </p:xfrm>
        <a:graphic>
          <a:graphicData uri="http://schemas.openxmlformats.org/drawingml/2006/table">
            <a:tbl>
              <a:tblPr/>
              <a:tblGrid>
                <a:gridCol w="316971">
                  <a:extLst>
                    <a:ext uri="{9D8B030D-6E8A-4147-A177-3AD203B41FA5}">
                      <a16:colId xmlns:a16="http://schemas.microsoft.com/office/drawing/2014/main" val="977599605"/>
                    </a:ext>
                  </a:extLst>
                </a:gridCol>
                <a:gridCol w="824469">
                  <a:extLst>
                    <a:ext uri="{9D8B030D-6E8A-4147-A177-3AD203B41FA5}">
                      <a16:colId xmlns:a16="http://schemas.microsoft.com/office/drawing/2014/main" val="3373119877"/>
                    </a:ext>
                  </a:extLst>
                </a:gridCol>
                <a:gridCol w="1046423">
                  <a:extLst>
                    <a:ext uri="{9D8B030D-6E8A-4147-A177-3AD203B41FA5}">
                      <a16:colId xmlns:a16="http://schemas.microsoft.com/office/drawing/2014/main" val="1597340482"/>
                    </a:ext>
                  </a:extLst>
                </a:gridCol>
                <a:gridCol w="1046423">
                  <a:extLst>
                    <a:ext uri="{9D8B030D-6E8A-4147-A177-3AD203B41FA5}">
                      <a16:colId xmlns:a16="http://schemas.microsoft.com/office/drawing/2014/main" val="4197545765"/>
                    </a:ext>
                  </a:extLst>
                </a:gridCol>
                <a:gridCol w="1046423">
                  <a:extLst>
                    <a:ext uri="{9D8B030D-6E8A-4147-A177-3AD203B41FA5}">
                      <a16:colId xmlns:a16="http://schemas.microsoft.com/office/drawing/2014/main" val="4255008869"/>
                    </a:ext>
                  </a:extLst>
                </a:gridCol>
                <a:gridCol w="1046423">
                  <a:extLst>
                    <a:ext uri="{9D8B030D-6E8A-4147-A177-3AD203B41FA5}">
                      <a16:colId xmlns:a16="http://schemas.microsoft.com/office/drawing/2014/main" val="1046086036"/>
                    </a:ext>
                  </a:extLst>
                </a:gridCol>
                <a:gridCol w="1046423">
                  <a:extLst>
                    <a:ext uri="{9D8B030D-6E8A-4147-A177-3AD203B41FA5}">
                      <a16:colId xmlns:a16="http://schemas.microsoft.com/office/drawing/2014/main" val="3666051409"/>
                    </a:ext>
                  </a:extLst>
                </a:gridCol>
                <a:gridCol w="1046423">
                  <a:extLst>
                    <a:ext uri="{9D8B030D-6E8A-4147-A177-3AD203B41FA5}">
                      <a16:colId xmlns:a16="http://schemas.microsoft.com/office/drawing/2014/main" val="2726457912"/>
                    </a:ext>
                  </a:extLst>
                </a:gridCol>
                <a:gridCol w="1045932">
                  <a:extLst>
                    <a:ext uri="{9D8B030D-6E8A-4147-A177-3AD203B41FA5}">
                      <a16:colId xmlns:a16="http://schemas.microsoft.com/office/drawing/2014/main" val="2411008771"/>
                    </a:ext>
                  </a:extLst>
                </a:gridCol>
              </a:tblGrid>
              <a:tr h="564062">
                <a:tc gridSpan="2"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100" dirty="0">
                          <a:solidFill>
                            <a:srgbClr val="000000"/>
                          </a:solidFill>
                          <a:effectLst/>
                          <a:ea typeface="굴림" panose="020B0600000101010101" pitchFamily="50" charset="-127"/>
                        </a:rPr>
                        <a:t>구 분</a:t>
                      </a:r>
                      <a:endParaRPr lang="ko-KR" altLang="en-US" sz="1600" kern="0" spc="-1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2014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600" kern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2015</a:t>
                      </a: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2016</a:t>
                      </a: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2017</a:t>
                      </a: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2018</a:t>
                      </a: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2019</a:t>
                      </a: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2020</a:t>
                      </a: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400011"/>
                  </a:ext>
                </a:extLst>
              </a:tr>
              <a:tr h="564062">
                <a:tc gridSpan="2"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100">
                          <a:solidFill>
                            <a:srgbClr val="000000"/>
                          </a:solidFill>
                          <a:effectLst/>
                          <a:ea typeface="굴림" panose="020B0600000101010101" pitchFamily="50" charset="-127"/>
                        </a:rPr>
                        <a:t>의료보장</a:t>
                      </a:r>
                      <a:endParaRPr lang="ko-KR" altLang="en-US" sz="16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51,757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52,034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52,273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52,427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52,557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52,880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52,871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19312"/>
                  </a:ext>
                </a:extLst>
              </a:tr>
              <a:tr h="564062">
                <a:tc gridSpan="2"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100">
                          <a:solidFill>
                            <a:srgbClr val="000000"/>
                          </a:solidFill>
                          <a:effectLst/>
                          <a:ea typeface="굴림" panose="020B0600000101010101" pitchFamily="50" charset="-127"/>
                        </a:rPr>
                        <a:t>건강보험</a:t>
                      </a:r>
                      <a:endParaRPr lang="ko-KR" altLang="en-US" sz="16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50,316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50,490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50,763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50,941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51,072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51,391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51,345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002343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endParaRPr lang="ko-KR" altLang="en-US" sz="1600" kern="0" spc="-1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100">
                          <a:solidFill>
                            <a:srgbClr val="000000"/>
                          </a:solidFill>
                          <a:effectLst/>
                          <a:ea typeface="굴림" panose="020B0600000101010101" pitchFamily="50" charset="-127"/>
                        </a:rPr>
                        <a:t>직장</a:t>
                      </a:r>
                      <a:endParaRPr lang="ko-KR" altLang="en-US" sz="16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35,602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36,225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36,675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36,899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36,990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37,227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37,160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928419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endParaRPr lang="ko-KR" altLang="en-US" sz="1600" kern="0" spc="-10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100">
                          <a:solidFill>
                            <a:srgbClr val="000000"/>
                          </a:solidFill>
                          <a:effectLst/>
                          <a:ea typeface="굴림" panose="020B0600000101010101" pitchFamily="50" charset="-127"/>
                        </a:rPr>
                        <a:t>지역</a:t>
                      </a:r>
                      <a:endParaRPr lang="ko-KR" altLang="en-US" sz="16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14,715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14,265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14,089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14,042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14,082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14,164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14,195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983591"/>
                  </a:ext>
                </a:extLst>
              </a:tr>
              <a:tr h="564062">
                <a:tc gridSpan="2"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100">
                          <a:solidFill>
                            <a:srgbClr val="000000"/>
                          </a:solidFill>
                          <a:effectLst/>
                          <a:ea typeface="굴림" panose="020B0600000101010101" pitchFamily="50" charset="-127"/>
                        </a:rPr>
                        <a:t>의료급여</a:t>
                      </a:r>
                      <a:endParaRPr lang="ko-KR" altLang="en-US" sz="1600" kern="0" spc="-1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1,441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1,544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1,509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1,486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1,485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1,489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1,526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62456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0C3ABDC3-7109-4CCB-9359-E2C177CAD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066783" y="3067050"/>
            <a:ext cx="1767772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145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6976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259880"/>
              </p:ext>
            </p:extLst>
          </p:nvPr>
        </p:nvGraphicFramePr>
        <p:xfrm>
          <a:off x="224684" y="1905801"/>
          <a:ext cx="8587614" cy="463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3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 여 의  내 용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00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요양급여</a:t>
                      </a:r>
                      <a:endParaRPr lang="en-US" altLang="ko-KR" sz="1700" kern="0" spc="-15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현물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요양급여는 가입자 및 피부양자의 질병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부상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출산 등에 대하여 요양기관이 실시하는 의료서비스로 현물급여임</a:t>
                      </a:r>
                    </a:p>
                    <a:p>
                      <a:pPr marL="285750" marR="0" indent="-285750" algn="just" fontAlgn="base" latinLnBrk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요양급여의 범위</a:t>
                      </a:r>
                      <a:endParaRPr lang="en-US" altLang="ko-KR" sz="1700" kern="0" spc="0" dirty="0">
                        <a:solidFill>
                          <a:srgbClr val="00B05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ko-KR" altLang="en-US" sz="17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17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① 진찰</a:t>
                      </a:r>
                      <a:r>
                        <a:rPr lang="en-US" altLang="ko-KR" sz="17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7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검사 ② 약제</a:t>
                      </a:r>
                      <a:r>
                        <a:rPr lang="en-US" altLang="ko-KR" sz="17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7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치료재료의 지급  </a:t>
                      </a:r>
                      <a:endParaRPr lang="en-US" altLang="ko-KR" sz="1700" kern="1200" dirty="0">
                        <a:solidFill>
                          <a:srgbClr val="0C6CF8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en-US" altLang="ko-KR" sz="17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17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③ 처치</a:t>
                      </a:r>
                      <a:r>
                        <a:rPr lang="en-US" altLang="ko-KR" sz="17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7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수술</a:t>
                      </a:r>
                      <a:r>
                        <a:rPr lang="en-US" altLang="ko-KR" sz="17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7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및 그 밖의 치료 </a:t>
                      </a:r>
                      <a:endParaRPr lang="en-US" altLang="ko-KR" sz="1700" kern="1200" dirty="0">
                        <a:solidFill>
                          <a:srgbClr val="0C6CF8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en-US" altLang="ko-KR" sz="17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17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④ 예방</a:t>
                      </a:r>
                      <a:r>
                        <a:rPr lang="en-US" altLang="ko-KR" sz="17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700" kern="120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재활 ⑤ 입원 ⑥ 간호 ⑦ 이송 등</a:t>
                      </a:r>
                    </a:p>
                    <a:p>
                      <a:pPr marL="285750" marR="0" indent="-285750" algn="just" fontAlgn="base" latinLnBrk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요양기관의 종류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 </a:t>
                      </a:r>
                      <a:r>
                        <a:rPr lang="ko-KR" altLang="en-US" sz="17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➀ 의료법에 따라 개설된 </a:t>
                      </a:r>
                      <a:r>
                        <a:rPr lang="ko-KR" altLang="en-US" sz="17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의료기관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7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➁ 약사법에 따라 등록된 </a:t>
                      </a:r>
                      <a:r>
                        <a:rPr lang="ko-KR" altLang="en-US" sz="17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약국 </a:t>
                      </a:r>
                      <a:endParaRPr lang="en-US" altLang="ko-KR" sz="1700" kern="120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7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17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➂ 약사법 제</a:t>
                      </a:r>
                      <a:r>
                        <a:rPr lang="en-US" altLang="ko-KR" sz="17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91</a:t>
                      </a:r>
                      <a:r>
                        <a:rPr lang="ko-KR" altLang="en-US" sz="17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조에 따라 설립된 </a:t>
                      </a:r>
                      <a:r>
                        <a:rPr lang="ko-KR" altLang="en-US" sz="17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한국희귀의약품센터</a:t>
                      </a:r>
                      <a:endParaRPr lang="ko-KR" altLang="en-US" sz="1700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7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7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➃ 지역보건법에 따라 설치된 </a:t>
                      </a:r>
                      <a:r>
                        <a:rPr lang="ko-KR" altLang="en-US" sz="17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보건소</a:t>
                      </a:r>
                      <a:r>
                        <a:rPr lang="en-US" altLang="ko-KR" sz="17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보건의료원 및</a:t>
                      </a:r>
                      <a:r>
                        <a:rPr lang="en-US" altLang="ko-KR" sz="17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7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보건지소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ts val="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7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⑤ </a:t>
                      </a:r>
                      <a:r>
                        <a:rPr lang="ko-KR" altLang="en-US" sz="17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농어촌 등 보건의료를 위한 특별조치법에 따라 설치된 </a:t>
                      </a:r>
                      <a:r>
                        <a:rPr lang="ko-KR" altLang="en-US" sz="17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보건진료소</a:t>
                      </a:r>
                      <a:endParaRPr lang="ko-KR" altLang="en-US" sz="1700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32858" y="1000687"/>
            <a:ext cx="2610950" cy="4320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1)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급여의 종류</a:t>
            </a:r>
          </a:p>
        </p:txBody>
      </p:sp>
      <p:sp>
        <p:nvSpPr>
          <p:cNvPr id="5" name="모서리가 둥근 직사각형 6">
            <a:extLst>
              <a:ext uri="{FF2B5EF4-FFF2-40B4-BE49-F238E27FC236}">
                <a16:creationId xmlns:a16="http://schemas.microsoft.com/office/drawing/2014/main" id="{605A4947-8D4B-4142-98FA-7D32EB534385}"/>
              </a:ext>
            </a:extLst>
          </p:cNvPr>
          <p:cNvSpPr/>
          <p:nvPr/>
        </p:nvSpPr>
        <p:spPr>
          <a:xfrm>
            <a:off x="232857" y="1453244"/>
            <a:ext cx="8579441" cy="432048"/>
          </a:xfrm>
          <a:prstGeom prst="round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종류는 요양급여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sz="2000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요양비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건강검진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부가급여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장애인보장급여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endParaRPr lang="ko-KR" altLang="en-US" sz="2000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4195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6976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660928"/>
              </p:ext>
            </p:extLst>
          </p:nvPr>
        </p:nvGraphicFramePr>
        <p:xfrm>
          <a:off x="232858" y="1700809"/>
          <a:ext cx="8587614" cy="5425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85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 여 의  내 용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2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요양비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현금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긴급한 경우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부득이한 사유로 인해 요양기관과 유사한 기능을 수행하는 기관에서 요양을 받거나 요양기관 외의 장소에서 출산한 경우에 요양급여에 상당하는 금액을 지급하는 현금급여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 실시 기관에서 발급한 </a:t>
                      </a:r>
                      <a:r>
                        <a:rPr lang="ko-KR" altLang="en-US" sz="17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요양비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명세서나 영수증을 공단에 제출해야 함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74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건강검진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현물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7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가입자와 피부양자에 대한 질병의 조기 발견과 그에 따른 요양급여를 실시하는 현물급여</a:t>
                      </a:r>
                      <a:endParaRPr lang="en-US" altLang="ko-KR" sz="17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일반건강검진</a:t>
                      </a:r>
                      <a:r>
                        <a:rPr lang="en-US" altLang="ko-KR" sz="17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b="0" dirty="0" err="1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암검진</a:t>
                      </a:r>
                      <a:r>
                        <a:rPr lang="en-US" altLang="ko-KR" sz="17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b="0" dirty="0" err="1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영유아건강검진으로</a:t>
                      </a:r>
                      <a:r>
                        <a:rPr lang="ko-KR" altLang="en-US" sz="17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구분</a:t>
                      </a:r>
                      <a:endParaRPr lang="en-US" altLang="ko-KR" sz="17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7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일반건강검진은 매 </a:t>
                      </a:r>
                      <a:r>
                        <a:rPr lang="en-US" altLang="ko-KR" sz="17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7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년마다 </a:t>
                      </a:r>
                      <a:r>
                        <a:rPr lang="en-US" altLang="ko-KR" sz="17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7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회 실시</a:t>
                      </a:r>
                      <a:r>
                        <a:rPr lang="en-US" altLang="ko-KR" sz="17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비사무직은 매년 </a:t>
                      </a:r>
                      <a:r>
                        <a:rPr lang="en-US" altLang="ko-KR" sz="17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7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회 실시</a:t>
                      </a:r>
                      <a:endParaRPr lang="en-US" altLang="ko-KR" sz="17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7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US" altLang="ko-KR" sz="17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US" altLang="ko-KR" sz="17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US" altLang="ko-KR" sz="17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en-US" altLang="ko-KR" sz="17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endParaRPr lang="ko-KR" altLang="en-US" sz="17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32858" y="1000687"/>
            <a:ext cx="2538942" cy="4320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1)</a:t>
            </a:r>
            <a:r>
              <a:rPr lang="en-US" altLang="ko-KR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급여의 종류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440527"/>
              </p:ext>
            </p:extLst>
          </p:nvPr>
        </p:nvGraphicFramePr>
        <p:xfrm>
          <a:off x="1331640" y="5136717"/>
          <a:ext cx="7416824" cy="1467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1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rgbClr val="FFFF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일반</a:t>
                      </a:r>
                      <a:endParaRPr lang="en-US" altLang="ko-KR" sz="1600" b="0" dirty="0">
                        <a:solidFill>
                          <a:srgbClr val="FFFF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rgbClr val="FFFF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건강검진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b="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직장가입자와 </a:t>
                      </a:r>
                      <a:r>
                        <a:rPr lang="en-US" altLang="ko-KR" sz="1600" b="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</a:t>
                      </a:r>
                      <a:r>
                        <a:rPr lang="ko-KR" altLang="en-US" sz="1600" b="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이상인 피부양자 </a:t>
                      </a:r>
                      <a:endParaRPr lang="en-US" altLang="ko-KR" sz="1600" b="0" kern="0" spc="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600" b="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지역세대주와 </a:t>
                      </a:r>
                      <a:r>
                        <a:rPr lang="en-US" altLang="ko-KR" sz="1600" b="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</a:t>
                      </a:r>
                      <a:r>
                        <a:rPr lang="ko-KR" altLang="en-US" sz="1600" b="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이상인 </a:t>
                      </a:r>
                      <a:r>
                        <a:rPr lang="ko-KR" altLang="en-US" sz="1600" b="0" kern="0" spc="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세대원</a:t>
                      </a:r>
                      <a:endParaRPr lang="ko-KR" altLang="en-US" sz="1600" b="0" kern="0" spc="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4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암 검 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6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암의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6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종류별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6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검진주기와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6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연령기준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6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등에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6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해당하는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6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사람</a:t>
                      </a:r>
                      <a:endParaRPr lang="ko-KR" altLang="en-US" sz="16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 err="1">
                          <a:solidFill>
                            <a:srgbClr val="01BF06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영유아건강검진</a:t>
                      </a:r>
                      <a:endParaRPr lang="ko-KR" altLang="en-US" sz="1600" b="0" dirty="0">
                        <a:solidFill>
                          <a:srgbClr val="01BF06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6세 </a:t>
                      </a:r>
                      <a:r>
                        <a:rPr lang="en-US" altLang="ko-KR" sz="16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미만의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6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지역가입자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및 </a:t>
                      </a:r>
                      <a:r>
                        <a:rPr lang="en-US" altLang="ko-KR" sz="16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직장가입자의</a:t>
                      </a:r>
                      <a:r>
                        <a:rPr lang="en-US" altLang="ko-KR" sz="16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6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피부양자</a:t>
                      </a:r>
                      <a:endParaRPr lang="ko-KR" altLang="en-US" sz="16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61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986049"/>
              </p:ext>
            </p:extLst>
          </p:nvPr>
        </p:nvGraphicFramePr>
        <p:xfrm>
          <a:off x="251520" y="1628800"/>
          <a:ext cx="8496944" cy="35720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6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79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 여 의 내 용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72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부가급여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이용권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임산부에게 지급하는 임신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출산에 관련된 진료비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이용권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바우처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형태로 지급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(100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다태아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140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709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장애인보장구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현금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장애인복지법에 의해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등록된 장애인 가입자 및 피부양자가 구입한 보장구에 대한 현금 지원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787">
                <a:tc gridSpan="2">
                  <a:txBody>
                    <a:bodyPr/>
                    <a:lstStyle/>
                    <a:p>
                      <a:pPr algn="l"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☞ 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우리나라의 건강보험제도는 </a:t>
                      </a:r>
                      <a:r>
                        <a:rPr lang="ko-KR" altLang="en-US" sz="16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현물급여가 원칙</a:t>
                      </a:r>
                      <a:r>
                        <a:rPr lang="en-US" altLang="ko-KR" sz="16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일부 현금급여 병행</a:t>
                      </a:r>
                      <a:endParaRPr lang="en-US" altLang="ko-KR" sz="1600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l" fontAlgn="base" latinLnBrk="1">
                        <a:lnSpc>
                          <a:spcPct val="150000"/>
                        </a:lnSpc>
                      </a:pP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  현물급여</a:t>
                      </a: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: 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요양급여</a:t>
                      </a: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건강검진</a:t>
                      </a:r>
                      <a:endParaRPr lang="en-US" altLang="ko-KR" sz="16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l" fontAlgn="base" latinLnBrk="1">
                        <a:lnSpc>
                          <a:spcPct val="150000"/>
                        </a:lnSpc>
                      </a:pP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  현금급여</a:t>
                      </a: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: </a:t>
                      </a:r>
                      <a:r>
                        <a:rPr lang="ko-KR" altLang="en-US" sz="1600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요양비</a:t>
                      </a: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장애인보장구</a:t>
                      </a:r>
                      <a:endParaRPr lang="en-US" altLang="ko-KR" sz="16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l" fontAlgn="base" latinLnBrk="1">
                        <a:lnSpc>
                          <a:spcPct val="150000"/>
                        </a:lnSpc>
                      </a:pP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  바 우 처</a:t>
                      </a: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:  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부가급여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51520" y="980728"/>
            <a:ext cx="2520280" cy="4320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1)</a:t>
            </a:r>
            <a:r>
              <a:rPr lang="en-US" altLang="ko-KR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급여의 종류</a:t>
            </a:r>
          </a:p>
        </p:txBody>
      </p:sp>
    </p:spTree>
    <p:extLst>
      <p:ext uri="{BB962C8B-B14F-4D97-AF65-F5344CB8AC3E}">
        <p14:creationId xmlns:p14="http://schemas.microsoft.com/office/powerpoint/2010/main" val="1526352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0648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251520" y="1016732"/>
            <a:ext cx="5688632" cy="3960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2)</a:t>
            </a:r>
            <a:r>
              <a:rPr lang="en-US" altLang="ko-KR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본인일부부담금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및 </a:t>
            </a:r>
            <a:r>
              <a:rPr lang="ko-KR" altLang="en-US" sz="2400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본인부담상한제</a:t>
            </a:r>
            <a:endParaRPr lang="ko-KR" altLang="en-US" sz="2400" dirty="0">
              <a:solidFill>
                <a:schemeClr val="tx1"/>
              </a:solidFill>
              <a:latin typeface="HY울릉도B" panose="02030600000101010101" pitchFamily="18" charset="-127"/>
              <a:ea typeface="HY울릉도B" panose="02030600000101010101" pitchFamily="18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282659" y="2276872"/>
            <a:ext cx="8640960" cy="41764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</a:pPr>
            <a:r>
              <a:rPr lang="ko-KR" altLang="en-US" sz="1800" dirty="0" err="1">
                <a:latin typeface="HY울릉도M" pitchFamily="18" charset="-127"/>
                <a:ea typeface="HY울릉도M" pitchFamily="18" charset="-127"/>
              </a:rPr>
              <a:t>본인일부부담금은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 요양급여를 받은 자가 비용의 일부를 부담하는 제도로 거의 모든 국가에서 이 제도를 채택하고 있음</a:t>
            </a:r>
            <a:endParaRPr lang="en-US" altLang="ko-KR" sz="1800" dirty="0">
              <a:latin typeface="HY울릉도M" pitchFamily="18" charset="-127"/>
              <a:ea typeface="HY울릉도M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800" dirty="0" err="1">
                <a:latin typeface="HY울릉도M" pitchFamily="18" charset="-127"/>
                <a:ea typeface="HY울릉도M" pitchFamily="18" charset="-127"/>
              </a:rPr>
              <a:t>본인일부부담금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 제도를 두는 이유는 서비스의 남용을 억제하고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(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도덕적 해이 방지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), 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수익자와 </a:t>
            </a:r>
            <a:r>
              <a:rPr lang="ko-KR" altLang="en-US" sz="1800" dirty="0" err="1">
                <a:latin typeface="HY울릉도M" pitchFamily="18" charset="-127"/>
                <a:ea typeface="HY울릉도M" pitchFamily="18" charset="-127"/>
              </a:rPr>
              <a:t>비수익자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 간의 형평성을 도모하며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, 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수익자 부담분을 사회보장의  재원으로 재 충당할 수 있다는 데 있음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 </a:t>
            </a:r>
          </a:p>
          <a:p>
            <a:pPr fontAlgn="base">
              <a:lnSpc>
                <a:spcPct val="150000"/>
              </a:lnSpc>
            </a:pP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입원의 경우 요양급여비용 총액의 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20%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이고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, 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외래의 경우는 의료기관 유형별과 동 지역 및 읍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·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면지역에 따라 본인부담의 형태가 다름</a:t>
            </a:r>
            <a:endParaRPr lang="en-US" altLang="ko-KR" sz="1800" dirty="0">
              <a:latin typeface="HY울릉도M" pitchFamily="18" charset="-127"/>
              <a:ea typeface="HY울릉도M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또한 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6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세 미만의 아동일 경우 입원은 요양급여비용 총액의 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10%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를 적용하고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,  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외래는 성인 본인부담률의 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70%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를 적용함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 </a:t>
            </a:r>
            <a:endParaRPr lang="ko-KR" altLang="en-US" sz="1800" dirty="0">
              <a:latin typeface="HY울릉도M" pitchFamily="18" charset="-127"/>
              <a:ea typeface="HY울릉도M" pitchFamily="18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800" dirty="0"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88486" y="1700808"/>
            <a:ext cx="262733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HY울릉도M" pitchFamily="18" charset="-127"/>
                <a:ea typeface="HY울릉도M" pitchFamily="18" charset="-127"/>
              </a:rPr>
              <a:t>(1) </a:t>
            </a:r>
            <a:r>
              <a:rPr lang="ko-KR" altLang="en-US" sz="2000" dirty="0" err="1">
                <a:latin typeface="HY울릉도M" pitchFamily="18" charset="-127"/>
                <a:ea typeface="HY울릉도M" pitchFamily="18" charset="-127"/>
              </a:rPr>
              <a:t>본인일부부담금</a:t>
            </a:r>
            <a:endParaRPr lang="en-US" altLang="ko-KR" sz="2000" dirty="0">
              <a:latin typeface="HY울릉도M" pitchFamily="18" charset="-127"/>
              <a:ea typeface="HY울릉도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9014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0648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1619672" y="1180414"/>
            <a:ext cx="5040560" cy="3960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/>
            <a:r>
              <a:rPr lang="en-US" altLang="ko-KR" sz="2000" dirty="0">
                <a:latin typeface="HY울릉도M" pitchFamily="18" charset="-127"/>
                <a:ea typeface="HY울릉도M" pitchFamily="18" charset="-127"/>
              </a:rPr>
              <a:t>&lt;</a:t>
            </a:r>
            <a:r>
              <a:rPr lang="ko-KR" altLang="en-US" sz="2000" dirty="0">
                <a:latin typeface="HY울릉도M" pitchFamily="18" charset="-127"/>
                <a:ea typeface="HY울릉도M" pitchFamily="18" charset="-127"/>
              </a:rPr>
              <a:t>표</a:t>
            </a:r>
            <a:r>
              <a:rPr lang="en-US" altLang="ko-KR" sz="2000" dirty="0">
                <a:latin typeface="HY울릉도M" pitchFamily="18" charset="-127"/>
                <a:ea typeface="HY울릉도M" pitchFamily="18" charset="-127"/>
              </a:rPr>
              <a:t>&gt; </a:t>
            </a:r>
            <a:r>
              <a:rPr lang="ko-KR" altLang="en-US" sz="2000" dirty="0">
                <a:latin typeface="HY울릉도M" pitchFamily="18" charset="-127"/>
                <a:ea typeface="HY울릉도M" pitchFamily="18" charset="-127"/>
              </a:rPr>
              <a:t>입원 및 외래진료의 본인부담률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EA03298-1914-4733-91B2-24A435A82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34025"/>
              </p:ext>
            </p:extLst>
          </p:nvPr>
        </p:nvGraphicFramePr>
        <p:xfrm>
          <a:off x="280648" y="1905322"/>
          <a:ext cx="8640960" cy="4764038"/>
        </p:xfrm>
        <a:graphic>
          <a:graphicData uri="http://schemas.openxmlformats.org/drawingml/2006/table">
            <a:tbl>
              <a:tblPr/>
              <a:tblGrid>
                <a:gridCol w="546936">
                  <a:extLst>
                    <a:ext uri="{9D8B030D-6E8A-4147-A177-3AD203B41FA5}">
                      <a16:colId xmlns:a16="http://schemas.microsoft.com/office/drawing/2014/main" val="1176318955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3569619556"/>
                    </a:ext>
                  </a:extLst>
                </a:gridCol>
                <a:gridCol w="6293824">
                  <a:extLst>
                    <a:ext uri="{9D8B030D-6E8A-4147-A177-3AD203B41FA5}">
                      <a16:colId xmlns:a16="http://schemas.microsoft.com/office/drawing/2014/main" val="2452859627"/>
                    </a:ext>
                  </a:extLst>
                </a:gridCol>
              </a:tblGrid>
              <a:tr h="34775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구 분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본인부담률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091520"/>
                  </a:ext>
                </a:extLst>
              </a:tr>
              <a:tr h="39667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입원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9060" marR="0" indent="-990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∙ 요양급여비용 총액의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20%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966157"/>
                  </a:ext>
                </a:extLst>
              </a:tr>
              <a:tr h="396671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외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endParaRPr lang="en-US" altLang="ko-KR" sz="1800" kern="0" spc="-50" dirty="0">
                        <a:solidFill>
                          <a:srgbClr val="000000"/>
                        </a:solidFill>
                        <a:effectLst/>
                        <a:ea typeface="-윤고딕120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래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상급종합병원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060" marR="0" indent="-990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∙ 진찰료 총액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+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나머지 진료비의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60%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411274"/>
                  </a:ext>
                </a:extLst>
              </a:tr>
              <a:tr h="3966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종합병원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060" marR="0" indent="-990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∙ 요양급여비용 총액의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50%(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동지역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), 45%(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읍ㆍ면지역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)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153117"/>
                  </a:ext>
                </a:extLst>
              </a:tr>
              <a:tr h="3966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병원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060" marR="0" indent="-990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∙ 요양급여비용 총액의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40%(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동지역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), 35%(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읍ㆍ면지역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)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829015"/>
                  </a:ext>
                </a:extLst>
              </a:tr>
              <a:tr h="9453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의원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060" marR="0" indent="-990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∙ 요양급여비용 총액의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30%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17170" marR="0" indent="-2171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※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65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세 이상이면서 요양급여비용이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15,000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원 이하이면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1,500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원</a:t>
                      </a:r>
                      <a:endParaRPr lang="en-US" altLang="ko-KR" sz="1800" kern="0" spc="-50" dirty="0">
                        <a:solidFill>
                          <a:srgbClr val="000000"/>
                        </a:solidFill>
                        <a:effectLst/>
                        <a:ea typeface="-윤고딕110"/>
                      </a:endParaRPr>
                    </a:p>
                    <a:p>
                      <a:pPr marL="217170" marR="0" indent="-2171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시행규칙 제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13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조 제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항 관련 별표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3) 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289856"/>
                  </a:ext>
                </a:extLst>
              </a:tr>
              <a:tr h="9453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1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보건소</a:t>
                      </a:r>
                      <a:r>
                        <a:rPr lang="en-US" altLang="ko-KR" sz="1800" kern="0" spc="-1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. </a:t>
                      </a:r>
                      <a:r>
                        <a:rPr lang="ko-KR" altLang="en-US" sz="1800" kern="0" spc="-150" dirty="0" err="1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보건지소</a:t>
                      </a:r>
                      <a:r>
                        <a:rPr lang="ko-KR" altLang="en-US" sz="1800" kern="0" spc="-1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 </a:t>
                      </a:r>
                      <a:endParaRPr lang="ko-KR" altLang="en-US" sz="1800" kern="0" spc="-15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보건진료소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9060" marR="0" indent="-990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∙ 요양급여비용 총액의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30%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24790" marR="0" indent="-2247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※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요양급여비용이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12,000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원 이하면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500~2,200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원</a:t>
                      </a:r>
                      <a:endParaRPr lang="en-US" altLang="ko-KR" sz="1800" kern="0" spc="-50" dirty="0">
                        <a:solidFill>
                          <a:srgbClr val="000000"/>
                        </a:solidFill>
                        <a:effectLst/>
                        <a:ea typeface="-윤고딕110"/>
                      </a:endParaRPr>
                    </a:p>
                    <a:p>
                      <a:pPr marL="224790" marR="0" indent="-2247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   (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시행규칙 제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13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조 제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항 관련 별표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3)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898152"/>
                  </a:ext>
                </a:extLst>
              </a:tr>
              <a:tr h="59111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6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세 미만의 아동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9060" marR="0" indent="-990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∙ 외래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: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성인 </a:t>
                      </a:r>
                      <a:r>
                        <a:rPr lang="ko-KR" altLang="en-US" sz="1800" kern="0" spc="-50" dirty="0" err="1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본인부담률의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70%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2153527"/>
                  </a:ext>
                </a:extLst>
              </a:tr>
              <a:tr h="34775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15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세 이하의 아동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9060" marR="0" indent="-990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∙ 입원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: 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10"/>
                        </a:rPr>
                        <a:t>요양급여비용 총액의 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5%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629218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1F3860A-53CA-4A25-8B3E-8241144E8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88" y="2152650"/>
            <a:ext cx="1091662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815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131748"/>
              </p:ext>
            </p:extLst>
          </p:nvPr>
        </p:nvGraphicFramePr>
        <p:xfrm>
          <a:off x="293731" y="1772816"/>
          <a:ext cx="8568952" cy="4350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1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1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1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11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11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82910">
                <a:tc gridSpan="8"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연간 환자가 부담한 본인부담액이 </a:t>
                      </a:r>
                      <a:r>
                        <a:rPr lang="ko-KR" altLang="en-US" sz="1800" b="0" kern="0" spc="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상한액</a:t>
                      </a:r>
                      <a:r>
                        <a:rPr lang="ko-KR" altLang="en-US" sz="1800" b="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기준을 초과할 경우 초과금액을 국민건강보험공단이 가입자에게 환급하는 제도</a:t>
                      </a:r>
                      <a:r>
                        <a:rPr lang="en-US" altLang="ko-KR" sz="1800" b="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0" kern="0" spc="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비급여항목은</a:t>
                      </a:r>
                      <a:r>
                        <a:rPr lang="ko-KR" altLang="en-US" sz="1800" b="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제외</a:t>
                      </a:r>
                      <a:r>
                        <a:rPr lang="en-US" altLang="ko-KR" sz="1800" b="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소득수준에 따라 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7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단계로 차등 적용함</a:t>
                      </a:r>
                      <a:endParaRPr lang="en-US" altLang="ko-KR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2018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본인부담금 </a:t>
                      </a:r>
                      <a:r>
                        <a:rPr lang="ko-KR" altLang="en-US" sz="1800" b="0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상한액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기준은 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80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-523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  <a:endParaRPr lang="en-US" altLang="ko-KR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1-5</a:t>
                      </a:r>
                      <a:r>
                        <a:rPr lang="ko-KR" altLang="en-US" sz="1800" b="0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분위까지는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요양병원 입원일수 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120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 초과여부에 따라 달라짐</a:t>
                      </a:r>
                      <a:endParaRPr lang="en-US" altLang="ko-KR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ko-KR" altLang="en-US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68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요양병원</a:t>
                      </a:r>
                      <a:endParaRPr lang="en-US" altLang="ko-KR" sz="1600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입원일수</a:t>
                      </a:r>
                    </a:p>
                  </a:txBody>
                  <a:tcPr marL="64770" marR="64770" marT="17907" marB="1790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sz="1600" kern="0" spc="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분위</a:t>
                      </a:r>
                      <a:endParaRPr lang="ko-KR" altLang="en-US" sz="1600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2-3</a:t>
                      </a:r>
                      <a:r>
                        <a:rPr lang="ko-KR" altLang="en-US" sz="1600" kern="0" spc="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분위</a:t>
                      </a:r>
                      <a:endParaRPr lang="ko-KR" altLang="en-US" sz="1600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4-5</a:t>
                      </a:r>
                      <a:r>
                        <a:rPr lang="ko-KR" altLang="en-US" sz="1600" kern="0" spc="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분위</a:t>
                      </a:r>
                      <a:endParaRPr lang="ko-KR" altLang="en-US" sz="1600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6-7</a:t>
                      </a:r>
                      <a:r>
                        <a:rPr lang="ko-KR" altLang="en-US" sz="1600" kern="0" spc="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분위</a:t>
                      </a:r>
                      <a:endParaRPr lang="ko-KR" altLang="en-US" sz="1600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8</a:t>
                      </a:r>
                      <a:r>
                        <a:rPr lang="ko-KR" altLang="en-US" sz="1600" kern="0" spc="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분위</a:t>
                      </a:r>
                      <a:endParaRPr lang="ko-KR" altLang="en-US" sz="1600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9</a:t>
                      </a:r>
                      <a:r>
                        <a:rPr lang="ko-KR" altLang="en-US" sz="1600" kern="0" spc="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분위</a:t>
                      </a:r>
                      <a:endParaRPr lang="ko-KR" altLang="en-US" sz="1600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10</a:t>
                      </a:r>
                      <a:r>
                        <a:rPr lang="ko-KR" altLang="en-US" sz="1600" kern="0" spc="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분위</a:t>
                      </a:r>
                      <a:endParaRPr lang="ko-KR" altLang="en-US" sz="1600" kern="0" spc="0" dirty="0">
                        <a:solidFill>
                          <a:srgbClr val="FFFF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120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 이하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81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101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152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 marL="64770" marR="64770" marT="17907" marB="17907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281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 marL="64770" marR="64770" marT="17907" marB="17907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351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 marL="64770" marR="64770" marT="17907" marB="17907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431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 marL="64770" marR="64770" marT="17907" marB="17907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582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120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 초과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125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157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211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293731" y="1146810"/>
            <a:ext cx="262733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HY울릉도M" pitchFamily="18" charset="-127"/>
                <a:ea typeface="HY울릉도M" pitchFamily="18" charset="-127"/>
              </a:rPr>
              <a:t>(2) </a:t>
            </a:r>
            <a:r>
              <a:rPr lang="ko-KR" altLang="en-US" sz="2000" dirty="0" err="1">
                <a:latin typeface="HY울릉도M" pitchFamily="18" charset="-127"/>
                <a:ea typeface="HY울릉도M" pitchFamily="18" charset="-127"/>
              </a:rPr>
              <a:t>본인부담상한제</a:t>
            </a:r>
            <a:endParaRPr lang="en-US" altLang="ko-KR" sz="2000" dirty="0">
              <a:latin typeface="HY울릉도M" pitchFamily="18" charset="-127"/>
              <a:ea typeface="HY울릉도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2536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146303"/>
              </p:ext>
            </p:extLst>
          </p:nvPr>
        </p:nvGraphicFramePr>
        <p:xfrm>
          <a:off x="323528" y="1988880"/>
          <a:ext cx="8496944" cy="4766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4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  류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 용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057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행위별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수가제</a:t>
                      </a:r>
                    </a:p>
                    <a:p>
                      <a:pPr marL="0" marR="0" indent="0" algn="ctr" fontAlgn="base" latinLnBrk="0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fee for service)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개별 의료행위마다 가격이 지불되는 체계</a:t>
                      </a:r>
                    </a:p>
                    <a:p>
                      <a:pPr marL="180000" marR="0" indent="180000" algn="just" fontAlgn="base" latinLnBrk="1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과잉진료 유도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진료비 부당청구 가능성이 있음</a:t>
                      </a:r>
                    </a:p>
                    <a:p>
                      <a:pPr marL="180000" marR="0" lvl="0" indent="180000" algn="just" fontAlgn="base" latinLnBrk="1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독일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프랑스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미국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한국 등에서 운영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52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포괄수가제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(DRG)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fee for diagnosis related group)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질병 군에 따라 미리 정해진 표준화된 진료비를 의료기관에 지급</a:t>
                      </a:r>
                    </a:p>
                    <a:p>
                      <a:pPr marL="180000" marR="0" indent="180000" algn="just" fontAlgn="base" latinLnBrk="1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진료비 절감효과가 크나 진료의 질 저하의 문제점</a:t>
                      </a:r>
                    </a:p>
                    <a:p>
                      <a:pPr marL="180000" marR="0" lvl="0" indent="180000" algn="just" fontAlgn="base" latinLnBrk="1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독일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프랑스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미국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한국 등이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행위별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수가제와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함께 사용함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52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인두제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capitation fee)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담당하는 환자 수에 비례하여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국가로부터 일정액을 지급받는 방식</a:t>
                      </a:r>
                      <a:endParaRPr lang="en-US" altLang="ko-KR" sz="16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180000" marR="0" indent="180000" algn="just" fontAlgn="base" latinLnBrk="1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진료비 절감효과가 크나 진료의 질 저하의 문제점</a:t>
                      </a:r>
                    </a:p>
                    <a:p>
                      <a:pPr marL="180000" marR="0" lvl="0" indent="180000" algn="just" fontAlgn="base" latinLnBrk="1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영국 등에서 주치의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가정의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제도로 운영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533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총액계약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예산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제</a:t>
                      </a:r>
                    </a:p>
                    <a:p>
                      <a:pPr marL="0" marR="0" indent="0" algn="ctr" fontAlgn="base" latinLnBrk="0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global budget)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보험자와 의사단체</a:t>
                      </a: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보험의협회</a:t>
                      </a:r>
                      <a:r>
                        <a:rPr lang="en-US" altLang="ko-KR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 </a:t>
                      </a:r>
                      <a:r>
                        <a:rPr lang="ko-KR" altLang="en-US" sz="16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간에 진료비 총액을 추계하고    계약을 체결하는 방식</a:t>
                      </a:r>
                    </a:p>
                    <a:p>
                      <a:pPr marL="180000" marR="0" lvl="0" indent="180000" algn="just" fontAlgn="base" latinLnBrk="1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의사단체는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행위별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수가제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등에 의해 각 의사에게 진료비 배정</a:t>
                      </a:r>
                    </a:p>
                    <a:p>
                      <a:pPr marL="180000" marR="0" indent="180000" algn="just" fontAlgn="base" latinLnBrk="1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의료서비스의 질을 낮추고 과소진료가 가능</a:t>
                      </a:r>
                    </a:p>
                    <a:p>
                      <a:pPr marL="180000" marR="0" indent="180000" algn="just" fontAlgn="base" latinLnBrk="1"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독일 등에서 부문별로 운영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519772" y="1528514"/>
            <a:ext cx="4104456" cy="3729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표</a:t>
            </a: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진료비 지불방식 종류와 내용</a:t>
            </a:r>
          </a:p>
        </p:txBody>
      </p:sp>
      <p:sp>
        <p:nvSpPr>
          <p:cNvPr id="6" name="모서리가 둥근 직사각형 9">
            <a:extLst>
              <a:ext uri="{FF2B5EF4-FFF2-40B4-BE49-F238E27FC236}">
                <a16:creationId xmlns:a16="http://schemas.microsoft.com/office/drawing/2014/main" id="{78DDD351-37E6-457C-850A-3BA02D5B63F8}"/>
              </a:ext>
            </a:extLst>
          </p:cNvPr>
          <p:cNvSpPr/>
          <p:nvPr/>
        </p:nvSpPr>
        <p:spPr>
          <a:xfrm>
            <a:off x="251520" y="946036"/>
            <a:ext cx="3168352" cy="3960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3)</a:t>
            </a:r>
            <a:r>
              <a:rPr lang="en-US" altLang="ko-KR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진료비 지불방식</a:t>
            </a:r>
            <a:endParaRPr lang="ko-KR" altLang="en-US" sz="2400" dirty="0">
              <a:solidFill>
                <a:schemeClr val="tx1"/>
              </a:solidFill>
              <a:latin typeface="HY울릉도B" panose="02030600000101010101" pitchFamily="18" charset="-127"/>
              <a:ea typeface="HY울릉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5700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279529"/>
              </p:ext>
            </p:extLst>
          </p:nvPr>
        </p:nvGraphicFramePr>
        <p:xfrm>
          <a:off x="251520" y="1772816"/>
          <a:ext cx="8568952" cy="3888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8432">
                <a:tc>
                  <a:txBody>
                    <a:bodyPr/>
                    <a:lstStyle/>
                    <a:p>
                      <a:pPr marL="285750" marR="0" indent="-28575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1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우리나라는 </a:t>
                      </a:r>
                      <a:r>
                        <a:rPr lang="ko-KR" altLang="en-US" sz="1800" b="1" kern="0" spc="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행위별</a:t>
                      </a:r>
                      <a:r>
                        <a:rPr lang="ko-KR" altLang="en-US" sz="1800" b="1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수가제를 기본적으로 하고 포괄수가제를 부분별로 채택</a:t>
                      </a:r>
                      <a:endParaRPr lang="en-US" altLang="ko-KR" sz="1800" b="1" kern="0" spc="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포괄수가제는 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1997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시범사업에서 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2013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년부터 </a:t>
                      </a:r>
                      <a:r>
                        <a:rPr lang="en-US" altLang="ko-KR" sz="1800" b="1" kern="0" spc="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7</a:t>
                      </a:r>
                      <a:r>
                        <a:rPr lang="ko-KR" altLang="en-US" sz="1800" b="1" kern="0" spc="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개의 질병군에 적용함</a:t>
                      </a:r>
                      <a:endParaRPr lang="en-US" altLang="ko-KR" sz="1800" b="1" kern="0" spc="0" dirty="0">
                        <a:solidFill>
                          <a:srgbClr val="01BF06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(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수정체수술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편도수술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충수절제술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탈장수술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항문수술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자궁수술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제왕절개분만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285750" marR="0" indent="-28575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altLang="ko-KR" sz="18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1" kern="0" spc="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2009</a:t>
                      </a:r>
                      <a:r>
                        <a:rPr lang="ko-KR" altLang="en-US" sz="1800" b="1" kern="0" spc="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년부터 신포괄수가제</a:t>
                      </a:r>
                      <a:r>
                        <a:rPr lang="en-US" altLang="ko-KR" sz="1800" b="1" kern="0" spc="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1" kern="0" spc="0" dirty="0" err="1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행위별</a:t>
                      </a:r>
                      <a:r>
                        <a:rPr lang="ko-KR" altLang="en-US" sz="1800" b="1" kern="0" spc="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b="1" kern="0" spc="0" dirty="0" err="1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수가제</a:t>
                      </a:r>
                      <a:r>
                        <a:rPr lang="en-US" altLang="ko-KR" sz="1800" b="1" kern="0" spc="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+</a:t>
                      </a:r>
                      <a:r>
                        <a:rPr lang="ko-KR" altLang="en-US" sz="1800" b="1" kern="0" spc="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포괄수가제</a:t>
                      </a:r>
                      <a:r>
                        <a:rPr lang="en-US" altLang="ko-KR" sz="1800" b="1" kern="0" spc="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800" b="1" kern="0" spc="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시행</a:t>
                      </a:r>
                      <a:endParaRPr lang="en-US" altLang="ko-KR" sz="1800" b="1" kern="0" spc="0" dirty="0">
                        <a:solidFill>
                          <a:srgbClr val="2D15DB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입원료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처치 등 진료에 필요한 기본적 서비스는 포괄수가제 적용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의사의 수술 및 시술은 </a:t>
                      </a:r>
                      <a:r>
                        <a:rPr lang="ko-KR" altLang="en-US" sz="1800" b="0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행위별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b="0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수가제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적용</a:t>
                      </a:r>
                      <a:endParaRPr lang="en-US" altLang="ko-KR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l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대 중증질환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암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뇌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심장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희귀난치성질환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을 포함한 </a:t>
                      </a:r>
                      <a:r>
                        <a:rPr lang="en-US" altLang="ko-KR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567</a:t>
                      </a:r>
                      <a:r>
                        <a:rPr lang="ko-KR" altLang="en-US" sz="18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개의 복잡한 질환까지 포함</a:t>
                      </a:r>
                      <a:endParaRPr lang="en-US" sz="16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모서리가 둥근 직사각형 9">
            <a:extLst>
              <a:ext uri="{FF2B5EF4-FFF2-40B4-BE49-F238E27FC236}">
                <a16:creationId xmlns:a16="http://schemas.microsoft.com/office/drawing/2014/main" id="{4B7D9863-C2F1-4DE7-8213-72CBA144F4EC}"/>
              </a:ext>
            </a:extLst>
          </p:cNvPr>
          <p:cNvSpPr/>
          <p:nvPr/>
        </p:nvSpPr>
        <p:spPr>
          <a:xfrm>
            <a:off x="251520" y="1009737"/>
            <a:ext cx="3168352" cy="3960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3)</a:t>
            </a:r>
            <a:r>
              <a:rPr lang="en-US" altLang="ko-KR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진료비 지불방식</a:t>
            </a:r>
            <a:endParaRPr lang="ko-KR" altLang="en-US" sz="2400" dirty="0">
              <a:solidFill>
                <a:schemeClr val="tx1"/>
              </a:solidFill>
              <a:latin typeface="HY울릉도B" panose="02030600000101010101" pitchFamily="18" charset="-127"/>
              <a:ea typeface="HY울릉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9577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22860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anose="02030600000101010101" pitchFamily="18" charset="-127"/>
                <a:ea typeface="HY울릉도B" panose="02030600000101010101" pitchFamily="18" charset="-127"/>
              </a:rPr>
              <a:t>5. </a:t>
            </a:r>
            <a:r>
              <a:rPr lang="ko-KR" altLang="en-US" sz="3200" dirty="0">
                <a:latin typeface="HY울릉도B" panose="02030600000101010101" pitchFamily="18" charset="-127"/>
                <a:ea typeface="HY울릉도B" panose="02030600000101010101" pitchFamily="18" charset="-127"/>
              </a:rPr>
              <a:t>급여내용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1691680" y="1412776"/>
            <a:ext cx="5112568" cy="3600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표</a:t>
            </a: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포괄수가</a:t>
            </a: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(DRG) 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진료비 현황</a:t>
            </a: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(2019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년</a:t>
            </a: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)</a:t>
            </a:r>
            <a:endParaRPr lang="ko-KR" altLang="en-US" dirty="0">
              <a:solidFill>
                <a:schemeClr val="tx1"/>
              </a:solidFill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87D844F-B4A4-44DA-80CD-985FBC70D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279304"/>
              </p:ext>
            </p:extLst>
          </p:nvPr>
        </p:nvGraphicFramePr>
        <p:xfrm>
          <a:off x="359531" y="2060848"/>
          <a:ext cx="8424937" cy="4502504"/>
        </p:xfrm>
        <a:graphic>
          <a:graphicData uri="http://schemas.openxmlformats.org/drawingml/2006/table">
            <a:tbl>
              <a:tblPr/>
              <a:tblGrid>
                <a:gridCol w="1206071">
                  <a:extLst>
                    <a:ext uri="{9D8B030D-6E8A-4147-A177-3AD203B41FA5}">
                      <a16:colId xmlns:a16="http://schemas.microsoft.com/office/drawing/2014/main" val="4144833589"/>
                    </a:ext>
                  </a:extLst>
                </a:gridCol>
                <a:gridCol w="848335">
                  <a:extLst>
                    <a:ext uri="{9D8B030D-6E8A-4147-A177-3AD203B41FA5}">
                      <a16:colId xmlns:a16="http://schemas.microsoft.com/office/drawing/2014/main" val="2072904875"/>
                    </a:ext>
                  </a:extLst>
                </a:gridCol>
                <a:gridCol w="956382">
                  <a:extLst>
                    <a:ext uri="{9D8B030D-6E8A-4147-A177-3AD203B41FA5}">
                      <a16:colId xmlns:a16="http://schemas.microsoft.com/office/drawing/2014/main" val="1467553560"/>
                    </a:ext>
                  </a:extLst>
                </a:gridCol>
                <a:gridCol w="985657">
                  <a:extLst>
                    <a:ext uri="{9D8B030D-6E8A-4147-A177-3AD203B41FA5}">
                      <a16:colId xmlns:a16="http://schemas.microsoft.com/office/drawing/2014/main" val="1061284121"/>
                    </a:ext>
                  </a:extLst>
                </a:gridCol>
                <a:gridCol w="819060">
                  <a:extLst>
                    <a:ext uri="{9D8B030D-6E8A-4147-A177-3AD203B41FA5}">
                      <a16:colId xmlns:a16="http://schemas.microsoft.com/office/drawing/2014/main" val="2202408832"/>
                    </a:ext>
                  </a:extLst>
                </a:gridCol>
                <a:gridCol w="902358">
                  <a:extLst>
                    <a:ext uri="{9D8B030D-6E8A-4147-A177-3AD203B41FA5}">
                      <a16:colId xmlns:a16="http://schemas.microsoft.com/office/drawing/2014/main" val="970621014"/>
                    </a:ext>
                  </a:extLst>
                </a:gridCol>
                <a:gridCol w="902358">
                  <a:extLst>
                    <a:ext uri="{9D8B030D-6E8A-4147-A177-3AD203B41FA5}">
                      <a16:colId xmlns:a16="http://schemas.microsoft.com/office/drawing/2014/main" val="3342164581"/>
                    </a:ext>
                  </a:extLst>
                </a:gridCol>
                <a:gridCol w="902358">
                  <a:extLst>
                    <a:ext uri="{9D8B030D-6E8A-4147-A177-3AD203B41FA5}">
                      <a16:colId xmlns:a16="http://schemas.microsoft.com/office/drawing/2014/main" val="1250146293"/>
                    </a:ext>
                  </a:extLst>
                </a:gridCol>
                <a:gridCol w="902358">
                  <a:extLst>
                    <a:ext uri="{9D8B030D-6E8A-4147-A177-3AD203B41FA5}">
                      <a16:colId xmlns:a16="http://schemas.microsoft.com/office/drawing/2014/main" val="311436318"/>
                    </a:ext>
                  </a:extLst>
                </a:gridCol>
              </a:tblGrid>
              <a:tr h="9585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구분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총계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수정체</a:t>
                      </a:r>
                      <a:endParaRPr lang="en-US" altLang="ko-KR" sz="1600" b="1" kern="0" spc="-50" dirty="0">
                        <a:solidFill>
                          <a:srgbClr val="000000"/>
                        </a:solidFill>
                        <a:effectLst/>
                        <a:ea typeface="함초롬바탕" panose="020305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수술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편도수술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충수</a:t>
                      </a:r>
                      <a:endParaRPr lang="en-US" altLang="ko-KR" sz="1600" b="1" kern="0" spc="-50" dirty="0">
                        <a:solidFill>
                          <a:srgbClr val="000000"/>
                        </a:solidFill>
                        <a:effectLst/>
                        <a:ea typeface="함초롬바탕" panose="020305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절제술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탈장수술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항문수술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자궁수술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제왕절개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482450"/>
                  </a:ext>
                </a:extLst>
              </a:tr>
              <a:tr h="9585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진료비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(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억원</a:t>
                      </a: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17,510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5,778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406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2,018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527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2,516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2,954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3,310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000072"/>
                  </a:ext>
                </a:extLst>
              </a:tr>
              <a:tr h="12210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건당 입원일수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(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일</a:t>
                      </a: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)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2.55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1.04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2.87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4.86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2.94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2.46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4.91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6.29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509419"/>
                  </a:ext>
                </a:extLst>
              </a:tr>
              <a:tr h="12210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건당 진료비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(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함초롬바탕" panose="02030504000101010101" pitchFamily="18" charset="-127"/>
                        </a:rPr>
                        <a:t>만원</a:t>
                      </a: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)</a:t>
                      </a:r>
                      <a:endParaRPr lang="ko-KR" alt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143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94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124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305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189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106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312</a:t>
                      </a:r>
                      <a:endParaRPr lang="en-US" sz="18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함초롬바탕" panose="02030504000101010101" pitchFamily="18" charset="-127"/>
                        </a:rPr>
                        <a:t>224</a:t>
                      </a:r>
                      <a:endParaRPr lang="en-US" sz="1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985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340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22860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anose="02030600000101010101" pitchFamily="18" charset="-127"/>
                <a:ea typeface="HY울릉도B" panose="02030600000101010101" pitchFamily="18" charset="-127"/>
              </a:rPr>
              <a:t>5. </a:t>
            </a:r>
            <a:r>
              <a:rPr lang="ko-KR" altLang="en-US" sz="3200" dirty="0">
                <a:latin typeface="HY울릉도B" panose="02030600000101010101" pitchFamily="18" charset="-127"/>
                <a:ea typeface="HY울릉도B" panose="02030600000101010101" pitchFamily="18" charset="-127"/>
              </a:rPr>
              <a:t>급여내용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2483768" y="1412776"/>
            <a:ext cx="3888432" cy="3600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표</a:t>
            </a: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연도별 건강보험 진료비 현황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2D95F26-1446-4368-AD42-863BD8F17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568063"/>
              </p:ext>
            </p:extLst>
          </p:nvPr>
        </p:nvGraphicFramePr>
        <p:xfrm>
          <a:off x="281658" y="2132856"/>
          <a:ext cx="8520660" cy="3744416"/>
        </p:xfrm>
        <a:graphic>
          <a:graphicData uri="http://schemas.openxmlformats.org/drawingml/2006/table">
            <a:tbl>
              <a:tblPr/>
              <a:tblGrid>
                <a:gridCol w="1429579">
                  <a:extLst>
                    <a:ext uri="{9D8B030D-6E8A-4147-A177-3AD203B41FA5}">
                      <a16:colId xmlns:a16="http://schemas.microsoft.com/office/drawing/2014/main" val="1837983570"/>
                    </a:ext>
                  </a:extLst>
                </a:gridCol>
                <a:gridCol w="1218366">
                  <a:extLst>
                    <a:ext uri="{9D8B030D-6E8A-4147-A177-3AD203B41FA5}">
                      <a16:colId xmlns:a16="http://schemas.microsoft.com/office/drawing/2014/main" val="4260009299"/>
                    </a:ext>
                  </a:extLst>
                </a:gridCol>
                <a:gridCol w="1174889">
                  <a:extLst>
                    <a:ext uri="{9D8B030D-6E8A-4147-A177-3AD203B41FA5}">
                      <a16:colId xmlns:a16="http://schemas.microsoft.com/office/drawing/2014/main" val="487489779"/>
                    </a:ext>
                  </a:extLst>
                </a:gridCol>
                <a:gridCol w="1174889">
                  <a:extLst>
                    <a:ext uri="{9D8B030D-6E8A-4147-A177-3AD203B41FA5}">
                      <a16:colId xmlns:a16="http://schemas.microsoft.com/office/drawing/2014/main" val="2993887463"/>
                    </a:ext>
                  </a:extLst>
                </a:gridCol>
                <a:gridCol w="1174889">
                  <a:extLst>
                    <a:ext uri="{9D8B030D-6E8A-4147-A177-3AD203B41FA5}">
                      <a16:colId xmlns:a16="http://schemas.microsoft.com/office/drawing/2014/main" val="2068275160"/>
                    </a:ext>
                  </a:extLst>
                </a:gridCol>
                <a:gridCol w="1174889">
                  <a:extLst>
                    <a:ext uri="{9D8B030D-6E8A-4147-A177-3AD203B41FA5}">
                      <a16:colId xmlns:a16="http://schemas.microsoft.com/office/drawing/2014/main" val="3972230199"/>
                    </a:ext>
                  </a:extLst>
                </a:gridCol>
                <a:gridCol w="1173159">
                  <a:extLst>
                    <a:ext uri="{9D8B030D-6E8A-4147-A177-3AD203B41FA5}">
                      <a16:colId xmlns:a16="http://schemas.microsoft.com/office/drawing/2014/main" val="3444838787"/>
                    </a:ext>
                  </a:extLst>
                </a:gridCol>
              </a:tblGrid>
              <a:tr h="389317">
                <a:tc gridSpan="2"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구 분</a:t>
                      </a:r>
                      <a:endParaRPr lang="ko-KR" altLang="en-US" sz="1600" kern="0" spc="-6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2016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년</a:t>
                      </a: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2017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년</a:t>
                      </a: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2018</a:t>
                      </a: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년</a:t>
                      </a: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2019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년</a:t>
                      </a:r>
                      <a:endParaRPr lang="ko-KR" altLang="en-US" sz="1600" b="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altLang="ko-KR" sz="1600" b="0" kern="0" spc="-5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2020</a:t>
                      </a:r>
                      <a:r>
                        <a:rPr lang="ko-KR" alt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년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701425"/>
                  </a:ext>
                </a:extLst>
              </a:tr>
              <a:tr h="449942">
                <a:tc rowSpan="3"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건강보험</a:t>
                      </a:r>
                      <a:endParaRPr lang="ko-KR" altLang="en-US" sz="1600" kern="0" spc="-6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적용인구</a:t>
                      </a:r>
                      <a:endParaRPr lang="ko-KR" altLang="en-US" sz="1600" kern="0" spc="-6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(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천 명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)</a:t>
                      </a: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11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 체</a:t>
                      </a:r>
                      <a:endParaRPr lang="ko-KR" altLang="en-US" sz="1600" kern="0" spc="-11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50,763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50,941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51,072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b="0" kern="0" spc="-5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51,391</a:t>
                      </a:r>
                      <a:endParaRPr lang="en-US" sz="1600" b="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51,345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4483922"/>
                  </a:ext>
                </a:extLst>
              </a:tr>
              <a:tr h="3893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altLang="ko-KR" sz="1600" kern="0" spc="-11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65</a:t>
                      </a:r>
                      <a:r>
                        <a:rPr lang="ko-KR" altLang="en-US" sz="1600" kern="0" spc="-11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세 이상</a:t>
                      </a:r>
                      <a:endParaRPr lang="ko-KR" altLang="en-US" sz="1600" kern="0" spc="-11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6,445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6,806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7,092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7,463</a:t>
                      </a:r>
                      <a:endParaRPr lang="en-US" sz="1600" b="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7,904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30538"/>
                  </a:ext>
                </a:extLst>
              </a:tr>
              <a:tr h="3893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11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비율</a:t>
                      </a:r>
                      <a:r>
                        <a:rPr lang="en-US" altLang="ko-KR" sz="1600" kern="0" spc="-11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(%)</a:t>
                      </a:r>
                      <a:endParaRPr lang="ko-KR" altLang="en-US" sz="1600" kern="0" spc="-11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(12.7)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(13.4)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(13.9)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(14.5)</a:t>
                      </a:r>
                      <a:endParaRPr lang="en-US" sz="1600" b="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(15.4)</a:t>
                      </a:r>
                    </a:p>
                  </a:txBody>
                  <a:tcPr marL="17907" marR="17907" marT="17907" marB="1790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516834"/>
                  </a:ext>
                </a:extLst>
              </a:tr>
              <a:tr h="449942">
                <a:tc rowSpan="3"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진료비</a:t>
                      </a:r>
                      <a:endParaRPr lang="ko-KR" altLang="en-US" sz="1600" kern="0" spc="-6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(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억 원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)</a:t>
                      </a: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11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 체</a:t>
                      </a:r>
                      <a:endParaRPr lang="ko-KR" altLang="en-US" sz="1600" kern="0" spc="-11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645,768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693,352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776,583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b="0" kern="0" spc="-5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864,775</a:t>
                      </a:r>
                      <a:endParaRPr lang="en-US" sz="1600" b="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869,545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468042"/>
                  </a:ext>
                </a:extLst>
              </a:tr>
              <a:tr h="3893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altLang="ko-KR" sz="1600" kern="0" spc="-11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65</a:t>
                      </a:r>
                      <a:r>
                        <a:rPr lang="ko-KR" altLang="en-US" sz="1600" kern="0" spc="-11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세 이상</a:t>
                      </a:r>
                      <a:endParaRPr lang="ko-KR" altLang="en-US" sz="1600" kern="0" spc="-11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250,187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276,533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316,527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b="0" kern="0" spc="-5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358,247</a:t>
                      </a:r>
                      <a:endParaRPr lang="en-US" sz="1600" b="0" kern="0" spc="-50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374,737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020150"/>
                  </a:ext>
                </a:extLst>
              </a:tr>
              <a:tr h="3893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11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비율</a:t>
                      </a:r>
                      <a:r>
                        <a:rPr lang="en-US" altLang="ko-KR" sz="1600" kern="0" spc="-11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(%)</a:t>
                      </a:r>
                      <a:endParaRPr lang="ko-KR" altLang="en-US" sz="1600" kern="0" spc="-11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(38.7)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(39.9)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(40.8)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(41.4)</a:t>
                      </a:r>
                      <a:endParaRPr lang="en-US" sz="1600" b="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(43.1)</a:t>
                      </a:r>
                    </a:p>
                  </a:txBody>
                  <a:tcPr marL="17907" marR="17907" marT="17907" marB="1790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998306"/>
                  </a:ext>
                </a:extLst>
              </a:tr>
              <a:tr h="449942">
                <a:tc rowSpan="2"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1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인당 월평균</a:t>
                      </a:r>
                      <a:endParaRPr lang="ko-KR" altLang="en-US" sz="1600" kern="0" spc="-6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진료비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(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원</a:t>
                      </a:r>
                      <a:r>
                        <a:rPr lang="en-US" altLang="ko-KR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)</a:t>
                      </a: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ko-KR" altLang="en-US" sz="1600" kern="0" spc="-11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 체</a:t>
                      </a:r>
                      <a:endParaRPr lang="ko-KR" altLang="en-US" sz="1600" kern="0" spc="-11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106,286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113,612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126,891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140,663</a:t>
                      </a:r>
                      <a:endParaRPr lang="en-US" sz="1600" b="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141,086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694095"/>
                  </a:ext>
                </a:extLst>
              </a:tr>
              <a:tr h="4480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altLang="ko-KR" sz="1600" kern="0" spc="-11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65</a:t>
                      </a:r>
                      <a:r>
                        <a:rPr lang="ko-KR" altLang="en-US" sz="1600" kern="0" spc="-11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세 이상</a:t>
                      </a:r>
                      <a:endParaRPr lang="ko-KR" altLang="en-US" sz="1600" kern="0" spc="-11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328,599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346,161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378,657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12700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9840" algn="r"/>
                          <a:tab pos="1259840" algn="r"/>
                        </a:tabLst>
                      </a:pPr>
                      <a:r>
                        <a:rPr lang="en-US" sz="1600" b="0" kern="0" spc="-50" dirty="0">
                          <a:solidFill>
                            <a:srgbClr val="000000"/>
                          </a:solidFill>
                          <a:effectLst/>
                          <a:latin typeface="굴림" panose="020B0600000101010101" pitchFamily="50" charset="-127"/>
                        </a:rPr>
                        <a:t>409,536</a:t>
                      </a:r>
                      <a:endParaRPr lang="en-US" sz="1600" b="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404,331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92417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723FB811-4C9F-4568-B0B4-FDAFEFD81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2003" y="2635250"/>
            <a:ext cx="1442999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122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369874" y="1196752"/>
            <a:ext cx="8495768" cy="504056"/>
          </a:xfrm>
          <a:prstGeom prst="roundRect">
            <a:avLst/>
          </a:prstGeom>
          <a:solidFill>
            <a:schemeClr val="accent5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2000" b="1" dirty="0">
                <a:solidFill>
                  <a:srgbClr val="FFFF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국민건강보험의 재정</a:t>
            </a:r>
            <a:r>
              <a:rPr lang="en-US" altLang="ko-KR" sz="2000" b="1" dirty="0">
                <a:solidFill>
                  <a:srgbClr val="FFFF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=</a:t>
            </a:r>
            <a:r>
              <a:rPr lang="ko-KR" altLang="en-US" sz="2000" b="1" dirty="0">
                <a:solidFill>
                  <a:srgbClr val="FFFF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보험료</a:t>
            </a:r>
            <a:r>
              <a:rPr lang="en-US" altLang="ko-KR" sz="2000" b="1" dirty="0">
                <a:solidFill>
                  <a:srgbClr val="FFFF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+</a:t>
            </a:r>
            <a:r>
              <a:rPr lang="ko-KR" altLang="en-US" sz="2000" b="1" dirty="0">
                <a:solidFill>
                  <a:srgbClr val="FFFF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국가지원금</a:t>
            </a:r>
          </a:p>
        </p:txBody>
      </p:sp>
      <p:sp>
        <p:nvSpPr>
          <p:cNvPr id="6" name="모서리가 둥근 직사각형 8">
            <a:extLst>
              <a:ext uri="{FF2B5EF4-FFF2-40B4-BE49-F238E27FC236}">
                <a16:creationId xmlns:a16="http://schemas.microsoft.com/office/drawing/2014/main" id="{759BB714-0BE5-4483-93A3-F512932774B2}"/>
              </a:ext>
            </a:extLst>
          </p:cNvPr>
          <p:cNvSpPr/>
          <p:nvPr/>
        </p:nvSpPr>
        <p:spPr>
          <a:xfrm>
            <a:off x="267164" y="2780928"/>
            <a:ext cx="8495768" cy="17281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20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보험료율은 </a:t>
            </a:r>
            <a:r>
              <a:rPr lang="en-US" altLang="ko-KR" sz="2000" dirty="0">
                <a:solidFill>
                  <a:srgbClr val="FF0000"/>
                </a:solidFill>
                <a:latin typeface="HY울릉도M" pitchFamily="18" charset="-127"/>
                <a:ea typeface="HY울릉도M" pitchFamily="18" charset="-127"/>
              </a:rPr>
              <a:t>8% </a:t>
            </a:r>
            <a:r>
              <a:rPr lang="ko-KR" altLang="en-US" sz="2000" dirty="0">
                <a:solidFill>
                  <a:srgbClr val="FF0000"/>
                </a:solidFill>
                <a:latin typeface="HY울릉도M" pitchFamily="18" charset="-127"/>
                <a:ea typeface="HY울릉도M" pitchFamily="18" charset="-127"/>
              </a:rPr>
              <a:t>범위 내에서 </a:t>
            </a:r>
            <a:r>
              <a:rPr lang="ko-KR" altLang="en-US" sz="20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매년 </a:t>
            </a:r>
            <a:r>
              <a:rPr lang="ko-KR" altLang="en-US" sz="2000" dirty="0">
                <a:solidFill>
                  <a:srgbClr val="7030A0"/>
                </a:solidFill>
                <a:latin typeface="HY울릉도M" pitchFamily="18" charset="-127"/>
                <a:ea typeface="HY울릉도M" pitchFamily="18" charset="-127"/>
              </a:rPr>
              <a:t>건강보험정책심의위원회의 의결을 거쳐 대통령으로 정함</a:t>
            </a:r>
            <a:endParaRPr lang="en-US" altLang="ko-KR" sz="2000" dirty="0">
              <a:solidFill>
                <a:srgbClr val="7030A0"/>
              </a:solidFill>
              <a:latin typeface="HY울릉도M" pitchFamily="18" charset="-127"/>
              <a:ea typeface="HY울릉도M" pitchFamily="18" charset="-127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20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보험료는 상한액과 하한액이 정해져 있으며 매년 자동 조정됨</a:t>
            </a:r>
          </a:p>
        </p:txBody>
      </p:sp>
      <p:sp>
        <p:nvSpPr>
          <p:cNvPr id="8" name="모서리가 둥근 직사각형 8">
            <a:extLst>
              <a:ext uri="{FF2B5EF4-FFF2-40B4-BE49-F238E27FC236}">
                <a16:creationId xmlns:a16="http://schemas.microsoft.com/office/drawing/2014/main" id="{12234997-91F1-45E0-9FA1-984A762C525A}"/>
              </a:ext>
            </a:extLst>
          </p:cNvPr>
          <p:cNvSpPr/>
          <p:nvPr/>
        </p:nvSpPr>
        <p:spPr>
          <a:xfrm>
            <a:off x="369874" y="2074838"/>
            <a:ext cx="1871032" cy="3960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1)</a:t>
            </a:r>
            <a:r>
              <a:rPr lang="en-US" altLang="ko-KR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보험료</a:t>
            </a:r>
          </a:p>
        </p:txBody>
      </p:sp>
    </p:spTree>
    <p:extLst>
      <p:ext uri="{BB962C8B-B14F-4D97-AF65-F5344CB8AC3E}">
        <p14:creationId xmlns:p14="http://schemas.microsoft.com/office/powerpoint/2010/main" val="15287351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324704" y="1049846"/>
            <a:ext cx="2807136" cy="3960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(1)</a:t>
            </a:r>
            <a:r>
              <a:rPr lang="en-US" altLang="ko-KR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직장가입자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283008"/>
              </p:ext>
            </p:extLst>
          </p:nvPr>
        </p:nvGraphicFramePr>
        <p:xfrm>
          <a:off x="323528" y="1628800"/>
          <a:ext cx="8496944" cy="5078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6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03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kern="0" spc="0" dirty="0">
                          <a:solidFill>
                            <a:schemeClr val="bg1"/>
                          </a:solidFill>
                          <a:effectLst/>
                          <a:latin typeface="굴림"/>
                          <a:ea typeface="태 나무" pitchFamily="18" charset="-127"/>
                        </a:rPr>
                        <a:t>① </a:t>
                      </a:r>
                      <a:r>
                        <a:rPr lang="ko-KR" altLang="en-US" sz="20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직장가입자의 </a:t>
                      </a:r>
                      <a:r>
                        <a:rPr lang="ko-KR" altLang="en-US" sz="2000" b="1" kern="0" spc="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보수월액</a:t>
                      </a:r>
                      <a:r>
                        <a:rPr lang="ko-KR" altLang="en-US" sz="20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 보험료</a:t>
                      </a:r>
                      <a:r>
                        <a:rPr lang="en-US" altLang="ko-KR" sz="20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(</a:t>
                      </a:r>
                      <a:r>
                        <a:rPr lang="ko-KR" altLang="en-US" sz="20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사용자와 가입자가 </a:t>
                      </a:r>
                      <a:r>
                        <a:rPr lang="en-US" altLang="ko-KR" sz="20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50%</a:t>
                      </a:r>
                      <a:r>
                        <a:rPr lang="ko-KR" altLang="en-US" sz="20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씩 부담</a:t>
                      </a:r>
                      <a:r>
                        <a:rPr lang="en-US" altLang="ko-KR" sz="20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</a:rPr>
                        <a:t>)</a:t>
                      </a:r>
                      <a:endParaRPr lang="ko-KR" altLang="en-US" sz="2000" b="1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태 나무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보수월액</a:t>
                      </a: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 </a:t>
                      </a:r>
                      <a:r>
                        <a:rPr lang="en-US" altLang="ko-KR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x </a:t>
                      </a:r>
                      <a:r>
                        <a:rPr lang="ko-KR" altLang="en-US" sz="2000" b="1" kern="0" spc="0" dirty="0" err="1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보험료율</a:t>
                      </a:r>
                      <a:r>
                        <a:rPr lang="en-US" altLang="ko-KR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(2022</a:t>
                      </a: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년 현재 </a:t>
                      </a:r>
                      <a:r>
                        <a:rPr lang="en-US" altLang="ko-KR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6.99%)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7442">
                <a:tc>
                  <a:txBody>
                    <a:bodyPr/>
                    <a:lstStyle/>
                    <a:p>
                      <a:pPr marL="342900" marR="0" lvl="0" indent="-34290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"/>
                      </a:pP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보수란 노동자가 근로를 제공하고 사용자나 국가</a:t>
                      </a:r>
                      <a:r>
                        <a:rPr lang="en-US" altLang="ko-KR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·</a:t>
                      </a: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지방자치단체로부터 지급받는 금품</a:t>
                      </a:r>
                      <a:r>
                        <a:rPr lang="en-US" altLang="ko-KR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봉급</a:t>
                      </a:r>
                      <a:r>
                        <a:rPr lang="en-US" altLang="ko-KR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급료</a:t>
                      </a:r>
                      <a:r>
                        <a:rPr lang="en-US" altLang="ko-KR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보수</a:t>
                      </a:r>
                      <a:r>
                        <a:rPr lang="en-US" altLang="ko-KR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세비</a:t>
                      </a:r>
                      <a:r>
                        <a:rPr lang="en-US" altLang="ko-KR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상여금</a:t>
                      </a:r>
                      <a:r>
                        <a:rPr lang="en-US" altLang="ko-KR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수당 등</a:t>
                      </a:r>
                      <a:r>
                        <a:rPr lang="en-US" altLang="ko-KR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 총액을 말함</a:t>
                      </a:r>
                    </a:p>
                    <a:p>
                      <a:pPr marL="342900" marR="0" lvl="0" indent="-34290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"/>
                      </a:pPr>
                      <a:r>
                        <a:rPr lang="ko-KR" altLang="en-US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보수월액은 직장가입자의 연간 보수총액을 그 해 근무한 개월 수로 나눈 금액</a:t>
                      </a:r>
                    </a:p>
                    <a:p>
                      <a:pPr marL="342900" marR="0" lvl="0" indent="-34290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"/>
                      </a:pP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직장가입자가 전년도 신고한 보수월액으로 당해 연도의 건강보험료를 부과한 후  당해 연도의 보수총액을 신고 받아 차액을 정산함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54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chemeClr val="bg1"/>
                          </a:solidFill>
                          <a:effectLst/>
                          <a:latin typeface="굴림"/>
                          <a:ea typeface="태 나무" pitchFamily="18" charset="-127"/>
                        </a:rPr>
                        <a:t>② </a:t>
                      </a:r>
                      <a:r>
                        <a:rPr lang="ko-KR" altLang="en-US" sz="20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직장가입자의 </a:t>
                      </a:r>
                      <a:r>
                        <a:rPr lang="ko-KR" altLang="en-US" sz="2000" b="1" kern="0" spc="0" dirty="0" err="1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소득월액</a:t>
                      </a:r>
                      <a:r>
                        <a:rPr lang="ko-KR" altLang="en-US" sz="20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 보험료</a:t>
                      </a:r>
                      <a:r>
                        <a:rPr lang="en-US" altLang="ko-KR" sz="20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(</a:t>
                      </a:r>
                      <a:r>
                        <a:rPr lang="ko-KR" altLang="en-US" sz="20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본인 전액 부담</a:t>
                      </a:r>
                      <a:r>
                        <a:rPr lang="en-US" altLang="ko-KR" sz="2000" b="1" kern="0" spc="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)</a:t>
                      </a:r>
                    </a:p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(</a:t>
                      </a: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연간 보수 외 소득</a:t>
                      </a:r>
                      <a:r>
                        <a:rPr lang="en-US" altLang="ko-KR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–</a:t>
                      </a: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대통령령으로 정한 금액</a:t>
                      </a:r>
                      <a:r>
                        <a:rPr lang="en-US" altLang="ko-KR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) x 1/12 x </a:t>
                      </a:r>
                      <a:r>
                        <a:rPr lang="ko-KR" altLang="en-US" sz="2000" b="1" kern="0" spc="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itchFamily="18" charset="-127"/>
                        </a:rPr>
                        <a:t>보험료율</a:t>
                      </a:r>
                      <a:endParaRPr lang="ko-KR" altLang="en-US" sz="2000" b="1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3236">
                <a:tc>
                  <a:txBody>
                    <a:bodyPr/>
                    <a:lstStyle/>
                    <a:p>
                      <a:pPr marL="342900" marR="0" lvl="0" indent="-34290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"/>
                      </a:pPr>
                      <a:r>
                        <a:rPr lang="ko-KR" altLang="en-US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소득월액이란 직장가입자의 보수월액에 포함된 보수를 제외한 소득</a:t>
                      </a:r>
                      <a:r>
                        <a:rPr lang="en-US" altLang="ko-KR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이자</a:t>
                      </a:r>
                      <a:r>
                        <a:rPr lang="en-US" altLang="ko-KR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배당</a:t>
                      </a:r>
                      <a:r>
                        <a:rPr lang="en-US" altLang="ko-KR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</a:t>
                      </a:r>
                      <a:r>
                        <a:rPr lang="en-US" altLang="ko-KR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연금</a:t>
                      </a:r>
                      <a:r>
                        <a:rPr lang="en-US" altLang="ko-KR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기타소득</a:t>
                      </a:r>
                      <a:r>
                        <a:rPr lang="en-US" altLang="ko-KR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 대통령령으로 정한 금액을 초과하는 경우 초과 금액을 </a:t>
                      </a:r>
                      <a:r>
                        <a:rPr lang="en-US" altLang="ko-KR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</a:t>
                      </a:r>
                      <a:r>
                        <a:rPr lang="ko-KR" altLang="en-US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로 나누어 산정된 금액 </a:t>
                      </a:r>
                    </a:p>
                    <a:p>
                      <a:pPr marL="342900" marR="0" lvl="0" indent="-34290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"/>
                      </a:pP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초과소득 기준</a:t>
                      </a:r>
                      <a:r>
                        <a:rPr lang="en-US" altLang="ko-KR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: 3,400</a:t>
                      </a: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만원</a:t>
                      </a:r>
                      <a:r>
                        <a:rPr lang="en-US" altLang="ko-KR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(2018</a:t>
                      </a: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  <a:r>
                        <a:rPr lang="en-US" altLang="ko-KR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7</a:t>
                      </a: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</a:t>
                      </a:r>
                      <a:r>
                        <a:rPr lang="en-US" altLang="ko-KR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-2020</a:t>
                      </a: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  <a:r>
                        <a:rPr lang="en-US" altLang="ko-KR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</a:t>
                      </a: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월까지 적용</a:t>
                      </a:r>
                      <a:r>
                        <a:rPr lang="en-US" altLang="ko-KR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700" b="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5919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323528" y="1016732"/>
            <a:ext cx="2736304" cy="3960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(2)</a:t>
            </a:r>
            <a:r>
              <a:rPr lang="en-US" altLang="ko-KR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지역가입자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3C020EB-160A-4C4F-A64B-07366808E4A0}"/>
              </a:ext>
            </a:extLst>
          </p:cNvPr>
          <p:cNvGraphicFramePr>
            <a:graphicFrameLocks noGrp="1"/>
          </p:cNvGraphicFramePr>
          <p:nvPr/>
        </p:nvGraphicFramePr>
        <p:xfrm>
          <a:off x="251520" y="1963882"/>
          <a:ext cx="8712968" cy="3985398"/>
        </p:xfrm>
        <a:graphic>
          <a:graphicData uri="http://schemas.openxmlformats.org/drawingml/2006/table">
            <a:tbl>
              <a:tblPr/>
              <a:tblGrid>
                <a:gridCol w="1237947">
                  <a:extLst>
                    <a:ext uri="{9D8B030D-6E8A-4147-A177-3AD203B41FA5}">
                      <a16:colId xmlns:a16="http://schemas.microsoft.com/office/drawing/2014/main" val="3305632094"/>
                    </a:ext>
                  </a:extLst>
                </a:gridCol>
                <a:gridCol w="7475021">
                  <a:extLst>
                    <a:ext uri="{9D8B030D-6E8A-4147-A177-3AD203B41FA5}">
                      <a16:colId xmlns:a16="http://schemas.microsoft.com/office/drawing/2014/main" val="1039556574"/>
                    </a:ext>
                  </a:extLst>
                </a:gridCol>
              </a:tblGrid>
              <a:tr h="19831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연소득 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100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만원 이하 세대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charset="-127"/>
                        <a:ea typeface="HY울릉도M" panose="02030600000101010101" charset="-127"/>
                      </a:endParaRPr>
                    </a:p>
                  </a:txBody>
                  <a:tcPr marL="58103" marR="58103" marT="16064" marB="160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70C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월별보험료 </a:t>
                      </a:r>
                      <a:r>
                        <a:rPr lang="en-US" altLang="ko-KR" sz="1750" b="1" kern="0" spc="-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= </a:t>
                      </a:r>
                      <a:r>
                        <a:rPr lang="ko-KR" altLang="en-US" sz="1750" b="1" kern="0" spc="-50" dirty="0" err="1">
                          <a:solidFill>
                            <a:srgbClr val="FF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하한액</a:t>
                      </a:r>
                      <a:r>
                        <a:rPr lang="ko-KR" altLang="en-US" sz="1750" b="1" kern="0" spc="-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</a:t>
                      </a:r>
                      <a:r>
                        <a:rPr lang="en-US" altLang="ko-KR" sz="1750" b="1" kern="0" spc="-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+ </a:t>
                      </a:r>
                      <a:r>
                        <a:rPr lang="ko-KR" altLang="en-US" sz="1750" b="1" kern="0" spc="-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요소별 부과점수</a:t>
                      </a:r>
                      <a:r>
                        <a:rPr lang="en-US" altLang="ko-KR" sz="1750" b="1" kern="0" spc="-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{</a:t>
                      </a:r>
                      <a:r>
                        <a:rPr lang="ko-KR" altLang="en-US" sz="1750" b="1" kern="0" spc="-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재산</a:t>
                      </a:r>
                      <a:r>
                        <a:rPr lang="en-US" altLang="ko-KR" sz="1750" b="1" kern="0" spc="-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(</a:t>
                      </a:r>
                      <a:r>
                        <a:rPr lang="ko-KR" altLang="en-US" sz="1750" b="1" kern="0" spc="-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전</a:t>
                      </a:r>
                      <a:r>
                        <a:rPr lang="en-US" altLang="ko-KR" sz="1750" b="1" kern="0" spc="-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·</a:t>
                      </a:r>
                      <a:r>
                        <a:rPr lang="ko-KR" altLang="en-US" sz="1750" b="1" kern="0" spc="-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월세 포함</a:t>
                      </a:r>
                      <a:r>
                        <a:rPr lang="en-US" altLang="ko-KR" sz="1750" b="1" kern="0" spc="-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) + </a:t>
                      </a:r>
                      <a:r>
                        <a:rPr lang="ko-KR" altLang="en-US" sz="1750" b="1" kern="0" spc="-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자동차</a:t>
                      </a:r>
                      <a:r>
                        <a:rPr lang="en-US" altLang="ko-KR" sz="1750" b="1" kern="0" spc="-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} </a:t>
                      </a:r>
                    </a:p>
                    <a:p>
                      <a:pPr marL="1270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750" b="1" kern="0" spc="-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                   </a:t>
                      </a:r>
                      <a:r>
                        <a:rPr lang="en-US" altLang="ko-KR" sz="1750" b="1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× </a:t>
                      </a:r>
                      <a:r>
                        <a:rPr lang="ko-KR" altLang="en-US" sz="1750" b="1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부과점수당 금액</a:t>
                      </a:r>
                    </a:p>
                    <a:p>
                      <a:pPr marL="1270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※ 2021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년 하한액은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14,380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,  2021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년 부과점수당 금액은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201.5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원</a:t>
                      </a:r>
                    </a:p>
                  </a:txBody>
                  <a:tcPr marL="58103" marR="58103" marT="16064" marB="160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051077"/>
                  </a:ext>
                </a:extLst>
              </a:tr>
              <a:tr h="20022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연소득 </a:t>
                      </a:r>
                      <a:r>
                        <a:rPr lang="en-US" altLang="ko-KR" sz="1800" b="1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100</a:t>
                      </a: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만원 초과 세대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charset="-127"/>
                        <a:ea typeface="HY울릉도M" panose="02030600000101010101" charset="-127"/>
                      </a:endParaRPr>
                    </a:p>
                  </a:txBody>
                  <a:tcPr marL="58103" marR="58103" marT="16064" marB="160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70C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월별보험료 </a:t>
                      </a:r>
                      <a:r>
                        <a:rPr lang="en-US" altLang="ko-KR" sz="1800" b="1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= </a:t>
                      </a:r>
                      <a:r>
                        <a:rPr lang="ko-KR" altLang="en-US" sz="1800" b="1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요소별 부과점수</a:t>
                      </a:r>
                      <a:r>
                        <a:rPr lang="en-US" altLang="ko-KR" sz="1800" b="1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{</a:t>
                      </a:r>
                      <a:r>
                        <a:rPr lang="ko-KR" altLang="en-US" sz="1800" b="1" kern="0" spc="-150" dirty="0">
                          <a:solidFill>
                            <a:srgbClr val="FF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소득 </a:t>
                      </a:r>
                      <a:r>
                        <a:rPr lang="en-US" altLang="ko-KR" sz="1800" b="1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+ </a:t>
                      </a:r>
                      <a:r>
                        <a:rPr lang="ko-KR" altLang="en-US" sz="1800" b="1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재산</a:t>
                      </a:r>
                      <a:r>
                        <a:rPr lang="en-US" altLang="ko-KR" sz="1800" b="1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(</a:t>
                      </a:r>
                      <a:r>
                        <a:rPr lang="ko-KR" altLang="en-US" sz="1800" b="1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전</a:t>
                      </a:r>
                      <a:r>
                        <a:rPr lang="en-US" altLang="ko-KR" sz="1800" b="1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·</a:t>
                      </a:r>
                      <a:r>
                        <a:rPr lang="ko-KR" altLang="en-US" sz="1800" b="1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월세 포함</a:t>
                      </a:r>
                      <a:r>
                        <a:rPr lang="en-US" altLang="ko-KR" sz="1800" b="1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) + </a:t>
                      </a:r>
                      <a:r>
                        <a:rPr lang="ko-KR" altLang="en-US" sz="1800" b="1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자동차</a:t>
                      </a:r>
                      <a:r>
                        <a:rPr lang="en-US" altLang="ko-KR" sz="1800" b="1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} </a:t>
                      </a:r>
                    </a:p>
                    <a:p>
                      <a:pPr marL="1270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                       × </a:t>
                      </a:r>
                      <a:r>
                        <a:rPr lang="ko-KR" altLang="en-US" sz="1800" b="1" kern="0" spc="-150" dirty="0">
                          <a:solidFill>
                            <a:schemeClr val="tx1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  <a:cs typeface="+mn-cs"/>
                        </a:rPr>
                        <a:t>부과점수당 금액</a:t>
                      </a:r>
                    </a:p>
                    <a:p>
                      <a:pPr marL="1270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charset="-127"/>
                        <a:ea typeface="HY울릉도M" panose="02030600000101010101" charset="-127"/>
                      </a:endParaRPr>
                    </a:p>
                  </a:txBody>
                  <a:tcPr marL="58103" marR="58103" marT="16064" marB="160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70087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180B926-8D82-4293-86A5-3B9D5E9D6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002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849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323528" y="1016732"/>
            <a:ext cx="2736304" cy="3960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(2)</a:t>
            </a:r>
            <a:r>
              <a:rPr lang="en-US" altLang="ko-KR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지역가입자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3C020EB-160A-4C4F-A64B-07366808E4A0}"/>
              </a:ext>
            </a:extLst>
          </p:cNvPr>
          <p:cNvGraphicFramePr>
            <a:graphicFrameLocks noGrp="1"/>
          </p:cNvGraphicFramePr>
          <p:nvPr/>
        </p:nvGraphicFramePr>
        <p:xfrm>
          <a:off x="322513" y="1606786"/>
          <a:ext cx="8543606" cy="4964872"/>
        </p:xfrm>
        <a:graphic>
          <a:graphicData uri="http://schemas.openxmlformats.org/drawingml/2006/table">
            <a:tbl>
              <a:tblPr/>
              <a:tblGrid>
                <a:gridCol w="1304824">
                  <a:extLst>
                    <a:ext uri="{9D8B030D-6E8A-4147-A177-3AD203B41FA5}">
                      <a16:colId xmlns:a16="http://schemas.microsoft.com/office/drawing/2014/main" val="3305632094"/>
                    </a:ext>
                  </a:extLst>
                </a:gridCol>
                <a:gridCol w="7238782">
                  <a:extLst>
                    <a:ext uri="{9D8B030D-6E8A-4147-A177-3AD203B41FA5}">
                      <a16:colId xmlns:a16="http://schemas.microsoft.com/office/drawing/2014/main" val="1039556574"/>
                    </a:ext>
                  </a:extLst>
                </a:gridCol>
              </a:tblGrid>
              <a:tr h="4824536">
                <a:tc>
                  <a:txBody>
                    <a:bodyPr/>
                    <a:lstStyle/>
                    <a:p>
                      <a:pPr marL="1270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재산 및 자동차 공제내역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charset="-127"/>
                        <a:ea typeface="HY울릉도M" panose="02030600000101010101" charset="-127"/>
                      </a:endParaRPr>
                    </a:p>
                  </a:txBody>
                  <a:tcPr marL="58103" marR="58103" marT="16064" marB="160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"/>
                      </a:pP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재산기본공제</a:t>
                      </a:r>
                      <a:r>
                        <a:rPr lang="ko-KR" altLang="en-US" sz="15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 </a:t>
                      </a:r>
                    </a:p>
                    <a:p>
                      <a:pPr marL="0" marR="0" indent="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-</a:t>
                      </a:r>
                      <a:r>
                        <a:rPr lang="en-US" altLang="ko-KR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</a:t>
                      </a:r>
                      <a:r>
                        <a:rPr lang="ko-KR" alt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과세표준액 </a:t>
                      </a:r>
                      <a:r>
                        <a:rPr lang="en-US" altLang="ko-KR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1,200</a:t>
                      </a:r>
                      <a:r>
                        <a:rPr lang="ko-KR" alt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만 원 이하</a:t>
                      </a:r>
                      <a:r>
                        <a:rPr lang="en-US" altLang="ko-KR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(</a:t>
                      </a:r>
                      <a:r>
                        <a:rPr lang="ko-KR" alt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전</a:t>
                      </a:r>
                      <a:r>
                        <a:rPr lang="en-US" altLang="ko-KR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·</a:t>
                      </a:r>
                      <a:r>
                        <a:rPr lang="ko-KR" alt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월세 </a:t>
                      </a:r>
                      <a:r>
                        <a:rPr lang="en-US" altLang="ko-KR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4,000</a:t>
                      </a:r>
                      <a:r>
                        <a:rPr lang="ko-KR" alt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만 원 이하</a:t>
                      </a:r>
                      <a:r>
                        <a:rPr lang="en-US" altLang="ko-KR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)</a:t>
                      </a:r>
                      <a:r>
                        <a:rPr lang="ko-KR" alt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는 전액공제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</a:t>
                      </a:r>
                    </a:p>
                    <a:p>
                      <a:pPr marL="0" marR="0" indent="-166370" algn="just" fontAlgn="base" latinLnBrk="1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-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전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·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월세 재산공제 산식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= {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보증금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+ 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월세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× 40)} × 30%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charset="-127"/>
                        <a:ea typeface="HY울릉도M" panose="02030600000101010101" charset="-127"/>
                      </a:endParaRPr>
                    </a:p>
                    <a:p>
                      <a:pPr marL="342900" marR="0" lvl="0" indent="-34290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"/>
                      </a:pP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자동차공제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(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시행령 제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42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조 제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3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항 제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4</a:t>
                      </a:r>
                      <a:r>
                        <a:rPr lang="ko-KR" altLang="en-US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호</a:t>
                      </a:r>
                      <a:r>
                        <a:rPr lang="en-US" altLang="ko-KR" sz="1800" b="1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)</a:t>
                      </a:r>
                      <a:endParaRPr lang="ko-KR" altLang="en-US" sz="1800" b="1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charset="-127"/>
                        <a:ea typeface="HY울릉도M" panose="0203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① 사용연수가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9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년 이상인 자동차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② </a:t>
                      </a:r>
                      <a:r>
                        <a:rPr lang="ko-KR" alt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배기량 </a:t>
                      </a:r>
                      <a:r>
                        <a:rPr lang="en-US" altLang="ko-KR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1,600CC </a:t>
                      </a:r>
                      <a:r>
                        <a:rPr lang="ko-KR" alt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이하의 소형차</a:t>
                      </a:r>
                      <a:r>
                        <a:rPr lang="en-US" altLang="ko-KR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(4,000</a:t>
                      </a:r>
                      <a:r>
                        <a:rPr lang="ko-KR" altLang="en-US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만원 이상의 고가 차량 제외</a:t>
                      </a:r>
                      <a:r>
                        <a:rPr lang="en-US" altLang="ko-KR" sz="1800" kern="0" spc="-15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)</a:t>
                      </a:r>
                      <a:endParaRPr lang="ko-KR" altLang="en-US" sz="1800" kern="0" spc="-150" dirty="0">
                        <a:solidFill>
                          <a:srgbClr val="000000"/>
                        </a:solidFill>
                        <a:effectLst/>
                        <a:latin typeface="HY울릉도M" panose="02030600000101010101" charset="-127"/>
                        <a:ea typeface="HY울릉도M" panose="0203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③「국가유공자 등 예우 및 지원에 관한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법률」에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따른 상이등급자의     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charset="-127"/>
                        <a:ea typeface="HY울릉도M" panose="0203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  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소유 자동차 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④「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장애인복지법」에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따라 등록한 장애인이 소유한 자동차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⑤「지방세특례제한법」 제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4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조에 따라 과세하지 아니하는 자동차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 ⑥「지방세법 시행령」 제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122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charset="-127"/>
                          <a:ea typeface="HY울릉도M" panose="02030600000101010101" charset="-127"/>
                        </a:rPr>
                        <a:t>조에 따른 영업용 자동차</a:t>
                      </a:r>
                    </a:p>
                  </a:txBody>
                  <a:tcPr marL="58103" marR="58103" marT="16064" marB="160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03409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180B926-8D82-4293-86A5-3B9D5E9D6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002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373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2843808" y="1700808"/>
            <a:ext cx="2736304" cy="39604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    </a:t>
            </a:r>
            <a:r>
              <a:rPr lang="ko-KR" altLang="en-US" sz="2400" dirty="0">
                <a:solidFill>
                  <a:srgbClr val="FF66FF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보험료 부담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1338224-9C93-4B90-91C8-16EEBA75EACC}"/>
              </a:ext>
            </a:extLst>
          </p:cNvPr>
          <p:cNvGraphicFramePr>
            <a:graphicFrameLocks noGrp="1"/>
          </p:cNvGraphicFramePr>
          <p:nvPr/>
        </p:nvGraphicFramePr>
        <p:xfrm>
          <a:off x="359532" y="2276872"/>
          <a:ext cx="8424935" cy="3096344"/>
        </p:xfrm>
        <a:graphic>
          <a:graphicData uri="http://schemas.openxmlformats.org/drawingml/2006/table">
            <a:tbl>
              <a:tblPr/>
              <a:tblGrid>
                <a:gridCol w="1062829">
                  <a:extLst>
                    <a:ext uri="{9D8B030D-6E8A-4147-A177-3AD203B41FA5}">
                      <a16:colId xmlns:a16="http://schemas.microsoft.com/office/drawing/2014/main" val="2131500820"/>
                    </a:ext>
                  </a:extLst>
                </a:gridCol>
                <a:gridCol w="2338749">
                  <a:extLst>
                    <a:ext uri="{9D8B030D-6E8A-4147-A177-3AD203B41FA5}">
                      <a16:colId xmlns:a16="http://schemas.microsoft.com/office/drawing/2014/main" val="4052160644"/>
                    </a:ext>
                  </a:extLst>
                </a:gridCol>
                <a:gridCol w="5023357">
                  <a:extLst>
                    <a:ext uri="{9D8B030D-6E8A-4147-A177-3AD203B41FA5}">
                      <a16:colId xmlns:a16="http://schemas.microsoft.com/office/drawing/2014/main" val="1985873340"/>
                    </a:ext>
                  </a:extLst>
                </a:gridCol>
              </a:tblGrid>
              <a:tr h="738022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직장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가입자</a:t>
                      </a:r>
                    </a:p>
                  </a:txBody>
                  <a:tcPr marL="62233" marR="62233" marT="17206" marB="1720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사업장 근로자</a:t>
                      </a:r>
                    </a:p>
                  </a:txBody>
                  <a:tcPr marL="62233" marR="62233" marT="17206" marB="1720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50%,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사용자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2233" marR="62233" marT="17206" marB="1720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156509"/>
                  </a:ext>
                </a:extLst>
              </a:tr>
              <a:tr h="7779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공무원</a:t>
                      </a:r>
                    </a:p>
                  </a:txBody>
                  <a:tcPr marL="62233" marR="62233" marT="17206" marB="1720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공무원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50%,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국가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2233" marR="62233" marT="17206" marB="1720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663284"/>
                  </a:ext>
                </a:extLst>
              </a:tr>
              <a:tr h="7779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사립학교교직원</a:t>
                      </a:r>
                    </a:p>
                  </a:txBody>
                  <a:tcPr marL="62233" marR="62233" marT="17206" marB="1720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교직원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50%,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국가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20%,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사립학교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30%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2233" marR="62233" marT="17206" marB="1720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936739"/>
                  </a:ext>
                </a:extLst>
              </a:tr>
              <a:tr h="802464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지역가입자의 월별보험료는 세대 단위로 산정하고 세대 전원이 연대 부담</a:t>
                      </a:r>
                    </a:p>
                  </a:txBody>
                  <a:tcPr marL="62233" marR="62233" marT="17206" marB="1720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476589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0304146A-321A-4722-AF0E-0006237F8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51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855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203001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anose="02030600000101010101" pitchFamily="18" charset="-127"/>
                <a:ea typeface="HY울릉도B" panose="02030600000101010101" pitchFamily="18" charset="-127"/>
              </a:rPr>
              <a:t>6. </a:t>
            </a:r>
            <a:r>
              <a:rPr lang="ko-KR" altLang="en-US" sz="3200" dirty="0">
                <a:latin typeface="HY울릉도B" panose="02030600000101010101" pitchFamily="18" charset="-127"/>
                <a:ea typeface="HY울릉도B" panose="02030600000101010101" pitchFamily="18" charset="-127"/>
              </a:rPr>
              <a:t>재정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988840"/>
            <a:ext cx="8640960" cy="468052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ko-KR" sz="4500" b="1" dirty="0">
                <a:latin typeface="HY울릉도M" pitchFamily="18" charset="-127"/>
                <a:ea typeface="HY울릉도M" pitchFamily="18" charset="-127"/>
              </a:rPr>
              <a:t> </a:t>
            </a:r>
            <a:endParaRPr lang="en-US" altLang="ko-KR" sz="3400" b="1" dirty="0">
              <a:latin typeface="HY울릉도M" pitchFamily="18" charset="-127"/>
              <a:ea typeface="HY울릉도M" pitchFamily="18" charset="-127"/>
            </a:endParaRPr>
          </a:p>
          <a:p>
            <a:pPr>
              <a:buNone/>
            </a:pPr>
            <a:endParaRPr lang="ko-KR" altLang="en-US" sz="2600" dirty="0">
              <a:latin typeface="HY울릉도M" pitchFamily="18" charset="-127"/>
              <a:ea typeface="HY울릉도M" pitchFamily="18" charset="-127"/>
            </a:endParaRPr>
          </a:p>
          <a:p>
            <a:endParaRPr lang="ko-KR" altLang="en-US" dirty="0"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1403648" y="1572370"/>
            <a:ext cx="5760640" cy="4164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표</a:t>
            </a: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연도별 건강보험료 수입과 </a:t>
            </a:r>
            <a:r>
              <a:rPr lang="ko-KR" altLang="en-US" dirty="0" err="1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급여비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지출 현황 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308304" y="2852465"/>
            <a:ext cx="14382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 latinLnBrk="0"/>
            <a:r>
              <a:rPr lang="en-US" altLang="ko-KR" sz="1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(</a:t>
            </a:r>
            <a:r>
              <a:rPr lang="ko-KR" altLang="en-US" sz="1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단위</a:t>
            </a:r>
            <a:r>
              <a:rPr lang="en-US" altLang="ko-KR" sz="1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: </a:t>
            </a:r>
            <a:r>
              <a:rPr lang="ko-KR" altLang="en-US" sz="1400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억원</a:t>
            </a:r>
            <a:r>
              <a:rPr lang="en-US" altLang="ko-KR" sz="1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%)</a:t>
            </a:r>
            <a:endParaRPr lang="ko-KR" altLang="en-US" sz="14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CD0AAFE-B984-442D-913A-67AE6DD60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0358" y="2736850"/>
            <a:ext cx="1255269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4CA8425-24D5-4C51-B573-0B5A12CF8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549273"/>
              </p:ext>
            </p:extLst>
          </p:nvPr>
        </p:nvGraphicFramePr>
        <p:xfrm>
          <a:off x="323530" y="3298158"/>
          <a:ext cx="8422988" cy="2435098"/>
        </p:xfrm>
        <a:graphic>
          <a:graphicData uri="http://schemas.openxmlformats.org/drawingml/2006/table">
            <a:tbl>
              <a:tblPr/>
              <a:tblGrid>
                <a:gridCol w="2470480">
                  <a:extLst>
                    <a:ext uri="{9D8B030D-6E8A-4147-A177-3AD203B41FA5}">
                      <a16:colId xmlns:a16="http://schemas.microsoft.com/office/drawing/2014/main" val="322081206"/>
                    </a:ext>
                  </a:extLst>
                </a:gridCol>
                <a:gridCol w="1203691">
                  <a:extLst>
                    <a:ext uri="{9D8B030D-6E8A-4147-A177-3AD203B41FA5}">
                      <a16:colId xmlns:a16="http://schemas.microsoft.com/office/drawing/2014/main" val="4251846494"/>
                    </a:ext>
                  </a:extLst>
                </a:gridCol>
                <a:gridCol w="1203691">
                  <a:extLst>
                    <a:ext uri="{9D8B030D-6E8A-4147-A177-3AD203B41FA5}">
                      <a16:colId xmlns:a16="http://schemas.microsoft.com/office/drawing/2014/main" val="149142268"/>
                    </a:ext>
                  </a:extLst>
                </a:gridCol>
                <a:gridCol w="1124599">
                  <a:extLst>
                    <a:ext uri="{9D8B030D-6E8A-4147-A177-3AD203B41FA5}">
                      <a16:colId xmlns:a16="http://schemas.microsoft.com/office/drawing/2014/main" val="2103866485"/>
                    </a:ext>
                  </a:extLst>
                </a:gridCol>
                <a:gridCol w="1203691">
                  <a:extLst>
                    <a:ext uri="{9D8B030D-6E8A-4147-A177-3AD203B41FA5}">
                      <a16:colId xmlns:a16="http://schemas.microsoft.com/office/drawing/2014/main" val="14234677"/>
                    </a:ext>
                  </a:extLst>
                </a:gridCol>
                <a:gridCol w="1216836">
                  <a:extLst>
                    <a:ext uri="{9D8B030D-6E8A-4147-A177-3AD203B41FA5}">
                      <a16:colId xmlns:a16="http://schemas.microsoft.com/office/drawing/2014/main" val="1395000026"/>
                    </a:ext>
                  </a:extLst>
                </a:gridCol>
              </a:tblGrid>
              <a:tr h="5427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구 분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2016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2017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800" kern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2018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800" kern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2019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800" kern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2020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800" kern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733828"/>
                  </a:ext>
                </a:extLst>
              </a:tr>
              <a:tr h="7721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연간 보험료 수입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475,931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504,167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538,076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589,290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628,765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376514"/>
                  </a:ext>
                </a:extLst>
              </a:tr>
              <a:tr h="5545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연간 급여비 지출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504,254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548,917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616,696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687,286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693,515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469216"/>
                  </a:ext>
                </a:extLst>
              </a:tr>
              <a:tr h="5656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급여비율</a:t>
                      </a: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(</a:t>
                      </a: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B/A)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105.9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108.8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114.6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116.6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110.3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84155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6D3E136-6A90-44A9-8D93-C89198943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80650" y="3298825"/>
            <a:ext cx="1394995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921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구름 모양 설명선 3"/>
          <p:cNvSpPr/>
          <p:nvPr/>
        </p:nvSpPr>
        <p:spPr>
          <a:xfrm>
            <a:off x="1346486" y="1196752"/>
            <a:ext cx="3801578" cy="1296144"/>
          </a:xfrm>
          <a:prstGeom prst="cloudCallou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r>
              <a:rPr lang="ko-KR" altLang="en-US" sz="2400" b="1" dirty="0">
                <a:latin typeface="HY엽서M" panose="02030600000101010101" pitchFamily="18" charset="-127"/>
                <a:ea typeface="HY엽서M" panose="02030600000101010101" pitchFamily="18" charset="-127"/>
              </a:rPr>
              <a:t>보험료 통합징수</a:t>
            </a:r>
            <a:endParaRPr lang="en-US" altLang="ko-KR" sz="2400" b="1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27584" y="2852936"/>
            <a:ext cx="7488832" cy="24006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3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개의 사회보험공단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(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건강보험공단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국민연금공단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근로복지 공단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에서 수행 하던 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5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대 보험료 징수 업무를 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2011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년부터는 건강보험공단이 통합하여 운영함</a:t>
            </a:r>
            <a:endParaRPr lang="en-US" altLang="ko-KR" sz="20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3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개 공단에서 하던 기존의 자격관리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보험료 부과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급여서비스 </a:t>
            </a:r>
            <a:endParaRPr lang="en-US" altLang="ko-KR" sz="20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   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업무는 기존 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3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개 공단에서 그대로 유지함</a:t>
            </a:r>
          </a:p>
        </p:txBody>
      </p:sp>
    </p:spTree>
    <p:extLst>
      <p:ext uri="{BB962C8B-B14F-4D97-AF65-F5344CB8AC3E}">
        <p14:creationId xmlns:p14="http://schemas.microsoft.com/office/powerpoint/2010/main" val="458886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323528" y="1053040"/>
            <a:ext cx="2808312" cy="4317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2)</a:t>
            </a:r>
            <a:r>
              <a:rPr lang="en-US" altLang="ko-KR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정부재정지원</a:t>
            </a:r>
            <a:endParaRPr lang="ko-KR" altLang="en-US" sz="2400" dirty="0">
              <a:solidFill>
                <a:schemeClr val="tx1"/>
              </a:solidFill>
              <a:latin typeface="HY울릉도B" panose="02030600000101010101" pitchFamily="18" charset="-127"/>
              <a:ea typeface="HY울릉도B" panose="02030600000101010101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24704" y="1700808"/>
            <a:ext cx="8496944" cy="33516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① 국가는 매년 예산의 범위 안에서 당해 연도 보험료 </a:t>
            </a:r>
            <a:r>
              <a:rPr lang="ko-KR" altLang="en-US" b="1" dirty="0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예상수입액의 </a:t>
            </a:r>
            <a:r>
              <a:rPr lang="en-US" altLang="ko-KR" b="1" dirty="0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14%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에 상당 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   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하는 금액을 </a:t>
            </a:r>
            <a:r>
              <a:rPr lang="ko-KR" altLang="en-US" b="1" dirty="0">
                <a:solidFill>
                  <a:srgbClr val="FF66FF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국고에서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국민건강보험공단에 지원함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fontAlgn="base">
              <a:lnSpc>
                <a:spcPct val="150000"/>
              </a:lnSpc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 ⓐ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건강보험 사업에 대한 운영비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fontAlgn="base">
              <a:lnSpc>
                <a:spcPct val="150000"/>
              </a:lnSpc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ⓑ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보험료 경감에 대한 지원 등에 사용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② 국민건강증진법에 따라 </a:t>
            </a:r>
            <a:r>
              <a:rPr lang="ko-KR" altLang="en-US" b="1" dirty="0">
                <a:solidFill>
                  <a:srgbClr val="FF66FF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국민건강증진기금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에서 기금의 일부를 공단에 지원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fontAlgn="base">
              <a:lnSpc>
                <a:spcPct val="150000"/>
              </a:lnSpc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ⓐ 건강검진 등 건강증진에 관한 사업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fontAlgn="base">
              <a:lnSpc>
                <a:spcPct val="150000"/>
              </a:lnSpc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ⓑ 가입자와 피부양자의 흡연으로 인한 질병에 대한 보험급여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fontAlgn="base">
              <a:lnSpc>
                <a:spcPct val="150000"/>
              </a:lnSpc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ⓒ 가입자와 피부양자 중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65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세 이상 노인에 대한 보험 급여 등에 사용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84934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203001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anose="02030600000101010101" pitchFamily="18" charset="-127"/>
                <a:ea typeface="HY울릉도B" panose="02030600000101010101" pitchFamily="18" charset="-127"/>
              </a:rPr>
              <a:t>6. </a:t>
            </a:r>
            <a:r>
              <a:rPr lang="ko-KR" altLang="en-US" sz="3200" dirty="0">
                <a:latin typeface="HY울릉도B" panose="02030600000101010101" pitchFamily="18" charset="-127"/>
                <a:ea typeface="HY울릉도B" panose="02030600000101010101" pitchFamily="18" charset="-127"/>
              </a:rPr>
              <a:t>재정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988840"/>
            <a:ext cx="8640960" cy="468052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altLang="ko-KR" sz="4500" b="1" dirty="0">
                <a:latin typeface="HY울릉도M" pitchFamily="18" charset="-127"/>
                <a:ea typeface="HY울릉도M" pitchFamily="18" charset="-127"/>
              </a:rPr>
              <a:t> </a:t>
            </a:r>
            <a:endParaRPr lang="en-US" altLang="ko-KR" sz="3400" b="1" dirty="0">
              <a:latin typeface="HY울릉도M" pitchFamily="18" charset="-127"/>
              <a:ea typeface="HY울릉도M" pitchFamily="18" charset="-127"/>
            </a:endParaRPr>
          </a:p>
          <a:p>
            <a:pPr>
              <a:buNone/>
            </a:pPr>
            <a:endParaRPr lang="ko-KR" altLang="en-US" sz="2600" dirty="0">
              <a:latin typeface="HY울릉도M" pitchFamily="18" charset="-127"/>
              <a:ea typeface="HY울릉도M" pitchFamily="18" charset="-127"/>
            </a:endParaRPr>
          </a:p>
          <a:p>
            <a:endParaRPr lang="ko-KR" altLang="en-US" dirty="0"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2561705" y="1988840"/>
            <a:ext cx="3456384" cy="4164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표</a:t>
            </a:r>
            <a:r>
              <a:rPr lang="en-US" altLang="ko-KR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연도별 정부지원금 현황 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308304" y="2852465"/>
            <a:ext cx="115127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 latinLnBrk="0"/>
            <a:r>
              <a:rPr lang="en-US" altLang="ko-KR" sz="1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(</a:t>
            </a:r>
            <a:r>
              <a:rPr lang="ko-KR" altLang="en-US" sz="1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단위</a:t>
            </a:r>
            <a:r>
              <a:rPr lang="en-US" altLang="ko-KR" sz="1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: </a:t>
            </a:r>
            <a:r>
              <a:rPr lang="ko-KR" altLang="en-US" sz="1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억원</a:t>
            </a:r>
            <a:r>
              <a:rPr lang="en-US" altLang="ko-KR" sz="1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endParaRPr lang="ko-KR" altLang="en-US" sz="14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CD0AAFE-B984-442D-913A-67AE6DD60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0358" y="2736850"/>
            <a:ext cx="1255269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84E9FA3-E712-400E-B0F4-F863A874F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998665"/>
              </p:ext>
            </p:extLst>
          </p:nvPr>
        </p:nvGraphicFramePr>
        <p:xfrm>
          <a:off x="251518" y="3298222"/>
          <a:ext cx="8640963" cy="2002985"/>
        </p:xfrm>
        <a:graphic>
          <a:graphicData uri="http://schemas.openxmlformats.org/drawingml/2006/table">
            <a:tbl>
              <a:tblPr/>
              <a:tblGrid>
                <a:gridCol w="1440452">
                  <a:extLst>
                    <a:ext uri="{9D8B030D-6E8A-4147-A177-3AD203B41FA5}">
                      <a16:colId xmlns:a16="http://schemas.microsoft.com/office/drawing/2014/main" val="946732519"/>
                    </a:ext>
                  </a:extLst>
                </a:gridCol>
                <a:gridCol w="1440452">
                  <a:extLst>
                    <a:ext uri="{9D8B030D-6E8A-4147-A177-3AD203B41FA5}">
                      <a16:colId xmlns:a16="http://schemas.microsoft.com/office/drawing/2014/main" val="1416753260"/>
                    </a:ext>
                  </a:extLst>
                </a:gridCol>
                <a:gridCol w="1440452">
                  <a:extLst>
                    <a:ext uri="{9D8B030D-6E8A-4147-A177-3AD203B41FA5}">
                      <a16:colId xmlns:a16="http://schemas.microsoft.com/office/drawing/2014/main" val="4244190747"/>
                    </a:ext>
                  </a:extLst>
                </a:gridCol>
                <a:gridCol w="1440452">
                  <a:extLst>
                    <a:ext uri="{9D8B030D-6E8A-4147-A177-3AD203B41FA5}">
                      <a16:colId xmlns:a16="http://schemas.microsoft.com/office/drawing/2014/main" val="3333704033"/>
                    </a:ext>
                  </a:extLst>
                </a:gridCol>
                <a:gridCol w="1440452">
                  <a:extLst>
                    <a:ext uri="{9D8B030D-6E8A-4147-A177-3AD203B41FA5}">
                      <a16:colId xmlns:a16="http://schemas.microsoft.com/office/drawing/2014/main" val="3492114711"/>
                    </a:ext>
                  </a:extLst>
                </a:gridCol>
                <a:gridCol w="1438703">
                  <a:extLst>
                    <a:ext uri="{9D8B030D-6E8A-4147-A177-3AD203B41FA5}">
                      <a16:colId xmlns:a16="http://schemas.microsoft.com/office/drawing/2014/main" val="1784173827"/>
                    </a:ext>
                  </a:extLst>
                </a:gridCol>
              </a:tblGrid>
              <a:tr h="4529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구 분</a:t>
                      </a:r>
                      <a:endParaRPr lang="ko-KR" alt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2016</a:t>
                      </a:r>
                      <a:r>
                        <a:rPr lang="ko-KR" altLang="en-US" sz="18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800" kern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2017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800" kern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2018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800" kern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2019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800" kern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altLang="ko-KR" sz="18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2020</a:t>
                      </a: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년</a:t>
                      </a:r>
                      <a:endParaRPr lang="ko-KR" altLang="en-US" sz="1800" kern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847852"/>
                  </a:ext>
                </a:extLst>
              </a:tr>
              <a:tr h="51667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국고지원금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52,060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48,828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52,001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59,721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73,481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5662189"/>
                  </a:ext>
                </a:extLst>
              </a:tr>
              <a:tr h="51667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담배부담금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18,914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19,011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18,881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18,082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18,800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8316"/>
                  </a:ext>
                </a:extLst>
              </a:tr>
              <a:tr h="51667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8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지원총계</a:t>
                      </a:r>
                      <a:endParaRPr lang="ko-KR" alt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70,974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67,839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70,802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77,803</a:t>
                      </a:r>
                      <a:endParaRPr lang="en-US" sz="18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-50" dirty="0">
                          <a:solidFill>
                            <a:srgbClr val="000000"/>
                          </a:solidFill>
                          <a:effectLst/>
                          <a:latin typeface="-윤고딕110"/>
                        </a:rPr>
                        <a:t>92,282</a:t>
                      </a:r>
                      <a:endParaRPr lang="en-US" sz="18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8996952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322D5A4B-32A1-4922-A037-BB346407E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72345" y="3298825"/>
            <a:ext cx="1398119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664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92615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7.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운영체계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1628800"/>
            <a:ext cx="8568952" cy="4896544"/>
          </a:xfr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fontAlgn="base">
              <a:lnSpc>
                <a:spcPct val="150000"/>
              </a:lnSpc>
              <a:buNone/>
            </a:pPr>
            <a:endParaRPr lang="en-US" altLang="ko-KR" sz="800" dirty="0">
              <a:solidFill>
                <a:srgbClr val="3399FF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국민건강보험제도의 운영을 관장하는 기관</a:t>
            </a:r>
            <a:endParaRPr lang="en-US" altLang="ko-KR" sz="20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보건복지부장관은 건강보험정책심의위원회의 심의를 거쳐 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5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년마다   국민건강보험종합계획을 수립</a:t>
            </a:r>
            <a:endParaRPr lang="en-US" altLang="ko-KR" sz="20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종합계획에 따라 매년 연도별 시행계획을 건강보험정책심의위원회의 심의를 거쳐 수립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·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시행</a:t>
            </a:r>
            <a:endParaRPr lang="en-US" altLang="ko-KR" sz="20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fontAlgn="base">
              <a:lnSpc>
                <a:spcPct val="150000"/>
              </a:lnSpc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또한 </a:t>
            </a:r>
            <a:r>
              <a:rPr lang="ko-KR" altLang="en-US" sz="2000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보험료율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및 보험료 부과기준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요양급여의 범위 등을 결정하며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 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국민건강보험공단의 예산 및 규정 등을 승인함</a:t>
            </a:r>
            <a:endParaRPr lang="en-US" altLang="ko-KR" sz="20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fontAlgn="base">
              <a:lnSpc>
                <a:spcPct val="150000"/>
              </a:lnSpc>
            </a:pP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528" y="1053040"/>
            <a:ext cx="2808312" cy="4317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1</a:t>
            </a:r>
            <a:r>
              <a:rPr lang="en-US" altLang="ko-KR" sz="240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r>
              <a:rPr lang="en-US" altLang="ko-KR" sz="24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보건복지부</a:t>
            </a:r>
            <a:endParaRPr lang="ko-KR" altLang="en-US" sz="2400" dirty="0">
              <a:solidFill>
                <a:schemeClr val="tx1"/>
              </a:solidFill>
              <a:latin typeface="HY울릉도B" panose="02030600000101010101" pitchFamily="18" charset="-127"/>
              <a:ea typeface="HY울릉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05467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92615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7.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운영체계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1772816"/>
            <a:ext cx="8568952" cy="4392488"/>
          </a:xfr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altLang="ko-KR" sz="2000" dirty="0">
                <a:solidFill>
                  <a:srgbClr val="0C6CF8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보건복지부 장관의 위탁을 받아 국민연금 사업을 집행하는 기관</a:t>
            </a:r>
          </a:p>
          <a:p>
            <a:pPr marL="180000" indent="180000" fontAlgn="base">
              <a:lnSpc>
                <a:spcPct val="150000"/>
              </a:lnSpc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가입자 및 피부양자의 자격관리</a:t>
            </a:r>
            <a:endParaRPr lang="en-US" altLang="ko-KR" sz="20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indent="180000" fontAlgn="base">
              <a:lnSpc>
                <a:spcPct val="150000"/>
              </a:lnSpc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보험급여의 관리</a:t>
            </a:r>
            <a:endParaRPr lang="en-US" altLang="ko-KR" sz="20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indent="180000" fontAlgn="base">
              <a:lnSpc>
                <a:spcPct val="150000"/>
              </a:lnSpc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보험료 부과 및 징수업무</a:t>
            </a:r>
            <a:endParaRPr lang="en-US" altLang="ko-KR" sz="20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indent="180000" fontAlgn="base">
              <a:lnSpc>
                <a:spcPct val="150000"/>
              </a:lnSpc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가입자 및 피부양자의 건강 유지증진을 위하여 필요한 예방사업</a:t>
            </a:r>
          </a:p>
          <a:p>
            <a:pPr marL="180000" indent="180000" fontAlgn="base">
              <a:lnSpc>
                <a:spcPct val="150000"/>
              </a:lnSpc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보험급여관리와 보험급여 지급</a:t>
            </a:r>
            <a:endParaRPr lang="en-US" altLang="ko-KR" sz="20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indent="180000" fontAlgn="base">
              <a:lnSpc>
                <a:spcPct val="150000"/>
              </a:lnSpc>
            </a:pPr>
            <a:endParaRPr lang="ko-KR" altLang="en-US" sz="20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528" y="1053040"/>
            <a:ext cx="3312368" cy="4317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2</a:t>
            </a:r>
            <a:r>
              <a:rPr lang="en-US" altLang="ko-KR" sz="240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r>
              <a:rPr lang="en-US" altLang="ko-KR" sz="24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국민건강보험공단</a:t>
            </a:r>
            <a:endParaRPr lang="ko-KR" altLang="en-US" sz="2400" dirty="0">
              <a:solidFill>
                <a:schemeClr val="tx1"/>
              </a:solidFill>
              <a:latin typeface="HY울릉도B" panose="02030600000101010101" pitchFamily="18" charset="-127"/>
              <a:ea typeface="HY울릉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03039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92615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7.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운영체계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1700808"/>
            <a:ext cx="8568952" cy="468052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180000" indent="1800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 건강보험정책에 관한 사항을 심의</a:t>
            </a:r>
            <a:r>
              <a:rPr lang="en-US" altLang="ko-KR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·</a:t>
            </a: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의결하는 기구</a:t>
            </a:r>
            <a:endParaRPr lang="en-US" altLang="ko-KR" sz="20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465750" indent="285750" fontAlgn="base">
              <a:lnSpc>
                <a:spcPct val="150000"/>
              </a:lnSpc>
            </a:pPr>
            <a:r>
              <a:rPr lang="ko-KR" altLang="en-US" sz="19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국민건강종합계획 및 시행계획에 관한 사항</a:t>
            </a:r>
          </a:p>
          <a:p>
            <a:pPr marL="465750" indent="285750" fontAlgn="base">
              <a:lnSpc>
                <a:spcPct val="150000"/>
              </a:lnSpc>
            </a:pPr>
            <a:r>
              <a:rPr lang="ko-KR" altLang="en-US" sz="19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요양급여의 기준</a:t>
            </a:r>
          </a:p>
          <a:p>
            <a:pPr marL="465750" indent="285750" fontAlgn="base">
              <a:lnSpc>
                <a:spcPct val="150000"/>
              </a:lnSpc>
            </a:pPr>
            <a:r>
              <a:rPr lang="ko-KR" altLang="en-US" sz="19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요양급여비용에 관한 사항</a:t>
            </a:r>
          </a:p>
          <a:p>
            <a:pPr marL="465750" indent="285750" fontAlgn="base">
              <a:lnSpc>
                <a:spcPct val="150000"/>
              </a:lnSpc>
            </a:pPr>
            <a:r>
              <a:rPr lang="ko-KR" altLang="en-US" sz="19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직장가입자의 </a:t>
            </a:r>
            <a:r>
              <a:rPr lang="ko-KR" altLang="en-US" sz="1900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보험료율</a:t>
            </a:r>
            <a:endParaRPr lang="ko-KR" altLang="en-US" sz="19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465750" indent="285750" fontAlgn="base">
              <a:lnSpc>
                <a:spcPct val="150000"/>
              </a:lnSpc>
            </a:pPr>
            <a:r>
              <a:rPr lang="ko-KR" altLang="en-US" sz="19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지역가입자의 보험료 부과점수당 금액</a:t>
            </a:r>
          </a:p>
          <a:p>
            <a:pPr marL="465750" indent="285750" fontAlgn="base">
              <a:lnSpc>
                <a:spcPct val="150000"/>
              </a:lnSpc>
            </a:pPr>
            <a:r>
              <a:rPr lang="ko-KR" altLang="en-US" sz="19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그 밖에 건강보험에 관한 주요사항으로서 대통령령으로 정하는 사항</a:t>
            </a:r>
          </a:p>
          <a:p>
            <a:pPr marL="465750" indent="285750" fontAlgn="base">
              <a:lnSpc>
                <a:spcPct val="150000"/>
              </a:lnSpc>
            </a:pP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indent="0" fontAlgn="base">
              <a:lnSpc>
                <a:spcPct val="150000"/>
              </a:lnSpc>
              <a:buNone/>
            </a:pPr>
            <a:endParaRPr lang="en-US" altLang="ko-KR" sz="20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indent="0" fontAlgn="base">
              <a:lnSpc>
                <a:spcPts val="2500"/>
              </a:lnSpc>
              <a:buNone/>
            </a:pP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indent="0" fontAlgn="base">
              <a:lnSpc>
                <a:spcPts val="2500"/>
              </a:lnSpc>
              <a:buNone/>
            </a:pP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0" indent="0" fontAlgn="base">
              <a:lnSpc>
                <a:spcPts val="2500"/>
              </a:lnSpc>
              <a:buNone/>
            </a:pPr>
            <a:endParaRPr lang="en-US" altLang="ko-KR" sz="1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indent="-180000" fontAlgn="base">
              <a:lnSpc>
                <a:spcPts val="2500"/>
              </a:lnSpc>
              <a:buFont typeface="Wingdings" panose="05000000000000000000" pitchFamily="2" charset="2"/>
              <a:buChar char="§"/>
            </a:pPr>
            <a:endParaRPr lang="ko-KR" altLang="en-US" sz="1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0" indent="0" fontAlgn="base">
              <a:lnSpc>
                <a:spcPts val="2500"/>
              </a:lnSpc>
              <a:buNone/>
            </a:pP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0" indent="0" fontAlgn="base">
              <a:lnSpc>
                <a:spcPts val="2500"/>
              </a:lnSpc>
              <a:buNone/>
            </a:pP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528" y="1053040"/>
            <a:ext cx="4608512" cy="4317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3</a:t>
            </a:r>
            <a:r>
              <a:rPr lang="en-US" altLang="ko-KR" sz="240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r>
              <a:rPr lang="en-US" altLang="ko-KR" sz="240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건강보험정책심의위원회</a:t>
            </a:r>
            <a:endParaRPr lang="ko-KR" altLang="en-US" sz="2400" dirty="0">
              <a:solidFill>
                <a:schemeClr val="tx1"/>
              </a:solidFill>
              <a:latin typeface="HY울릉도B" panose="02030600000101010101" pitchFamily="18" charset="-127"/>
              <a:ea typeface="HY울릉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93803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92615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7. </a:t>
            </a:r>
            <a:r>
              <a:rPr lang="ko-KR" altLang="en-US" sz="3200">
                <a:latin typeface="HY울릉도B" pitchFamily="18" charset="-127"/>
                <a:ea typeface="HY울릉도B" pitchFamily="18" charset="-127"/>
              </a:rPr>
              <a:t>운영체계</a:t>
            </a:r>
            <a:endParaRPr lang="ko-KR" altLang="en-US" sz="3200" dirty="0">
              <a:latin typeface="HY울릉도B" pitchFamily="18" charset="-127"/>
              <a:ea typeface="HY울릉도B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1700808"/>
            <a:ext cx="8568952" cy="324036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 fontAlgn="base">
              <a:lnSpc>
                <a:spcPts val="2500"/>
              </a:lnSpc>
              <a:buNone/>
            </a:pPr>
            <a:r>
              <a:rPr lang="en-US" altLang="ko-KR" sz="2000" dirty="0">
                <a:solidFill>
                  <a:srgbClr val="3399FF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  </a:t>
            </a:r>
            <a:endParaRPr lang="en-US" altLang="ko-KR" sz="900" b="1" dirty="0">
              <a:solidFill>
                <a:srgbClr val="3399FF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요양기관으로부터 청구된 요양급여 비용의 심사와  적정성 평가 기구</a:t>
            </a:r>
            <a:endParaRPr lang="en-US" altLang="ko-KR" sz="20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465750" indent="-285750" fontAlgn="base">
              <a:lnSpc>
                <a:spcPct val="150000"/>
              </a:lnSpc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요양급여비용의 심사</a:t>
            </a:r>
          </a:p>
          <a:p>
            <a:pPr marL="465750" indent="-285750" fontAlgn="base">
              <a:lnSpc>
                <a:spcPct val="150000"/>
              </a:lnSpc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요양급여의 적정성 평가</a:t>
            </a:r>
          </a:p>
          <a:p>
            <a:pPr marL="465750" indent="-285750" fontAlgn="base">
              <a:lnSpc>
                <a:spcPct val="150000"/>
              </a:lnSpc>
            </a:pPr>
            <a:r>
              <a:rPr lang="ko-KR" altLang="en-US" sz="20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심사기준 및 평가기준의 개발 등과 업무와 관련된 조사연구 등</a:t>
            </a:r>
          </a:p>
          <a:p>
            <a:pPr marL="465750" indent="-285750" fontAlgn="base">
              <a:lnSpc>
                <a:spcPts val="2500"/>
              </a:lnSpc>
            </a:pP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indent="-180000" fontAlgn="base">
              <a:lnSpc>
                <a:spcPts val="2500"/>
              </a:lnSpc>
              <a:buFont typeface="Wingdings" panose="05000000000000000000" pitchFamily="2" charset="2"/>
              <a:buChar char="§"/>
            </a:pPr>
            <a:endParaRPr lang="ko-KR" altLang="en-US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indent="0" fontAlgn="base">
              <a:lnSpc>
                <a:spcPts val="2500"/>
              </a:lnSpc>
              <a:buNone/>
            </a:pP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indent="0" fontAlgn="base">
              <a:lnSpc>
                <a:spcPts val="2500"/>
              </a:lnSpc>
              <a:buNone/>
            </a:pP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indent="0" fontAlgn="base">
              <a:lnSpc>
                <a:spcPts val="2500"/>
              </a:lnSpc>
              <a:buNone/>
            </a:pP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0" indent="0" fontAlgn="base">
              <a:lnSpc>
                <a:spcPts val="2500"/>
              </a:lnSpc>
              <a:buNone/>
            </a:pPr>
            <a:endParaRPr lang="en-US" altLang="ko-KR" sz="1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180000" indent="-180000" fontAlgn="base">
              <a:lnSpc>
                <a:spcPts val="2500"/>
              </a:lnSpc>
              <a:buFont typeface="Wingdings" panose="05000000000000000000" pitchFamily="2" charset="2"/>
              <a:buChar char="§"/>
            </a:pPr>
            <a:endParaRPr lang="ko-KR" altLang="en-US" sz="1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0" indent="0" fontAlgn="base">
              <a:lnSpc>
                <a:spcPts val="2500"/>
              </a:lnSpc>
              <a:buNone/>
            </a:pP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0" indent="0" fontAlgn="base">
              <a:lnSpc>
                <a:spcPts val="2500"/>
              </a:lnSpc>
              <a:buNone/>
            </a:pPr>
            <a:endParaRPr lang="en-US" altLang="ko-KR" sz="1800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528" y="1053040"/>
            <a:ext cx="3960440" cy="43174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0"/>
              </a:spcBef>
              <a:defRPr/>
            </a:pPr>
            <a:r>
              <a:rPr lang="en-US" altLang="ko-KR" sz="2400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400" dirty="0">
                <a:latin typeface="HY울릉도M" panose="02030600000101010101" pitchFamily="18" charset="-127"/>
                <a:ea typeface="HY울릉도M" panose="02030600000101010101" pitchFamily="18" charset="-127"/>
              </a:rPr>
              <a:t>4)</a:t>
            </a:r>
            <a:r>
              <a:rPr lang="en-US" altLang="ko-KR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HY울릉도M" pitchFamily="18" charset="-127"/>
                <a:ea typeface="HY울릉도M" pitchFamily="18" charset="-127"/>
              </a:rPr>
              <a:t>건강보험심사평가원</a:t>
            </a:r>
            <a:endParaRPr lang="ko-KR" altLang="en-US" sz="2400" dirty="0">
              <a:solidFill>
                <a:schemeClr val="tx1"/>
              </a:solidFill>
              <a:latin typeface="HY울릉도B" panose="02030600000101010101" pitchFamily="18" charset="-127"/>
              <a:ea typeface="HY울릉도B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9574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9276</TotalTime>
  <Words>2989</Words>
  <Application>Microsoft Office PowerPoint</Application>
  <PresentationFormat>화면 슬라이드 쇼(4:3)</PresentationFormat>
  <Paragraphs>682</Paragraphs>
  <Slides>38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38</vt:i4>
      </vt:variant>
    </vt:vector>
  </HeadingPairs>
  <TitlesOfParts>
    <vt:vector size="56" baseType="lpstr">
      <vt:lpstr>HY수평선M</vt:lpstr>
      <vt:lpstr>HY엽서M</vt:lpstr>
      <vt:lpstr>HY울릉도B</vt:lpstr>
      <vt:lpstr>HY울릉도M</vt:lpstr>
      <vt:lpstr>굴림</vt:lpstr>
      <vt:lpstr>나눔스퀘어 Bold</vt:lpstr>
      <vt:lpstr>나눔스퀘어 ExtraBold</vt:lpstr>
      <vt:lpstr>나눔스퀘어라운드 Bold</vt:lpstr>
      <vt:lpstr>맑은 고딕</vt:lpstr>
      <vt:lpstr>-윤고딕110</vt:lpstr>
      <vt:lpstr>-윤고딕120</vt:lpstr>
      <vt:lpstr>태 나무</vt:lpstr>
      <vt:lpstr>한컴 솔잎 B</vt:lpstr>
      <vt:lpstr>함초롬바탕</vt:lpstr>
      <vt:lpstr>Arial</vt:lpstr>
      <vt:lpstr>Wingdings</vt:lpstr>
      <vt:lpstr>Office 테마</vt:lpstr>
      <vt:lpstr>1_Office 테마</vt:lpstr>
      <vt:lpstr>제8장</vt:lpstr>
      <vt:lpstr>content</vt:lpstr>
      <vt:lpstr>PowerPoint 프레젠테이션</vt:lpstr>
      <vt:lpstr>2. 도입배경 및 발전과정</vt:lpstr>
      <vt:lpstr>2. 도입배경 및 발전과정</vt:lpstr>
      <vt:lpstr>2. 도입배경 및 발전과정</vt:lpstr>
      <vt:lpstr>2. 도입배경 및 발전과정</vt:lpstr>
      <vt:lpstr>2. 도입배경 및 발전과정</vt:lpstr>
      <vt:lpstr>2. 도입배경 및 발전과정</vt:lpstr>
      <vt:lpstr>2. 도입배경 및 발전과정</vt:lpstr>
      <vt:lpstr>PowerPoint 프레젠테이션</vt:lpstr>
      <vt:lpstr>4. 제도의 내용과 현황</vt:lpstr>
      <vt:lpstr>4. 제도의 내용과 현황</vt:lpstr>
      <vt:lpstr>4. 제도의 내용과 현황</vt:lpstr>
      <vt:lpstr>4. 제도의 내용과 현황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6. 재정</vt:lpstr>
      <vt:lpstr>6. 재정</vt:lpstr>
      <vt:lpstr>6. 재정</vt:lpstr>
      <vt:lpstr>6. 재정</vt:lpstr>
      <vt:lpstr>6. 재정</vt:lpstr>
      <vt:lpstr>6. 재정</vt:lpstr>
      <vt:lpstr>PowerPoint 프레젠테이션</vt:lpstr>
      <vt:lpstr>6. 재정</vt:lpstr>
      <vt:lpstr>6. 재정</vt:lpstr>
      <vt:lpstr>7. 운영체계</vt:lpstr>
      <vt:lpstr>7. 운영체계</vt:lpstr>
      <vt:lpstr>7. 운영체계</vt:lpstr>
      <vt:lpstr>7. 운영체계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【사회보장론】 (Social Security )</dc:title>
  <dc:creator>my</dc:creator>
  <cp:lastModifiedBy>노동주</cp:lastModifiedBy>
  <cp:revision>1241</cp:revision>
  <dcterms:created xsi:type="dcterms:W3CDTF">2013-07-17T08:20:07Z</dcterms:created>
  <dcterms:modified xsi:type="dcterms:W3CDTF">2024-11-12T13:15:19Z</dcterms:modified>
</cp:coreProperties>
</file>