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811523" y="9415198"/>
            <a:ext cx="166370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11953" y="949705"/>
            <a:ext cx="135953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b="1">
                <a:latin typeface="Malgun Gothic"/>
                <a:cs typeface="Malgun Gothic"/>
              </a:rPr>
              <a:t>Professor</a:t>
            </a:r>
            <a:r>
              <a:rPr dirty="0" sz="1000" spc="-40" b="1">
                <a:latin typeface="Malgun Gothic"/>
                <a:cs typeface="Malgun Gothic"/>
              </a:rPr>
              <a:t> </a:t>
            </a:r>
            <a:r>
              <a:rPr dirty="0" sz="1000" b="1">
                <a:latin typeface="Malgun Gothic"/>
                <a:cs typeface="Malgun Gothic"/>
              </a:rPr>
              <a:t>Bogang</a:t>
            </a:r>
            <a:r>
              <a:rPr dirty="0" sz="1000" spc="-40" b="1">
                <a:latin typeface="Malgun Gothic"/>
                <a:cs typeface="Malgun Gothic"/>
              </a:rPr>
              <a:t> </a:t>
            </a:r>
            <a:r>
              <a:rPr dirty="0" sz="1000" spc="-25" b="1">
                <a:latin typeface="Malgun Gothic"/>
                <a:cs typeface="Malgun Gothic"/>
              </a:rPr>
              <a:t>Jun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265102" y="949705"/>
            <a:ext cx="60198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b="1">
                <a:latin typeface="Malgun Gothic"/>
                <a:cs typeface="Malgun Gothic"/>
              </a:rPr>
              <a:t>Fall,</a:t>
            </a:r>
            <a:r>
              <a:rPr dirty="0" sz="1000" spc="-30" b="1">
                <a:latin typeface="Malgun Gothic"/>
                <a:cs typeface="Malgun Gothic"/>
              </a:rPr>
              <a:t> </a:t>
            </a:r>
            <a:r>
              <a:rPr dirty="0" sz="1000" spc="-20" b="1">
                <a:latin typeface="Malgun Gothic"/>
                <a:cs typeface="Malgun Gothic"/>
              </a:rPr>
              <a:t>2024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4" name="object 4" descr=""/>
          <p:cNvSpPr txBox="1"/>
          <p:nvPr/>
        </p:nvSpPr>
        <p:spPr>
          <a:xfrm>
            <a:off x="904747" y="1422145"/>
            <a:ext cx="5935345" cy="7219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34290">
              <a:lnSpc>
                <a:spcPct val="100000"/>
              </a:lnSpc>
              <a:spcBef>
                <a:spcPts val="105"/>
              </a:spcBef>
            </a:pPr>
            <a:r>
              <a:rPr dirty="0" sz="1000" b="1">
                <a:latin typeface="Malgun Gothic"/>
                <a:cs typeface="Malgun Gothic"/>
              </a:rPr>
              <a:t>ECO3334:</a:t>
            </a:r>
            <a:r>
              <a:rPr dirty="0" sz="1000" spc="-40" b="1">
                <a:latin typeface="Malgun Gothic"/>
                <a:cs typeface="Malgun Gothic"/>
              </a:rPr>
              <a:t> </a:t>
            </a:r>
            <a:r>
              <a:rPr dirty="0" sz="1000" b="1">
                <a:latin typeface="Malgun Gothic"/>
                <a:cs typeface="Malgun Gothic"/>
              </a:rPr>
              <a:t>글로벌경제론</a:t>
            </a:r>
            <a:r>
              <a:rPr dirty="0" sz="1000" spc="-45" b="1">
                <a:latin typeface="Malgun Gothic"/>
                <a:cs typeface="Malgun Gothic"/>
              </a:rPr>
              <a:t> </a:t>
            </a:r>
            <a:r>
              <a:rPr dirty="0" sz="1000" b="1">
                <a:latin typeface="Malgun Gothic"/>
                <a:cs typeface="Malgun Gothic"/>
              </a:rPr>
              <a:t>(Global</a:t>
            </a:r>
            <a:r>
              <a:rPr dirty="0" sz="1000" spc="-40" b="1">
                <a:latin typeface="Malgun Gothic"/>
                <a:cs typeface="Malgun Gothic"/>
              </a:rPr>
              <a:t> </a:t>
            </a:r>
            <a:r>
              <a:rPr dirty="0" sz="1000" spc="-10" b="1">
                <a:latin typeface="Malgun Gothic"/>
                <a:cs typeface="Malgun Gothic"/>
              </a:rPr>
              <a:t>Economy)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1000" b="1">
                <a:latin typeface="Malgun Gothic"/>
                <a:cs typeface="Malgun Gothic"/>
              </a:rPr>
              <a:t>연구실:</a:t>
            </a:r>
            <a:r>
              <a:rPr dirty="0" sz="1000" spc="-20" b="1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6</a:t>
            </a:r>
            <a:r>
              <a:rPr dirty="0" sz="1000" spc="-11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호관</a:t>
            </a:r>
            <a:r>
              <a:rPr dirty="0" sz="1000" spc="-15">
                <a:latin typeface="Malgun Gothic"/>
                <a:cs typeface="Malgun Gothic"/>
              </a:rPr>
              <a:t> </a:t>
            </a:r>
            <a:r>
              <a:rPr dirty="0" sz="1000" spc="-10">
                <a:latin typeface="Malgun Gothic"/>
                <a:cs typeface="Malgun Gothic"/>
              </a:rPr>
              <a:t>301</a:t>
            </a:r>
            <a:r>
              <a:rPr dirty="0" sz="1000" spc="-110">
                <a:latin typeface="Malgun Gothic"/>
                <a:cs typeface="Malgun Gothic"/>
              </a:rPr>
              <a:t> </a:t>
            </a:r>
            <a:r>
              <a:rPr dirty="0" sz="1000" spc="-50">
                <a:latin typeface="Malgun Gothic"/>
                <a:cs typeface="Malgun Gothic"/>
              </a:rPr>
              <a:t>호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000" b="1">
                <a:latin typeface="Malgun Gothic"/>
                <a:cs typeface="Malgun Gothic"/>
              </a:rPr>
              <a:t>Office</a:t>
            </a:r>
            <a:r>
              <a:rPr dirty="0" sz="1000" spc="-25" b="1">
                <a:latin typeface="Malgun Gothic"/>
                <a:cs typeface="Malgun Gothic"/>
              </a:rPr>
              <a:t> </a:t>
            </a:r>
            <a:r>
              <a:rPr dirty="0" sz="1000" b="1">
                <a:latin typeface="Malgun Gothic"/>
                <a:cs typeface="Malgun Gothic"/>
              </a:rPr>
              <a:t>Hour:</a:t>
            </a:r>
            <a:r>
              <a:rPr dirty="0" sz="1000" spc="-20" b="1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월요일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 spc="-10">
                <a:latin typeface="Malgun Gothic"/>
                <a:cs typeface="Malgun Gothic"/>
              </a:rPr>
              <a:t>13:30-15:00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1000" b="1">
                <a:latin typeface="Malgun Gothic"/>
                <a:cs typeface="Malgun Gothic"/>
              </a:rPr>
              <a:t>수업시간:</a:t>
            </a:r>
            <a:r>
              <a:rPr dirty="0" sz="1000" spc="-25" b="1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금요일</a:t>
            </a:r>
            <a:r>
              <a:rPr dirty="0" sz="1000" spc="-20">
                <a:latin typeface="Malgun Gothic"/>
                <a:cs typeface="Malgun Gothic"/>
              </a:rPr>
              <a:t> </a:t>
            </a:r>
            <a:r>
              <a:rPr dirty="0" sz="1000" spc="-10">
                <a:latin typeface="Malgun Gothic"/>
                <a:cs typeface="Malgun Gothic"/>
              </a:rPr>
              <a:t>13:30-</a:t>
            </a:r>
            <a:r>
              <a:rPr dirty="0" sz="1000" spc="-20">
                <a:latin typeface="Malgun Gothic"/>
                <a:cs typeface="Malgun Gothic"/>
              </a:rPr>
              <a:t>16:30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000" b="1">
                <a:latin typeface="Malgun Gothic"/>
                <a:cs typeface="Malgun Gothic"/>
              </a:rPr>
              <a:t>강의실:</a:t>
            </a:r>
            <a:r>
              <a:rPr dirty="0" sz="1000" spc="-20" b="1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6</a:t>
            </a:r>
            <a:r>
              <a:rPr dirty="0" sz="1000" spc="-11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호관</a:t>
            </a:r>
            <a:r>
              <a:rPr dirty="0" sz="1000" spc="-15">
                <a:latin typeface="Malgun Gothic"/>
                <a:cs typeface="Malgun Gothic"/>
              </a:rPr>
              <a:t> </a:t>
            </a:r>
            <a:r>
              <a:rPr dirty="0" sz="1000" spc="-10">
                <a:latin typeface="Malgun Gothic"/>
                <a:cs typeface="Malgun Gothic"/>
              </a:rPr>
              <a:t>520</a:t>
            </a:r>
            <a:r>
              <a:rPr dirty="0" sz="1000" spc="-110">
                <a:latin typeface="Malgun Gothic"/>
                <a:cs typeface="Malgun Gothic"/>
              </a:rPr>
              <a:t> </a:t>
            </a:r>
            <a:r>
              <a:rPr dirty="0" sz="1000" spc="-50">
                <a:latin typeface="Malgun Gothic"/>
                <a:cs typeface="Malgun Gothic"/>
              </a:rPr>
              <a:t>호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1000" spc="-10" b="1">
                <a:latin typeface="Malgun Gothic"/>
                <a:cs typeface="Malgun Gothic"/>
              </a:rPr>
              <a:t>강의목표:</a:t>
            </a:r>
            <a:endParaRPr sz="1000">
              <a:latin typeface="Malgun Gothic"/>
              <a:cs typeface="Malgun Gothic"/>
            </a:endParaRPr>
          </a:p>
          <a:p>
            <a:pPr marL="12700" marR="270510">
              <a:lnSpc>
                <a:spcPct val="144000"/>
              </a:lnSpc>
              <a:spcBef>
                <a:spcPts val="265"/>
              </a:spcBef>
            </a:pPr>
            <a:r>
              <a:rPr dirty="0" sz="1000">
                <a:latin typeface="Malgun Gothic"/>
                <a:cs typeface="Malgun Gothic"/>
              </a:rPr>
              <a:t>이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수업의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목표는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학생들이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현대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글로벌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정치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경제의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이론적,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정책적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역학관계를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이해하는데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 spc="-25">
                <a:latin typeface="Malgun Gothic"/>
                <a:cs typeface="Malgun Gothic"/>
              </a:rPr>
              <a:t>필요한 </a:t>
            </a:r>
            <a:r>
              <a:rPr dirty="0" sz="1000">
                <a:latin typeface="Malgun Gothic"/>
                <a:cs typeface="Malgun Gothic"/>
              </a:rPr>
              <a:t>도구들을</a:t>
            </a:r>
            <a:r>
              <a:rPr dirty="0" sz="1000" spc="-4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전달해주는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것에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 spc="-25">
                <a:latin typeface="Malgun Gothic"/>
                <a:cs typeface="Malgun Gothic"/>
              </a:rPr>
              <a:t>있다.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latin typeface="Malgun Gothic"/>
                <a:cs typeface="Malgun Gothic"/>
              </a:rPr>
              <a:t>이</a:t>
            </a:r>
            <a:r>
              <a:rPr dirty="0" sz="1000" spc="-2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수업을</a:t>
            </a:r>
            <a:r>
              <a:rPr dirty="0" sz="1000" spc="-2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들은</a:t>
            </a:r>
            <a:r>
              <a:rPr dirty="0" sz="1000" spc="-20">
                <a:latin typeface="Malgun Gothic"/>
                <a:cs typeface="Malgun Gothic"/>
              </a:rPr>
              <a:t> 학생은,</a:t>
            </a:r>
            <a:endParaRPr sz="1000">
              <a:latin typeface="Malgun Gothic"/>
              <a:cs typeface="Malgun Gothic"/>
            </a:endParaRPr>
          </a:p>
          <a:p>
            <a:pPr marL="469900">
              <a:lnSpc>
                <a:spcPct val="100000"/>
              </a:lnSpc>
              <a:spcBef>
                <a:spcPts val="530"/>
              </a:spcBef>
            </a:pPr>
            <a:r>
              <a:rPr dirty="0" sz="1000" spc="-10">
                <a:latin typeface="Malgun Gothic"/>
                <a:cs typeface="Malgun Gothic"/>
              </a:rPr>
              <a:t>20</a:t>
            </a:r>
            <a:r>
              <a:rPr dirty="0" sz="1000" spc="-11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세기</a:t>
            </a:r>
            <a:r>
              <a:rPr dirty="0" sz="1000" spc="-5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글로벌정치경제를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역사적으로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이해할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수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 spc="-25">
                <a:latin typeface="Malgun Gothic"/>
                <a:cs typeface="Malgun Gothic"/>
              </a:rPr>
              <a:t>있다.</a:t>
            </a:r>
            <a:endParaRPr sz="1000">
              <a:latin typeface="Malgun Gothic"/>
              <a:cs typeface="Malgun Gothic"/>
            </a:endParaRPr>
          </a:p>
          <a:p>
            <a:pPr marL="469900" marR="1206500">
              <a:lnSpc>
                <a:spcPct val="144000"/>
              </a:lnSpc>
            </a:pPr>
            <a:r>
              <a:rPr dirty="0" sz="1000" spc="-10">
                <a:latin typeface="Malgun Gothic"/>
                <a:cs typeface="Malgun Gothic"/>
              </a:rPr>
              <a:t>20</a:t>
            </a:r>
            <a:r>
              <a:rPr dirty="0" sz="1000" spc="-11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세기</a:t>
            </a:r>
            <a:r>
              <a:rPr dirty="0" sz="1000" spc="-4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세계화의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역사를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무역과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금융제도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측면에서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설명할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수</a:t>
            </a:r>
            <a:r>
              <a:rPr dirty="0" sz="1000" spc="-25">
                <a:latin typeface="Malgun Gothic"/>
                <a:cs typeface="Malgun Gothic"/>
              </a:rPr>
              <a:t> 있다.</a:t>
            </a:r>
            <a:r>
              <a:rPr dirty="0" sz="1000" spc="50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현재의</a:t>
            </a:r>
            <a:r>
              <a:rPr dirty="0" sz="1000" spc="-4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글로벌정치경제</a:t>
            </a:r>
            <a:r>
              <a:rPr dirty="0" sz="1000" spc="-4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국면을</a:t>
            </a:r>
            <a:r>
              <a:rPr dirty="0" sz="1000" spc="-4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역사적,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이론적,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정책적으로</a:t>
            </a:r>
            <a:r>
              <a:rPr dirty="0" sz="1000" spc="-4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이해할</a:t>
            </a:r>
            <a:r>
              <a:rPr dirty="0" sz="1000" spc="-4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수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 spc="-25">
                <a:latin typeface="Malgun Gothic"/>
                <a:cs typeface="Malgun Gothic"/>
              </a:rPr>
              <a:t>있다.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1000">
                <a:latin typeface="Malgun Gothic"/>
                <a:cs typeface="Malgun Gothic"/>
              </a:rPr>
              <a:t>또한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기술적으로,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이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수업을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들은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 spc="-20">
                <a:latin typeface="Malgun Gothic"/>
                <a:cs typeface="Malgun Gothic"/>
              </a:rPr>
              <a:t>학생은,</a:t>
            </a:r>
            <a:endParaRPr sz="1000">
              <a:latin typeface="Malgun Gothic"/>
              <a:cs typeface="Malgun Gothic"/>
            </a:endParaRPr>
          </a:p>
          <a:p>
            <a:pPr marL="469900">
              <a:lnSpc>
                <a:spcPct val="100000"/>
              </a:lnSpc>
              <a:spcBef>
                <a:spcPts val="530"/>
              </a:spcBef>
            </a:pPr>
            <a:r>
              <a:rPr dirty="0" sz="1000">
                <a:latin typeface="Malgun Gothic"/>
                <a:cs typeface="Malgun Gothic"/>
              </a:rPr>
              <a:t>(논리적</a:t>
            </a:r>
            <a:r>
              <a:rPr dirty="0" sz="1000" spc="-4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글쓰기)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 spc="-10">
                <a:latin typeface="Malgun Gothic"/>
                <a:cs typeface="Malgun Gothic"/>
              </a:rPr>
              <a:t>20</a:t>
            </a:r>
            <a:r>
              <a:rPr dirty="0" sz="1000" spc="-11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세기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이후의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글로벌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정치경제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질서를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논리적으로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서술할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수</a:t>
            </a:r>
            <a:r>
              <a:rPr dirty="0" sz="1000" spc="-25">
                <a:latin typeface="Malgun Gothic"/>
                <a:cs typeface="Malgun Gothic"/>
              </a:rPr>
              <a:t> 있다.</a:t>
            </a:r>
            <a:endParaRPr sz="1000">
              <a:latin typeface="Malgun Gothic"/>
              <a:cs typeface="Malgun Gothic"/>
            </a:endParaRPr>
          </a:p>
          <a:p>
            <a:pPr marL="469900" marR="107314">
              <a:lnSpc>
                <a:spcPct val="144000"/>
              </a:lnSpc>
            </a:pPr>
            <a:r>
              <a:rPr dirty="0" sz="1000">
                <a:latin typeface="Malgun Gothic"/>
                <a:cs typeface="Malgun Gothic"/>
              </a:rPr>
              <a:t>(논거를</a:t>
            </a:r>
            <a:r>
              <a:rPr dirty="0" sz="1000" spc="-4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사용한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토론)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현재의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글로벌정치경제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국면을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역사적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논거를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이용하여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학우들과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 spc="-25">
                <a:latin typeface="Malgun Gothic"/>
                <a:cs typeface="Malgun Gothic"/>
              </a:rPr>
              <a:t>토론할 </a:t>
            </a:r>
            <a:r>
              <a:rPr dirty="0" sz="1000">
                <a:latin typeface="Malgun Gothic"/>
                <a:cs typeface="Malgun Gothic"/>
              </a:rPr>
              <a:t>수</a:t>
            </a:r>
            <a:r>
              <a:rPr dirty="0" sz="1000" spc="-10">
                <a:latin typeface="Malgun Gothic"/>
                <a:cs typeface="Malgun Gothic"/>
              </a:rPr>
              <a:t> </a:t>
            </a:r>
            <a:r>
              <a:rPr dirty="0" sz="1000" spc="-25">
                <a:latin typeface="Malgun Gothic"/>
                <a:cs typeface="Malgun Gothic"/>
              </a:rPr>
              <a:t>있다.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000">
                <a:latin typeface="Malgun Gothic"/>
                <a:cs typeface="Malgun Gothic"/>
              </a:rPr>
              <a:t>마지막으로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이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수업을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들은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 spc="-20">
                <a:latin typeface="Malgun Gothic"/>
                <a:cs typeface="Malgun Gothic"/>
              </a:rPr>
              <a:t>학생은,</a:t>
            </a:r>
            <a:endParaRPr sz="1000">
              <a:latin typeface="Malgun Gothic"/>
              <a:cs typeface="Malgun Gothic"/>
            </a:endParaRPr>
          </a:p>
          <a:p>
            <a:pPr marL="46990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latin typeface="Malgun Gothic"/>
                <a:cs typeface="Malgun Gothic"/>
              </a:rPr>
              <a:t>현대의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글로벌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경제구조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및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우리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사회의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경제적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구조를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비판적,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역사적으로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이해할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수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 spc="-25">
                <a:latin typeface="Malgun Gothic"/>
                <a:cs typeface="Malgun Gothic"/>
              </a:rPr>
              <a:t>있다.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1000" spc="-10" b="1">
                <a:latin typeface="Malgun Gothic"/>
                <a:cs typeface="Malgun Gothic"/>
              </a:rPr>
              <a:t>강의개요:</a:t>
            </a:r>
            <a:endParaRPr sz="1000">
              <a:latin typeface="Malgun Gothic"/>
              <a:cs typeface="Malgun Gothic"/>
            </a:endParaRPr>
          </a:p>
          <a:p>
            <a:pPr marL="12700" marR="5080">
              <a:lnSpc>
                <a:spcPct val="144000"/>
              </a:lnSpc>
            </a:pPr>
            <a:r>
              <a:rPr dirty="0" sz="1000">
                <a:latin typeface="Malgun Gothic"/>
                <a:cs typeface="Malgun Gothic"/>
              </a:rPr>
              <a:t>이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수업이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다루는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내용은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세계화의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역사이다.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우리가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살아가는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현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시대의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사회경제적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구조를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 spc="-20">
                <a:latin typeface="Malgun Gothic"/>
                <a:cs typeface="Malgun Gothic"/>
              </a:rPr>
              <a:t>이해하기 </a:t>
            </a:r>
            <a:r>
              <a:rPr dirty="0" sz="1000">
                <a:latin typeface="Malgun Gothic"/>
                <a:cs typeface="Malgun Gothic"/>
              </a:rPr>
              <a:t>위해서는</a:t>
            </a:r>
            <a:r>
              <a:rPr dirty="0" sz="1000" spc="-4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(i)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자본주의,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(ii)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산업혁명,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(iii)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세계화를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역사적으로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공부해야한다.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이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수업에서는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위의</a:t>
            </a:r>
            <a:r>
              <a:rPr dirty="0" sz="1000" spc="-4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세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 spc="-25">
                <a:latin typeface="Malgun Gothic"/>
                <a:cs typeface="Malgun Gothic"/>
              </a:rPr>
              <a:t>가지 </a:t>
            </a:r>
            <a:r>
              <a:rPr dirty="0" sz="1000">
                <a:latin typeface="Malgun Gothic"/>
                <a:cs typeface="Malgun Gothic"/>
              </a:rPr>
              <a:t>토픽</a:t>
            </a:r>
            <a:r>
              <a:rPr dirty="0" sz="1000" spc="-4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중</a:t>
            </a:r>
            <a:r>
              <a:rPr dirty="0" sz="1000" spc="-4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세계화의</a:t>
            </a:r>
            <a:r>
              <a:rPr dirty="0" sz="1000" spc="-4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역사를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공부한다.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비록,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세계화의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역사에</a:t>
            </a:r>
            <a:r>
              <a:rPr dirty="0" sz="1000" spc="-4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집중하지만,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산업혁명과</a:t>
            </a:r>
            <a:r>
              <a:rPr dirty="0" sz="1000" spc="-4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자본주의에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 spc="-25">
                <a:latin typeface="Malgun Gothic"/>
                <a:cs typeface="Malgun Gothic"/>
              </a:rPr>
              <a:t>대한 </a:t>
            </a:r>
            <a:r>
              <a:rPr dirty="0" sz="1000">
                <a:latin typeface="Malgun Gothic"/>
                <a:cs typeface="Malgun Gothic"/>
              </a:rPr>
              <a:t>내용도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함께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 spc="-20">
                <a:latin typeface="Malgun Gothic"/>
                <a:cs typeface="Malgun Gothic"/>
              </a:rPr>
              <a:t>공부한다.</a:t>
            </a:r>
            <a:endParaRPr sz="1000">
              <a:latin typeface="Malgun Gothic"/>
              <a:cs typeface="Malgun Gothic"/>
            </a:endParaRPr>
          </a:p>
          <a:p>
            <a:pPr marL="12700" marR="46990">
              <a:lnSpc>
                <a:spcPct val="144700"/>
              </a:lnSpc>
              <a:spcBef>
                <a:spcPts val="1720"/>
              </a:spcBef>
            </a:pPr>
            <a:r>
              <a:rPr dirty="0" sz="1000">
                <a:latin typeface="Malgun Gothic"/>
                <a:cs typeface="Malgun Gothic"/>
              </a:rPr>
              <a:t>이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수업이</a:t>
            </a:r>
            <a:r>
              <a:rPr dirty="0" sz="1000" spc="-2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다루는</a:t>
            </a:r>
            <a:r>
              <a:rPr dirty="0" sz="1000" spc="-1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시기는</a:t>
            </a:r>
            <a:r>
              <a:rPr dirty="0" sz="1000" spc="-2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크게</a:t>
            </a:r>
            <a:r>
              <a:rPr dirty="0" sz="1000" spc="-1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4</a:t>
            </a:r>
            <a:r>
              <a:rPr dirty="0" sz="1000" spc="-1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시기로</a:t>
            </a:r>
            <a:r>
              <a:rPr dirty="0" sz="1000" spc="-1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나눌</a:t>
            </a:r>
            <a:r>
              <a:rPr dirty="0" sz="1000" spc="-2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수</a:t>
            </a:r>
            <a:r>
              <a:rPr dirty="0" sz="1000" spc="-1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있는데</a:t>
            </a:r>
            <a:r>
              <a:rPr dirty="0" sz="1000" spc="-2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그것은</a:t>
            </a:r>
            <a:r>
              <a:rPr dirty="0" sz="1000" spc="-2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1</a:t>
            </a:r>
            <a:r>
              <a:rPr dirty="0" sz="1000" spc="-11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차</a:t>
            </a:r>
            <a:r>
              <a:rPr dirty="0" sz="1000" spc="-15">
                <a:latin typeface="Malgun Gothic"/>
                <a:cs typeface="Malgun Gothic"/>
              </a:rPr>
              <a:t> </a:t>
            </a:r>
            <a:r>
              <a:rPr dirty="0" sz="1000" spc="-10">
                <a:latin typeface="Malgun Gothic"/>
                <a:cs typeface="Malgun Gothic"/>
              </a:rPr>
              <a:t>세계화(1870-</a:t>
            </a:r>
            <a:r>
              <a:rPr dirty="0" sz="1000">
                <a:latin typeface="Malgun Gothic"/>
                <a:cs typeface="Malgun Gothic"/>
              </a:rPr>
              <a:t>1913),</a:t>
            </a:r>
            <a:r>
              <a:rPr dirty="0" sz="1000" spc="-15">
                <a:latin typeface="Malgun Gothic"/>
                <a:cs typeface="Malgun Gothic"/>
              </a:rPr>
              <a:t> </a:t>
            </a:r>
            <a:r>
              <a:rPr dirty="0" sz="1000" spc="-20">
                <a:latin typeface="Malgun Gothic"/>
                <a:cs typeface="Malgun Gothic"/>
              </a:rPr>
              <a:t>전간기의 </a:t>
            </a:r>
            <a:r>
              <a:rPr dirty="0" sz="1000">
                <a:latin typeface="Malgun Gothic"/>
                <a:cs typeface="Malgun Gothic"/>
              </a:rPr>
              <a:t>세계화의</a:t>
            </a:r>
            <a:r>
              <a:rPr dirty="0" sz="1000" spc="-1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후퇴</a:t>
            </a:r>
            <a:r>
              <a:rPr dirty="0" sz="1000" spc="-10">
                <a:latin typeface="Malgun Gothic"/>
                <a:cs typeface="Malgun Gothic"/>
              </a:rPr>
              <a:t> (1913-</a:t>
            </a:r>
            <a:r>
              <a:rPr dirty="0" sz="1000">
                <a:latin typeface="Malgun Gothic"/>
                <a:cs typeface="Malgun Gothic"/>
              </a:rPr>
              <a:t>1945),</a:t>
            </a:r>
            <a:r>
              <a:rPr dirty="0" sz="1000" spc="-1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2</a:t>
            </a:r>
            <a:r>
              <a:rPr dirty="0" sz="1000" spc="-11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차</a:t>
            </a:r>
            <a:r>
              <a:rPr dirty="0" sz="1000" spc="-1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세계대전</a:t>
            </a:r>
            <a:r>
              <a:rPr dirty="0" sz="1000" spc="-1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이후</a:t>
            </a:r>
            <a:r>
              <a:rPr dirty="0" sz="1000" spc="-1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브레튼우즈</a:t>
            </a:r>
            <a:r>
              <a:rPr dirty="0" sz="1000" spc="-1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체제</a:t>
            </a:r>
            <a:r>
              <a:rPr dirty="0" sz="1000" spc="-10">
                <a:latin typeface="Malgun Gothic"/>
                <a:cs typeface="Malgun Gothic"/>
              </a:rPr>
              <a:t> (1945-</a:t>
            </a:r>
            <a:r>
              <a:rPr dirty="0" sz="1000">
                <a:latin typeface="Malgun Gothic"/>
                <a:cs typeface="Malgun Gothic"/>
              </a:rPr>
              <a:t>1972),</a:t>
            </a:r>
            <a:r>
              <a:rPr dirty="0" sz="1000" spc="-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2</a:t>
            </a:r>
            <a:r>
              <a:rPr dirty="0" sz="1000" spc="-11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차</a:t>
            </a:r>
            <a:r>
              <a:rPr dirty="0" sz="1000" spc="-15">
                <a:latin typeface="Malgun Gothic"/>
                <a:cs typeface="Malgun Gothic"/>
              </a:rPr>
              <a:t> </a:t>
            </a:r>
            <a:r>
              <a:rPr dirty="0" sz="1000" spc="-10">
                <a:latin typeface="Malgun Gothic"/>
                <a:cs typeface="Malgun Gothic"/>
              </a:rPr>
              <a:t>세계화(1990-</a:t>
            </a:r>
            <a:r>
              <a:rPr dirty="0" sz="1000">
                <a:latin typeface="Malgun Gothic"/>
                <a:cs typeface="Malgun Gothic"/>
              </a:rPr>
              <a:t>)</a:t>
            </a:r>
            <a:r>
              <a:rPr dirty="0" sz="1000" spc="-5">
                <a:latin typeface="Malgun Gothic"/>
                <a:cs typeface="Malgun Gothic"/>
              </a:rPr>
              <a:t> </a:t>
            </a:r>
            <a:r>
              <a:rPr dirty="0" sz="1000" spc="-25">
                <a:latin typeface="Malgun Gothic"/>
                <a:cs typeface="Malgun Gothic"/>
              </a:rPr>
              <a:t>이다. </a:t>
            </a:r>
            <a:r>
              <a:rPr dirty="0" sz="1000">
                <a:latin typeface="Malgun Gothic"/>
                <a:cs typeface="Malgun Gothic"/>
              </a:rPr>
              <a:t>학기</a:t>
            </a:r>
            <a:r>
              <a:rPr dirty="0" sz="1000" spc="-5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말에는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 spc="-10">
                <a:latin typeface="Malgun Gothic"/>
                <a:cs typeface="Malgun Gothic"/>
              </a:rPr>
              <a:t>2008</a:t>
            </a:r>
            <a:r>
              <a:rPr dirty="0" sz="1000" spc="-11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년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이후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만들어진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세로운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금융질서와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요즘의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미중무역분쟁으로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대표되는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 spc="-20">
                <a:latin typeface="Malgun Gothic"/>
                <a:cs typeface="Malgun Gothic"/>
              </a:rPr>
              <a:t>세계화의 </a:t>
            </a:r>
            <a:r>
              <a:rPr dirty="0" sz="1000">
                <a:latin typeface="Malgun Gothic"/>
                <a:cs typeface="Malgun Gothic"/>
              </a:rPr>
              <a:t>후퇴</a:t>
            </a:r>
            <a:r>
              <a:rPr dirty="0" sz="1000" spc="-2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조짐</a:t>
            </a:r>
            <a:r>
              <a:rPr dirty="0" sz="1000" spc="-2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역시</a:t>
            </a:r>
            <a:r>
              <a:rPr dirty="0" sz="1000" spc="-2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다룰</a:t>
            </a:r>
            <a:r>
              <a:rPr dirty="0" sz="1000" spc="-20">
                <a:latin typeface="Malgun Gothic"/>
                <a:cs typeface="Malgun Gothic"/>
              </a:rPr>
              <a:t> 예정이다.</a:t>
            </a:r>
            <a:endParaRPr sz="1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2" name="object 2" descr=""/>
          <p:cNvSpPr txBox="1"/>
          <p:nvPr/>
        </p:nvSpPr>
        <p:spPr>
          <a:xfrm>
            <a:off x="904747" y="883868"/>
            <a:ext cx="5868670" cy="464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4000"/>
              </a:lnSpc>
              <a:spcBef>
                <a:spcPts val="95"/>
              </a:spcBef>
            </a:pPr>
            <a:r>
              <a:rPr dirty="0" sz="1000">
                <a:latin typeface="Malgun Gothic"/>
                <a:cs typeface="Malgun Gothic"/>
              </a:rPr>
              <a:t>이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수업은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학생들의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스킬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측면에서도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숨겨진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목표를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가지고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있다.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논리적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글쓰기.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배운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내용을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 spc="-20">
                <a:latin typeface="Malgun Gothic"/>
                <a:cs typeface="Malgun Gothic"/>
              </a:rPr>
              <a:t>이해하고 </a:t>
            </a:r>
            <a:r>
              <a:rPr dirty="0" sz="1000">
                <a:latin typeface="Malgun Gothic"/>
                <a:cs typeface="Malgun Gothic"/>
              </a:rPr>
              <a:t>스스로의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목소리로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논리적으로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설명할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수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있도록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퀴즈와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특강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등이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진행될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 spc="-10">
                <a:latin typeface="Malgun Gothic"/>
                <a:cs typeface="Malgun Gothic"/>
              </a:rPr>
              <a:t>예정이다.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4747" y="1728166"/>
            <a:ext cx="5709920" cy="3792854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000" spc="-25" b="1">
                <a:latin typeface="Malgun Gothic"/>
                <a:cs typeface="Malgun Gothic"/>
              </a:rPr>
              <a:t>교재: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000">
                <a:latin typeface="Malgun Gothic"/>
                <a:cs typeface="Malgun Gothic"/>
              </a:rPr>
              <a:t>(주교재)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양동휴,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세계화의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역사적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조망,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 spc="-10">
                <a:latin typeface="Malgun Gothic"/>
                <a:cs typeface="Malgun Gothic"/>
              </a:rPr>
              <a:t>서울대학교출판문화원,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 spc="-20">
                <a:latin typeface="Malgun Gothic"/>
                <a:cs typeface="Malgun Gothic"/>
              </a:rPr>
              <a:t>2012</a:t>
            </a:r>
            <a:endParaRPr sz="1000">
              <a:latin typeface="Malgun Gothic"/>
              <a:cs typeface="Malgun Gothic"/>
            </a:endParaRPr>
          </a:p>
          <a:p>
            <a:pPr marL="12700" marR="186055">
              <a:lnSpc>
                <a:spcPct val="144000"/>
              </a:lnSpc>
            </a:pPr>
            <a:r>
              <a:rPr dirty="0" sz="1000">
                <a:latin typeface="Malgun Gothic"/>
                <a:cs typeface="Malgun Gothic"/>
              </a:rPr>
              <a:t>(주교재)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David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N.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Balaam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and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Bradford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Dilman,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민병오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외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옮김,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국제정치경제,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명인문화사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 spc="-20">
                <a:latin typeface="Malgun Gothic"/>
                <a:cs typeface="Malgun Gothic"/>
              </a:rPr>
              <a:t>2016 </a:t>
            </a:r>
            <a:r>
              <a:rPr dirty="0" sz="1000">
                <a:latin typeface="Malgun Gothic"/>
                <a:cs typeface="Malgun Gothic"/>
              </a:rPr>
              <a:t>(주교재)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양동휴,</a:t>
            </a:r>
            <a:r>
              <a:rPr dirty="0" sz="1000" spc="-20">
                <a:latin typeface="Malgun Gothic"/>
                <a:cs typeface="Malgun Gothic"/>
              </a:rPr>
              <a:t> </a:t>
            </a:r>
            <a:r>
              <a:rPr dirty="0" sz="1000" spc="-10">
                <a:latin typeface="Malgun Gothic"/>
                <a:cs typeface="Malgun Gothic"/>
              </a:rPr>
              <a:t>20</a:t>
            </a:r>
            <a:r>
              <a:rPr dirty="0" sz="1000" spc="-11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세기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경제사,</a:t>
            </a:r>
            <a:r>
              <a:rPr dirty="0" sz="1000" spc="-2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일조각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(책의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각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챕터를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논문으로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다운받아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읽을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수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 spc="-25">
                <a:latin typeface="Malgun Gothic"/>
                <a:cs typeface="Malgun Gothic"/>
              </a:rPr>
              <a:t>있음) </a:t>
            </a:r>
            <a:r>
              <a:rPr dirty="0" sz="1000">
                <a:latin typeface="Malgun Gothic"/>
                <a:cs typeface="Malgun Gothic"/>
              </a:rPr>
              <a:t>(부교재)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David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Cahill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and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Martijn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Konings,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최영미</a:t>
            </a:r>
            <a:r>
              <a:rPr dirty="0" sz="1000" spc="-4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옮김,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신자유주의,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명인문화사</a:t>
            </a:r>
            <a:r>
              <a:rPr dirty="0" sz="1000" spc="-40">
                <a:latin typeface="Malgun Gothic"/>
                <a:cs typeface="Malgun Gothic"/>
              </a:rPr>
              <a:t> </a:t>
            </a:r>
            <a:r>
              <a:rPr dirty="0" sz="1000" spc="-20">
                <a:latin typeface="Malgun Gothic"/>
                <a:cs typeface="Malgun Gothic"/>
              </a:rPr>
              <a:t>2017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1000" spc="-10" b="1">
                <a:latin typeface="Malgun Gothic"/>
                <a:cs typeface="Malgun Gothic"/>
              </a:rPr>
              <a:t>참고교재: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latin typeface="Malgun Gothic"/>
                <a:cs typeface="Malgun Gothic"/>
              </a:rPr>
              <a:t>Dani</a:t>
            </a:r>
            <a:r>
              <a:rPr dirty="0" sz="1000" spc="-5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Rodrik,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고빛샘.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구세희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옮김,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자본주의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새판짜기,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 spc="-10">
                <a:latin typeface="Malgun Gothic"/>
                <a:cs typeface="Malgun Gothic"/>
              </a:rPr>
              <a:t>21</a:t>
            </a:r>
            <a:r>
              <a:rPr dirty="0" sz="1000" spc="-11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세기북스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 spc="-20">
                <a:latin typeface="Malgun Gothic"/>
                <a:cs typeface="Malgun Gothic"/>
              </a:rPr>
              <a:t>(절판)</a:t>
            </a:r>
            <a:endParaRPr sz="1000">
              <a:latin typeface="Malgun Gothic"/>
              <a:cs typeface="Malgun Gothic"/>
            </a:endParaRPr>
          </a:p>
          <a:p>
            <a:pPr marL="12700" marR="1061720">
              <a:lnSpc>
                <a:spcPct val="144000"/>
              </a:lnSpc>
            </a:pPr>
            <a:r>
              <a:rPr dirty="0" sz="1000">
                <a:latin typeface="Malgun Gothic"/>
                <a:cs typeface="Malgun Gothic"/>
              </a:rPr>
              <a:t>Alan</a:t>
            </a:r>
            <a:r>
              <a:rPr dirty="0" sz="1000" spc="-4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Brinkley,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손세호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외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옮김,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있는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그대로의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미국사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2,</a:t>
            </a:r>
            <a:r>
              <a:rPr dirty="0" sz="1000" spc="-2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3</a:t>
            </a:r>
            <a:r>
              <a:rPr dirty="0" sz="1000" spc="-11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권,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휴머니스트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 spc="-20">
                <a:latin typeface="Malgun Gothic"/>
                <a:cs typeface="Malgun Gothic"/>
              </a:rPr>
              <a:t>2011 </a:t>
            </a:r>
            <a:r>
              <a:rPr dirty="0" sz="1000">
                <a:latin typeface="Malgun Gothic"/>
                <a:cs typeface="Malgun Gothic"/>
              </a:rPr>
              <a:t>양동휴</a:t>
            </a:r>
            <a:r>
              <a:rPr dirty="0" sz="1000" spc="-5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(2012)</a:t>
            </a:r>
            <a:r>
              <a:rPr dirty="0" sz="1000" spc="-2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금본위제의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성립은</a:t>
            </a:r>
            <a:r>
              <a:rPr dirty="0" sz="1000" spc="-2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역사적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진화인가,</a:t>
            </a:r>
            <a:r>
              <a:rPr dirty="0" sz="1000" spc="-2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경제논집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 spc="-10">
                <a:latin typeface="Malgun Gothic"/>
                <a:cs typeface="Malgun Gothic"/>
              </a:rPr>
              <a:t>51</a:t>
            </a:r>
            <a:r>
              <a:rPr dirty="0" sz="1000" spc="-11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권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1</a:t>
            </a:r>
            <a:r>
              <a:rPr dirty="0" sz="1000" spc="-11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호,</a:t>
            </a:r>
            <a:r>
              <a:rPr dirty="0" sz="1000" spc="-15">
                <a:latin typeface="Malgun Gothic"/>
                <a:cs typeface="Malgun Gothic"/>
              </a:rPr>
              <a:t> </a:t>
            </a:r>
            <a:r>
              <a:rPr dirty="0" sz="1000" spc="-10">
                <a:latin typeface="Malgun Gothic"/>
                <a:cs typeface="Malgun Gothic"/>
              </a:rPr>
              <a:t>39-65</a:t>
            </a:r>
            <a:r>
              <a:rPr dirty="0" sz="1000" spc="-110">
                <a:latin typeface="Malgun Gothic"/>
                <a:cs typeface="Malgun Gothic"/>
              </a:rPr>
              <a:t> </a:t>
            </a:r>
            <a:r>
              <a:rPr dirty="0" sz="1000" spc="-50">
                <a:latin typeface="Malgun Gothic"/>
                <a:cs typeface="Malgun Gothic"/>
              </a:rPr>
              <a:t>쪽</a:t>
            </a:r>
            <a:endParaRPr sz="1000">
              <a:latin typeface="Malgun Gothic"/>
              <a:cs typeface="Malgun Gothic"/>
            </a:endParaRPr>
          </a:p>
          <a:p>
            <a:pPr marL="12700" marR="122555">
              <a:lnSpc>
                <a:spcPct val="144000"/>
              </a:lnSpc>
            </a:pPr>
            <a:r>
              <a:rPr dirty="0" sz="1000">
                <a:latin typeface="Malgun Gothic"/>
                <a:cs typeface="Malgun Gothic"/>
              </a:rPr>
              <a:t>양동휴</a:t>
            </a:r>
            <a:r>
              <a:rPr dirty="0" sz="1000" spc="-4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(2004)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마셜플랜의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경제적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성과와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의의: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서독의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재건과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유럽통합의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추진,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경제사학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제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 spc="-10">
                <a:latin typeface="Malgun Gothic"/>
                <a:cs typeface="Malgun Gothic"/>
              </a:rPr>
              <a:t>37</a:t>
            </a:r>
            <a:r>
              <a:rPr dirty="0" sz="1000" spc="-110">
                <a:latin typeface="Malgun Gothic"/>
                <a:cs typeface="Malgun Gothic"/>
              </a:rPr>
              <a:t> </a:t>
            </a:r>
            <a:r>
              <a:rPr dirty="0" sz="1000" spc="-50">
                <a:latin typeface="Malgun Gothic"/>
                <a:cs typeface="Malgun Gothic"/>
              </a:rPr>
              <a:t>호 </a:t>
            </a:r>
            <a:r>
              <a:rPr dirty="0" sz="1000">
                <a:latin typeface="Malgun Gothic"/>
                <a:cs typeface="Malgun Gothic"/>
              </a:rPr>
              <a:t>이준구,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미국의</a:t>
            </a:r>
            <a:r>
              <a:rPr dirty="0" sz="1000" spc="-4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신자유주의</a:t>
            </a:r>
            <a:r>
              <a:rPr dirty="0" sz="1000" spc="-4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실험,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 spc="-25">
                <a:latin typeface="Malgun Gothic"/>
                <a:cs typeface="Malgun Gothic"/>
              </a:rPr>
              <a:t>문우사</a:t>
            </a:r>
            <a:endParaRPr sz="1000">
              <a:latin typeface="Malgun Gothic"/>
              <a:cs typeface="Malgun Gothic"/>
            </a:endParaRPr>
          </a:p>
          <a:p>
            <a:pPr marL="12700" marR="5080">
              <a:lnSpc>
                <a:spcPct val="137100"/>
              </a:lnSpc>
              <a:spcBef>
                <a:spcPts val="15"/>
              </a:spcBef>
            </a:pPr>
            <a:r>
              <a:rPr dirty="0" sz="1000">
                <a:latin typeface="Malgun Gothic"/>
                <a:cs typeface="Malgun Gothic"/>
              </a:rPr>
              <a:t>M.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Bordo,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"Explorations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in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Monetary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History: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A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Survey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of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the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Literature,"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50" spc="-30">
                <a:latin typeface="Malgun Gothic"/>
                <a:cs typeface="Malgun Gothic"/>
              </a:rPr>
              <a:t>Explorations</a:t>
            </a:r>
            <a:r>
              <a:rPr dirty="0" sz="1050" spc="-50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in</a:t>
            </a:r>
            <a:r>
              <a:rPr dirty="0" sz="1050" spc="-50">
                <a:latin typeface="Malgun Gothic"/>
                <a:cs typeface="Malgun Gothic"/>
              </a:rPr>
              <a:t> </a:t>
            </a:r>
            <a:r>
              <a:rPr dirty="0" sz="1050" spc="-10">
                <a:latin typeface="Malgun Gothic"/>
                <a:cs typeface="Malgun Gothic"/>
              </a:rPr>
              <a:t>Economic </a:t>
            </a:r>
            <a:r>
              <a:rPr dirty="0" sz="1050" spc="-25">
                <a:latin typeface="Malgun Gothic"/>
                <a:cs typeface="Malgun Gothic"/>
              </a:rPr>
              <a:t>History</a:t>
            </a:r>
            <a:r>
              <a:rPr dirty="0" sz="105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23(Oct.</a:t>
            </a:r>
            <a:r>
              <a:rPr dirty="0" sz="1000" spc="-1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1986),</a:t>
            </a:r>
            <a:r>
              <a:rPr dirty="0" sz="1000" spc="-15">
                <a:latin typeface="Malgun Gothic"/>
                <a:cs typeface="Malgun Gothic"/>
              </a:rPr>
              <a:t> </a:t>
            </a:r>
            <a:r>
              <a:rPr dirty="0" sz="1000" spc="-10">
                <a:latin typeface="Malgun Gothic"/>
                <a:cs typeface="Malgun Gothic"/>
              </a:rPr>
              <a:t>pp.339-</a:t>
            </a:r>
            <a:r>
              <a:rPr dirty="0" sz="1000" spc="-25">
                <a:latin typeface="Malgun Gothic"/>
                <a:cs typeface="Malgun Gothic"/>
              </a:rPr>
              <a:t>415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1000" spc="-10" b="1">
                <a:latin typeface="Malgun Gothic"/>
                <a:cs typeface="Malgun Gothic"/>
              </a:rPr>
              <a:t>강의진행방식: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000">
                <a:latin typeface="Malgun Gothic"/>
                <a:cs typeface="Malgun Gothic"/>
              </a:rPr>
              <a:t>수업내용은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플립드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러닝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방식으로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 spc="-10">
                <a:latin typeface="Malgun Gothic"/>
                <a:cs typeface="Malgun Gothic"/>
              </a:rPr>
              <a:t>전달된다.</a:t>
            </a:r>
            <a:endParaRPr sz="1000">
              <a:latin typeface="Malgun Gothic"/>
              <a:cs typeface="Malgun Gothic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917447" y="5570982"/>
          <a:ext cx="6019800" cy="32943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6280"/>
                <a:gridCol w="5220970"/>
              </a:tblGrid>
              <a:tr h="1014730">
                <a:tc>
                  <a:txBody>
                    <a:bodyPr/>
                    <a:lstStyle/>
                    <a:p>
                      <a:pPr algn="ctr" marR="628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000" spc="-10">
                          <a:latin typeface="Malgun Gothic"/>
                          <a:cs typeface="Malgun Gothic"/>
                        </a:rPr>
                        <a:t>Pre-class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406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000">
                          <a:latin typeface="Malgun Gothic"/>
                          <a:cs typeface="Malgun Gothic"/>
                        </a:rPr>
                        <a:t>온라인</a:t>
                      </a:r>
                      <a:r>
                        <a:rPr dirty="0" sz="10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강의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  <a:p>
                      <a:pPr marL="69850" marR="59055" indent="160655">
                        <a:lnSpc>
                          <a:spcPct val="166000"/>
                        </a:lnSpc>
                        <a:buAutoNum type="arabicPeriod"/>
                        <a:tabLst>
                          <a:tab pos="230504" algn="l"/>
                        </a:tabLst>
                      </a:pPr>
                      <a:r>
                        <a:rPr dirty="0" sz="1000">
                          <a:latin typeface="Malgun Gothic"/>
                          <a:cs typeface="Malgun Gothic"/>
                        </a:rPr>
                        <a:t>글로벌</a:t>
                      </a:r>
                      <a:r>
                        <a:rPr dirty="0" sz="1000" spc="12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경제에</a:t>
                      </a:r>
                      <a:r>
                        <a:rPr dirty="0" sz="1000" spc="12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관한</a:t>
                      </a:r>
                      <a:r>
                        <a:rPr dirty="0" sz="1000" spc="12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지식을</a:t>
                      </a:r>
                      <a:r>
                        <a:rPr dirty="0" sz="1000" spc="1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온라인</a:t>
                      </a:r>
                      <a:r>
                        <a:rPr dirty="0" sz="1000" spc="12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강의를</a:t>
                      </a:r>
                      <a:r>
                        <a:rPr dirty="0" sz="1000" spc="12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통해</a:t>
                      </a:r>
                      <a:r>
                        <a:rPr dirty="0" sz="1000" spc="1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전달한다.</a:t>
                      </a:r>
                      <a:r>
                        <a:rPr dirty="0" sz="1000" spc="1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학습자는</a:t>
                      </a:r>
                      <a:r>
                        <a:rPr dirty="0" sz="1000" spc="12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수업</a:t>
                      </a:r>
                      <a:r>
                        <a:rPr dirty="0" sz="1000" spc="12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전</a:t>
                      </a:r>
                      <a:r>
                        <a:rPr dirty="0" sz="1000" spc="1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반드시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온라인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강의를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듣고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내용을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숙지한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후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대면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수업에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20">
                          <a:latin typeface="Malgun Gothic"/>
                          <a:cs typeface="Malgun Gothic"/>
                        </a:rPr>
                        <a:t>임한다.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  <a:p>
                      <a:pPr marL="211454" indent="-141605">
                        <a:lnSpc>
                          <a:spcPct val="100000"/>
                        </a:lnSpc>
                        <a:spcBef>
                          <a:spcPts val="790"/>
                        </a:spcBef>
                        <a:buAutoNum type="arabicPeriod"/>
                        <a:tabLst>
                          <a:tab pos="211454" algn="l"/>
                        </a:tabLst>
                      </a:pPr>
                      <a:r>
                        <a:rPr dirty="0" sz="1000">
                          <a:latin typeface="Malgun Gothic"/>
                          <a:cs typeface="Malgun Gothic"/>
                        </a:rPr>
                        <a:t>교수자가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대면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실습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수업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전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공지한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주제에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대한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글쓰기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준비를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한다.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406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79650">
                <a:tc>
                  <a:txBody>
                    <a:bodyPr/>
                    <a:lstStyle/>
                    <a:p>
                      <a:pPr algn="ctr" marR="14033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000" spc="-10">
                          <a:latin typeface="Malgun Gothic"/>
                          <a:cs typeface="Malgun Gothic"/>
                        </a:rPr>
                        <a:t>In-class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438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000">
                          <a:latin typeface="Malgun Gothic"/>
                          <a:cs typeface="Malgun Gothic"/>
                        </a:rPr>
                        <a:t>참고:</a:t>
                      </a:r>
                      <a:r>
                        <a:rPr dirty="0" sz="10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1</a:t>
                      </a:r>
                      <a:r>
                        <a:rPr dirty="0" sz="1000" spc="-11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주차에</a:t>
                      </a:r>
                      <a:r>
                        <a:rPr dirty="0" sz="10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글쓰기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능력이</a:t>
                      </a:r>
                      <a:r>
                        <a:rPr dirty="0" sz="10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왜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중요한지</a:t>
                      </a:r>
                      <a:r>
                        <a:rPr dirty="0" sz="10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강의를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듣고,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그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내용을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참고하여</a:t>
                      </a:r>
                      <a:r>
                        <a:rPr dirty="0" sz="10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대면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실습에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dirty="0" sz="1000" spc="-20">
                          <a:latin typeface="Malgun Gothic"/>
                          <a:cs typeface="Malgun Gothic"/>
                        </a:rPr>
                        <a:t>임한다.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  <a:p>
                      <a:pPr marL="69850" marR="222885" indent="132080">
                        <a:lnSpc>
                          <a:spcPct val="166000"/>
                        </a:lnSpc>
                        <a:buAutoNum type="arabicPeriod"/>
                        <a:tabLst>
                          <a:tab pos="201930" algn="l"/>
                        </a:tabLst>
                      </a:pPr>
                      <a:r>
                        <a:rPr dirty="0" sz="1000">
                          <a:latin typeface="Malgun Gothic"/>
                          <a:cs typeface="Malgun Gothic"/>
                        </a:rPr>
                        <a:t>교수자가</a:t>
                      </a:r>
                      <a:r>
                        <a:rPr dirty="0" sz="10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수업</a:t>
                      </a:r>
                      <a:r>
                        <a:rPr dirty="0" sz="10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시간에</a:t>
                      </a:r>
                      <a:r>
                        <a:rPr dirty="0" sz="10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공지하는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구체적인</a:t>
                      </a:r>
                      <a:r>
                        <a:rPr dirty="0" sz="10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주제를</a:t>
                      </a:r>
                      <a:r>
                        <a:rPr dirty="0" sz="10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10">
                          <a:latin typeface="Malgun Gothic"/>
                          <a:cs typeface="Malgun Gothic"/>
                        </a:rPr>
                        <a:t>서론/본론/결론의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구조와</a:t>
                      </a:r>
                      <a:r>
                        <a:rPr dirty="0" sz="10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동영상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강의를</a:t>
                      </a:r>
                      <a:r>
                        <a:rPr dirty="0" sz="10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통해</a:t>
                      </a:r>
                      <a:r>
                        <a:rPr dirty="0" sz="10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학습한</a:t>
                      </a:r>
                      <a:r>
                        <a:rPr dirty="0" sz="10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역사적</a:t>
                      </a:r>
                      <a:r>
                        <a:rPr dirty="0" sz="10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사실을</a:t>
                      </a:r>
                      <a:r>
                        <a:rPr dirty="0" sz="10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논거로</a:t>
                      </a:r>
                      <a:r>
                        <a:rPr dirty="0" sz="10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사용하는</a:t>
                      </a:r>
                      <a:r>
                        <a:rPr dirty="0" sz="10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에세이로</a:t>
                      </a:r>
                      <a:r>
                        <a:rPr dirty="0" sz="10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작성한다.</a:t>
                      </a:r>
                      <a:r>
                        <a:rPr dirty="0" sz="10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에세이를</a:t>
                      </a:r>
                      <a:r>
                        <a:rPr dirty="0" sz="10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쓰기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전에</a:t>
                      </a:r>
                      <a:r>
                        <a:rPr dirty="0" sz="1000" spc="-5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개요를</a:t>
                      </a:r>
                      <a:r>
                        <a:rPr dirty="0" sz="10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작성해본다.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(개별활동</a:t>
                      </a:r>
                      <a:r>
                        <a:rPr dirty="0" sz="10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10">
                          <a:latin typeface="Malgun Gothic"/>
                          <a:cs typeface="Malgun Gothic"/>
                        </a:rPr>
                        <a:t>40</a:t>
                      </a:r>
                      <a:r>
                        <a:rPr dirty="0" sz="1000" spc="-11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분)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  <a:p>
                      <a:pPr marL="69850" marR="426084" indent="132080">
                        <a:lnSpc>
                          <a:spcPct val="166000"/>
                        </a:lnSpc>
                        <a:buAutoNum type="arabicPeriod"/>
                        <a:tabLst>
                          <a:tab pos="201930" algn="l"/>
                        </a:tabLst>
                      </a:pPr>
                      <a:r>
                        <a:rPr dirty="0" sz="1000">
                          <a:latin typeface="Malgun Gothic"/>
                          <a:cs typeface="Malgun Gothic"/>
                        </a:rPr>
                        <a:t>팀</a:t>
                      </a:r>
                      <a:r>
                        <a:rPr dirty="0" sz="10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별로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각</a:t>
                      </a:r>
                      <a:r>
                        <a:rPr dirty="0" sz="10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학생의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에세이에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대한</a:t>
                      </a:r>
                      <a:r>
                        <a:rPr dirty="0" sz="10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피드백을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실습지에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적고,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각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에세이의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20">
                          <a:latin typeface="Malgun Gothic"/>
                          <a:cs typeface="Malgun Gothic"/>
                        </a:rPr>
                        <a:t>개선점을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토론한다.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10">
                          <a:latin typeface="Malgun Gothic"/>
                          <a:cs typeface="Malgun Gothic"/>
                        </a:rPr>
                        <a:t>(15</a:t>
                      </a:r>
                      <a:r>
                        <a:rPr dirty="0" sz="1000" spc="-11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분)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  <a:p>
                      <a:pPr marL="201930" indent="-132080">
                        <a:lnSpc>
                          <a:spcPct val="100000"/>
                        </a:lnSpc>
                        <a:spcBef>
                          <a:spcPts val="795"/>
                        </a:spcBef>
                        <a:buAutoNum type="arabicPeriod"/>
                        <a:tabLst>
                          <a:tab pos="201930" algn="l"/>
                        </a:tabLst>
                      </a:pPr>
                      <a:r>
                        <a:rPr dirty="0" sz="1000">
                          <a:latin typeface="Malgun Gothic"/>
                          <a:cs typeface="Malgun Gothic"/>
                        </a:rPr>
                        <a:t>팀</a:t>
                      </a:r>
                      <a:r>
                        <a:rPr dirty="0" sz="1000" spc="-4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별로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완성된</a:t>
                      </a:r>
                      <a:r>
                        <a:rPr dirty="0" sz="10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에세이</a:t>
                      </a:r>
                      <a:r>
                        <a:rPr dirty="0" sz="10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한편을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작성하여</a:t>
                      </a:r>
                      <a:r>
                        <a:rPr dirty="0" sz="10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제출한다.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(그룹활동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10">
                          <a:latin typeface="Malgun Gothic"/>
                          <a:cs typeface="Malgun Gothic"/>
                        </a:rPr>
                        <a:t>30</a:t>
                      </a:r>
                      <a:r>
                        <a:rPr dirty="0" sz="1000" spc="-11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분)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438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1</a:t>
            </a:fld>
          </a:p>
        </p:txBody>
      </p:sp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917447" y="925830"/>
          <a:ext cx="6019800" cy="2285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6280"/>
                <a:gridCol w="5220970"/>
              </a:tblGrid>
              <a:tr h="10179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000">
                          <a:latin typeface="Malgun Gothic"/>
                          <a:cs typeface="Malgun Gothic"/>
                        </a:rPr>
                        <a:t>4.</a:t>
                      </a:r>
                      <a:r>
                        <a:rPr dirty="0" sz="10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교수자는</a:t>
                      </a:r>
                      <a:r>
                        <a:rPr dirty="0" sz="10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중간/기말고사에</a:t>
                      </a:r>
                      <a:r>
                        <a:rPr dirty="0" sz="10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대면실습</a:t>
                      </a:r>
                      <a:r>
                        <a:rPr dirty="0" sz="10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에세이</a:t>
                      </a:r>
                      <a:r>
                        <a:rPr dirty="0" sz="1000" spc="-4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주제와</a:t>
                      </a:r>
                      <a:r>
                        <a:rPr dirty="0" sz="10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동일한</a:t>
                      </a:r>
                      <a:r>
                        <a:rPr dirty="0" sz="10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논술식</a:t>
                      </a:r>
                      <a:r>
                        <a:rPr dirty="0" sz="10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문제를</a:t>
                      </a:r>
                      <a:r>
                        <a:rPr dirty="0" sz="10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10">
                          <a:latin typeface="Malgun Gothic"/>
                          <a:cs typeface="Malgun Gothic"/>
                        </a:rPr>
                        <a:t>출제한다.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  <a:p>
                      <a:pPr marL="69850" marR="146050">
                        <a:lnSpc>
                          <a:spcPct val="166000"/>
                        </a:lnSpc>
                      </a:pPr>
                      <a:r>
                        <a:rPr dirty="0" sz="1000">
                          <a:latin typeface="Malgun Gothic"/>
                          <a:cs typeface="Malgun Gothic"/>
                        </a:rPr>
                        <a:t>이를</a:t>
                      </a:r>
                      <a:r>
                        <a:rPr dirty="0" sz="10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통해</a:t>
                      </a:r>
                      <a:r>
                        <a:rPr dirty="0" sz="10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학생들은</a:t>
                      </a:r>
                      <a:r>
                        <a:rPr dirty="0" sz="10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본인이</a:t>
                      </a:r>
                      <a:r>
                        <a:rPr dirty="0" sz="10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작성한</a:t>
                      </a:r>
                      <a:r>
                        <a:rPr dirty="0" sz="10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글을</a:t>
                      </a:r>
                      <a:r>
                        <a:rPr dirty="0" sz="10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대면실습을</a:t>
                      </a:r>
                      <a:r>
                        <a:rPr dirty="0" sz="10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통해</a:t>
                      </a:r>
                      <a:r>
                        <a:rPr dirty="0" sz="10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한번</a:t>
                      </a:r>
                      <a:r>
                        <a:rPr dirty="0" sz="10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작성해보고,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20">
                          <a:latin typeface="Malgun Gothic"/>
                          <a:cs typeface="Malgun Gothic"/>
                        </a:rPr>
                        <a:t>친구들의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피드백을</a:t>
                      </a:r>
                      <a:r>
                        <a:rPr dirty="0" sz="1000" spc="-4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받고,</a:t>
                      </a:r>
                      <a:r>
                        <a:rPr dirty="0" sz="10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시험공부를</a:t>
                      </a:r>
                      <a:r>
                        <a:rPr dirty="0" sz="1000" spc="-4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통해</a:t>
                      </a:r>
                      <a:r>
                        <a:rPr dirty="0" sz="10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복습하고,</a:t>
                      </a:r>
                      <a:r>
                        <a:rPr dirty="0" sz="10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중간/기말고사를</a:t>
                      </a:r>
                      <a:r>
                        <a:rPr dirty="0" sz="1000" spc="-4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통해</a:t>
                      </a:r>
                      <a:r>
                        <a:rPr dirty="0" sz="10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한번</a:t>
                      </a:r>
                      <a:r>
                        <a:rPr dirty="0" sz="10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더</a:t>
                      </a:r>
                      <a:r>
                        <a:rPr dirty="0" sz="1000" spc="-4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다듬어진</a:t>
                      </a:r>
                      <a:r>
                        <a:rPr dirty="0" sz="10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글을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작성하게</a:t>
                      </a:r>
                      <a:r>
                        <a:rPr dirty="0" sz="10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되어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각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주제에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대한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본인의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의견을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만들어갈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 있다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406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67460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000" spc="-10">
                          <a:latin typeface="Malgun Gothic"/>
                          <a:cs typeface="Malgun Gothic"/>
                        </a:rPr>
                        <a:t>Post-class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406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698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000" spc="-10">
                          <a:latin typeface="Malgun Gothic"/>
                          <a:cs typeface="Malgun Gothic"/>
                        </a:rPr>
                        <a:t>in-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class</a:t>
                      </a:r>
                      <a:r>
                        <a:rPr dirty="0" sz="10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활동을</a:t>
                      </a:r>
                      <a:r>
                        <a:rPr dirty="0" sz="10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통해</a:t>
                      </a:r>
                      <a:r>
                        <a:rPr dirty="0" sz="10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학습자가</a:t>
                      </a:r>
                      <a:r>
                        <a:rPr dirty="0" sz="1000" spc="-4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작성한</a:t>
                      </a:r>
                      <a:r>
                        <a:rPr dirty="0" sz="10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에세이를</a:t>
                      </a:r>
                      <a:r>
                        <a:rPr dirty="0" sz="10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중간/기말고사</a:t>
                      </a:r>
                      <a:r>
                        <a:rPr dirty="0" sz="10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문제로</a:t>
                      </a:r>
                      <a:r>
                        <a:rPr dirty="0" sz="1000" spc="-4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20">
                          <a:latin typeface="Malgun Gothic"/>
                          <a:cs typeface="Malgun Gothic"/>
                        </a:rPr>
                        <a:t>출제한다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  <a:p>
                      <a:pPr algn="just" marL="69850" marR="59055">
                        <a:lnSpc>
                          <a:spcPct val="165300"/>
                        </a:lnSpc>
                        <a:spcBef>
                          <a:spcPts val="5"/>
                        </a:spcBef>
                      </a:pPr>
                      <a:r>
                        <a:rPr dirty="0" sz="1000" spc="-10">
                          <a:latin typeface="Malgun Gothic"/>
                          <a:cs typeface="Malgun Gothic"/>
                        </a:rPr>
                        <a:t>pre-</a:t>
                      </a:r>
                      <a:r>
                        <a:rPr dirty="0" sz="1000" spc="-20">
                          <a:latin typeface="Malgun Gothic"/>
                          <a:cs typeface="Malgun Gothic"/>
                        </a:rPr>
                        <a:t>class</a:t>
                      </a:r>
                      <a:r>
                        <a:rPr dirty="0" sz="1000" spc="-7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에서</a:t>
                      </a:r>
                      <a:r>
                        <a:rPr dirty="0" sz="1000" spc="8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공부한</a:t>
                      </a:r>
                      <a:r>
                        <a:rPr dirty="0" sz="1000" spc="12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지식을</a:t>
                      </a:r>
                      <a:r>
                        <a:rPr dirty="0" sz="1000" spc="12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10">
                          <a:latin typeface="Malgun Gothic"/>
                          <a:cs typeface="Malgun Gothic"/>
                        </a:rPr>
                        <a:t>in-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class</a:t>
                      </a:r>
                      <a:r>
                        <a:rPr dirty="0" sz="1000" spc="1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활동을</a:t>
                      </a:r>
                      <a:r>
                        <a:rPr dirty="0" sz="1000" spc="12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통해</a:t>
                      </a:r>
                      <a:r>
                        <a:rPr dirty="0" sz="1000" spc="12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에세이로</a:t>
                      </a:r>
                      <a:r>
                        <a:rPr dirty="0" sz="1000" spc="12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작성해보고</a:t>
                      </a:r>
                      <a:r>
                        <a:rPr dirty="0" sz="1000" spc="12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다른</a:t>
                      </a:r>
                      <a:r>
                        <a:rPr dirty="0" sz="1000" spc="12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20">
                          <a:latin typeface="Malgun Gothic"/>
                          <a:cs typeface="Malgun Gothic"/>
                        </a:rPr>
                        <a:t>학생들과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교수자의</a:t>
                      </a:r>
                      <a:r>
                        <a:rPr dirty="0" sz="1000" spc="-4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피드백을</a:t>
                      </a:r>
                      <a:r>
                        <a:rPr dirty="0" sz="1000" spc="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받은</a:t>
                      </a:r>
                      <a:r>
                        <a:rPr dirty="0" sz="1000" spc="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후,</a:t>
                      </a:r>
                      <a:r>
                        <a:rPr dirty="0" sz="1000" spc="1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10">
                          <a:latin typeface="Malgun Gothic"/>
                          <a:cs typeface="Malgun Gothic"/>
                        </a:rPr>
                        <a:t>post-</a:t>
                      </a:r>
                      <a:r>
                        <a:rPr dirty="0" sz="1000" spc="-20">
                          <a:latin typeface="Malgun Gothic"/>
                          <a:cs typeface="Malgun Gothic"/>
                        </a:rPr>
                        <a:t>class</a:t>
                      </a:r>
                      <a:r>
                        <a:rPr dirty="0" sz="1000" spc="-6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에서는</a:t>
                      </a:r>
                      <a:r>
                        <a:rPr dirty="0" sz="1000" spc="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각</a:t>
                      </a:r>
                      <a:r>
                        <a:rPr dirty="0" sz="1000" spc="1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학생별로</a:t>
                      </a:r>
                      <a:r>
                        <a:rPr dirty="0" sz="1000" spc="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에세이를</a:t>
                      </a:r>
                      <a:r>
                        <a:rPr dirty="0" sz="1000" spc="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수정한다.</a:t>
                      </a:r>
                      <a:r>
                        <a:rPr dirty="0" sz="1000" spc="2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이를</a:t>
                      </a:r>
                      <a:r>
                        <a:rPr dirty="0" sz="1000" spc="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통해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학습자는</a:t>
                      </a:r>
                      <a:r>
                        <a:rPr dirty="0" sz="1000" spc="-4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이</a:t>
                      </a:r>
                      <a:r>
                        <a:rPr dirty="0" sz="1000" spc="-4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수업을</a:t>
                      </a:r>
                      <a:r>
                        <a:rPr dirty="0" sz="1000" spc="-4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통해</a:t>
                      </a:r>
                      <a:r>
                        <a:rPr dirty="0" sz="1000" spc="-4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배운</a:t>
                      </a:r>
                      <a:r>
                        <a:rPr dirty="0" sz="1000" spc="-4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내용을</a:t>
                      </a:r>
                      <a:r>
                        <a:rPr dirty="0" sz="1000" spc="-4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보다</a:t>
                      </a:r>
                      <a:r>
                        <a:rPr dirty="0" sz="1000" spc="-4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정교하게</a:t>
                      </a:r>
                      <a:r>
                        <a:rPr dirty="0" sz="1000" spc="-4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다듬어진</a:t>
                      </a:r>
                      <a:r>
                        <a:rPr dirty="0" sz="1000" spc="-4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형태로</a:t>
                      </a:r>
                      <a:r>
                        <a:rPr dirty="0" sz="1000" spc="-4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본인의</a:t>
                      </a:r>
                      <a:r>
                        <a:rPr dirty="0" sz="1000" spc="-4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것으로</a:t>
                      </a:r>
                      <a:r>
                        <a:rPr dirty="0" sz="1000" spc="-4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만들 </a:t>
                      </a:r>
                      <a:r>
                        <a:rPr dirty="0" sz="1000"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dirty="0" sz="1000" spc="-1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000" spc="-25">
                          <a:latin typeface="Malgun Gothic"/>
                          <a:cs typeface="Malgun Gothic"/>
                        </a:rPr>
                        <a:t>있다.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B="0" marT="406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904747" y="3494786"/>
            <a:ext cx="3664585" cy="5583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10" b="1">
                <a:latin typeface="Malgun Gothic"/>
                <a:cs typeface="Malgun Gothic"/>
              </a:rPr>
              <a:t>평가기준:</a:t>
            </a:r>
            <a:endParaRPr sz="1000">
              <a:latin typeface="Malgun Gothic"/>
              <a:cs typeface="Malgun Gothic"/>
            </a:endParaRPr>
          </a:p>
          <a:p>
            <a:pPr marL="12700" marR="5080">
              <a:lnSpc>
                <a:spcPct val="166000"/>
              </a:lnSpc>
            </a:pPr>
            <a:r>
              <a:rPr dirty="0" sz="1000">
                <a:latin typeface="Malgun Gothic"/>
                <a:cs typeface="Malgun Gothic"/>
              </a:rPr>
              <a:t>중간고사</a:t>
            </a:r>
            <a:r>
              <a:rPr dirty="0" sz="1000" spc="-4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(39%),</a:t>
            </a:r>
            <a:r>
              <a:rPr dirty="0" sz="1000" spc="-2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기말고사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(40%),</a:t>
            </a:r>
            <a:r>
              <a:rPr dirty="0" sz="1000" spc="-2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대면실습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7</a:t>
            </a:r>
            <a:r>
              <a:rPr dirty="0" sz="1000" spc="-11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회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(각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3%,</a:t>
            </a:r>
            <a:r>
              <a:rPr dirty="0" sz="1000" spc="-2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총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 spc="-20">
                <a:latin typeface="Malgun Gothic"/>
                <a:cs typeface="Malgun Gothic"/>
              </a:rPr>
              <a:t>21%) </a:t>
            </a:r>
            <a:r>
              <a:rPr dirty="0" sz="1000">
                <a:latin typeface="Malgun Gothic"/>
                <a:cs typeface="Malgun Gothic"/>
              </a:rPr>
              <a:t>중간고사나</a:t>
            </a:r>
            <a:r>
              <a:rPr dirty="0" sz="1000" spc="-5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기말고사를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보지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않은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학생은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F</a:t>
            </a:r>
            <a:r>
              <a:rPr dirty="0" sz="1000" spc="-110">
                <a:latin typeface="Malgun Gothic"/>
                <a:cs typeface="Malgun Gothic"/>
              </a:rPr>
              <a:t> </a:t>
            </a:r>
            <a:r>
              <a:rPr dirty="0" sz="1000" spc="-25">
                <a:latin typeface="Malgun Gothic"/>
                <a:cs typeface="Malgun Gothic"/>
              </a:rPr>
              <a:t>처리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000">
                <a:latin typeface="Malgun Gothic"/>
                <a:cs typeface="Malgun Gothic"/>
              </a:rPr>
              <a:t>중간고사,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기말고사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모두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단답식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+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 spc="-25">
                <a:latin typeface="Malgun Gothic"/>
                <a:cs typeface="Malgun Gothic"/>
              </a:rPr>
              <a:t>논술식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1000" spc="-10" b="1">
                <a:latin typeface="Malgun Gothic"/>
                <a:cs typeface="Malgun Gothic"/>
              </a:rPr>
              <a:t>강의계획: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b="1">
                <a:latin typeface="Malgun Gothic"/>
                <a:cs typeface="Malgun Gothic"/>
              </a:rPr>
              <a:t>1</a:t>
            </a:r>
            <a:r>
              <a:rPr dirty="0" sz="1000" spc="-105" b="1">
                <a:latin typeface="Malgun Gothic"/>
                <a:cs typeface="Malgun Gothic"/>
              </a:rPr>
              <a:t> </a:t>
            </a:r>
            <a:r>
              <a:rPr dirty="0" sz="1000" spc="-25" b="1">
                <a:latin typeface="Malgun Gothic"/>
                <a:cs typeface="Malgun Gothic"/>
              </a:rPr>
              <a:t>주차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latin typeface="Malgun Gothic"/>
                <a:cs typeface="Malgun Gothic"/>
              </a:rPr>
              <a:t>논리적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글쓰기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 spc="-25">
                <a:latin typeface="Malgun Gothic"/>
                <a:cs typeface="Malgun Gothic"/>
              </a:rPr>
              <a:t>방법론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b="1">
                <a:latin typeface="Malgun Gothic"/>
                <a:cs typeface="Malgun Gothic"/>
              </a:rPr>
              <a:t>2</a:t>
            </a:r>
            <a:r>
              <a:rPr dirty="0" sz="1000" spc="-105" b="1">
                <a:latin typeface="Malgun Gothic"/>
                <a:cs typeface="Malgun Gothic"/>
              </a:rPr>
              <a:t> </a:t>
            </a:r>
            <a:r>
              <a:rPr dirty="0" sz="1000" spc="-25" b="1">
                <a:latin typeface="Malgun Gothic"/>
                <a:cs typeface="Malgun Gothic"/>
              </a:rPr>
              <a:t>주차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latin typeface="Malgun Gothic"/>
                <a:cs typeface="Malgun Gothic"/>
              </a:rPr>
              <a:t>글로벌경제론</a:t>
            </a:r>
            <a:r>
              <a:rPr dirty="0" sz="1000" spc="-60">
                <a:latin typeface="Malgun Gothic"/>
                <a:cs typeface="Malgun Gothic"/>
              </a:rPr>
              <a:t> </a:t>
            </a:r>
            <a:r>
              <a:rPr dirty="0" sz="1000" spc="-25">
                <a:latin typeface="Malgun Gothic"/>
                <a:cs typeface="Malgun Gothic"/>
              </a:rPr>
              <a:t>개관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000" spc="-10">
                <a:latin typeface="Malgun Gothic"/>
                <a:cs typeface="Malgun Gothic"/>
              </a:rPr>
              <a:t>20</a:t>
            </a:r>
            <a:r>
              <a:rPr dirty="0" sz="1000" spc="-11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세기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이전까지의</a:t>
            </a:r>
            <a:r>
              <a:rPr dirty="0" sz="1000" spc="-20">
                <a:latin typeface="Malgun Gothic"/>
                <a:cs typeface="Malgun Gothic"/>
              </a:rPr>
              <a:t> </a:t>
            </a:r>
            <a:r>
              <a:rPr dirty="0" sz="1000" spc="-10">
                <a:latin typeface="Malgun Gothic"/>
                <a:cs typeface="Malgun Gothic"/>
              </a:rPr>
              <a:t>국제정치경제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1000" b="1">
                <a:latin typeface="Malgun Gothic"/>
                <a:cs typeface="Malgun Gothic"/>
              </a:rPr>
              <a:t>3</a:t>
            </a:r>
            <a:r>
              <a:rPr dirty="0" sz="1000" spc="-110" b="1">
                <a:latin typeface="Malgun Gothic"/>
                <a:cs typeface="Malgun Gothic"/>
              </a:rPr>
              <a:t> </a:t>
            </a:r>
            <a:r>
              <a:rPr dirty="0" sz="1000" b="1">
                <a:latin typeface="Malgun Gothic"/>
                <a:cs typeface="Malgun Gothic"/>
              </a:rPr>
              <a:t>주차,</a:t>
            </a:r>
            <a:r>
              <a:rPr dirty="0" sz="1000" spc="-15" b="1">
                <a:latin typeface="Malgun Gothic"/>
                <a:cs typeface="Malgun Gothic"/>
              </a:rPr>
              <a:t> </a:t>
            </a:r>
            <a:r>
              <a:rPr dirty="0" sz="1000" b="1">
                <a:latin typeface="Malgun Gothic"/>
                <a:cs typeface="Malgun Gothic"/>
              </a:rPr>
              <a:t>4</a:t>
            </a:r>
            <a:r>
              <a:rPr dirty="0" sz="1000" spc="-110" b="1">
                <a:latin typeface="Malgun Gothic"/>
                <a:cs typeface="Malgun Gothic"/>
              </a:rPr>
              <a:t> </a:t>
            </a:r>
            <a:r>
              <a:rPr dirty="0" sz="1000" spc="-35" b="1">
                <a:latin typeface="Malgun Gothic"/>
                <a:cs typeface="Malgun Gothic"/>
              </a:rPr>
              <a:t>주차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000">
                <a:latin typeface="Malgun Gothic"/>
                <a:cs typeface="Malgun Gothic"/>
              </a:rPr>
              <a:t>1</a:t>
            </a:r>
            <a:r>
              <a:rPr dirty="0" sz="1000" spc="-11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차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세계화의</a:t>
            </a:r>
            <a:r>
              <a:rPr dirty="0" sz="1000" spc="-20">
                <a:latin typeface="Malgun Gothic"/>
                <a:cs typeface="Malgun Gothic"/>
              </a:rPr>
              <a:t> </a:t>
            </a:r>
            <a:r>
              <a:rPr dirty="0" sz="1000" spc="-25">
                <a:latin typeface="Malgun Gothic"/>
                <a:cs typeface="Malgun Gothic"/>
              </a:rPr>
              <a:t>역사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1000" b="1">
                <a:latin typeface="Malgun Gothic"/>
                <a:cs typeface="Malgun Gothic"/>
              </a:rPr>
              <a:t>4</a:t>
            </a:r>
            <a:r>
              <a:rPr dirty="0" sz="1000" spc="-110" b="1">
                <a:latin typeface="Malgun Gothic"/>
                <a:cs typeface="Malgun Gothic"/>
              </a:rPr>
              <a:t> </a:t>
            </a:r>
            <a:r>
              <a:rPr dirty="0" sz="1000" b="1">
                <a:latin typeface="Malgun Gothic"/>
                <a:cs typeface="Malgun Gothic"/>
              </a:rPr>
              <a:t>주차,</a:t>
            </a:r>
            <a:r>
              <a:rPr dirty="0" sz="1000" spc="-15" b="1">
                <a:latin typeface="Malgun Gothic"/>
                <a:cs typeface="Malgun Gothic"/>
              </a:rPr>
              <a:t> </a:t>
            </a:r>
            <a:r>
              <a:rPr dirty="0" sz="1000" b="1">
                <a:latin typeface="Malgun Gothic"/>
                <a:cs typeface="Malgun Gothic"/>
              </a:rPr>
              <a:t>5</a:t>
            </a:r>
            <a:r>
              <a:rPr dirty="0" sz="1000" spc="-110" b="1">
                <a:latin typeface="Malgun Gothic"/>
                <a:cs typeface="Malgun Gothic"/>
              </a:rPr>
              <a:t> </a:t>
            </a:r>
            <a:r>
              <a:rPr dirty="0" sz="1000" spc="-35" b="1">
                <a:latin typeface="Malgun Gothic"/>
                <a:cs typeface="Malgun Gothic"/>
              </a:rPr>
              <a:t>주차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000">
                <a:latin typeface="Malgun Gothic"/>
                <a:cs typeface="Malgun Gothic"/>
              </a:rPr>
              <a:t>전간기의</a:t>
            </a:r>
            <a:r>
              <a:rPr dirty="0" sz="1000" spc="-40">
                <a:latin typeface="Malgun Gothic"/>
                <a:cs typeface="Malgun Gothic"/>
              </a:rPr>
              <a:t> </a:t>
            </a:r>
            <a:r>
              <a:rPr dirty="0" sz="1000" spc="-25">
                <a:latin typeface="Malgun Gothic"/>
                <a:cs typeface="Malgun Gothic"/>
              </a:rPr>
              <a:t>역사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b="1">
                <a:latin typeface="Malgun Gothic"/>
                <a:cs typeface="Malgun Gothic"/>
              </a:rPr>
              <a:t>6</a:t>
            </a:r>
            <a:r>
              <a:rPr dirty="0" sz="1000" spc="-110" b="1">
                <a:latin typeface="Malgun Gothic"/>
                <a:cs typeface="Malgun Gothic"/>
              </a:rPr>
              <a:t> </a:t>
            </a:r>
            <a:r>
              <a:rPr dirty="0" sz="1000" b="1">
                <a:latin typeface="Malgun Gothic"/>
                <a:cs typeface="Malgun Gothic"/>
              </a:rPr>
              <a:t>주차,</a:t>
            </a:r>
            <a:r>
              <a:rPr dirty="0" sz="1000" spc="-15" b="1">
                <a:latin typeface="Malgun Gothic"/>
                <a:cs typeface="Malgun Gothic"/>
              </a:rPr>
              <a:t> </a:t>
            </a:r>
            <a:r>
              <a:rPr dirty="0" sz="1000" b="1">
                <a:latin typeface="Malgun Gothic"/>
                <a:cs typeface="Malgun Gothic"/>
              </a:rPr>
              <a:t>7</a:t>
            </a:r>
            <a:r>
              <a:rPr dirty="0" sz="1000" spc="-110" b="1">
                <a:latin typeface="Malgun Gothic"/>
                <a:cs typeface="Malgun Gothic"/>
              </a:rPr>
              <a:t> </a:t>
            </a:r>
            <a:r>
              <a:rPr dirty="0" sz="1000" spc="-35" b="1">
                <a:latin typeface="Malgun Gothic"/>
                <a:cs typeface="Malgun Gothic"/>
              </a:rPr>
              <a:t>주차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1000">
                <a:latin typeface="Malgun Gothic"/>
                <a:cs typeface="Malgun Gothic"/>
              </a:rPr>
              <a:t>브레튼우즈</a:t>
            </a:r>
            <a:r>
              <a:rPr dirty="0" sz="1000" spc="-4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체제와</a:t>
            </a:r>
            <a:r>
              <a:rPr dirty="0" sz="1000" spc="-4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자본주의</a:t>
            </a:r>
            <a:r>
              <a:rPr dirty="0" sz="1000" spc="-40">
                <a:latin typeface="Malgun Gothic"/>
                <a:cs typeface="Malgun Gothic"/>
              </a:rPr>
              <a:t> </a:t>
            </a:r>
            <a:r>
              <a:rPr dirty="0" sz="1000" spc="-25">
                <a:latin typeface="Malgun Gothic"/>
                <a:cs typeface="Malgun Gothic"/>
              </a:rPr>
              <a:t>황금기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1000" b="1">
                <a:latin typeface="Malgun Gothic"/>
                <a:cs typeface="Malgun Gothic"/>
              </a:rPr>
              <a:t>8</a:t>
            </a:r>
            <a:r>
              <a:rPr dirty="0" sz="1000" spc="-105" b="1">
                <a:latin typeface="Malgun Gothic"/>
                <a:cs typeface="Malgun Gothic"/>
              </a:rPr>
              <a:t> </a:t>
            </a:r>
            <a:r>
              <a:rPr dirty="0" sz="1000" spc="-25" b="1">
                <a:latin typeface="Malgun Gothic"/>
                <a:cs typeface="Malgun Gothic"/>
              </a:rPr>
              <a:t>주차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000">
                <a:latin typeface="Malgun Gothic"/>
                <a:cs typeface="Malgun Gothic"/>
              </a:rPr>
              <a:t>중간고사</a:t>
            </a:r>
            <a:r>
              <a:rPr dirty="0" sz="1000" spc="-10">
                <a:latin typeface="Malgun Gothic"/>
                <a:cs typeface="Malgun Gothic"/>
              </a:rPr>
              <a:t> (10</a:t>
            </a:r>
            <a:r>
              <a:rPr dirty="0" sz="1000" spc="-11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월</a:t>
            </a:r>
            <a:r>
              <a:rPr dirty="0" sz="1000" spc="-5">
                <a:latin typeface="Malgun Gothic"/>
                <a:cs typeface="Malgun Gothic"/>
              </a:rPr>
              <a:t> </a:t>
            </a:r>
            <a:r>
              <a:rPr dirty="0" sz="1000" spc="-10">
                <a:latin typeface="Malgun Gothic"/>
                <a:cs typeface="Malgun Gothic"/>
              </a:rPr>
              <a:t>50</a:t>
            </a:r>
            <a:r>
              <a:rPr dirty="0" sz="1000" spc="-11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일</a:t>
            </a:r>
            <a:r>
              <a:rPr dirty="0" sz="1000" spc="-5">
                <a:latin typeface="Malgun Gothic"/>
                <a:cs typeface="Malgun Gothic"/>
              </a:rPr>
              <a:t> </a:t>
            </a:r>
            <a:r>
              <a:rPr dirty="0" sz="1000" spc="-20">
                <a:latin typeface="Malgun Gothic"/>
                <a:cs typeface="Malgun Gothic"/>
              </a:rPr>
              <a:t>금요일)</a:t>
            </a:r>
            <a:endParaRPr sz="1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2" name="object 2" descr=""/>
          <p:cNvSpPr txBox="1"/>
          <p:nvPr/>
        </p:nvSpPr>
        <p:spPr>
          <a:xfrm>
            <a:off x="904747" y="1103325"/>
            <a:ext cx="3138170" cy="554863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000" b="1">
                <a:latin typeface="Malgun Gothic"/>
                <a:cs typeface="Malgun Gothic"/>
              </a:rPr>
              <a:t>9</a:t>
            </a:r>
            <a:r>
              <a:rPr dirty="0" sz="1000" spc="-110" b="1">
                <a:latin typeface="Malgun Gothic"/>
                <a:cs typeface="Malgun Gothic"/>
              </a:rPr>
              <a:t> </a:t>
            </a:r>
            <a:r>
              <a:rPr dirty="0" sz="1000" b="1">
                <a:latin typeface="Malgun Gothic"/>
                <a:cs typeface="Malgun Gothic"/>
              </a:rPr>
              <a:t>주차,</a:t>
            </a:r>
            <a:r>
              <a:rPr dirty="0" sz="1000" spc="-15" b="1">
                <a:latin typeface="Malgun Gothic"/>
                <a:cs typeface="Malgun Gothic"/>
              </a:rPr>
              <a:t> </a:t>
            </a:r>
            <a:r>
              <a:rPr dirty="0" sz="1000" b="1">
                <a:latin typeface="Malgun Gothic"/>
                <a:cs typeface="Malgun Gothic"/>
              </a:rPr>
              <a:t>10</a:t>
            </a:r>
            <a:r>
              <a:rPr dirty="0" sz="1000" spc="-110" b="1">
                <a:latin typeface="Malgun Gothic"/>
                <a:cs typeface="Malgun Gothic"/>
              </a:rPr>
              <a:t> </a:t>
            </a:r>
            <a:r>
              <a:rPr dirty="0" sz="1000" spc="-35" b="1">
                <a:latin typeface="Malgun Gothic"/>
                <a:cs typeface="Malgun Gothic"/>
              </a:rPr>
              <a:t>주차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000">
                <a:latin typeface="Malgun Gothic"/>
                <a:cs typeface="Malgun Gothic"/>
              </a:rPr>
              <a:t>글로벌불균형과</a:t>
            </a:r>
            <a:r>
              <a:rPr dirty="0" sz="1000" spc="-60">
                <a:latin typeface="Malgun Gothic"/>
                <a:cs typeface="Malgun Gothic"/>
              </a:rPr>
              <a:t> </a:t>
            </a:r>
            <a:r>
              <a:rPr dirty="0" sz="1000" spc="-10">
                <a:latin typeface="Malgun Gothic"/>
                <a:cs typeface="Malgun Gothic"/>
              </a:rPr>
              <a:t>브레튼우즈</a:t>
            </a:r>
            <a:r>
              <a:rPr dirty="0" sz="1000" spc="-110">
                <a:latin typeface="Malgun Gothic"/>
                <a:cs typeface="Malgun Gothic"/>
              </a:rPr>
              <a:t> </a:t>
            </a:r>
            <a:r>
              <a:rPr dirty="0" sz="1000" spc="-50">
                <a:latin typeface="Malgun Gothic"/>
                <a:cs typeface="Malgun Gothic"/>
              </a:rPr>
              <a:t>2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1000" b="1">
                <a:latin typeface="Malgun Gothic"/>
                <a:cs typeface="Malgun Gothic"/>
              </a:rPr>
              <a:t>11</a:t>
            </a:r>
            <a:r>
              <a:rPr dirty="0" sz="1000" spc="-105" b="1">
                <a:latin typeface="Malgun Gothic"/>
                <a:cs typeface="Malgun Gothic"/>
              </a:rPr>
              <a:t> </a:t>
            </a:r>
            <a:r>
              <a:rPr dirty="0" sz="1000" spc="-35" b="1">
                <a:latin typeface="Malgun Gothic"/>
                <a:cs typeface="Malgun Gothic"/>
              </a:rPr>
              <a:t>주차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000" spc="-25">
                <a:latin typeface="Malgun Gothic"/>
                <a:cs typeface="Malgun Gothic"/>
              </a:rPr>
              <a:t>냉전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1000" b="1">
                <a:latin typeface="Malgun Gothic"/>
                <a:cs typeface="Malgun Gothic"/>
              </a:rPr>
              <a:t>12</a:t>
            </a:r>
            <a:r>
              <a:rPr dirty="0" sz="1000" spc="-105" b="1">
                <a:latin typeface="Malgun Gothic"/>
                <a:cs typeface="Malgun Gothic"/>
              </a:rPr>
              <a:t> </a:t>
            </a:r>
            <a:r>
              <a:rPr dirty="0" sz="1000" spc="-35" b="1">
                <a:latin typeface="Malgun Gothic"/>
                <a:cs typeface="Malgun Gothic"/>
              </a:rPr>
              <a:t>주차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000">
                <a:latin typeface="Malgun Gothic"/>
                <a:cs typeface="Malgun Gothic"/>
              </a:rPr>
              <a:t>세계화의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역사적</a:t>
            </a:r>
            <a:r>
              <a:rPr dirty="0" sz="1000" spc="-35">
                <a:latin typeface="Malgun Gothic"/>
                <a:cs typeface="Malgun Gothic"/>
              </a:rPr>
              <a:t> </a:t>
            </a:r>
            <a:r>
              <a:rPr dirty="0" sz="1000" spc="-25">
                <a:latin typeface="Malgun Gothic"/>
                <a:cs typeface="Malgun Gothic"/>
              </a:rPr>
              <a:t>조망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1000" b="1">
                <a:latin typeface="Malgun Gothic"/>
                <a:cs typeface="Malgun Gothic"/>
              </a:rPr>
              <a:t>13</a:t>
            </a:r>
            <a:r>
              <a:rPr dirty="0" sz="1000" spc="-105" b="1">
                <a:latin typeface="Malgun Gothic"/>
                <a:cs typeface="Malgun Gothic"/>
              </a:rPr>
              <a:t> </a:t>
            </a:r>
            <a:r>
              <a:rPr dirty="0" sz="1000" spc="-35" b="1">
                <a:latin typeface="Malgun Gothic"/>
                <a:cs typeface="Malgun Gothic"/>
              </a:rPr>
              <a:t>주차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000" spc="-10">
                <a:latin typeface="Malgun Gothic"/>
                <a:cs typeface="Malgun Gothic"/>
              </a:rPr>
              <a:t>2008</a:t>
            </a:r>
            <a:r>
              <a:rPr dirty="0" sz="1000" spc="-11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년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금융위기와</a:t>
            </a:r>
            <a:r>
              <a:rPr dirty="0" sz="1000" spc="-2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그</a:t>
            </a:r>
            <a:r>
              <a:rPr dirty="0" sz="1000" spc="-1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이후의</a:t>
            </a:r>
            <a:r>
              <a:rPr dirty="0" sz="1000" spc="-15">
                <a:latin typeface="Malgun Gothic"/>
                <a:cs typeface="Malgun Gothic"/>
              </a:rPr>
              <a:t> </a:t>
            </a:r>
            <a:r>
              <a:rPr dirty="0" sz="1000" spc="-10">
                <a:latin typeface="Malgun Gothic"/>
                <a:cs typeface="Malgun Gothic"/>
              </a:rPr>
              <a:t>글로벌경제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1000" b="1">
                <a:latin typeface="Malgun Gothic"/>
                <a:cs typeface="Malgun Gothic"/>
              </a:rPr>
              <a:t>14</a:t>
            </a:r>
            <a:r>
              <a:rPr dirty="0" sz="1000" spc="-105" b="1">
                <a:latin typeface="Malgun Gothic"/>
                <a:cs typeface="Malgun Gothic"/>
              </a:rPr>
              <a:t> </a:t>
            </a:r>
            <a:r>
              <a:rPr dirty="0" sz="1000" spc="-35" b="1">
                <a:latin typeface="Malgun Gothic"/>
                <a:cs typeface="Malgun Gothic"/>
              </a:rPr>
              <a:t>주차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000">
                <a:latin typeface="Malgun Gothic"/>
                <a:cs typeface="Malgun Gothic"/>
              </a:rPr>
              <a:t>3</a:t>
            </a:r>
            <a:r>
              <a:rPr dirty="0" sz="1000" spc="-11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차,</a:t>
            </a:r>
            <a:r>
              <a:rPr dirty="0" sz="1000" spc="-4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4</a:t>
            </a:r>
            <a:r>
              <a:rPr dirty="0" sz="1000" spc="-11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차</a:t>
            </a:r>
            <a:r>
              <a:rPr dirty="0" sz="1000" spc="-3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산업혁명과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미중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무역분쟁,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혹은</a:t>
            </a:r>
            <a:r>
              <a:rPr dirty="0" sz="1000" spc="-25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반도체</a:t>
            </a:r>
            <a:r>
              <a:rPr dirty="0" sz="1000" spc="-25">
                <a:latin typeface="Malgun Gothic"/>
                <a:cs typeface="Malgun Gothic"/>
              </a:rPr>
              <a:t> 전쟁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1000" b="1">
                <a:latin typeface="Malgun Gothic"/>
                <a:cs typeface="Malgun Gothic"/>
              </a:rPr>
              <a:t>15</a:t>
            </a:r>
            <a:r>
              <a:rPr dirty="0" sz="1000" spc="-105" b="1">
                <a:latin typeface="Malgun Gothic"/>
                <a:cs typeface="Malgun Gothic"/>
              </a:rPr>
              <a:t> </a:t>
            </a:r>
            <a:r>
              <a:rPr dirty="0" sz="1000" spc="-35" b="1">
                <a:latin typeface="Malgun Gothic"/>
                <a:cs typeface="Malgun Gothic"/>
              </a:rPr>
              <a:t>주차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000">
                <a:latin typeface="Malgun Gothic"/>
                <a:cs typeface="Malgun Gothic"/>
              </a:rPr>
              <a:t>기말고사</a:t>
            </a:r>
            <a:r>
              <a:rPr dirty="0" sz="1000" spc="-10">
                <a:latin typeface="Malgun Gothic"/>
                <a:cs typeface="Malgun Gothic"/>
              </a:rPr>
              <a:t> (12</a:t>
            </a:r>
            <a:r>
              <a:rPr dirty="0" sz="1000" spc="-11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월</a:t>
            </a:r>
            <a:r>
              <a:rPr dirty="0" sz="1000" spc="-5">
                <a:latin typeface="Malgun Gothic"/>
                <a:cs typeface="Malgun Gothic"/>
              </a:rPr>
              <a:t> </a:t>
            </a:r>
            <a:r>
              <a:rPr dirty="0" sz="1000" spc="-10">
                <a:latin typeface="Malgun Gothic"/>
                <a:cs typeface="Malgun Gothic"/>
              </a:rPr>
              <a:t>13</a:t>
            </a:r>
            <a:r>
              <a:rPr dirty="0" sz="1000" spc="-11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일</a:t>
            </a:r>
            <a:r>
              <a:rPr dirty="0" sz="1000" spc="-5">
                <a:latin typeface="Malgun Gothic"/>
                <a:cs typeface="Malgun Gothic"/>
              </a:rPr>
              <a:t> </a:t>
            </a:r>
            <a:r>
              <a:rPr dirty="0" sz="1000" spc="-20">
                <a:latin typeface="Malgun Gothic"/>
                <a:cs typeface="Malgun Gothic"/>
              </a:rPr>
              <a:t>금요일)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1000" b="1">
                <a:latin typeface="Malgun Gothic"/>
                <a:cs typeface="Malgun Gothic"/>
              </a:rPr>
              <a:t>대면</a:t>
            </a:r>
            <a:r>
              <a:rPr dirty="0" sz="1000" spc="-20" b="1">
                <a:latin typeface="Malgun Gothic"/>
                <a:cs typeface="Malgun Gothic"/>
              </a:rPr>
              <a:t> </a:t>
            </a:r>
            <a:r>
              <a:rPr dirty="0" sz="1000" spc="-25" b="1">
                <a:latin typeface="Malgun Gothic"/>
                <a:cs typeface="Malgun Gothic"/>
              </a:rPr>
              <a:t>수업일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000">
                <a:latin typeface="Malgun Gothic"/>
                <a:cs typeface="Malgun Gothic"/>
              </a:rPr>
              <a:t>9</a:t>
            </a:r>
            <a:r>
              <a:rPr dirty="0" sz="1000" spc="-11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월:</a:t>
            </a:r>
            <a:r>
              <a:rPr dirty="0" sz="1000" spc="-15">
                <a:latin typeface="Malgun Gothic"/>
                <a:cs typeface="Malgun Gothic"/>
              </a:rPr>
              <a:t> </a:t>
            </a:r>
            <a:r>
              <a:rPr dirty="0" sz="1000" b="1">
                <a:latin typeface="Malgun Gothic"/>
                <a:cs typeface="Malgun Gothic"/>
              </a:rPr>
              <a:t>6</a:t>
            </a:r>
            <a:r>
              <a:rPr dirty="0" sz="1000" spc="-110" b="1">
                <a:latin typeface="Malgun Gothic"/>
                <a:cs typeface="Malgun Gothic"/>
              </a:rPr>
              <a:t> </a:t>
            </a:r>
            <a:r>
              <a:rPr dirty="0" sz="1000" b="1">
                <a:latin typeface="Malgun Gothic"/>
                <a:cs typeface="Malgun Gothic"/>
              </a:rPr>
              <a:t>일,</a:t>
            </a:r>
            <a:r>
              <a:rPr dirty="0" sz="1000" spc="-10" b="1">
                <a:latin typeface="Malgun Gothic"/>
                <a:cs typeface="Malgun Gothic"/>
              </a:rPr>
              <a:t> </a:t>
            </a:r>
            <a:r>
              <a:rPr dirty="0" sz="1000" b="1">
                <a:latin typeface="Malgun Gothic"/>
                <a:cs typeface="Malgun Gothic"/>
              </a:rPr>
              <a:t>27</a:t>
            </a:r>
            <a:r>
              <a:rPr dirty="0" sz="1000" spc="-110" b="1">
                <a:latin typeface="Malgun Gothic"/>
                <a:cs typeface="Malgun Gothic"/>
              </a:rPr>
              <a:t> </a:t>
            </a:r>
            <a:r>
              <a:rPr dirty="0" sz="1000" spc="-50" b="1">
                <a:latin typeface="Malgun Gothic"/>
                <a:cs typeface="Malgun Gothic"/>
              </a:rPr>
              <a:t>일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000" spc="-10">
                <a:latin typeface="Malgun Gothic"/>
                <a:cs typeface="Malgun Gothic"/>
              </a:rPr>
              <a:t>10</a:t>
            </a:r>
            <a:r>
              <a:rPr dirty="0" sz="1000" spc="-11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월:</a:t>
            </a:r>
            <a:r>
              <a:rPr dirty="0" sz="1000" spc="-10">
                <a:latin typeface="Malgun Gothic"/>
                <a:cs typeface="Malgun Gothic"/>
              </a:rPr>
              <a:t> </a:t>
            </a:r>
            <a:r>
              <a:rPr dirty="0" sz="1000" b="1">
                <a:latin typeface="Malgun Gothic"/>
                <a:cs typeface="Malgun Gothic"/>
              </a:rPr>
              <a:t>4</a:t>
            </a:r>
            <a:r>
              <a:rPr dirty="0" sz="1000" spc="-110" b="1">
                <a:latin typeface="Malgun Gothic"/>
                <a:cs typeface="Malgun Gothic"/>
              </a:rPr>
              <a:t> </a:t>
            </a:r>
            <a:r>
              <a:rPr dirty="0" sz="1000" b="1">
                <a:latin typeface="Malgun Gothic"/>
                <a:cs typeface="Malgun Gothic"/>
              </a:rPr>
              <a:t>일,</a:t>
            </a:r>
            <a:r>
              <a:rPr dirty="0" sz="1000" spc="-5" b="1">
                <a:latin typeface="Malgun Gothic"/>
                <a:cs typeface="Malgun Gothic"/>
              </a:rPr>
              <a:t> </a:t>
            </a:r>
            <a:r>
              <a:rPr dirty="0" sz="1000" b="1">
                <a:latin typeface="Malgun Gothic"/>
                <a:cs typeface="Malgun Gothic"/>
              </a:rPr>
              <a:t>11</a:t>
            </a:r>
            <a:r>
              <a:rPr dirty="0" sz="1000" spc="-110" b="1">
                <a:latin typeface="Malgun Gothic"/>
                <a:cs typeface="Malgun Gothic"/>
              </a:rPr>
              <a:t> </a:t>
            </a:r>
            <a:r>
              <a:rPr dirty="0" sz="1000" b="1">
                <a:latin typeface="Malgun Gothic"/>
                <a:cs typeface="Malgun Gothic"/>
              </a:rPr>
              <a:t>일,</a:t>
            </a:r>
            <a:r>
              <a:rPr dirty="0" sz="1000" spc="-5" b="1">
                <a:latin typeface="Malgun Gothic"/>
                <a:cs typeface="Malgun Gothic"/>
              </a:rPr>
              <a:t> </a:t>
            </a:r>
            <a:r>
              <a:rPr dirty="0" sz="1000" b="1">
                <a:latin typeface="Malgun Gothic"/>
                <a:cs typeface="Malgun Gothic"/>
              </a:rPr>
              <a:t>25</a:t>
            </a:r>
            <a:r>
              <a:rPr dirty="0" sz="1000" spc="-110" b="1">
                <a:latin typeface="Malgun Gothic"/>
                <a:cs typeface="Malgun Gothic"/>
              </a:rPr>
              <a:t> </a:t>
            </a:r>
            <a:r>
              <a:rPr dirty="0" sz="1000" b="1">
                <a:latin typeface="Malgun Gothic"/>
                <a:cs typeface="Malgun Gothic"/>
              </a:rPr>
              <a:t>일</a:t>
            </a:r>
            <a:r>
              <a:rPr dirty="0" sz="1000" spc="-10" b="1">
                <a:latin typeface="Malgun Gothic"/>
                <a:cs typeface="Malgun Gothic"/>
              </a:rPr>
              <a:t> </a:t>
            </a:r>
            <a:r>
              <a:rPr dirty="0" sz="1000" spc="-20" b="1">
                <a:latin typeface="Malgun Gothic"/>
                <a:cs typeface="Malgun Gothic"/>
              </a:rPr>
              <a:t>중간고사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000" spc="-10">
                <a:latin typeface="Malgun Gothic"/>
                <a:cs typeface="Malgun Gothic"/>
              </a:rPr>
              <a:t>11</a:t>
            </a:r>
            <a:r>
              <a:rPr dirty="0" sz="1000" spc="-11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월:</a:t>
            </a:r>
            <a:r>
              <a:rPr dirty="0" sz="1000" spc="-10">
                <a:latin typeface="Malgun Gothic"/>
                <a:cs typeface="Malgun Gothic"/>
              </a:rPr>
              <a:t> </a:t>
            </a:r>
            <a:r>
              <a:rPr dirty="0" sz="1000" b="1">
                <a:latin typeface="Malgun Gothic"/>
                <a:cs typeface="Malgun Gothic"/>
              </a:rPr>
              <a:t>8</a:t>
            </a:r>
            <a:r>
              <a:rPr dirty="0" sz="1000" spc="-110" b="1">
                <a:latin typeface="Malgun Gothic"/>
                <a:cs typeface="Malgun Gothic"/>
              </a:rPr>
              <a:t> </a:t>
            </a:r>
            <a:r>
              <a:rPr dirty="0" sz="1000" b="1">
                <a:latin typeface="Malgun Gothic"/>
                <a:cs typeface="Malgun Gothic"/>
              </a:rPr>
              <a:t>일,</a:t>
            </a:r>
            <a:r>
              <a:rPr dirty="0" sz="1000" spc="-5" b="1">
                <a:latin typeface="Malgun Gothic"/>
                <a:cs typeface="Malgun Gothic"/>
              </a:rPr>
              <a:t> </a:t>
            </a:r>
            <a:r>
              <a:rPr dirty="0" sz="1000" b="1">
                <a:latin typeface="Malgun Gothic"/>
                <a:cs typeface="Malgun Gothic"/>
              </a:rPr>
              <a:t>15</a:t>
            </a:r>
            <a:r>
              <a:rPr dirty="0" sz="1000" spc="-110" b="1">
                <a:latin typeface="Malgun Gothic"/>
                <a:cs typeface="Malgun Gothic"/>
              </a:rPr>
              <a:t> </a:t>
            </a:r>
            <a:r>
              <a:rPr dirty="0" sz="1000" b="1">
                <a:latin typeface="Malgun Gothic"/>
                <a:cs typeface="Malgun Gothic"/>
              </a:rPr>
              <a:t>일,</a:t>
            </a:r>
            <a:r>
              <a:rPr dirty="0" sz="1000" spc="-5" b="1">
                <a:latin typeface="Malgun Gothic"/>
                <a:cs typeface="Malgun Gothic"/>
              </a:rPr>
              <a:t> </a:t>
            </a:r>
            <a:r>
              <a:rPr dirty="0" sz="1000" b="1">
                <a:latin typeface="Malgun Gothic"/>
                <a:cs typeface="Malgun Gothic"/>
              </a:rPr>
              <a:t>22</a:t>
            </a:r>
            <a:r>
              <a:rPr dirty="0" sz="1000" spc="-110" b="1">
                <a:latin typeface="Malgun Gothic"/>
                <a:cs typeface="Malgun Gothic"/>
              </a:rPr>
              <a:t> </a:t>
            </a:r>
            <a:r>
              <a:rPr dirty="0" sz="1000" b="1">
                <a:latin typeface="Malgun Gothic"/>
                <a:cs typeface="Malgun Gothic"/>
              </a:rPr>
              <a:t>일,</a:t>
            </a:r>
            <a:r>
              <a:rPr dirty="0" sz="1000" spc="-5" b="1">
                <a:latin typeface="Malgun Gothic"/>
                <a:cs typeface="Malgun Gothic"/>
              </a:rPr>
              <a:t> </a:t>
            </a:r>
            <a:r>
              <a:rPr dirty="0" sz="1000" b="1">
                <a:latin typeface="Malgun Gothic"/>
                <a:cs typeface="Malgun Gothic"/>
              </a:rPr>
              <a:t>29</a:t>
            </a:r>
            <a:r>
              <a:rPr dirty="0" sz="1000" spc="-110" b="1">
                <a:latin typeface="Malgun Gothic"/>
                <a:cs typeface="Malgun Gothic"/>
              </a:rPr>
              <a:t> </a:t>
            </a:r>
            <a:r>
              <a:rPr dirty="0" sz="1000" spc="-50" b="1">
                <a:latin typeface="Malgun Gothic"/>
                <a:cs typeface="Malgun Gothic"/>
              </a:rPr>
              <a:t>일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000" spc="-10">
                <a:latin typeface="Malgun Gothic"/>
                <a:cs typeface="Malgun Gothic"/>
              </a:rPr>
              <a:t>12</a:t>
            </a:r>
            <a:r>
              <a:rPr dirty="0" sz="1000" spc="-110">
                <a:latin typeface="Malgun Gothic"/>
                <a:cs typeface="Malgun Gothic"/>
              </a:rPr>
              <a:t> </a:t>
            </a:r>
            <a:r>
              <a:rPr dirty="0" sz="1000">
                <a:latin typeface="Malgun Gothic"/>
                <a:cs typeface="Malgun Gothic"/>
              </a:rPr>
              <a:t>월:</a:t>
            </a:r>
            <a:r>
              <a:rPr dirty="0" sz="1000" spc="345">
                <a:latin typeface="Malgun Gothic"/>
                <a:cs typeface="Malgun Gothic"/>
              </a:rPr>
              <a:t> </a:t>
            </a:r>
            <a:r>
              <a:rPr dirty="0" sz="1000" b="1">
                <a:latin typeface="Malgun Gothic"/>
                <a:cs typeface="Malgun Gothic"/>
              </a:rPr>
              <a:t>13</a:t>
            </a:r>
            <a:r>
              <a:rPr dirty="0" sz="1000" spc="-105" b="1">
                <a:latin typeface="Malgun Gothic"/>
                <a:cs typeface="Malgun Gothic"/>
              </a:rPr>
              <a:t> </a:t>
            </a:r>
            <a:r>
              <a:rPr dirty="0" sz="1000" b="1">
                <a:latin typeface="Malgun Gothic"/>
                <a:cs typeface="Malgun Gothic"/>
              </a:rPr>
              <a:t>일</a:t>
            </a:r>
            <a:r>
              <a:rPr dirty="0" sz="1000" spc="-10" b="1">
                <a:latin typeface="Malgun Gothic"/>
                <a:cs typeface="Malgun Gothic"/>
              </a:rPr>
              <a:t> </a:t>
            </a:r>
            <a:r>
              <a:rPr dirty="0" sz="1000" spc="-20" b="1">
                <a:latin typeface="Malgun Gothic"/>
                <a:cs typeface="Malgun Gothic"/>
              </a:rPr>
              <a:t>기말고사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1000" spc="-10">
                <a:latin typeface="Malgun Gothic"/>
                <a:cs typeface="Malgun Gothic"/>
              </a:rPr>
              <a:t>-</a:t>
            </a:r>
            <a:r>
              <a:rPr dirty="0" sz="1000" spc="-25">
                <a:latin typeface="Malgun Gothic"/>
                <a:cs typeface="Malgun Gothic"/>
              </a:rPr>
              <a:t>끝-</a:t>
            </a:r>
            <a:endParaRPr sz="1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Bogang Jun</dc:creator>
  <dc:title>2024 강의계획서 글로벌경제론</dc:title>
  <dcterms:created xsi:type="dcterms:W3CDTF">2024-09-08T14:49:03Z</dcterms:created>
  <dcterms:modified xsi:type="dcterms:W3CDTF">2024-09-08T14:49:03Z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2024-09-05T00:00:00Z</vt:filetime>
  </property>
  <property fmtid="{D5CDD505-2E9C-101B-9397-08002B2CF9AE}" pid="3" name="Creator">
    <vt:lpwstr>Word</vt:lpwstr>
  </property>
  <property fmtid="{D5CDD505-2E9C-101B-9397-08002B2CF9AE}" pid="4" name="LastSaved">
    <vt:filetime>2024-09-08T00:00:00Z</vt:filetime>
  </property>
  <property fmtid="{D5CDD505-2E9C-101B-9397-08002B2CF9AE}" pid="5" name="Producer">
    <vt:lpwstr>macOS Version 14.6.1 (Build 23G93) Quartz PDFContext</vt:lpwstr>
  </property>
</Properties>
</file>