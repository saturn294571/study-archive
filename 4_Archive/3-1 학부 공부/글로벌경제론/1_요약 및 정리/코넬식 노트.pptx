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72" r:id="rId2"/>
    <p:sldId id="273" r:id="rId3"/>
    <p:sldId id="274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106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자본주의 황금기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미국의 리더십 </a:t>
            </a:r>
            <a:r>
              <a:rPr lang="en-US" altLang="ko-KR" dirty="0"/>
              <a:t>-&gt; </a:t>
            </a:r>
            <a:r>
              <a:rPr lang="ko-KR" altLang="en-US" dirty="0"/>
              <a:t>국제적 조정과 협력</a:t>
            </a:r>
          </a:p>
          <a:p>
            <a:pPr lvl="1"/>
            <a:r>
              <a:rPr lang="ko-KR" altLang="en-US" dirty="0"/>
              <a:t>무기대여 협약 </a:t>
            </a:r>
            <a:r>
              <a:rPr lang="en-US" altLang="ko-KR" dirty="0"/>
              <a:t>-&gt; </a:t>
            </a:r>
            <a:r>
              <a:rPr lang="ko-KR" altLang="en-US" dirty="0"/>
              <a:t>전시채무부담 해결</a:t>
            </a:r>
          </a:p>
          <a:p>
            <a:pPr lvl="1"/>
            <a:r>
              <a:rPr lang="ko-KR" altLang="en-US" dirty="0" err="1"/>
              <a:t>브레튼우즈</a:t>
            </a:r>
            <a:r>
              <a:rPr lang="ko-KR" altLang="en-US" dirty="0"/>
              <a:t> 체제 </a:t>
            </a:r>
            <a:r>
              <a:rPr lang="en-US" altLang="ko-KR" dirty="0"/>
              <a:t>+ GATT -&gt; </a:t>
            </a:r>
            <a:r>
              <a:rPr lang="ko-KR" altLang="en-US" dirty="0"/>
              <a:t>국제무역</a:t>
            </a:r>
            <a:r>
              <a:rPr lang="en-US" altLang="ko-KR" dirty="0"/>
              <a:t>/</a:t>
            </a:r>
            <a:r>
              <a:rPr lang="ko-KR" altLang="en-US" dirty="0"/>
              <a:t>금융 질서</a:t>
            </a:r>
          </a:p>
          <a:p>
            <a:pPr lvl="1"/>
            <a:r>
              <a:rPr lang="ko-KR" altLang="en-US" dirty="0"/>
              <a:t>구호원조 </a:t>
            </a:r>
            <a:r>
              <a:rPr lang="en-US" altLang="ko-KR" dirty="0"/>
              <a:t>ex) </a:t>
            </a:r>
            <a:r>
              <a:rPr lang="ko-KR" altLang="en-US" dirty="0"/>
              <a:t>마셜플랜</a:t>
            </a:r>
          </a:p>
          <a:p>
            <a:r>
              <a:rPr lang="ko-KR" altLang="en-US" dirty="0"/>
              <a:t>자본주의</a:t>
            </a:r>
            <a:r>
              <a:rPr lang="en-US" altLang="ko-KR" dirty="0"/>
              <a:t> </a:t>
            </a:r>
            <a:r>
              <a:rPr lang="ko-KR" altLang="en-US" dirty="0"/>
              <a:t>황금기 </a:t>
            </a:r>
            <a:r>
              <a:rPr lang="en-US" altLang="ko-KR" dirty="0"/>
              <a:t>: </a:t>
            </a:r>
            <a:r>
              <a:rPr lang="ko-KR" altLang="en-US" dirty="0"/>
              <a:t>현상들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인당 실질 </a:t>
            </a:r>
            <a:r>
              <a:rPr lang="en-US" altLang="ko-KR" dirty="0"/>
              <a:t>GDP </a:t>
            </a:r>
            <a:r>
              <a:rPr lang="ko-KR" altLang="en-US" dirty="0"/>
              <a:t>성장률 </a:t>
            </a:r>
            <a:endParaRPr lang="en-US" altLang="ko-KR" dirty="0"/>
          </a:p>
          <a:p>
            <a:pPr lvl="2"/>
            <a:r>
              <a:rPr lang="en-US" altLang="ko-KR" dirty="0"/>
              <a:t>50-70</a:t>
            </a:r>
            <a:r>
              <a:rPr lang="ko-KR" altLang="en-US" dirty="0"/>
              <a:t>년대 가장 가파름</a:t>
            </a:r>
            <a:endParaRPr lang="en-US" altLang="ko-KR" dirty="0"/>
          </a:p>
          <a:p>
            <a:pPr lvl="1"/>
            <a:r>
              <a:rPr lang="ko-KR" altLang="en-US" dirty="0"/>
              <a:t>물가지수</a:t>
            </a:r>
            <a:r>
              <a:rPr lang="en-US" altLang="ko-KR" dirty="0"/>
              <a:t>, </a:t>
            </a:r>
            <a:r>
              <a:rPr lang="ko-KR" altLang="en-US" dirty="0"/>
              <a:t>생산자지수</a:t>
            </a:r>
            <a:endParaRPr lang="en-US" altLang="ko-KR" dirty="0"/>
          </a:p>
          <a:p>
            <a:pPr lvl="2"/>
            <a:r>
              <a:rPr lang="ko-KR" altLang="en-US" dirty="0"/>
              <a:t>오일쇼크 이후 </a:t>
            </a:r>
            <a:r>
              <a:rPr lang="ko-KR" altLang="en-US" dirty="0" err="1"/>
              <a:t>브레튼우즈</a:t>
            </a:r>
            <a:r>
              <a:rPr lang="ko-KR" altLang="en-US" dirty="0"/>
              <a:t> 체제 해체 전까지 낮게 안정됨</a:t>
            </a:r>
            <a:endParaRPr lang="en-US" altLang="ko-KR" dirty="0"/>
          </a:p>
          <a:p>
            <a:pPr lvl="1"/>
            <a:r>
              <a:rPr lang="ko-KR" altLang="en-US" dirty="0"/>
              <a:t>자산의 불평등</a:t>
            </a:r>
            <a:endParaRPr lang="en-US" altLang="ko-KR" dirty="0"/>
          </a:p>
          <a:p>
            <a:pPr lvl="2"/>
            <a:r>
              <a:rPr lang="en-US" altLang="ko-KR" dirty="0"/>
              <a:t>50-70</a:t>
            </a:r>
            <a:r>
              <a:rPr lang="ko-KR" altLang="en-US" dirty="0"/>
              <a:t>년대 동안 매우 완화</a:t>
            </a:r>
            <a:endParaRPr lang="en-US" altLang="ko-KR" dirty="0"/>
          </a:p>
          <a:p>
            <a:r>
              <a:rPr lang="ko-KR" altLang="en-US" dirty="0"/>
              <a:t>경제기조</a:t>
            </a:r>
            <a:endParaRPr lang="en-US" altLang="ko-KR" dirty="0"/>
          </a:p>
          <a:p>
            <a:pPr lvl="1"/>
            <a:r>
              <a:rPr lang="ko-KR" altLang="en-US" dirty="0"/>
              <a:t>정책기조</a:t>
            </a:r>
            <a:endParaRPr lang="en-US" altLang="ko-KR" dirty="0"/>
          </a:p>
          <a:p>
            <a:pPr lvl="2"/>
            <a:r>
              <a:rPr lang="ko-KR" altLang="en-US" dirty="0"/>
              <a:t>완전고용</a:t>
            </a:r>
            <a:r>
              <a:rPr lang="en-US" altLang="ko-KR" dirty="0"/>
              <a:t>(</a:t>
            </a:r>
            <a:r>
              <a:rPr lang="ko-KR" altLang="en-US" dirty="0"/>
              <a:t>황금기</a:t>
            </a:r>
            <a:r>
              <a:rPr lang="en-US" altLang="ko-KR" dirty="0"/>
              <a:t>) -&gt; </a:t>
            </a:r>
            <a:r>
              <a:rPr lang="ko-KR" altLang="en-US" dirty="0"/>
              <a:t>물가안정</a:t>
            </a:r>
            <a:r>
              <a:rPr lang="en-US" altLang="ko-KR" dirty="0"/>
              <a:t>(2</a:t>
            </a:r>
            <a:r>
              <a:rPr lang="ko-KR" altLang="en-US" dirty="0"/>
              <a:t>차세계화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국제금융</a:t>
            </a:r>
            <a:endParaRPr lang="en-US" altLang="ko-KR" dirty="0"/>
          </a:p>
          <a:p>
            <a:pPr lvl="2"/>
            <a:r>
              <a:rPr lang="ko-KR" altLang="en-US" dirty="0"/>
              <a:t>고정환율</a:t>
            </a:r>
            <a:r>
              <a:rPr lang="en-US" altLang="ko-KR" dirty="0"/>
              <a:t>(</a:t>
            </a:r>
            <a:r>
              <a:rPr lang="ko-KR" altLang="en-US" dirty="0"/>
              <a:t>황</a:t>
            </a:r>
            <a:r>
              <a:rPr lang="en-US" altLang="ko-KR" dirty="0"/>
              <a:t>) -&gt; </a:t>
            </a:r>
            <a:r>
              <a:rPr lang="ko-KR" altLang="en-US" dirty="0"/>
              <a:t>변동환율</a:t>
            </a:r>
            <a:r>
              <a:rPr lang="en-US" altLang="ko-KR" dirty="0"/>
              <a:t>(2</a:t>
            </a:r>
            <a:r>
              <a:rPr lang="ko-KR" altLang="en-US" dirty="0"/>
              <a:t>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노동시장</a:t>
            </a:r>
            <a:endParaRPr lang="en-US" altLang="ko-KR" dirty="0"/>
          </a:p>
          <a:p>
            <a:pPr lvl="2"/>
            <a:r>
              <a:rPr lang="ko-KR" altLang="en-US" dirty="0" err="1"/>
              <a:t>약노조</a:t>
            </a:r>
            <a:r>
              <a:rPr lang="en-US" altLang="ko-KR" dirty="0"/>
              <a:t>, </a:t>
            </a:r>
            <a:r>
              <a:rPr lang="ko-KR" altLang="en-US" dirty="0"/>
              <a:t>약 최저임금</a:t>
            </a:r>
            <a:r>
              <a:rPr lang="en-US" altLang="ko-KR" dirty="0"/>
              <a:t>(1</a:t>
            </a:r>
            <a:r>
              <a:rPr lang="ko-KR" altLang="en-US" dirty="0"/>
              <a:t>차</a:t>
            </a:r>
            <a:r>
              <a:rPr lang="en-US" altLang="ko-KR" dirty="0"/>
              <a:t>) -&gt; </a:t>
            </a:r>
            <a:r>
              <a:rPr lang="ko-KR" altLang="en-US" dirty="0"/>
              <a:t>최저임금 정부 강제</a:t>
            </a:r>
            <a:r>
              <a:rPr lang="en-US" altLang="ko-KR" dirty="0"/>
              <a:t>(</a:t>
            </a:r>
            <a:r>
              <a:rPr lang="ko-KR" altLang="en-US" dirty="0"/>
              <a:t>전간</a:t>
            </a:r>
            <a:r>
              <a:rPr lang="en-US" altLang="ko-KR" dirty="0"/>
              <a:t>)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강한노조</a:t>
            </a:r>
            <a:r>
              <a:rPr lang="en-US" altLang="ko-KR" dirty="0"/>
              <a:t>, </a:t>
            </a:r>
            <a:r>
              <a:rPr lang="ko-KR" altLang="en-US" dirty="0"/>
              <a:t>강 최저임금</a:t>
            </a:r>
            <a:r>
              <a:rPr lang="en-US" altLang="ko-KR" dirty="0"/>
              <a:t>(</a:t>
            </a:r>
            <a:r>
              <a:rPr lang="ko-KR" altLang="en-US" dirty="0"/>
              <a:t>황금</a:t>
            </a:r>
            <a:r>
              <a:rPr lang="en-US" altLang="ko-KR" dirty="0"/>
              <a:t>) -&gt; </a:t>
            </a:r>
            <a:r>
              <a:rPr lang="ko-KR" altLang="en-US" dirty="0"/>
              <a:t>노조 약화</a:t>
            </a:r>
            <a:r>
              <a:rPr lang="en-US" altLang="ko-KR" dirty="0"/>
              <a:t>(2</a:t>
            </a:r>
            <a:r>
              <a:rPr lang="ko-KR" altLang="en-US" dirty="0"/>
              <a:t>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국제요소이동</a:t>
            </a:r>
            <a:endParaRPr lang="en-US" altLang="ko-KR" dirty="0"/>
          </a:p>
          <a:p>
            <a:pPr lvl="2"/>
            <a:r>
              <a:rPr lang="ko-KR" altLang="en-US" dirty="0"/>
              <a:t>완전 자유</a:t>
            </a:r>
            <a:r>
              <a:rPr lang="en-US" altLang="ko-KR" dirty="0"/>
              <a:t>(1</a:t>
            </a:r>
            <a:r>
              <a:rPr lang="ko-KR" altLang="en-US" dirty="0"/>
              <a:t>차</a:t>
            </a:r>
            <a:r>
              <a:rPr lang="en-US" altLang="ko-KR" dirty="0"/>
              <a:t>) -&gt; </a:t>
            </a:r>
            <a:r>
              <a:rPr lang="ko-KR" altLang="en-US" dirty="0"/>
              <a:t>자본</a:t>
            </a:r>
            <a:r>
              <a:rPr lang="en-US" altLang="ko-KR" dirty="0"/>
              <a:t>/</a:t>
            </a:r>
            <a:r>
              <a:rPr lang="ko-KR" altLang="en-US" dirty="0"/>
              <a:t>노동 극심한 통제</a:t>
            </a:r>
            <a:r>
              <a:rPr lang="en-US" altLang="ko-KR" dirty="0"/>
              <a:t>(</a:t>
            </a:r>
            <a:r>
              <a:rPr lang="ko-KR" altLang="en-US" dirty="0"/>
              <a:t>전간</a:t>
            </a:r>
            <a:r>
              <a:rPr lang="en-US" altLang="ko-KR" dirty="0"/>
              <a:t>)-&gt; </a:t>
            </a:r>
            <a:r>
              <a:rPr lang="ko-KR" altLang="en-US" dirty="0"/>
              <a:t>점진적 자유</a:t>
            </a:r>
            <a:r>
              <a:rPr lang="en-US" altLang="ko-KR" dirty="0"/>
              <a:t>(</a:t>
            </a:r>
            <a:r>
              <a:rPr lang="ko-KR" altLang="en-US" dirty="0"/>
              <a:t>황금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자본주의 황금기 원인 </a:t>
            </a:r>
            <a:r>
              <a:rPr lang="en-US" altLang="ko-KR" dirty="0"/>
              <a:t>: </a:t>
            </a:r>
            <a:r>
              <a:rPr lang="ko-KR" altLang="en-US" dirty="0"/>
              <a:t>전통적 해석</a:t>
            </a:r>
            <a:endParaRPr lang="en-US" altLang="ko-KR" dirty="0"/>
          </a:p>
          <a:p>
            <a:pPr lvl="1"/>
            <a:r>
              <a:rPr lang="ko-KR" altLang="en-US" dirty="0"/>
              <a:t>규명할 현상</a:t>
            </a:r>
            <a:endParaRPr lang="en-US" altLang="ko-KR" dirty="0"/>
          </a:p>
          <a:p>
            <a:pPr lvl="2"/>
            <a:r>
              <a:rPr lang="ko-KR" altLang="en-US" dirty="0"/>
              <a:t>높은 투자율 </a:t>
            </a:r>
            <a:r>
              <a:rPr lang="en-US" altLang="ko-KR" dirty="0"/>
              <a:t>&amp; </a:t>
            </a:r>
            <a:r>
              <a:rPr lang="ko-KR" altLang="en-US" dirty="0"/>
              <a:t>생산성 증가율</a:t>
            </a:r>
            <a:r>
              <a:rPr lang="en-US" altLang="ko-KR" dirty="0"/>
              <a:t>;	</a:t>
            </a:r>
            <a:r>
              <a:rPr lang="ko-KR" altLang="en-US" dirty="0"/>
              <a:t>투입</a:t>
            </a:r>
            <a:r>
              <a:rPr lang="en-US" altLang="ko-KR" dirty="0"/>
              <a:t>(</a:t>
            </a:r>
            <a:r>
              <a:rPr lang="ko-KR" altLang="en-US" dirty="0"/>
              <a:t>자본</a:t>
            </a:r>
            <a:r>
              <a:rPr lang="en-US" altLang="ko-KR" dirty="0"/>
              <a:t>/</a:t>
            </a:r>
            <a:r>
              <a:rPr lang="ko-KR" altLang="en-US" dirty="0"/>
              <a:t>노동</a:t>
            </a:r>
            <a:r>
              <a:rPr lang="en-US" altLang="ko-KR" dirty="0"/>
              <a:t>) -&gt; </a:t>
            </a:r>
            <a:r>
              <a:rPr lang="ko-KR" altLang="en-US" dirty="0"/>
              <a:t>산출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노동의 공급측면</a:t>
            </a:r>
            <a:endParaRPr lang="en-US" altLang="ko-KR" dirty="0"/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인구증가율 상승</a:t>
            </a:r>
            <a:r>
              <a:rPr lang="en-US" altLang="ko-KR" dirty="0"/>
              <a:t> + </a:t>
            </a:r>
            <a:r>
              <a:rPr lang="ko-KR" altLang="en-US" dirty="0"/>
              <a:t>여성 노동 참여 </a:t>
            </a:r>
            <a:r>
              <a:rPr lang="en-US" altLang="ko-KR" dirty="0"/>
              <a:t>+ </a:t>
            </a:r>
            <a:r>
              <a:rPr lang="ko-KR" altLang="en-US" dirty="0"/>
              <a:t>농업 </a:t>
            </a:r>
            <a:r>
              <a:rPr lang="en-US" altLang="ko-KR" dirty="0"/>
              <a:t>-&gt; </a:t>
            </a:r>
            <a:r>
              <a:rPr lang="ko-KR" altLang="en-US" dirty="0"/>
              <a:t>공업</a:t>
            </a:r>
            <a:r>
              <a:rPr lang="en-US" altLang="ko-KR" dirty="0"/>
              <a:t>/</a:t>
            </a:r>
            <a:r>
              <a:rPr lang="ko-KR" altLang="en-US" dirty="0"/>
              <a:t>서비스업 </a:t>
            </a:r>
            <a:r>
              <a:rPr lang="en-US" altLang="ko-KR" dirty="0"/>
              <a:t>+ </a:t>
            </a:r>
            <a:r>
              <a:rPr lang="ko-KR" altLang="en-US" dirty="0"/>
              <a:t>이민</a:t>
            </a:r>
            <a:endParaRPr lang="en-US" altLang="ko-KR" dirty="0"/>
          </a:p>
          <a:p>
            <a:pPr lvl="2"/>
            <a:r>
              <a:rPr lang="en-US" altLang="ko-KR" dirty="0"/>
              <a:t>2) </a:t>
            </a:r>
            <a:r>
              <a:rPr lang="ko-KR" altLang="en-US" dirty="0"/>
              <a:t>무제한적 노동공급</a:t>
            </a:r>
            <a:r>
              <a:rPr lang="en-US" altLang="ko-KR" dirty="0"/>
              <a:t>(</a:t>
            </a:r>
            <a:r>
              <a:rPr lang="ko-KR" altLang="en-US" dirty="0"/>
              <a:t>루이스</a:t>
            </a:r>
            <a:r>
              <a:rPr lang="en-US" altLang="ko-KR" dirty="0"/>
              <a:t>), </a:t>
            </a:r>
            <a:r>
              <a:rPr lang="ko-KR" altLang="en-US" dirty="0"/>
              <a:t>탄력적 노동공급</a:t>
            </a:r>
            <a:r>
              <a:rPr lang="en-US" altLang="ko-KR" dirty="0"/>
              <a:t>(</a:t>
            </a:r>
            <a:r>
              <a:rPr lang="ko-KR" altLang="en-US" dirty="0" err="1"/>
              <a:t>킨들버거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3) </a:t>
            </a:r>
            <a:r>
              <a:rPr lang="ko-KR" altLang="en-US" dirty="0" err="1"/>
              <a:t>이윤률</a:t>
            </a:r>
            <a:r>
              <a:rPr lang="ko-KR" altLang="en-US" dirty="0"/>
              <a:t> 증가 </a:t>
            </a:r>
            <a:r>
              <a:rPr lang="en-US" altLang="ko-KR" dirty="0"/>
              <a:t>-&gt; </a:t>
            </a:r>
            <a:r>
              <a:rPr lang="ko-KR" altLang="en-US" dirty="0"/>
              <a:t>투자율 증가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투자 행위 </a:t>
            </a:r>
            <a:r>
              <a:rPr lang="en-US" altLang="ko-KR" dirty="0"/>
              <a:t>= </a:t>
            </a:r>
            <a:r>
              <a:rPr lang="ko-KR" altLang="en-US" dirty="0"/>
              <a:t>생산성 향상</a:t>
            </a:r>
            <a:endParaRPr lang="en-US" altLang="ko-KR" dirty="0"/>
          </a:p>
          <a:p>
            <a:pPr lvl="2"/>
            <a:r>
              <a:rPr lang="ko-KR" altLang="en-US" dirty="0"/>
              <a:t>투자비중 증가 </a:t>
            </a:r>
            <a:r>
              <a:rPr lang="en-US" altLang="ko-KR" dirty="0"/>
              <a:t>&amp; </a:t>
            </a:r>
            <a:r>
              <a:rPr lang="ko-KR" altLang="en-US" dirty="0"/>
              <a:t>자본스톡에 기술진보 체화</a:t>
            </a:r>
            <a:endParaRPr lang="en-US" altLang="ko-KR" dirty="0"/>
          </a:p>
          <a:p>
            <a:pPr lvl="3"/>
            <a:r>
              <a:rPr lang="ko-KR" altLang="en-US" dirty="0"/>
              <a:t>기술이 집약된 자본 </a:t>
            </a:r>
            <a:r>
              <a:rPr lang="en-US" altLang="ko-KR" dirty="0"/>
              <a:t>-&gt; </a:t>
            </a:r>
            <a:r>
              <a:rPr lang="ko-KR" altLang="en-US" dirty="0"/>
              <a:t>자본투자 </a:t>
            </a:r>
            <a:r>
              <a:rPr lang="en-US" altLang="ko-KR" dirty="0"/>
              <a:t>= </a:t>
            </a:r>
            <a:r>
              <a:rPr lang="ko-KR" altLang="en-US" dirty="0"/>
              <a:t>자본</a:t>
            </a:r>
            <a:r>
              <a:rPr lang="en-US" altLang="ko-KR" dirty="0"/>
              <a:t>+</a:t>
            </a:r>
            <a:r>
              <a:rPr lang="ko-KR" altLang="en-US" dirty="0"/>
              <a:t>기술 증가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수출 주도형 성장</a:t>
            </a:r>
            <a:endParaRPr lang="en-US" altLang="ko-KR" dirty="0"/>
          </a:p>
          <a:p>
            <a:pPr lvl="2"/>
            <a:r>
              <a:rPr lang="ko-KR" altLang="en-US" dirty="0"/>
              <a:t>수출수요 전망 증가 </a:t>
            </a:r>
            <a:r>
              <a:rPr lang="en-US" altLang="ko-KR" dirty="0"/>
              <a:t>-&gt; </a:t>
            </a:r>
            <a:r>
              <a:rPr lang="ko-KR" altLang="en-US" dirty="0"/>
              <a:t>투자 증가</a:t>
            </a:r>
            <a:endParaRPr lang="en-US" altLang="ko-KR" dirty="0"/>
          </a:p>
          <a:p>
            <a:pPr lvl="2"/>
            <a:r>
              <a:rPr lang="en-US" altLang="ko-KR" dirty="0"/>
              <a:t>+ </a:t>
            </a:r>
            <a:r>
              <a:rPr lang="ko-KR" altLang="en-US" dirty="0"/>
              <a:t>한국전쟁 특수 </a:t>
            </a:r>
            <a:r>
              <a:rPr lang="en-US" altLang="ko-KR" dirty="0"/>
              <a:t>+ </a:t>
            </a:r>
            <a:r>
              <a:rPr lang="ko-KR" altLang="en-US" dirty="0"/>
              <a:t>미 호황 </a:t>
            </a:r>
            <a:r>
              <a:rPr lang="en-US" altLang="ko-KR" dirty="0"/>
              <a:t>+ </a:t>
            </a:r>
            <a:r>
              <a:rPr lang="ko-KR" altLang="en-US" dirty="0"/>
              <a:t>유럽 상호교역 확대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A0E878F-95CC-B3FE-0272-93CD6F508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C8C3CA8-E4E5-1DE2-FA8D-5B17F549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B4F574-3874-BEEA-AAE6-C5D338EACE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17D99D-AFD7-ADBD-F18E-E4F23ACFC5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자본주의 황금기 원인 </a:t>
            </a:r>
            <a:r>
              <a:rPr lang="en-US" altLang="ko-KR" dirty="0"/>
              <a:t>: </a:t>
            </a:r>
            <a:r>
              <a:rPr lang="ko-KR" altLang="en-US" dirty="0"/>
              <a:t>전통적 해석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4. </a:t>
            </a:r>
            <a:r>
              <a:rPr lang="ko-KR" altLang="en-US" dirty="0"/>
              <a:t>케인즈적 수요관리 정책</a:t>
            </a:r>
            <a:r>
              <a:rPr lang="en-US" altLang="ko-KR" dirty="0"/>
              <a:t>(</a:t>
            </a:r>
            <a:r>
              <a:rPr lang="en-US" altLang="ko-KR" dirty="0" err="1"/>
              <a:t>Bolth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통화정책 </a:t>
            </a:r>
            <a:r>
              <a:rPr lang="en-US" altLang="ko-KR" dirty="0"/>
              <a:t>+ </a:t>
            </a:r>
            <a:r>
              <a:rPr lang="ko-KR" altLang="en-US" dirty="0"/>
              <a:t>재정정책 </a:t>
            </a:r>
            <a:r>
              <a:rPr lang="en-US" altLang="ko-KR" dirty="0"/>
              <a:t>-&gt; </a:t>
            </a:r>
            <a:r>
              <a:rPr lang="ko-KR" altLang="en-US" dirty="0"/>
              <a:t>경기변동의 변동성을 낮춤</a:t>
            </a:r>
          </a:p>
          <a:p>
            <a:pPr lvl="2"/>
            <a:r>
              <a:rPr lang="ko-KR" altLang="en-US" dirty="0"/>
              <a:t>안정적</a:t>
            </a:r>
            <a:r>
              <a:rPr lang="en-US" altLang="ko-KR" dirty="0"/>
              <a:t>/</a:t>
            </a:r>
            <a:r>
              <a:rPr lang="ko-KR" altLang="en-US" dirty="0"/>
              <a:t>예측 가능한 금융환경 </a:t>
            </a:r>
            <a:r>
              <a:rPr lang="en-US" altLang="ko-KR" dirty="0"/>
              <a:t>-&gt; </a:t>
            </a:r>
            <a:r>
              <a:rPr lang="ko-KR" altLang="en-US" dirty="0"/>
              <a:t>성장 </a:t>
            </a:r>
            <a:r>
              <a:rPr lang="en-US" altLang="ko-KR" dirty="0"/>
              <a:t>O</a:t>
            </a:r>
          </a:p>
          <a:p>
            <a:pPr lvl="2"/>
            <a:r>
              <a:rPr lang="ko-KR" altLang="en-US" dirty="0"/>
              <a:t>경기변동에 따른 미세조정 </a:t>
            </a:r>
            <a:r>
              <a:rPr lang="en-US" altLang="ko-KR" dirty="0"/>
              <a:t>-&gt; </a:t>
            </a:r>
            <a:r>
              <a:rPr lang="ko-KR" altLang="en-US" dirty="0"/>
              <a:t>성장 </a:t>
            </a:r>
            <a:r>
              <a:rPr lang="en-US" altLang="ko-KR" dirty="0"/>
              <a:t>X (</a:t>
            </a:r>
            <a:r>
              <a:rPr lang="ko-KR" altLang="en-US" dirty="0"/>
              <a:t>총수요 관리정책 </a:t>
            </a:r>
            <a:r>
              <a:rPr lang="en-US" altLang="ko-KR" dirty="0"/>
              <a:t>-&gt;</a:t>
            </a:r>
            <a:r>
              <a:rPr lang="ko-KR" altLang="en-US" dirty="0"/>
              <a:t>실질 생산 증가</a:t>
            </a:r>
            <a:r>
              <a:rPr lang="en-US" altLang="ko-KR" dirty="0"/>
              <a:t>?)</a:t>
            </a:r>
          </a:p>
          <a:p>
            <a:pPr lvl="1"/>
            <a:r>
              <a:rPr lang="en-US" altLang="ko-KR" dirty="0"/>
              <a:t>5. </a:t>
            </a:r>
            <a:r>
              <a:rPr lang="ko-KR" altLang="en-US" dirty="0"/>
              <a:t>이익집단 가설</a:t>
            </a:r>
            <a:r>
              <a:rPr lang="en-US" altLang="ko-KR" dirty="0"/>
              <a:t>(Olson)</a:t>
            </a:r>
          </a:p>
          <a:p>
            <a:pPr lvl="2"/>
            <a:r>
              <a:rPr lang="ko-KR" altLang="en-US" dirty="0" err="1"/>
              <a:t>전쟁시</a:t>
            </a:r>
            <a:r>
              <a:rPr lang="ko-KR" altLang="en-US" dirty="0"/>
              <a:t> 성장에 역행하는 분배적 연대가 정의됨 </a:t>
            </a:r>
            <a:r>
              <a:rPr lang="en-US" altLang="ko-KR" dirty="0"/>
              <a:t>(</a:t>
            </a:r>
            <a:r>
              <a:rPr lang="ko-KR" altLang="en-US" dirty="0"/>
              <a:t>기득권의 소멸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back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사회적 파괴가 클수록 성장에 이롭다</a:t>
            </a:r>
            <a:endParaRPr lang="en-US" altLang="ko-KR" dirty="0"/>
          </a:p>
          <a:p>
            <a:pPr lvl="3"/>
            <a:r>
              <a:rPr lang="ko-KR" altLang="en-US" dirty="0"/>
              <a:t>연구</a:t>
            </a:r>
            <a:r>
              <a:rPr lang="en-US" altLang="ko-KR" dirty="0"/>
              <a:t> </a:t>
            </a:r>
            <a:r>
              <a:rPr lang="ko-KR" altLang="en-US" dirty="0"/>
              <a:t>결과 </a:t>
            </a:r>
            <a:r>
              <a:rPr lang="en-US" altLang="ko-KR" dirty="0"/>
              <a:t>: 47-52 = O, </a:t>
            </a:r>
            <a:r>
              <a:rPr lang="ko-KR" altLang="en-US" dirty="0"/>
              <a:t>그 이후 </a:t>
            </a:r>
            <a:r>
              <a:rPr lang="en-US" altLang="ko-KR" dirty="0"/>
              <a:t>= X</a:t>
            </a:r>
          </a:p>
          <a:p>
            <a:pPr lvl="1"/>
            <a:r>
              <a:rPr lang="en-US" altLang="ko-KR" dirty="0"/>
              <a:t>6.</a:t>
            </a:r>
            <a:r>
              <a:rPr lang="ko-KR" altLang="en-US" dirty="0"/>
              <a:t> 기초상품 상대가격 하락</a:t>
            </a:r>
            <a:r>
              <a:rPr lang="en-US" altLang="ko-KR" dirty="0"/>
              <a:t>, </a:t>
            </a:r>
            <a:r>
              <a:rPr lang="ko-KR" altLang="en-US" dirty="0"/>
              <a:t>원자재 가격 하락</a:t>
            </a:r>
            <a:endParaRPr lang="en-US" altLang="ko-KR" dirty="0"/>
          </a:p>
          <a:p>
            <a:pPr lvl="2"/>
            <a:r>
              <a:rPr lang="ko-KR" altLang="en-US" dirty="0"/>
              <a:t>실질임금 증가 </a:t>
            </a:r>
            <a:r>
              <a:rPr lang="en-US" altLang="ko-KR" dirty="0"/>
              <a:t>-&gt; </a:t>
            </a:r>
            <a:r>
              <a:rPr lang="ko-KR" altLang="en-US" dirty="0"/>
              <a:t>소비 증가 </a:t>
            </a:r>
            <a:r>
              <a:rPr lang="en-US" altLang="ko-KR" dirty="0"/>
              <a:t>-&gt; </a:t>
            </a:r>
            <a:r>
              <a:rPr lang="ko-KR" altLang="en-US" dirty="0"/>
              <a:t>투자율 증가</a:t>
            </a:r>
            <a:endParaRPr lang="en-US" altLang="ko-KR" dirty="0"/>
          </a:p>
          <a:p>
            <a:r>
              <a:rPr lang="ko-KR" altLang="en-US" dirty="0"/>
              <a:t>자본주의 황금기 원인 </a:t>
            </a:r>
            <a:r>
              <a:rPr lang="en-US" altLang="ko-KR" dirty="0"/>
              <a:t>: </a:t>
            </a:r>
            <a:r>
              <a:rPr lang="ko-KR" altLang="en-US" dirty="0"/>
              <a:t>장기파동의 한 국면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기술혁신의 군집현상</a:t>
            </a:r>
            <a:endParaRPr lang="en-US" altLang="ko-KR" dirty="0"/>
          </a:p>
          <a:p>
            <a:pPr lvl="2"/>
            <a:r>
              <a:rPr lang="ko-KR" altLang="en-US" dirty="0" err="1"/>
              <a:t>브로델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물질문명</a:t>
            </a:r>
            <a:r>
              <a:rPr lang="en-US" altLang="ko-KR" dirty="0"/>
              <a:t>(</a:t>
            </a:r>
            <a:r>
              <a:rPr lang="ko-KR" altLang="en-US" dirty="0"/>
              <a:t>장기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시장경제</a:t>
            </a:r>
            <a:r>
              <a:rPr lang="en-US" altLang="ko-KR" dirty="0"/>
              <a:t>(</a:t>
            </a:r>
            <a:r>
              <a:rPr lang="ko-KR" altLang="en-US" dirty="0"/>
              <a:t>중기</a:t>
            </a:r>
            <a:r>
              <a:rPr lang="en-US" altLang="ko-KR" dirty="0"/>
              <a:t>) – </a:t>
            </a:r>
            <a:r>
              <a:rPr lang="ko-KR" altLang="en-US" dirty="0"/>
              <a:t>자본주의</a:t>
            </a:r>
            <a:r>
              <a:rPr lang="en-US" altLang="ko-KR" dirty="0"/>
              <a:t>(</a:t>
            </a:r>
            <a:r>
              <a:rPr lang="ko-KR" altLang="en-US" dirty="0"/>
              <a:t>단기</a:t>
            </a:r>
            <a:r>
              <a:rPr lang="en-US" altLang="ko-KR" dirty="0"/>
              <a:t>)</a:t>
            </a:r>
            <a:r>
              <a:rPr lang="ko-KR" altLang="en-US" dirty="0"/>
              <a:t>로 변화</a:t>
            </a:r>
            <a:br>
              <a:rPr lang="en-US" altLang="ko-KR" dirty="0"/>
            </a:br>
            <a:r>
              <a:rPr lang="ko-KR" altLang="en-US" dirty="0" err="1"/>
              <a:t>콘트라티예프</a:t>
            </a:r>
            <a:r>
              <a:rPr lang="ko-KR" altLang="en-US" dirty="0"/>
              <a:t> 사이클 </a:t>
            </a:r>
            <a:r>
              <a:rPr lang="en-US" altLang="ko-KR" dirty="0"/>
              <a:t>: </a:t>
            </a:r>
            <a:r>
              <a:rPr lang="ko-KR" altLang="en-US" dirty="0"/>
              <a:t>반세기 이상</a:t>
            </a:r>
            <a:r>
              <a:rPr lang="en-US" altLang="ko-KR" dirty="0"/>
              <a:t>; </a:t>
            </a:r>
            <a:r>
              <a:rPr lang="ko-KR" altLang="en-US" dirty="0"/>
              <a:t>장기추세 </a:t>
            </a:r>
            <a:r>
              <a:rPr lang="en-US" altLang="ko-KR" dirty="0"/>
              <a:t>: </a:t>
            </a:r>
            <a:r>
              <a:rPr lang="ko-KR" altLang="en-US" dirty="0"/>
              <a:t>가장 긴 사이클</a:t>
            </a:r>
            <a:endParaRPr lang="en-US" altLang="ko-KR" dirty="0"/>
          </a:p>
          <a:p>
            <a:pPr lvl="2"/>
            <a:r>
              <a:rPr lang="ko-KR" altLang="en-US" dirty="0" err="1"/>
              <a:t>페레즈</a:t>
            </a:r>
            <a:r>
              <a:rPr lang="ko-KR" altLang="en-US" dirty="0"/>
              <a:t> </a:t>
            </a:r>
            <a:r>
              <a:rPr lang="en-US" altLang="ko-KR" dirty="0"/>
              <a:t>: 5</a:t>
            </a:r>
            <a:r>
              <a:rPr lang="ko-KR" altLang="en-US" dirty="0"/>
              <a:t>번의 기술혁명</a:t>
            </a:r>
            <a:br>
              <a:rPr lang="en-US" altLang="ko-KR" dirty="0"/>
            </a:br>
            <a:r>
              <a:rPr lang="en-US" altLang="ko-KR" dirty="0"/>
              <a:t>(1 = </a:t>
            </a:r>
            <a:r>
              <a:rPr lang="ko-KR" altLang="en-US" dirty="0" err="1"/>
              <a:t>산혁</a:t>
            </a:r>
            <a:r>
              <a:rPr lang="en-US" altLang="ko-KR" dirty="0"/>
              <a:t>, 2 = </a:t>
            </a:r>
            <a:r>
              <a:rPr lang="ko-KR" altLang="en-US" dirty="0"/>
              <a:t>증기</a:t>
            </a:r>
            <a:r>
              <a:rPr lang="en-US" altLang="ko-KR" dirty="0"/>
              <a:t>/</a:t>
            </a:r>
            <a:r>
              <a:rPr lang="ko-KR" altLang="en-US" dirty="0"/>
              <a:t>철도</a:t>
            </a:r>
            <a:r>
              <a:rPr lang="en-US" altLang="ko-KR" dirty="0"/>
              <a:t>, 3 = </a:t>
            </a:r>
            <a:r>
              <a:rPr lang="ko-KR" altLang="en-US" dirty="0"/>
              <a:t>철강</a:t>
            </a:r>
            <a:r>
              <a:rPr lang="en-US" altLang="ko-KR" dirty="0"/>
              <a:t>/</a:t>
            </a:r>
            <a:r>
              <a:rPr lang="ko-KR" altLang="en-US" dirty="0"/>
              <a:t>전기</a:t>
            </a:r>
            <a:r>
              <a:rPr lang="en-US" altLang="ko-KR" dirty="0"/>
              <a:t>/</a:t>
            </a:r>
            <a:r>
              <a:rPr lang="ko-KR" altLang="en-US" dirty="0"/>
              <a:t>중공업</a:t>
            </a:r>
            <a:r>
              <a:rPr lang="en-US" altLang="ko-KR" dirty="0"/>
              <a:t>, 4 = </a:t>
            </a:r>
            <a:r>
              <a:rPr lang="ko-KR" altLang="en-US" dirty="0"/>
              <a:t>내연기관</a:t>
            </a:r>
            <a:r>
              <a:rPr lang="en-US" altLang="ko-KR" dirty="0"/>
              <a:t>/</a:t>
            </a:r>
            <a:r>
              <a:rPr lang="ko-KR" altLang="en-US" dirty="0"/>
              <a:t>대량생산 </a:t>
            </a:r>
            <a:r>
              <a:rPr lang="en-US" altLang="ko-KR" dirty="0"/>
              <a:t>5 = </a:t>
            </a:r>
            <a:r>
              <a:rPr lang="ko-KR" altLang="en-US" dirty="0"/>
              <a:t>정보</a:t>
            </a:r>
            <a:r>
              <a:rPr lang="en-US" altLang="ko-KR" dirty="0"/>
              <a:t>/</a:t>
            </a:r>
            <a:r>
              <a:rPr lang="ko-KR" altLang="en-US" dirty="0"/>
              <a:t>통신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기술혁신의 사이클이 주기적으로 갱신</a:t>
            </a:r>
            <a:r>
              <a:rPr lang="en-US" altLang="ko-KR" dirty="0"/>
              <a:t> -&gt; </a:t>
            </a:r>
            <a:r>
              <a:rPr lang="ko-KR" altLang="en-US" dirty="0"/>
              <a:t>어느 시점에서 폭발적 증가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황금기는 장기파동의 상승국면이다</a:t>
            </a:r>
            <a:endParaRPr lang="en-US" altLang="ko-KR" dirty="0"/>
          </a:p>
          <a:p>
            <a:pPr lvl="2"/>
            <a:r>
              <a:rPr lang="ko-KR" altLang="en-US" dirty="0" err="1"/>
              <a:t>콘트라예프</a:t>
            </a:r>
            <a:r>
              <a:rPr lang="ko-KR" altLang="en-US" dirty="0"/>
              <a:t> 사이클</a:t>
            </a:r>
            <a:endParaRPr lang="en-US" altLang="ko-KR" dirty="0"/>
          </a:p>
          <a:p>
            <a:pPr lvl="3"/>
            <a:r>
              <a:rPr lang="ko-KR" altLang="en-US" dirty="0"/>
              <a:t>한계점 </a:t>
            </a:r>
            <a:r>
              <a:rPr lang="en-US" altLang="ko-KR" dirty="0"/>
              <a:t>: </a:t>
            </a:r>
            <a:r>
              <a:rPr lang="ko-KR" altLang="en-US" dirty="0"/>
              <a:t>기술혁신 사이클을 발견 </a:t>
            </a:r>
            <a:r>
              <a:rPr lang="en-US" altLang="ko-KR" dirty="0"/>
              <a:t>BUT, </a:t>
            </a:r>
            <a:r>
              <a:rPr lang="ko-KR" altLang="en-US" dirty="0"/>
              <a:t>원리 모름</a:t>
            </a:r>
            <a:endParaRPr lang="en-US" altLang="ko-KR" dirty="0"/>
          </a:p>
          <a:p>
            <a:pPr lvl="1"/>
            <a:r>
              <a:rPr lang="ko-KR" altLang="en-US" dirty="0"/>
              <a:t>사회적 축적구조로 장기파동 설명 </a:t>
            </a:r>
            <a:r>
              <a:rPr lang="en-US" altLang="ko-KR" dirty="0"/>
              <a:t>(</a:t>
            </a:r>
            <a:r>
              <a:rPr lang="ko-KR" altLang="en-US" dirty="0"/>
              <a:t>마르크스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H : </a:t>
            </a:r>
            <a:r>
              <a:rPr lang="ko-KR" altLang="en-US" dirty="0"/>
              <a:t>노동시간</a:t>
            </a:r>
            <a:br>
              <a:rPr lang="en-US" altLang="ko-KR" dirty="0"/>
            </a:br>
            <a:r>
              <a:rPr lang="el-GR" altLang="ko-KR" dirty="0"/>
              <a:t>π</a:t>
            </a:r>
            <a:r>
              <a:rPr lang="en-US" altLang="ko-KR" dirty="0"/>
              <a:t> : </a:t>
            </a:r>
            <a:r>
              <a:rPr lang="ko-KR" altLang="en-US" dirty="0"/>
              <a:t>자본의 이윤</a:t>
            </a:r>
            <a:br>
              <a:rPr lang="en-US" altLang="ko-KR" dirty="0"/>
            </a:br>
            <a:r>
              <a:rPr lang="en-US" altLang="ko-KR" dirty="0"/>
              <a:t>K : </a:t>
            </a:r>
            <a:r>
              <a:rPr lang="ko-KR" altLang="en-US" dirty="0"/>
              <a:t>자본소득</a:t>
            </a:r>
            <a:br>
              <a:rPr lang="en-US" altLang="ko-KR" dirty="0"/>
            </a:br>
            <a:r>
              <a:rPr lang="en-US" altLang="ko-KR" dirty="0"/>
              <a:t>Y : </a:t>
            </a:r>
            <a:r>
              <a:rPr lang="ko-KR" altLang="en-US" dirty="0"/>
              <a:t>생산</a:t>
            </a:r>
            <a:br>
              <a:rPr lang="en-US" altLang="ko-KR" dirty="0"/>
            </a:br>
            <a:r>
              <a:rPr lang="en-US" altLang="ko-KR" dirty="0"/>
              <a:t>W : </a:t>
            </a:r>
            <a:r>
              <a:rPr lang="ko-KR" altLang="en-US" dirty="0"/>
              <a:t>임금총액</a:t>
            </a:r>
            <a:br>
              <a:rPr lang="en-US" altLang="ko-KR" dirty="0"/>
            </a:br>
            <a:r>
              <a:rPr lang="en-US" altLang="ko-KR" dirty="0"/>
              <a:t>K+L -&gt; Y = </a:t>
            </a:r>
            <a:r>
              <a:rPr lang="el-GR" altLang="ko-KR" dirty="0"/>
              <a:t>π</a:t>
            </a:r>
            <a:r>
              <a:rPr lang="en-US" altLang="ko-KR" dirty="0"/>
              <a:t> + W</a:t>
            </a:r>
          </a:p>
          <a:p>
            <a:pPr lvl="2"/>
            <a:r>
              <a:rPr lang="ko-KR" altLang="en-US" dirty="0" err="1"/>
              <a:t>이윤률</a:t>
            </a:r>
            <a:r>
              <a:rPr lang="en-US" altLang="ko-KR" dirty="0"/>
              <a:t>(</a:t>
            </a:r>
            <a:r>
              <a:rPr lang="el-GR" altLang="ko-KR" dirty="0"/>
              <a:t>π</a:t>
            </a:r>
            <a:r>
              <a:rPr lang="en-US" altLang="ko-KR" dirty="0"/>
              <a:t>/K) = </a:t>
            </a:r>
            <a:r>
              <a:rPr lang="ko-KR" altLang="en-US" dirty="0" err="1"/>
              <a:t>이윤몫</a:t>
            </a:r>
            <a:r>
              <a:rPr lang="en-US" altLang="ko-KR" dirty="0"/>
              <a:t>(</a:t>
            </a:r>
            <a:r>
              <a:rPr lang="el-GR" altLang="ko-KR" dirty="0"/>
              <a:t>π</a:t>
            </a:r>
            <a:r>
              <a:rPr lang="en-US" altLang="ko-KR" dirty="0"/>
              <a:t>/Y) * </a:t>
            </a:r>
            <a:r>
              <a:rPr lang="ko-KR" altLang="en-US" dirty="0"/>
              <a:t>산출자본비율 </a:t>
            </a:r>
            <a:r>
              <a:rPr lang="en-US" altLang="ko-KR" dirty="0"/>
              <a:t>(Y/K)</a:t>
            </a:r>
            <a:br>
              <a:rPr lang="en-US" altLang="ko-KR" dirty="0"/>
            </a:br>
            <a:r>
              <a:rPr lang="ko-KR" altLang="en-US" dirty="0" err="1"/>
              <a:t>이윤몫</a:t>
            </a:r>
            <a:r>
              <a:rPr lang="en-US" altLang="ko-KR" dirty="0"/>
              <a:t>(</a:t>
            </a:r>
            <a:r>
              <a:rPr lang="el-GR" altLang="ko-KR" dirty="0"/>
              <a:t>π</a:t>
            </a:r>
            <a:r>
              <a:rPr lang="en-US" altLang="ko-KR" dirty="0"/>
              <a:t>/Y) = 1 - </a:t>
            </a:r>
            <a:r>
              <a:rPr lang="ko-KR" altLang="en-US" dirty="0" err="1"/>
              <a:t>임금몫</a:t>
            </a:r>
            <a:r>
              <a:rPr lang="en-US" altLang="ko-KR" dirty="0"/>
              <a:t>(W/Y)</a:t>
            </a:r>
            <a:br>
              <a:rPr lang="en-US" altLang="ko-KR" dirty="0"/>
            </a:br>
            <a:r>
              <a:rPr lang="en-US" altLang="ko-KR" dirty="0"/>
              <a:t>	        = 1 - </a:t>
            </a:r>
            <a:r>
              <a:rPr lang="ko-KR" altLang="en-US" dirty="0"/>
              <a:t>시간당 임금</a:t>
            </a:r>
            <a:r>
              <a:rPr lang="en-US" altLang="ko-KR" dirty="0"/>
              <a:t>(W/H) * </a:t>
            </a:r>
            <a:r>
              <a:rPr lang="ko-KR" altLang="en-US" dirty="0"/>
              <a:t>노동생산성의 역수</a:t>
            </a:r>
            <a:r>
              <a:rPr lang="en-US" altLang="ko-KR" dirty="0"/>
              <a:t>(H/Y)</a:t>
            </a:r>
          </a:p>
          <a:p>
            <a:pPr lvl="2"/>
            <a:r>
              <a:rPr lang="ko-KR" altLang="en-US" dirty="0"/>
              <a:t>순환적 침체기 </a:t>
            </a:r>
            <a:r>
              <a:rPr lang="en-US" altLang="ko-KR" dirty="0"/>
              <a:t>: Y/K, </a:t>
            </a:r>
            <a:r>
              <a:rPr lang="el-GR" altLang="ko-KR" dirty="0"/>
              <a:t>π</a:t>
            </a:r>
            <a:r>
              <a:rPr lang="en-US" altLang="ko-KR" dirty="0"/>
              <a:t>/K </a:t>
            </a:r>
            <a:r>
              <a:rPr lang="ko-KR" altLang="en-US" dirty="0"/>
              <a:t>하락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고비용 기업</a:t>
            </a:r>
            <a:r>
              <a:rPr lang="en-US" altLang="ko-KR" dirty="0"/>
              <a:t>/</a:t>
            </a:r>
            <a:r>
              <a:rPr lang="ko-KR" altLang="en-US" dirty="0"/>
              <a:t>생산과정 퇴출 </a:t>
            </a:r>
            <a:r>
              <a:rPr lang="en-US" altLang="ko-KR" dirty="0"/>
              <a:t>-&gt; Y/K </a:t>
            </a:r>
            <a:r>
              <a:rPr lang="ko-KR" altLang="en-US" dirty="0"/>
              <a:t>상승</a:t>
            </a:r>
            <a:br>
              <a:rPr lang="en-US" altLang="ko-KR" dirty="0"/>
            </a:br>
            <a:r>
              <a:rPr lang="en-US" altLang="ko-KR" dirty="0"/>
              <a:t>2) W/H </a:t>
            </a:r>
            <a:r>
              <a:rPr lang="ko-KR" altLang="en-US" dirty="0"/>
              <a:t>하락 </a:t>
            </a:r>
            <a:r>
              <a:rPr lang="en-US" altLang="ko-KR" dirty="0"/>
              <a:t>-&gt; Y/H </a:t>
            </a:r>
            <a:r>
              <a:rPr lang="ko-KR" altLang="en-US" dirty="0"/>
              <a:t>상승 </a:t>
            </a:r>
            <a:r>
              <a:rPr lang="en-US" altLang="ko-KR" dirty="0"/>
              <a:t>-&gt; </a:t>
            </a:r>
            <a:r>
              <a:rPr lang="el-GR" altLang="ko-KR" dirty="0"/>
              <a:t>π</a:t>
            </a:r>
            <a:r>
              <a:rPr lang="en-US" altLang="ko-KR" dirty="0"/>
              <a:t>/Y -&gt; </a:t>
            </a:r>
            <a:r>
              <a:rPr lang="el-GR" altLang="ko-KR" dirty="0"/>
              <a:t>π</a:t>
            </a:r>
            <a:r>
              <a:rPr lang="en-US" altLang="ko-KR" dirty="0"/>
              <a:t>/K </a:t>
            </a:r>
            <a:r>
              <a:rPr lang="ko-KR" altLang="en-US" dirty="0"/>
              <a:t>상승</a:t>
            </a:r>
            <a:br>
              <a:rPr lang="en-US" altLang="ko-KR" dirty="0"/>
            </a:br>
            <a:r>
              <a:rPr lang="ko-KR" altLang="en-US" dirty="0"/>
              <a:t>결론적으로 </a:t>
            </a:r>
            <a:r>
              <a:rPr lang="en-US" altLang="ko-KR" dirty="0"/>
              <a:t>Y/K, </a:t>
            </a:r>
            <a:r>
              <a:rPr lang="el-GR" altLang="ko-KR" dirty="0"/>
              <a:t>π</a:t>
            </a:r>
            <a:r>
              <a:rPr lang="en-US" altLang="ko-KR" dirty="0"/>
              <a:t>/K </a:t>
            </a:r>
            <a:r>
              <a:rPr lang="ko-KR" altLang="en-US" dirty="0"/>
              <a:t>하락 </a:t>
            </a:r>
            <a:r>
              <a:rPr lang="en-US" altLang="ko-KR" dirty="0"/>
              <a:t>-&gt; </a:t>
            </a:r>
            <a:r>
              <a:rPr lang="ko-KR" altLang="en-US" dirty="0"/>
              <a:t>상승 </a:t>
            </a:r>
            <a:r>
              <a:rPr lang="en-US" altLang="ko-KR" dirty="0"/>
              <a:t>; </a:t>
            </a:r>
            <a:r>
              <a:rPr lang="ko-KR" altLang="en-US" dirty="0"/>
              <a:t>상승시기 </a:t>
            </a:r>
            <a:r>
              <a:rPr lang="en-US" altLang="ko-KR" dirty="0"/>
              <a:t>= </a:t>
            </a:r>
            <a:r>
              <a:rPr lang="ko-KR" altLang="en-US" dirty="0"/>
              <a:t>황금기</a:t>
            </a:r>
          </a:p>
          <a:p>
            <a:pPr lvl="2"/>
            <a:r>
              <a:rPr lang="ko-KR" altLang="en-US" dirty="0"/>
              <a:t>황금기 적용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임금상승유인 증가 </a:t>
            </a:r>
            <a:r>
              <a:rPr lang="en-US" altLang="ko-KR" dirty="0"/>
              <a:t>-&gt; </a:t>
            </a:r>
            <a:r>
              <a:rPr lang="ko-KR" altLang="en-US" dirty="0"/>
              <a:t>대공황 기억 </a:t>
            </a:r>
            <a:r>
              <a:rPr lang="en-US" altLang="ko-KR" dirty="0"/>
              <a:t>-&gt; </a:t>
            </a:r>
            <a:r>
              <a:rPr lang="ko-KR" altLang="en-US" dirty="0"/>
              <a:t>임금상세 억제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포디즘</a:t>
            </a:r>
            <a:r>
              <a:rPr lang="en-US" altLang="ko-KR" dirty="0"/>
              <a:t>+</a:t>
            </a:r>
            <a:r>
              <a:rPr lang="ko-KR" altLang="en-US" dirty="0" err="1"/>
              <a:t>테일러즘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노동생산성 증가</a:t>
            </a:r>
            <a:br>
              <a:rPr lang="en-US" altLang="ko-KR" dirty="0"/>
            </a:br>
            <a:r>
              <a:rPr lang="en-US" altLang="ko-KR" dirty="0"/>
              <a:t>1), 2)</a:t>
            </a:r>
            <a:r>
              <a:rPr lang="ko-KR" altLang="en-US" dirty="0"/>
              <a:t>에 따르면 </a:t>
            </a:r>
            <a:r>
              <a:rPr lang="ko-KR" altLang="en-US" dirty="0" err="1"/>
              <a:t>이윤률</a:t>
            </a:r>
            <a:r>
              <a:rPr lang="ko-KR" altLang="en-US" dirty="0"/>
              <a:t> 증가</a:t>
            </a:r>
            <a:br>
              <a:rPr lang="ko-KR" altLang="en-US" dirty="0"/>
            </a:br>
            <a:endParaRPr lang="ko-KR" altLang="en-US" dirty="0"/>
          </a:p>
          <a:p>
            <a:pPr lvl="2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30EF7A-B098-8BFF-5F28-4ECD13AF3B0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9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D17B2FA-01CC-7AF9-364E-9FD4B9C5C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4E77FD5-AFAF-C448-33F0-F8ED2FAF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0DEE43-F643-8BE6-9707-CAF1E94E14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6953362-AE94-616C-F3A5-F428FFE623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자본주의 황금기 원인 </a:t>
            </a:r>
            <a:r>
              <a:rPr lang="en-US" altLang="ko-KR" dirty="0"/>
              <a:t>: </a:t>
            </a:r>
            <a:r>
              <a:rPr lang="ko-KR" altLang="en-US" dirty="0"/>
              <a:t>따라잡기와 수렴현상</a:t>
            </a:r>
            <a:endParaRPr lang="en-US" altLang="ko-KR" dirty="0"/>
          </a:p>
          <a:p>
            <a:pPr lvl="1"/>
            <a:r>
              <a:rPr lang="ko-KR" altLang="en-US" dirty="0"/>
              <a:t>선진국의 미국 따라잡기</a:t>
            </a:r>
            <a:endParaRPr lang="en-US" altLang="ko-KR" dirty="0"/>
          </a:p>
          <a:p>
            <a:pPr lvl="2"/>
            <a:r>
              <a:rPr lang="ko-KR" altLang="en-US" dirty="0"/>
              <a:t>유럽열강</a:t>
            </a:r>
            <a:r>
              <a:rPr lang="en-US" altLang="ko-KR" dirty="0"/>
              <a:t>, </a:t>
            </a:r>
            <a:r>
              <a:rPr lang="ko-KR" altLang="en-US" dirty="0"/>
              <a:t>일본 </a:t>
            </a:r>
            <a:r>
              <a:rPr lang="en-US" altLang="ko-KR" dirty="0"/>
              <a:t>-&gt; </a:t>
            </a:r>
            <a:r>
              <a:rPr lang="ko-KR" altLang="en-US" dirty="0"/>
              <a:t>미국 따라잡기</a:t>
            </a:r>
            <a:endParaRPr lang="en-US" altLang="ko-KR" dirty="0"/>
          </a:p>
          <a:p>
            <a:pPr lvl="2"/>
            <a:r>
              <a:rPr lang="ko-KR" altLang="en-US" dirty="0"/>
              <a:t>성장회계 </a:t>
            </a:r>
            <a:r>
              <a:rPr lang="en-US" altLang="ko-KR" dirty="0"/>
              <a:t>: </a:t>
            </a:r>
            <a:r>
              <a:rPr lang="ko-KR" altLang="en-US" dirty="0"/>
              <a:t>영</a:t>
            </a:r>
            <a:r>
              <a:rPr lang="en-US" altLang="ko-KR" dirty="0"/>
              <a:t>/</a:t>
            </a:r>
            <a:r>
              <a:rPr lang="ko-KR" altLang="en-US" dirty="0" err="1"/>
              <a:t>프</a:t>
            </a:r>
            <a:r>
              <a:rPr lang="en-US" altLang="ko-KR" dirty="0"/>
              <a:t>/</a:t>
            </a:r>
            <a:r>
              <a:rPr lang="ko-KR" altLang="en-US" dirty="0"/>
              <a:t>독</a:t>
            </a:r>
            <a:r>
              <a:rPr lang="en-US" altLang="ko-KR" dirty="0"/>
              <a:t>/</a:t>
            </a:r>
            <a:r>
              <a:rPr lang="ko-KR" altLang="en-US" dirty="0" err="1"/>
              <a:t>네덜</a:t>
            </a:r>
            <a:r>
              <a:rPr lang="en-US" altLang="ko-KR" dirty="0"/>
              <a:t>/</a:t>
            </a:r>
            <a:r>
              <a:rPr lang="ko-KR" altLang="en-US" dirty="0"/>
              <a:t>일 </a:t>
            </a:r>
            <a:r>
              <a:rPr lang="en-US" altLang="ko-KR" dirty="0"/>
              <a:t>GDP </a:t>
            </a:r>
            <a:r>
              <a:rPr lang="ko-KR" altLang="en-US" dirty="0"/>
              <a:t>성장요인 </a:t>
            </a:r>
            <a:r>
              <a:rPr lang="en-US" altLang="ko-KR" dirty="0"/>
              <a:t>= TFP(</a:t>
            </a:r>
            <a:r>
              <a:rPr lang="ko-KR" altLang="en-US" dirty="0"/>
              <a:t>생산성</a:t>
            </a:r>
            <a:r>
              <a:rPr lang="en-US" altLang="ko-KR" dirty="0"/>
              <a:t>) </a:t>
            </a:r>
            <a:r>
              <a:rPr lang="ko-KR" altLang="en-US" dirty="0"/>
              <a:t>향상</a:t>
            </a:r>
            <a:endParaRPr lang="en-US" altLang="ko-KR" dirty="0"/>
          </a:p>
          <a:p>
            <a:pPr lvl="1"/>
            <a:r>
              <a:rPr lang="ko-KR" altLang="en-US" dirty="0" err="1"/>
              <a:t>아브라모비츠의</a:t>
            </a:r>
            <a:r>
              <a:rPr lang="ko-KR" altLang="en-US" dirty="0"/>
              <a:t> 사회적 성장능력</a:t>
            </a:r>
            <a:endParaRPr lang="en-US" altLang="ko-KR" dirty="0"/>
          </a:p>
          <a:p>
            <a:pPr lvl="2"/>
            <a:r>
              <a:rPr lang="ko-KR" altLang="en-US" dirty="0"/>
              <a:t>인적자본</a:t>
            </a:r>
            <a:endParaRPr lang="en-US" altLang="ko-KR" dirty="0"/>
          </a:p>
          <a:p>
            <a:pPr lvl="2"/>
            <a:r>
              <a:rPr lang="ko-KR" altLang="en-US" dirty="0"/>
              <a:t>대량생산기술 </a:t>
            </a:r>
            <a:r>
              <a:rPr lang="en-US" altLang="ko-KR" dirty="0"/>
              <a:t>+ </a:t>
            </a:r>
            <a:r>
              <a:rPr lang="ko-KR" altLang="en-US" dirty="0"/>
              <a:t>소득탄력성이 큰 수요패턴</a:t>
            </a:r>
            <a:endParaRPr lang="en-US" altLang="ko-KR" dirty="0"/>
          </a:p>
          <a:p>
            <a:pPr lvl="2"/>
            <a:r>
              <a:rPr lang="ko-KR" altLang="en-US" dirty="0"/>
              <a:t>전후처리에서 정치적 안정 보장</a:t>
            </a:r>
            <a:endParaRPr lang="en-US" altLang="ko-KR" dirty="0"/>
          </a:p>
          <a:p>
            <a:pPr lvl="2"/>
            <a:r>
              <a:rPr lang="ko-KR" altLang="en-US" dirty="0"/>
              <a:t>협동적 노동시장</a:t>
            </a:r>
            <a:endParaRPr lang="en-US" altLang="ko-KR" dirty="0"/>
          </a:p>
          <a:p>
            <a:r>
              <a:rPr lang="ko-KR" altLang="en-US" dirty="0"/>
              <a:t>자본주의 황금기 원인 </a:t>
            </a:r>
            <a:r>
              <a:rPr lang="en-US" altLang="ko-KR" dirty="0"/>
              <a:t>: </a:t>
            </a:r>
            <a:r>
              <a:rPr lang="ko-KR" altLang="en-US" dirty="0"/>
              <a:t>협조균형가설</a:t>
            </a:r>
            <a:r>
              <a:rPr lang="en-US" altLang="ko-KR" dirty="0"/>
              <a:t>(</a:t>
            </a:r>
            <a:r>
              <a:rPr lang="ko-KR" altLang="en-US" dirty="0" err="1"/>
              <a:t>아이켄그린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자본가</a:t>
            </a:r>
            <a:r>
              <a:rPr lang="en-US" altLang="ko-KR" dirty="0"/>
              <a:t>, </a:t>
            </a:r>
            <a:r>
              <a:rPr lang="ko-KR" altLang="en-US" dirty="0"/>
              <a:t>노동자간 동태적 게임에서 고성장 협조균형 달성</a:t>
            </a:r>
            <a:endParaRPr lang="en-US" altLang="ko-KR" dirty="0"/>
          </a:p>
          <a:p>
            <a:pPr lvl="2"/>
            <a:r>
              <a:rPr lang="ko-KR" altLang="en-US" dirty="0"/>
              <a:t>노동자 </a:t>
            </a:r>
            <a:r>
              <a:rPr lang="en-US" altLang="ko-KR" dirty="0"/>
              <a:t>= </a:t>
            </a:r>
            <a:r>
              <a:rPr lang="ko-KR" altLang="en-US" dirty="0"/>
              <a:t>임금인상 </a:t>
            </a:r>
            <a:r>
              <a:rPr lang="en-US" altLang="ko-KR" dirty="0"/>
              <a:t>X, </a:t>
            </a:r>
            <a:r>
              <a:rPr lang="ko-KR" altLang="en-US" dirty="0"/>
              <a:t>자본가 </a:t>
            </a:r>
            <a:r>
              <a:rPr lang="en-US" altLang="ko-KR" dirty="0"/>
              <a:t>= </a:t>
            </a:r>
            <a:r>
              <a:rPr lang="ko-KR" altLang="en-US" dirty="0"/>
              <a:t>투자 </a:t>
            </a:r>
            <a:r>
              <a:rPr lang="en-US" altLang="ko-KR" dirty="0"/>
              <a:t>-&gt; </a:t>
            </a:r>
            <a:r>
              <a:rPr lang="ko-KR" altLang="en-US" dirty="0"/>
              <a:t>고성장</a:t>
            </a:r>
            <a:endParaRPr lang="en-US" altLang="ko-KR" dirty="0"/>
          </a:p>
          <a:p>
            <a:pPr lvl="2"/>
            <a:r>
              <a:rPr lang="ko-KR" altLang="en-US" dirty="0"/>
              <a:t>노동자 </a:t>
            </a:r>
            <a:r>
              <a:rPr lang="en-US" altLang="ko-KR" dirty="0"/>
              <a:t>= </a:t>
            </a:r>
            <a:r>
              <a:rPr lang="ko-KR" altLang="en-US" dirty="0"/>
              <a:t>임금인상 </a:t>
            </a:r>
            <a:r>
              <a:rPr lang="en-US" altLang="ko-KR" dirty="0"/>
              <a:t>O, </a:t>
            </a:r>
            <a:r>
              <a:rPr lang="ko-KR" altLang="en-US" dirty="0"/>
              <a:t>자본가 </a:t>
            </a:r>
            <a:r>
              <a:rPr lang="en-US" altLang="ko-KR" dirty="0"/>
              <a:t>= </a:t>
            </a:r>
            <a:r>
              <a:rPr lang="ko-KR" altLang="en-US" dirty="0"/>
              <a:t>배당 </a:t>
            </a:r>
            <a:r>
              <a:rPr lang="en-US" altLang="ko-KR" dirty="0"/>
              <a:t>-&gt; </a:t>
            </a:r>
            <a:r>
              <a:rPr lang="ko-KR" altLang="en-US" dirty="0"/>
              <a:t>저성장 </a:t>
            </a:r>
            <a:r>
              <a:rPr lang="ko-KR" altLang="en-US" dirty="0" err="1"/>
              <a:t>저투자</a:t>
            </a:r>
            <a:endParaRPr lang="en-US" altLang="ko-KR" dirty="0"/>
          </a:p>
          <a:p>
            <a:pPr lvl="1"/>
            <a:r>
              <a:rPr lang="ko-KR" altLang="en-US" dirty="0"/>
              <a:t>왜 협조균형이 가능했나</a:t>
            </a:r>
            <a:r>
              <a:rPr lang="en-US" altLang="ko-KR" dirty="0"/>
              <a:t>? 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임금관련제도 </a:t>
            </a:r>
            <a:r>
              <a:rPr lang="en-US" altLang="ko-KR" dirty="0"/>
              <a:t>: </a:t>
            </a:r>
            <a:r>
              <a:rPr lang="ko-KR" altLang="en-US" dirty="0"/>
              <a:t>장기계약</a:t>
            </a:r>
            <a:r>
              <a:rPr lang="en-US" altLang="ko-KR" dirty="0"/>
              <a:t>, </a:t>
            </a:r>
            <a:r>
              <a:rPr lang="ko-KR" altLang="en-US" dirty="0" err="1"/>
              <a:t>노사정</a:t>
            </a:r>
            <a:r>
              <a:rPr lang="ko-KR" altLang="en-US" dirty="0"/>
              <a:t> 협의체</a:t>
            </a:r>
            <a:endParaRPr lang="en-US" altLang="ko-KR" dirty="0"/>
          </a:p>
          <a:p>
            <a:pPr lvl="2"/>
            <a:r>
              <a:rPr lang="ko-KR" altLang="en-US" dirty="0"/>
              <a:t>무역촉진제도</a:t>
            </a:r>
            <a:endParaRPr lang="en-US" altLang="ko-KR" dirty="0"/>
          </a:p>
          <a:p>
            <a:r>
              <a:rPr lang="ko-KR" altLang="en-US" dirty="0"/>
              <a:t>자본주의 황금기 원인 </a:t>
            </a:r>
            <a:r>
              <a:rPr lang="en-US" altLang="ko-KR" dirty="0"/>
              <a:t>: </a:t>
            </a:r>
            <a:r>
              <a:rPr lang="ko-KR" altLang="en-US" dirty="0"/>
              <a:t>그 외 원인들</a:t>
            </a:r>
            <a:endParaRPr lang="en-US" altLang="ko-KR" dirty="0"/>
          </a:p>
          <a:p>
            <a:pPr lvl="1"/>
            <a:r>
              <a:rPr lang="ko-KR" altLang="en-US" dirty="0"/>
              <a:t>신성장이론</a:t>
            </a:r>
            <a:endParaRPr lang="en-US" altLang="ko-KR" dirty="0"/>
          </a:p>
          <a:p>
            <a:pPr lvl="2"/>
            <a:r>
              <a:rPr lang="ko-KR" altLang="en-US" dirty="0"/>
              <a:t>솔로우모형 </a:t>
            </a:r>
            <a:r>
              <a:rPr lang="en-US" altLang="ko-KR" dirty="0"/>
              <a:t>: Y=AF(L,K) ; </a:t>
            </a:r>
            <a:r>
              <a:rPr lang="ko-KR" altLang="en-US" dirty="0"/>
              <a:t>비판 </a:t>
            </a:r>
            <a:r>
              <a:rPr lang="en-US" altLang="ko-KR" dirty="0"/>
              <a:t>= </a:t>
            </a:r>
            <a:r>
              <a:rPr lang="ko-KR" altLang="en-US" dirty="0"/>
              <a:t>기술혁신</a:t>
            </a:r>
            <a:r>
              <a:rPr lang="en-US" altLang="ko-KR" dirty="0"/>
              <a:t>(A)</a:t>
            </a:r>
            <a:r>
              <a:rPr lang="ko-KR" altLang="en-US" dirty="0"/>
              <a:t>이 외생적</a:t>
            </a:r>
            <a:endParaRPr lang="en-US" altLang="ko-KR" dirty="0"/>
          </a:p>
          <a:p>
            <a:pPr lvl="2"/>
            <a:r>
              <a:rPr lang="ko-KR" altLang="en-US" dirty="0"/>
              <a:t>신성장이론 </a:t>
            </a:r>
            <a:r>
              <a:rPr lang="en-US" altLang="ko-KR" dirty="0"/>
              <a:t>: </a:t>
            </a:r>
            <a:r>
              <a:rPr lang="ko-KR" altLang="en-US" dirty="0"/>
              <a:t>인적자본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  <a:r>
              <a:rPr lang="en-US" altLang="ko-KR" dirty="0"/>
              <a:t>, </a:t>
            </a:r>
            <a:r>
              <a:rPr lang="ko-KR" altLang="en-US" dirty="0"/>
              <a:t>제도를 이용해 설명</a:t>
            </a:r>
            <a:r>
              <a:rPr lang="en-US" altLang="ko-KR" dirty="0"/>
              <a:t>; </a:t>
            </a:r>
            <a:r>
              <a:rPr lang="ko-KR" altLang="en-US" dirty="0"/>
              <a:t>비판 </a:t>
            </a:r>
            <a:r>
              <a:rPr lang="en-US" altLang="ko-KR" dirty="0"/>
              <a:t>= </a:t>
            </a:r>
            <a:r>
              <a:rPr lang="ko-KR" altLang="en-US" dirty="0"/>
              <a:t>어떻게 측정하나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One big wave (Gordon)</a:t>
            </a:r>
          </a:p>
          <a:p>
            <a:pPr lvl="2"/>
            <a:r>
              <a:rPr lang="ko-KR" altLang="en-US" dirty="0"/>
              <a:t>기술진보는 하나의 큰 상승</a:t>
            </a:r>
            <a:r>
              <a:rPr lang="en-US" altLang="ko-KR" dirty="0"/>
              <a:t>-</a:t>
            </a:r>
            <a:r>
              <a:rPr lang="ko-KR" altLang="en-US" dirty="0"/>
              <a:t>하강만 있고 고점은 자본주의 황금기다</a:t>
            </a:r>
            <a:endParaRPr lang="en-US" altLang="ko-KR" dirty="0"/>
          </a:p>
          <a:p>
            <a:pPr lvl="2"/>
            <a:r>
              <a:rPr lang="en-US" altLang="ko-KR" dirty="0"/>
              <a:t>4</a:t>
            </a:r>
            <a:r>
              <a:rPr lang="ko-KR" altLang="en-US" dirty="0"/>
              <a:t>대 </a:t>
            </a:r>
            <a:r>
              <a:rPr lang="ko-KR" altLang="en-US" dirty="0" err="1"/>
              <a:t>발명군집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전기</a:t>
            </a:r>
            <a:r>
              <a:rPr lang="en-US" altLang="ko-KR" dirty="0"/>
              <a:t>,</a:t>
            </a:r>
            <a:r>
              <a:rPr lang="ko-KR" altLang="en-US" dirty="0"/>
              <a:t>내연기관</a:t>
            </a:r>
            <a:r>
              <a:rPr lang="en-US" altLang="ko-KR" dirty="0"/>
              <a:t>,</a:t>
            </a:r>
            <a:r>
              <a:rPr lang="ko-KR" altLang="en-US" dirty="0"/>
              <a:t>석유와 분자 재배열 공장</a:t>
            </a:r>
            <a:r>
              <a:rPr lang="en-US" altLang="ko-KR" dirty="0"/>
              <a:t>,</a:t>
            </a:r>
            <a:r>
              <a:rPr lang="ko-KR" altLang="en-US" dirty="0"/>
              <a:t>오락</a:t>
            </a:r>
            <a:r>
              <a:rPr lang="en-US" altLang="ko-KR" dirty="0"/>
              <a:t>/</a:t>
            </a:r>
            <a:r>
              <a:rPr lang="ko-KR" altLang="en-US"/>
              <a:t>통신</a:t>
            </a:r>
            <a:r>
              <a:rPr lang="en-US" altLang="ko-KR"/>
              <a:t>/</a:t>
            </a:r>
            <a:r>
              <a:rPr lang="ko-KR" altLang="en-US"/>
              <a:t>정보혁신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2BE4DE-977B-7C10-44F5-8C4E0135E3F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52472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15730</TotalTime>
  <Words>803</Words>
  <Application>Microsoft Office PowerPoint</Application>
  <PresentationFormat>A4 용지(210x297mm)</PresentationFormat>
  <Paragraphs>81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디자인 사용자 지정</vt:lpstr>
      <vt:lpstr>자본주의 황금기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535</cp:revision>
  <dcterms:created xsi:type="dcterms:W3CDTF">2021-05-24T07:27:04Z</dcterms:created>
  <dcterms:modified xsi:type="dcterms:W3CDTF">2024-11-22T00:57:31Z</dcterms:modified>
</cp:coreProperties>
</file>