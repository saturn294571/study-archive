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0"/>
  </p:notesMasterIdLst>
  <p:sldIdLst>
    <p:sldId id="279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80" r:id="rId10"/>
    <p:sldId id="283" r:id="rId11"/>
    <p:sldId id="284" r:id="rId12"/>
    <p:sldId id="285" r:id="rId13"/>
    <p:sldId id="286" r:id="rId14"/>
    <p:sldId id="289" r:id="rId15"/>
    <p:sldId id="290" r:id="rId16"/>
    <p:sldId id="296" r:id="rId17"/>
    <p:sldId id="288" r:id="rId18"/>
    <p:sldId id="295" r:id="rId19"/>
  </p:sldIdLst>
  <p:sldSz cx="6858000" cy="9906000" type="A4"/>
  <p:notesSz cx="6888163" cy="10020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9" autoAdjust="0"/>
    <p:restoredTop sz="96234" autoAdjust="0"/>
  </p:normalViewPr>
  <p:slideViewPr>
    <p:cSldViewPr>
      <p:cViewPr varScale="1">
        <p:scale>
          <a:sx n="76" d="100"/>
          <a:sy n="76" d="100"/>
        </p:scale>
        <p:origin x="2419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3083B312-57A8-47C3-BA4B-2C813ABC4C95}" type="datetimeFigureOut">
              <a:rPr lang="ko-KR" altLang="en-US" smtClean="0"/>
              <a:t>2024-10-25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74888" y="1252538"/>
            <a:ext cx="23383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2024-10-25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2024-10-25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2024-10-25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3C3B848-4D6F-C172-8F38-607B414B9A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0FF37DE-48ED-87FD-6560-D2D02BF69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DC5C55-4DF7-E165-1285-C6C9FFB122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7C45F16-24DD-EA11-BD5A-CB753761AA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 err="1"/>
              <a:t>글경론</a:t>
            </a:r>
            <a:r>
              <a:rPr lang="ko-KR" altLang="en-US" dirty="0"/>
              <a:t> 중간</a:t>
            </a:r>
            <a:endParaRPr lang="en-US" altLang="ko-KR" dirty="0"/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주차 </a:t>
            </a:r>
            <a:r>
              <a:rPr lang="en-US" altLang="ko-KR" dirty="0"/>
              <a:t>: </a:t>
            </a:r>
            <a:r>
              <a:rPr lang="ko-KR" altLang="en-US" dirty="0"/>
              <a:t>개요</a:t>
            </a:r>
            <a:endParaRPr lang="en-US" altLang="ko-KR" dirty="0"/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주차 </a:t>
            </a:r>
            <a:r>
              <a:rPr lang="en-US" altLang="ko-KR" dirty="0"/>
              <a:t>: </a:t>
            </a:r>
            <a:r>
              <a:rPr lang="ko-KR" altLang="en-US" dirty="0"/>
              <a:t>근대국민국가 성립</a:t>
            </a:r>
            <a:r>
              <a:rPr lang="en-US" altLang="ko-KR" dirty="0"/>
              <a:t>, 1</a:t>
            </a:r>
            <a:r>
              <a:rPr lang="ko-KR" altLang="en-US" dirty="0"/>
              <a:t>차 세계화</a:t>
            </a:r>
            <a:endParaRPr lang="en-US" altLang="ko-KR" dirty="0"/>
          </a:p>
          <a:p>
            <a:pPr lvl="1"/>
            <a:r>
              <a:rPr lang="en-US" altLang="ko-KR" dirty="0"/>
              <a:t>3</a:t>
            </a:r>
            <a:r>
              <a:rPr lang="ko-KR" altLang="en-US" dirty="0"/>
              <a:t>주차</a:t>
            </a:r>
            <a:r>
              <a:rPr lang="en-US" altLang="ko-KR" dirty="0"/>
              <a:t> : </a:t>
            </a:r>
            <a:r>
              <a:rPr lang="ko-KR" altLang="en-US" dirty="0" err="1"/>
              <a:t>전간기</a:t>
            </a:r>
            <a:endParaRPr lang="en-US" altLang="ko-KR" dirty="0"/>
          </a:p>
          <a:p>
            <a:pPr lvl="1"/>
            <a:r>
              <a:rPr lang="en-US" altLang="ko-KR" dirty="0"/>
              <a:t>4</a:t>
            </a:r>
            <a:r>
              <a:rPr lang="ko-KR" altLang="en-US" dirty="0"/>
              <a:t>주차 </a:t>
            </a:r>
            <a:r>
              <a:rPr lang="en-US" altLang="ko-KR" dirty="0"/>
              <a:t>: </a:t>
            </a:r>
            <a:r>
              <a:rPr lang="ko-KR" altLang="en-US" dirty="0"/>
              <a:t>대공황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4848A68-6C9B-65D7-94E6-434B1275A08B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5091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AD77F37-DEB4-7276-8D80-94258071AB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FC7689F-CD02-3F6B-86D3-AF7DFBE47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글로벌경제론 개요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CD1876-69E6-47C7-D13F-5433392610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국부론의 출간과 영국 제국주의의 태동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차세계화 이전의 영국 제국주의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차 대전</a:t>
            </a:r>
            <a:r>
              <a:rPr lang="en-US" altLang="ko-KR" dirty="0"/>
              <a:t>, </a:t>
            </a:r>
            <a:r>
              <a:rPr lang="ko-KR" altLang="en-US" dirty="0" err="1"/>
              <a:t>전간기</a:t>
            </a:r>
            <a:r>
              <a:rPr lang="en-US" altLang="ko-KR" dirty="0"/>
              <a:t>, 2</a:t>
            </a:r>
            <a:r>
              <a:rPr lang="ko-KR" altLang="en-US" dirty="0"/>
              <a:t>차대전과 미국중심의 질서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전후복구와 냉전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브레튼우즈</a:t>
            </a:r>
            <a:r>
              <a:rPr lang="ko-KR" altLang="en-US" dirty="0"/>
              <a:t> 시스템 붕괴와 </a:t>
            </a:r>
            <a:r>
              <a:rPr lang="en-US" altLang="ko-KR" dirty="0"/>
              <a:t>2</a:t>
            </a:r>
            <a:r>
              <a:rPr lang="ko-KR" altLang="en-US" dirty="0"/>
              <a:t>차 세계화</a:t>
            </a:r>
            <a:endParaRPr lang="en-US" altLang="ko-KR" dirty="0"/>
          </a:p>
          <a:p>
            <a:r>
              <a:rPr lang="ko-KR" altLang="en-US" dirty="0"/>
              <a:t>서브프라임 모기지론과 현재</a:t>
            </a:r>
            <a:endParaRPr lang="en-US" altLang="ko-KR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4722103-2419-A61A-40C1-2006076E9F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국부론의 출간과 자유무역</a:t>
            </a:r>
            <a:r>
              <a:rPr lang="en-US" altLang="ko-KR" dirty="0"/>
              <a:t>, </a:t>
            </a:r>
            <a:r>
              <a:rPr lang="ko-KR" altLang="en-US" dirty="0"/>
              <a:t>영국 제국주의의 태동</a:t>
            </a:r>
            <a:endParaRPr lang="en-US" altLang="ko-KR" dirty="0"/>
          </a:p>
          <a:p>
            <a:pPr lvl="1"/>
            <a:r>
              <a:rPr lang="ko-KR" altLang="en-US" dirty="0"/>
              <a:t>국부론의 출간 </a:t>
            </a:r>
            <a:r>
              <a:rPr lang="en-US" altLang="ko-KR" dirty="0"/>
              <a:t>~ </a:t>
            </a:r>
            <a:r>
              <a:rPr lang="ko-KR" altLang="en-US" dirty="0"/>
              <a:t>자유무역</a:t>
            </a:r>
            <a:endParaRPr lang="en-US" altLang="ko-KR" dirty="0"/>
          </a:p>
          <a:p>
            <a:pPr lvl="2"/>
            <a:r>
              <a:rPr lang="ko-KR" altLang="en-US" dirty="0"/>
              <a:t>국부론</a:t>
            </a:r>
            <a:r>
              <a:rPr lang="en-US" altLang="ko-KR" dirty="0"/>
              <a:t>(1776) -&gt; 1</a:t>
            </a:r>
            <a:r>
              <a:rPr lang="ko-KR" altLang="en-US" dirty="0"/>
              <a:t>차 산</a:t>
            </a:r>
            <a:r>
              <a:rPr lang="en-US" altLang="ko-KR" dirty="0"/>
              <a:t>-</a:t>
            </a:r>
            <a:r>
              <a:rPr lang="ko-KR" altLang="en-US" dirty="0"/>
              <a:t>혁 </a:t>
            </a:r>
            <a:r>
              <a:rPr lang="en-US" altLang="ko-KR" dirty="0"/>
              <a:t>(1780) -&gt; </a:t>
            </a:r>
            <a:r>
              <a:rPr lang="ko-KR" altLang="en-US" dirty="0"/>
              <a:t>곡물법 폐지 </a:t>
            </a:r>
            <a:r>
              <a:rPr lang="en-US" altLang="ko-KR" dirty="0"/>
              <a:t>(1846)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 err="1"/>
              <a:t>항해법</a:t>
            </a:r>
            <a:r>
              <a:rPr lang="ko-KR" altLang="en-US" dirty="0"/>
              <a:t> 폐지 </a:t>
            </a:r>
            <a:r>
              <a:rPr lang="en-US" altLang="ko-KR" dirty="0"/>
              <a:t>(1849)</a:t>
            </a:r>
          </a:p>
          <a:p>
            <a:pPr lvl="1"/>
            <a:r>
              <a:rPr lang="ko-KR" altLang="en-US" dirty="0"/>
              <a:t>영 자유무역과 제국주의 확산</a:t>
            </a:r>
            <a:r>
              <a:rPr lang="en-US" altLang="ko-KR" dirty="0"/>
              <a:t>(1850): </a:t>
            </a:r>
            <a:r>
              <a:rPr lang="ko-KR" altLang="en-US" dirty="0"/>
              <a:t>곡물법</a:t>
            </a:r>
            <a:r>
              <a:rPr lang="en-US" altLang="ko-KR" dirty="0"/>
              <a:t>, </a:t>
            </a:r>
            <a:r>
              <a:rPr lang="ko-KR" altLang="en-US" dirty="0" err="1"/>
              <a:t>항해법</a:t>
            </a:r>
            <a:r>
              <a:rPr lang="ko-KR" altLang="en-US" dirty="0"/>
              <a:t> 폐지 이후 </a:t>
            </a:r>
            <a:endParaRPr lang="en-US" altLang="ko-KR" dirty="0"/>
          </a:p>
          <a:p>
            <a:pPr lvl="2"/>
            <a:r>
              <a:rPr lang="en-US" altLang="ko-KR" dirty="0"/>
              <a:t>1</a:t>
            </a:r>
            <a:r>
              <a:rPr lang="ko-KR" altLang="en-US" dirty="0"/>
              <a:t>차 대전 이전까지 체제 유지</a:t>
            </a:r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차세계화와 </a:t>
            </a:r>
            <a:r>
              <a:rPr lang="en-US" altLang="ko-KR" dirty="0"/>
              <a:t>1</a:t>
            </a:r>
            <a:r>
              <a:rPr lang="ko-KR" altLang="en-US" dirty="0"/>
              <a:t>차대전 이전의 영국 제국주의</a:t>
            </a:r>
            <a:endParaRPr lang="en-US" altLang="ko-KR" dirty="0"/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차 세계화 </a:t>
            </a:r>
            <a:r>
              <a:rPr lang="en-US" altLang="ko-KR" dirty="0"/>
              <a:t>(1830) : </a:t>
            </a:r>
            <a:r>
              <a:rPr lang="ko-KR" altLang="en-US" dirty="0"/>
              <a:t>금본위제도</a:t>
            </a:r>
            <a:r>
              <a:rPr lang="en-US" altLang="ko-KR" dirty="0"/>
              <a:t>, </a:t>
            </a:r>
            <a:r>
              <a:rPr lang="ko-KR" altLang="en-US" dirty="0"/>
              <a:t>제국주의를 기반으로 함</a:t>
            </a:r>
            <a:endParaRPr lang="en-US" altLang="ko-KR" dirty="0"/>
          </a:p>
          <a:p>
            <a:pPr lvl="1"/>
            <a:r>
              <a:rPr lang="ko-KR" altLang="en-US" dirty="0"/>
              <a:t>미</a:t>
            </a:r>
            <a:r>
              <a:rPr lang="en-US" altLang="ko-KR" dirty="0"/>
              <a:t>,</a:t>
            </a:r>
            <a:r>
              <a:rPr lang="ko-KR" altLang="en-US" dirty="0"/>
              <a:t>독 </a:t>
            </a:r>
            <a:r>
              <a:rPr lang="en-US" altLang="ko-KR" dirty="0"/>
              <a:t>2</a:t>
            </a:r>
            <a:r>
              <a:rPr lang="ko-KR" altLang="en-US" dirty="0"/>
              <a:t>차 산</a:t>
            </a:r>
            <a:r>
              <a:rPr lang="en-US" altLang="ko-KR" dirty="0"/>
              <a:t>-</a:t>
            </a:r>
            <a:r>
              <a:rPr lang="ko-KR" altLang="en-US" dirty="0"/>
              <a:t>혁 </a:t>
            </a:r>
            <a:r>
              <a:rPr lang="en-US" altLang="ko-KR" dirty="0"/>
              <a:t>(1860)</a:t>
            </a:r>
          </a:p>
          <a:p>
            <a:pPr lvl="2"/>
            <a:r>
              <a:rPr lang="en-US" altLang="ko-KR" dirty="0"/>
              <a:t>1</a:t>
            </a:r>
            <a:r>
              <a:rPr lang="ko-KR" altLang="en-US" dirty="0"/>
              <a:t>차 </a:t>
            </a:r>
            <a:r>
              <a:rPr lang="ko-KR" altLang="en-US" dirty="0" err="1"/>
              <a:t>산혁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경공업</a:t>
            </a:r>
            <a:r>
              <a:rPr lang="en-US" altLang="ko-KR" dirty="0"/>
              <a:t> -&gt; </a:t>
            </a:r>
            <a:r>
              <a:rPr lang="ko-KR" altLang="en-US" dirty="0"/>
              <a:t>면직물</a:t>
            </a:r>
            <a:r>
              <a:rPr lang="en-US" altLang="ko-KR" dirty="0"/>
              <a:t>, </a:t>
            </a:r>
            <a:r>
              <a:rPr lang="ko-KR" altLang="en-US" dirty="0"/>
              <a:t>철</a:t>
            </a:r>
            <a:r>
              <a:rPr lang="en-US" altLang="ko-KR" dirty="0"/>
              <a:t>, </a:t>
            </a:r>
            <a:r>
              <a:rPr lang="ko-KR" altLang="en-US" dirty="0"/>
              <a:t>기계 생산</a:t>
            </a:r>
            <a:endParaRPr lang="en-US" altLang="ko-KR" dirty="0"/>
          </a:p>
          <a:p>
            <a:pPr lvl="2"/>
            <a:r>
              <a:rPr lang="en-US" altLang="ko-KR" dirty="0"/>
              <a:t>2</a:t>
            </a:r>
            <a:r>
              <a:rPr lang="ko-KR" altLang="en-US" dirty="0"/>
              <a:t>차 </a:t>
            </a:r>
            <a:r>
              <a:rPr lang="ko-KR" altLang="en-US" dirty="0" err="1"/>
              <a:t>산혁</a:t>
            </a:r>
            <a:r>
              <a:rPr lang="en-US" altLang="ko-KR" dirty="0"/>
              <a:t>: </a:t>
            </a:r>
            <a:r>
              <a:rPr lang="ko-KR" altLang="en-US" dirty="0"/>
              <a:t>중화학공업 </a:t>
            </a:r>
            <a:r>
              <a:rPr lang="en-US" altLang="ko-KR" dirty="0"/>
              <a:t>-&gt; </a:t>
            </a:r>
            <a:r>
              <a:rPr lang="ko-KR" altLang="en-US" dirty="0"/>
              <a:t>대량생산 및 분배</a:t>
            </a:r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차대전</a:t>
            </a:r>
            <a:r>
              <a:rPr lang="en-US" altLang="ko-KR" dirty="0"/>
              <a:t>, </a:t>
            </a:r>
            <a:r>
              <a:rPr lang="ko-KR" altLang="en-US" dirty="0" err="1"/>
              <a:t>전간기</a:t>
            </a:r>
            <a:r>
              <a:rPr lang="en-US" altLang="ko-KR" dirty="0"/>
              <a:t>, 2</a:t>
            </a:r>
            <a:r>
              <a:rPr lang="ko-KR" altLang="en-US" dirty="0"/>
              <a:t>차대전과 미국중심의 질서</a:t>
            </a:r>
            <a:endParaRPr lang="en-US" altLang="ko-KR" dirty="0"/>
          </a:p>
          <a:p>
            <a:pPr lvl="1"/>
            <a:r>
              <a:rPr lang="ko-KR" altLang="en-US" dirty="0"/>
              <a:t>영</a:t>
            </a:r>
            <a:r>
              <a:rPr lang="en-US" altLang="ko-KR" dirty="0"/>
              <a:t>, </a:t>
            </a:r>
            <a:r>
              <a:rPr lang="ko-KR" altLang="en-US" dirty="0"/>
              <a:t>미</a:t>
            </a:r>
            <a:r>
              <a:rPr lang="en-US" altLang="ko-KR" dirty="0"/>
              <a:t>, </a:t>
            </a:r>
            <a:r>
              <a:rPr lang="ko-KR" altLang="en-US" dirty="0"/>
              <a:t>독과 </a:t>
            </a:r>
            <a:r>
              <a:rPr lang="en-US" altLang="ko-KR" dirty="0"/>
              <a:t>ww1</a:t>
            </a:r>
            <a:r>
              <a:rPr lang="ko-KR" altLang="en-US" dirty="0"/>
              <a:t>의 배경</a:t>
            </a:r>
            <a:endParaRPr lang="en-US" altLang="ko-KR" dirty="0"/>
          </a:p>
          <a:p>
            <a:pPr lvl="2"/>
            <a:r>
              <a:rPr lang="ko-KR" altLang="en-US" dirty="0"/>
              <a:t>영 식민지</a:t>
            </a:r>
            <a:r>
              <a:rPr lang="en-US" altLang="ko-KR" dirty="0"/>
              <a:t>:</a:t>
            </a:r>
            <a:r>
              <a:rPr lang="ko-KR" altLang="en-US" dirty="0"/>
              <a:t> 원료 공급</a:t>
            </a:r>
            <a:r>
              <a:rPr lang="en-US" altLang="ko-KR" dirty="0"/>
              <a:t>, </a:t>
            </a:r>
            <a:r>
              <a:rPr lang="ko-KR" altLang="en-US" dirty="0"/>
              <a:t>상품 구매 </a:t>
            </a:r>
            <a:r>
              <a:rPr lang="en-US" altLang="ko-KR" dirty="0"/>
              <a:t>-&gt; </a:t>
            </a:r>
            <a:r>
              <a:rPr lang="ko-KR" altLang="en-US" dirty="0"/>
              <a:t>제국주의 기여</a:t>
            </a:r>
            <a:endParaRPr lang="en-US" altLang="ko-KR" dirty="0"/>
          </a:p>
          <a:p>
            <a:pPr lvl="2"/>
            <a:r>
              <a:rPr lang="ko-KR" altLang="en-US" dirty="0"/>
              <a:t>미</a:t>
            </a:r>
            <a:r>
              <a:rPr lang="en-US" altLang="ko-KR" dirty="0"/>
              <a:t>, </a:t>
            </a:r>
            <a:r>
              <a:rPr lang="ko-KR" altLang="en-US" dirty="0"/>
              <a:t>독 </a:t>
            </a:r>
            <a:r>
              <a:rPr lang="en-US" altLang="ko-KR" dirty="0"/>
              <a:t>-&gt; </a:t>
            </a:r>
            <a:r>
              <a:rPr lang="ko-KR" altLang="en-US" dirty="0"/>
              <a:t>후발주자</a:t>
            </a:r>
            <a:r>
              <a:rPr lang="en-US" altLang="ko-KR" dirty="0"/>
              <a:t>,</a:t>
            </a:r>
            <a:r>
              <a:rPr lang="ko-KR" altLang="en-US" dirty="0"/>
              <a:t> 식민지 경쟁엔 뒤쳐지나 대량생산이 가능</a:t>
            </a:r>
            <a:endParaRPr lang="en-US" altLang="ko-KR" dirty="0"/>
          </a:p>
          <a:p>
            <a:pPr lvl="2"/>
            <a:r>
              <a:rPr lang="ko-KR" altLang="en-US" dirty="0"/>
              <a:t>식민지 경쟁 </a:t>
            </a:r>
            <a:r>
              <a:rPr lang="en-US" altLang="ko-KR" dirty="0"/>
              <a:t>-&gt; </a:t>
            </a:r>
            <a:r>
              <a:rPr lang="ko-KR" altLang="en-US" dirty="0"/>
              <a:t> 갈등이 심화 </a:t>
            </a:r>
            <a:r>
              <a:rPr lang="en-US" altLang="ko-KR" dirty="0"/>
              <a:t>-&gt; 1</a:t>
            </a:r>
            <a:r>
              <a:rPr lang="ko-KR" altLang="en-US" dirty="0"/>
              <a:t>차대전 발발</a:t>
            </a:r>
            <a:endParaRPr lang="en-US" altLang="ko-KR" dirty="0"/>
          </a:p>
          <a:p>
            <a:pPr lvl="1"/>
            <a:r>
              <a:rPr lang="ko-KR" altLang="en-US" dirty="0" err="1"/>
              <a:t>전간기와</a:t>
            </a:r>
            <a:r>
              <a:rPr lang="ko-KR" altLang="en-US" dirty="0"/>
              <a:t> 주요 세계 질서 변화</a:t>
            </a:r>
            <a:endParaRPr lang="en-US" altLang="ko-KR" dirty="0"/>
          </a:p>
          <a:p>
            <a:pPr lvl="2"/>
            <a:r>
              <a:rPr lang="ko-KR" altLang="en-US" dirty="0" err="1"/>
              <a:t>전간기</a:t>
            </a:r>
            <a:r>
              <a:rPr lang="en-US" altLang="ko-KR" dirty="0"/>
              <a:t>(1914~1939) : </a:t>
            </a:r>
            <a:r>
              <a:rPr lang="ko-KR" altLang="en-US" dirty="0"/>
              <a:t>영 중심 질서 </a:t>
            </a:r>
            <a:r>
              <a:rPr lang="en-US" altLang="ko-KR" dirty="0"/>
              <a:t>-&gt;</a:t>
            </a:r>
            <a:r>
              <a:rPr lang="ko-KR" altLang="en-US" dirty="0"/>
              <a:t> 미국중심의 패권으로 이양</a:t>
            </a:r>
            <a:endParaRPr lang="en-US" altLang="ko-KR" dirty="0"/>
          </a:p>
          <a:p>
            <a:pPr lvl="2"/>
            <a:r>
              <a:rPr lang="ko-KR" altLang="en-US" dirty="0"/>
              <a:t>미국 대공황</a:t>
            </a:r>
            <a:endParaRPr lang="en-US" altLang="ko-KR" dirty="0"/>
          </a:p>
          <a:p>
            <a:r>
              <a:rPr lang="ko-KR" altLang="en-US" dirty="0"/>
              <a:t>전후 복구와 냉전</a:t>
            </a:r>
            <a:endParaRPr lang="en-US" altLang="ko-KR" dirty="0"/>
          </a:p>
          <a:p>
            <a:pPr lvl="1"/>
            <a:r>
              <a:rPr lang="ko-KR" altLang="en-US" dirty="0"/>
              <a:t>미국이 전후 복구와 공공재 생산의 주요 국가가 됨</a:t>
            </a:r>
            <a:r>
              <a:rPr lang="en-US" altLang="ko-KR" dirty="0"/>
              <a:t>(1945~1950)</a:t>
            </a:r>
          </a:p>
          <a:p>
            <a:pPr lvl="1"/>
            <a:r>
              <a:rPr lang="ko-KR" altLang="en-US" dirty="0"/>
              <a:t>소련과의 냉전 시작</a:t>
            </a:r>
            <a:r>
              <a:rPr lang="en-US" altLang="ko-KR" dirty="0"/>
              <a:t>(1950~1990)</a:t>
            </a:r>
          </a:p>
          <a:p>
            <a:pPr lvl="1"/>
            <a:r>
              <a:rPr lang="ko-KR" altLang="en-US" dirty="0" err="1"/>
              <a:t>브레튼우즈</a:t>
            </a:r>
            <a:r>
              <a:rPr lang="ko-KR" altLang="en-US" dirty="0"/>
              <a:t> 체제</a:t>
            </a:r>
            <a:r>
              <a:rPr lang="en-US" altLang="ko-KR" dirty="0"/>
              <a:t>(1950~1972): </a:t>
            </a:r>
            <a:r>
              <a:rPr lang="ko-KR" altLang="en-US" dirty="0"/>
              <a:t>세계 금융질서</a:t>
            </a:r>
            <a:r>
              <a:rPr lang="en-US" altLang="ko-KR" dirty="0"/>
              <a:t>, </a:t>
            </a:r>
            <a:r>
              <a:rPr lang="ko-KR" altLang="en-US" dirty="0"/>
              <a:t>금 중심에서 달러중심으로 이관</a:t>
            </a:r>
            <a:endParaRPr lang="en-US" altLang="ko-KR" dirty="0"/>
          </a:p>
          <a:p>
            <a:pPr lvl="1"/>
            <a:r>
              <a:rPr lang="en-US" altLang="ko-KR" dirty="0"/>
              <a:t>GATT </a:t>
            </a:r>
            <a:r>
              <a:rPr lang="ko-KR" altLang="en-US" dirty="0"/>
              <a:t>체제</a:t>
            </a:r>
            <a:r>
              <a:rPr lang="en-US" altLang="ko-KR" dirty="0"/>
              <a:t>(1950~1990): </a:t>
            </a:r>
            <a:r>
              <a:rPr lang="ko-KR" altLang="en-US" dirty="0"/>
              <a:t>세계 무역질서</a:t>
            </a:r>
            <a:r>
              <a:rPr lang="en-US" altLang="ko-KR" dirty="0"/>
              <a:t>, 1990 </a:t>
            </a:r>
            <a:r>
              <a:rPr lang="ko-KR" altLang="en-US" dirty="0"/>
              <a:t>이후 </a:t>
            </a:r>
            <a:r>
              <a:rPr lang="en-US" altLang="ko-KR" dirty="0"/>
              <a:t>WTO</a:t>
            </a:r>
            <a:r>
              <a:rPr lang="ko-KR" altLang="en-US" dirty="0"/>
              <a:t>로 이관</a:t>
            </a:r>
            <a:endParaRPr lang="en-US" altLang="ko-KR" dirty="0"/>
          </a:p>
          <a:p>
            <a:r>
              <a:rPr lang="ko-KR" altLang="en-US" dirty="0" err="1"/>
              <a:t>브레튼</a:t>
            </a:r>
            <a:r>
              <a:rPr lang="ko-KR" altLang="en-US" dirty="0"/>
              <a:t> 우즈 시스템의 붕괴와 </a:t>
            </a:r>
            <a:r>
              <a:rPr lang="en-US" altLang="ko-KR" dirty="0"/>
              <a:t>2</a:t>
            </a:r>
            <a:r>
              <a:rPr lang="ko-KR" altLang="en-US" dirty="0"/>
              <a:t>차세계화</a:t>
            </a:r>
            <a:endParaRPr lang="en-US" altLang="ko-KR" dirty="0"/>
          </a:p>
          <a:p>
            <a:pPr lvl="1"/>
            <a:r>
              <a:rPr lang="ko-KR" altLang="en-US" dirty="0"/>
              <a:t>오일쇼크</a:t>
            </a:r>
            <a:r>
              <a:rPr lang="en-US" altLang="ko-KR" dirty="0"/>
              <a:t>(1972) -&gt; </a:t>
            </a:r>
            <a:r>
              <a:rPr lang="ko-KR" altLang="en-US" dirty="0"/>
              <a:t>신자유주의</a:t>
            </a:r>
            <a:r>
              <a:rPr lang="en-US" altLang="ko-KR" dirty="0"/>
              <a:t>(1980~) -&gt;</a:t>
            </a:r>
            <a:r>
              <a:rPr lang="ko-KR" altLang="en-US" dirty="0"/>
              <a:t> </a:t>
            </a:r>
            <a:r>
              <a:rPr lang="ko-KR" altLang="en-US" dirty="0" err="1"/>
              <a:t>신브레튼우즈</a:t>
            </a:r>
            <a:r>
              <a:rPr lang="ko-KR" altLang="en-US" dirty="0"/>
              <a:t> 체제</a:t>
            </a:r>
            <a:r>
              <a:rPr lang="en-US" altLang="ko-KR" dirty="0"/>
              <a:t>(1990~2008)</a:t>
            </a:r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차세계화</a:t>
            </a:r>
            <a:r>
              <a:rPr lang="en-US" altLang="ko-KR" dirty="0"/>
              <a:t>(1990): WTO </a:t>
            </a:r>
            <a:r>
              <a:rPr lang="ko-KR" altLang="en-US" dirty="0"/>
              <a:t>체제 출범</a:t>
            </a:r>
            <a:r>
              <a:rPr lang="en-US" altLang="ko-KR" dirty="0"/>
              <a:t>, </a:t>
            </a:r>
            <a:r>
              <a:rPr lang="ko-KR" altLang="en-US" dirty="0"/>
              <a:t>미</a:t>
            </a:r>
            <a:r>
              <a:rPr lang="en-US" altLang="ko-KR" dirty="0"/>
              <a:t>-</a:t>
            </a:r>
            <a:r>
              <a:rPr lang="ko-KR" altLang="en-US" dirty="0"/>
              <a:t>중 사이의 </a:t>
            </a:r>
            <a:r>
              <a:rPr lang="ko-KR" altLang="en-US" dirty="0" err="1"/>
              <a:t>신브레튼우즈</a:t>
            </a:r>
            <a:r>
              <a:rPr lang="en-US" altLang="ko-KR" dirty="0"/>
              <a:t> </a:t>
            </a:r>
            <a:r>
              <a:rPr lang="ko-KR" altLang="en-US" dirty="0"/>
              <a:t>체제 설립</a:t>
            </a:r>
            <a:endParaRPr lang="en-US" altLang="ko-KR" dirty="0"/>
          </a:p>
          <a:p>
            <a:r>
              <a:rPr lang="ko-KR" altLang="en-US" dirty="0"/>
              <a:t>서브프라임 모기지론과 현재</a:t>
            </a:r>
            <a:endParaRPr lang="en-US" altLang="ko-KR" dirty="0"/>
          </a:p>
          <a:p>
            <a:pPr lvl="1"/>
            <a:r>
              <a:rPr lang="ko-KR" altLang="en-US" dirty="0"/>
              <a:t>서브프라임 모기지론</a:t>
            </a:r>
            <a:r>
              <a:rPr lang="en-US" altLang="ko-KR" dirty="0"/>
              <a:t>(2008): </a:t>
            </a:r>
            <a:r>
              <a:rPr lang="ko-KR" altLang="en-US" dirty="0" err="1"/>
              <a:t>신브레튼우즈</a:t>
            </a:r>
            <a:r>
              <a:rPr lang="ko-KR" altLang="en-US" dirty="0"/>
              <a:t> </a:t>
            </a:r>
            <a:r>
              <a:rPr lang="ko-KR" altLang="en-US" dirty="0" err="1"/>
              <a:t>헤체</a:t>
            </a:r>
            <a:r>
              <a:rPr lang="en-US" altLang="ko-KR" dirty="0"/>
              <a:t>, </a:t>
            </a:r>
            <a:r>
              <a:rPr lang="ko-KR" altLang="en-US" dirty="0"/>
              <a:t>양적완화의 등장</a:t>
            </a:r>
            <a:endParaRPr lang="en-US" altLang="ko-KR" dirty="0"/>
          </a:p>
          <a:p>
            <a:pPr lvl="1"/>
            <a:r>
              <a:rPr lang="en-US" altLang="ko-KR" dirty="0"/>
              <a:t>4</a:t>
            </a:r>
            <a:r>
              <a:rPr lang="ko-KR" altLang="en-US" dirty="0"/>
              <a:t>차산업의 등장과 </a:t>
            </a:r>
            <a:r>
              <a:rPr lang="ko-KR" altLang="en-US" dirty="0" err="1"/>
              <a:t>미중갈등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72771A4-9C65-1450-FA5F-D6023C433A8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/>
              <a:t>국부론의 출간과 자유무역이 자리잡기까지</a:t>
            </a:r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차세계화의 배경</a:t>
            </a:r>
            <a:r>
              <a:rPr lang="en-US" altLang="ko-KR" dirty="0"/>
              <a:t>, </a:t>
            </a:r>
            <a:r>
              <a:rPr lang="ko-KR" altLang="en-US" dirty="0"/>
              <a:t>미</a:t>
            </a:r>
            <a:r>
              <a:rPr lang="en-US" altLang="ko-KR" dirty="0"/>
              <a:t>/</a:t>
            </a:r>
            <a:r>
              <a:rPr lang="ko-KR" altLang="en-US" dirty="0"/>
              <a:t>독의 </a:t>
            </a:r>
            <a:r>
              <a:rPr lang="en-US" altLang="ko-KR" dirty="0"/>
              <a:t>2</a:t>
            </a:r>
            <a:r>
              <a:rPr lang="ko-KR" altLang="en-US" dirty="0"/>
              <a:t>차산업혁명</a:t>
            </a:r>
            <a:endParaRPr lang="en-US" altLang="ko-KR" dirty="0"/>
          </a:p>
          <a:p>
            <a:r>
              <a:rPr lang="ko-KR" altLang="en-US" dirty="0"/>
              <a:t>식민지 경쟁과 </a:t>
            </a:r>
            <a:r>
              <a:rPr lang="en-US" altLang="ko-KR" dirty="0"/>
              <a:t>1</a:t>
            </a:r>
            <a:r>
              <a:rPr lang="ko-KR" altLang="en-US" dirty="0"/>
              <a:t>차대전의 배경</a:t>
            </a:r>
            <a:r>
              <a:rPr lang="en-US" altLang="ko-KR" dirty="0"/>
              <a:t>, </a:t>
            </a:r>
            <a:r>
              <a:rPr lang="ko-KR" altLang="en-US" dirty="0" err="1"/>
              <a:t>전간기와</a:t>
            </a:r>
            <a:r>
              <a:rPr lang="ko-KR" altLang="en-US" dirty="0"/>
              <a:t> 세계질서 변화</a:t>
            </a:r>
            <a:endParaRPr lang="en-US" altLang="ko-KR" dirty="0"/>
          </a:p>
          <a:p>
            <a:r>
              <a:rPr lang="ko-KR" altLang="en-US" dirty="0"/>
              <a:t>냉전시기 세계금융질서와 무역질서</a:t>
            </a:r>
            <a:endParaRPr lang="en-US" altLang="ko-KR" dirty="0"/>
          </a:p>
          <a:p>
            <a:r>
              <a:rPr lang="ko-KR" altLang="en-US" dirty="0" err="1"/>
              <a:t>브레튼우즈</a:t>
            </a:r>
            <a:r>
              <a:rPr lang="ko-KR" altLang="en-US" dirty="0"/>
              <a:t> 시스템 붕괴 원인과 여파</a:t>
            </a:r>
            <a:r>
              <a:rPr lang="en-US" altLang="ko-KR" dirty="0"/>
              <a:t>, 2</a:t>
            </a:r>
            <a:r>
              <a:rPr lang="ko-KR" altLang="en-US" dirty="0"/>
              <a:t>차세계화</a:t>
            </a:r>
            <a:endParaRPr lang="en-US" altLang="ko-KR" dirty="0"/>
          </a:p>
          <a:p>
            <a:r>
              <a:rPr lang="ko-KR" altLang="en-US" dirty="0"/>
              <a:t>서브프라임 모기지론의 여파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04309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B053CB1-8581-67C0-330C-98DD94C577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글로벌경제론 중간 </a:t>
            </a:r>
            <a:r>
              <a:rPr lang="en-US" altLang="ko-KR" dirty="0"/>
              <a:t>2</a:t>
            </a:r>
            <a:r>
              <a:rPr lang="ko-KR" altLang="en-US" dirty="0"/>
              <a:t>주차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D71FF0E-E5D8-D654-0C20-B6E236B72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근대국민국가 성립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93D7D7-2D0F-FF28-2163-24B0B0DFE2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 err="1"/>
              <a:t>ㅁㄴㅇㄹ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847AFFB-71CB-AE1D-E327-6FD772310E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근대국민국가의 출현</a:t>
            </a:r>
            <a:endParaRPr lang="en-US" altLang="ko-KR" dirty="0"/>
          </a:p>
          <a:p>
            <a:pPr lvl="1"/>
            <a:r>
              <a:rPr lang="ko-KR" altLang="en-US" dirty="0"/>
              <a:t>중세 봉건시대</a:t>
            </a:r>
            <a:endParaRPr lang="en-US" altLang="ko-KR" dirty="0"/>
          </a:p>
          <a:p>
            <a:pPr lvl="2"/>
            <a:r>
              <a:rPr lang="ko-KR" altLang="en-US" dirty="0"/>
              <a:t>로마의 멸망이후 국가의 틀이 없어지며 제후들은 각 기사들에게 보호를 받음 </a:t>
            </a:r>
            <a:r>
              <a:rPr lang="en-US" altLang="ko-KR" dirty="0"/>
              <a:t>-&gt; </a:t>
            </a:r>
            <a:r>
              <a:rPr lang="ko-KR" altLang="en-US" dirty="0"/>
              <a:t>중세 봉건제 시작</a:t>
            </a:r>
            <a:endParaRPr lang="en-US" altLang="ko-KR" dirty="0"/>
          </a:p>
          <a:p>
            <a:pPr lvl="2"/>
            <a:r>
              <a:rPr lang="ko-KR" altLang="en-US" dirty="0"/>
              <a:t>왕 </a:t>
            </a:r>
            <a:r>
              <a:rPr lang="en-US" altLang="ko-KR" dirty="0"/>
              <a:t>– </a:t>
            </a:r>
            <a:r>
              <a:rPr lang="ko-KR" altLang="en-US" dirty="0"/>
              <a:t>제후들 </a:t>
            </a:r>
            <a:r>
              <a:rPr lang="en-US" altLang="ko-KR" dirty="0"/>
              <a:t>– </a:t>
            </a:r>
            <a:r>
              <a:rPr lang="ko-KR" altLang="en-US" dirty="0"/>
              <a:t>기사들 로 이루어진 관계속에서 쌍무적 관계가 성립되어 전쟁이 발발하면 왕 밑 제후들이 동원됨 </a:t>
            </a:r>
            <a:r>
              <a:rPr lang="en-US" altLang="ko-KR" dirty="0"/>
              <a:t>But, </a:t>
            </a:r>
            <a:r>
              <a:rPr lang="ko-KR" altLang="en-US" dirty="0"/>
              <a:t>왕은 자신의 관할 영토만 다스리고 제후들의 영토 간섭 </a:t>
            </a:r>
            <a:r>
              <a:rPr lang="en-US" altLang="ko-KR" dirty="0"/>
              <a:t>X. </a:t>
            </a:r>
            <a:r>
              <a:rPr lang="ko-KR" altLang="en-US" dirty="0"/>
              <a:t>농노 또한 제후들에게 속해 이동의 자유가 없음</a:t>
            </a:r>
            <a:endParaRPr lang="en-US" altLang="ko-KR" dirty="0"/>
          </a:p>
          <a:p>
            <a:pPr lvl="1"/>
            <a:r>
              <a:rPr lang="ko-KR" altLang="en-US" dirty="0"/>
              <a:t>르네상스시대</a:t>
            </a:r>
            <a:endParaRPr lang="en-US" altLang="ko-KR" dirty="0"/>
          </a:p>
          <a:p>
            <a:pPr lvl="2"/>
            <a:r>
              <a:rPr lang="ko-KR" altLang="en-US" dirty="0"/>
              <a:t>신 중심의 중세에서 인간중심으로</a:t>
            </a:r>
            <a:endParaRPr lang="en-US" altLang="ko-KR" dirty="0"/>
          </a:p>
          <a:p>
            <a:pPr lvl="2"/>
            <a:r>
              <a:rPr lang="ko-KR" altLang="en-US" dirty="0"/>
              <a:t>종교전쟁에 따른 동원에 의해 각 제후들의 영역은 희미해지고 왕의 영향이 세짐</a:t>
            </a:r>
            <a:endParaRPr lang="en-US" altLang="ko-KR" dirty="0"/>
          </a:p>
          <a:p>
            <a:pPr lvl="1"/>
            <a:r>
              <a:rPr lang="ko-KR" altLang="en-US" dirty="0"/>
              <a:t>절대왕정</a:t>
            </a:r>
            <a:endParaRPr lang="en-US" altLang="ko-KR" dirty="0"/>
          </a:p>
          <a:p>
            <a:pPr lvl="2"/>
            <a:r>
              <a:rPr lang="ko-KR" altLang="en-US" dirty="0"/>
              <a:t>왕권신수설을 기반으로 상비군</a:t>
            </a:r>
            <a:r>
              <a:rPr lang="en-US" altLang="ko-KR" dirty="0"/>
              <a:t>/</a:t>
            </a:r>
            <a:r>
              <a:rPr lang="ko-KR" altLang="en-US" dirty="0"/>
              <a:t>관료제로 왕권을 공고히 함</a:t>
            </a:r>
            <a:r>
              <a:rPr lang="en-US" altLang="ko-KR" dirty="0"/>
              <a:t>(</a:t>
            </a:r>
            <a:r>
              <a:rPr lang="ko-KR" altLang="en-US" dirty="0"/>
              <a:t>상비군은 이전과 다르게 항상 동원할 준비가 됨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각 지역의 제후들은 중앙 귀족으로 편입되고 각 제후의 경계가 무너지고 국가의 경계가 </a:t>
            </a:r>
            <a:r>
              <a:rPr lang="ko-KR" altLang="en-US" dirty="0" err="1"/>
              <a:t>공고히됨</a:t>
            </a:r>
            <a:endParaRPr lang="en-US" altLang="ko-KR" dirty="0"/>
          </a:p>
          <a:p>
            <a:pPr lvl="1"/>
            <a:r>
              <a:rPr lang="ko-KR" altLang="en-US" dirty="0"/>
              <a:t>근대국민국가</a:t>
            </a:r>
            <a:endParaRPr lang="en-US" altLang="ko-KR" dirty="0"/>
          </a:p>
          <a:p>
            <a:pPr lvl="2"/>
            <a:r>
              <a:rPr lang="en-US" altLang="ko-KR" dirty="0"/>
              <a:t>1789 </a:t>
            </a:r>
            <a:r>
              <a:rPr lang="ko-KR" altLang="en-US" dirty="0"/>
              <a:t>프랑스 혁명 </a:t>
            </a:r>
            <a:r>
              <a:rPr lang="en-US" altLang="ko-KR" dirty="0"/>
              <a:t>-&gt;</a:t>
            </a:r>
            <a:r>
              <a:rPr lang="ko-KR" altLang="en-US" dirty="0"/>
              <a:t> 나폴레옹</a:t>
            </a:r>
            <a:r>
              <a:rPr lang="en-US" altLang="ko-KR" dirty="0"/>
              <a:t>:</a:t>
            </a:r>
            <a:r>
              <a:rPr lang="ko-KR" altLang="en-US" dirty="0"/>
              <a:t> 혁명을 전파하며 유럽을 정복 </a:t>
            </a:r>
            <a:r>
              <a:rPr lang="en-US" altLang="ko-KR" dirty="0"/>
              <a:t>-&gt; </a:t>
            </a:r>
            <a:r>
              <a:rPr lang="ko-KR" altLang="en-US" dirty="0"/>
              <a:t>민족주의와 자유주의의 토대</a:t>
            </a:r>
            <a:endParaRPr lang="en-US" altLang="ko-KR" dirty="0"/>
          </a:p>
          <a:p>
            <a:pPr lvl="1"/>
            <a:r>
              <a:rPr lang="ko-KR" altLang="en-US" dirty="0"/>
              <a:t>세계화와 근대국민국가로 회귀</a:t>
            </a:r>
            <a:endParaRPr lang="en-US" altLang="ko-KR" dirty="0"/>
          </a:p>
          <a:p>
            <a:pPr lvl="2"/>
            <a:r>
              <a:rPr lang="ko-KR" altLang="en-US" dirty="0"/>
              <a:t>세계화 이후 </a:t>
            </a:r>
            <a:r>
              <a:rPr lang="en-US" altLang="ko-KR" dirty="0"/>
              <a:t>EU </a:t>
            </a:r>
            <a:r>
              <a:rPr lang="ko-KR" altLang="en-US" dirty="0"/>
              <a:t>안에서 잘 </a:t>
            </a:r>
            <a:r>
              <a:rPr lang="ko-KR" altLang="en-US" dirty="0" err="1"/>
              <a:t>살게된</a:t>
            </a:r>
            <a:r>
              <a:rPr lang="ko-KR" altLang="en-US" dirty="0"/>
              <a:t> 국가들이 낙후된 국가들을 잘 돌볼 수 있는가</a:t>
            </a:r>
            <a:r>
              <a:rPr lang="en-US" altLang="ko-KR" dirty="0"/>
              <a:t>?</a:t>
            </a:r>
          </a:p>
          <a:p>
            <a:pPr lvl="3"/>
            <a:r>
              <a:rPr lang="ko-KR" altLang="en-US" dirty="0"/>
              <a:t>이후 다시 근대국민국가로 회귀하는 국가들이 생김</a:t>
            </a:r>
            <a:endParaRPr lang="en-US" altLang="ko-KR" dirty="0"/>
          </a:p>
          <a:p>
            <a:pPr lvl="2"/>
            <a:r>
              <a:rPr lang="ko-KR" altLang="en-US" dirty="0"/>
              <a:t>세계화도 민족주의</a:t>
            </a:r>
            <a:r>
              <a:rPr lang="en-US" altLang="ko-KR" dirty="0"/>
              <a:t>/</a:t>
            </a:r>
            <a:r>
              <a:rPr lang="ko-KR" altLang="en-US" dirty="0"/>
              <a:t>국민국가의 개념처럼 발명된 것</a:t>
            </a:r>
            <a:r>
              <a:rPr lang="en-US" altLang="ko-KR" dirty="0"/>
              <a:t>. </a:t>
            </a:r>
            <a:r>
              <a:rPr lang="ko-KR" altLang="en-US" dirty="0"/>
              <a:t>언제든 바뀔 수 있다</a:t>
            </a:r>
            <a:endParaRPr lang="en-US" altLang="ko-KR" dirty="0"/>
          </a:p>
          <a:p>
            <a:r>
              <a:rPr lang="ko-KR" altLang="en-US" dirty="0"/>
              <a:t>중상주의</a:t>
            </a:r>
            <a:r>
              <a:rPr lang="en-US" altLang="ko-KR" dirty="0"/>
              <a:t>(17C): </a:t>
            </a:r>
            <a:r>
              <a:rPr lang="ko-KR" altLang="en-US" dirty="0"/>
              <a:t>국왕과 국가의 경제적 이익이 밀접한 관계</a:t>
            </a:r>
            <a:endParaRPr lang="en-US" altLang="ko-KR" dirty="0"/>
          </a:p>
          <a:p>
            <a:pPr lvl="1"/>
            <a:r>
              <a:rPr lang="ko-KR" altLang="en-US" dirty="0"/>
              <a:t>절대왕정시기에 왕을 뒷받침하던 이데올로기</a:t>
            </a:r>
            <a:endParaRPr lang="en-US" altLang="ko-KR" dirty="0"/>
          </a:p>
          <a:p>
            <a:pPr lvl="2"/>
            <a:r>
              <a:rPr lang="ko-KR" altLang="en-US" dirty="0"/>
              <a:t>부는 국가의 금</a:t>
            </a:r>
            <a:r>
              <a:rPr lang="en-US" altLang="ko-KR" dirty="0"/>
              <a:t>/</a:t>
            </a:r>
            <a:r>
              <a:rPr lang="ko-KR" altLang="en-US" dirty="0"/>
              <a:t>은으로 부터 나오며 무역은 제로섬 게임이라 주장</a:t>
            </a:r>
            <a:endParaRPr lang="en-US" altLang="ko-KR" dirty="0"/>
          </a:p>
          <a:p>
            <a:pPr lvl="2"/>
            <a:r>
              <a:rPr lang="ko-KR" altLang="en-US" dirty="0" err="1"/>
              <a:t>애덤스미스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무역은 포지티브 섬 게임</a:t>
            </a:r>
            <a:endParaRPr lang="en-US" altLang="ko-KR" dirty="0"/>
          </a:p>
          <a:p>
            <a:pPr lvl="1"/>
            <a:r>
              <a:rPr lang="ko-KR" altLang="en-US" dirty="0"/>
              <a:t>왕의 재정수입을 위해 산업정책과 보호 무역을 펼침</a:t>
            </a:r>
            <a:endParaRPr lang="en-US" altLang="ko-KR" dirty="0"/>
          </a:p>
          <a:p>
            <a:pPr lvl="1"/>
            <a:r>
              <a:rPr lang="en-US" altLang="ko-KR" dirty="0"/>
              <a:t>VOC, HBC, EIC</a:t>
            </a:r>
            <a:r>
              <a:rPr lang="ko-KR" altLang="en-US" dirty="0"/>
              <a:t>와 같은 회사들에게 전쟁선포</a:t>
            </a:r>
            <a:r>
              <a:rPr lang="en-US" altLang="ko-KR" dirty="0"/>
              <a:t>/</a:t>
            </a:r>
            <a:r>
              <a:rPr lang="ko-KR" altLang="en-US" dirty="0"/>
              <a:t>상비군</a:t>
            </a:r>
            <a:r>
              <a:rPr lang="en-US" altLang="ko-KR" dirty="0"/>
              <a:t>/</a:t>
            </a:r>
            <a:r>
              <a:rPr lang="ko-KR" altLang="en-US" dirty="0"/>
              <a:t>조약 </a:t>
            </a:r>
            <a:r>
              <a:rPr lang="ko-KR" altLang="en-US" dirty="0" err="1"/>
              <a:t>체결권</a:t>
            </a:r>
            <a:r>
              <a:rPr lang="en-US" altLang="ko-KR" dirty="0"/>
              <a:t>/</a:t>
            </a:r>
            <a:r>
              <a:rPr lang="ko-KR" altLang="en-US" dirty="0"/>
              <a:t>화폐주조</a:t>
            </a:r>
            <a:r>
              <a:rPr lang="en-US" altLang="ko-KR" dirty="0"/>
              <a:t>/</a:t>
            </a:r>
            <a:r>
              <a:rPr lang="ko-KR" altLang="en-US" dirty="0"/>
              <a:t>사법권과 같은 권리들을 왕의 수익을 늘린다는 명목으로 독점적으로 </a:t>
            </a:r>
            <a:r>
              <a:rPr lang="ko-KR" altLang="en-US" dirty="0" err="1"/>
              <a:t>부여햠</a:t>
            </a:r>
            <a:endParaRPr lang="en-US" altLang="ko-KR" dirty="0"/>
          </a:p>
          <a:p>
            <a:pPr lvl="2"/>
            <a:r>
              <a:rPr lang="ko-KR" altLang="en-US" dirty="0"/>
              <a:t>무역 초기엔 항해</a:t>
            </a:r>
            <a:r>
              <a:rPr lang="en-US" altLang="ko-KR" dirty="0"/>
              <a:t>/</a:t>
            </a:r>
            <a:r>
              <a:rPr lang="ko-KR" altLang="en-US" dirty="0"/>
              <a:t>개척</a:t>
            </a:r>
            <a:r>
              <a:rPr lang="en-US" altLang="ko-KR" dirty="0"/>
              <a:t>/</a:t>
            </a:r>
            <a:r>
              <a:rPr lang="ko-KR" altLang="en-US" dirty="0"/>
              <a:t>원주민</a:t>
            </a:r>
            <a:r>
              <a:rPr lang="en-US" altLang="ko-KR" dirty="0"/>
              <a:t>/</a:t>
            </a:r>
            <a:r>
              <a:rPr lang="ko-KR" altLang="en-US" dirty="0"/>
              <a:t>운송 등의 과정에서 많은 불확실성이 존재했고</a:t>
            </a:r>
            <a:r>
              <a:rPr lang="en-US" altLang="ko-KR" dirty="0"/>
              <a:t>, </a:t>
            </a:r>
            <a:r>
              <a:rPr lang="ko-KR" altLang="en-US" dirty="0"/>
              <a:t>그 과정이 매우 힘들었기에 준국가적 권한을 부여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B58C1F-08CD-0C9F-0399-389146CD0426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 err="1"/>
              <a:t>ㅁㄴㅇㄹ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0196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5C2B2E5-68BF-1A53-4C97-08F5BDDFEF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글로벌경제론 중간 </a:t>
            </a:r>
            <a:r>
              <a:rPr lang="en-US" altLang="ko-KR" dirty="0"/>
              <a:t>2</a:t>
            </a:r>
            <a:r>
              <a:rPr lang="ko-KR" altLang="en-US" dirty="0"/>
              <a:t>주차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A43D0B1-EC41-33D6-D5F7-9C51B11FA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근대국민국가 성립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7A0B88-F132-01CF-2FC1-F45C65E52F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 err="1"/>
              <a:t>ㄴㅇㅀ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FBF3993-EC1F-A344-5662-330B2696D4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자본주의에 관한 중상주의자의 담론</a:t>
            </a:r>
            <a:endParaRPr lang="en-US" altLang="ko-KR" dirty="0"/>
          </a:p>
          <a:p>
            <a:pPr lvl="1"/>
            <a:r>
              <a:rPr lang="ko-KR" altLang="en-US" dirty="0"/>
              <a:t>국가와 기업의 동맹관계</a:t>
            </a:r>
            <a:endParaRPr lang="en-US" altLang="ko-KR" dirty="0"/>
          </a:p>
          <a:p>
            <a:pPr lvl="2"/>
            <a:r>
              <a:rPr lang="ko-KR" altLang="en-US" dirty="0"/>
              <a:t>중상주의 </a:t>
            </a:r>
            <a:r>
              <a:rPr lang="en-US" altLang="ko-KR" dirty="0"/>
              <a:t>: </a:t>
            </a:r>
            <a:r>
              <a:rPr lang="ko-KR" altLang="en-US" dirty="0"/>
              <a:t>국제무역 </a:t>
            </a:r>
            <a:r>
              <a:rPr lang="en-US" altLang="ko-KR" dirty="0"/>
              <a:t>= </a:t>
            </a:r>
            <a:r>
              <a:rPr lang="ko-KR" altLang="en-US" dirty="0"/>
              <a:t>독점</a:t>
            </a:r>
            <a:r>
              <a:rPr lang="en-US" altLang="ko-KR" dirty="0"/>
              <a:t>; </a:t>
            </a:r>
            <a:r>
              <a:rPr lang="ko-KR" altLang="en-US" dirty="0"/>
              <a:t>외국의 힘을 배격</a:t>
            </a:r>
            <a:r>
              <a:rPr lang="en-US" altLang="ko-KR" dirty="0"/>
              <a:t>; </a:t>
            </a:r>
            <a:r>
              <a:rPr lang="ko-KR" altLang="en-US" dirty="0"/>
              <a:t>자국의 이익을 지키자</a:t>
            </a:r>
            <a:endParaRPr lang="en-US" altLang="ko-KR" dirty="0"/>
          </a:p>
          <a:p>
            <a:pPr lvl="1"/>
            <a:r>
              <a:rPr lang="ko-KR" altLang="en-US" dirty="0"/>
              <a:t>중상주의자 </a:t>
            </a:r>
            <a:r>
              <a:rPr lang="en-US" altLang="ko-KR" dirty="0"/>
              <a:t>vs </a:t>
            </a:r>
            <a:r>
              <a:rPr lang="ko-KR" altLang="en-US" dirty="0" err="1"/>
              <a:t>애덤스미스</a:t>
            </a:r>
            <a:endParaRPr lang="en-US" altLang="ko-KR" dirty="0"/>
          </a:p>
          <a:p>
            <a:pPr lvl="2"/>
            <a:r>
              <a:rPr lang="ko-KR" altLang="en-US" dirty="0"/>
              <a:t>시장이 국가의 통제로부터 자유로워야 함</a:t>
            </a:r>
            <a:r>
              <a:rPr lang="en-US" altLang="ko-KR" dirty="0"/>
              <a:t>;’ </a:t>
            </a:r>
            <a:r>
              <a:rPr lang="ko-KR" altLang="en-US" dirty="0"/>
              <a:t>독점이 아닌 경쟁</a:t>
            </a:r>
            <a:r>
              <a:rPr lang="en-US" altLang="ko-KR" dirty="0"/>
              <a:t>; </a:t>
            </a:r>
            <a:r>
              <a:rPr lang="ko-KR" altLang="en-US" dirty="0" err="1"/>
              <a:t>리카도의</a:t>
            </a:r>
            <a:r>
              <a:rPr lang="ko-KR" altLang="en-US" dirty="0"/>
              <a:t> 비교우위론</a:t>
            </a:r>
            <a:br>
              <a:rPr lang="en-US" altLang="ko-KR" dirty="0"/>
            </a:br>
            <a:r>
              <a:rPr lang="en-US" altLang="ko-KR" dirty="0"/>
              <a:t>EIC, VOC</a:t>
            </a:r>
            <a:r>
              <a:rPr lang="ko-KR" altLang="en-US" dirty="0"/>
              <a:t>모두 독점을 통한 부패로 이어짐 </a:t>
            </a:r>
            <a:r>
              <a:rPr lang="en-US" altLang="ko-KR" dirty="0"/>
              <a:t>-&gt; </a:t>
            </a:r>
            <a:r>
              <a:rPr lang="ko-KR" altLang="en-US" dirty="0"/>
              <a:t>국가와 기업의 협력은 부패로 이어진다</a:t>
            </a:r>
            <a:endParaRPr lang="en-US" altLang="ko-KR" dirty="0"/>
          </a:p>
          <a:p>
            <a:pPr lvl="2"/>
            <a:r>
              <a:rPr lang="ko-KR" altLang="en-US" dirty="0"/>
              <a:t>상황에 따라 정답은 다름</a:t>
            </a:r>
            <a:r>
              <a:rPr lang="en-US" altLang="ko-KR" dirty="0"/>
              <a:t>. </a:t>
            </a:r>
            <a:r>
              <a:rPr lang="ko-KR" altLang="en-US" dirty="0"/>
              <a:t>무역의 발전 이전엔 기업의 독점과 협력이 중요하나 발전 이후론 경쟁하는 것이 나음</a:t>
            </a:r>
            <a:endParaRPr lang="en-US" altLang="ko-KR" dirty="0"/>
          </a:p>
          <a:p>
            <a:pPr lvl="1"/>
            <a:r>
              <a:rPr lang="ko-KR" altLang="en-US" dirty="0"/>
              <a:t>시장이 제대로 기능하려면 비시장제도가 필요하다</a:t>
            </a:r>
            <a:endParaRPr lang="en-US" altLang="ko-KR" dirty="0"/>
          </a:p>
          <a:p>
            <a:pPr lvl="2"/>
            <a:r>
              <a:rPr lang="ko-KR" altLang="en-US" dirty="0"/>
              <a:t>중상주의 </a:t>
            </a:r>
            <a:r>
              <a:rPr lang="en-US" altLang="ko-KR" dirty="0"/>
              <a:t>: </a:t>
            </a:r>
            <a:r>
              <a:rPr lang="ko-KR" altLang="en-US" dirty="0"/>
              <a:t>시장이 작동하려면 비시장제도</a:t>
            </a:r>
            <a:r>
              <a:rPr lang="en-US" altLang="ko-KR" dirty="0"/>
              <a:t>(</a:t>
            </a:r>
            <a:r>
              <a:rPr lang="ko-KR" altLang="en-US" dirty="0"/>
              <a:t>국가의 지원</a:t>
            </a:r>
            <a:r>
              <a:rPr lang="en-US" altLang="ko-KR" dirty="0"/>
              <a:t>)</a:t>
            </a:r>
            <a:r>
              <a:rPr lang="ko-KR" altLang="en-US" dirty="0"/>
              <a:t>이 필요하다</a:t>
            </a:r>
            <a:endParaRPr lang="en-US" altLang="ko-KR" dirty="0"/>
          </a:p>
          <a:p>
            <a:pPr lvl="2"/>
            <a:r>
              <a:rPr lang="ko-KR" altLang="en-US" dirty="0"/>
              <a:t>오늘날 제도주의 경제학자들 또한 비슷한 논리 강조</a:t>
            </a:r>
            <a:endParaRPr lang="en-US" altLang="ko-KR" dirty="0"/>
          </a:p>
          <a:p>
            <a:r>
              <a:rPr lang="ko-KR" altLang="en-US" dirty="0"/>
              <a:t>무역에서의 거래비용</a:t>
            </a:r>
            <a:endParaRPr lang="en-US" altLang="ko-KR" dirty="0"/>
          </a:p>
          <a:p>
            <a:pPr lvl="1"/>
            <a:r>
              <a:rPr lang="en-US" altLang="ko-KR" dirty="0"/>
              <a:t>HBC</a:t>
            </a:r>
            <a:r>
              <a:rPr lang="ko-KR" altLang="en-US" dirty="0"/>
              <a:t>와 같은 초기 기업들이 얼마나 많은 위험을 직면했나</a:t>
            </a:r>
            <a:r>
              <a:rPr lang="en-US" altLang="ko-KR" dirty="0"/>
              <a:t>? </a:t>
            </a:r>
            <a:r>
              <a:rPr lang="ko-KR" altLang="en-US" dirty="0"/>
              <a:t>특허장이 어떤 역할을 했나</a:t>
            </a:r>
            <a:r>
              <a:rPr lang="en-US" altLang="ko-KR" dirty="0"/>
              <a:t>? </a:t>
            </a:r>
            <a:r>
              <a:rPr lang="ko-KR" altLang="en-US" dirty="0"/>
              <a:t>왜 독점이득을 바랬는가</a:t>
            </a:r>
            <a:r>
              <a:rPr lang="en-US" altLang="ko-KR" dirty="0"/>
              <a:t>?</a:t>
            </a:r>
            <a:r>
              <a:rPr lang="ko-KR" altLang="en-US" dirty="0"/>
              <a:t> 를 당대의 관점에서 바라볼 수 있도록</a:t>
            </a:r>
            <a:endParaRPr lang="en-US" altLang="ko-KR" dirty="0"/>
          </a:p>
          <a:p>
            <a:pPr lvl="1"/>
            <a:r>
              <a:rPr lang="ko-KR" altLang="en-US" dirty="0"/>
              <a:t>국가 내 </a:t>
            </a:r>
            <a:r>
              <a:rPr lang="en-US" altLang="ko-KR" dirty="0"/>
              <a:t>(</a:t>
            </a:r>
            <a:r>
              <a:rPr lang="ko-KR" altLang="en-US" dirty="0"/>
              <a:t>시장을 지지하는</a:t>
            </a:r>
            <a:r>
              <a:rPr lang="en-US" altLang="ko-KR" dirty="0"/>
              <a:t>) </a:t>
            </a:r>
            <a:r>
              <a:rPr lang="ko-KR" altLang="en-US" dirty="0"/>
              <a:t>거래비용 절감 제도</a:t>
            </a:r>
            <a:endParaRPr lang="en-US" altLang="ko-KR" dirty="0"/>
          </a:p>
          <a:p>
            <a:pPr lvl="2"/>
            <a:r>
              <a:rPr lang="en-US" altLang="ko-KR" dirty="0"/>
              <a:t>1. </a:t>
            </a:r>
            <a:r>
              <a:rPr lang="ko-KR" altLang="en-US" dirty="0"/>
              <a:t>호혜와 신뢰에 기반을 둔 오랜 관계 </a:t>
            </a:r>
            <a:r>
              <a:rPr lang="en-US" altLang="ko-KR" dirty="0"/>
              <a:t>(</a:t>
            </a:r>
            <a:r>
              <a:rPr lang="ko-KR" altLang="en-US" dirty="0"/>
              <a:t>개인적 친분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2. </a:t>
            </a:r>
            <a:r>
              <a:rPr lang="ko-KR" altLang="en-US" dirty="0"/>
              <a:t>신념 체계 </a:t>
            </a:r>
            <a:r>
              <a:rPr lang="en-US" altLang="ko-KR" dirty="0"/>
              <a:t>(</a:t>
            </a:r>
            <a:r>
              <a:rPr lang="ko-KR" altLang="en-US" dirty="0"/>
              <a:t>윤리</a:t>
            </a:r>
            <a:r>
              <a:rPr lang="en-US" altLang="ko-KR" dirty="0"/>
              <a:t>, </a:t>
            </a:r>
            <a:r>
              <a:rPr lang="ko-KR" altLang="en-US" dirty="0"/>
              <a:t>종교</a:t>
            </a:r>
            <a:r>
              <a:rPr lang="en-US" altLang="ko-KR" dirty="0"/>
              <a:t>)</a:t>
            </a:r>
          </a:p>
          <a:p>
            <a:pPr lvl="3"/>
            <a:r>
              <a:rPr lang="en-US" altLang="ko-KR" dirty="0"/>
              <a:t>1, 2</a:t>
            </a:r>
            <a:r>
              <a:rPr lang="ko-KR" altLang="en-US" dirty="0"/>
              <a:t>의 경우는 작은 규모에서만 작동</a:t>
            </a:r>
            <a:endParaRPr lang="en-US" altLang="ko-KR" dirty="0"/>
          </a:p>
          <a:p>
            <a:pPr lvl="2"/>
            <a:r>
              <a:rPr lang="en-US" altLang="ko-KR" dirty="0"/>
              <a:t>3. </a:t>
            </a:r>
            <a:r>
              <a:rPr lang="ko-KR" altLang="en-US" dirty="0"/>
              <a:t>제 </a:t>
            </a:r>
            <a:r>
              <a:rPr lang="en-US" altLang="ko-KR" dirty="0"/>
              <a:t>3</a:t>
            </a:r>
            <a:r>
              <a:rPr lang="ko-KR" altLang="en-US" dirty="0"/>
              <a:t>자의 강제</a:t>
            </a:r>
            <a:endParaRPr lang="en-US" altLang="ko-KR" dirty="0"/>
          </a:p>
          <a:p>
            <a:pPr lvl="3"/>
            <a:r>
              <a:rPr lang="ko-KR" altLang="en-US" dirty="0"/>
              <a:t>국가에 의한 공식제도</a:t>
            </a:r>
            <a:endParaRPr lang="en-US" altLang="ko-KR" dirty="0"/>
          </a:p>
          <a:p>
            <a:pPr lvl="3"/>
            <a:r>
              <a:rPr lang="en-US" altLang="ko-KR" dirty="0"/>
              <a:t>1. </a:t>
            </a:r>
            <a:r>
              <a:rPr lang="ko-KR" altLang="en-US" dirty="0"/>
              <a:t>재산권 보호를 위한 법적제도 </a:t>
            </a:r>
            <a:r>
              <a:rPr lang="en-US" altLang="ko-KR" dirty="0"/>
              <a:t>	2. </a:t>
            </a:r>
            <a:r>
              <a:rPr lang="ko-KR" altLang="en-US" dirty="0"/>
              <a:t>계약을 강제하는 법정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규범을 단속하는 경찰 </a:t>
            </a:r>
            <a:r>
              <a:rPr lang="en-US" altLang="ko-KR" dirty="0"/>
              <a:t>	4. </a:t>
            </a:r>
            <a:r>
              <a:rPr lang="ko-KR" altLang="en-US" dirty="0"/>
              <a:t>규칙을 정하고 집행하는 관료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통화</a:t>
            </a:r>
            <a:r>
              <a:rPr lang="en-US" altLang="ko-KR" dirty="0"/>
              <a:t>/</a:t>
            </a:r>
            <a:r>
              <a:rPr lang="ko-KR" altLang="en-US" dirty="0"/>
              <a:t>금융안정을 유지하는 중앙은행</a:t>
            </a:r>
            <a:endParaRPr lang="en-US" altLang="ko-KR" dirty="0"/>
          </a:p>
          <a:p>
            <a:pPr lvl="1"/>
            <a:r>
              <a:rPr lang="ko-KR" altLang="en-US" dirty="0"/>
              <a:t>국가간 무역에서의 거래비용은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국가간 </a:t>
            </a:r>
            <a:r>
              <a:rPr lang="en-US" altLang="ko-KR" dirty="0"/>
              <a:t>&gt; </a:t>
            </a:r>
            <a:r>
              <a:rPr lang="ko-KR" altLang="en-US" dirty="0"/>
              <a:t>국가내</a:t>
            </a:r>
            <a:r>
              <a:rPr lang="en-US" altLang="ko-KR" dirty="0"/>
              <a:t> : 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국내거래 처럼 국가와 같은 제도를 제공하는 국제제도의 부재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국가별로 다른 규범 </a:t>
            </a:r>
            <a:r>
              <a:rPr lang="en-US" altLang="ko-KR" dirty="0"/>
              <a:t>; ex)</a:t>
            </a:r>
            <a:r>
              <a:rPr lang="ko-KR" altLang="en-US" dirty="0"/>
              <a:t> 서로 다른 법규</a:t>
            </a:r>
            <a:r>
              <a:rPr lang="en-US" altLang="ko-KR" dirty="0"/>
              <a:t>, </a:t>
            </a:r>
            <a:r>
              <a:rPr lang="ko-KR" altLang="en-US" dirty="0"/>
              <a:t>노동시장 규칙</a:t>
            </a:r>
            <a:r>
              <a:rPr lang="en-US" altLang="ko-KR" dirty="0"/>
              <a:t>, </a:t>
            </a:r>
            <a:r>
              <a:rPr lang="ko-KR" altLang="en-US" dirty="0"/>
              <a:t>식품안전규칙</a:t>
            </a:r>
            <a:endParaRPr lang="en-US" altLang="ko-KR" dirty="0"/>
          </a:p>
          <a:p>
            <a:pPr lvl="2"/>
            <a:r>
              <a:rPr lang="en-US" altLang="ko-KR" dirty="0"/>
              <a:t>1,2</a:t>
            </a:r>
            <a:r>
              <a:rPr lang="ko-KR" altLang="en-US" dirty="0"/>
              <a:t>를 이기고 금융제도와 무역제도가 생긴다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982F937-B531-3082-EE83-F94C3AE9A894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 err="1"/>
              <a:t>ㄴㅇㅀ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3659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2AF9A8C-B974-839A-2CF3-EA78DF7FC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주차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7E95B43-F7C8-9D32-F5BE-C63B3F15A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 세계화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FE5888-B733-0FB6-9B48-A5C2CDC498A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4B1A28F-F779-B907-7A5A-8431116AF3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영국의 </a:t>
            </a:r>
            <a:r>
              <a:rPr lang="en-US" altLang="ko-KR" dirty="0"/>
              <a:t>1</a:t>
            </a:r>
            <a:r>
              <a:rPr lang="ko-KR" altLang="en-US" dirty="0"/>
              <a:t>차 산업혁명</a:t>
            </a:r>
            <a:endParaRPr lang="en-US" altLang="ko-KR" dirty="0"/>
          </a:p>
          <a:p>
            <a:pPr lvl="1"/>
            <a:r>
              <a:rPr lang="en-US" altLang="ko-KR" dirty="0"/>
              <a:t>1780 1</a:t>
            </a:r>
            <a:r>
              <a:rPr lang="ko-KR" altLang="en-US" dirty="0"/>
              <a:t>차 산업혁명</a:t>
            </a:r>
            <a:r>
              <a:rPr lang="en-US" altLang="ko-KR" dirty="0"/>
              <a:t> 	1846 </a:t>
            </a:r>
            <a:r>
              <a:rPr lang="ko-KR" altLang="en-US" dirty="0"/>
              <a:t>곡물법 폐지</a:t>
            </a:r>
            <a:r>
              <a:rPr lang="en-US" altLang="ko-KR" dirty="0"/>
              <a:t>	1849 </a:t>
            </a:r>
            <a:r>
              <a:rPr lang="ko-KR" altLang="en-US" dirty="0"/>
              <a:t>항해조례 폐지</a:t>
            </a:r>
            <a:endParaRPr lang="en-US" altLang="ko-KR" dirty="0"/>
          </a:p>
          <a:p>
            <a:pPr lvl="1"/>
            <a:r>
              <a:rPr lang="ko-KR" altLang="en-US" dirty="0"/>
              <a:t>왜 자유무역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국내요인 </a:t>
            </a:r>
            <a:r>
              <a:rPr lang="en-US" altLang="ko-KR" dirty="0"/>
              <a:t>: </a:t>
            </a:r>
            <a:r>
              <a:rPr lang="ko-KR" altLang="en-US" dirty="0" err="1"/>
              <a:t>젠트리</a:t>
            </a:r>
            <a:r>
              <a:rPr lang="en-US" altLang="ko-KR" dirty="0"/>
              <a:t>(</a:t>
            </a:r>
            <a:r>
              <a:rPr lang="ko-KR" altLang="en-US" dirty="0"/>
              <a:t>지주</a:t>
            </a:r>
            <a:r>
              <a:rPr lang="en-US" altLang="ko-KR" dirty="0"/>
              <a:t>) -&gt; </a:t>
            </a:r>
            <a:r>
              <a:rPr lang="ko-KR" altLang="en-US" dirty="0"/>
              <a:t>산업가</a:t>
            </a:r>
            <a:r>
              <a:rPr lang="en-US" altLang="ko-KR" dirty="0"/>
              <a:t>, </a:t>
            </a:r>
            <a:r>
              <a:rPr lang="ko-KR" altLang="en-US" dirty="0" err="1"/>
              <a:t>상업가들이</a:t>
            </a:r>
            <a:r>
              <a:rPr lang="ko-KR" altLang="en-US" dirty="0"/>
              <a:t> 산업혁명을 통해 많은 돈을 벌음</a:t>
            </a:r>
            <a:endParaRPr lang="en-US" altLang="ko-KR" dirty="0"/>
          </a:p>
          <a:p>
            <a:pPr lvl="3"/>
            <a:r>
              <a:rPr lang="ko-KR" altLang="en-US" dirty="0"/>
              <a:t>산업가 </a:t>
            </a:r>
            <a:r>
              <a:rPr lang="en-US" altLang="ko-KR" dirty="0"/>
              <a:t>+ </a:t>
            </a:r>
            <a:r>
              <a:rPr lang="ko-KR" altLang="en-US" dirty="0"/>
              <a:t>노동자는 밀의 가격이 </a:t>
            </a:r>
            <a:r>
              <a:rPr lang="ko-KR" altLang="en-US" dirty="0" err="1"/>
              <a:t>낮아야되는데</a:t>
            </a:r>
            <a:r>
              <a:rPr lang="ko-KR" altLang="en-US" dirty="0"/>
              <a:t> 이에 </a:t>
            </a:r>
            <a:r>
              <a:rPr lang="ko-KR" altLang="en-US" dirty="0" err="1"/>
              <a:t>젠트리와</a:t>
            </a:r>
            <a:r>
              <a:rPr lang="ko-KR" altLang="en-US" dirty="0"/>
              <a:t> 대립 </a:t>
            </a:r>
            <a:r>
              <a:rPr lang="en-US" altLang="ko-KR" dirty="0"/>
              <a:t>-&gt; </a:t>
            </a:r>
            <a:r>
              <a:rPr lang="ko-KR" altLang="en-US" dirty="0"/>
              <a:t>곡물법 폐지</a:t>
            </a:r>
            <a:endParaRPr lang="en-US" altLang="ko-KR" dirty="0"/>
          </a:p>
          <a:p>
            <a:pPr lvl="2"/>
            <a:r>
              <a:rPr lang="ko-KR" altLang="en-US" dirty="0"/>
              <a:t>국외요인</a:t>
            </a:r>
            <a:r>
              <a:rPr lang="en-US" altLang="ko-KR" dirty="0"/>
              <a:t>: </a:t>
            </a:r>
            <a:r>
              <a:rPr lang="ko-KR" altLang="en-US" dirty="0"/>
              <a:t>경공업의 생산 증대 </a:t>
            </a:r>
            <a:r>
              <a:rPr lang="en-US" altLang="ko-KR" dirty="0"/>
              <a:t>-&gt; </a:t>
            </a:r>
            <a:r>
              <a:rPr lang="ko-KR" altLang="en-US" dirty="0"/>
              <a:t>해외시장에서 인도를 꺾고 지배력을 넓힘</a:t>
            </a:r>
            <a:endParaRPr lang="en-US" altLang="ko-KR" dirty="0"/>
          </a:p>
          <a:p>
            <a:pPr lvl="3"/>
            <a:r>
              <a:rPr lang="ko-KR" altLang="en-US" dirty="0"/>
              <a:t>항해조례가 산업경쟁력에 </a:t>
            </a:r>
            <a:r>
              <a:rPr lang="ko-KR" altLang="en-US" dirty="0" err="1"/>
              <a:t>방해가됨</a:t>
            </a:r>
            <a:endParaRPr lang="en-US" altLang="ko-KR" dirty="0"/>
          </a:p>
          <a:p>
            <a:pPr lvl="1"/>
            <a:r>
              <a:rPr lang="ko-KR" altLang="en-US" dirty="0" err="1"/>
              <a:t>대불황</a:t>
            </a:r>
            <a:r>
              <a:rPr lang="en-US" altLang="ko-KR" dirty="0"/>
              <a:t>(1870)</a:t>
            </a:r>
            <a:r>
              <a:rPr lang="ko-KR" altLang="en-US" dirty="0"/>
              <a:t>의 전후</a:t>
            </a:r>
            <a:r>
              <a:rPr lang="en-US" altLang="ko-KR" dirty="0"/>
              <a:t> </a:t>
            </a:r>
            <a:r>
              <a:rPr lang="ko-KR" altLang="en-US" dirty="0"/>
              <a:t>제국주의의 변화</a:t>
            </a:r>
            <a:endParaRPr lang="en-US" altLang="ko-KR" dirty="0"/>
          </a:p>
          <a:p>
            <a:pPr lvl="2"/>
            <a:r>
              <a:rPr lang="ko-KR" altLang="en-US" dirty="0"/>
              <a:t>불황 전 </a:t>
            </a:r>
            <a:r>
              <a:rPr lang="en-US" altLang="ko-KR" dirty="0"/>
              <a:t>= </a:t>
            </a:r>
            <a:r>
              <a:rPr lang="ko-KR" altLang="en-US" dirty="0"/>
              <a:t>자유무역 제국주의</a:t>
            </a:r>
            <a:r>
              <a:rPr lang="en-US" altLang="ko-KR" dirty="0"/>
              <a:t> 	</a:t>
            </a:r>
            <a:r>
              <a:rPr lang="ko-KR" altLang="en-US" dirty="0"/>
              <a:t>불황 후 </a:t>
            </a:r>
            <a:r>
              <a:rPr lang="en-US" altLang="ko-KR" dirty="0"/>
              <a:t>= </a:t>
            </a:r>
            <a:r>
              <a:rPr lang="ko-KR" altLang="en-US" dirty="0"/>
              <a:t>건설적 제국주의</a:t>
            </a:r>
            <a:endParaRPr lang="en-US" altLang="ko-KR" dirty="0"/>
          </a:p>
          <a:p>
            <a:pPr lvl="2"/>
            <a:r>
              <a:rPr lang="ko-KR" altLang="en-US" dirty="0"/>
              <a:t>자유무역 제국주의 </a:t>
            </a:r>
            <a:r>
              <a:rPr lang="en-US" altLang="ko-KR" dirty="0"/>
              <a:t>: </a:t>
            </a:r>
            <a:r>
              <a:rPr lang="ko-KR" altLang="en-US" dirty="0"/>
              <a:t>관세를 낮추고 </a:t>
            </a:r>
            <a:r>
              <a:rPr lang="ko-KR" altLang="en-US" dirty="0" err="1"/>
              <a:t>식민지간의</a:t>
            </a:r>
            <a:r>
              <a:rPr lang="ko-KR" altLang="en-US" dirty="0"/>
              <a:t> 자유무역 조항을 맺음</a:t>
            </a:r>
            <a:endParaRPr lang="en-US" altLang="ko-KR" dirty="0"/>
          </a:p>
          <a:p>
            <a:pPr lvl="3"/>
            <a:r>
              <a:rPr lang="en-US" altLang="ko-KR" dirty="0"/>
              <a:t>But, </a:t>
            </a:r>
            <a:r>
              <a:rPr lang="ko-KR" altLang="en-US" dirty="0"/>
              <a:t>자국민의 이익을 보호하고</a:t>
            </a:r>
            <a:r>
              <a:rPr lang="en-US" altLang="ko-KR" dirty="0"/>
              <a:t>, </a:t>
            </a:r>
            <a:r>
              <a:rPr lang="ko-KR" altLang="en-US" dirty="0"/>
              <a:t>최혜국대우 </a:t>
            </a:r>
            <a:r>
              <a:rPr lang="ko-KR" altLang="en-US" dirty="0" err="1"/>
              <a:t>조항등이</a:t>
            </a:r>
            <a:r>
              <a:rPr lang="ko-KR" altLang="en-US" dirty="0"/>
              <a:t> 있음</a:t>
            </a:r>
            <a:r>
              <a:rPr lang="en-US" altLang="ko-KR" dirty="0"/>
              <a:t>. </a:t>
            </a:r>
            <a:r>
              <a:rPr lang="ko-KR" altLang="en-US" dirty="0"/>
              <a:t>또한 식민지에 현지 관리를 뽑는 등 간접적으로 간섭을 함</a:t>
            </a:r>
            <a:endParaRPr lang="en-US" altLang="ko-KR" dirty="0"/>
          </a:p>
          <a:p>
            <a:pPr lvl="3"/>
            <a:r>
              <a:rPr lang="ko-KR" altLang="en-US" dirty="0"/>
              <a:t>이 과정에서 제국주의 국가의 산업은 발달</a:t>
            </a:r>
            <a:r>
              <a:rPr lang="en-US" altLang="ko-KR" dirty="0"/>
              <a:t>, </a:t>
            </a:r>
            <a:r>
              <a:rPr lang="ko-KR" altLang="en-US" dirty="0"/>
              <a:t>식민지는 </a:t>
            </a:r>
            <a:r>
              <a:rPr lang="ko-KR" altLang="en-US" dirty="0" err="1"/>
              <a:t>탈산업</a:t>
            </a:r>
            <a:r>
              <a:rPr lang="en-US" altLang="ko-KR" dirty="0"/>
              <a:t>/</a:t>
            </a:r>
            <a:r>
              <a:rPr lang="ko-KR" altLang="en-US" dirty="0"/>
              <a:t>농업화</a:t>
            </a:r>
            <a:endParaRPr lang="en-US" altLang="ko-KR" dirty="0"/>
          </a:p>
          <a:p>
            <a:pPr lvl="2"/>
            <a:r>
              <a:rPr lang="ko-KR" altLang="en-US" dirty="0"/>
              <a:t>건설적 제국주의 </a:t>
            </a:r>
            <a:r>
              <a:rPr lang="en-US" altLang="ko-KR" dirty="0"/>
              <a:t>: </a:t>
            </a:r>
            <a:r>
              <a:rPr lang="ko-KR" altLang="en-US" dirty="0"/>
              <a:t>식민지 사이를 결속하고</a:t>
            </a:r>
            <a:r>
              <a:rPr lang="en-US" altLang="ko-KR" dirty="0"/>
              <a:t>,</a:t>
            </a:r>
            <a:r>
              <a:rPr lang="ko-KR" altLang="en-US" dirty="0"/>
              <a:t> 분업화를 공고히</a:t>
            </a:r>
            <a:endParaRPr lang="en-US" altLang="ko-KR" dirty="0"/>
          </a:p>
          <a:p>
            <a:pPr lvl="3"/>
            <a:r>
              <a:rPr lang="ko-KR" altLang="en-US" dirty="0"/>
              <a:t>독일</a:t>
            </a:r>
            <a:r>
              <a:rPr lang="en-US" altLang="ko-KR" dirty="0"/>
              <a:t>/</a:t>
            </a:r>
            <a:r>
              <a:rPr lang="ko-KR" altLang="en-US" dirty="0"/>
              <a:t>프랑스의 경우 불황 이후 다시 보호무역주의로 회귀</a:t>
            </a:r>
            <a:endParaRPr lang="en-US" altLang="ko-KR" dirty="0"/>
          </a:p>
          <a:p>
            <a:pPr lvl="3"/>
            <a:r>
              <a:rPr lang="ko-KR" altLang="en-US" dirty="0"/>
              <a:t>영국 외 국가들은 </a:t>
            </a:r>
            <a:r>
              <a:rPr lang="ko-KR" altLang="en-US" dirty="0" err="1"/>
              <a:t>대불황</a:t>
            </a:r>
            <a:r>
              <a:rPr lang="ko-KR" altLang="en-US" dirty="0"/>
              <a:t> 이후에도 자유무역적 제국주의 유지</a:t>
            </a:r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 err="1"/>
              <a:t>차셰계화와</a:t>
            </a:r>
            <a:r>
              <a:rPr lang="ko-KR" altLang="en-US" dirty="0"/>
              <a:t> 제국주의 </a:t>
            </a:r>
            <a:r>
              <a:rPr lang="en-US" altLang="ko-KR" dirty="0"/>
              <a:t>: 1</a:t>
            </a:r>
            <a:r>
              <a:rPr lang="ko-KR" altLang="en-US" dirty="0"/>
              <a:t>차세계화 </a:t>
            </a:r>
            <a:r>
              <a:rPr lang="en-US" altLang="ko-KR" dirty="0"/>
              <a:t>(19C </a:t>
            </a:r>
            <a:r>
              <a:rPr lang="ko-KR" altLang="en-US" dirty="0"/>
              <a:t>중반 </a:t>
            </a:r>
            <a:r>
              <a:rPr lang="en-US" altLang="ko-KR" dirty="0"/>
              <a:t>~ 1914)</a:t>
            </a:r>
          </a:p>
          <a:p>
            <a:pPr lvl="1"/>
            <a:r>
              <a:rPr lang="ko-KR" altLang="en-US" dirty="0" err="1"/>
              <a:t>가능하게된</a:t>
            </a:r>
            <a:r>
              <a:rPr lang="ko-KR" altLang="en-US" dirty="0"/>
              <a:t> 배경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 err="1"/>
              <a:t>무역제도로서의</a:t>
            </a:r>
            <a:r>
              <a:rPr lang="ko-KR" altLang="en-US" dirty="0"/>
              <a:t> 제국주의</a:t>
            </a:r>
            <a:r>
              <a:rPr lang="en-US" altLang="ko-KR" dirty="0"/>
              <a:t>: </a:t>
            </a:r>
            <a:r>
              <a:rPr lang="ko-KR" altLang="en-US" dirty="0"/>
              <a:t>신뢰에 반하는 행동을 했을 때 무력을 동원하여 강제 집행 </a:t>
            </a:r>
            <a:endParaRPr lang="en-US" altLang="ko-KR" dirty="0"/>
          </a:p>
          <a:p>
            <a:pPr lvl="3"/>
            <a:r>
              <a:rPr lang="ko-KR" altLang="en-US" dirty="0"/>
              <a:t>국제사회에서의 제 </a:t>
            </a:r>
            <a:r>
              <a:rPr lang="en-US" altLang="ko-KR" dirty="0"/>
              <a:t>3</a:t>
            </a:r>
            <a:r>
              <a:rPr lang="ko-KR" altLang="en-US" dirty="0"/>
              <a:t>자 강제집행</a:t>
            </a:r>
            <a:endParaRPr lang="en-US" altLang="ko-KR" dirty="0"/>
          </a:p>
          <a:p>
            <a:pPr lvl="2"/>
            <a:r>
              <a:rPr lang="ko-KR" altLang="en-US" dirty="0"/>
              <a:t>운송</a:t>
            </a:r>
            <a:r>
              <a:rPr lang="en-US" altLang="ko-KR" dirty="0"/>
              <a:t>/</a:t>
            </a:r>
            <a:r>
              <a:rPr lang="ko-KR" altLang="en-US" dirty="0"/>
              <a:t>통신기술의 발달</a:t>
            </a:r>
            <a:r>
              <a:rPr lang="en-US" altLang="ko-KR" dirty="0"/>
              <a:t>(</a:t>
            </a:r>
            <a:r>
              <a:rPr lang="ko-KR" altLang="en-US" dirty="0"/>
              <a:t>증기선</a:t>
            </a:r>
            <a:r>
              <a:rPr lang="en-US" altLang="ko-KR" dirty="0"/>
              <a:t>,</a:t>
            </a:r>
            <a:r>
              <a:rPr lang="ko-KR" altLang="en-US" dirty="0"/>
              <a:t>철도</a:t>
            </a:r>
            <a:r>
              <a:rPr lang="en-US" altLang="ko-KR" dirty="0"/>
              <a:t>,</a:t>
            </a:r>
            <a:r>
              <a:rPr lang="ko-KR" altLang="en-US" dirty="0"/>
              <a:t>운하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통화제도 </a:t>
            </a:r>
            <a:r>
              <a:rPr lang="en-US" altLang="ko-KR" dirty="0"/>
              <a:t>: 1879</a:t>
            </a:r>
            <a:r>
              <a:rPr lang="ko-KR" altLang="en-US" dirty="0"/>
              <a:t>년대 금본위제 통화</a:t>
            </a:r>
            <a:endParaRPr lang="en-US" altLang="ko-KR" dirty="0"/>
          </a:p>
          <a:p>
            <a:pPr lvl="2"/>
            <a:r>
              <a:rPr lang="ko-KR" altLang="en-US" dirty="0"/>
              <a:t>자유시장 경제학자 담론</a:t>
            </a:r>
            <a:r>
              <a:rPr lang="en-US" altLang="ko-KR" dirty="0"/>
              <a:t> : </a:t>
            </a:r>
            <a:r>
              <a:rPr lang="ko-KR" altLang="en-US" dirty="0"/>
              <a:t>세계주요국의 규제완화</a:t>
            </a:r>
            <a:endParaRPr lang="en-US" altLang="ko-KR" dirty="0"/>
          </a:p>
          <a:p>
            <a:pPr lvl="3"/>
            <a:r>
              <a:rPr lang="ko-KR" altLang="en-US" dirty="0"/>
              <a:t>주요선진국 의사결정자의 신념체계 수렴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0226B30-0335-7133-CE58-34F57C6E63E4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160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B5B072C-1E88-6567-DE47-E7E3277FE7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주차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2119D24-8E93-C5F7-932E-7AA442143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 세계화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5BE5F3-D65B-31E3-BDD0-BD443477F3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A0B96DD-3AF3-E9EB-C207-86C44846BC9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 세계화와 제국주의</a:t>
            </a:r>
            <a:endParaRPr lang="en-US" altLang="ko-KR" dirty="0"/>
          </a:p>
          <a:p>
            <a:pPr lvl="1"/>
            <a:r>
              <a:rPr lang="ko-KR" altLang="en-US" dirty="0"/>
              <a:t>가능하게 된 배경</a:t>
            </a:r>
            <a:r>
              <a:rPr lang="en-US" altLang="ko-KR" dirty="0"/>
              <a:t>?</a:t>
            </a:r>
          </a:p>
          <a:p>
            <a:pPr lvl="2"/>
            <a:r>
              <a:rPr lang="en-US" altLang="ko-KR" dirty="0"/>
              <a:t>1. </a:t>
            </a:r>
            <a:r>
              <a:rPr lang="ko-KR" altLang="en-US" dirty="0"/>
              <a:t>운송</a:t>
            </a:r>
            <a:r>
              <a:rPr lang="en-US" altLang="ko-KR" dirty="0"/>
              <a:t>/</a:t>
            </a:r>
            <a:r>
              <a:rPr lang="ko-KR" altLang="en-US" dirty="0"/>
              <a:t>통신 기술 발달</a:t>
            </a:r>
            <a:r>
              <a:rPr lang="en-US" altLang="ko-KR" dirty="0"/>
              <a:t>(</a:t>
            </a:r>
            <a:r>
              <a:rPr lang="ko-KR" altLang="en-US" dirty="0"/>
              <a:t>증기선</a:t>
            </a:r>
            <a:r>
              <a:rPr lang="en-US" altLang="ko-KR" dirty="0"/>
              <a:t>, </a:t>
            </a:r>
            <a:r>
              <a:rPr lang="ko-KR" altLang="en-US" dirty="0"/>
              <a:t>철도</a:t>
            </a:r>
            <a:r>
              <a:rPr lang="en-US" altLang="ko-KR" dirty="0"/>
              <a:t>, </a:t>
            </a:r>
            <a:r>
              <a:rPr lang="ko-KR" altLang="en-US" dirty="0"/>
              <a:t>운하</a:t>
            </a:r>
            <a:r>
              <a:rPr lang="en-US" altLang="ko-KR" dirty="0"/>
              <a:t>, </a:t>
            </a:r>
            <a:r>
              <a:rPr lang="ko-KR" altLang="en-US" dirty="0"/>
              <a:t>전신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2. </a:t>
            </a:r>
            <a:r>
              <a:rPr lang="ko-KR" altLang="en-US" dirty="0"/>
              <a:t>통화제도 </a:t>
            </a:r>
            <a:r>
              <a:rPr lang="en-US" altLang="ko-KR" dirty="0"/>
              <a:t>: 1870 </a:t>
            </a:r>
            <a:r>
              <a:rPr lang="ko-KR" altLang="en-US" dirty="0"/>
              <a:t>금본위제도</a:t>
            </a:r>
            <a:endParaRPr lang="en-US" altLang="ko-KR" dirty="0"/>
          </a:p>
          <a:p>
            <a:pPr lvl="2"/>
            <a:r>
              <a:rPr lang="en-US" altLang="ko-KR" dirty="0"/>
              <a:t>3. </a:t>
            </a:r>
            <a:r>
              <a:rPr lang="ko-KR" altLang="en-US" dirty="0"/>
              <a:t>자유시장 경제학자 담론 </a:t>
            </a:r>
            <a:r>
              <a:rPr lang="en-US" altLang="ko-KR" dirty="0"/>
              <a:t>: </a:t>
            </a:r>
            <a:r>
              <a:rPr lang="ko-KR" altLang="en-US" dirty="0"/>
              <a:t>주요국의 규제를 완화</a:t>
            </a:r>
            <a:endParaRPr lang="en-US" altLang="ko-KR" dirty="0"/>
          </a:p>
          <a:p>
            <a:pPr lvl="2"/>
            <a:r>
              <a:rPr lang="ko-KR" altLang="en-US" dirty="0"/>
              <a:t>주요 선진국 의사결정자</a:t>
            </a:r>
            <a:r>
              <a:rPr lang="en-US" altLang="ko-KR" dirty="0"/>
              <a:t> -&gt;</a:t>
            </a:r>
            <a:r>
              <a:rPr lang="ko-KR" altLang="en-US" dirty="0"/>
              <a:t> 신념체계 수렴</a:t>
            </a:r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차 세계화의 배경</a:t>
            </a:r>
            <a:endParaRPr lang="en-US" altLang="ko-KR" dirty="0"/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차 세계화 기간동안 철도↑</a:t>
            </a:r>
            <a:r>
              <a:rPr lang="en-US" altLang="ko-KR" dirty="0"/>
              <a:t> (</a:t>
            </a:r>
            <a:r>
              <a:rPr lang="ko-KR" altLang="en-US" dirty="0"/>
              <a:t>철도 </a:t>
            </a:r>
            <a:r>
              <a:rPr lang="en-US" altLang="ko-KR" dirty="0"/>
              <a:t>= </a:t>
            </a:r>
            <a:r>
              <a:rPr lang="ko-KR" altLang="en-US" dirty="0"/>
              <a:t>수요의 창출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냉장기술 역시 운송비 하락에 기여</a:t>
            </a:r>
            <a:endParaRPr lang="en-US" altLang="ko-KR" dirty="0"/>
          </a:p>
          <a:p>
            <a:pPr lvl="1"/>
            <a:r>
              <a:rPr lang="ko-KR" altLang="en-US" dirty="0"/>
              <a:t>금본위 국제통화</a:t>
            </a:r>
            <a:r>
              <a:rPr lang="en-US" altLang="ko-KR" dirty="0"/>
              <a:t>(1870)</a:t>
            </a:r>
          </a:p>
          <a:p>
            <a:pPr lvl="2"/>
            <a:r>
              <a:rPr lang="ko-KR" altLang="en-US" dirty="0"/>
              <a:t>각국의 통화 </a:t>
            </a:r>
            <a:r>
              <a:rPr lang="en-US" altLang="ko-KR" dirty="0"/>
              <a:t>-&gt; </a:t>
            </a:r>
            <a:r>
              <a:rPr lang="ko-KR" altLang="en-US" dirty="0"/>
              <a:t>금 가치에 고정</a:t>
            </a:r>
            <a:endParaRPr lang="en-US" altLang="ko-KR" dirty="0"/>
          </a:p>
          <a:p>
            <a:pPr lvl="2"/>
            <a:r>
              <a:rPr lang="ko-KR" altLang="en-US" dirty="0"/>
              <a:t>금본위제 조건</a:t>
            </a:r>
            <a:r>
              <a:rPr lang="en-US" altLang="ko-KR" dirty="0"/>
              <a:t>?</a:t>
            </a:r>
          </a:p>
          <a:p>
            <a:pPr lvl="3"/>
            <a:r>
              <a:rPr lang="ko-KR" altLang="en-US" dirty="0"/>
              <a:t>자본의 자유로운 이동</a:t>
            </a:r>
            <a:r>
              <a:rPr lang="en-US" altLang="ko-KR" dirty="0"/>
              <a:t>	</a:t>
            </a:r>
            <a:br>
              <a:rPr lang="en-US" altLang="ko-KR" dirty="0"/>
            </a:br>
            <a:r>
              <a:rPr lang="ko-KR" altLang="en-US" dirty="0"/>
              <a:t>국가간 고정환율</a:t>
            </a:r>
            <a:br>
              <a:rPr lang="en-US" altLang="ko-KR" dirty="0"/>
            </a:br>
            <a:r>
              <a:rPr lang="ko-KR" altLang="en-US" dirty="0"/>
              <a:t>조정기구 부재 </a:t>
            </a:r>
            <a:r>
              <a:rPr lang="en-US" altLang="ko-KR" dirty="0"/>
              <a:t>(</a:t>
            </a:r>
            <a:r>
              <a:rPr lang="ko-KR" altLang="en-US" dirty="0"/>
              <a:t>통화정책 불가능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물가수준</a:t>
            </a:r>
            <a:r>
              <a:rPr lang="en-US" altLang="ko-KR" dirty="0"/>
              <a:t>, </a:t>
            </a:r>
            <a:r>
              <a:rPr lang="ko-KR" altLang="en-US" dirty="0"/>
              <a:t>통화량 </a:t>
            </a:r>
            <a:r>
              <a:rPr lang="en-US" altLang="ko-KR" dirty="0"/>
              <a:t>-&gt; </a:t>
            </a:r>
            <a:r>
              <a:rPr lang="ko-KR" altLang="en-US" dirty="0"/>
              <a:t>금 보유량에 결정</a:t>
            </a:r>
            <a:endParaRPr lang="en-US" altLang="ko-KR" dirty="0"/>
          </a:p>
          <a:p>
            <a:pPr lvl="2"/>
            <a:r>
              <a:rPr lang="ko-KR" altLang="en-US" dirty="0"/>
              <a:t>국제수지조정 메커니즘</a:t>
            </a:r>
            <a:endParaRPr lang="en-US" altLang="ko-KR" dirty="0"/>
          </a:p>
          <a:p>
            <a:pPr lvl="3"/>
            <a:r>
              <a:rPr lang="en-US" altLang="ko-KR" dirty="0"/>
              <a:t>A</a:t>
            </a:r>
            <a:r>
              <a:rPr lang="ko-KR" altLang="en-US" dirty="0"/>
              <a:t>국 국제수지 적자 </a:t>
            </a:r>
            <a:r>
              <a:rPr lang="en-US" altLang="ko-KR" dirty="0"/>
              <a:t>-&gt; </a:t>
            </a:r>
            <a:r>
              <a:rPr lang="ko-KR" altLang="en-US" dirty="0"/>
              <a:t>금 유출 </a:t>
            </a:r>
            <a:r>
              <a:rPr lang="en-US" altLang="ko-KR" dirty="0"/>
              <a:t>-&gt; </a:t>
            </a:r>
            <a:r>
              <a:rPr lang="ko-KR" altLang="en-US" dirty="0"/>
              <a:t>통화량 ↓</a:t>
            </a:r>
            <a:endParaRPr lang="en-US" altLang="ko-KR" dirty="0"/>
          </a:p>
          <a:p>
            <a:pPr lvl="3"/>
            <a:r>
              <a:rPr lang="en-US" altLang="ko-KR" dirty="0"/>
              <a:t>1. </a:t>
            </a:r>
            <a:r>
              <a:rPr lang="ko-KR" altLang="en-US" dirty="0"/>
              <a:t>가격정화 플로우 메커니즘 </a:t>
            </a:r>
            <a:r>
              <a:rPr lang="en-US" altLang="ko-KR" dirty="0"/>
              <a:t>: </a:t>
            </a:r>
            <a:r>
              <a:rPr lang="ko-KR" altLang="en-US" dirty="0"/>
              <a:t>물가 ↓</a:t>
            </a:r>
            <a:r>
              <a:rPr lang="en-US" altLang="ko-KR" dirty="0"/>
              <a:t>-&gt; </a:t>
            </a:r>
            <a:r>
              <a:rPr lang="ko-KR" altLang="en-US" dirty="0"/>
              <a:t>수출 ↑</a:t>
            </a:r>
            <a:r>
              <a:rPr lang="en-US" altLang="ko-KR" dirty="0"/>
              <a:t>, </a:t>
            </a:r>
            <a:r>
              <a:rPr lang="ko-KR" altLang="en-US" dirty="0"/>
              <a:t>수입 ↓</a:t>
            </a:r>
            <a:endParaRPr lang="en-US" altLang="ko-KR" dirty="0"/>
          </a:p>
          <a:p>
            <a:pPr lvl="3"/>
            <a:r>
              <a:rPr lang="en-US" altLang="ko-KR" dirty="0"/>
              <a:t>2. </a:t>
            </a:r>
            <a:r>
              <a:rPr lang="ko-KR" altLang="en-US" dirty="0"/>
              <a:t>자본이동설</a:t>
            </a:r>
            <a:r>
              <a:rPr lang="en-US" altLang="ko-KR" dirty="0"/>
              <a:t>: </a:t>
            </a:r>
            <a:r>
              <a:rPr lang="ko-KR" altLang="en-US" dirty="0"/>
              <a:t>이자율 ↑ </a:t>
            </a:r>
            <a:r>
              <a:rPr lang="en-US" altLang="ko-KR" dirty="0"/>
              <a:t>-&gt; </a:t>
            </a:r>
            <a:r>
              <a:rPr lang="ko-KR" altLang="en-US" dirty="0"/>
              <a:t>자본 유입</a:t>
            </a:r>
            <a:endParaRPr lang="en-US" altLang="ko-KR" dirty="0"/>
          </a:p>
          <a:p>
            <a:pPr lvl="3"/>
            <a:r>
              <a:rPr lang="en-US" altLang="ko-KR" dirty="0"/>
              <a:t>3. </a:t>
            </a:r>
            <a:r>
              <a:rPr lang="ko-KR" altLang="en-US" dirty="0" err="1"/>
              <a:t>개방경제승수이론</a:t>
            </a:r>
            <a:r>
              <a:rPr lang="en-US" altLang="ko-KR" dirty="0"/>
              <a:t>: </a:t>
            </a:r>
            <a:r>
              <a:rPr lang="ko-KR" altLang="en-US" dirty="0"/>
              <a:t>유효수요 ↓</a:t>
            </a:r>
            <a:r>
              <a:rPr lang="en-US" altLang="ko-KR" dirty="0"/>
              <a:t>, </a:t>
            </a:r>
            <a:r>
              <a:rPr lang="ko-KR" altLang="en-US" dirty="0"/>
              <a:t>지출 </a:t>
            </a:r>
            <a:r>
              <a:rPr lang="en-US" altLang="ko-KR" dirty="0"/>
              <a:t>&amp; </a:t>
            </a:r>
            <a:r>
              <a:rPr lang="ko-KR" altLang="en-US" dirty="0"/>
              <a:t>고용 ↓</a:t>
            </a:r>
            <a:r>
              <a:rPr lang="en-US" altLang="ko-KR" dirty="0"/>
              <a:t>, </a:t>
            </a:r>
            <a:r>
              <a:rPr lang="ko-KR" altLang="en-US" dirty="0"/>
              <a:t>수입 수요 ↓</a:t>
            </a:r>
            <a:endParaRPr lang="en-US" altLang="ko-KR" dirty="0"/>
          </a:p>
          <a:p>
            <a:pPr lvl="3"/>
            <a:r>
              <a:rPr lang="ko-KR" altLang="en-US" dirty="0" err="1"/>
              <a:t>통화론적</a:t>
            </a:r>
            <a:r>
              <a:rPr lang="ko-KR" altLang="en-US" dirty="0"/>
              <a:t> 접근</a:t>
            </a:r>
            <a:r>
              <a:rPr lang="en-US" altLang="ko-KR" dirty="0"/>
              <a:t>: </a:t>
            </a:r>
            <a:r>
              <a:rPr lang="ko-KR" altLang="en-US" dirty="0"/>
              <a:t>위 경로들이 기대가 합리적일수록 구매력평가 </a:t>
            </a:r>
            <a:r>
              <a:rPr lang="en-US" altLang="ko-KR" dirty="0"/>
              <a:t>&amp; </a:t>
            </a:r>
            <a:r>
              <a:rPr lang="ko-KR" altLang="en-US" dirty="0"/>
              <a:t>이자율 평가의 회복이 빠르다</a:t>
            </a:r>
            <a:endParaRPr lang="en-US" altLang="ko-KR" dirty="0"/>
          </a:p>
          <a:p>
            <a:pPr lvl="3"/>
            <a:r>
              <a:rPr lang="ko-KR" altLang="en-US" dirty="0"/>
              <a:t>중앙은행 </a:t>
            </a:r>
            <a:r>
              <a:rPr lang="en-US" altLang="ko-KR" dirty="0"/>
              <a:t>= </a:t>
            </a:r>
            <a:r>
              <a:rPr lang="ko-KR" altLang="en-US" dirty="0" err="1"/>
              <a:t>조정메커니즘</a:t>
            </a:r>
            <a:r>
              <a:rPr lang="ko-KR" altLang="en-US" dirty="0"/>
              <a:t> 허용</a:t>
            </a:r>
            <a:r>
              <a:rPr lang="en-US" altLang="ko-KR" dirty="0"/>
              <a:t>, </a:t>
            </a:r>
            <a:r>
              <a:rPr lang="ko-KR" altLang="en-US" dirty="0"/>
              <a:t>촉진</a:t>
            </a:r>
            <a:endParaRPr lang="en-US" altLang="ko-KR" dirty="0"/>
          </a:p>
          <a:p>
            <a:pPr lvl="1"/>
            <a:r>
              <a:rPr lang="ko-KR" altLang="en-US" dirty="0"/>
              <a:t>자유주의 담론 수용 </a:t>
            </a:r>
            <a:r>
              <a:rPr lang="en-US" altLang="ko-KR" dirty="0"/>
              <a:t>-&gt; </a:t>
            </a:r>
            <a:r>
              <a:rPr lang="ko-KR" altLang="en-US" dirty="0"/>
              <a:t>세계 주요국의 규제 완화</a:t>
            </a:r>
            <a:endParaRPr lang="en-US" altLang="ko-KR" dirty="0"/>
          </a:p>
          <a:p>
            <a:pPr lvl="1"/>
            <a:r>
              <a:rPr lang="ko-KR" altLang="en-US" dirty="0"/>
              <a:t>제국주의</a:t>
            </a:r>
            <a:endParaRPr lang="en-US" altLang="ko-KR" dirty="0"/>
          </a:p>
          <a:p>
            <a:pPr lvl="2"/>
            <a:r>
              <a:rPr lang="ko-KR" altLang="en-US" dirty="0"/>
              <a:t>영 자유무역 제국주의 </a:t>
            </a:r>
            <a:r>
              <a:rPr lang="en-US" altLang="ko-KR" dirty="0"/>
              <a:t>: </a:t>
            </a:r>
            <a:r>
              <a:rPr lang="ko-KR" altLang="en-US" dirty="0"/>
              <a:t>거래를 잘하려면 국가의 역할 ↑</a:t>
            </a:r>
            <a:endParaRPr lang="en-US" altLang="ko-KR" dirty="0"/>
          </a:p>
          <a:p>
            <a:pPr lvl="2"/>
            <a:r>
              <a:rPr lang="ko-KR" altLang="en-US" dirty="0"/>
              <a:t>건설적 제국주의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37C60A8-3EC0-1537-3830-0D6CA0731473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3030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849B49C-A853-73D0-501C-3A7D014750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479B466-BA56-7603-7A79-EE612CE86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 세계화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E7789C-858E-F677-8A25-44230749A9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3082176-6677-8DBE-4835-3817FBA8EBC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금본위제 역사</a:t>
            </a:r>
            <a:endParaRPr lang="en-US" altLang="ko-KR" dirty="0"/>
          </a:p>
          <a:p>
            <a:pPr lvl="1"/>
            <a:r>
              <a:rPr lang="en-US" altLang="ko-KR" dirty="0"/>
              <a:t>1803 </a:t>
            </a:r>
            <a:r>
              <a:rPr lang="ko-KR" altLang="en-US" dirty="0"/>
              <a:t>영 </a:t>
            </a:r>
            <a:r>
              <a:rPr lang="en-US" altLang="ko-KR" dirty="0"/>
              <a:t>= </a:t>
            </a:r>
            <a:r>
              <a:rPr lang="ko-KR" altLang="en-US" dirty="0"/>
              <a:t>금본위</a:t>
            </a:r>
            <a:r>
              <a:rPr lang="en-US" altLang="ko-KR" dirty="0"/>
              <a:t>, </a:t>
            </a:r>
            <a:r>
              <a:rPr lang="ko-KR" altLang="en-US" dirty="0" err="1"/>
              <a:t>프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복본위</a:t>
            </a:r>
            <a:r>
              <a:rPr lang="en-US" altLang="ko-KR" dirty="0"/>
              <a:t>, </a:t>
            </a:r>
            <a:r>
              <a:rPr lang="ko-KR" altLang="en-US" dirty="0"/>
              <a:t>독 </a:t>
            </a:r>
            <a:r>
              <a:rPr lang="en-US" altLang="ko-KR" dirty="0"/>
              <a:t>= </a:t>
            </a:r>
            <a:r>
              <a:rPr lang="ko-KR" altLang="en-US" dirty="0" err="1"/>
              <a:t>은본위</a:t>
            </a:r>
            <a:br>
              <a:rPr lang="en-US" altLang="ko-KR" dirty="0"/>
            </a:br>
            <a:r>
              <a:rPr lang="en-US" altLang="ko-KR" dirty="0"/>
              <a:t>1870 </a:t>
            </a:r>
            <a:r>
              <a:rPr lang="ko-KR" altLang="en-US" dirty="0"/>
              <a:t>금본위제로 수렴</a:t>
            </a:r>
            <a:endParaRPr lang="en-US" altLang="ko-KR" dirty="0"/>
          </a:p>
          <a:p>
            <a:pPr lvl="1"/>
            <a:r>
              <a:rPr lang="ko-KR" altLang="en-US" dirty="0"/>
              <a:t>영 금본위제 과정</a:t>
            </a:r>
            <a:endParaRPr lang="en-US" altLang="ko-KR" dirty="0"/>
          </a:p>
          <a:p>
            <a:pPr lvl="2"/>
            <a:r>
              <a:rPr lang="ko-KR" altLang="en-US" dirty="0"/>
              <a:t>원래 가치보다 금화를 낮게 책정 </a:t>
            </a:r>
            <a:r>
              <a:rPr lang="en-US" altLang="ko-KR" dirty="0"/>
              <a:t>-&gt; </a:t>
            </a:r>
            <a:r>
              <a:rPr lang="ko-KR" altLang="en-US" dirty="0"/>
              <a:t>금화가 악화</a:t>
            </a:r>
            <a:r>
              <a:rPr lang="en-US" altLang="ko-KR" dirty="0"/>
              <a:t> -&gt; </a:t>
            </a:r>
            <a:r>
              <a:rPr lang="ko-KR" altLang="en-US" dirty="0" err="1"/>
              <a:t>그래샴의</a:t>
            </a:r>
            <a:r>
              <a:rPr lang="ko-KR" altLang="en-US" dirty="0"/>
              <a:t> 법칙에 의해 악화를 더 유통 </a:t>
            </a:r>
            <a:r>
              <a:rPr lang="en-US" altLang="ko-KR" dirty="0"/>
              <a:t>-&gt; </a:t>
            </a:r>
            <a:r>
              <a:rPr lang="ko-KR" altLang="en-US" dirty="0"/>
              <a:t>금본위제 성립</a:t>
            </a:r>
            <a:endParaRPr lang="en-US" altLang="ko-KR" dirty="0"/>
          </a:p>
          <a:p>
            <a:pPr lvl="3"/>
            <a:r>
              <a:rPr lang="ko-KR" altLang="en-US" dirty="0" err="1"/>
              <a:t>그래샴의</a:t>
            </a:r>
            <a:r>
              <a:rPr lang="ko-KR" altLang="en-US" dirty="0"/>
              <a:t> 법칙 </a:t>
            </a:r>
            <a:r>
              <a:rPr lang="en-US" altLang="ko-KR" dirty="0"/>
              <a:t>= </a:t>
            </a:r>
            <a:r>
              <a:rPr lang="ko-KR" altLang="en-US" dirty="0"/>
              <a:t>악화</a:t>
            </a:r>
            <a:r>
              <a:rPr lang="en-US" altLang="ko-KR" dirty="0"/>
              <a:t>(</a:t>
            </a:r>
            <a:r>
              <a:rPr lang="ko-KR" altLang="en-US" dirty="0"/>
              <a:t>금의 양 부족</a:t>
            </a:r>
            <a:r>
              <a:rPr lang="en-US" altLang="ko-KR" dirty="0"/>
              <a:t>)</a:t>
            </a:r>
            <a:r>
              <a:rPr lang="ko-KR" altLang="en-US" dirty="0"/>
              <a:t>가 양화</a:t>
            </a:r>
            <a:r>
              <a:rPr lang="en-US" altLang="ko-KR" dirty="0"/>
              <a:t>(</a:t>
            </a:r>
            <a:r>
              <a:rPr lang="ko-KR" altLang="en-US" dirty="0"/>
              <a:t>정상 금의 양</a:t>
            </a:r>
            <a:r>
              <a:rPr lang="en-US" altLang="ko-KR" dirty="0"/>
              <a:t>)</a:t>
            </a:r>
            <a:r>
              <a:rPr lang="ko-KR" altLang="en-US" dirty="0"/>
              <a:t>를 구축 </a:t>
            </a:r>
            <a:r>
              <a:rPr lang="en-US" altLang="ko-KR" dirty="0"/>
              <a:t>-&gt; </a:t>
            </a:r>
            <a:r>
              <a:rPr lang="ko-KR" altLang="en-US" dirty="0"/>
              <a:t>사람들은 악화를 더 사용하고 실제 양화는 보관</a:t>
            </a:r>
            <a:endParaRPr lang="en-US" altLang="ko-KR" dirty="0"/>
          </a:p>
          <a:p>
            <a:pPr lvl="1"/>
            <a:r>
              <a:rPr lang="ko-KR" altLang="en-US" dirty="0" err="1"/>
              <a:t>프</a:t>
            </a:r>
            <a:r>
              <a:rPr lang="en-US" altLang="ko-KR" dirty="0"/>
              <a:t> </a:t>
            </a:r>
            <a:r>
              <a:rPr lang="ko-KR" altLang="en-US" dirty="0"/>
              <a:t>독의 금본위제 과정</a:t>
            </a:r>
            <a:endParaRPr lang="en-US" altLang="ko-KR" dirty="0"/>
          </a:p>
          <a:p>
            <a:pPr lvl="2"/>
            <a:r>
              <a:rPr lang="ko-KR" altLang="en-US" dirty="0"/>
              <a:t>네트워크 </a:t>
            </a:r>
            <a:r>
              <a:rPr lang="ko-KR" altLang="en-US" dirty="0" err="1"/>
              <a:t>외부성</a:t>
            </a:r>
            <a:r>
              <a:rPr lang="en-US" altLang="ko-KR" dirty="0"/>
              <a:t>: </a:t>
            </a:r>
            <a:r>
              <a:rPr lang="ko-KR" altLang="en-US" dirty="0"/>
              <a:t>함께 같은 제도를 이용할 경우 비용 감소</a:t>
            </a:r>
            <a:endParaRPr lang="en-US" altLang="ko-KR" dirty="0"/>
          </a:p>
          <a:p>
            <a:pPr lvl="3"/>
            <a:r>
              <a:rPr lang="ko-KR" altLang="en-US" dirty="0"/>
              <a:t>모두가 소비 </a:t>
            </a:r>
            <a:r>
              <a:rPr lang="en-US" altLang="ko-KR" dirty="0"/>
              <a:t>-&gt; </a:t>
            </a:r>
            <a:r>
              <a:rPr lang="ko-KR" altLang="en-US" dirty="0"/>
              <a:t>단가 ↓</a:t>
            </a:r>
            <a:endParaRPr lang="en-US" altLang="ko-KR" dirty="0"/>
          </a:p>
          <a:p>
            <a:pPr lvl="3"/>
            <a:r>
              <a:rPr lang="ko-KR" altLang="en-US" dirty="0"/>
              <a:t>각 나라들이 동일한 통화제도를 </a:t>
            </a:r>
            <a:r>
              <a:rPr lang="ko-KR" altLang="en-US" dirty="0" err="1"/>
              <a:t>유지하는게</a:t>
            </a:r>
            <a:r>
              <a:rPr lang="ko-KR" altLang="en-US" dirty="0"/>
              <a:t> 무역에 유리</a:t>
            </a:r>
            <a:endParaRPr lang="en-US" altLang="ko-KR" dirty="0"/>
          </a:p>
          <a:p>
            <a:pPr lvl="2"/>
            <a:r>
              <a:rPr lang="ko-KR" altLang="en-US" dirty="0"/>
              <a:t>전환비용</a:t>
            </a:r>
            <a:r>
              <a:rPr lang="en-US" altLang="ko-KR" dirty="0"/>
              <a:t>: </a:t>
            </a:r>
            <a:r>
              <a:rPr lang="ko-KR" altLang="en-US" dirty="0"/>
              <a:t>제도를 전환하는 비용</a:t>
            </a:r>
            <a:endParaRPr lang="en-US" altLang="ko-KR" dirty="0"/>
          </a:p>
          <a:p>
            <a:pPr lvl="3"/>
            <a:r>
              <a:rPr lang="en-US" altLang="ko-KR" dirty="0"/>
              <a:t>(</a:t>
            </a:r>
            <a:r>
              <a:rPr lang="ko-KR" altLang="en-US" dirty="0"/>
              <a:t>네트워크 </a:t>
            </a:r>
            <a:r>
              <a:rPr lang="ko-KR" altLang="en-US" dirty="0" err="1"/>
              <a:t>외부성</a:t>
            </a:r>
            <a:r>
              <a:rPr lang="en-US" altLang="ko-KR" dirty="0"/>
              <a:t>) &gt; (</a:t>
            </a:r>
            <a:r>
              <a:rPr lang="ko-KR" altLang="en-US" dirty="0"/>
              <a:t>전환비용</a:t>
            </a:r>
            <a:r>
              <a:rPr lang="en-US" altLang="ko-KR" dirty="0"/>
              <a:t>) </a:t>
            </a:r>
            <a:r>
              <a:rPr lang="ko-KR" altLang="en-US" dirty="0"/>
              <a:t>이어야 제도 전환</a:t>
            </a:r>
            <a:endParaRPr lang="en-US" altLang="ko-KR" dirty="0"/>
          </a:p>
          <a:p>
            <a:pPr lvl="3"/>
            <a:r>
              <a:rPr lang="ko-KR" altLang="en-US" dirty="0" err="1"/>
              <a:t>보불전쟁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프</a:t>
            </a:r>
            <a:r>
              <a:rPr lang="en-US" altLang="ko-KR" dirty="0"/>
              <a:t>-</a:t>
            </a:r>
            <a:r>
              <a:rPr lang="ko-KR" altLang="en-US" dirty="0"/>
              <a:t>독 전쟁 </a:t>
            </a:r>
            <a:r>
              <a:rPr lang="en-US" altLang="ko-KR" dirty="0"/>
              <a:t>-&gt; </a:t>
            </a:r>
            <a:r>
              <a:rPr lang="ko-KR" altLang="en-US" dirty="0" err="1"/>
              <a:t>프의</a:t>
            </a:r>
            <a:r>
              <a:rPr lang="ko-KR" altLang="en-US" dirty="0"/>
              <a:t> 배상금으로 금본위제 마르크화 </a:t>
            </a:r>
            <a:br>
              <a:rPr lang="en-US" altLang="ko-KR" dirty="0"/>
            </a:br>
            <a:r>
              <a:rPr lang="ko-KR" altLang="en-US" dirty="0"/>
              <a:t>독</a:t>
            </a:r>
            <a:r>
              <a:rPr lang="en-US" altLang="ko-KR" dirty="0"/>
              <a:t>: </a:t>
            </a:r>
            <a:r>
              <a:rPr lang="ko-KR" altLang="en-US" dirty="0"/>
              <a:t>금 보유 ↑</a:t>
            </a:r>
            <a:r>
              <a:rPr lang="en-US" altLang="ko-KR" dirty="0"/>
              <a:t>, </a:t>
            </a:r>
            <a:r>
              <a:rPr lang="ko-KR" altLang="en-US" dirty="0"/>
              <a:t>은을 판매 </a:t>
            </a:r>
            <a:r>
              <a:rPr lang="en-US" altLang="ko-KR" dirty="0"/>
              <a:t>-&gt; </a:t>
            </a:r>
            <a:r>
              <a:rPr lang="ko-KR" altLang="en-US" dirty="0" err="1"/>
              <a:t>프가</a:t>
            </a:r>
            <a:r>
              <a:rPr lang="ko-KR" altLang="en-US" dirty="0"/>
              <a:t> 은을 </a:t>
            </a:r>
            <a:r>
              <a:rPr lang="ko-KR" altLang="en-US" dirty="0" err="1"/>
              <a:t>사주질</a:t>
            </a:r>
            <a:r>
              <a:rPr lang="ko-KR" altLang="en-US" dirty="0"/>
              <a:t> 않음</a:t>
            </a:r>
            <a:r>
              <a:rPr lang="en-US" altLang="ko-KR" dirty="0"/>
              <a:t>, </a:t>
            </a:r>
            <a:r>
              <a:rPr lang="ko-KR" altLang="en-US" dirty="0"/>
              <a:t>은 통화량 조절 </a:t>
            </a:r>
            <a:r>
              <a:rPr lang="en-US" altLang="ko-KR" dirty="0"/>
              <a:t>-&gt; </a:t>
            </a:r>
            <a:r>
              <a:rPr lang="ko-KR" altLang="en-US" dirty="0" err="1"/>
              <a:t>프</a:t>
            </a:r>
            <a:r>
              <a:rPr lang="ko-KR" altLang="en-US" dirty="0"/>
              <a:t> 은화 신뢰 ↓ </a:t>
            </a:r>
            <a:r>
              <a:rPr lang="en-US" altLang="ko-KR" dirty="0"/>
              <a:t>-&gt; </a:t>
            </a:r>
            <a:r>
              <a:rPr lang="ko-KR" altLang="en-US" dirty="0" err="1"/>
              <a:t>프</a:t>
            </a:r>
            <a:r>
              <a:rPr lang="ko-KR" altLang="en-US" dirty="0"/>
              <a:t> 금본위제</a:t>
            </a:r>
            <a:endParaRPr lang="en-US" altLang="ko-KR" dirty="0"/>
          </a:p>
          <a:p>
            <a:r>
              <a:rPr lang="ko-KR" altLang="en-US" dirty="0"/>
              <a:t>금본위제와 금융 세계화</a:t>
            </a:r>
            <a:endParaRPr lang="en-US" altLang="ko-KR" dirty="0"/>
          </a:p>
          <a:p>
            <a:pPr lvl="1"/>
            <a:r>
              <a:rPr lang="ko-KR" altLang="en-US" dirty="0"/>
              <a:t>금융세계화는 중앙은행들이 공유한 믿음의 산물</a:t>
            </a:r>
            <a:endParaRPr lang="en-US" altLang="ko-KR" dirty="0"/>
          </a:p>
          <a:p>
            <a:pPr lvl="2"/>
            <a:r>
              <a:rPr lang="ko-KR" altLang="en-US" dirty="0"/>
              <a:t>중앙은행 </a:t>
            </a:r>
            <a:r>
              <a:rPr lang="en-US" altLang="ko-KR" dirty="0"/>
              <a:t>-&gt; </a:t>
            </a:r>
            <a:r>
              <a:rPr lang="ko-KR" altLang="en-US" dirty="0"/>
              <a:t>자국 정치 압박으로부터 독립적 </a:t>
            </a:r>
            <a:r>
              <a:rPr lang="en-US" altLang="ko-KR" dirty="0"/>
              <a:t>-&gt; </a:t>
            </a:r>
            <a:r>
              <a:rPr lang="ko-KR" altLang="en-US" dirty="0"/>
              <a:t>세계질서를 위한 정책</a:t>
            </a:r>
            <a:endParaRPr lang="en-US" altLang="ko-KR" dirty="0"/>
          </a:p>
          <a:p>
            <a:pPr lvl="1"/>
            <a:r>
              <a:rPr lang="ko-KR" altLang="en-US" dirty="0"/>
              <a:t>채무불이행 위험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무력 </a:t>
            </a:r>
            <a:r>
              <a:rPr lang="en-US" altLang="ko-KR" dirty="0"/>
              <a:t>+ </a:t>
            </a:r>
            <a:r>
              <a:rPr lang="ko-KR" altLang="en-US" dirty="0"/>
              <a:t>제국주의 통치 </a:t>
            </a:r>
            <a:r>
              <a:rPr lang="en-US" altLang="ko-KR" dirty="0"/>
              <a:t>: </a:t>
            </a:r>
            <a:r>
              <a:rPr lang="ko-KR" altLang="en-US" dirty="0"/>
              <a:t>채무계약 강제집행</a:t>
            </a:r>
            <a:endParaRPr lang="en-US" altLang="ko-KR" dirty="0"/>
          </a:p>
          <a:p>
            <a:pPr lvl="3"/>
            <a:r>
              <a:rPr lang="en-US" altLang="ko-KR" dirty="0"/>
              <a:t>1882 </a:t>
            </a:r>
            <a:r>
              <a:rPr lang="ko-KR" altLang="en-US" dirty="0"/>
              <a:t>영 이집트 침략 </a:t>
            </a:r>
            <a:r>
              <a:rPr lang="en-US" altLang="ko-KR" dirty="0"/>
              <a:t>-&gt; </a:t>
            </a:r>
            <a:r>
              <a:rPr lang="ko-KR" altLang="en-US" dirty="0"/>
              <a:t>해외채무 상환</a:t>
            </a:r>
            <a:endParaRPr lang="en-US" altLang="ko-KR" dirty="0"/>
          </a:p>
          <a:p>
            <a:pPr lvl="3"/>
            <a:r>
              <a:rPr lang="ko-KR" altLang="en-US" dirty="0"/>
              <a:t>영 해외투자 </a:t>
            </a:r>
            <a:r>
              <a:rPr lang="en-US" altLang="ko-KR" dirty="0"/>
              <a:t>: </a:t>
            </a:r>
            <a:r>
              <a:rPr lang="ko-KR" altLang="en-US" dirty="0"/>
              <a:t>인도</a:t>
            </a:r>
            <a:r>
              <a:rPr lang="en-US" altLang="ko-KR" dirty="0"/>
              <a:t>/</a:t>
            </a:r>
            <a:r>
              <a:rPr lang="ko-KR" altLang="en-US" dirty="0"/>
              <a:t>미국 철도 투자</a:t>
            </a:r>
            <a:endParaRPr lang="en-US" altLang="ko-KR" dirty="0"/>
          </a:p>
          <a:p>
            <a:pPr lvl="1"/>
            <a:r>
              <a:rPr lang="ko-KR" altLang="en-US" dirty="0"/>
              <a:t>각국 엘리트 신념공유 </a:t>
            </a:r>
            <a:r>
              <a:rPr lang="en-US" altLang="ko-KR" dirty="0"/>
              <a:t>+ </a:t>
            </a:r>
            <a:r>
              <a:rPr lang="ko-KR" altLang="en-US" dirty="0"/>
              <a:t>제</a:t>
            </a:r>
            <a:r>
              <a:rPr lang="en-US" altLang="ko-KR" dirty="0"/>
              <a:t>3</a:t>
            </a:r>
            <a:r>
              <a:rPr lang="ko-KR" altLang="en-US" dirty="0"/>
              <a:t>자 강제집행 </a:t>
            </a:r>
            <a:r>
              <a:rPr lang="en-US" altLang="ko-KR" dirty="0"/>
              <a:t>-&gt; 1</a:t>
            </a:r>
            <a:r>
              <a:rPr lang="ko-KR" altLang="en-US" dirty="0"/>
              <a:t>차 세계화 가능</a:t>
            </a:r>
            <a:endParaRPr lang="en-US" altLang="ko-KR" dirty="0"/>
          </a:p>
          <a:p>
            <a:r>
              <a:rPr lang="en-US" altLang="ko-KR" dirty="0"/>
              <a:t>20</a:t>
            </a:r>
            <a:r>
              <a:rPr lang="ko-KR" altLang="en-US" dirty="0"/>
              <a:t>세기 초 금본위제의 몰락</a:t>
            </a:r>
            <a:endParaRPr lang="en-US" altLang="ko-KR" dirty="0"/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차 대전 이후 각국 정부의 환율 통제</a:t>
            </a:r>
            <a:endParaRPr lang="en-US" altLang="ko-KR" dirty="0"/>
          </a:p>
          <a:p>
            <a:pPr lvl="1"/>
            <a:r>
              <a:rPr lang="ko-KR" altLang="en-US" dirty="0"/>
              <a:t>경제 주도권의 변화</a:t>
            </a:r>
            <a:endParaRPr lang="en-US" altLang="ko-KR" dirty="0"/>
          </a:p>
          <a:p>
            <a:pPr lvl="1"/>
            <a:r>
              <a:rPr lang="en-US" altLang="ko-KR" dirty="0"/>
              <a:t>1931 </a:t>
            </a:r>
            <a:r>
              <a:rPr lang="ko-KR" altLang="en-US" dirty="0"/>
              <a:t>영 금본위제 포기</a:t>
            </a:r>
            <a:endParaRPr lang="en-US" altLang="ko-KR" dirty="0"/>
          </a:p>
          <a:p>
            <a:pPr lvl="2"/>
            <a:r>
              <a:rPr lang="ko-KR" altLang="en-US" dirty="0"/>
              <a:t>이유 </a:t>
            </a:r>
            <a:r>
              <a:rPr lang="en-US" altLang="ko-KR" dirty="0"/>
              <a:t>1: </a:t>
            </a:r>
            <a:r>
              <a:rPr lang="ko-KR" altLang="en-US" dirty="0"/>
              <a:t>국제수지 자동조절 메커니즘 </a:t>
            </a:r>
            <a:r>
              <a:rPr lang="en-US" altLang="ko-KR" dirty="0"/>
              <a:t>X : </a:t>
            </a:r>
            <a:br>
              <a:rPr lang="en-US" altLang="ko-KR" dirty="0"/>
            </a:br>
            <a:r>
              <a:rPr lang="ko-KR" altLang="en-US" dirty="0"/>
              <a:t>신축적 임금이 뒷받침된 개별적 </a:t>
            </a:r>
            <a:r>
              <a:rPr lang="ko-KR" altLang="en-US" dirty="0" err="1"/>
              <a:t>분산화된</a:t>
            </a:r>
            <a:r>
              <a:rPr lang="ko-KR" altLang="en-US" dirty="0"/>
              <a:t> 노동시장 필요 </a:t>
            </a:r>
            <a:r>
              <a:rPr lang="en-US" altLang="ko-KR" dirty="0"/>
              <a:t>(</a:t>
            </a:r>
            <a:r>
              <a:rPr lang="ko-KR" altLang="en-US" dirty="0"/>
              <a:t>노동시장의 유연화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이유 </a:t>
            </a:r>
            <a:r>
              <a:rPr lang="en-US" altLang="ko-KR" dirty="0"/>
              <a:t>2: </a:t>
            </a:r>
            <a:r>
              <a:rPr lang="ko-KR" altLang="en-US" dirty="0"/>
              <a:t>정치 </a:t>
            </a:r>
            <a:r>
              <a:rPr lang="en-US" altLang="ko-KR" dirty="0"/>
              <a:t>: </a:t>
            </a:r>
            <a:r>
              <a:rPr lang="ko-KR" altLang="en-US" dirty="0"/>
              <a:t>노동자들의 투표권</a:t>
            </a:r>
            <a:r>
              <a:rPr lang="en-US" altLang="ko-KR" dirty="0"/>
              <a:t> :</a:t>
            </a:r>
            <a:br>
              <a:rPr lang="en-US" altLang="ko-KR" dirty="0"/>
            </a:br>
            <a:r>
              <a:rPr lang="ko-KR" altLang="en-US" dirty="0"/>
              <a:t>실업 </a:t>
            </a:r>
            <a:r>
              <a:rPr lang="en-US" altLang="ko-KR" dirty="0"/>
              <a:t>vs </a:t>
            </a:r>
            <a:r>
              <a:rPr lang="ko-KR" altLang="en-US" dirty="0"/>
              <a:t>금본위제 포기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D66DD2F-6664-4129-30F6-BB5FA214074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1506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3812AE1-07A8-1ED4-636B-A4C8F7BD09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A0622C0-1BE7-1C65-4CF2-1832D1F26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 세계화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E1B26C-8D52-F3C4-2C62-C836BA15B74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C9994E6-0FB6-B8C1-01F5-52A88CDFB9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 대전과 영 금본위제 복귀 시도</a:t>
            </a:r>
            <a:endParaRPr lang="en-US" altLang="ko-KR" dirty="0"/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차 </a:t>
            </a:r>
            <a:r>
              <a:rPr lang="ko-KR" altLang="en-US" dirty="0" err="1"/>
              <a:t>대전중</a:t>
            </a:r>
            <a:r>
              <a:rPr lang="ko-KR" altLang="en-US" dirty="0"/>
              <a:t> </a:t>
            </a:r>
            <a:r>
              <a:rPr lang="ko-KR" altLang="en-US" dirty="0" err="1"/>
              <a:t>초인플레</a:t>
            </a:r>
            <a:r>
              <a:rPr lang="ko-KR" altLang="en-US" dirty="0"/>
              <a:t> 발생</a:t>
            </a:r>
            <a:r>
              <a:rPr lang="en-US" altLang="ko-KR" dirty="0"/>
              <a:t>(1914~)</a:t>
            </a:r>
          </a:p>
          <a:p>
            <a:pPr lvl="2"/>
            <a:r>
              <a:rPr lang="ko-KR" altLang="en-US" dirty="0" err="1"/>
              <a:t>전쟁중</a:t>
            </a:r>
            <a:r>
              <a:rPr lang="ko-KR" altLang="en-US" dirty="0"/>
              <a:t> 금태환 중지</a:t>
            </a:r>
            <a:r>
              <a:rPr lang="en-US" altLang="ko-KR" dirty="0"/>
              <a:t>, </a:t>
            </a:r>
            <a:r>
              <a:rPr lang="ko-KR" altLang="en-US" dirty="0"/>
              <a:t>재정지출 확대</a:t>
            </a:r>
            <a:endParaRPr lang="en-US" altLang="ko-KR" dirty="0"/>
          </a:p>
          <a:p>
            <a:pPr lvl="2"/>
            <a:r>
              <a:rPr lang="ko-KR" altLang="en-US" dirty="0"/>
              <a:t>통화량 증가 및 민간 공급 하락 </a:t>
            </a:r>
            <a:r>
              <a:rPr lang="en-US" altLang="ko-KR" dirty="0"/>
              <a:t>-&gt; </a:t>
            </a:r>
            <a:r>
              <a:rPr lang="ko-KR" altLang="en-US" dirty="0"/>
              <a:t>전시 </a:t>
            </a:r>
            <a:r>
              <a:rPr lang="ko-KR" altLang="en-US" dirty="0" err="1"/>
              <a:t>초인플레</a:t>
            </a:r>
            <a:endParaRPr lang="en-US" altLang="ko-KR" dirty="0"/>
          </a:p>
          <a:p>
            <a:pPr lvl="1"/>
            <a:r>
              <a:rPr lang="en-US" altLang="ko-KR" dirty="0"/>
              <a:t>Ww1 </a:t>
            </a:r>
            <a:r>
              <a:rPr lang="ko-KR" altLang="en-US" dirty="0"/>
              <a:t>이후 </a:t>
            </a:r>
            <a:r>
              <a:rPr lang="en-US" altLang="ko-KR" dirty="0"/>
              <a:t>1920 : </a:t>
            </a:r>
            <a:r>
              <a:rPr lang="ko-KR" altLang="en-US" dirty="0"/>
              <a:t>복귀하나</a:t>
            </a:r>
            <a:r>
              <a:rPr lang="en-US" altLang="ko-KR" dirty="0"/>
              <a:t>? </a:t>
            </a:r>
            <a:r>
              <a:rPr lang="ko-KR" altLang="en-US" dirty="0"/>
              <a:t>안하나</a:t>
            </a:r>
            <a:r>
              <a:rPr lang="en-US" altLang="ko-KR" dirty="0"/>
              <a:t>? </a:t>
            </a:r>
            <a:r>
              <a:rPr lang="ko-KR" altLang="en-US" dirty="0"/>
              <a:t>한다면 어떻게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 err="1"/>
              <a:t>복귀시</a:t>
            </a:r>
            <a:r>
              <a:rPr lang="en-US" altLang="ko-KR" dirty="0"/>
              <a:t> </a:t>
            </a:r>
            <a:r>
              <a:rPr lang="ko-KR" altLang="en-US" dirty="0"/>
              <a:t>디플레 예상</a:t>
            </a:r>
            <a:endParaRPr lang="en-US" altLang="ko-KR" dirty="0"/>
          </a:p>
          <a:p>
            <a:pPr lvl="2"/>
            <a:r>
              <a:rPr lang="ko-KR" altLang="en-US" dirty="0"/>
              <a:t>파운드화 구매력 하락 </a:t>
            </a:r>
            <a:r>
              <a:rPr lang="en-US" altLang="ko-KR" dirty="0"/>
              <a:t>-&gt; </a:t>
            </a:r>
            <a:r>
              <a:rPr lang="ko-KR" altLang="en-US" dirty="0"/>
              <a:t>통화가치 평가절하의 필요</a:t>
            </a:r>
            <a:endParaRPr lang="en-US" altLang="ko-KR" dirty="0"/>
          </a:p>
          <a:p>
            <a:r>
              <a:rPr lang="en-US" altLang="ko-KR" dirty="0"/>
              <a:t>1924 </a:t>
            </a:r>
            <a:r>
              <a:rPr lang="ko-KR" altLang="en-US" dirty="0"/>
              <a:t>영 금본위제의 복귀와 </a:t>
            </a:r>
            <a:r>
              <a:rPr lang="en-US" altLang="ko-KR" dirty="0"/>
              <a:t>1931 </a:t>
            </a:r>
            <a:r>
              <a:rPr lang="ko-KR" altLang="en-US" dirty="0"/>
              <a:t>포기</a:t>
            </a:r>
            <a:endParaRPr lang="en-US" altLang="ko-KR" dirty="0"/>
          </a:p>
          <a:p>
            <a:pPr lvl="1"/>
            <a:r>
              <a:rPr lang="en-US" altLang="ko-KR" dirty="0"/>
              <a:t>1924 </a:t>
            </a:r>
            <a:r>
              <a:rPr lang="ko-KR" altLang="en-US" dirty="0"/>
              <a:t>영 금본위제 복귀</a:t>
            </a:r>
            <a:r>
              <a:rPr lang="en-US" altLang="ko-KR" dirty="0"/>
              <a:t>(</a:t>
            </a:r>
            <a:r>
              <a:rPr lang="ko-KR" altLang="en-US" dirty="0"/>
              <a:t>이전 평가 그대로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디플레</a:t>
            </a:r>
            <a:r>
              <a:rPr lang="en-US" altLang="ko-KR" dirty="0"/>
              <a:t> but, </a:t>
            </a:r>
            <a:r>
              <a:rPr lang="ko-KR" altLang="en-US" dirty="0"/>
              <a:t>실질임금은 여전히 높음 </a:t>
            </a:r>
            <a:r>
              <a:rPr lang="en-US" altLang="ko-KR" dirty="0"/>
              <a:t>-&gt; </a:t>
            </a:r>
            <a:r>
              <a:rPr lang="ko-KR" altLang="en-US" dirty="0"/>
              <a:t>고용</a:t>
            </a:r>
            <a:r>
              <a:rPr lang="en-US" altLang="ko-KR" dirty="0"/>
              <a:t>, </a:t>
            </a:r>
            <a:r>
              <a:rPr lang="ko-KR" altLang="en-US" dirty="0"/>
              <a:t>투자 위축</a:t>
            </a:r>
            <a:endParaRPr lang="en-US" altLang="ko-KR" dirty="0"/>
          </a:p>
          <a:p>
            <a:pPr lvl="2"/>
            <a:r>
              <a:rPr lang="ko-KR" altLang="en-US" dirty="0"/>
              <a:t>국가경쟁력 하락 </a:t>
            </a:r>
            <a:r>
              <a:rPr lang="en-US" altLang="ko-KR" dirty="0"/>
              <a:t>-&gt; </a:t>
            </a:r>
            <a:r>
              <a:rPr lang="ko-KR" altLang="en-US" dirty="0"/>
              <a:t>산업 타격</a:t>
            </a:r>
            <a:endParaRPr lang="en-US" altLang="ko-KR" dirty="0"/>
          </a:p>
          <a:p>
            <a:pPr lvl="2"/>
            <a:r>
              <a:rPr lang="ko-KR" altLang="en-US" dirty="0" err="1"/>
              <a:t>금유출</a:t>
            </a:r>
            <a:r>
              <a:rPr lang="ko-KR" altLang="en-US" dirty="0"/>
              <a:t> 방지 위해 높은 금리 </a:t>
            </a:r>
            <a:r>
              <a:rPr lang="en-US" altLang="ko-KR" dirty="0"/>
              <a:t>-&gt; 1931 </a:t>
            </a:r>
            <a:r>
              <a:rPr lang="ko-KR" altLang="en-US" dirty="0"/>
              <a:t>금본위제 포기</a:t>
            </a:r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차 세계화의 결과</a:t>
            </a:r>
            <a:endParaRPr lang="en-US" altLang="ko-KR" dirty="0"/>
          </a:p>
          <a:p>
            <a:pPr lvl="1"/>
            <a:r>
              <a:rPr lang="ko-KR" altLang="en-US" dirty="0"/>
              <a:t>가격 수렴 </a:t>
            </a:r>
            <a:r>
              <a:rPr lang="en-US" altLang="ko-KR" dirty="0"/>
              <a:t>: </a:t>
            </a:r>
            <a:r>
              <a:rPr lang="ko-KR" altLang="en-US" dirty="0"/>
              <a:t>영</a:t>
            </a:r>
            <a:r>
              <a:rPr lang="en-US" altLang="ko-KR" dirty="0"/>
              <a:t>-</a:t>
            </a:r>
            <a:r>
              <a:rPr lang="ko-KR" altLang="en-US" dirty="0"/>
              <a:t>미 항구간 가격격차 감소</a:t>
            </a:r>
            <a:r>
              <a:rPr lang="en-US" altLang="ko-KR" dirty="0"/>
              <a:t>, </a:t>
            </a:r>
            <a:r>
              <a:rPr lang="ko-KR" altLang="en-US" dirty="0"/>
              <a:t>유럽인 </a:t>
            </a:r>
            <a:r>
              <a:rPr lang="en-US" altLang="ko-KR" dirty="0"/>
              <a:t>-&gt; </a:t>
            </a:r>
            <a:r>
              <a:rPr lang="ko-KR" altLang="en-US" dirty="0"/>
              <a:t>저렴한 곡물 소비</a:t>
            </a:r>
            <a:endParaRPr lang="en-US" altLang="ko-KR" dirty="0"/>
          </a:p>
          <a:p>
            <a:pPr lvl="1"/>
            <a:r>
              <a:rPr lang="ko-KR" altLang="en-US" dirty="0"/>
              <a:t>상대요소가격 수렴</a:t>
            </a:r>
            <a:r>
              <a:rPr lang="en-US" altLang="ko-KR" dirty="0"/>
              <a:t>: </a:t>
            </a:r>
            <a:r>
              <a:rPr lang="ko-KR" altLang="en-US" dirty="0"/>
              <a:t>임금</a:t>
            </a:r>
            <a:r>
              <a:rPr lang="en-US" altLang="ko-KR" dirty="0"/>
              <a:t>/</a:t>
            </a:r>
            <a:r>
              <a:rPr lang="ko-KR" altLang="en-US" dirty="0"/>
              <a:t>지대 비중은 유럽 </a:t>
            </a:r>
            <a:r>
              <a:rPr lang="ko-KR" altLang="en-US" dirty="0" err="1"/>
              <a:t>높</a:t>
            </a:r>
            <a:r>
              <a:rPr lang="en-US" altLang="ko-KR" dirty="0"/>
              <a:t>, </a:t>
            </a:r>
            <a:r>
              <a:rPr lang="ko-KR" altLang="en-US" dirty="0" err="1"/>
              <a:t>아메</a:t>
            </a:r>
            <a:r>
              <a:rPr lang="ko-KR" altLang="en-US" dirty="0"/>
              <a:t> 낮</a:t>
            </a:r>
            <a:r>
              <a:rPr lang="en-US" altLang="ko-KR" dirty="0"/>
              <a:t> -&gt; </a:t>
            </a:r>
            <a:r>
              <a:rPr lang="ko-KR" altLang="en-US" dirty="0" err="1"/>
              <a:t>무역후</a:t>
            </a:r>
            <a:r>
              <a:rPr lang="ko-KR" altLang="en-US" dirty="0"/>
              <a:t> 수렴</a:t>
            </a:r>
            <a:endParaRPr lang="en-US" altLang="ko-KR" dirty="0"/>
          </a:p>
          <a:p>
            <a:pPr lvl="1"/>
            <a:r>
              <a:rPr lang="ko-KR" altLang="en-US" dirty="0"/>
              <a:t>이민 </a:t>
            </a:r>
            <a:r>
              <a:rPr lang="en-US" altLang="ko-KR" dirty="0"/>
              <a:t>: </a:t>
            </a:r>
            <a:r>
              <a:rPr lang="ko-KR" altLang="en-US" dirty="0"/>
              <a:t>노동의 이동</a:t>
            </a:r>
            <a:endParaRPr lang="en-US" altLang="ko-KR" dirty="0"/>
          </a:p>
          <a:p>
            <a:pPr lvl="1"/>
            <a:r>
              <a:rPr lang="ko-KR" altLang="en-US" dirty="0"/>
              <a:t>자본의 이동</a:t>
            </a:r>
            <a:endParaRPr lang="en-US" altLang="ko-KR" dirty="0"/>
          </a:p>
          <a:p>
            <a:pPr lvl="1"/>
            <a:r>
              <a:rPr lang="ko-KR" altLang="en-US" dirty="0"/>
              <a:t>국가간 분업 </a:t>
            </a:r>
            <a:r>
              <a:rPr lang="en-US" altLang="ko-KR" dirty="0"/>
              <a:t>: </a:t>
            </a:r>
            <a:r>
              <a:rPr lang="ko-KR" altLang="en-US" dirty="0"/>
              <a:t>선진국 </a:t>
            </a:r>
            <a:r>
              <a:rPr lang="en-US" altLang="ko-KR" dirty="0"/>
              <a:t>= </a:t>
            </a:r>
            <a:r>
              <a:rPr lang="ko-KR" altLang="en-US" dirty="0"/>
              <a:t>산업화</a:t>
            </a:r>
            <a:r>
              <a:rPr lang="en-US" altLang="ko-KR" dirty="0"/>
              <a:t>. </a:t>
            </a:r>
            <a:r>
              <a:rPr lang="ko-KR" altLang="en-US" dirty="0"/>
              <a:t>식민지 </a:t>
            </a:r>
            <a:r>
              <a:rPr lang="en-US" altLang="ko-KR" dirty="0"/>
              <a:t>= </a:t>
            </a:r>
            <a:r>
              <a:rPr lang="ko-KR" altLang="en-US" dirty="0" err="1"/>
              <a:t>탈산업</a:t>
            </a:r>
            <a:r>
              <a:rPr lang="en-US" altLang="ko-KR" dirty="0"/>
              <a:t>/</a:t>
            </a:r>
            <a:r>
              <a:rPr lang="ko-KR" altLang="en-US" dirty="0"/>
              <a:t>농업화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B799750-510A-E7F8-93FD-3D5D72E57D6F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476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66629E6-A0D8-41D0-0766-563E5C6B9D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E0BEB41-2CF6-D266-6E39-B4058B3B5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전간기</a:t>
            </a:r>
            <a:r>
              <a:rPr lang="en-US" altLang="ko-KR" dirty="0"/>
              <a:t>: </a:t>
            </a:r>
            <a:r>
              <a:rPr lang="ko-KR" altLang="en-US" dirty="0"/>
              <a:t>세계화의 후퇴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9C4480-291D-FFED-7E5F-1374F0C11D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5F631DD-41BA-9327-076E-CBD13F5374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 대전 직전</a:t>
            </a:r>
            <a:endParaRPr lang="en-US" altLang="ko-KR" dirty="0"/>
          </a:p>
          <a:p>
            <a:pPr lvl="1"/>
            <a:r>
              <a:rPr lang="ko-KR" altLang="en-US" dirty="0"/>
              <a:t>제국주의 </a:t>
            </a:r>
            <a:r>
              <a:rPr lang="en-US" altLang="ko-KR" dirty="0"/>
              <a:t>: 1870</a:t>
            </a:r>
            <a:r>
              <a:rPr lang="ko-KR" altLang="en-US" dirty="0"/>
              <a:t>년대 서구</a:t>
            </a:r>
            <a:r>
              <a:rPr lang="en-US" altLang="ko-KR" dirty="0"/>
              <a:t> </a:t>
            </a:r>
            <a:r>
              <a:rPr lang="ko-KR" altLang="en-US" dirty="0"/>
              <a:t>열강 </a:t>
            </a:r>
            <a:r>
              <a:rPr lang="en-US" altLang="ko-KR" dirty="0"/>
              <a:t>: </a:t>
            </a:r>
            <a:r>
              <a:rPr lang="ko-KR" altLang="en-US" dirty="0"/>
              <a:t>진출 </a:t>
            </a:r>
            <a:r>
              <a:rPr lang="en-US" altLang="ko-KR" dirty="0"/>
              <a:t>: (</a:t>
            </a:r>
            <a:r>
              <a:rPr lang="ko-KR" altLang="en-US" dirty="0"/>
              <a:t>유럽 </a:t>
            </a:r>
            <a:r>
              <a:rPr lang="en-US" altLang="ko-KR" dirty="0"/>
              <a:t>-&gt; </a:t>
            </a:r>
            <a:r>
              <a:rPr lang="ko-KR" altLang="en-US" dirty="0"/>
              <a:t>아시</a:t>
            </a:r>
            <a:r>
              <a:rPr lang="en-US" altLang="ko-KR" dirty="0"/>
              <a:t>, </a:t>
            </a:r>
            <a:r>
              <a:rPr lang="ko-KR" altLang="en-US" dirty="0"/>
              <a:t>아프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식민지 획득</a:t>
            </a:r>
            <a:endParaRPr lang="en-US" altLang="ko-KR" dirty="0"/>
          </a:p>
          <a:p>
            <a:pPr lvl="2"/>
            <a:r>
              <a:rPr lang="ko-KR" altLang="en-US" dirty="0"/>
              <a:t>자본을 투자할 해외시장 </a:t>
            </a:r>
            <a:r>
              <a:rPr lang="en-US" altLang="ko-KR" dirty="0"/>
              <a:t>/ </a:t>
            </a:r>
            <a:r>
              <a:rPr lang="ko-KR" altLang="en-US" dirty="0"/>
              <a:t>상품 원료의 공급지를 향해 진출</a:t>
            </a:r>
            <a:endParaRPr lang="en-US" altLang="ko-KR" dirty="0"/>
          </a:p>
          <a:p>
            <a:pPr lvl="2"/>
            <a:r>
              <a:rPr lang="ko-KR" altLang="en-US" dirty="0"/>
              <a:t>열강간 경쟁과 갈등 </a:t>
            </a:r>
            <a:r>
              <a:rPr lang="en-US" altLang="ko-KR" dirty="0"/>
              <a:t>-&gt; </a:t>
            </a:r>
            <a:r>
              <a:rPr lang="ko-KR" altLang="en-US" dirty="0" err="1"/>
              <a:t>협상국</a:t>
            </a:r>
            <a:r>
              <a:rPr lang="en-US" altLang="ko-KR" dirty="0"/>
              <a:t>, </a:t>
            </a:r>
            <a:r>
              <a:rPr lang="ko-KR" altLang="en-US" dirty="0"/>
              <a:t>동맹국을 맺어 대립 </a:t>
            </a:r>
            <a:r>
              <a:rPr lang="en-US" altLang="ko-KR" dirty="0"/>
              <a:t>-&gt; ww1</a:t>
            </a:r>
          </a:p>
          <a:p>
            <a:pPr lvl="1"/>
            <a:r>
              <a:rPr lang="en-US" altLang="ko-KR" dirty="0"/>
              <a:t>19C </a:t>
            </a:r>
            <a:r>
              <a:rPr lang="ko-KR" altLang="en-US" dirty="0"/>
              <a:t>말 영 해외팽창 전략</a:t>
            </a:r>
            <a:endParaRPr lang="en-US" altLang="ko-KR" dirty="0"/>
          </a:p>
          <a:p>
            <a:pPr lvl="2"/>
            <a:r>
              <a:rPr lang="en-US" altLang="ko-KR" dirty="0"/>
              <a:t>1870</a:t>
            </a:r>
            <a:r>
              <a:rPr lang="ko-KR" altLang="en-US" dirty="0"/>
              <a:t>이전 </a:t>
            </a:r>
            <a:r>
              <a:rPr lang="en-US" altLang="ko-KR" dirty="0"/>
              <a:t>: </a:t>
            </a:r>
            <a:r>
              <a:rPr lang="ko-KR" altLang="en-US" dirty="0"/>
              <a:t>간접지배</a:t>
            </a:r>
            <a:br>
              <a:rPr lang="en-US" altLang="ko-KR" dirty="0"/>
            </a:br>
            <a:r>
              <a:rPr lang="ko-KR" altLang="en-US" dirty="0"/>
              <a:t>국제 경쟁 우위 </a:t>
            </a:r>
            <a:r>
              <a:rPr lang="en-US" altLang="ko-KR" dirty="0"/>
              <a:t>-&gt; </a:t>
            </a:r>
            <a:r>
              <a:rPr lang="ko-KR" altLang="en-US" dirty="0"/>
              <a:t>간접지배 전제</a:t>
            </a:r>
            <a:r>
              <a:rPr lang="en-US" altLang="ko-KR" dirty="0"/>
              <a:t>, </a:t>
            </a:r>
            <a:r>
              <a:rPr lang="ko-KR" altLang="en-US" dirty="0"/>
              <a:t>자유무역 제국주의</a:t>
            </a:r>
            <a:endParaRPr lang="en-US" altLang="ko-KR" dirty="0"/>
          </a:p>
          <a:p>
            <a:pPr lvl="2"/>
            <a:r>
              <a:rPr lang="en-US" altLang="ko-KR" dirty="0"/>
              <a:t>1870</a:t>
            </a:r>
            <a:r>
              <a:rPr lang="ko-KR" altLang="en-US" dirty="0"/>
              <a:t>이후 </a:t>
            </a:r>
            <a:r>
              <a:rPr lang="en-US" altLang="ko-KR" dirty="0"/>
              <a:t>: </a:t>
            </a:r>
            <a:r>
              <a:rPr lang="ko-KR" altLang="en-US" dirty="0"/>
              <a:t>직접지배</a:t>
            </a:r>
            <a:br>
              <a:rPr lang="en-US" altLang="ko-KR" dirty="0"/>
            </a:br>
            <a:r>
              <a:rPr lang="ko-KR" altLang="en-US" dirty="0"/>
              <a:t>미</a:t>
            </a:r>
            <a:r>
              <a:rPr lang="en-US" altLang="ko-KR" dirty="0"/>
              <a:t>/</a:t>
            </a:r>
            <a:r>
              <a:rPr lang="ko-KR" altLang="en-US" dirty="0"/>
              <a:t>독 신흥 공업국 경쟁 밀림 </a:t>
            </a:r>
            <a:r>
              <a:rPr lang="en-US" altLang="ko-KR" dirty="0"/>
              <a:t>-&gt; (</a:t>
            </a:r>
            <a:r>
              <a:rPr lang="ko-KR" altLang="en-US" dirty="0"/>
              <a:t>제국주의 진출 </a:t>
            </a:r>
            <a:r>
              <a:rPr lang="en-US" altLang="ko-KR" dirty="0"/>
              <a:t>-&gt; </a:t>
            </a:r>
            <a:r>
              <a:rPr lang="ko-KR" altLang="en-US" dirty="0"/>
              <a:t>정부개입</a:t>
            </a:r>
            <a:r>
              <a:rPr lang="en-US" altLang="ko-KR" dirty="0"/>
              <a:t>) -&gt; </a:t>
            </a:r>
            <a:r>
              <a:rPr lang="ko-KR" altLang="en-US" dirty="0"/>
              <a:t>직접지배</a:t>
            </a:r>
            <a:endParaRPr lang="en-US" altLang="ko-KR" dirty="0"/>
          </a:p>
          <a:p>
            <a:pPr lvl="1"/>
            <a:r>
              <a:rPr lang="en-US" altLang="ko-KR" dirty="0"/>
              <a:t>19C</a:t>
            </a:r>
            <a:r>
              <a:rPr lang="ko-KR" altLang="en-US" dirty="0"/>
              <a:t> 말 미 해외팽창 전략</a:t>
            </a:r>
            <a:endParaRPr lang="en-US" altLang="ko-KR" dirty="0"/>
          </a:p>
          <a:p>
            <a:pPr lvl="2"/>
            <a:r>
              <a:rPr lang="ko-KR" altLang="en-US" dirty="0"/>
              <a:t>먼로주의 </a:t>
            </a:r>
            <a:r>
              <a:rPr lang="en-US" altLang="ko-KR" dirty="0"/>
              <a:t>: (</a:t>
            </a:r>
            <a:r>
              <a:rPr lang="ko-KR" altLang="en-US" dirty="0" err="1"/>
              <a:t>아메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전쟁</a:t>
            </a:r>
            <a:r>
              <a:rPr lang="en-US" altLang="ko-KR" dirty="0"/>
              <a:t>/</a:t>
            </a:r>
            <a:r>
              <a:rPr lang="ko-KR" altLang="en-US" dirty="0"/>
              <a:t>식민지</a:t>
            </a:r>
            <a:r>
              <a:rPr lang="en-US" altLang="ko-KR" dirty="0"/>
              <a:t>) = </a:t>
            </a:r>
            <a:r>
              <a:rPr lang="ko-KR" altLang="en-US" dirty="0"/>
              <a:t>미국 전쟁 </a:t>
            </a:r>
            <a:r>
              <a:rPr lang="en-US" altLang="ko-KR" dirty="0"/>
              <a:t>; </a:t>
            </a:r>
            <a:r>
              <a:rPr lang="ko-KR" altLang="en-US" dirty="0" err="1"/>
              <a:t>아메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유럽간섭 </a:t>
            </a:r>
            <a:r>
              <a:rPr lang="en-US" altLang="ko-KR" dirty="0"/>
              <a:t>X</a:t>
            </a:r>
          </a:p>
          <a:p>
            <a:pPr lvl="3"/>
            <a:r>
              <a:rPr lang="ko-KR" altLang="en-US" dirty="0"/>
              <a:t>왜</a:t>
            </a:r>
            <a:r>
              <a:rPr lang="en-US" altLang="ko-KR" dirty="0"/>
              <a:t>? </a:t>
            </a:r>
            <a:r>
              <a:rPr lang="ko-KR" altLang="en-US" dirty="0"/>
              <a:t>미국 </a:t>
            </a:r>
            <a:r>
              <a:rPr lang="en-US" altLang="ko-KR" dirty="0"/>
              <a:t>= </a:t>
            </a:r>
            <a:r>
              <a:rPr lang="ko-KR" altLang="en-US" dirty="0" err="1"/>
              <a:t>신생국</a:t>
            </a:r>
            <a:r>
              <a:rPr lang="en-US" altLang="ko-KR" dirty="0"/>
              <a:t>, </a:t>
            </a:r>
            <a:r>
              <a:rPr lang="ko-KR" altLang="en-US" dirty="0"/>
              <a:t>서부개척 </a:t>
            </a:r>
            <a:r>
              <a:rPr lang="en-US" altLang="ko-KR" dirty="0"/>
              <a:t>X</a:t>
            </a:r>
          </a:p>
          <a:p>
            <a:pPr lvl="2"/>
            <a:r>
              <a:rPr lang="ko-KR" altLang="en-US" dirty="0"/>
              <a:t>필리핀 독립전쟁 </a:t>
            </a:r>
            <a:r>
              <a:rPr lang="en-US" altLang="ko-KR" dirty="0"/>
              <a:t>: </a:t>
            </a:r>
            <a:r>
              <a:rPr lang="ko-KR" altLang="en-US" dirty="0"/>
              <a:t>미 제국주의 실패 사례</a:t>
            </a:r>
            <a:endParaRPr lang="en-US" altLang="ko-KR" dirty="0"/>
          </a:p>
          <a:p>
            <a:pPr lvl="1"/>
            <a:r>
              <a:rPr lang="en-US" altLang="ko-KR" dirty="0"/>
              <a:t>1870 </a:t>
            </a:r>
            <a:r>
              <a:rPr lang="ko-KR" altLang="en-US" dirty="0" err="1"/>
              <a:t>대불황</a:t>
            </a:r>
            <a:r>
              <a:rPr lang="ko-KR" altLang="en-US" dirty="0"/>
              <a:t> </a:t>
            </a:r>
            <a:r>
              <a:rPr lang="en-US" altLang="ko-KR" dirty="0"/>
              <a:t>: 1873 ~ 1890</a:t>
            </a:r>
          </a:p>
          <a:p>
            <a:pPr lvl="2"/>
            <a:r>
              <a:rPr lang="ko-KR" altLang="en-US" dirty="0"/>
              <a:t>현상</a:t>
            </a:r>
            <a:br>
              <a:rPr lang="en-US" altLang="ko-KR" dirty="0"/>
            </a:br>
            <a:r>
              <a:rPr lang="ko-KR" altLang="en-US" dirty="0"/>
              <a:t>물가 하락</a:t>
            </a:r>
            <a:r>
              <a:rPr lang="en-US" altLang="ko-KR" dirty="0"/>
              <a:t>		</a:t>
            </a:r>
            <a:r>
              <a:rPr lang="ko-KR" altLang="en-US" dirty="0"/>
              <a:t>공업 생산 증대</a:t>
            </a:r>
            <a:br>
              <a:rPr lang="en-US" altLang="ko-KR" dirty="0"/>
            </a:br>
            <a:r>
              <a:rPr lang="ko-KR" altLang="en-US" dirty="0"/>
              <a:t>낮은 투자</a:t>
            </a:r>
            <a:r>
              <a:rPr lang="en-US" altLang="ko-KR" dirty="0"/>
              <a:t>, </a:t>
            </a:r>
            <a:r>
              <a:rPr lang="ko-KR" altLang="en-US" dirty="0"/>
              <a:t>낮은 이자율</a:t>
            </a:r>
            <a:r>
              <a:rPr lang="en-US" altLang="ko-KR" dirty="0"/>
              <a:t>	</a:t>
            </a:r>
            <a:r>
              <a:rPr lang="ko-KR" altLang="en-US" dirty="0"/>
              <a:t>높은 실업률</a:t>
            </a:r>
            <a:r>
              <a:rPr lang="en-US" altLang="ko-KR" dirty="0"/>
              <a:t> but, </a:t>
            </a:r>
            <a:r>
              <a:rPr lang="ko-KR" altLang="en-US" dirty="0"/>
              <a:t>임금</a:t>
            </a:r>
            <a:r>
              <a:rPr lang="en-US" altLang="ko-KR" dirty="0"/>
              <a:t> </a:t>
            </a:r>
            <a:r>
              <a:rPr lang="ko-KR" altLang="en-US" dirty="0"/>
              <a:t>상승</a:t>
            </a:r>
            <a:endParaRPr lang="en-US" altLang="ko-KR" dirty="0"/>
          </a:p>
          <a:p>
            <a:pPr lvl="2"/>
            <a:r>
              <a:rPr lang="ko-KR" altLang="en-US" dirty="0"/>
              <a:t>원인</a:t>
            </a:r>
            <a:br>
              <a:rPr lang="en-US" altLang="ko-KR" dirty="0"/>
            </a:br>
            <a:r>
              <a:rPr lang="ko-KR" altLang="en-US" dirty="0"/>
              <a:t>산업화 </a:t>
            </a:r>
            <a:r>
              <a:rPr lang="en-US" altLang="ko-KR" dirty="0"/>
              <a:t>-&gt; </a:t>
            </a:r>
            <a:r>
              <a:rPr lang="ko-KR" altLang="en-US" dirty="0"/>
              <a:t>공업 생산 증대 </a:t>
            </a:r>
            <a:r>
              <a:rPr lang="en-US" altLang="ko-KR" dirty="0"/>
              <a:t>-&gt; </a:t>
            </a:r>
            <a:r>
              <a:rPr lang="ko-KR" altLang="en-US" dirty="0"/>
              <a:t>비용 증가</a:t>
            </a:r>
            <a:r>
              <a:rPr lang="en-US" altLang="ko-KR" dirty="0"/>
              <a:t>, </a:t>
            </a:r>
            <a:r>
              <a:rPr lang="ko-KR" altLang="en-US" dirty="0"/>
              <a:t>판로축소</a:t>
            </a:r>
            <a:br>
              <a:rPr lang="en-US" altLang="ko-KR" dirty="0"/>
            </a:br>
            <a:r>
              <a:rPr lang="ko-KR" altLang="en-US" dirty="0"/>
              <a:t>기업간 경쟁심화 </a:t>
            </a:r>
            <a:r>
              <a:rPr lang="en-US" altLang="ko-KR" dirty="0"/>
              <a:t>-&gt; </a:t>
            </a:r>
            <a:r>
              <a:rPr lang="ko-KR" altLang="en-US" dirty="0"/>
              <a:t>기업 수익률 하락</a:t>
            </a:r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차 대전 </a:t>
            </a:r>
            <a:r>
              <a:rPr lang="en-US" altLang="ko-KR" dirty="0"/>
              <a:t>: </a:t>
            </a:r>
            <a:r>
              <a:rPr lang="ko-KR" altLang="en-US" dirty="0"/>
              <a:t>총력전의 경제학</a:t>
            </a:r>
            <a:endParaRPr lang="en-US" altLang="ko-KR" dirty="0"/>
          </a:p>
          <a:p>
            <a:pPr lvl="1"/>
            <a:r>
              <a:rPr lang="en-US" altLang="ko-KR" dirty="0"/>
              <a:t>Ww1</a:t>
            </a:r>
            <a:r>
              <a:rPr lang="ko-KR" altLang="en-US" dirty="0"/>
              <a:t>의 새로운 특징</a:t>
            </a:r>
            <a:endParaRPr lang="en-US" altLang="ko-KR" dirty="0"/>
          </a:p>
          <a:p>
            <a:pPr lvl="2"/>
            <a:r>
              <a:rPr lang="ko-KR" altLang="en-US" dirty="0"/>
              <a:t>새로운 무기 </a:t>
            </a:r>
            <a:r>
              <a:rPr lang="en-US" altLang="ko-KR" dirty="0"/>
              <a:t>: </a:t>
            </a:r>
            <a:r>
              <a:rPr lang="ko-KR" altLang="en-US" dirty="0"/>
              <a:t>사상자 증대</a:t>
            </a:r>
            <a:r>
              <a:rPr lang="en-US" altLang="ko-KR" dirty="0"/>
              <a:t>, </a:t>
            </a:r>
            <a:r>
              <a:rPr lang="ko-KR" altLang="en-US" dirty="0"/>
              <a:t>개인의 용맹 중요 </a:t>
            </a:r>
            <a:r>
              <a:rPr lang="en-US" altLang="ko-KR" dirty="0"/>
              <a:t>X</a:t>
            </a:r>
          </a:p>
          <a:p>
            <a:pPr lvl="2"/>
            <a:r>
              <a:rPr lang="ko-KR" altLang="en-US" dirty="0"/>
              <a:t>총력전 </a:t>
            </a:r>
            <a:r>
              <a:rPr lang="en-US" altLang="ko-KR" dirty="0"/>
              <a:t>: </a:t>
            </a:r>
            <a:r>
              <a:rPr lang="ko-KR" altLang="en-US" dirty="0"/>
              <a:t>전쟁 승리</a:t>
            </a:r>
            <a:r>
              <a:rPr lang="en-US" altLang="ko-KR" dirty="0"/>
              <a:t>? -&gt; </a:t>
            </a:r>
            <a:r>
              <a:rPr lang="ko-KR" altLang="en-US" dirty="0"/>
              <a:t>국가경제 총동원</a:t>
            </a:r>
            <a:endParaRPr lang="en-US" altLang="ko-KR" dirty="0"/>
          </a:p>
          <a:p>
            <a:pPr lvl="1"/>
            <a:r>
              <a:rPr lang="ko-KR" altLang="en-US" dirty="0"/>
              <a:t>정부의 역할 변화</a:t>
            </a:r>
            <a:endParaRPr lang="en-US" altLang="ko-KR" dirty="0"/>
          </a:p>
          <a:p>
            <a:pPr lvl="2"/>
            <a:r>
              <a:rPr lang="ko-KR" altLang="en-US" dirty="0"/>
              <a:t>전쟁 전 </a:t>
            </a:r>
            <a:r>
              <a:rPr lang="en-US" altLang="ko-KR" dirty="0"/>
              <a:t>: </a:t>
            </a:r>
            <a:r>
              <a:rPr lang="ko-KR" altLang="en-US" dirty="0"/>
              <a:t>국방</a:t>
            </a:r>
            <a:r>
              <a:rPr lang="en-US" altLang="ko-KR" dirty="0"/>
              <a:t>/</a:t>
            </a:r>
            <a:r>
              <a:rPr lang="ko-KR" altLang="en-US" dirty="0"/>
              <a:t>외교</a:t>
            </a:r>
            <a:r>
              <a:rPr lang="en-US" altLang="ko-KR" dirty="0"/>
              <a:t>/</a:t>
            </a:r>
            <a:r>
              <a:rPr lang="ko-KR" altLang="en-US" dirty="0"/>
              <a:t>치안 등 제한적</a:t>
            </a:r>
            <a:endParaRPr lang="en-US" altLang="ko-KR" dirty="0"/>
          </a:p>
          <a:p>
            <a:pPr lvl="2"/>
            <a:r>
              <a:rPr lang="ko-KR" altLang="en-US" dirty="0"/>
              <a:t>전쟁 후 </a:t>
            </a:r>
            <a:r>
              <a:rPr lang="en-US" altLang="ko-KR" dirty="0"/>
              <a:t>: </a:t>
            </a:r>
            <a:r>
              <a:rPr lang="ko-KR" altLang="en-US" dirty="0"/>
              <a:t>정부가 거대한 소비자</a:t>
            </a:r>
            <a:endParaRPr lang="en-US" altLang="ko-KR" dirty="0"/>
          </a:p>
          <a:p>
            <a:pPr lvl="1"/>
            <a:r>
              <a:rPr lang="ko-KR" altLang="en-US" dirty="0"/>
              <a:t>일반징집 </a:t>
            </a:r>
            <a:r>
              <a:rPr lang="en-US" altLang="ko-KR" dirty="0"/>
              <a:t>: </a:t>
            </a:r>
            <a:r>
              <a:rPr lang="ko-KR" altLang="en-US" dirty="0"/>
              <a:t>남자 </a:t>
            </a:r>
            <a:r>
              <a:rPr lang="en-US" altLang="ko-KR" dirty="0"/>
              <a:t>-&gt; </a:t>
            </a:r>
            <a:r>
              <a:rPr lang="ko-KR" altLang="en-US" dirty="0"/>
              <a:t>전선 동원</a:t>
            </a:r>
            <a:r>
              <a:rPr lang="en-US" altLang="ko-KR" dirty="0"/>
              <a:t>, </a:t>
            </a:r>
            <a:r>
              <a:rPr lang="ko-KR" altLang="en-US" dirty="0"/>
              <a:t>여성</a:t>
            </a:r>
            <a:r>
              <a:rPr lang="en-US" altLang="ko-KR" dirty="0"/>
              <a:t>/</a:t>
            </a:r>
            <a:r>
              <a:rPr lang="ko-KR" altLang="en-US" dirty="0"/>
              <a:t>아동</a:t>
            </a:r>
            <a:r>
              <a:rPr lang="en-US" altLang="ko-KR" dirty="0"/>
              <a:t>/</a:t>
            </a:r>
            <a:r>
              <a:rPr lang="ko-KR" altLang="en-US" dirty="0"/>
              <a:t>노인이 생산력 대체 </a:t>
            </a:r>
            <a:r>
              <a:rPr lang="en-US" altLang="ko-KR" dirty="0"/>
              <a:t>-&gt; </a:t>
            </a:r>
            <a:r>
              <a:rPr lang="ko-KR" altLang="en-US" dirty="0"/>
              <a:t>사회 변화</a:t>
            </a:r>
            <a:endParaRPr lang="en-US" altLang="ko-KR" dirty="0"/>
          </a:p>
          <a:p>
            <a:pPr lvl="1"/>
            <a:r>
              <a:rPr lang="ko-KR" altLang="en-US" dirty="0"/>
              <a:t>국제경제측면</a:t>
            </a:r>
            <a:endParaRPr lang="en-US" altLang="ko-KR" dirty="0"/>
          </a:p>
          <a:p>
            <a:pPr lvl="2"/>
            <a:r>
              <a:rPr lang="ko-KR" altLang="en-US" dirty="0"/>
              <a:t>수입관세 폐지 </a:t>
            </a:r>
            <a:r>
              <a:rPr lang="en-US" altLang="ko-KR" dirty="0"/>
              <a:t>: </a:t>
            </a:r>
            <a:r>
              <a:rPr lang="ko-KR" altLang="en-US" dirty="0"/>
              <a:t>농업 파괴 </a:t>
            </a:r>
            <a:r>
              <a:rPr lang="en-US" altLang="ko-KR" dirty="0"/>
              <a:t>-&gt; </a:t>
            </a:r>
            <a:r>
              <a:rPr lang="ko-KR" altLang="en-US" dirty="0"/>
              <a:t>값싼 농산품 수입 필요</a:t>
            </a:r>
            <a:endParaRPr lang="en-US" altLang="ko-KR" dirty="0"/>
          </a:p>
          <a:p>
            <a:pPr lvl="2"/>
            <a:r>
              <a:rPr lang="ko-KR" altLang="en-US" dirty="0"/>
              <a:t>협상국간 금융 대부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8786AB-C1AD-40AB-42C8-502E1F742101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895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C1693BC-E381-A50B-E3B9-1EAACFA680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A25998D-05C7-2FA0-5B93-DEF23F249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5E896B-F665-B080-6664-92D46C1614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1E87051-D3E0-DDB7-14AD-04094D6D7A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미국의 </a:t>
            </a:r>
            <a:r>
              <a:rPr lang="en-US" altLang="ko-KR" dirty="0"/>
              <a:t>1</a:t>
            </a:r>
            <a:r>
              <a:rPr lang="ko-KR" altLang="en-US" dirty="0"/>
              <a:t>차대전 참전</a:t>
            </a:r>
            <a:endParaRPr lang="en-US" altLang="ko-KR" dirty="0"/>
          </a:p>
          <a:p>
            <a:pPr lvl="1"/>
            <a:r>
              <a:rPr lang="en-US" altLang="ko-KR" dirty="0"/>
              <a:t>1917 </a:t>
            </a:r>
            <a:r>
              <a:rPr lang="ko-KR" altLang="en-US" dirty="0"/>
              <a:t>참전 </a:t>
            </a:r>
            <a:r>
              <a:rPr lang="en-US" altLang="ko-KR" dirty="0"/>
              <a:t>-&gt; </a:t>
            </a:r>
            <a:r>
              <a:rPr lang="ko-KR" altLang="en-US" dirty="0"/>
              <a:t>많은 물자</a:t>
            </a:r>
            <a:r>
              <a:rPr lang="en-US" altLang="ko-KR" dirty="0"/>
              <a:t>/</a:t>
            </a:r>
            <a:r>
              <a:rPr lang="ko-KR" altLang="en-US" dirty="0"/>
              <a:t>병력 </a:t>
            </a:r>
            <a:r>
              <a:rPr lang="en-US" altLang="ko-KR" dirty="0"/>
              <a:t>-&gt; </a:t>
            </a:r>
            <a:r>
              <a:rPr lang="ko-KR" altLang="en-US" dirty="0"/>
              <a:t>연합국 승리</a:t>
            </a:r>
            <a:endParaRPr lang="en-US" altLang="ko-KR" dirty="0"/>
          </a:p>
          <a:p>
            <a:pPr lvl="1"/>
            <a:r>
              <a:rPr lang="ko-KR" altLang="en-US" dirty="0"/>
              <a:t>전시재정 </a:t>
            </a:r>
            <a:r>
              <a:rPr lang="ko-KR" altLang="en-US" dirty="0" err="1"/>
              <a:t>수입법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초과 </a:t>
            </a:r>
            <a:r>
              <a:rPr lang="ko-KR" altLang="en-US" dirty="0" err="1"/>
              <a:t>이윤세</a:t>
            </a:r>
            <a:r>
              <a:rPr lang="en-US" altLang="ko-KR" dirty="0"/>
              <a:t>, </a:t>
            </a:r>
            <a:r>
              <a:rPr lang="ko-KR" altLang="en-US" dirty="0"/>
              <a:t>소득세 인상</a:t>
            </a:r>
            <a:r>
              <a:rPr lang="en-US" altLang="ko-KR" dirty="0"/>
              <a:t>, </a:t>
            </a:r>
            <a:r>
              <a:rPr lang="ko-KR" altLang="en-US" dirty="0"/>
              <a:t>공채 발행</a:t>
            </a:r>
            <a:endParaRPr lang="en-US" altLang="ko-KR" dirty="0"/>
          </a:p>
          <a:p>
            <a:pPr lvl="1"/>
            <a:r>
              <a:rPr lang="ko-KR" altLang="en-US" dirty="0"/>
              <a:t>통제경제의 등장</a:t>
            </a:r>
            <a:endParaRPr lang="en-US" altLang="ko-KR" dirty="0"/>
          </a:p>
          <a:p>
            <a:pPr lvl="2"/>
            <a:r>
              <a:rPr lang="ko-KR" altLang="en-US" dirty="0"/>
              <a:t>민간기업과 군수계약으로 생산 감당 </a:t>
            </a:r>
            <a:r>
              <a:rPr lang="en-US" altLang="ko-KR" dirty="0"/>
              <a:t>X -&gt; </a:t>
            </a:r>
            <a:r>
              <a:rPr lang="ko-KR" altLang="en-US" dirty="0"/>
              <a:t>정부가 민간수요 억제</a:t>
            </a:r>
            <a:r>
              <a:rPr lang="en-US" altLang="ko-KR" dirty="0"/>
              <a:t>, </a:t>
            </a:r>
            <a:r>
              <a:rPr lang="ko-KR" altLang="en-US" dirty="0"/>
              <a:t>민간 </a:t>
            </a:r>
            <a:r>
              <a:rPr lang="en-US" altLang="ko-KR" dirty="0"/>
              <a:t>+ </a:t>
            </a:r>
            <a:r>
              <a:rPr lang="ko-KR" altLang="en-US" dirty="0"/>
              <a:t>공적 부문의 생산</a:t>
            </a:r>
            <a:r>
              <a:rPr lang="en-US" altLang="ko-KR" dirty="0"/>
              <a:t>/</a:t>
            </a:r>
            <a:r>
              <a:rPr lang="ko-KR" altLang="en-US" dirty="0"/>
              <a:t>유통 통제</a:t>
            </a:r>
            <a:endParaRPr lang="en-US" altLang="ko-KR" dirty="0"/>
          </a:p>
          <a:p>
            <a:pPr lvl="2"/>
            <a:r>
              <a:rPr lang="ko-KR" altLang="en-US" dirty="0"/>
              <a:t>국가방위위원회 </a:t>
            </a:r>
            <a:r>
              <a:rPr lang="en-US" altLang="ko-KR" dirty="0"/>
              <a:t>-&gt; </a:t>
            </a:r>
            <a:r>
              <a:rPr lang="ko-KR" altLang="en-US" dirty="0"/>
              <a:t>생산</a:t>
            </a:r>
            <a:r>
              <a:rPr lang="en-US" altLang="ko-KR" dirty="0"/>
              <a:t>/</a:t>
            </a:r>
            <a:r>
              <a:rPr lang="ko-KR" altLang="en-US" dirty="0"/>
              <a:t>분배를 계획</a:t>
            </a:r>
            <a:r>
              <a:rPr lang="en-US" altLang="ko-KR" dirty="0"/>
              <a:t>/</a:t>
            </a:r>
            <a:r>
              <a:rPr lang="ko-KR" altLang="en-US" dirty="0"/>
              <a:t>감독</a:t>
            </a:r>
            <a:endParaRPr lang="en-US" altLang="ko-KR" dirty="0"/>
          </a:p>
          <a:p>
            <a:pPr lvl="2"/>
            <a:r>
              <a:rPr lang="ko-KR" altLang="en-US" dirty="0"/>
              <a:t>정부가 생산</a:t>
            </a:r>
            <a:r>
              <a:rPr lang="en-US" altLang="ko-KR" dirty="0"/>
              <a:t>/</a:t>
            </a:r>
            <a:r>
              <a:rPr lang="ko-KR" altLang="en-US" dirty="0"/>
              <a:t>분배의 중요한 역할 사례</a:t>
            </a:r>
            <a:endParaRPr lang="en-US" altLang="ko-KR" dirty="0"/>
          </a:p>
          <a:p>
            <a:pPr lvl="1"/>
            <a:r>
              <a:rPr lang="ko-KR" altLang="en-US" dirty="0"/>
              <a:t>미국의 부상</a:t>
            </a:r>
            <a:endParaRPr lang="en-US" altLang="ko-KR" dirty="0"/>
          </a:p>
          <a:p>
            <a:pPr lvl="2"/>
            <a:r>
              <a:rPr lang="ko-KR" altLang="en-US" dirty="0"/>
              <a:t>미국이 타국에 비해 피해 적음</a:t>
            </a:r>
            <a:endParaRPr lang="en-US" altLang="ko-KR" dirty="0"/>
          </a:p>
          <a:p>
            <a:pPr lvl="3"/>
            <a:r>
              <a:rPr lang="ko-KR" altLang="en-US" dirty="0" err="1"/>
              <a:t>열강중</a:t>
            </a:r>
            <a:r>
              <a:rPr lang="ko-KR" altLang="en-US" dirty="0"/>
              <a:t> 사망자 최소</a:t>
            </a:r>
            <a:r>
              <a:rPr lang="en-US" altLang="ko-KR" dirty="0"/>
              <a:t>, </a:t>
            </a:r>
            <a:r>
              <a:rPr lang="ko-KR" altLang="en-US" dirty="0" err="1"/>
              <a:t>오헝</a:t>
            </a:r>
            <a:r>
              <a:rPr lang="en-US" altLang="ko-KR" dirty="0"/>
              <a:t>/</a:t>
            </a:r>
            <a:r>
              <a:rPr lang="ko-KR" altLang="en-US" dirty="0"/>
              <a:t>독 제국 해체 및 막대한 배상금</a:t>
            </a:r>
            <a:endParaRPr lang="en-US" altLang="ko-KR" dirty="0"/>
          </a:p>
          <a:p>
            <a:pPr lvl="2"/>
            <a:r>
              <a:rPr lang="ko-KR" altLang="en-US" dirty="0"/>
              <a:t>러 제국 붕괴</a:t>
            </a:r>
            <a:r>
              <a:rPr lang="en-US" altLang="ko-KR" dirty="0"/>
              <a:t>, </a:t>
            </a:r>
            <a:r>
              <a:rPr lang="ko-KR" altLang="en-US" dirty="0"/>
              <a:t>러시아 소비에트 연방 수립</a:t>
            </a:r>
            <a:r>
              <a:rPr lang="en-US" altLang="ko-KR" dirty="0"/>
              <a:t>(1917 </a:t>
            </a:r>
            <a:r>
              <a:rPr lang="ko-KR" altLang="en-US" dirty="0"/>
              <a:t>볼셰비키 혁명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미 경제 부상 </a:t>
            </a:r>
            <a:r>
              <a:rPr lang="en-US" altLang="ko-KR" dirty="0"/>
              <a:t>-&gt; </a:t>
            </a:r>
            <a:r>
              <a:rPr lang="ko-KR" altLang="en-US" dirty="0"/>
              <a:t>전쟁을 통해 생산 증대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270F59E-A678-0DDA-F801-1C231255EE8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98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D077E8A-7F79-D047-A203-3D6D6576E2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CFB264E-CDD3-1D3B-C585-EEC9413CA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전간기</a:t>
            </a:r>
            <a:r>
              <a:rPr lang="en-US" altLang="ko-KR" dirty="0"/>
              <a:t>: 1920</a:t>
            </a:r>
            <a:r>
              <a:rPr lang="ko-KR" altLang="en-US" dirty="0"/>
              <a:t>년대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D00504-C175-DA7D-FBEC-EE5BA114EC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2E9262A-F903-316B-C753-BFE9430A23E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전간기</a:t>
            </a:r>
            <a:r>
              <a:rPr lang="ko-KR" altLang="en-US" dirty="0"/>
              <a:t> 미국</a:t>
            </a:r>
            <a:r>
              <a:rPr lang="en-US" altLang="ko-KR" dirty="0"/>
              <a:t>(1918 ~ 1939) </a:t>
            </a:r>
            <a:r>
              <a:rPr lang="ko-KR" altLang="en-US" dirty="0"/>
              <a:t>호황 배경</a:t>
            </a:r>
            <a:endParaRPr lang="en-US" altLang="ko-KR" dirty="0"/>
          </a:p>
          <a:p>
            <a:pPr lvl="1"/>
            <a:r>
              <a:rPr lang="ko-KR" altLang="en-US" dirty="0"/>
              <a:t>호황 원인</a:t>
            </a:r>
            <a:endParaRPr lang="en-US" altLang="ko-KR" dirty="0"/>
          </a:p>
          <a:p>
            <a:pPr lvl="2"/>
            <a:r>
              <a:rPr lang="ko-KR" altLang="en-US" dirty="0"/>
              <a:t>영 파운드 과대평가</a:t>
            </a:r>
            <a:r>
              <a:rPr lang="en-US" altLang="ko-KR" dirty="0"/>
              <a:t>, </a:t>
            </a:r>
            <a:r>
              <a:rPr lang="ko-KR" altLang="en-US" dirty="0"/>
              <a:t>달러 과대평가 </a:t>
            </a:r>
            <a:r>
              <a:rPr lang="en-US" altLang="ko-KR" dirty="0"/>
              <a:t>-&gt; </a:t>
            </a:r>
            <a:r>
              <a:rPr lang="ko-KR" altLang="en-US" dirty="0"/>
              <a:t>환율 방어를 위해 영 긴축 </a:t>
            </a:r>
            <a:r>
              <a:rPr lang="en-US" altLang="ko-KR" dirty="0"/>
              <a:t>-&gt; </a:t>
            </a:r>
            <a:r>
              <a:rPr lang="ko-KR" altLang="en-US" dirty="0"/>
              <a:t>영 불황</a:t>
            </a:r>
            <a:endParaRPr lang="en-US" altLang="ko-KR" dirty="0"/>
          </a:p>
          <a:p>
            <a:pPr lvl="2"/>
            <a:r>
              <a:rPr lang="ko-KR" altLang="en-US" dirty="0"/>
              <a:t>미 </a:t>
            </a:r>
            <a:r>
              <a:rPr lang="en-US" altLang="ko-KR" dirty="0"/>
              <a:t>1</a:t>
            </a:r>
            <a:r>
              <a:rPr lang="ko-KR" altLang="en-US" dirty="0"/>
              <a:t>차 </a:t>
            </a:r>
            <a:r>
              <a:rPr lang="ko-KR" altLang="en-US" dirty="0" err="1"/>
              <a:t>대전중</a:t>
            </a:r>
            <a:r>
              <a:rPr lang="ko-KR" altLang="en-US" dirty="0"/>
              <a:t> 해외자산 축적</a:t>
            </a:r>
            <a:r>
              <a:rPr lang="en-US" altLang="ko-KR" dirty="0"/>
              <a:t>, </a:t>
            </a:r>
            <a:r>
              <a:rPr lang="ko-KR" altLang="en-US" dirty="0"/>
              <a:t>국제수지 흑자 </a:t>
            </a:r>
            <a:r>
              <a:rPr lang="en-US" altLang="ko-KR" dirty="0"/>
              <a:t>-&gt; </a:t>
            </a:r>
            <a:r>
              <a:rPr lang="ko-KR" altLang="en-US" dirty="0"/>
              <a:t>자본유입 및 투자 호황</a:t>
            </a:r>
            <a:endParaRPr lang="en-US" altLang="ko-KR" dirty="0"/>
          </a:p>
          <a:p>
            <a:pPr lvl="2"/>
            <a:r>
              <a:rPr lang="ko-KR" altLang="en-US" dirty="0"/>
              <a:t>기술력 발전으로 인한 호황 </a:t>
            </a:r>
            <a:r>
              <a:rPr lang="en-US" altLang="ko-KR" dirty="0"/>
              <a:t>: </a:t>
            </a:r>
            <a:r>
              <a:rPr lang="ko-KR" altLang="en-US" dirty="0"/>
              <a:t>자동차 산업 발달</a:t>
            </a:r>
            <a:endParaRPr lang="en-US" altLang="ko-KR" dirty="0"/>
          </a:p>
          <a:p>
            <a:pPr lvl="3"/>
            <a:r>
              <a:rPr lang="ko-KR" altLang="en-US" dirty="0"/>
              <a:t>철</a:t>
            </a:r>
            <a:r>
              <a:rPr lang="en-US" altLang="ko-KR" dirty="0"/>
              <a:t>/</a:t>
            </a:r>
            <a:r>
              <a:rPr lang="ko-KR" altLang="en-US" dirty="0"/>
              <a:t>고무</a:t>
            </a:r>
            <a:r>
              <a:rPr lang="en-US" altLang="ko-KR" dirty="0"/>
              <a:t>/</a:t>
            </a:r>
            <a:r>
              <a:rPr lang="ko-KR" altLang="en-US" dirty="0"/>
              <a:t>유리 </a:t>
            </a:r>
            <a:r>
              <a:rPr lang="en-US" altLang="ko-KR" dirty="0"/>
              <a:t>: </a:t>
            </a:r>
            <a:r>
              <a:rPr lang="ko-KR" altLang="en-US" dirty="0"/>
              <a:t>원자재 생산 증대</a:t>
            </a:r>
            <a:endParaRPr lang="en-US" altLang="ko-KR" dirty="0"/>
          </a:p>
          <a:p>
            <a:pPr lvl="1"/>
            <a:r>
              <a:rPr lang="ko-KR" altLang="en-US" dirty="0"/>
              <a:t>정치</a:t>
            </a:r>
            <a:endParaRPr lang="en-US" altLang="ko-KR" dirty="0"/>
          </a:p>
          <a:p>
            <a:pPr lvl="2"/>
            <a:r>
              <a:rPr lang="ko-KR" altLang="en-US" dirty="0" err="1"/>
              <a:t>전간기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공화당 장악 </a:t>
            </a:r>
            <a:r>
              <a:rPr lang="en-US" altLang="ko-KR" dirty="0"/>
              <a:t>-&gt; </a:t>
            </a:r>
            <a:r>
              <a:rPr lang="ko-KR" altLang="en-US" dirty="0"/>
              <a:t>공화당 정부</a:t>
            </a:r>
            <a:r>
              <a:rPr lang="en-US" altLang="ko-KR" dirty="0"/>
              <a:t>: </a:t>
            </a:r>
            <a:r>
              <a:rPr lang="ko-KR" altLang="en-US" dirty="0"/>
              <a:t>기업과 상호협조</a:t>
            </a:r>
            <a:endParaRPr lang="en-US" altLang="ko-KR" dirty="0"/>
          </a:p>
          <a:p>
            <a:pPr lvl="2"/>
            <a:r>
              <a:rPr lang="ko-KR" altLang="en-US" dirty="0"/>
              <a:t>앤드류 멜론 </a:t>
            </a:r>
            <a:r>
              <a:rPr lang="en-US" altLang="ko-KR" dirty="0"/>
              <a:t>: </a:t>
            </a:r>
            <a:r>
              <a:rPr lang="ko-KR" altLang="en-US" dirty="0"/>
              <a:t>조세감소</a:t>
            </a:r>
            <a:endParaRPr lang="en-US" altLang="ko-KR" dirty="0"/>
          </a:p>
          <a:p>
            <a:pPr lvl="2"/>
            <a:r>
              <a:rPr lang="en-US" altLang="ko-KR" dirty="0"/>
              <a:t>1</a:t>
            </a:r>
            <a:r>
              <a:rPr lang="ko-KR" altLang="en-US" dirty="0"/>
              <a:t>차대전의 채무회수 시도</a:t>
            </a:r>
            <a:endParaRPr lang="en-US" altLang="ko-KR" dirty="0"/>
          </a:p>
          <a:p>
            <a:pPr lvl="2"/>
            <a:r>
              <a:rPr lang="ko-KR" altLang="en-US" dirty="0" err="1"/>
              <a:t>하버트</a:t>
            </a:r>
            <a:r>
              <a:rPr lang="ko-KR" altLang="en-US" dirty="0"/>
              <a:t> 후버 </a:t>
            </a:r>
            <a:r>
              <a:rPr lang="en-US" altLang="ko-KR" dirty="0"/>
              <a:t>: </a:t>
            </a:r>
            <a:r>
              <a:rPr lang="ko-KR" altLang="en-US" dirty="0"/>
              <a:t>협의체주의 </a:t>
            </a:r>
            <a:r>
              <a:rPr lang="en-US" altLang="ko-KR" dirty="0"/>
              <a:t>: </a:t>
            </a:r>
            <a:r>
              <a:rPr lang="ko-KR" altLang="en-US" dirty="0"/>
              <a:t>민간의 자발적 협력 </a:t>
            </a:r>
            <a:r>
              <a:rPr lang="en-US" altLang="ko-KR" dirty="0"/>
              <a:t>= </a:t>
            </a:r>
            <a:r>
              <a:rPr lang="ko-KR" altLang="en-US" dirty="0"/>
              <a:t>안정과 생산성 향상</a:t>
            </a:r>
            <a:endParaRPr lang="en-US" altLang="ko-KR" dirty="0"/>
          </a:p>
          <a:p>
            <a:r>
              <a:rPr lang="ko-KR" altLang="en-US" dirty="0" err="1"/>
              <a:t>전간기</a:t>
            </a:r>
            <a:r>
              <a:rPr lang="ko-KR" altLang="en-US" dirty="0"/>
              <a:t> 미국 </a:t>
            </a:r>
            <a:r>
              <a:rPr lang="en-US" altLang="ko-KR" dirty="0"/>
              <a:t>: </a:t>
            </a:r>
            <a:r>
              <a:rPr lang="ko-KR" altLang="en-US" dirty="0"/>
              <a:t>소비사회</a:t>
            </a:r>
            <a:endParaRPr lang="en-US" altLang="ko-KR" dirty="0"/>
          </a:p>
          <a:p>
            <a:pPr lvl="1"/>
            <a:r>
              <a:rPr lang="ko-KR" altLang="en-US" dirty="0"/>
              <a:t>라디오</a:t>
            </a:r>
            <a:r>
              <a:rPr lang="en-US" altLang="ko-KR" dirty="0"/>
              <a:t>, </a:t>
            </a:r>
            <a:r>
              <a:rPr lang="ko-KR" altLang="en-US" dirty="0"/>
              <a:t>냉장고</a:t>
            </a:r>
            <a:r>
              <a:rPr lang="en-US" altLang="ko-KR" dirty="0"/>
              <a:t>, </a:t>
            </a:r>
            <a:r>
              <a:rPr lang="ko-KR" altLang="en-US" dirty="0"/>
              <a:t>식기세척기</a:t>
            </a:r>
            <a:r>
              <a:rPr lang="en-US" altLang="ko-KR" dirty="0"/>
              <a:t>, </a:t>
            </a:r>
            <a:r>
              <a:rPr lang="ko-KR" altLang="en-US" dirty="0"/>
              <a:t>진공청소기</a:t>
            </a:r>
            <a:r>
              <a:rPr lang="en-US" altLang="ko-KR" dirty="0"/>
              <a:t>, </a:t>
            </a:r>
            <a:r>
              <a:rPr lang="ko-KR" altLang="en-US" dirty="0"/>
              <a:t>자동차가 중산층에 보급됨</a:t>
            </a:r>
            <a:endParaRPr lang="en-US" altLang="ko-KR" dirty="0"/>
          </a:p>
          <a:p>
            <a:pPr lvl="1"/>
            <a:r>
              <a:rPr lang="ko-KR" altLang="en-US" dirty="0"/>
              <a:t>필요에 의한 소비 </a:t>
            </a:r>
            <a:r>
              <a:rPr lang="en-US" altLang="ko-KR" dirty="0"/>
              <a:t>-&gt; </a:t>
            </a:r>
            <a:r>
              <a:rPr lang="ko-KR" altLang="en-US" dirty="0"/>
              <a:t>편의</a:t>
            </a:r>
            <a:r>
              <a:rPr lang="en-US" altLang="ko-KR" dirty="0"/>
              <a:t>/</a:t>
            </a:r>
            <a:r>
              <a:rPr lang="ko-KR" altLang="en-US" dirty="0"/>
              <a:t>만족을 위한 소비</a:t>
            </a:r>
            <a:endParaRPr lang="en-US" altLang="ko-KR" dirty="0"/>
          </a:p>
          <a:p>
            <a:pPr lvl="2"/>
            <a:r>
              <a:rPr lang="ko-KR" altLang="en-US" dirty="0"/>
              <a:t>광고 </a:t>
            </a:r>
            <a:r>
              <a:rPr lang="en-US" altLang="ko-KR" dirty="0"/>
              <a:t>: </a:t>
            </a:r>
            <a:r>
              <a:rPr lang="ko-KR" altLang="en-US" dirty="0"/>
              <a:t>수요의 창출을 극대화 </a:t>
            </a:r>
            <a:r>
              <a:rPr lang="en-US" altLang="ko-KR" dirty="0"/>
              <a:t>&lt;-&gt; </a:t>
            </a:r>
            <a:r>
              <a:rPr lang="ko-KR" altLang="en-US" dirty="0" err="1"/>
              <a:t>세이의</a:t>
            </a:r>
            <a:r>
              <a:rPr lang="ko-KR" altLang="en-US" dirty="0"/>
              <a:t> 법칙</a:t>
            </a:r>
            <a:endParaRPr lang="en-US" altLang="ko-KR" dirty="0"/>
          </a:p>
          <a:p>
            <a:r>
              <a:rPr lang="ko-KR" altLang="en-US" dirty="0"/>
              <a:t>대공황</a:t>
            </a:r>
            <a:endParaRPr lang="en-US" altLang="ko-KR" dirty="0"/>
          </a:p>
          <a:p>
            <a:pPr lvl="1"/>
            <a:r>
              <a:rPr lang="en-US" altLang="ko-KR" dirty="0"/>
              <a:t>1929.10.29 </a:t>
            </a:r>
            <a:r>
              <a:rPr lang="ko-KR" altLang="en-US" dirty="0"/>
              <a:t>검은 목요일 </a:t>
            </a:r>
            <a:r>
              <a:rPr lang="en-US" altLang="ko-KR" dirty="0"/>
              <a:t>-&gt; </a:t>
            </a:r>
            <a:r>
              <a:rPr lang="ko-KR" altLang="en-US" dirty="0"/>
              <a:t>긴축정책 </a:t>
            </a:r>
            <a:r>
              <a:rPr lang="en-US" altLang="ko-KR" dirty="0"/>
              <a:t>-&gt; </a:t>
            </a:r>
            <a:r>
              <a:rPr lang="ko-KR" altLang="en-US" dirty="0"/>
              <a:t>루즈벨트 </a:t>
            </a:r>
            <a:r>
              <a:rPr lang="en-US" altLang="ko-KR" dirty="0"/>
              <a:t>: </a:t>
            </a:r>
            <a:r>
              <a:rPr lang="ko-KR" altLang="en-US" dirty="0"/>
              <a:t>뉴딜정책 </a:t>
            </a:r>
            <a:r>
              <a:rPr lang="en-US" altLang="ko-KR" dirty="0"/>
              <a:t>-&gt; </a:t>
            </a:r>
            <a:r>
              <a:rPr lang="ko-KR" altLang="en-US" dirty="0"/>
              <a:t>대공황 완화</a:t>
            </a:r>
            <a:endParaRPr lang="en-US" altLang="ko-KR" dirty="0"/>
          </a:p>
          <a:p>
            <a:pPr lvl="2"/>
            <a:r>
              <a:rPr lang="ko-KR" altLang="en-US" dirty="0"/>
              <a:t>대공황이 매우 심각</a:t>
            </a:r>
            <a:r>
              <a:rPr lang="en-US" altLang="ko-KR" dirty="0"/>
              <a:t>, </a:t>
            </a:r>
            <a:r>
              <a:rPr lang="ko-KR" altLang="en-US" dirty="0"/>
              <a:t>지속기간 길음</a:t>
            </a:r>
            <a:endParaRPr lang="en-US" altLang="ko-KR" dirty="0"/>
          </a:p>
          <a:p>
            <a:r>
              <a:rPr lang="ko-KR" altLang="en-US" dirty="0" err="1"/>
              <a:t>전간기</a:t>
            </a:r>
            <a:r>
              <a:rPr lang="ko-KR" altLang="en-US" dirty="0"/>
              <a:t> </a:t>
            </a:r>
            <a:r>
              <a:rPr lang="en-US" altLang="ko-KR" dirty="0"/>
              <a:t>1920 </a:t>
            </a:r>
            <a:r>
              <a:rPr lang="ko-KR" altLang="en-US" dirty="0"/>
              <a:t>유럽</a:t>
            </a:r>
            <a:endParaRPr lang="en-US" altLang="ko-KR" dirty="0"/>
          </a:p>
          <a:p>
            <a:pPr lvl="1"/>
            <a:r>
              <a:rPr lang="ko-KR" altLang="en-US" dirty="0"/>
              <a:t>정치</a:t>
            </a:r>
            <a:r>
              <a:rPr lang="en-US" altLang="ko-KR" dirty="0"/>
              <a:t>, </a:t>
            </a:r>
            <a:r>
              <a:rPr lang="ko-KR" altLang="en-US" dirty="0"/>
              <a:t>사회적 불안</a:t>
            </a:r>
            <a:r>
              <a:rPr lang="en-US" altLang="ko-KR" dirty="0"/>
              <a:t>: </a:t>
            </a:r>
            <a:r>
              <a:rPr lang="ko-KR" altLang="en-US" dirty="0"/>
              <a:t>파시즘</a:t>
            </a:r>
            <a:r>
              <a:rPr lang="en-US" altLang="ko-KR" dirty="0"/>
              <a:t>, </a:t>
            </a:r>
            <a:r>
              <a:rPr lang="ko-KR" altLang="en-US" dirty="0"/>
              <a:t>사회주의</a:t>
            </a:r>
            <a:endParaRPr lang="en-US" altLang="ko-KR" dirty="0"/>
          </a:p>
          <a:p>
            <a:pPr lvl="1"/>
            <a:r>
              <a:rPr lang="ko-KR" altLang="en-US" dirty="0"/>
              <a:t>전시체제에서 </a:t>
            </a:r>
            <a:r>
              <a:rPr lang="ko-KR" altLang="en-US" dirty="0" err="1"/>
              <a:t>과도화된</a:t>
            </a:r>
            <a:r>
              <a:rPr lang="ko-KR" altLang="en-US" dirty="0"/>
              <a:t> 생산설비 및 노동력을 다시 평시로 전환하기 어려움</a:t>
            </a:r>
            <a:endParaRPr lang="en-US" altLang="ko-KR" dirty="0"/>
          </a:p>
          <a:p>
            <a:pPr lvl="2"/>
            <a:r>
              <a:rPr lang="ko-KR" altLang="en-US" dirty="0"/>
              <a:t>미</a:t>
            </a:r>
            <a:r>
              <a:rPr lang="en-US" altLang="ko-KR" dirty="0"/>
              <a:t>, </a:t>
            </a:r>
            <a:r>
              <a:rPr lang="ko-KR" altLang="en-US" dirty="0"/>
              <a:t>일과 같이 본토 전쟁 </a:t>
            </a:r>
            <a:r>
              <a:rPr lang="en-US" altLang="ko-KR" dirty="0"/>
              <a:t>X-&gt; </a:t>
            </a:r>
            <a:r>
              <a:rPr lang="ko-KR" altLang="en-US" dirty="0"/>
              <a:t>유럽시장</a:t>
            </a:r>
            <a:r>
              <a:rPr lang="en-US" altLang="ko-KR" dirty="0"/>
              <a:t> </a:t>
            </a:r>
            <a:r>
              <a:rPr lang="ko-KR" altLang="en-US" dirty="0"/>
              <a:t>장악</a:t>
            </a:r>
            <a:endParaRPr lang="en-US" altLang="ko-KR" dirty="0"/>
          </a:p>
          <a:p>
            <a:pPr lvl="1"/>
            <a:r>
              <a:rPr lang="ko-KR" altLang="en-US" dirty="0"/>
              <a:t>노동자 권리 향상으로 인한 노동시장 유연성 악화</a:t>
            </a:r>
            <a:endParaRPr lang="en-US" altLang="ko-KR" dirty="0"/>
          </a:p>
          <a:p>
            <a:pPr lvl="1"/>
            <a:r>
              <a:rPr lang="ko-KR" altLang="en-US" dirty="0"/>
              <a:t>약화된 금융구조 </a:t>
            </a:r>
            <a:r>
              <a:rPr lang="en-US" altLang="ko-KR" dirty="0"/>
              <a:t>: </a:t>
            </a:r>
            <a:r>
              <a:rPr lang="ko-KR" altLang="en-US" dirty="0"/>
              <a:t>금본위제 정지 및 막대한 패전국 배상금</a:t>
            </a:r>
            <a:endParaRPr lang="en-US" altLang="ko-KR" dirty="0"/>
          </a:p>
          <a:p>
            <a:r>
              <a:rPr lang="en-US" altLang="ko-KR" dirty="0"/>
              <a:t>1920</a:t>
            </a:r>
            <a:r>
              <a:rPr lang="ko-KR" altLang="en-US" dirty="0"/>
              <a:t> 유럽경제 </a:t>
            </a:r>
            <a:r>
              <a:rPr lang="en-US" altLang="ko-KR" dirty="0"/>
              <a:t>: </a:t>
            </a:r>
            <a:r>
              <a:rPr lang="ko-KR" altLang="en-US" dirty="0"/>
              <a:t>불황과 위기</a:t>
            </a:r>
            <a:endParaRPr lang="en-US" altLang="ko-KR" dirty="0"/>
          </a:p>
          <a:p>
            <a:pPr lvl="1"/>
            <a:r>
              <a:rPr lang="ko-KR" altLang="en-US" dirty="0"/>
              <a:t>인플레 </a:t>
            </a:r>
            <a:r>
              <a:rPr lang="en-US" altLang="ko-KR" dirty="0"/>
              <a:t>: </a:t>
            </a:r>
            <a:r>
              <a:rPr lang="ko-KR" altLang="en-US" dirty="0"/>
              <a:t>수요상승 및 공급 감소</a:t>
            </a:r>
            <a:endParaRPr lang="en-US" altLang="ko-KR" dirty="0"/>
          </a:p>
          <a:p>
            <a:pPr lvl="1"/>
            <a:r>
              <a:rPr lang="ko-KR" altLang="en-US" dirty="0"/>
              <a:t>원인</a:t>
            </a:r>
            <a:endParaRPr lang="en-US" altLang="ko-KR" dirty="0"/>
          </a:p>
          <a:p>
            <a:pPr lvl="2"/>
            <a:r>
              <a:rPr lang="ko-KR" altLang="en-US" dirty="0"/>
              <a:t>국제수지론적 </a:t>
            </a:r>
            <a:r>
              <a:rPr lang="en-US" altLang="ko-KR" dirty="0"/>
              <a:t>: </a:t>
            </a:r>
            <a:r>
              <a:rPr lang="ko-KR" altLang="en-US" dirty="0"/>
              <a:t>패전국 배상금 </a:t>
            </a:r>
            <a:r>
              <a:rPr lang="en-US" altLang="ko-KR" dirty="0"/>
              <a:t>-&gt; </a:t>
            </a:r>
            <a:r>
              <a:rPr lang="ko-KR" altLang="en-US" dirty="0"/>
              <a:t>점령비용 </a:t>
            </a:r>
            <a:r>
              <a:rPr lang="en-US" altLang="ko-KR" dirty="0"/>
              <a:t>-&gt; </a:t>
            </a:r>
            <a:r>
              <a:rPr lang="ko-KR" altLang="en-US" dirty="0"/>
              <a:t>국제수지 적자 </a:t>
            </a:r>
            <a:r>
              <a:rPr lang="en-US" altLang="ko-KR" dirty="0"/>
              <a:t>-&gt; </a:t>
            </a:r>
            <a:r>
              <a:rPr lang="ko-KR" altLang="en-US" dirty="0"/>
              <a:t>마르크화 가치 하락 </a:t>
            </a:r>
            <a:r>
              <a:rPr lang="en-US" altLang="ko-KR" dirty="0"/>
              <a:t>-&gt; </a:t>
            </a:r>
            <a:r>
              <a:rPr lang="ko-KR" altLang="en-US" dirty="0"/>
              <a:t>수입 가격 상승 </a:t>
            </a:r>
            <a:r>
              <a:rPr lang="en-US" altLang="ko-KR" dirty="0"/>
              <a:t>-&gt; </a:t>
            </a:r>
            <a:r>
              <a:rPr lang="ko-KR" altLang="en-US" dirty="0"/>
              <a:t>비용</a:t>
            </a:r>
            <a:r>
              <a:rPr lang="en-US" altLang="ko-KR" dirty="0"/>
              <a:t>/</a:t>
            </a:r>
            <a:r>
              <a:rPr lang="ko-KR" altLang="en-US" dirty="0"/>
              <a:t>물가 상승 </a:t>
            </a:r>
            <a:r>
              <a:rPr lang="en-US" altLang="ko-KR" dirty="0"/>
              <a:t>-&gt; </a:t>
            </a:r>
            <a:r>
              <a:rPr lang="ko-KR" altLang="en-US" dirty="0"/>
              <a:t>경제 전체 파급</a:t>
            </a:r>
            <a:endParaRPr lang="en-US" altLang="ko-KR" dirty="0"/>
          </a:p>
          <a:p>
            <a:pPr lvl="2"/>
            <a:r>
              <a:rPr lang="ko-KR" altLang="en-US" dirty="0" err="1"/>
              <a:t>화폐수량적</a:t>
            </a:r>
            <a:r>
              <a:rPr lang="ko-KR" altLang="en-US" dirty="0"/>
              <a:t> 설명 </a:t>
            </a:r>
            <a:r>
              <a:rPr lang="en-US" altLang="ko-KR" dirty="0"/>
              <a:t>: </a:t>
            </a:r>
            <a:r>
              <a:rPr lang="ko-KR" altLang="en-US" dirty="0"/>
              <a:t>통화공급 과대 </a:t>
            </a:r>
            <a:r>
              <a:rPr lang="en-US" altLang="ko-KR" dirty="0"/>
              <a:t>-&gt; </a:t>
            </a:r>
            <a:r>
              <a:rPr lang="ko-KR" altLang="en-US" dirty="0"/>
              <a:t>가치 하락 </a:t>
            </a:r>
            <a:r>
              <a:rPr lang="en-US" altLang="ko-KR" dirty="0"/>
              <a:t>-&gt; </a:t>
            </a:r>
            <a:r>
              <a:rPr lang="ko-KR" altLang="en-US" dirty="0"/>
              <a:t>인플레 </a:t>
            </a:r>
            <a:r>
              <a:rPr lang="en-US" altLang="ko-KR" dirty="0"/>
              <a:t>+ </a:t>
            </a:r>
            <a:r>
              <a:rPr lang="ko-KR" altLang="en-US" dirty="0"/>
              <a:t>세수 실질가치 감소 </a:t>
            </a:r>
            <a:r>
              <a:rPr lang="en-US" altLang="ko-KR" dirty="0"/>
              <a:t>+ </a:t>
            </a:r>
            <a:r>
              <a:rPr lang="ko-KR" altLang="en-US" dirty="0"/>
              <a:t>배상금 유통속도 증대</a:t>
            </a:r>
            <a:endParaRPr lang="en-US" altLang="ko-KR" dirty="0"/>
          </a:p>
          <a:p>
            <a:r>
              <a:rPr lang="ko-KR" altLang="en-US" dirty="0" err="1"/>
              <a:t>전간기</a:t>
            </a:r>
            <a:r>
              <a:rPr lang="ko-KR" altLang="en-US" dirty="0"/>
              <a:t> 유럽 </a:t>
            </a:r>
            <a:r>
              <a:rPr lang="en-US" altLang="ko-KR" dirty="0"/>
              <a:t>: </a:t>
            </a:r>
            <a:r>
              <a:rPr lang="ko-KR" altLang="en-US" dirty="0"/>
              <a:t>금본위제 복귀시도</a:t>
            </a:r>
            <a:endParaRPr lang="en-US" altLang="ko-KR" dirty="0"/>
          </a:p>
          <a:p>
            <a:pPr lvl="1"/>
            <a:r>
              <a:rPr lang="ko-KR" altLang="en-US" dirty="0"/>
              <a:t>통화가치 하락 </a:t>
            </a:r>
            <a:r>
              <a:rPr lang="en-US" altLang="ko-KR" dirty="0"/>
              <a:t>-&gt; </a:t>
            </a:r>
            <a:r>
              <a:rPr lang="ko-KR" altLang="en-US" dirty="0"/>
              <a:t>금본위제 복귀 여론 </a:t>
            </a:r>
            <a:r>
              <a:rPr lang="en-US" altLang="ko-KR" dirty="0"/>
              <a:t>-&gt; </a:t>
            </a:r>
            <a:r>
              <a:rPr lang="ko-KR" altLang="en-US" dirty="0" err="1"/>
              <a:t>조정없이</a:t>
            </a:r>
            <a:r>
              <a:rPr lang="ko-KR" altLang="en-US" dirty="0"/>
              <a:t> 금본위제 </a:t>
            </a:r>
            <a:r>
              <a:rPr lang="en-US" altLang="ko-KR" dirty="0"/>
              <a:t>-&gt; </a:t>
            </a:r>
            <a:r>
              <a:rPr lang="ko-KR" altLang="en-US" dirty="0"/>
              <a:t>각국 통화가치 과대</a:t>
            </a:r>
            <a:r>
              <a:rPr lang="en-US" altLang="ko-KR" dirty="0"/>
              <a:t>/</a:t>
            </a:r>
            <a:r>
              <a:rPr lang="ko-KR" altLang="en-US" dirty="0"/>
              <a:t>과소 평가 </a:t>
            </a:r>
            <a:r>
              <a:rPr lang="en-US" altLang="ko-KR" dirty="0"/>
              <a:t>-&gt; </a:t>
            </a:r>
            <a:r>
              <a:rPr lang="ko-KR" altLang="en-US" dirty="0"/>
              <a:t>과대평가된 국가</a:t>
            </a:r>
            <a:r>
              <a:rPr lang="en-US" altLang="ko-KR" dirty="0"/>
              <a:t>(</a:t>
            </a:r>
            <a:r>
              <a:rPr lang="ko-KR" altLang="en-US" dirty="0"/>
              <a:t>영</a:t>
            </a:r>
            <a:r>
              <a:rPr lang="en-US" altLang="ko-KR" dirty="0"/>
              <a:t>) = </a:t>
            </a:r>
            <a:r>
              <a:rPr lang="ko-KR" altLang="en-US" dirty="0"/>
              <a:t>긴축 </a:t>
            </a:r>
            <a:r>
              <a:rPr lang="en-US" altLang="ko-KR" dirty="0"/>
              <a:t>-&gt; </a:t>
            </a:r>
            <a:r>
              <a:rPr lang="ko-KR" altLang="en-US" dirty="0"/>
              <a:t>불황 </a:t>
            </a:r>
            <a:r>
              <a:rPr lang="en-US" altLang="ko-KR" dirty="0"/>
              <a:t> + </a:t>
            </a:r>
            <a:r>
              <a:rPr lang="ko-KR" altLang="en-US" dirty="0"/>
              <a:t>미국 긴축 </a:t>
            </a:r>
            <a:r>
              <a:rPr lang="en-US" altLang="ko-KR" dirty="0"/>
              <a:t>-&gt; </a:t>
            </a:r>
            <a:r>
              <a:rPr lang="ko-KR" altLang="en-US" dirty="0"/>
              <a:t>유럽은행 파산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980CC0F-7690-F93C-B687-110080CE1F4F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241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C58B4FC-CDB1-BFFD-62D5-91A72FB27A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045AEF0-4588-739B-C55F-0191F1A31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 중앙은행의 역사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1AB4D68-8356-F87C-7B5D-FA93CCD956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EB098AF-753E-B099-A697-758C1A1C4E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재정정책과 통화정책</a:t>
            </a:r>
            <a:endParaRPr lang="en-US" altLang="ko-KR" dirty="0"/>
          </a:p>
          <a:p>
            <a:pPr lvl="1"/>
            <a:r>
              <a:rPr lang="ko-KR" altLang="en-US" dirty="0"/>
              <a:t>재정정책 </a:t>
            </a:r>
            <a:r>
              <a:rPr lang="en-US" altLang="ko-KR" dirty="0"/>
              <a:t>: </a:t>
            </a:r>
            <a:r>
              <a:rPr lang="ko-KR" altLang="en-US" dirty="0"/>
              <a:t>행정부에서 세금을 징수하고 예산을 집행</a:t>
            </a:r>
            <a:endParaRPr lang="en-US" altLang="ko-KR" dirty="0"/>
          </a:p>
          <a:p>
            <a:pPr lvl="1"/>
            <a:r>
              <a:rPr lang="ko-KR" altLang="en-US" dirty="0"/>
              <a:t>통화정책 </a:t>
            </a:r>
            <a:r>
              <a:rPr lang="en-US" altLang="ko-KR" dirty="0"/>
              <a:t>: </a:t>
            </a:r>
            <a:r>
              <a:rPr lang="ko-KR" altLang="en-US" dirty="0"/>
              <a:t>기준금리</a:t>
            </a:r>
            <a:r>
              <a:rPr lang="en-US" altLang="ko-KR" dirty="0"/>
              <a:t> </a:t>
            </a:r>
            <a:r>
              <a:rPr lang="ko-KR" altLang="en-US" dirty="0"/>
              <a:t>조절</a:t>
            </a:r>
            <a:r>
              <a:rPr lang="en-US" altLang="ko-KR" dirty="0"/>
              <a:t>/</a:t>
            </a:r>
            <a:r>
              <a:rPr lang="ko-KR" altLang="en-US" dirty="0"/>
              <a:t>공개시장조작과 같은 통화량 조절</a:t>
            </a:r>
            <a:endParaRPr lang="en-US" altLang="ko-KR" dirty="0"/>
          </a:p>
          <a:p>
            <a:pPr lvl="2"/>
            <a:r>
              <a:rPr lang="ko-KR" altLang="en-US" dirty="0"/>
              <a:t>금본위제에선 통화정책이 필요 없으나 금준비금</a:t>
            </a:r>
            <a:r>
              <a:rPr lang="en-US" altLang="ko-KR" dirty="0"/>
              <a:t>, </a:t>
            </a:r>
            <a:r>
              <a:rPr lang="ko-KR" altLang="en-US" dirty="0"/>
              <a:t>통화량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중앙은행의 역사</a:t>
            </a:r>
            <a:endParaRPr lang="en-US" altLang="ko-KR" dirty="0"/>
          </a:p>
          <a:p>
            <a:pPr lvl="1"/>
            <a:r>
              <a:rPr lang="ko-KR" altLang="en-US" dirty="0"/>
              <a:t>미 건국 </a:t>
            </a:r>
            <a:r>
              <a:rPr lang="en-US" altLang="ko-KR" dirty="0"/>
              <a:t>~ 1907 </a:t>
            </a:r>
            <a:r>
              <a:rPr lang="ko-KR" altLang="en-US" dirty="0"/>
              <a:t>금융공황 이전</a:t>
            </a:r>
            <a:r>
              <a:rPr lang="en-US" altLang="ko-KR" dirty="0"/>
              <a:t>:</a:t>
            </a:r>
          </a:p>
          <a:p>
            <a:pPr lvl="2"/>
            <a:r>
              <a:rPr lang="ko-KR" altLang="en-US" dirty="0"/>
              <a:t>연방주의자</a:t>
            </a:r>
            <a:r>
              <a:rPr lang="en-US" altLang="ko-KR" dirty="0"/>
              <a:t>, </a:t>
            </a:r>
            <a:r>
              <a:rPr lang="ko-KR" altLang="en-US" dirty="0"/>
              <a:t>공화주의자 대립 </a:t>
            </a:r>
            <a:r>
              <a:rPr lang="en-US" altLang="ko-KR" dirty="0"/>
              <a:t>-&gt; </a:t>
            </a:r>
            <a:r>
              <a:rPr lang="ko-KR" altLang="en-US" dirty="0"/>
              <a:t>중앙은행의 건립과 폐지가 반복</a:t>
            </a:r>
            <a:endParaRPr lang="en-US" altLang="ko-KR" dirty="0"/>
          </a:p>
          <a:p>
            <a:pPr lvl="1"/>
            <a:r>
              <a:rPr lang="en-US" altLang="ko-KR" dirty="0"/>
              <a:t>1913 </a:t>
            </a:r>
            <a:r>
              <a:rPr lang="ko-KR" altLang="en-US" dirty="0"/>
              <a:t>연방준비제도 설립 이후</a:t>
            </a:r>
            <a:endParaRPr lang="en-US" altLang="ko-KR" dirty="0"/>
          </a:p>
          <a:p>
            <a:pPr lvl="2"/>
            <a:r>
              <a:rPr lang="en-US" altLang="ko-KR" dirty="0"/>
              <a:t>1920 </a:t>
            </a:r>
            <a:r>
              <a:rPr lang="ko-KR" altLang="en-US" dirty="0"/>
              <a:t>공개시장조작</a:t>
            </a:r>
            <a:r>
              <a:rPr lang="en-US" altLang="ko-KR" dirty="0"/>
              <a:t>(1923 </a:t>
            </a:r>
            <a:r>
              <a:rPr lang="ko-KR" altLang="en-US" dirty="0"/>
              <a:t>정부 증권 구매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1923</a:t>
            </a:r>
            <a:r>
              <a:rPr lang="ko-KR" altLang="en-US" dirty="0"/>
              <a:t> </a:t>
            </a:r>
            <a:r>
              <a:rPr lang="ko-KR" altLang="en-US" dirty="0" err="1"/>
              <a:t>글래스</a:t>
            </a:r>
            <a:r>
              <a:rPr lang="en-US" altLang="ko-KR" dirty="0"/>
              <a:t>-</a:t>
            </a:r>
            <a:r>
              <a:rPr lang="ko-KR" altLang="en-US" dirty="0" err="1"/>
              <a:t>스티걸법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상업은행</a:t>
            </a:r>
            <a:r>
              <a:rPr lang="en-US" altLang="ko-KR" dirty="0"/>
              <a:t>/</a:t>
            </a:r>
            <a:r>
              <a:rPr lang="ko-KR" altLang="en-US" dirty="0"/>
              <a:t>투자은행 분리</a:t>
            </a:r>
            <a:r>
              <a:rPr lang="en-US" altLang="ko-KR" dirty="0"/>
              <a:t>; </a:t>
            </a:r>
            <a:r>
              <a:rPr lang="ko-KR" altLang="en-US" dirty="0"/>
              <a:t>공개시장조작을 중앙은행 아래에 둠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018DC28-5247-22BE-B394-639CF0FF7B14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675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9DFEEEE-718B-5754-854A-FF2AE795F3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D4EEE68-0195-18F0-E4E1-4C2CDB267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새계</a:t>
            </a:r>
            <a:r>
              <a:rPr lang="ko-KR" altLang="en-US" dirty="0"/>
              <a:t> 대공황의 경과 원인 회복과정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008E336-B788-9DBC-9C7E-F8F2AF78F9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7EE44F2-29CA-C816-C0B2-D7D5D90523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초록 </a:t>
            </a:r>
            <a:r>
              <a:rPr lang="en-US" altLang="ko-KR" dirty="0"/>
              <a:t>: </a:t>
            </a:r>
            <a:r>
              <a:rPr lang="ko-KR" altLang="en-US" dirty="0"/>
              <a:t>논문 요약</a:t>
            </a:r>
            <a:endParaRPr lang="en-US" altLang="ko-KR" dirty="0"/>
          </a:p>
          <a:p>
            <a:pPr lvl="1"/>
            <a:r>
              <a:rPr lang="ko-KR" altLang="en-US" dirty="0"/>
              <a:t>공황의 여건 조성</a:t>
            </a:r>
            <a:endParaRPr lang="en-US" altLang="ko-KR" dirty="0"/>
          </a:p>
          <a:p>
            <a:pPr lvl="2"/>
            <a:r>
              <a:rPr lang="en-US" altLang="ko-KR" dirty="0"/>
              <a:t>1</a:t>
            </a:r>
            <a:r>
              <a:rPr lang="ko-KR" altLang="en-US" dirty="0"/>
              <a:t>차대전 </a:t>
            </a:r>
            <a:r>
              <a:rPr lang="en-US" altLang="ko-KR" dirty="0"/>
              <a:t>&amp; 1920 </a:t>
            </a:r>
            <a:r>
              <a:rPr lang="ko-KR" altLang="en-US" dirty="0"/>
              <a:t>경제 구조 변화</a:t>
            </a:r>
            <a:r>
              <a:rPr lang="en-US" altLang="ko-KR" dirty="0"/>
              <a:t>(</a:t>
            </a:r>
            <a:r>
              <a:rPr lang="ko-KR" altLang="en-US" dirty="0"/>
              <a:t>국제 채권채무관계</a:t>
            </a:r>
            <a:r>
              <a:rPr lang="en-US" altLang="ko-KR" dirty="0"/>
              <a:t>, </a:t>
            </a:r>
            <a:r>
              <a:rPr lang="ko-KR" altLang="en-US" dirty="0"/>
              <a:t>통화제도 취약성</a:t>
            </a:r>
            <a:r>
              <a:rPr lang="en-US" altLang="ko-KR" dirty="0"/>
              <a:t>) </a:t>
            </a:r>
          </a:p>
          <a:p>
            <a:pPr lvl="1"/>
            <a:r>
              <a:rPr lang="ko-KR" altLang="en-US" dirty="0"/>
              <a:t>직접적인 원인</a:t>
            </a:r>
            <a:endParaRPr lang="en-US" altLang="ko-KR" dirty="0"/>
          </a:p>
          <a:p>
            <a:pPr lvl="2"/>
            <a:r>
              <a:rPr lang="en-US" altLang="ko-KR" dirty="0"/>
              <a:t>1928,1929 </a:t>
            </a:r>
            <a:r>
              <a:rPr lang="ko-KR" altLang="en-US" dirty="0"/>
              <a:t>미 긴축통화정책</a:t>
            </a:r>
            <a:endParaRPr lang="en-US" altLang="ko-KR" dirty="0"/>
          </a:p>
          <a:p>
            <a:pPr lvl="1"/>
            <a:r>
              <a:rPr lang="ko-KR" altLang="en-US" dirty="0"/>
              <a:t>공황의 심화</a:t>
            </a:r>
            <a:r>
              <a:rPr lang="en-US" altLang="ko-KR" dirty="0"/>
              <a:t>, </a:t>
            </a:r>
            <a:r>
              <a:rPr lang="ko-KR" altLang="en-US" dirty="0"/>
              <a:t>전파</a:t>
            </a:r>
            <a:endParaRPr lang="en-US" altLang="ko-KR" dirty="0"/>
          </a:p>
          <a:p>
            <a:pPr lvl="2"/>
            <a:r>
              <a:rPr lang="ko-KR" altLang="en-US" dirty="0"/>
              <a:t>각국의 금본위제 유지를 위한 긴축정책</a:t>
            </a:r>
            <a:endParaRPr lang="en-US" altLang="ko-KR" dirty="0"/>
          </a:p>
          <a:p>
            <a:pPr lvl="1"/>
            <a:r>
              <a:rPr lang="ko-KR" altLang="en-US" dirty="0"/>
              <a:t>회복의 토대</a:t>
            </a:r>
            <a:endParaRPr lang="en-US" altLang="ko-KR" dirty="0"/>
          </a:p>
          <a:p>
            <a:pPr lvl="2"/>
            <a:r>
              <a:rPr lang="ko-KR" altLang="en-US" dirty="0"/>
              <a:t>평가 절하 </a:t>
            </a:r>
            <a:r>
              <a:rPr lang="en-US" altLang="ko-KR" dirty="0"/>
              <a:t>&amp; </a:t>
            </a:r>
            <a:r>
              <a:rPr lang="ko-KR" altLang="en-US" dirty="0"/>
              <a:t>외환통제 </a:t>
            </a:r>
            <a:r>
              <a:rPr lang="en-US" altLang="ko-KR" dirty="0"/>
              <a:t>-&gt; </a:t>
            </a:r>
            <a:r>
              <a:rPr lang="ko-KR" altLang="en-US" dirty="0"/>
              <a:t>팽창정책 </a:t>
            </a:r>
            <a:r>
              <a:rPr lang="en-US" altLang="ko-KR" dirty="0"/>
              <a:t>-&gt; </a:t>
            </a:r>
            <a:r>
              <a:rPr lang="ko-KR" altLang="en-US" dirty="0"/>
              <a:t>회복의 토대</a:t>
            </a:r>
            <a:endParaRPr lang="en-US" altLang="ko-KR" dirty="0"/>
          </a:p>
          <a:p>
            <a:pPr lvl="1"/>
            <a:r>
              <a:rPr lang="ko-KR" altLang="en-US" dirty="0"/>
              <a:t>금본위 포기 시기와 평가절하의 폭 때문에 회복과정에 차이</a:t>
            </a:r>
            <a:endParaRPr lang="en-US" altLang="ko-KR" dirty="0"/>
          </a:p>
          <a:p>
            <a:r>
              <a:rPr lang="ko-KR" altLang="en-US" dirty="0"/>
              <a:t>산업생산지수의 차이</a:t>
            </a:r>
            <a:endParaRPr lang="en-US" altLang="ko-KR" dirty="0"/>
          </a:p>
          <a:p>
            <a:pPr lvl="1"/>
            <a:r>
              <a:rPr lang="ko-KR" altLang="en-US" dirty="0"/>
              <a:t>대공황으로 모두가 하락하였지만</a:t>
            </a:r>
            <a:br>
              <a:rPr lang="en-US" altLang="ko-KR" dirty="0"/>
            </a:br>
            <a:r>
              <a:rPr lang="ko-KR" altLang="en-US" dirty="0"/>
              <a:t>하락 폭과 회복 정도는 모두 달랐다</a:t>
            </a:r>
            <a:endParaRPr lang="en-US" altLang="ko-KR" dirty="0"/>
          </a:p>
          <a:p>
            <a:pPr lvl="2"/>
            <a:r>
              <a:rPr lang="ko-KR" altLang="en-US" dirty="0"/>
              <a:t>미국이 가장 큰 하락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1920</a:t>
            </a:r>
            <a:r>
              <a:rPr lang="ko-KR" altLang="en-US" dirty="0"/>
              <a:t>의 경제 구조적 변화</a:t>
            </a:r>
            <a:endParaRPr lang="en-US" altLang="ko-KR" dirty="0"/>
          </a:p>
          <a:p>
            <a:pPr lvl="1"/>
            <a:r>
              <a:rPr lang="ko-KR" altLang="en-US" dirty="0"/>
              <a:t>과소소비론 </a:t>
            </a:r>
            <a:r>
              <a:rPr lang="en-US" altLang="ko-KR" dirty="0"/>
              <a:t>: </a:t>
            </a:r>
            <a:r>
              <a:rPr lang="ko-KR" altLang="en-US" dirty="0"/>
              <a:t>부의 불평등 </a:t>
            </a:r>
            <a:r>
              <a:rPr lang="en-US" altLang="ko-KR" dirty="0"/>
              <a:t>-&gt; </a:t>
            </a:r>
            <a:r>
              <a:rPr lang="ko-KR" altLang="en-US" dirty="0"/>
              <a:t>소비 감소 </a:t>
            </a:r>
            <a:r>
              <a:rPr lang="en-US" altLang="ko-KR" dirty="0"/>
              <a:t>; but, </a:t>
            </a:r>
            <a:r>
              <a:rPr lang="ko-KR" altLang="en-US" dirty="0"/>
              <a:t>그 크기는 미미했다</a:t>
            </a:r>
            <a:endParaRPr lang="en-US" altLang="ko-KR" dirty="0"/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차 산업 시장의 변화</a:t>
            </a:r>
            <a:r>
              <a:rPr lang="en-US" altLang="ko-KR" dirty="0"/>
              <a:t>: 1</a:t>
            </a:r>
            <a:r>
              <a:rPr lang="ko-KR" altLang="en-US" dirty="0"/>
              <a:t>차 생산물 과잉 생산 </a:t>
            </a:r>
            <a:r>
              <a:rPr lang="en-US" altLang="ko-KR" dirty="0"/>
              <a:t>-&gt; </a:t>
            </a:r>
            <a:r>
              <a:rPr lang="ko-KR" altLang="en-US" dirty="0"/>
              <a:t>수출국은 손해</a:t>
            </a:r>
            <a:r>
              <a:rPr lang="en-US" altLang="ko-KR" dirty="0"/>
              <a:t>, </a:t>
            </a:r>
            <a:r>
              <a:rPr lang="ko-KR" altLang="en-US" dirty="0"/>
              <a:t>수입국은 이득 </a:t>
            </a:r>
            <a:r>
              <a:rPr lang="en-US" altLang="ko-KR" dirty="0"/>
              <a:t>-&gt; </a:t>
            </a:r>
            <a:r>
              <a:rPr lang="ko-KR" altLang="en-US" dirty="0"/>
              <a:t>직접적인 원인 </a:t>
            </a:r>
            <a:r>
              <a:rPr lang="en-US" altLang="ko-KR" dirty="0"/>
              <a:t>X</a:t>
            </a:r>
          </a:p>
          <a:p>
            <a:pPr lvl="1"/>
            <a:r>
              <a:rPr lang="ko-KR" altLang="en-US" dirty="0"/>
              <a:t>국제적채무관계</a:t>
            </a:r>
            <a:r>
              <a:rPr lang="en-US" altLang="ko-KR" dirty="0"/>
              <a:t>: </a:t>
            </a:r>
            <a:r>
              <a:rPr lang="ko-KR" altLang="en-US" dirty="0"/>
              <a:t>전쟁 후 적자에 대해 별 다른 도움을 주지 못함 </a:t>
            </a:r>
            <a:r>
              <a:rPr lang="en-US" altLang="ko-KR" dirty="0"/>
              <a:t>(</a:t>
            </a:r>
            <a:r>
              <a:rPr lang="ko-KR" altLang="en-US" dirty="0"/>
              <a:t>미</a:t>
            </a:r>
            <a:r>
              <a:rPr lang="en-US" altLang="ko-KR" dirty="0"/>
              <a:t>-&gt;</a:t>
            </a:r>
            <a:r>
              <a:rPr lang="ko-KR" altLang="en-US" dirty="0"/>
              <a:t>독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국제통화제도의 취약성</a:t>
            </a:r>
            <a:r>
              <a:rPr lang="en-US" altLang="ko-KR" dirty="0"/>
              <a:t>: </a:t>
            </a:r>
            <a:r>
              <a:rPr lang="ko-KR" altLang="en-US" dirty="0"/>
              <a:t>전쟁이후 금본위제 작동 불가 원인</a:t>
            </a:r>
            <a:endParaRPr lang="en-US" altLang="ko-KR" dirty="0"/>
          </a:p>
          <a:p>
            <a:pPr lvl="3"/>
            <a:r>
              <a:rPr lang="ko-KR" altLang="en-US" dirty="0" err="1"/>
              <a:t>킨들버거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금본위제 질서를 이끌만한 나라가 없음</a:t>
            </a:r>
            <a:endParaRPr lang="en-US" altLang="ko-KR" dirty="0"/>
          </a:p>
          <a:p>
            <a:pPr lvl="3"/>
            <a:r>
              <a:rPr lang="ko-KR" altLang="en-US" dirty="0" err="1"/>
              <a:t>아이켄그린</a:t>
            </a:r>
            <a:r>
              <a:rPr lang="en-US" altLang="ko-KR" dirty="0"/>
              <a:t>:</a:t>
            </a:r>
            <a:r>
              <a:rPr lang="ko-KR" altLang="en-US" dirty="0"/>
              <a:t> 금본위제는 분산됨</a:t>
            </a:r>
            <a:r>
              <a:rPr lang="en-US" altLang="ko-KR" dirty="0"/>
              <a:t>. </a:t>
            </a:r>
            <a:r>
              <a:rPr lang="ko-KR" altLang="en-US" dirty="0"/>
              <a:t>신뢰도와 안정성이 없어서 그랬다</a:t>
            </a:r>
            <a:endParaRPr lang="en-US" altLang="ko-KR" dirty="0"/>
          </a:p>
          <a:p>
            <a:pPr lvl="1"/>
            <a:r>
              <a:rPr lang="en-US" altLang="ko-KR" dirty="0"/>
              <a:t>Ww1</a:t>
            </a:r>
            <a:r>
              <a:rPr lang="ko-KR" altLang="en-US" dirty="0"/>
              <a:t> 이후 경제구조변화가 대공황의 직접적인 원인</a:t>
            </a:r>
            <a:r>
              <a:rPr lang="en-US" altLang="ko-KR" dirty="0"/>
              <a:t>X, </a:t>
            </a:r>
            <a:r>
              <a:rPr lang="ko-KR" altLang="en-US" dirty="0"/>
              <a:t>하지만 대공황의 여건 조성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C7BE4C2-C8EE-83CD-EB16-6D22334063FE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1920 </a:t>
            </a:r>
            <a:r>
              <a:rPr lang="ko-KR" altLang="en-US" dirty="0"/>
              <a:t>경구 변 </a:t>
            </a:r>
            <a:r>
              <a:rPr lang="en-US" altLang="ko-KR" dirty="0"/>
              <a:t>: </a:t>
            </a:r>
            <a:r>
              <a:rPr lang="ko-KR" altLang="en-US" dirty="0"/>
              <a:t>직원</a:t>
            </a:r>
            <a:r>
              <a:rPr lang="en-US" altLang="ko-KR" dirty="0"/>
              <a:t>X, </a:t>
            </a:r>
            <a:r>
              <a:rPr lang="ko-KR" altLang="en-US" dirty="0"/>
              <a:t>공여</a:t>
            </a:r>
            <a:endParaRPr lang="en-US" altLang="ko-KR" dirty="0"/>
          </a:p>
          <a:p>
            <a:pPr lvl="1"/>
            <a:r>
              <a:rPr lang="ko-KR" altLang="en-US" dirty="0" err="1"/>
              <a:t>과비론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부불 </a:t>
            </a:r>
            <a:r>
              <a:rPr lang="en-US" altLang="ko-KR" dirty="0"/>
              <a:t>-&gt; </a:t>
            </a:r>
            <a:r>
              <a:rPr lang="ko-KR" altLang="en-US" dirty="0"/>
              <a:t>소감 </a:t>
            </a:r>
            <a:r>
              <a:rPr lang="en-US" altLang="ko-KR" dirty="0"/>
              <a:t>-&gt; </a:t>
            </a:r>
            <a:r>
              <a:rPr lang="ko-KR" altLang="en-US" dirty="0"/>
              <a:t>직원</a:t>
            </a:r>
            <a:r>
              <a:rPr lang="en-US" altLang="ko-KR" dirty="0"/>
              <a:t>X</a:t>
            </a:r>
          </a:p>
          <a:p>
            <a:pPr lvl="1"/>
            <a:r>
              <a:rPr lang="en-US" altLang="ko-KR" dirty="0"/>
              <a:t>1</a:t>
            </a:r>
            <a:r>
              <a:rPr lang="ko-KR" altLang="en-US" dirty="0" err="1"/>
              <a:t>산변</a:t>
            </a:r>
            <a:r>
              <a:rPr lang="ko-KR" altLang="en-US" dirty="0"/>
              <a:t> </a:t>
            </a:r>
            <a:r>
              <a:rPr lang="en-US" altLang="ko-KR" dirty="0"/>
              <a:t>= 1</a:t>
            </a:r>
            <a:r>
              <a:rPr lang="ko-KR" altLang="en-US" dirty="0" err="1"/>
              <a:t>생과생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 err="1"/>
              <a:t>출손입득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직원</a:t>
            </a:r>
            <a:r>
              <a:rPr lang="en-US" altLang="ko-KR" dirty="0"/>
              <a:t>X</a:t>
            </a:r>
          </a:p>
          <a:p>
            <a:pPr lvl="1"/>
            <a:r>
              <a:rPr lang="ko-KR" altLang="en-US" dirty="0"/>
              <a:t>국채관 </a:t>
            </a:r>
            <a:r>
              <a:rPr lang="en-US" altLang="ko-KR" dirty="0"/>
              <a:t>= </a:t>
            </a:r>
            <a:r>
              <a:rPr lang="ko-KR" altLang="en-US" dirty="0"/>
              <a:t>전후 적 </a:t>
            </a:r>
            <a:r>
              <a:rPr lang="en-US" altLang="ko-KR" dirty="0"/>
              <a:t>-&gt; </a:t>
            </a:r>
            <a:r>
              <a:rPr lang="ko-KR" altLang="en-US" dirty="0"/>
              <a:t>도</a:t>
            </a:r>
            <a:r>
              <a:rPr lang="en-US" altLang="ko-KR" dirty="0"/>
              <a:t>X (</a:t>
            </a:r>
            <a:r>
              <a:rPr lang="ko-KR" altLang="en-US" dirty="0" err="1"/>
              <a:t>미독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 err="1"/>
              <a:t>통제취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금본</a:t>
            </a:r>
            <a:r>
              <a:rPr lang="en-US" altLang="ko-KR" dirty="0"/>
              <a:t>X</a:t>
            </a:r>
            <a:r>
              <a:rPr lang="ko-KR" altLang="en-US" dirty="0"/>
              <a:t>원 </a:t>
            </a:r>
            <a:r>
              <a:rPr lang="en-US" altLang="ko-KR" dirty="0"/>
              <a:t>; </a:t>
            </a:r>
            <a:r>
              <a:rPr lang="ko-KR" altLang="en-US" dirty="0"/>
              <a:t>킨들 </a:t>
            </a:r>
            <a:r>
              <a:rPr lang="en-US" altLang="ko-KR" dirty="0"/>
              <a:t>= </a:t>
            </a:r>
            <a:r>
              <a:rPr lang="ko-KR" altLang="en-US" dirty="0" err="1"/>
              <a:t>질나</a:t>
            </a:r>
            <a:r>
              <a:rPr lang="en-US" altLang="ko-KR" dirty="0"/>
              <a:t>X ; </a:t>
            </a:r>
            <a:r>
              <a:rPr lang="ko-KR" altLang="en-US" dirty="0" err="1"/>
              <a:t>아이켄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금분</a:t>
            </a:r>
            <a:r>
              <a:rPr lang="en-US" altLang="ko-KR" dirty="0"/>
              <a:t>, </a:t>
            </a:r>
            <a:r>
              <a:rPr lang="ko-KR" altLang="en-US" dirty="0"/>
              <a:t>신안</a:t>
            </a:r>
            <a:r>
              <a:rPr lang="en-US" altLang="ko-KR" dirty="0"/>
              <a:t>X</a:t>
            </a:r>
            <a:endParaRPr lang="ko-KR" altLang="en-US" dirty="0"/>
          </a:p>
        </p:txBody>
      </p:sp>
      <p:pic>
        <p:nvPicPr>
          <p:cNvPr id="10" name="그림 9" descr="텍스트, 라인, 도표, 그래프이(가) 표시된 사진&#10;&#10;자동 생성된 설명">
            <a:extLst>
              <a:ext uri="{FF2B5EF4-FFF2-40B4-BE49-F238E27FC236}">
                <a16:creationId xmlns:a16="http://schemas.microsoft.com/office/drawing/2014/main" id="{07A8A1C2-25B7-ABE9-701E-9D4EA72CE0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096" y="2936776"/>
            <a:ext cx="2448273" cy="1558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016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9CF9911-57DE-9719-EDE7-390F3CEB65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E5C78DF-5306-8BF6-6615-75CF45E4A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BCF880-C263-5E62-91AC-20192DBFEAA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093BFE3-B2DB-E9E0-C1D7-8E21CBDFCDC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대공황 사건 순서</a:t>
            </a:r>
            <a:endParaRPr lang="en-US" altLang="ko-KR" dirty="0"/>
          </a:p>
          <a:p>
            <a:pPr lvl="1"/>
            <a:r>
              <a:rPr lang="en-US" altLang="ko-KR" dirty="0"/>
              <a:t>1928 </a:t>
            </a:r>
            <a:r>
              <a:rPr lang="ko-KR" altLang="en-US" dirty="0"/>
              <a:t>주가상승 및 투기 열풍</a:t>
            </a:r>
            <a:endParaRPr lang="en-US" altLang="ko-KR" dirty="0"/>
          </a:p>
          <a:p>
            <a:pPr lvl="2"/>
            <a:r>
              <a:rPr lang="en-US" altLang="ko-KR" dirty="0"/>
              <a:t>1929 </a:t>
            </a:r>
            <a:r>
              <a:rPr lang="ko-KR" altLang="en-US" dirty="0"/>
              <a:t>검은 목요일 </a:t>
            </a:r>
            <a:r>
              <a:rPr lang="en-US" altLang="ko-KR" dirty="0"/>
              <a:t>-&gt; </a:t>
            </a:r>
            <a:r>
              <a:rPr lang="ko-KR" altLang="en-US" dirty="0"/>
              <a:t>주식시장 붕괴</a:t>
            </a:r>
            <a:endParaRPr lang="en-US" altLang="ko-KR" dirty="0"/>
          </a:p>
          <a:p>
            <a:pPr lvl="1"/>
            <a:r>
              <a:rPr lang="en-US" altLang="ko-KR" dirty="0"/>
              <a:t>1928 ~ 29 </a:t>
            </a:r>
            <a:r>
              <a:rPr lang="ko-KR" altLang="en-US" dirty="0"/>
              <a:t>미 긴축정책</a:t>
            </a:r>
            <a:endParaRPr lang="en-US" altLang="ko-KR" dirty="0"/>
          </a:p>
          <a:p>
            <a:pPr lvl="1"/>
            <a:r>
              <a:rPr lang="en-US" altLang="ko-KR" dirty="0"/>
              <a:t>1930 </a:t>
            </a:r>
            <a:r>
              <a:rPr lang="ko-KR" altLang="en-US" dirty="0" err="1"/>
              <a:t>스무트</a:t>
            </a:r>
            <a:r>
              <a:rPr lang="en-US" altLang="ko-KR" dirty="0"/>
              <a:t>-</a:t>
            </a:r>
            <a:r>
              <a:rPr lang="ko-KR" altLang="en-US" dirty="0" err="1"/>
              <a:t>홀리</a:t>
            </a:r>
            <a:r>
              <a:rPr lang="ko-KR" altLang="en-US" dirty="0"/>
              <a:t> 관세법</a:t>
            </a:r>
            <a:endParaRPr lang="en-US" altLang="ko-KR" dirty="0"/>
          </a:p>
          <a:p>
            <a:pPr lvl="1"/>
            <a:r>
              <a:rPr lang="ko-KR" altLang="en-US" dirty="0"/>
              <a:t>은행위기 </a:t>
            </a:r>
            <a:r>
              <a:rPr lang="en-US" altLang="ko-KR" dirty="0"/>
              <a:t>1930, 1931~1933</a:t>
            </a:r>
          </a:p>
          <a:p>
            <a:pPr lvl="1"/>
            <a:r>
              <a:rPr lang="en-US" altLang="ko-KR" dirty="0"/>
              <a:t>1932 </a:t>
            </a:r>
            <a:r>
              <a:rPr lang="ko-KR" altLang="en-US" dirty="0"/>
              <a:t>루즈벨트 당선</a:t>
            </a:r>
            <a:endParaRPr lang="en-US" altLang="ko-KR" dirty="0"/>
          </a:p>
          <a:p>
            <a:pPr lvl="2"/>
            <a:r>
              <a:rPr lang="en-US" altLang="ko-KR" dirty="0"/>
              <a:t>1933 1</a:t>
            </a:r>
            <a:r>
              <a:rPr lang="ko-KR" altLang="en-US" dirty="0"/>
              <a:t>차 뉴딜 입법</a:t>
            </a:r>
            <a:endParaRPr lang="en-US" altLang="ko-KR" dirty="0"/>
          </a:p>
          <a:p>
            <a:pPr lvl="2"/>
            <a:r>
              <a:rPr lang="en-US" altLang="ko-KR" dirty="0"/>
              <a:t>1935 2</a:t>
            </a:r>
            <a:r>
              <a:rPr lang="ko-KR" altLang="en-US" dirty="0"/>
              <a:t>차 뉴딜 입법</a:t>
            </a:r>
            <a:endParaRPr lang="en-US" altLang="ko-KR" dirty="0"/>
          </a:p>
          <a:p>
            <a:r>
              <a:rPr lang="ko-KR" altLang="en-US" dirty="0"/>
              <a:t>공황의 발발</a:t>
            </a:r>
            <a:endParaRPr lang="en-US" altLang="ko-KR" dirty="0"/>
          </a:p>
          <a:p>
            <a:pPr lvl="1"/>
            <a:r>
              <a:rPr lang="ko-KR" altLang="en-US" dirty="0"/>
              <a:t>주식시장 붕괴 </a:t>
            </a:r>
            <a:r>
              <a:rPr lang="en-US" altLang="ko-KR" dirty="0"/>
              <a:t>-&gt; </a:t>
            </a:r>
            <a:r>
              <a:rPr lang="ko-KR" altLang="en-US" dirty="0"/>
              <a:t>대공황은 아니다 </a:t>
            </a:r>
            <a:r>
              <a:rPr lang="en-US" altLang="ko-KR" dirty="0"/>
              <a:t>but, </a:t>
            </a:r>
            <a:r>
              <a:rPr lang="ko-KR" altLang="en-US" dirty="0"/>
              <a:t>심리적 효과</a:t>
            </a:r>
            <a:endParaRPr lang="en-US" altLang="ko-KR" dirty="0"/>
          </a:p>
          <a:p>
            <a:pPr lvl="1"/>
            <a:r>
              <a:rPr lang="ko-KR" altLang="en-US" dirty="0" err="1"/>
              <a:t>스</a:t>
            </a:r>
            <a:r>
              <a:rPr lang="en-US" altLang="ko-KR" dirty="0"/>
              <a:t>-</a:t>
            </a:r>
            <a:r>
              <a:rPr lang="ko-KR" altLang="en-US" dirty="0"/>
              <a:t>홀 관세 </a:t>
            </a:r>
            <a:r>
              <a:rPr lang="en-US" altLang="ko-KR" dirty="0"/>
              <a:t>: </a:t>
            </a:r>
            <a:r>
              <a:rPr lang="ko-KR" altLang="en-US" dirty="0"/>
              <a:t>보복관세</a:t>
            </a:r>
            <a:r>
              <a:rPr lang="en-US" altLang="ko-KR" dirty="0"/>
              <a:t>? -&gt; </a:t>
            </a:r>
            <a:r>
              <a:rPr lang="ko-KR" altLang="en-US" dirty="0"/>
              <a:t>미의 해외의존도 낮</a:t>
            </a:r>
            <a:r>
              <a:rPr lang="en-US" altLang="ko-KR" dirty="0"/>
              <a:t>, </a:t>
            </a:r>
            <a:r>
              <a:rPr lang="ko-KR" altLang="en-US" dirty="0"/>
              <a:t>수출액 변화 </a:t>
            </a:r>
            <a:r>
              <a:rPr lang="en-US" altLang="ko-KR" dirty="0"/>
              <a:t>X</a:t>
            </a:r>
          </a:p>
          <a:p>
            <a:pPr lvl="1"/>
            <a:r>
              <a:rPr lang="ko-KR" altLang="en-US" dirty="0"/>
              <a:t>은행위기</a:t>
            </a:r>
            <a:r>
              <a:rPr lang="en-US" altLang="ko-KR" dirty="0"/>
              <a:t>?</a:t>
            </a:r>
          </a:p>
          <a:p>
            <a:pPr lvl="2"/>
            <a:r>
              <a:rPr lang="en-US" altLang="ko-KR" dirty="0"/>
              <a:t>1. </a:t>
            </a:r>
            <a:r>
              <a:rPr lang="ko-KR" altLang="en-US" dirty="0"/>
              <a:t>은행 보수적 </a:t>
            </a:r>
            <a:r>
              <a:rPr lang="en-US" altLang="ko-KR" dirty="0"/>
              <a:t>=&gt; </a:t>
            </a:r>
            <a:r>
              <a:rPr lang="ko-KR" altLang="en-US" dirty="0" err="1"/>
              <a:t>통화승수</a:t>
            </a:r>
            <a:r>
              <a:rPr lang="ko-KR" altLang="en-US" dirty="0"/>
              <a:t> 낮 </a:t>
            </a:r>
            <a:r>
              <a:rPr lang="en-US" altLang="ko-KR" dirty="0"/>
              <a:t>-&gt; </a:t>
            </a:r>
            <a:r>
              <a:rPr lang="ko-KR" altLang="en-US" dirty="0"/>
              <a:t>통화량 낮 </a:t>
            </a:r>
            <a:r>
              <a:rPr lang="en-US" altLang="ko-KR" dirty="0"/>
              <a:t>-&gt; </a:t>
            </a:r>
            <a:r>
              <a:rPr lang="ko-KR" altLang="en-US" dirty="0"/>
              <a:t>금리 </a:t>
            </a:r>
            <a:r>
              <a:rPr lang="ko-KR" altLang="en-US" dirty="0" err="1"/>
              <a:t>높</a:t>
            </a:r>
            <a:endParaRPr lang="en-US" altLang="ko-KR" dirty="0"/>
          </a:p>
          <a:p>
            <a:pPr lvl="2"/>
            <a:r>
              <a:rPr lang="en-US" altLang="ko-KR" dirty="0"/>
              <a:t>2. </a:t>
            </a:r>
            <a:r>
              <a:rPr lang="ko-KR" altLang="en-US" dirty="0"/>
              <a:t>비관론</a:t>
            </a:r>
            <a:endParaRPr lang="en-US" altLang="ko-KR" dirty="0"/>
          </a:p>
          <a:p>
            <a:pPr lvl="2"/>
            <a:r>
              <a:rPr lang="en-US" altLang="ko-KR" dirty="0"/>
              <a:t>3. </a:t>
            </a:r>
            <a:r>
              <a:rPr lang="ko-KR" altLang="en-US" dirty="0"/>
              <a:t>금융 중개비중 증대 </a:t>
            </a:r>
            <a:r>
              <a:rPr lang="en-US" altLang="ko-KR" dirty="0"/>
              <a:t>-&gt; </a:t>
            </a:r>
            <a:r>
              <a:rPr lang="ko-KR" altLang="en-US" dirty="0"/>
              <a:t>경색</a:t>
            </a:r>
            <a:endParaRPr lang="en-US" altLang="ko-KR" dirty="0"/>
          </a:p>
          <a:p>
            <a:pPr lvl="2"/>
            <a:r>
              <a:rPr lang="ko-KR" altLang="en-US" dirty="0"/>
              <a:t>반론 </a:t>
            </a:r>
            <a:r>
              <a:rPr lang="en-US" altLang="ko-KR" dirty="0"/>
              <a:t>: </a:t>
            </a:r>
            <a:r>
              <a:rPr lang="ko-KR" altLang="en-US" dirty="0"/>
              <a:t>은행위기로 통화량이 줄진 않았다</a:t>
            </a:r>
            <a:endParaRPr lang="en-US" altLang="ko-KR" dirty="0"/>
          </a:p>
          <a:p>
            <a:pPr lvl="2"/>
            <a:r>
              <a:rPr lang="ko-KR" altLang="en-US" dirty="0"/>
              <a:t>통화론 </a:t>
            </a:r>
            <a:r>
              <a:rPr lang="en-US" altLang="ko-KR" dirty="0"/>
              <a:t>: </a:t>
            </a:r>
            <a:r>
              <a:rPr lang="ko-KR" altLang="en-US" dirty="0"/>
              <a:t>공황 촉발보단 공황 심화</a:t>
            </a:r>
            <a:endParaRPr lang="en-US" altLang="ko-KR" dirty="0"/>
          </a:p>
          <a:p>
            <a:pPr lvl="1"/>
            <a:r>
              <a:rPr lang="en-US" altLang="ko-KR" dirty="0"/>
              <a:t>1920 </a:t>
            </a:r>
            <a:r>
              <a:rPr lang="ko-KR" altLang="en-US" dirty="0"/>
              <a:t>말 긴축</a:t>
            </a:r>
            <a:endParaRPr lang="en-US" altLang="ko-KR" dirty="0"/>
          </a:p>
          <a:p>
            <a:pPr lvl="2"/>
            <a:r>
              <a:rPr lang="ko-KR" altLang="en-US" dirty="0"/>
              <a:t>미 </a:t>
            </a:r>
            <a:r>
              <a:rPr lang="en-US" altLang="ko-KR" dirty="0"/>
              <a:t>= </a:t>
            </a:r>
            <a:r>
              <a:rPr lang="ko-KR" altLang="en-US" dirty="0"/>
              <a:t>주식 과열</a:t>
            </a:r>
            <a:r>
              <a:rPr lang="en-US" altLang="ko-KR" dirty="0"/>
              <a:t>, </a:t>
            </a:r>
            <a:r>
              <a:rPr lang="ko-KR" altLang="en-US" dirty="0" err="1"/>
              <a:t>영독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환율 방어</a:t>
            </a:r>
            <a:endParaRPr lang="en-US" altLang="ko-KR" dirty="0"/>
          </a:p>
          <a:p>
            <a:pPr lvl="2"/>
            <a:r>
              <a:rPr lang="ko-KR" altLang="en-US" dirty="0" err="1"/>
              <a:t>미프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흑자국 </a:t>
            </a:r>
            <a:r>
              <a:rPr lang="en-US" altLang="ko-KR" dirty="0"/>
              <a:t>but, </a:t>
            </a:r>
            <a:r>
              <a:rPr lang="ko-KR" altLang="en-US" dirty="0"/>
              <a:t>긴축</a:t>
            </a:r>
            <a:r>
              <a:rPr lang="en-US" altLang="ko-KR" dirty="0"/>
              <a:t> ; </a:t>
            </a:r>
            <a:br>
              <a:rPr lang="en-US" altLang="ko-KR" dirty="0"/>
            </a:br>
            <a:r>
              <a:rPr lang="ko-KR" altLang="en-US" dirty="0"/>
              <a:t>국제수지 흑자임에도 긴축 </a:t>
            </a:r>
            <a:r>
              <a:rPr lang="en-US" altLang="ko-KR" dirty="0"/>
              <a:t>-&gt; </a:t>
            </a:r>
            <a:r>
              <a:rPr lang="ko-KR" altLang="en-US" dirty="0"/>
              <a:t>국제무역수지 조절 메커니즘 작동 불가 </a:t>
            </a:r>
            <a:r>
              <a:rPr lang="en-US" altLang="ko-KR" dirty="0"/>
              <a:t>; </a:t>
            </a:r>
            <a:br>
              <a:rPr lang="en-US" altLang="ko-KR" dirty="0"/>
            </a:br>
            <a:r>
              <a:rPr lang="ko-KR" altLang="en-US" dirty="0"/>
              <a:t>왜</a:t>
            </a:r>
            <a:r>
              <a:rPr lang="en-US" altLang="ko-KR" dirty="0"/>
              <a:t>? </a:t>
            </a:r>
            <a:r>
              <a:rPr lang="ko-KR" altLang="en-US" dirty="0"/>
              <a:t>당대 중앙은행의 목표 </a:t>
            </a:r>
            <a:r>
              <a:rPr lang="en-US" altLang="ko-KR" dirty="0"/>
              <a:t>= </a:t>
            </a:r>
            <a:r>
              <a:rPr lang="ko-KR" altLang="en-US" dirty="0"/>
              <a:t>금본위제 유지</a:t>
            </a:r>
            <a:endParaRPr lang="en-US" altLang="ko-KR" dirty="0"/>
          </a:p>
          <a:p>
            <a:pPr lvl="2"/>
            <a:r>
              <a:rPr lang="ko-KR" altLang="en-US" dirty="0"/>
              <a:t>중앙은행 </a:t>
            </a:r>
            <a:r>
              <a:rPr lang="en-US" altLang="ko-KR" dirty="0"/>
              <a:t>-&gt; </a:t>
            </a:r>
            <a:r>
              <a:rPr lang="ko-KR" altLang="en-US" dirty="0"/>
              <a:t>금본위제 긴축 집착</a:t>
            </a:r>
            <a:r>
              <a:rPr lang="en-US" altLang="ko-KR" dirty="0"/>
              <a:t> -&gt; </a:t>
            </a:r>
            <a:r>
              <a:rPr lang="ko-KR" altLang="en-US" dirty="0"/>
              <a:t>국제수지 악화</a:t>
            </a:r>
            <a:endParaRPr lang="en-US" altLang="ko-KR" dirty="0"/>
          </a:p>
          <a:p>
            <a:pPr lvl="1"/>
            <a:r>
              <a:rPr lang="ko-KR" altLang="en-US" dirty="0"/>
              <a:t>케인즈효과 </a:t>
            </a:r>
            <a:r>
              <a:rPr lang="en-US" altLang="ko-KR" dirty="0"/>
              <a:t>: </a:t>
            </a:r>
            <a:r>
              <a:rPr lang="ko-KR" altLang="en-US" dirty="0"/>
              <a:t>물가하락 </a:t>
            </a:r>
            <a:r>
              <a:rPr lang="en-US" altLang="ko-KR" dirty="0"/>
              <a:t>-&gt; </a:t>
            </a:r>
            <a:r>
              <a:rPr lang="ko-KR" altLang="en-US" dirty="0"/>
              <a:t>유효수요 증가 </a:t>
            </a:r>
            <a:r>
              <a:rPr lang="en-US" altLang="ko-KR" dirty="0"/>
              <a:t>-&gt; </a:t>
            </a:r>
            <a:r>
              <a:rPr lang="ko-KR" altLang="en-US" dirty="0"/>
              <a:t>실업 감소</a:t>
            </a:r>
            <a:endParaRPr lang="en-US" altLang="ko-KR" dirty="0"/>
          </a:p>
          <a:p>
            <a:pPr lvl="2"/>
            <a:r>
              <a:rPr lang="ko-KR" altLang="en-US" dirty="0" err="1"/>
              <a:t>먼델효과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장기 물가하락 예상 </a:t>
            </a:r>
            <a:r>
              <a:rPr lang="en-US" altLang="ko-KR" dirty="0"/>
              <a:t>-&gt; (</a:t>
            </a:r>
            <a:r>
              <a:rPr lang="ko-KR" altLang="en-US" dirty="0"/>
              <a:t>실질이자 </a:t>
            </a:r>
            <a:r>
              <a:rPr lang="en-US" altLang="ko-KR" dirty="0"/>
              <a:t>&gt; </a:t>
            </a:r>
            <a:r>
              <a:rPr lang="ko-KR" altLang="en-US" dirty="0"/>
              <a:t>명목이자</a:t>
            </a:r>
            <a:r>
              <a:rPr lang="en-US" altLang="ko-KR" dirty="0"/>
              <a:t>) </a:t>
            </a:r>
            <a:r>
              <a:rPr lang="ko-KR" altLang="en-US" dirty="0"/>
              <a:t>예상 </a:t>
            </a:r>
            <a:r>
              <a:rPr lang="en-US" altLang="ko-KR" dirty="0"/>
              <a:t>-&gt; </a:t>
            </a:r>
            <a:r>
              <a:rPr lang="ko-KR" altLang="en-US" dirty="0"/>
              <a:t>투자위축 </a:t>
            </a:r>
            <a:r>
              <a:rPr lang="en-US" altLang="ko-KR" dirty="0"/>
              <a:t>-&gt; </a:t>
            </a:r>
            <a:r>
              <a:rPr lang="ko-KR" altLang="en-US" dirty="0"/>
              <a:t>불황 가중</a:t>
            </a:r>
            <a:endParaRPr lang="en-US" altLang="ko-KR" dirty="0"/>
          </a:p>
          <a:p>
            <a:pPr lvl="2"/>
            <a:r>
              <a:rPr lang="ko-KR" altLang="en-US" dirty="0"/>
              <a:t>긴축 </a:t>
            </a:r>
            <a:r>
              <a:rPr lang="en-US" altLang="ko-KR" dirty="0"/>
              <a:t>-&gt; </a:t>
            </a:r>
            <a:r>
              <a:rPr lang="ko-KR" altLang="en-US" dirty="0"/>
              <a:t>케인 </a:t>
            </a:r>
            <a:r>
              <a:rPr lang="en-US" altLang="ko-KR" dirty="0"/>
              <a:t>-&gt; </a:t>
            </a:r>
            <a:r>
              <a:rPr lang="ko-KR" altLang="en-US" dirty="0" err="1"/>
              <a:t>먼델</a:t>
            </a:r>
            <a:r>
              <a:rPr lang="ko-KR" altLang="en-US" dirty="0"/>
              <a:t> </a:t>
            </a:r>
            <a:r>
              <a:rPr lang="en-US" altLang="ko-KR" dirty="0"/>
              <a:t>; </a:t>
            </a:r>
            <a:r>
              <a:rPr lang="ko-KR" altLang="en-US" dirty="0"/>
              <a:t>언제 반전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대공황 심화 후 </a:t>
            </a:r>
            <a:r>
              <a:rPr lang="ko-KR" altLang="en-US" dirty="0" err="1"/>
              <a:t>먼델</a:t>
            </a:r>
            <a:r>
              <a:rPr lang="ko-KR" altLang="en-US" dirty="0"/>
              <a:t> 효과 </a:t>
            </a:r>
            <a:r>
              <a:rPr lang="en-US" altLang="ko-KR" dirty="0"/>
              <a:t>-&gt; </a:t>
            </a:r>
            <a:r>
              <a:rPr lang="ko-KR" altLang="en-US" dirty="0"/>
              <a:t>긴축은 대공황의 원인 </a:t>
            </a:r>
            <a:r>
              <a:rPr lang="ko-KR" altLang="en-US" dirty="0" err="1"/>
              <a:t>아닐것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C844E04-B1FA-978A-D704-F73C21E5DABF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/>
              <a:t>대공황 순서 </a:t>
            </a:r>
            <a:r>
              <a:rPr lang="en-US" altLang="ko-KR" dirty="0"/>
              <a:t>: 28 </a:t>
            </a:r>
            <a:r>
              <a:rPr lang="ko-KR" altLang="en-US" dirty="0"/>
              <a:t>투기</a:t>
            </a:r>
            <a:r>
              <a:rPr lang="en-US" altLang="ko-KR" dirty="0"/>
              <a:t>, 29</a:t>
            </a:r>
            <a:r>
              <a:rPr lang="ko-KR" altLang="en-US" dirty="0" err="1"/>
              <a:t>검목</a:t>
            </a:r>
            <a:r>
              <a:rPr lang="en-US" altLang="ko-KR" dirty="0"/>
              <a:t>, 28~29 </a:t>
            </a:r>
            <a:r>
              <a:rPr lang="ko-KR" altLang="en-US" dirty="0"/>
              <a:t>긴축</a:t>
            </a:r>
            <a:r>
              <a:rPr lang="en-US" altLang="ko-KR" dirty="0"/>
              <a:t>, 30</a:t>
            </a:r>
            <a:r>
              <a:rPr lang="ko-KR" altLang="en-US" dirty="0" err="1"/>
              <a:t>스홀</a:t>
            </a:r>
            <a:r>
              <a:rPr lang="en-US" altLang="ko-KR" dirty="0"/>
              <a:t>, 30 31~33</a:t>
            </a:r>
            <a:r>
              <a:rPr lang="ko-KR" altLang="en-US" dirty="0" err="1"/>
              <a:t>은위</a:t>
            </a:r>
            <a:r>
              <a:rPr lang="ko-KR" altLang="en-US" dirty="0"/>
              <a:t> </a:t>
            </a:r>
            <a:r>
              <a:rPr lang="en-US" altLang="ko-KR" dirty="0"/>
              <a:t>32</a:t>
            </a:r>
            <a:r>
              <a:rPr lang="ko-KR" altLang="en-US" dirty="0" err="1"/>
              <a:t>루벨</a:t>
            </a:r>
            <a:r>
              <a:rPr lang="ko-KR" altLang="en-US" dirty="0"/>
              <a:t> </a:t>
            </a:r>
            <a:r>
              <a:rPr lang="en-US" altLang="ko-KR" dirty="0"/>
              <a:t>33</a:t>
            </a:r>
            <a:r>
              <a:rPr lang="ko-KR" altLang="en-US" dirty="0"/>
              <a:t>뉴</a:t>
            </a:r>
            <a:r>
              <a:rPr lang="en-US" altLang="ko-KR" dirty="0"/>
              <a:t>1 35</a:t>
            </a:r>
            <a:r>
              <a:rPr lang="ko-KR" altLang="en-US" dirty="0"/>
              <a:t>뉴</a:t>
            </a:r>
            <a:r>
              <a:rPr lang="en-US" altLang="ko-KR" dirty="0"/>
              <a:t>2</a:t>
            </a:r>
          </a:p>
          <a:p>
            <a:r>
              <a:rPr lang="ko-KR" altLang="en-US" dirty="0"/>
              <a:t>공황 발발</a:t>
            </a:r>
            <a:endParaRPr lang="en-US" altLang="ko-KR" dirty="0"/>
          </a:p>
          <a:p>
            <a:pPr lvl="1"/>
            <a:r>
              <a:rPr lang="ko-KR" altLang="en-US" dirty="0"/>
              <a:t>긴축 </a:t>
            </a:r>
            <a:r>
              <a:rPr lang="en-US" altLang="ko-KR" dirty="0"/>
              <a:t>&amp; </a:t>
            </a:r>
            <a:r>
              <a:rPr lang="ko-KR" altLang="en-US" dirty="0" err="1"/>
              <a:t>주붕</a:t>
            </a:r>
            <a:r>
              <a:rPr lang="ko-KR" altLang="en-US" dirty="0"/>
              <a:t> </a:t>
            </a:r>
            <a:r>
              <a:rPr lang="en-US" altLang="ko-KR" dirty="0"/>
              <a:t>&amp; </a:t>
            </a:r>
            <a:r>
              <a:rPr lang="ko-KR" altLang="en-US" dirty="0" err="1"/>
              <a:t>스홀</a:t>
            </a:r>
            <a:r>
              <a:rPr lang="ko-KR" altLang="en-US" dirty="0"/>
              <a:t> </a:t>
            </a:r>
            <a:r>
              <a:rPr lang="en-US" altLang="ko-KR" dirty="0"/>
              <a:t>&amp; </a:t>
            </a:r>
            <a:r>
              <a:rPr lang="ko-KR" altLang="en-US" dirty="0" err="1"/>
              <a:t>은위</a:t>
            </a:r>
            <a:endParaRPr lang="en-US" altLang="ko-KR" dirty="0"/>
          </a:p>
          <a:p>
            <a:pPr lvl="1"/>
            <a:r>
              <a:rPr lang="ko-KR" altLang="en-US" dirty="0" err="1"/>
              <a:t>케효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물가 낮 </a:t>
            </a:r>
            <a:r>
              <a:rPr lang="en-US" altLang="ko-KR" dirty="0"/>
              <a:t>-&gt; </a:t>
            </a:r>
            <a:r>
              <a:rPr lang="ko-KR" altLang="en-US" dirty="0"/>
              <a:t>유수 증 </a:t>
            </a:r>
            <a:r>
              <a:rPr lang="en-US" altLang="ko-KR" dirty="0"/>
              <a:t>-&gt; </a:t>
            </a:r>
            <a:r>
              <a:rPr lang="ko-KR" altLang="en-US" dirty="0"/>
              <a:t>실업 감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7070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9B51C60-D9CC-D871-E9F4-29AF264095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99E8313-635E-D170-5ADC-7B12AE0D4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A39430-DF20-3FFC-99E3-626200100EA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08F2534-B819-2025-D4E4-4C85F7975F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공황의 경과</a:t>
            </a:r>
            <a:endParaRPr lang="en-US" altLang="ko-KR" dirty="0"/>
          </a:p>
          <a:p>
            <a:pPr lvl="1"/>
            <a:r>
              <a:rPr lang="en-US" altLang="ko-KR" dirty="0"/>
              <a:t>1929 </a:t>
            </a:r>
            <a:r>
              <a:rPr lang="ko-KR" altLang="en-US" dirty="0"/>
              <a:t>주식시장 붕괴 </a:t>
            </a:r>
            <a:r>
              <a:rPr lang="en-US" altLang="ko-KR" dirty="0"/>
              <a:t>= </a:t>
            </a:r>
            <a:r>
              <a:rPr lang="ko-KR" altLang="en-US" dirty="0"/>
              <a:t>원인 </a:t>
            </a:r>
            <a:r>
              <a:rPr lang="en-US" altLang="ko-KR" dirty="0"/>
              <a:t>X, </a:t>
            </a:r>
            <a:r>
              <a:rPr lang="ko-KR" altLang="en-US" dirty="0"/>
              <a:t>미 경제 약점이 노출</a:t>
            </a:r>
            <a:endParaRPr lang="en-US" altLang="ko-KR" dirty="0"/>
          </a:p>
          <a:p>
            <a:pPr lvl="2"/>
            <a:r>
              <a:rPr lang="ko-KR" altLang="en-US" dirty="0"/>
              <a:t>다양성 부족 </a:t>
            </a:r>
            <a:r>
              <a:rPr lang="en-US" altLang="ko-KR" dirty="0"/>
              <a:t>: 20</a:t>
            </a:r>
            <a:r>
              <a:rPr lang="ko-KR" altLang="en-US" dirty="0"/>
              <a:t>년대 경제는 건설</a:t>
            </a:r>
            <a:r>
              <a:rPr lang="en-US" altLang="ko-KR" dirty="0"/>
              <a:t>, </a:t>
            </a:r>
            <a:r>
              <a:rPr lang="ko-KR" altLang="en-US" dirty="0"/>
              <a:t>자동차 산업에 크게 의존</a:t>
            </a:r>
            <a:endParaRPr lang="en-US" altLang="ko-KR" dirty="0"/>
          </a:p>
          <a:p>
            <a:pPr lvl="2"/>
            <a:r>
              <a:rPr lang="ko-KR" altLang="en-US" dirty="0"/>
              <a:t>구매력 분배 </a:t>
            </a:r>
            <a:r>
              <a:rPr lang="en-US" altLang="ko-KR" dirty="0"/>
              <a:t>X -&gt; </a:t>
            </a:r>
            <a:r>
              <a:rPr lang="ko-KR" altLang="en-US" dirty="0"/>
              <a:t>수요</a:t>
            </a:r>
            <a:r>
              <a:rPr lang="en-US" altLang="ko-KR" dirty="0"/>
              <a:t> </a:t>
            </a:r>
            <a:r>
              <a:rPr lang="ko-KR" altLang="en-US" dirty="0"/>
              <a:t>창출 어려움</a:t>
            </a:r>
            <a:endParaRPr lang="en-US" altLang="ko-KR" dirty="0"/>
          </a:p>
          <a:p>
            <a:pPr lvl="2"/>
            <a:r>
              <a:rPr lang="ko-KR" altLang="en-US" dirty="0"/>
              <a:t>경제의 신용구조 </a:t>
            </a:r>
            <a:r>
              <a:rPr lang="en-US" altLang="ko-KR" dirty="0"/>
              <a:t>: </a:t>
            </a:r>
            <a:r>
              <a:rPr lang="ko-KR" altLang="en-US" dirty="0"/>
              <a:t>농민 빚</a:t>
            </a:r>
            <a:r>
              <a:rPr lang="en-US" altLang="ko-KR" dirty="0"/>
              <a:t>, </a:t>
            </a:r>
            <a:r>
              <a:rPr lang="ko-KR" altLang="en-US" dirty="0"/>
              <a:t>거대은행 </a:t>
            </a:r>
            <a:r>
              <a:rPr lang="en-US" altLang="ko-KR" dirty="0"/>
              <a:t>= </a:t>
            </a:r>
            <a:r>
              <a:rPr lang="ko-KR" altLang="en-US" dirty="0"/>
              <a:t>투기</a:t>
            </a:r>
            <a:endParaRPr lang="en-US" altLang="ko-KR" dirty="0"/>
          </a:p>
          <a:p>
            <a:pPr lvl="2"/>
            <a:r>
              <a:rPr lang="ko-KR" altLang="en-US" dirty="0"/>
              <a:t>무역 </a:t>
            </a:r>
            <a:r>
              <a:rPr lang="en-US" altLang="ko-KR" dirty="0"/>
              <a:t>: </a:t>
            </a:r>
            <a:r>
              <a:rPr lang="ko-KR" altLang="en-US" dirty="0"/>
              <a:t>유럽 미국 상품 수요 감소</a:t>
            </a:r>
            <a:endParaRPr lang="en-US" altLang="ko-KR" dirty="0"/>
          </a:p>
          <a:p>
            <a:pPr lvl="2"/>
            <a:r>
              <a:rPr lang="ko-KR" altLang="en-US" dirty="0"/>
              <a:t>국제적 채무 구조 </a:t>
            </a:r>
            <a:r>
              <a:rPr lang="en-US" altLang="ko-KR" dirty="0"/>
              <a:t>: 1</a:t>
            </a:r>
            <a:r>
              <a:rPr lang="ko-KR" altLang="en-US" dirty="0"/>
              <a:t>차 대전 이후 유럽은 미 은행에 채무 </a:t>
            </a:r>
            <a:r>
              <a:rPr lang="en-US" altLang="ko-KR" dirty="0"/>
              <a:t>-&gt; </a:t>
            </a:r>
            <a:r>
              <a:rPr lang="ko-KR" altLang="en-US" dirty="0"/>
              <a:t>미 정부에서 탕감 및 축소 거부</a:t>
            </a:r>
            <a:endParaRPr lang="en-US" altLang="ko-KR" dirty="0"/>
          </a:p>
          <a:p>
            <a:pPr lvl="1"/>
            <a:r>
              <a:rPr lang="ko-KR" altLang="en-US" dirty="0"/>
              <a:t>가장 심한 문제 </a:t>
            </a:r>
            <a:r>
              <a:rPr lang="en-US" altLang="ko-KR" dirty="0"/>
              <a:t>: </a:t>
            </a:r>
            <a:r>
              <a:rPr lang="ko-KR" altLang="en-US" dirty="0"/>
              <a:t>금융시스템 붕괴 </a:t>
            </a:r>
            <a:r>
              <a:rPr lang="en-US" altLang="ko-KR" dirty="0"/>
              <a:t>-&gt; </a:t>
            </a:r>
            <a:r>
              <a:rPr lang="ko-KR" altLang="en-US" dirty="0"/>
              <a:t>통화 공급 감소 </a:t>
            </a:r>
            <a:r>
              <a:rPr lang="en-US" altLang="ko-KR" dirty="0"/>
              <a:t>-&gt; </a:t>
            </a:r>
            <a:r>
              <a:rPr lang="ko-KR" altLang="en-US" dirty="0"/>
              <a:t>구매력 </a:t>
            </a:r>
            <a:r>
              <a:rPr lang="en-US" altLang="ko-KR" dirty="0"/>
              <a:t>&amp; </a:t>
            </a:r>
            <a:r>
              <a:rPr lang="ko-KR" altLang="en-US" dirty="0"/>
              <a:t>물가 하락 </a:t>
            </a:r>
            <a:r>
              <a:rPr lang="en-US" altLang="ko-KR" dirty="0"/>
              <a:t>-&gt; </a:t>
            </a:r>
            <a:r>
              <a:rPr lang="ko-KR" altLang="en-US" dirty="0"/>
              <a:t>민간의 공급 하락 </a:t>
            </a:r>
            <a:r>
              <a:rPr lang="en-US" altLang="ko-KR" dirty="0"/>
              <a:t>-&gt; </a:t>
            </a:r>
            <a:r>
              <a:rPr lang="ko-KR" altLang="en-US" dirty="0"/>
              <a:t>생산 감축 </a:t>
            </a:r>
            <a:r>
              <a:rPr lang="en-US" altLang="ko-KR" dirty="0"/>
              <a:t>&amp; </a:t>
            </a:r>
            <a:r>
              <a:rPr lang="ko-KR" altLang="en-US" dirty="0"/>
              <a:t>해고</a:t>
            </a:r>
            <a:endParaRPr lang="en-US" altLang="ko-KR" dirty="0"/>
          </a:p>
          <a:p>
            <a:pPr lvl="1"/>
            <a:r>
              <a:rPr lang="en-US" altLang="ko-KR" dirty="0"/>
              <a:t>1931 </a:t>
            </a:r>
            <a:r>
              <a:rPr lang="ko-KR" altLang="en-US" dirty="0"/>
              <a:t>연준 이자율 상승 </a:t>
            </a:r>
            <a:r>
              <a:rPr lang="en-US" altLang="ko-KR" dirty="0"/>
              <a:t>-&gt; </a:t>
            </a:r>
            <a:r>
              <a:rPr lang="ko-KR" altLang="en-US" dirty="0"/>
              <a:t>통화공급 더 감소</a:t>
            </a:r>
            <a:endParaRPr lang="en-US" altLang="ko-KR" dirty="0"/>
          </a:p>
          <a:p>
            <a:r>
              <a:rPr lang="ko-KR" altLang="en-US" dirty="0"/>
              <a:t>문제의 근원</a:t>
            </a:r>
            <a:endParaRPr lang="en-US" altLang="ko-KR" dirty="0"/>
          </a:p>
          <a:p>
            <a:pPr lvl="1"/>
            <a:r>
              <a:rPr lang="en-US" altLang="ko-KR" dirty="0"/>
              <a:t>Ww1</a:t>
            </a:r>
            <a:r>
              <a:rPr lang="ko-KR" altLang="en-US" dirty="0"/>
              <a:t>의 경험</a:t>
            </a:r>
            <a:r>
              <a:rPr lang="en-US" altLang="ko-KR" dirty="0"/>
              <a:t> : </a:t>
            </a:r>
            <a:r>
              <a:rPr lang="ko-KR" altLang="en-US" dirty="0"/>
              <a:t>총력전</a:t>
            </a:r>
            <a:r>
              <a:rPr lang="en-US" altLang="ko-KR" dirty="0"/>
              <a:t>, </a:t>
            </a:r>
            <a:r>
              <a:rPr lang="ko-KR" altLang="en-US" dirty="0"/>
              <a:t>공통경험</a:t>
            </a:r>
            <a:r>
              <a:rPr lang="en-US" altLang="ko-KR" dirty="0"/>
              <a:t>, </a:t>
            </a:r>
            <a:r>
              <a:rPr lang="ko-KR" altLang="en-US" dirty="0"/>
              <a:t>국제시장 불안정성 증대</a:t>
            </a:r>
            <a:endParaRPr lang="en-US" altLang="ko-KR" dirty="0"/>
          </a:p>
          <a:p>
            <a:pPr lvl="1"/>
            <a:r>
              <a:rPr lang="ko-KR" altLang="en-US" dirty="0"/>
              <a:t>국제적 협조체제 단절</a:t>
            </a:r>
            <a:endParaRPr lang="en-US" altLang="ko-KR" dirty="0"/>
          </a:p>
          <a:p>
            <a:pPr lvl="2"/>
            <a:r>
              <a:rPr lang="ko-KR" altLang="en-US" dirty="0"/>
              <a:t>징벌적 전후처리 </a:t>
            </a:r>
            <a:r>
              <a:rPr lang="en-US" altLang="ko-KR" dirty="0"/>
              <a:t>: </a:t>
            </a:r>
            <a:r>
              <a:rPr lang="ko-KR" altLang="en-US" dirty="0"/>
              <a:t>독 지불 불가수준 배상금</a:t>
            </a:r>
            <a:endParaRPr lang="en-US" altLang="ko-KR" dirty="0"/>
          </a:p>
          <a:p>
            <a:pPr lvl="2"/>
            <a:r>
              <a:rPr lang="ko-KR" altLang="en-US" dirty="0"/>
              <a:t>금본위제 </a:t>
            </a:r>
            <a:r>
              <a:rPr lang="en-US" altLang="ko-KR" dirty="0"/>
              <a:t>: </a:t>
            </a:r>
            <a:r>
              <a:rPr lang="ko-KR" altLang="en-US" dirty="0"/>
              <a:t>신뢰와 협조의 체제 붕괴</a:t>
            </a:r>
            <a:endParaRPr lang="en-US" altLang="ko-KR" dirty="0"/>
          </a:p>
          <a:p>
            <a:pPr lvl="3"/>
            <a:r>
              <a:rPr lang="ko-KR" altLang="en-US" dirty="0"/>
              <a:t>신뢰 </a:t>
            </a:r>
            <a:r>
              <a:rPr lang="en-US" altLang="ko-KR" dirty="0"/>
              <a:t>= </a:t>
            </a:r>
            <a:r>
              <a:rPr lang="ko-KR" altLang="en-US" dirty="0"/>
              <a:t>각 중앙은행 </a:t>
            </a:r>
            <a:r>
              <a:rPr lang="en-US" altLang="ko-KR" dirty="0"/>
              <a:t>= </a:t>
            </a:r>
            <a:r>
              <a:rPr lang="ko-KR" altLang="en-US" dirty="0"/>
              <a:t>대외 중시</a:t>
            </a:r>
            <a:r>
              <a:rPr lang="en-US" altLang="ko-KR" dirty="0"/>
              <a:t>. </a:t>
            </a:r>
            <a:r>
              <a:rPr lang="ko-KR" altLang="en-US" dirty="0"/>
              <a:t>조정 </a:t>
            </a:r>
            <a:r>
              <a:rPr lang="en-US" altLang="ko-KR" dirty="0"/>
              <a:t>: </a:t>
            </a:r>
            <a:r>
              <a:rPr lang="ko-KR" altLang="en-US" dirty="0"/>
              <a:t>국제수지 흑자국</a:t>
            </a:r>
            <a:r>
              <a:rPr lang="en-US" altLang="ko-KR" dirty="0"/>
              <a:t>, </a:t>
            </a:r>
            <a:r>
              <a:rPr lang="ko-KR" altLang="en-US" dirty="0"/>
              <a:t>적자국이 각 역할 수행</a:t>
            </a:r>
            <a:endParaRPr lang="en-US" altLang="ko-KR" dirty="0"/>
          </a:p>
          <a:p>
            <a:pPr lvl="3"/>
            <a:r>
              <a:rPr lang="ko-KR" altLang="en-US" dirty="0"/>
              <a:t>미국 </a:t>
            </a:r>
            <a:r>
              <a:rPr lang="en-US" altLang="ko-KR" dirty="0"/>
              <a:t>= </a:t>
            </a:r>
            <a:r>
              <a:rPr lang="ko-KR" altLang="en-US" dirty="0"/>
              <a:t>국제수지 흑자임에도 </a:t>
            </a:r>
            <a:endParaRPr lang="en-US" altLang="ko-KR" dirty="0"/>
          </a:p>
          <a:p>
            <a:r>
              <a:rPr lang="ko-KR" altLang="en-US" dirty="0"/>
              <a:t>왜 국제적으로 확산되었나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1928~29 </a:t>
            </a:r>
            <a:r>
              <a:rPr lang="ko-KR" altLang="en-US" dirty="0" err="1"/>
              <a:t>미프</a:t>
            </a:r>
            <a:r>
              <a:rPr lang="ko-KR" altLang="en-US" dirty="0"/>
              <a:t> 긴축</a:t>
            </a:r>
            <a:endParaRPr lang="en-US" altLang="ko-KR" dirty="0"/>
          </a:p>
          <a:p>
            <a:pPr lvl="1"/>
            <a:r>
              <a:rPr lang="ko-KR" altLang="en-US" dirty="0"/>
              <a:t>국제적 확산 </a:t>
            </a:r>
            <a:r>
              <a:rPr lang="en-US" altLang="ko-KR" dirty="0"/>
              <a:t>1931~1933</a:t>
            </a:r>
          </a:p>
          <a:p>
            <a:pPr lvl="2"/>
            <a:r>
              <a:rPr lang="en-US" altLang="ko-KR" dirty="0"/>
              <a:t>1931 </a:t>
            </a:r>
            <a:r>
              <a:rPr lang="ko-KR" altLang="en-US" dirty="0"/>
              <a:t>미 독 오 은행위기 </a:t>
            </a:r>
            <a:r>
              <a:rPr lang="en-US" altLang="ko-KR" dirty="0"/>
              <a:t>&amp; </a:t>
            </a:r>
            <a:r>
              <a:rPr lang="ko-KR" altLang="en-US" dirty="0"/>
              <a:t>영 외환위기</a:t>
            </a:r>
            <a:endParaRPr lang="en-US" altLang="ko-KR" dirty="0"/>
          </a:p>
          <a:p>
            <a:pPr lvl="2"/>
            <a:r>
              <a:rPr lang="ko-KR" altLang="en-US" dirty="0"/>
              <a:t>미 팽창정책 하지 않음 </a:t>
            </a:r>
            <a:r>
              <a:rPr lang="en-US" altLang="ko-KR" dirty="0"/>
              <a:t>: </a:t>
            </a:r>
            <a:r>
              <a:rPr lang="ko-KR" altLang="en-US" dirty="0"/>
              <a:t>금본위제 유지 및 </a:t>
            </a:r>
            <a:r>
              <a:rPr lang="en-US" altLang="ko-KR" dirty="0"/>
              <a:t>1920 </a:t>
            </a:r>
            <a:r>
              <a:rPr lang="ko-KR" altLang="en-US" dirty="0"/>
              <a:t>인플레의 기억</a:t>
            </a:r>
            <a:endParaRPr lang="en-US" altLang="ko-KR" dirty="0"/>
          </a:p>
          <a:p>
            <a:pPr lvl="1"/>
            <a:r>
              <a:rPr lang="ko-KR" altLang="en-US" dirty="0"/>
              <a:t>연쇄 긴축 </a:t>
            </a:r>
            <a:r>
              <a:rPr lang="en-US" altLang="ko-KR" dirty="0"/>
              <a:t>-&gt; </a:t>
            </a:r>
            <a:r>
              <a:rPr lang="ko-KR" altLang="en-US" dirty="0"/>
              <a:t>공황 및 물가하락 </a:t>
            </a:r>
            <a:r>
              <a:rPr lang="en-US" altLang="ko-KR" dirty="0"/>
              <a:t>-&gt; </a:t>
            </a:r>
            <a:r>
              <a:rPr lang="ko-KR" altLang="en-US" dirty="0"/>
              <a:t>금융에서 실물시장으로 전이</a:t>
            </a:r>
            <a:endParaRPr lang="en-US" altLang="ko-KR" dirty="0"/>
          </a:p>
          <a:p>
            <a:r>
              <a:rPr lang="ko-KR" altLang="en-US" dirty="0"/>
              <a:t>대공황 원인에 대한 학자의 의견</a:t>
            </a:r>
            <a:endParaRPr lang="en-US" altLang="ko-KR" dirty="0"/>
          </a:p>
          <a:p>
            <a:pPr lvl="1"/>
            <a:r>
              <a:rPr lang="ko-KR" altLang="en-US" dirty="0" err="1"/>
              <a:t>유효수요론자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유효수요 부족에 따른 </a:t>
            </a:r>
            <a:r>
              <a:rPr lang="ko-KR" altLang="en-US" dirty="0" err="1"/>
              <a:t>생산과잉설비</a:t>
            </a:r>
            <a:r>
              <a:rPr lang="ko-KR" altLang="en-US" dirty="0"/>
              <a:t> 때문이다</a:t>
            </a:r>
            <a:endParaRPr lang="en-US" altLang="ko-KR" dirty="0"/>
          </a:p>
          <a:p>
            <a:pPr lvl="2"/>
            <a:r>
              <a:rPr lang="ko-KR" altLang="en-US" dirty="0"/>
              <a:t>유럽 침체 </a:t>
            </a:r>
            <a:r>
              <a:rPr lang="en-US" altLang="ko-KR" dirty="0"/>
              <a:t>-&gt; </a:t>
            </a:r>
            <a:r>
              <a:rPr lang="ko-KR" altLang="en-US" dirty="0"/>
              <a:t>유럽 농산물 수입 감소 </a:t>
            </a:r>
            <a:r>
              <a:rPr lang="en-US" altLang="ko-KR" dirty="0"/>
              <a:t>-&gt; </a:t>
            </a:r>
            <a:r>
              <a:rPr lang="ko-KR" altLang="en-US" dirty="0"/>
              <a:t>미 농산물 수요 감소</a:t>
            </a:r>
            <a:endParaRPr lang="en-US" altLang="ko-KR" dirty="0"/>
          </a:p>
          <a:p>
            <a:pPr lvl="2"/>
            <a:r>
              <a:rPr lang="ko-KR" altLang="en-US" dirty="0"/>
              <a:t>과소소비론 </a:t>
            </a:r>
            <a:r>
              <a:rPr lang="en-US" altLang="ko-KR" dirty="0"/>
              <a:t>: </a:t>
            </a:r>
            <a:r>
              <a:rPr lang="ko-KR" altLang="en-US" dirty="0"/>
              <a:t>부의 분배 불공평 </a:t>
            </a:r>
            <a:r>
              <a:rPr lang="en-US" altLang="ko-KR" dirty="0"/>
              <a:t>-&gt; </a:t>
            </a:r>
            <a:r>
              <a:rPr lang="ko-KR" altLang="en-US" dirty="0"/>
              <a:t>부유층에 자원 이전 </a:t>
            </a:r>
            <a:r>
              <a:rPr lang="en-US" altLang="ko-KR" dirty="0"/>
              <a:t>-&gt; </a:t>
            </a:r>
            <a:r>
              <a:rPr lang="ko-KR" altLang="en-US" dirty="0"/>
              <a:t>소비 수요 감소</a:t>
            </a:r>
            <a:endParaRPr lang="en-US" altLang="ko-KR" dirty="0"/>
          </a:p>
          <a:p>
            <a:pPr lvl="1"/>
            <a:r>
              <a:rPr lang="ko-KR" altLang="en-US" dirty="0"/>
              <a:t>통화설 </a:t>
            </a:r>
            <a:r>
              <a:rPr lang="en-US" altLang="ko-KR" dirty="0"/>
              <a:t>: </a:t>
            </a:r>
            <a:r>
              <a:rPr lang="ko-KR" altLang="en-US" dirty="0" err="1"/>
              <a:t>프리드만</a:t>
            </a:r>
            <a:r>
              <a:rPr lang="en-US" altLang="ko-KR" dirty="0"/>
              <a:t>, </a:t>
            </a:r>
            <a:r>
              <a:rPr lang="ko-KR" altLang="en-US" dirty="0" err="1"/>
              <a:t>슈워츠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유효수요론 반대</a:t>
            </a:r>
            <a:endParaRPr lang="en-US" altLang="ko-KR" dirty="0"/>
          </a:p>
          <a:p>
            <a:pPr lvl="2"/>
            <a:r>
              <a:rPr lang="ko-KR" altLang="en-US" dirty="0"/>
              <a:t>연준이 금리 내려야 할 때 </a:t>
            </a:r>
            <a:r>
              <a:rPr lang="ko-KR" altLang="en-US" dirty="0" err="1"/>
              <a:t>올려버림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경기침체가 대공황</a:t>
            </a:r>
            <a:endParaRPr lang="en-US" altLang="ko-KR" dirty="0"/>
          </a:p>
          <a:p>
            <a:pPr lvl="1"/>
            <a:r>
              <a:rPr lang="ko-KR" altLang="en-US" dirty="0" err="1"/>
              <a:t>테민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위기 원인 </a:t>
            </a:r>
            <a:r>
              <a:rPr lang="en-US" altLang="ko-KR" dirty="0"/>
              <a:t>= </a:t>
            </a:r>
            <a:r>
              <a:rPr lang="ko-KR" altLang="en-US" dirty="0"/>
              <a:t>통화경색</a:t>
            </a:r>
            <a:r>
              <a:rPr lang="en-US" altLang="ko-KR" dirty="0"/>
              <a:t>X, </a:t>
            </a:r>
            <a:r>
              <a:rPr lang="ko-KR" altLang="en-US" dirty="0"/>
              <a:t>투자</a:t>
            </a:r>
            <a:r>
              <a:rPr lang="en-US" altLang="ko-KR" dirty="0"/>
              <a:t>, </a:t>
            </a:r>
            <a:r>
              <a:rPr lang="ko-KR" altLang="en-US" dirty="0"/>
              <a:t>소비지출 감소 </a:t>
            </a:r>
            <a:r>
              <a:rPr lang="en-US" altLang="ko-KR" dirty="0"/>
              <a:t>O</a:t>
            </a:r>
          </a:p>
          <a:p>
            <a:pPr lvl="2"/>
            <a:r>
              <a:rPr lang="ko-KR" altLang="en-US" dirty="0"/>
              <a:t>통화설이 맞으면 이자율 상승</a:t>
            </a:r>
            <a:r>
              <a:rPr lang="en-US" altLang="ko-KR" dirty="0"/>
              <a:t>. But, </a:t>
            </a:r>
            <a:r>
              <a:rPr lang="ko-KR" altLang="en-US" dirty="0"/>
              <a:t>이자율 상승 </a:t>
            </a:r>
            <a:r>
              <a:rPr lang="en-US" altLang="ko-KR" dirty="0"/>
              <a:t>X</a:t>
            </a:r>
          </a:p>
          <a:p>
            <a:pPr lvl="2"/>
            <a:r>
              <a:rPr lang="ko-KR" altLang="en-US" dirty="0"/>
              <a:t>투자</a:t>
            </a:r>
            <a:r>
              <a:rPr lang="en-US" altLang="ko-KR" dirty="0"/>
              <a:t>,</a:t>
            </a:r>
            <a:r>
              <a:rPr lang="ko-KR" altLang="en-US" dirty="0"/>
              <a:t>지출 감소 </a:t>
            </a:r>
            <a:r>
              <a:rPr lang="en-US" altLang="ko-KR" dirty="0"/>
              <a:t>-&gt; </a:t>
            </a:r>
            <a:r>
              <a:rPr lang="ko-KR" altLang="en-US" dirty="0"/>
              <a:t>통화공급 감소</a:t>
            </a:r>
            <a:r>
              <a:rPr lang="en-US" altLang="ko-KR" dirty="0"/>
              <a:t>; </a:t>
            </a:r>
          </a:p>
          <a:p>
            <a:pPr lvl="2"/>
            <a:r>
              <a:rPr lang="ko-KR" altLang="en-US" dirty="0"/>
              <a:t>통화설 비판 성공적 </a:t>
            </a:r>
            <a:r>
              <a:rPr lang="en-US" altLang="ko-KR" dirty="0"/>
              <a:t>But,</a:t>
            </a:r>
            <a:r>
              <a:rPr lang="ko-KR" altLang="en-US" dirty="0"/>
              <a:t> 소비지출 감소 설명</a:t>
            </a:r>
            <a:r>
              <a:rPr lang="en-US" altLang="ko-KR" dirty="0"/>
              <a:t>X</a:t>
            </a:r>
          </a:p>
          <a:p>
            <a:pPr lvl="1"/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280911D-9565-F9B1-99EC-22B4B3C03B91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/>
              <a:t>공황 경과 </a:t>
            </a:r>
            <a:r>
              <a:rPr lang="en-US" altLang="ko-KR" dirty="0"/>
              <a:t>: </a:t>
            </a:r>
            <a:r>
              <a:rPr lang="ko-KR" altLang="en-US" dirty="0" err="1"/>
              <a:t>주붕</a:t>
            </a:r>
            <a:r>
              <a:rPr lang="en-US" altLang="ko-KR" dirty="0"/>
              <a:t>(</a:t>
            </a:r>
            <a:r>
              <a:rPr lang="ko-KR" altLang="en-US" dirty="0" err="1"/>
              <a:t>다구신무국</a:t>
            </a:r>
            <a:r>
              <a:rPr lang="en-US" altLang="ko-KR" dirty="0"/>
              <a:t>) + </a:t>
            </a:r>
            <a:r>
              <a:rPr lang="ko-KR" altLang="en-US" dirty="0"/>
              <a:t>문제 </a:t>
            </a:r>
            <a:r>
              <a:rPr lang="en-US" altLang="ko-KR" dirty="0"/>
              <a:t>= </a:t>
            </a:r>
            <a:r>
              <a:rPr lang="ko-KR" altLang="en-US" dirty="0" err="1"/>
              <a:t>금시붕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통↓ </a:t>
            </a:r>
            <a:r>
              <a:rPr lang="en-US" altLang="ko-KR" dirty="0"/>
              <a:t>-&gt; </a:t>
            </a:r>
            <a:r>
              <a:rPr lang="ko-KR" altLang="en-US" dirty="0"/>
              <a:t>구</a:t>
            </a:r>
            <a:r>
              <a:rPr lang="en-US" altLang="ko-KR" dirty="0"/>
              <a:t>&amp;</a:t>
            </a:r>
            <a:r>
              <a:rPr lang="ko-KR" altLang="en-US" dirty="0"/>
              <a:t>물 ↓ </a:t>
            </a:r>
            <a:r>
              <a:rPr lang="en-US" altLang="ko-KR" dirty="0"/>
              <a:t>-&gt; </a:t>
            </a:r>
            <a:r>
              <a:rPr lang="ko-KR" altLang="en-US" dirty="0" err="1"/>
              <a:t>민공</a:t>
            </a:r>
            <a:r>
              <a:rPr lang="ko-KR" altLang="en-US" dirty="0"/>
              <a:t> ↓ </a:t>
            </a:r>
            <a:r>
              <a:rPr lang="en-US" altLang="ko-KR" dirty="0"/>
              <a:t>-&gt; </a:t>
            </a:r>
            <a:r>
              <a:rPr lang="ko-KR" altLang="en-US" dirty="0"/>
              <a:t>생↓</a:t>
            </a:r>
            <a:r>
              <a:rPr lang="en-US" altLang="ko-KR" dirty="0"/>
              <a:t>,</a:t>
            </a:r>
            <a:r>
              <a:rPr lang="ko-KR" altLang="en-US" dirty="0"/>
              <a:t>실</a:t>
            </a:r>
            <a:endParaRPr lang="en-US" altLang="ko-KR" dirty="0"/>
          </a:p>
          <a:p>
            <a:r>
              <a:rPr lang="ko-KR" altLang="en-US" dirty="0"/>
              <a:t>문제 근원 </a:t>
            </a:r>
            <a:r>
              <a:rPr lang="en-US" altLang="ko-KR" dirty="0"/>
              <a:t>: ww1, </a:t>
            </a:r>
            <a:r>
              <a:rPr lang="ko-KR" altLang="en-US" dirty="0" err="1"/>
              <a:t>국협</a:t>
            </a:r>
            <a:r>
              <a:rPr lang="ko-KR" altLang="en-US" dirty="0"/>
              <a:t> 단절</a:t>
            </a:r>
            <a:r>
              <a:rPr lang="en-US" altLang="ko-KR" dirty="0"/>
              <a:t>(</a:t>
            </a:r>
            <a:r>
              <a:rPr lang="ko-KR" altLang="en-US" dirty="0"/>
              <a:t>징</a:t>
            </a:r>
            <a:r>
              <a:rPr lang="en-US" altLang="ko-KR" dirty="0"/>
              <a:t>-</a:t>
            </a:r>
            <a:r>
              <a:rPr lang="ko-KR" altLang="en-US" dirty="0"/>
              <a:t>전후 </a:t>
            </a:r>
            <a:r>
              <a:rPr lang="ko-KR" altLang="en-US" dirty="0" err="1"/>
              <a:t>금본</a:t>
            </a:r>
            <a:r>
              <a:rPr lang="ko-KR" altLang="en-US" dirty="0"/>
              <a:t> </a:t>
            </a:r>
            <a:r>
              <a:rPr lang="ko-KR" altLang="en-US" dirty="0" err="1"/>
              <a:t>신협붕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왜 확산</a:t>
            </a:r>
            <a:r>
              <a:rPr lang="en-US" altLang="ko-KR" dirty="0"/>
              <a:t>? :</a:t>
            </a:r>
            <a:r>
              <a:rPr lang="ko-KR" altLang="en-US" dirty="0"/>
              <a:t> </a:t>
            </a:r>
            <a:r>
              <a:rPr lang="ko-KR" altLang="en-US" dirty="0" err="1"/>
              <a:t>미프</a:t>
            </a:r>
            <a:r>
              <a:rPr lang="ko-KR" altLang="en-US" dirty="0"/>
              <a:t> 긴 </a:t>
            </a:r>
            <a:r>
              <a:rPr lang="en-US" altLang="ko-KR" dirty="0"/>
              <a:t>-&gt; </a:t>
            </a:r>
            <a:r>
              <a:rPr lang="ko-KR" altLang="en-US" dirty="0" err="1"/>
              <a:t>미독오</a:t>
            </a:r>
            <a:r>
              <a:rPr lang="ko-KR" altLang="en-US" dirty="0"/>
              <a:t> </a:t>
            </a:r>
            <a:r>
              <a:rPr lang="ko-KR" altLang="en-US" dirty="0" err="1"/>
              <a:t>은위</a:t>
            </a:r>
            <a:r>
              <a:rPr lang="en-US" altLang="ko-KR" dirty="0"/>
              <a:t>, </a:t>
            </a:r>
            <a:r>
              <a:rPr lang="ko-KR" altLang="en-US" dirty="0"/>
              <a:t>영 </a:t>
            </a:r>
            <a:r>
              <a:rPr lang="ko-KR" altLang="en-US" dirty="0" err="1"/>
              <a:t>외위</a:t>
            </a:r>
            <a:r>
              <a:rPr lang="en-US" altLang="ko-KR" dirty="0"/>
              <a:t>, </a:t>
            </a:r>
            <a:r>
              <a:rPr lang="ko-KR" altLang="en-US" dirty="0"/>
              <a:t>미 팽</a:t>
            </a:r>
            <a:r>
              <a:rPr lang="en-US" altLang="ko-KR" dirty="0"/>
              <a:t>X -&gt; </a:t>
            </a:r>
            <a:r>
              <a:rPr lang="ko-KR" altLang="en-US" dirty="0"/>
              <a:t>연긴 </a:t>
            </a:r>
            <a:r>
              <a:rPr lang="en-US" altLang="ko-KR" dirty="0"/>
              <a:t>-&gt; </a:t>
            </a:r>
            <a:r>
              <a:rPr lang="ko-KR" altLang="en-US" dirty="0"/>
              <a:t>공</a:t>
            </a:r>
            <a:r>
              <a:rPr lang="en-US" altLang="ko-KR" dirty="0"/>
              <a:t>&amp;</a:t>
            </a:r>
            <a:r>
              <a:rPr lang="ko-KR" altLang="en-US" dirty="0"/>
              <a:t>디 </a:t>
            </a:r>
            <a:r>
              <a:rPr lang="en-US" altLang="ko-KR" dirty="0"/>
              <a:t>-&gt; </a:t>
            </a:r>
            <a:r>
              <a:rPr lang="ko-KR" altLang="en-US" dirty="0"/>
              <a:t>전이</a:t>
            </a:r>
            <a:endParaRPr lang="en-US" altLang="ko-KR" dirty="0"/>
          </a:p>
          <a:p>
            <a:r>
              <a:rPr lang="ko-KR" altLang="en-US" dirty="0"/>
              <a:t>학자의견 </a:t>
            </a:r>
            <a:r>
              <a:rPr lang="en-US" altLang="ko-KR" dirty="0"/>
              <a:t>: </a:t>
            </a:r>
            <a:r>
              <a:rPr lang="ko-KR" altLang="en-US" dirty="0"/>
              <a:t>유수론</a:t>
            </a:r>
            <a:r>
              <a:rPr lang="en-US" altLang="ko-KR" dirty="0"/>
              <a:t>(</a:t>
            </a:r>
            <a:r>
              <a:rPr lang="ko-KR" altLang="en-US" dirty="0" err="1"/>
              <a:t>유수부</a:t>
            </a:r>
            <a:r>
              <a:rPr lang="en-US" altLang="ko-KR" dirty="0"/>
              <a:t>-&gt;</a:t>
            </a:r>
            <a:r>
              <a:rPr lang="ko-KR" altLang="en-US" dirty="0"/>
              <a:t>생과설</a:t>
            </a:r>
            <a:r>
              <a:rPr lang="en-US" altLang="ko-KR" dirty="0"/>
              <a:t>) ; </a:t>
            </a:r>
            <a:r>
              <a:rPr lang="ko-KR" altLang="en-US" dirty="0"/>
              <a:t>통화설</a:t>
            </a:r>
            <a:r>
              <a:rPr lang="en-US" altLang="ko-KR" dirty="0"/>
              <a:t>(</a:t>
            </a:r>
            <a:r>
              <a:rPr lang="ko-KR" altLang="en-US" dirty="0"/>
              <a:t>연준 </a:t>
            </a:r>
            <a:r>
              <a:rPr lang="en-US" altLang="ko-KR" dirty="0"/>
              <a:t>-&gt; </a:t>
            </a:r>
            <a:r>
              <a:rPr lang="ko-KR" altLang="en-US" dirty="0"/>
              <a:t>금↑ </a:t>
            </a:r>
            <a:r>
              <a:rPr lang="en-US" altLang="ko-KR" dirty="0"/>
              <a:t>-&gt; </a:t>
            </a:r>
            <a:r>
              <a:rPr lang="ko-KR" altLang="en-US" dirty="0"/>
              <a:t>공황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5452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3D13E64-0088-6B0A-6A7F-87928FA174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004A945-EFC0-4A8F-D32E-C1C8E5C6D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차세계화의 정의</a:t>
            </a:r>
            <a:r>
              <a:rPr lang="en-US" altLang="ko-KR" dirty="0"/>
              <a:t>,</a:t>
            </a:r>
            <a:r>
              <a:rPr lang="ko-KR" altLang="en-US" dirty="0"/>
              <a:t> 운영방식</a:t>
            </a:r>
            <a:r>
              <a:rPr lang="en-US" altLang="ko-KR" dirty="0"/>
              <a:t>,</a:t>
            </a:r>
            <a:r>
              <a:rPr lang="ko-KR" altLang="en-US" dirty="0"/>
              <a:t> 전개과정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966802E-BB85-7873-1771-888FAD44C7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624" y="560512"/>
            <a:ext cx="6768751" cy="7776864"/>
          </a:xfrm>
        </p:spPr>
        <p:txBody>
          <a:bodyPr>
            <a:normAutofit/>
          </a:bodyPr>
          <a:lstStyle/>
          <a:p>
            <a:r>
              <a:rPr lang="ko-KR" altLang="en-US" dirty="0"/>
              <a:t>현대에 영향을 준 세계화</a:t>
            </a:r>
            <a:endParaRPr lang="en-US" altLang="ko-KR" dirty="0"/>
          </a:p>
          <a:p>
            <a:pPr lvl="1"/>
            <a:r>
              <a:rPr lang="ko-KR" altLang="en-US" dirty="0"/>
              <a:t>우리는 세계화를 인식하지 못하지만 세계화는 현대인의 삶과 사고에 근본적인 영향을 주었다</a:t>
            </a:r>
            <a:r>
              <a:rPr lang="en-US" altLang="ko-KR" dirty="0"/>
              <a:t>. </a:t>
            </a:r>
            <a:r>
              <a:rPr lang="ko-KR" altLang="en-US" dirty="0"/>
              <a:t>특히 </a:t>
            </a:r>
            <a:r>
              <a:rPr lang="en-US" altLang="ko-KR" dirty="0"/>
              <a:t>1</a:t>
            </a:r>
            <a:r>
              <a:rPr lang="ko-KR" altLang="en-US" dirty="0"/>
              <a:t>차세계화는 </a:t>
            </a:r>
            <a:r>
              <a:rPr lang="en-US" altLang="ko-KR" dirty="0"/>
              <a:t>1870</a:t>
            </a:r>
            <a:r>
              <a:rPr lang="ko-KR" altLang="en-US" dirty="0"/>
              <a:t>년대에 가장 첫번째 세계화로서 근대에서 현대로의 관문 역할을 하였다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세계화의 정의</a:t>
            </a:r>
            <a:endParaRPr lang="en-US" altLang="ko-KR" dirty="0"/>
          </a:p>
          <a:p>
            <a:pPr lvl="1"/>
            <a:r>
              <a:rPr lang="ko-KR" altLang="en-US" dirty="0"/>
              <a:t>세계화란 자유로운 무역을 통해 자본과 노동</a:t>
            </a:r>
            <a:r>
              <a:rPr lang="en-US" altLang="ko-KR" dirty="0"/>
              <a:t>, </a:t>
            </a:r>
            <a:r>
              <a:rPr lang="ko-KR" altLang="en-US" dirty="0"/>
              <a:t>상품의 수출과 수입이 국경을 넘어 통합되는 것을 의미한다</a:t>
            </a:r>
            <a:r>
              <a:rPr lang="en-US" altLang="ko-KR" dirty="0"/>
              <a:t>. </a:t>
            </a:r>
            <a:r>
              <a:rPr lang="ko-KR" altLang="en-US" dirty="0"/>
              <a:t>가령 문구점의 연필은은 미국의 회사에서 디자인을 하여 브라질에서 나무와 흑연으로 만들어져 중국의 공장에서 제조되고 한국으로 수출되는 것처럼 말이다</a:t>
            </a:r>
            <a:r>
              <a:rPr lang="en-US" altLang="ko-KR" dirty="0"/>
              <a:t>. </a:t>
            </a:r>
            <a:r>
              <a:rPr lang="ko-KR" altLang="en-US" dirty="0"/>
              <a:t>그렇다면 </a:t>
            </a:r>
            <a:r>
              <a:rPr lang="en-US" altLang="ko-KR" dirty="0"/>
              <a:t>1</a:t>
            </a:r>
            <a:r>
              <a:rPr lang="ko-KR" altLang="en-US" dirty="0"/>
              <a:t>차세계화는 무엇으로 구성되었을까</a:t>
            </a:r>
            <a:r>
              <a:rPr lang="en-US" altLang="ko-KR" dirty="0"/>
              <a:t>? </a:t>
            </a:r>
            <a:r>
              <a:rPr lang="ko-KR" altLang="en-US" dirty="0"/>
              <a:t>어떻게 작동할까</a:t>
            </a:r>
            <a:r>
              <a:rPr lang="en-US" altLang="ko-KR" dirty="0"/>
              <a:t>? </a:t>
            </a:r>
          </a:p>
          <a:p>
            <a:r>
              <a:rPr lang="en-US" altLang="ko-KR" dirty="0"/>
              <a:t>1</a:t>
            </a:r>
            <a:r>
              <a:rPr lang="ko-KR" altLang="en-US" dirty="0"/>
              <a:t>차세계화의 운영방식</a:t>
            </a:r>
            <a:endParaRPr lang="en-US" altLang="ko-KR" dirty="0"/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차세계화의 운영방식은 그것을 뒷받침하는 제도들을 통해 이루어졌다</a:t>
            </a:r>
            <a:r>
              <a:rPr lang="en-US" altLang="ko-KR" dirty="0"/>
              <a:t>. </a:t>
            </a:r>
            <a:r>
              <a:rPr lang="ko-KR" altLang="en-US" dirty="0"/>
              <a:t>세계화는 크게 무역제도와 금융제도로 구성되고 이를 통해 자유로운 무역을 가능케 한다</a:t>
            </a:r>
            <a:r>
              <a:rPr lang="en-US" altLang="ko-KR" dirty="0"/>
              <a:t>. 1</a:t>
            </a:r>
            <a:r>
              <a:rPr lang="ko-KR" altLang="en-US" dirty="0"/>
              <a:t>차 세계화에서의 구성은 각각 제국주의와 금본위제도로 나타난다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운영방식 </a:t>
            </a:r>
            <a:r>
              <a:rPr lang="en-US" altLang="ko-KR" dirty="0"/>
              <a:t>: </a:t>
            </a:r>
            <a:r>
              <a:rPr lang="ko-KR" altLang="en-US" dirty="0"/>
              <a:t>제국주의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제국주의는 영국</a:t>
            </a:r>
            <a:r>
              <a:rPr lang="en-US" altLang="ko-KR" dirty="0"/>
              <a:t>, </a:t>
            </a:r>
            <a:r>
              <a:rPr lang="ko-KR" altLang="en-US" dirty="0"/>
              <a:t>스페인 포르투갈의 대항해시대를 시작으로 전개되었다</a:t>
            </a:r>
            <a:r>
              <a:rPr lang="en-US" altLang="ko-KR" dirty="0"/>
              <a:t>. </a:t>
            </a:r>
            <a:r>
              <a:rPr lang="ko-KR" altLang="en-US" dirty="0"/>
              <a:t>이들은 무역회사에 각종 이권을 부여하고 독점을 시키는 것으로 시작해서 나중엔 아시아</a:t>
            </a:r>
            <a:r>
              <a:rPr lang="en-US" altLang="ko-KR" dirty="0"/>
              <a:t>, </a:t>
            </a:r>
            <a:r>
              <a:rPr lang="ko-KR" altLang="en-US" dirty="0"/>
              <a:t>아프리카</a:t>
            </a:r>
            <a:r>
              <a:rPr lang="en-US" altLang="ko-KR" dirty="0"/>
              <a:t>, </a:t>
            </a:r>
            <a:r>
              <a:rPr lang="ko-KR" altLang="en-US" dirty="0"/>
              <a:t>아메리카 대륙에 식민지를 건설하고 여기에 원료를 수입하여 상품을 수출하며 제국주의를 전개하였다</a:t>
            </a:r>
            <a:r>
              <a:rPr lang="en-US" altLang="ko-KR" dirty="0"/>
              <a:t>. </a:t>
            </a:r>
            <a:r>
              <a:rPr lang="ko-KR" altLang="en-US" dirty="0"/>
              <a:t>무역이 원활하고 간편하게 만들려면 상호간 신뢰가 뒷받침되어야 한다</a:t>
            </a:r>
            <a:r>
              <a:rPr lang="en-US" altLang="ko-KR" dirty="0"/>
              <a:t>. </a:t>
            </a:r>
            <a:r>
              <a:rPr lang="ko-KR" altLang="en-US" dirty="0"/>
              <a:t>제국주의는 식민지와의 무역에서 이 문제를 무력을 통한 강제로 해결하였다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</a:t>
            </a:r>
            <a:r>
              <a:rPr lang="ko-KR" altLang="en-US" dirty="0"/>
              <a:t> 신뢰에 반하는 행동을 할 때 무력으로 응징하여 계약을 강제하는 것이다</a:t>
            </a:r>
            <a:r>
              <a:rPr lang="en-US" altLang="ko-KR" dirty="0"/>
              <a:t>. </a:t>
            </a:r>
            <a:r>
              <a:rPr lang="ko-KR" altLang="en-US" dirty="0"/>
              <a:t>이는 식민지에게 있어 자유무역의 강제로 작용하였다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운영방식 </a:t>
            </a:r>
            <a:r>
              <a:rPr lang="en-US" altLang="ko-KR" dirty="0"/>
              <a:t>: </a:t>
            </a:r>
            <a:r>
              <a:rPr lang="ko-KR" altLang="en-US" dirty="0"/>
              <a:t>금본위제</a:t>
            </a:r>
            <a:endParaRPr lang="en-US" altLang="ko-KR" dirty="0"/>
          </a:p>
          <a:p>
            <a:pPr lvl="1"/>
            <a:r>
              <a:rPr lang="ko-KR" altLang="en-US" dirty="0"/>
              <a:t>금본위제는 무역에 있어 </a:t>
            </a:r>
            <a:r>
              <a:rPr lang="ko-KR" altLang="en-US" dirty="0" err="1"/>
              <a:t>서로간의</a:t>
            </a:r>
            <a:r>
              <a:rPr lang="ko-KR" altLang="en-US" dirty="0"/>
              <a:t> 결제를 원활하게 하는 방식으로 세계화를 도왔다</a:t>
            </a:r>
            <a:r>
              <a:rPr lang="en-US" altLang="ko-KR" dirty="0"/>
              <a:t>. </a:t>
            </a:r>
            <a:r>
              <a:rPr lang="ko-KR" altLang="en-US" dirty="0"/>
              <a:t>금본위제는 서로간 화폐의 단위를 금의 가치에 고정하여 거래를 하는 방식이다</a:t>
            </a:r>
            <a:r>
              <a:rPr lang="en-US" altLang="ko-KR" dirty="0"/>
              <a:t>. </a:t>
            </a:r>
            <a:r>
              <a:rPr lang="ko-KR" altLang="en-US" dirty="0"/>
              <a:t>영국은 금본위제를 주도했던 국가로서 많은 국가들은 당시 </a:t>
            </a:r>
            <a:r>
              <a:rPr lang="en-US" altLang="ko-KR" dirty="0"/>
              <a:t>1</a:t>
            </a:r>
            <a:r>
              <a:rPr lang="ko-KR" altLang="en-US" dirty="0"/>
              <a:t>차 산업혁명의 영향으로 강대국이던 영국과의 교역을 원활하게 하기위해 금본위제를 채택하였다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전개과정 </a:t>
            </a:r>
            <a:r>
              <a:rPr lang="en-US" altLang="ko-KR" dirty="0"/>
              <a:t>: </a:t>
            </a:r>
            <a:r>
              <a:rPr lang="ko-KR" altLang="en-US" dirty="0"/>
              <a:t>시대적 배경</a:t>
            </a:r>
            <a:endParaRPr lang="en-US" altLang="ko-KR" dirty="0"/>
          </a:p>
          <a:p>
            <a:pPr lvl="1"/>
            <a:r>
              <a:rPr lang="ko-KR" altLang="en-US" dirty="0"/>
              <a:t>위와 같은 금본위제와 무역제도를 기반으로 </a:t>
            </a:r>
            <a:r>
              <a:rPr lang="en-US" altLang="ko-KR" dirty="0"/>
              <a:t>1</a:t>
            </a:r>
            <a:r>
              <a:rPr lang="ko-KR" altLang="en-US" dirty="0"/>
              <a:t>차세계화는 시대적 배경과 맞물려 진행되었다</a:t>
            </a:r>
            <a:r>
              <a:rPr lang="en-US" altLang="ko-KR" dirty="0"/>
              <a:t>. </a:t>
            </a:r>
            <a:r>
              <a:rPr lang="ko-KR" altLang="en-US" dirty="0"/>
              <a:t>산업혁명으로 인해 발달된 통신</a:t>
            </a:r>
            <a:r>
              <a:rPr lang="en-US" altLang="ko-KR" dirty="0"/>
              <a:t>,</a:t>
            </a:r>
            <a:r>
              <a:rPr lang="ko-KR" altLang="en-US" dirty="0"/>
              <a:t>수송기술과 고전경제학자들의 시장규제완화</a:t>
            </a:r>
            <a:r>
              <a:rPr lang="en-US" altLang="ko-KR" dirty="0"/>
              <a:t>, </a:t>
            </a:r>
            <a:r>
              <a:rPr lang="ko-KR" altLang="en-US" dirty="0"/>
              <a:t>또 세계 열강의 지도자들의 일치된 의견으로 진행될 수 있었다</a:t>
            </a:r>
            <a:r>
              <a:rPr lang="en-US" altLang="ko-KR" dirty="0"/>
              <a:t>. </a:t>
            </a:r>
            <a:r>
              <a:rPr lang="ko-KR" altLang="en-US" dirty="0"/>
              <a:t>그에 따라 유럽</a:t>
            </a:r>
            <a:r>
              <a:rPr lang="en-US" altLang="ko-KR" dirty="0"/>
              <a:t>, </a:t>
            </a:r>
            <a:r>
              <a:rPr lang="ko-KR" altLang="en-US" dirty="0"/>
              <a:t>아메리카</a:t>
            </a:r>
            <a:r>
              <a:rPr lang="en-US" altLang="ko-KR" dirty="0"/>
              <a:t>, </a:t>
            </a:r>
            <a:r>
              <a:rPr lang="ko-KR" altLang="en-US" dirty="0"/>
              <a:t>아시아간 무역이 원활하게 되고 노동과 자본이 자유롭게 이동하게 되었다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전개과정 </a:t>
            </a:r>
            <a:r>
              <a:rPr lang="en-US" altLang="ko-KR" dirty="0"/>
              <a:t>: </a:t>
            </a:r>
            <a:r>
              <a:rPr lang="ko-KR" altLang="en-US" dirty="0"/>
              <a:t>결과</a:t>
            </a:r>
            <a:endParaRPr lang="en-US" altLang="ko-KR" dirty="0"/>
          </a:p>
          <a:p>
            <a:pPr lvl="1"/>
            <a:r>
              <a:rPr lang="ko-KR" altLang="en-US" dirty="0"/>
              <a:t>세계화의 결과로 유럽의 곡물가격 하락</a:t>
            </a:r>
            <a:r>
              <a:rPr lang="en-US" altLang="ko-KR" dirty="0"/>
              <a:t>, </a:t>
            </a:r>
            <a:r>
              <a:rPr lang="ko-KR" altLang="en-US" dirty="0"/>
              <a:t>유럽에서 아메리카대륙의 이주</a:t>
            </a:r>
            <a:r>
              <a:rPr lang="en-US" altLang="ko-KR" dirty="0"/>
              <a:t>, </a:t>
            </a:r>
            <a:r>
              <a:rPr lang="ko-KR" altLang="en-US" dirty="0"/>
              <a:t>식민지와 아메리카의 철도</a:t>
            </a:r>
            <a:r>
              <a:rPr lang="en-US" altLang="ko-KR" dirty="0"/>
              <a:t>, </a:t>
            </a:r>
            <a:r>
              <a:rPr lang="ko-KR" altLang="en-US" dirty="0"/>
              <a:t>항만 개설 등의 사례처럼 각 상품의 가격이 하락하였으며 이민을 통한 노동의 이동과 인프라 건설과 같은 자본의 이동이 그 결과로 나타났다</a:t>
            </a:r>
            <a:r>
              <a:rPr lang="en-US" altLang="ko-KR" dirty="0"/>
              <a:t>. </a:t>
            </a:r>
            <a:r>
              <a:rPr lang="ko-KR" altLang="en-US" dirty="0"/>
              <a:t>하지만 이것의 혜택은 유럽의 선진국에게만 돌아가고</a:t>
            </a:r>
            <a:r>
              <a:rPr lang="en-US" altLang="ko-KR" dirty="0"/>
              <a:t>, </a:t>
            </a:r>
            <a:r>
              <a:rPr lang="ko-KR" altLang="en-US" dirty="0"/>
              <a:t>식민지였던 아시아</a:t>
            </a:r>
            <a:r>
              <a:rPr lang="en-US" altLang="ko-KR" dirty="0"/>
              <a:t>, </a:t>
            </a:r>
            <a:r>
              <a:rPr lang="ko-KR" altLang="en-US" dirty="0"/>
              <a:t>아프리카는 산업화와 멀어지고 농업화가 진행되는 문제가 발생되었다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C6C719F-C2CA-29DB-4E62-FBAE5AAB0AF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4624" y="8409384"/>
            <a:ext cx="6768752" cy="1440160"/>
          </a:xfrm>
        </p:spPr>
        <p:txBody>
          <a:bodyPr anchor="ctr">
            <a:normAutofit fontScale="85000" lnSpcReduction="20000"/>
          </a:bodyPr>
          <a:lstStyle/>
          <a:p>
            <a:r>
              <a:rPr lang="ko-KR" altLang="en-US" dirty="0"/>
              <a:t>현대에 영향을 준 세계화</a:t>
            </a:r>
            <a:endParaRPr lang="en-US" altLang="ko-KR" dirty="0"/>
          </a:p>
          <a:p>
            <a:r>
              <a:rPr lang="ko-KR" altLang="en-US" dirty="0"/>
              <a:t>세계화의 정의</a:t>
            </a:r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차세계화의 운영방식</a:t>
            </a:r>
            <a:endParaRPr lang="en-US" altLang="ko-KR" dirty="0"/>
          </a:p>
          <a:p>
            <a:pPr lvl="1"/>
            <a:r>
              <a:rPr lang="ko-KR" altLang="en-US" dirty="0"/>
              <a:t>운영방식 </a:t>
            </a:r>
            <a:r>
              <a:rPr lang="en-US" altLang="ko-KR" dirty="0"/>
              <a:t>: </a:t>
            </a:r>
            <a:r>
              <a:rPr lang="ko-KR" altLang="en-US" dirty="0"/>
              <a:t>제국주의</a:t>
            </a:r>
            <a:endParaRPr lang="en-US" altLang="ko-KR" dirty="0"/>
          </a:p>
          <a:p>
            <a:pPr lvl="1"/>
            <a:r>
              <a:rPr lang="ko-KR" altLang="en-US" dirty="0"/>
              <a:t>운영방식 </a:t>
            </a:r>
            <a:r>
              <a:rPr lang="en-US" altLang="ko-KR" dirty="0"/>
              <a:t>: </a:t>
            </a:r>
            <a:r>
              <a:rPr lang="ko-KR" altLang="en-US" dirty="0"/>
              <a:t>금본위제</a:t>
            </a:r>
            <a:endParaRPr lang="en-US" altLang="ko-KR" dirty="0"/>
          </a:p>
          <a:p>
            <a:r>
              <a:rPr lang="ko-KR" altLang="en-US" dirty="0"/>
              <a:t>전개과정 </a:t>
            </a:r>
            <a:r>
              <a:rPr lang="en-US" altLang="ko-KR" dirty="0"/>
              <a:t>: </a:t>
            </a:r>
            <a:r>
              <a:rPr lang="ko-KR" altLang="en-US" dirty="0"/>
              <a:t>시대적 배경</a:t>
            </a:r>
            <a:endParaRPr lang="en-US" altLang="ko-KR" dirty="0"/>
          </a:p>
          <a:p>
            <a:pPr lvl="1"/>
            <a:r>
              <a:rPr lang="ko-KR" altLang="en-US" dirty="0"/>
              <a:t>전개과정 </a:t>
            </a:r>
            <a:r>
              <a:rPr lang="en-US" altLang="ko-KR" dirty="0"/>
              <a:t>: </a:t>
            </a:r>
            <a:r>
              <a:rPr lang="ko-KR" altLang="en-US" dirty="0"/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2091477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3D13E64-0088-6B0A-6A7F-87928FA174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004A945-EFC0-4A8F-D32E-C1C8E5C6D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차세계화의 몰락과 금본위제의 몰락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966802E-BB85-7873-1771-888FAD44C7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624" y="560512"/>
            <a:ext cx="6768751" cy="7776864"/>
          </a:xfrm>
        </p:spPr>
        <p:txBody>
          <a:bodyPr>
            <a:norm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차 세계화와 금본위제의 역할</a:t>
            </a:r>
            <a:endParaRPr lang="en-US" altLang="ko-KR" dirty="0"/>
          </a:p>
          <a:p>
            <a:pPr lvl="1"/>
            <a:r>
              <a:rPr lang="en-US" altLang="ko-KR" b="1" dirty="0"/>
              <a:t>1</a:t>
            </a:r>
            <a:r>
              <a:rPr lang="ko-KR" altLang="en-US" b="1" dirty="0"/>
              <a:t>차 세계화는 </a:t>
            </a:r>
            <a:r>
              <a:rPr lang="en-US" altLang="ko-KR" dirty="0"/>
              <a:t>1870</a:t>
            </a:r>
            <a:r>
              <a:rPr lang="ko-KR" altLang="en-US" dirty="0"/>
              <a:t>년대부터 </a:t>
            </a:r>
            <a:r>
              <a:rPr lang="en-US" altLang="ko-KR" dirty="0"/>
              <a:t>1914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차세계대전까지 첫번째의 세계화로서</a:t>
            </a:r>
            <a:r>
              <a:rPr lang="en-US" altLang="ko-KR" dirty="0"/>
              <a:t>, </a:t>
            </a:r>
            <a:r>
              <a:rPr lang="ko-KR" altLang="en-US" b="1" dirty="0"/>
              <a:t>세계화</a:t>
            </a:r>
            <a:r>
              <a:rPr lang="ko-KR" altLang="en-US" dirty="0"/>
              <a:t>는 국제적으로 상품이 거래되는 상품시장과 그 상품의 생산에 필요한 요소들이 거래되는 시장인 생산요소시장의 통합을 의미한다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b="1" dirty="0"/>
              <a:t>제국주의와 금본위제는 </a:t>
            </a:r>
            <a:r>
              <a:rPr lang="ko-KR" altLang="en-US" dirty="0"/>
              <a:t>이 두 요소는 각각 신뢰의 반하는 행동을 할 시 무력으로 진압을 하여 무역에 있어서의 신뢰를 보장하고</a:t>
            </a:r>
            <a:r>
              <a:rPr lang="en-US" altLang="ko-KR" dirty="0"/>
              <a:t>, </a:t>
            </a:r>
            <a:r>
              <a:rPr lang="ko-KR" altLang="en-US" dirty="0"/>
              <a:t>각국의 화폐가치를 일정한 금의 가치에 묶어 결제과정을 간편화 하는 것으로 무역을 원활하게 하여 세계화에 기여했다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금본위제 설립</a:t>
            </a:r>
            <a:r>
              <a:rPr lang="en-US" altLang="ko-KR" dirty="0"/>
              <a:t>, </a:t>
            </a:r>
            <a:r>
              <a:rPr lang="ko-KR" altLang="en-US" dirty="0"/>
              <a:t>확산의 배경과 유지</a:t>
            </a:r>
            <a:endParaRPr lang="en-US" altLang="ko-KR" dirty="0"/>
          </a:p>
          <a:p>
            <a:pPr lvl="1"/>
            <a:r>
              <a:rPr lang="ko-KR" altLang="en-US" b="1" dirty="0"/>
              <a:t>금본위제가 정립되고 확산된 배경엔 </a:t>
            </a:r>
            <a:r>
              <a:rPr lang="ko-KR" altLang="en-US" dirty="0"/>
              <a:t>금본위제는 </a:t>
            </a:r>
            <a:r>
              <a:rPr lang="en-US" altLang="ko-KR" dirty="0"/>
              <a:t>1</a:t>
            </a:r>
            <a:r>
              <a:rPr lang="ko-KR" altLang="en-US" dirty="0"/>
              <a:t>차 산업혁명 이후 당대의 </a:t>
            </a:r>
            <a:r>
              <a:rPr lang="ko-KR" altLang="en-US" dirty="0" err="1"/>
              <a:t>강대국된</a:t>
            </a:r>
            <a:r>
              <a:rPr lang="ko-KR" altLang="en-US" dirty="0"/>
              <a:t> 영국이 기존에 채택하던 제도였고</a:t>
            </a:r>
            <a:r>
              <a:rPr lang="en-US" altLang="ko-KR" dirty="0"/>
              <a:t>, </a:t>
            </a:r>
            <a:r>
              <a:rPr lang="ko-KR" altLang="en-US" dirty="0"/>
              <a:t>독일과 프랑스와 같은 타국이 영국과의 교역을 더 원활하게 하기 위해 기존 제도에서 금본위제로 제도를 바꾸었기에 가능했다</a:t>
            </a:r>
            <a:r>
              <a:rPr lang="en-US" altLang="ko-KR" dirty="0"/>
              <a:t>. </a:t>
            </a:r>
            <a:r>
              <a:rPr lang="ko-KR" altLang="en-US" dirty="0"/>
              <a:t>왜냐하면 같은 제도를 이용할 수록 그 제도가 주는 이점이 더 커지는 </a:t>
            </a:r>
            <a:r>
              <a:rPr lang="ko-KR" altLang="en-US" b="1" dirty="0"/>
              <a:t>네트워크 외부성</a:t>
            </a:r>
            <a:r>
              <a:rPr lang="ko-KR" altLang="en-US" dirty="0"/>
              <a:t>과 제도를 바꾸는데 드는 비용인 </a:t>
            </a:r>
            <a:r>
              <a:rPr lang="ko-KR" altLang="en-US" b="1" dirty="0"/>
              <a:t>전환비용</a:t>
            </a:r>
            <a:r>
              <a:rPr lang="ko-KR" altLang="en-US" dirty="0"/>
              <a:t>은 서로 대립하는데</a:t>
            </a:r>
            <a:r>
              <a:rPr lang="en-US" altLang="ko-KR" dirty="0"/>
              <a:t>, </a:t>
            </a:r>
            <a:r>
              <a:rPr lang="ko-KR" altLang="en-US" dirty="0"/>
              <a:t>당시의 상황은 네트워크 외부성이 주는 이득이 전환비용보다 더 크기 때문에 가능했기 때문이다</a:t>
            </a:r>
            <a:r>
              <a:rPr lang="en-US" altLang="ko-KR" dirty="0"/>
              <a:t>. </a:t>
            </a:r>
            <a:r>
              <a:rPr lang="ko-KR" altLang="en-US" dirty="0"/>
              <a:t>이렇게 성립된 금본위제는 </a:t>
            </a:r>
            <a:r>
              <a:rPr lang="en-US" altLang="ko-KR" dirty="0"/>
              <a:t>1</a:t>
            </a:r>
            <a:r>
              <a:rPr lang="ko-KR" altLang="en-US" dirty="0"/>
              <a:t>차 세계화 내내 이어진 자본의 자유로운 이동</a:t>
            </a:r>
            <a:r>
              <a:rPr lang="en-US" altLang="ko-KR" dirty="0"/>
              <a:t>, </a:t>
            </a:r>
            <a:r>
              <a:rPr lang="ko-KR" altLang="en-US" dirty="0"/>
              <a:t>국가간 고정된 환율</a:t>
            </a:r>
            <a:r>
              <a:rPr lang="en-US" altLang="ko-KR" dirty="0"/>
              <a:t>, </a:t>
            </a:r>
            <a:r>
              <a:rPr lang="ko-KR" altLang="en-US" dirty="0"/>
              <a:t>통화정책을 수립할 중앙기구의 부재와 같은 </a:t>
            </a:r>
            <a:r>
              <a:rPr lang="ko-KR" altLang="en-US" b="1" dirty="0"/>
              <a:t>요소와 함께 유지될 </a:t>
            </a:r>
            <a:r>
              <a:rPr lang="ko-KR" altLang="en-US" dirty="0"/>
              <a:t>수 있었다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1</a:t>
            </a:r>
            <a:r>
              <a:rPr lang="ko-KR" altLang="en-US" dirty="0"/>
              <a:t>차세계대전과 금본위제의 중단</a:t>
            </a:r>
            <a:endParaRPr lang="en-US" altLang="ko-KR" dirty="0"/>
          </a:p>
          <a:p>
            <a:pPr lvl="1"/>
            <a:r>
              <a:rPr lang="ko-KR" altLang="en-US" dirty="0"/>
              <a:t>그러나 </a:t>
            </a:r>
            <a:r>
              <a:rPr lang="en-US" altLang="ko-KR" dirty="0"/>
              <a:t>1</a:t>
            </a:r>
            <a:r>
              <a:rPr lang="ko-KR" altLang="en-US" dirty="0"/>
              <a:t>차 세계화와 금본위제도는 </a:t>
            </a:r>
            <a:r>
              <a:rPr lang="en-US" altLang="ko-KR" dirty="0"/>
              <a:t>1914</a:t>
            </a:r>
            <a:r>
              <a:rPr lang="ko-KR" altLang="en-US" dirty="0"/>
              <a:t>년 </a:t>
            </a:r>
            <a:r>
              <a:rPr lang="en-US" altLang="ko-KR" b="1" dirty="0"/>
              <a:t>1</a:t>
            </a:r>
            <a:r>
              <a:rPr lang="ko-KR" altLang="en-US" b="1" dirty="0"/>
              <a:t>차 세계대전으로</a:t>
            </a:r>
            <a:r>
              <a:rPr lang="en-US" altLang="ko-KR" b="1" dirty="0"/>
              <a:t> </a:t>
            </a:r>
            <a:r>
              <a:rPr lang="ko-KR" altLang="en-US" dirty="0"/>
              <a:t>인해 중단된다</a:t>
            </a:r>
            <a:r>
              <a:rPr lang="en-US" altLang="ko-KR" dirty="0"/>
              <a:t>. </a:t>
            </a:r>
            <a:r>
              <a:rPr lang="ko-KR" altLang="en-US" dirty="0"/>
              <a:t>각국은 </a:t>
            </a:r>
            <a:r>
              <a:rPr lang="ko-KR" altLang="en-US" b="1" dirty="0"/>
              <a:t>총력전</a:t>
            </a:r>
            <a:r>
              <a:rPr lang="ko-KR" altLang="en-US" dirty="0"/>
              <a:t>의 상황에서 군비 확충을 위해 화폐를 금으로 바꾸는 </a:t>
            </a:r>
            <a:r>
              <a:rPr lang="ko-KR" altLang="en-US" b="1" dirty="0"/>
              <a:t>금태환을 중지</a:t>
            </a:r>
            <a:r>
              <a:rPr lang="ko-KR" altLang="en-US" dirty="0"/>
              <a:t>하고 화폐를 발행해 국가의 지출을 늘렸다</a:t>
            </a:r>
            <a:r>
              <a:rPr lang="en-US" altLang="ko-KR" dirty="0"/>
              <a:t>.</a:t>
            </a:r>
            <a:r>
              <a:rPr lang="ko-KR" altLang="en-US" dirty="0"/>
              <a:t> 동시에 민간의 생산이 전쟁으로 줄어들어 단기간에 물가가 가파르게 상승하는 </a:t>
            </a:r>
            <a:r>
              <a:rPr lang="ko-KR" altLang="en-US" b="1" dirty="0"/>
              <a:t>초인플레이션</a:t>
            </a:r>
            <a:r>
              <a:rPr lang="ko-KR" altLang="en-US" dirty="0"/>
              <a:t>이 발생한다</a:t>
            </a:r>
            <a:r>
              <a:rPr lang="en-US" altLang="ko-KR" dirty="0"/>
              <a:t>. </a:t>
            </a:r>
            <a:r>
              <a:rPr lang="ko-KR" altLang="en-US" dirty="0"/>
              <a:t>이에 따라 </a:t>
            </a:r>
            <a:r>
              <a:rPr lang="en-US" altLang="ko-KR" dirty="0"/>
              <a:t>1</a:t>
            </a:r>
            <a:r>
              <a:rPr lang="ko-KR" altLang="en-US" dirty="0"/>
              <a:t>차대전시기엔 국가간 </a:t>
            </a:r>
            <a:r>
              <a:rPr lang="ko-KR" altLang="en-US" b="1" dirty="0"/>
              <a:t>고정된 환율을 유지할 수 없고</a:t>
            </a:r>
            <a:r>
              <a:rPr lang="en-US" altLang="ko-KR" b="1" dirty="0"/>
              <a:t>, </a:t>
            </a:r>
            <a:r>
              <a:rPr lang="ko-KR" altLang="en-US" b="1" dirty="0"/>
              <a:t>자본 또한 금태환의 중지로 자유롭게 이동하지 못하게 </a:t>
            </a:r>
            <a:r>
              <a:rPr lang="ko-KR" altLang="en-US" dirty="0"/>
              <a:t>되어 금본위제를 중단하게 이른다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전간기</a:t>
            </a:r>
            <a:r>
              <a:rPr lang="ko-KR" altLang="en-US" dirty="0"/>
              <a:t> 금본위제 복귀 시도와 포기</a:t>
            </a:r>
            <a:endParaRPr lang="en-US" altLang="ko-KR" dirty="0"/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차 대전 이후 </a:t>
            </a:r>
            <a:r>
              <a:rPr lang="ko-KR" altLang="en-US" dirty="0" err="1"/>
              <a:t>전간기엔</a:t>
            </a:r>
            <a:r>
              <a:rPr lang="ko-KR" altLang="en-US" dirty="0"/>
              <a:t> 각국은 </a:t>
            </a:r>
            <a:r>
              <a:rPr lang="en-US" altLang="ko-KR" dirty="0"/>
              <a:t>1</a:t>
            </a:r>
            <a:r>
              <a:rPr lang="ko-KR" altLang="en-US" dirty="0"/>
              <a:t>차 세계화의 상황으로 되돌아가고자 </a:t>
            </a:r>
            <a:r>
              <a:rPr lang="ko-KR" altLang="en-US" b="1" dirty="0"/>
              <a:t>금본위제의 복귀</a:t>
            </a:r>
            <a:r>
              <a:rPr lang="ko-KR" altLang="en-US" dirty="0"/>
              <a:t>를 시도하였고 잠시동안 유지하는데 성공하였다</a:t>
            </a:r>
            <a:r>
              <a:rPr lang="en-US" altLang="ko-KR" dirty="0"/>
              <a:t>. </a:t>
            </a:r>
            <a:r>
              <a:rPr lang="ko-KR" altLang="en-US" dirty="0"/>
              <a:t>그러나 영국의 경우처럼 전쟁 중 늘어난 </a:t>
            </a:r>
            <a:r>
              <a:rPr lang="ko-KR" altLang="en-US" b="1" dirty="0"/>
              <a:t>통화량에 대해 고려하지 않고 금본위제를 진행</a:t>
            </a:r>
            <a:r>
              <a:rPr lang="ko-KR" altLang="en-US" dirty="0"/>
              <a:t>해 시장이 </a:t>
            </a:r>
            <a:r>
              <a:rPr lang="ko-KR" altLang="en-US" dirty="0" err="1"/>
              <a:t>활성되지</a:t>
            </a:r>
            <a:r>
              <a:rPr lang="ko-KR" altLang="en-US" dirty="0"/>
              <a:t> 않아 물가가 떨어지는 </a:t>
            </a:r>
            <a:r>
              <a:rPr lang="ko-KR" altLang="en-US" b="1" dirty="0"/>
              <a:t>디플레이션</a:t>
            </a:r>
            <a:r>
              <a:rPr lang="ko-KR" altLang="en-US" dirty="0"/>
              <a:t>과 증가된 </a:t>
            </a:r>
            <a:r>
              <a:rPr lang="ko-KR" altLang="en-US" b="1" dirty="0"/>
              <a:t>실업</a:t>
            </a:r>
            <a:r>
              <a:rPr lang="ko-KR" altLang="en-US" dirty="0"/>
              <a:t>의 부작용을 겪어야 했다</a:t>
            </a:r>
            <a:r>
              <a:rPr lang="en-US" altLang="ko-KR" dirty="0"/>
              <a:t>. </a:t>
            </a:r>
            <a:r>
              <a:rPr lang="ko-KR" altLang="en-US" dirty="0"/>
              <a:t>또한 영국 다음으로 금본위제를 이끌 책임이 있던 </a:t>
            </a:r>
            <a:r>
              <a:rPr lang="ko-KR" altLang="en-US" b="1" dirty="0"/>
              <a:t>미국은 자국의 호황</a:t>
            </a:r>
            <a:r>
              <a:rPr lang="ko-KR" altLang="en-US" dirty="0"/>
              <a:t>에만 집중을 하였으며 금본위제를 위한 정책을 펴야 하는 각국 </a:t>
            </a:r>
            <a:r>
              <a:rPr lang="ko-KR" altLang="en-US" b="1" dirty="0"/>
              <a:t>중앙은행의 협조와 신뢰는 마비되며 </a:t>
            </a:r>
            <a:r>
              <a:rPr lang="ko-KR" altLang="en-US" dirty="0"/>
              <a:t>금본위제는 </a:t>
            </a:r>
            <a:r>
              <a:rPr lang="ko-KR" altLang="en-US" dirty="0" err="1"/>
              <a:t>전간기에</a:t>
            </a:r>
            <a:r>
              <a:rPr lang="ko-KR" altLang="en-US" dirty="0"/>
              <a:t> 성립될 수 없었다</a:t>
            </a:r>
          </a:p>
          <a:p>
            <a:r>
              <a:rPr lang="en-US" altLang="ko-KR" dirty="0"/>
              <a:t>1</a:t>
            </a:r>
            <a:r>
              <a:rPr lang="ko-KR" altLang="en-US" dirty="0"/>
              <a:t>차세계화의 붕괴와 전세계적 불황</a:t>
            </a:r>
            <a:endParaRPr lang="en-US" altLang="ko-KR" dirty="0"/>
          </a:p>
          <a:p>
            <a:pPr lvl="1"/>
            <a:r>
              <a:rPr lang="ko-KR" altLang="en-US" dirty="0"/>
              <a:t>금본위제 붕괴와 함께 </a:t>
            </a:r>
            <a:r>
              <a:rPr lang="en-US" altLang="ko-KR" dirty="0"/>
              <a:t>1</a:t>
            </a:r>
            <a:r>
              <a:rPr lang="ko-KR" altLang="en-US" dirty="0"/>
              <a:t>차 세계화는 </a:t>
            </a:r>
            <a:r>
              <a:rPr lang="ko-KR" altLang="en-US" b="1" dirty="0"/>
              <a:t>지탱이 될 수 없었으며</a:t>
            </a:r>
            <a:r>
              <a:rPr lang="en-US" altLang="ko-KR" dirty="0"/>
              <a:t>, </a:t>
            </a:r>
            <a:r>
              <a:rPr lang="ko-KR" altLang="en-US" dirty="0"/>
              <a:t>결국 유럽을 비롯한 </a:t>
            </a:r>
            <a:r>
              <a:rPr lang="ko-KR" altLang="en-US" b="1" dirty="0"/>
              <a:t>전 세계의 불황은 </a:t>
            </a:r>
            <a:r>
              <a:rPr lang="ko-KR" altLang="en-US" dirty="0"/>
              <a:t>미국의 대공황과 함께 </a:t>
            </a:r>
            <a:r>
              <a:rPr lang="en-US" altLang="ko-KR" dirty="0"/>
              <a:t>2</a:t>
            </a:r>
            <a:r>
              <a:rPr lang="ko-KR" altLang="en-US" dirty="0"/>
              <a:t>차세계대전의 기간까지 이어지게 된다</a:t>
            </a:r>
          </a:p>
          <a:p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C6C719F-C2CA-29DB-4E62-FBAE5AAB0AF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4624" y="8409384"/>
            <a:ext cx="6768752" cy="1440160"/>
          </a:xfrm>
        </p:spPr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 세계화와 금본위제의 역할</a:t>
            </a:r>
            <a:endParaRPr lang="en-US" altLang="ko-KR" dirty="0"/>
          </a:p>
          <a:p>
            <a:r>
              <a:rPr lang="ko-KR" altLang="en-US" dirty="0"/>
              <a:t>금본위제 설립</a:t>
            </a:r>
            <a:r>
              <a:rPr lang="en-US" altLang="ko-KR" dirty="0"/>
              <a:t>/</a:t>
            </a:r>
            <a:r>
              <a:rPr lang="ko-KR" altLang="en-US" dirty="0"/>
              <a:t>확산의 배경과 유지</a:t>
            </a:r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차대전과 금본위제 포기</a:t>
            </a:r>
            <a:endParaRPr lang="en-US" altLang="ko-KR" dirty="0"/>
          </a:p>
          <a:p>
            <a:r>
              <a:rPr lang="ko-KR" altLang="en-US" dirty="0" err="1"/>
              <a:t>전간기</a:t>
            </a:r>
            <a:r>
              <a:rPr lang="ko-KR" altLang="en-US" dirty="0"/>
              <a:t> 복귀시도 및 포기</a:t>
            </a:r>
            <a:endParaRPr lang="en-US" altLang="ko-KR" dirty="0"/>
          </a:p>
          <a:p>
            <a:r>
              <a:rPr lang="ko-KR" altLang="en-US" dirty="0"/>
              <a:t>세계화의 붕괴와 불황</a:t>
            </a:r>
          </a:p>
        </p:txBody>
      </p:sp>
    </p:spTree>
    <p:extLst>
      <p:ext uri="{BB962C8B-B14F-4D97-AF65-F5344CB8AC3E}">
        <p14:creationId xmlns:p14="http://schemas.microsoft.com/office/powerpoint/2010/main" val="862980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A60514E-8102-27CD-2FA8-A4E783ADF5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1A838D8-7944-0A9C-2320-4923BB446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테민논쟁을</a:t>
            </a:r>
            <a:r>
              <a:rPr lang="ko-KR" altLang="en-US" dirty="0"/>
              <a:t> 포함한 대공황의 원인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8497FA6-7667-3A2B-5243-E1356C50D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624" y="560512"/>
            <a:ext cx="6768751" cy="7560840"/>
          </a:xfrm>
        </p:spPr>
        <p:txBody>
          <a:bodyPr>
            <a:normAutofit/>
          </a:bodyPr>
          <a:lstStyle/>
          <a:p>
            <a:r>
              <a:rPr lang="ko-KR" altLang="en-US" b="1" dirty="0"/>
              <a:t>대공황이란</a:t>
            </a:r>
          </a:p>
          <a:p>
            <a:pPr lvl="1"/>
            <a:r>
              <a:rPr lang="en-US" altLang="ko-KR" dirty="0"/>
              <a:t>1930</a:t>
            </a:r>
            <a:r>
              <a:rPr lang="ko-KR" altLang="en-US" dirty="0"/>
              <a:t>년대 미국에서 시작된 세계 대공황은 미국을 기점으로 전 세계로 확산되어 당시 극심한 실업과 경제활동의 급격한 축소를 가져온 사건이었다</a:t>
            </a:r>
            <a:r>
              <a:rPr lang="en-US" altLang="ko-KR" dirty="0"/>
              <a:t>. </a:t>
            </a:r>
            <a:r>
              <a:rPr lang="ko-KR" altLang="en-US" dirty="0"/>
              <a:t>대공황이 어떻게 진행되었고</a:t>
            </a:r>
            <a:r>
              <a:rPr lang="en-US" altLang="ko-KR" dirty="0"/>
              <a:t>, </a:t>
            </a:r>
            <a:r>
              <a:rPr lang="ko-KR" altLang="en-US" dirty="0"/>
              <a:t>그 이면에는 어떤 원인이 있었을까</a:t>
            </a:r>
            <a:r>
              <a:rPr lang="en-US" altLang="ko-KR" dirty="0"/>
              <a:t>?</a:t>
            </a:r>
          </a:p>
          <a:p>
            <a:r>
              <a:rPr lang="ko-KR" altLang="en-US" b="1" dirty="0"/>
              <a:t>대공황의 배경과 검은 목요일</a:t>
            </a:r>
          </a:p>
          <a:p>
            <a:pPr lvl="1"/>
            <a:r>
              <a:rPr lang="ko-KR" altLang="en-US" dirty="0"/>
              <a:t>많은 사람들은 </a:t>
            </a:r>
            <a:r>
              <a:rPr lang="en-US" altLang="ko-KR" dirty="0"/>
              <a:t>1929</a:t>
            </a:r>
            <a:r>
              <a:rPr lang="ko-KR" altLang="en-US" dirty="0"/>
              <a:t>년의 </a:t>
            </a:r>
            <a:r>
              <a:rPr lang="en-US" altLang="ko-KR" dirty="0"/>
              <a:t>＇</a:t>
            </a:r>
            <a:r>
              <a:rPr lang="ko-KR" altLang="en-US" dirty="0"/>
              <a:t>검은 목요일</a:t>
            </a:r>
            <a:r>
              <a:rPr lang="en-US" altLang="ko-KR" dirty="0"/>
              <a:t>＇</a:t>
            </a:r>
            <a:r>
              <a:rPr lang="ko-KR" altLang="en-US" dirty="0"/>
              <a:t>로 알려진 주식 시장 붕괴를 대공황의 시작으로 본다</a:t>
            </a:r>
            <a:r>
              <a:rPr lang="en-US" altLang="ko-KR" dirty="0"/>
              <a:t>. </a:t>
            </a:r>
            <a:r>
              <a:rPr lang="ko-KR" altLang="en-US" dirty="0"/>
              <a:t>하지만 검은 목요일 사건은 대공황의 직접적인 원인보단</a:t>
            </a:r>
            <a:r>
              <a:rPr lang="en-US" altLang="ko-KR" dirty="0"/>
              <a:t> </a:t>
            </a:r>
            <a:r>
              <a:rPr lang="ko-KR" altLang="en-US" dirty="0"/>
              <a:t>일련의 경제적 불안정을 가중시키는 역할을 했다</a:t>
            </a:r>
            <a:r>
              <a:rPr lang="en-US" altLang="ko-KR" dirty="0"/>
              <a:t>. </a:t>
            </a:r>
            <a:r>
              <a:rPr lang="ko-KR" altLang="en-US" dirty="0"/>
              <a:t> 검은 목요일 이전 </a:t>
            </a:r>
            <a:r>
              <a:rPr lang="en-US" altLang="ko-KR" dirty="0"/>
              <a:t>1928</a:t>
            </a:r>
            <a:r>
              <a:rPr lang="ko-KR" altLang="en-US" dirty="0"/>
              <a:t>년과 </a:t>
            </a:r>
            <a:r>
              <a:rPr lang="en-US" altLang="ko-KR" dirty="0"/>
              <a:t>1929</a:t>
            </a:r>
            <a:r>
              <a:rPr lang="ko-KR" altLang="en-US" dirty="0"/>
              <a:t>년 동안 미국 경제는 호황을 누렸고</a:t>
            </a:r>
            <a:r>
              <a:rPr lang="en-US" altLang="ko-KR" dirty="0"/>
              <a:t>, </a:t>
            </a:r>
            <a:r>
              <a:rPr lang="ko-KR" altLang="en-US" dirty="0"/>
              <a:t>주가 상승과 투기가 극에 달했다</a:t>
            </a:r>
            <a:r>
              <a:rPr lang="en-US" altLang="ko-KR" dirty="0"/>
              <a:t>. </a:t>
            </a:r>
            <a:r>
              <a:rPr lang="ko-KR" altLang="en-US" dirty="0"/>
              <a:t>이를 억제하기 위해 미국 연방준비제도는 긴축정책을 시행했으며</a:t>
            </a:r>
            <a:r>
              <a:rPr lang="en-US" altLang="ko-KR" dirty="0"/>
              <a:t>, </a:t>
            </a:r>
            <a:r>
              <a:rPr lang="ko-KR" altLang="en-US" dirty="0"/>
              <a:t>이로 인해 시장의 불안감이 증폭되었다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대공황의 전개 과정</a:t>
            </a:r>
          </a:p>
          <a:p>
            <a:pPr lvl="1"/>
            <a:r>
              <a:rPr lang="ko-KR" altLang="en-US" dirty="0"/>
              <a:t>검은 목요일 사건 이후 주가는 급락하기 시작했고</a:t>
            </a:r>
            <a:r>
              <a:rPr lang="en-US" altLang="ko-KR" dirty="0"/>
              <a:t>, </a:t>
            </a:r>
            <a:r>
              <a:rPr lang="ko-KR" altLang="en-US" dirty="0"/>
              <a:t>미국 경제는 심각한 침체 국면에 접어들었다</a:t>
            </a:r>
            <a:r>
              <a:rPr lang="en-US" altLang="ko-KR" dirty="0"/>
              <a:t>. </a:t>
            </a:r>
            <a:r>
              <a:rPr lang="ko-KR" altLang="en-US" dirty="0"/>
              <a:t>하지만 경제 위기가 악화된 주요 원인은 연방준비제도가 긴축정책을 지속하며 이자율을 높게 유지한 점이다</a:t>
            </a:r>
            <a:r>
              <a:rPr lang="en-US" altLang="ko-KR" dirty="0"/>
              <a:t>. </a:t>
            </a:r>
            <a:r>
              <a:rPr lang="ko-KR" altLang="en-US" dirty="0"/>
              <a:t>이로 인해 경기 </a:t>
            </a:r>
            <a:r>
              <a:rPr lang="ko-KR" altLang="en-US" dirty="0" err="1"/>
              <a:t>회복은커녕</a:t>
            </a:r>
            <a:r>
              <a:rPr lang="ko-KR" altLang="en-US" dirty="0"/>
              <a:t> 미국 경제는 더 큰 침체에 빠져들었다</a:t>
            </a:r>
            <a:r>
              <a:rPr lang="en-US" altLang="ko-KR" dirty="0"/>
              <a:t>. </a:t>
            </a:r>
            <a:r>
              <a:rPr lang="ko-KR" altLang="en-US" dirty="0"/>
              <a:t>이 과정에서 </a:t>
            </a:r>
            <a:r>
              <a:rPr lang="en-US" altLang="ko-KR" dirty="0"/>
              <a:t>1930</a:t>
            </a:r>
            <a:r>
              <a:rPr lang="ko-KR" altLang="en-US" dirty="0"/>
              <a:t>년 </a:t>
            </a:r>
            <a:r>
              <a:rPr lang="ko-KR" altLang="en-US" dirty="0" err="1"/>
              <a:t>스무트</a:t>
            </a:r>
            <a:r>
              <a:rPr lang="en-US" altLang="ko-KR" dirty="0"/>
              <a:t>-</a:t>
            </a:r>
            <a:r>
              <a:rPr lang="ko-KR" altLang="en-US" dirty="0" err="1"/>
              <a:t>홀리</a:t>
            </a:r>
            <a:r>
              <a:rPr lang="ko-KR" altLang="en-US" dirty="0"/>
              <a:t> 관세법이 시행되어 미국의 수출입 환경은 더욱 악화되었다</a:t>
            </a:r>
            <a:r>
              <a:rPr lang="en-US" altLang="ko-KR" dirty="0"/>
              <a:t>. </a:t>
            </a:r>
            <a:r>
              <a:rPr lang="ko-KR" altLang="en-US" dirty="0"/>
              <a:t>또한</a:t>
            </a:r>
            <a:r>
              <a:rPr lang="en-US" altLang="ko-KR" dirty="0"/>
              <a:t>, 1930</a:t>
            </a:r>
            <a:r>
              <a:rPr lang="ko-KR" altLang="en-US" dirty="0"/>
              <a:t>년과 </a:t>
            </a:r>
            <a:r>
              <a:rPr lang="en-US" altLang="ko-KR" dirty="0"/>
              <a:t>1931</a:t>
            </a:r>
            <a:r>
              <a:rPr lang="ko-KR" altLang="en-US" dirty="0"/>
              <a:t>년부터 </a:t>
            </a:r>
            <a:r>
              <a:rPr lang="en-US" altLang="ko-KR" dirty="0"/>
              <a:t>1933</a:t>
            </a:r>
            <a:r>
              <a:rPr lang="ko-KR" altLang="en-US" dirty="0"/>
              <a:t>년까지 이어진 은행 위기는 금융 시스템을 마비시켰다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대공황의 영향을 완화하기 위해 </a:t>
            </a:r>
            <a:r>
              <a:rPr lang="en-US" altLang="ko-KR" dirty="0"/>
              <a:t>1932</a:t>
            </a:r>
            <a:r>
              <a:rPr lang="ko-KR" altLang="en-US" dirty="0"/>
              <a:t>년 루즈벨트가 대통령에 당선되어</a:t>
            </a:r>
            <a:r>
              <a:rPr lang="en-US" altLang="ko-KR" dirty="0"/>
              <a:t> 1933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차 뉴딜정책</a:t>
            </a:r>
            <a:r>
              <a:rPr lang="en-US" altLang="ko-KR" dirty="0"/>
              <a:t>, 1935</a:t>
            </a:r>
            <a:r>
              <a:rPr lang="ko-KR" altLang="en-US" dirty="0"/>
              <a:t>년 </a:t>
            </a:r>
            <a:r>
              <a:rPr lang="en-US" altLang="ko-KR" dirty="0"/>
              <a:t>2</a:t>
            </a:r>
            <a:r>
              <a:rPr lang="ko-KR" altLang="en-US" dirty="0"/>
              <a:t>차 뉴딜 정책이 시행되었다</a:t>
            </a:r>
            <a:r>
              <a:rPr lang="en-US" altLang="ko-KR" dirty="0"/>
              <a:t>. </a:t>
            </a:r>
            <a:r>
              <a:rPr lang="ko-KR" altLang="en-US" dirty="0"/>
              <a:t>그러나 대공황의 충격에서 본격적으로 벗어난 것은 </a:t>
            </a:r>
            <a:r>
              <a:rPr lang="en-US" altLang="ko-KR" dirty="0"/>
              <a:t>2</a:t>
            </a:r>
            <a:r>
              <a:rPr lang="ko-KR" altLang="en-US" dirty="0"/>
              <a:t>차 세계대전의 전비 수요가 </a:t>
            </a:r>
            <a:r>
              <a:rPr lang="ko-KR" altLang="en-US" dirty="0" err="1"/>
              <a:t>본격화되면서였다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대공황의 원인 분석</a:t>
            </a:r>
            <a:r>
              <a:rPr lang="en-US" altLang="ko-KR" b="1" dirty="0"/>
              <a:t>: </a:t>
            </a:r>
            <a:r>
              <a:rPr lang="ko-KR" altLang="en-US" b="1" dirty="0"/>
              <a:t>사건들의 상호작용</a:t>
            </a:r>
          </a:p>
          <a:p>
            <a:pPr lvl="1"/>
            <a:r>
              <a:rPr lang="ko-KR" altLang="en-US" dirty="0"/>
              <a:t>앞서 언급한 사건들은 대공황의 원인보단 심화 요인으로 작용했다</a:t>
            </a:r>
            <a:r>
              <a:rPr lang="en-US" altLang="ko-KR" dirty="0"/>
              <a:t>. </a:t>
            </a:r>
            <a:r>
              <a:rPr lang="ko-KR" altLang="en-US" dirty="0"/>
              <a:t>예를 들어</a:t>
            </a:r>
            <a:r>
              <a:rPr lang="en-US" altLang="ko-KR" dirty="0"/>
              <a:t>, 1929</a:t>
            </a:r>
            <a:r>
              <a:rPr lang="ko-KR" altLang="en-US" dirty="0"/>
              <a:t>년 검은 목요일은 단순히 주식 시장의 붕괴로만 보기 어렵다</a:t>
            </a:r>
            <a:r>
              <a:rPr lang="en-US" altLang="ko-KR" dirty="0"/>
              <a:t>. </a:t>
            </a:r>
            <a:r>
              <a:rPr lang="ko-KR" altLang="en-US" dirty="0"/>
              <a:t>이것은 미국 경제가 산업의 다양화 부족</a:t>
            </a:r>
            <a:r>
              <a:rPr lang="en-US" altLang="ko-KR" dirty="0"/>
              <a:t>, </a:t>
            </a:r>
            <a:r>
              <a:rPr lang="ko-KR" altLang="en-US" dirty="0"/>
              <a:t>구매력 불균형</a:t>
            </a:r>
            <a:r>
              <a:rPr lang="en-US" altLang="ko-KR" dirty="0"/>
              <a:t>, </a:t>
            </a:r>
            <a:r>
              <a:rPr lang="ko-KR" altLang="en-US" dirty="0"/>
              <a:t>취약한 신용구조</a:t>
            </a:r>
            <a:r>
              <a:rPr lang="en-US" altLang="ko-KR" dirty="0"/>
              <a:t>, </a:t>
            </a:r>
            <a:r>
              <a:rPr lang="ko-KR" altLang="en-US" dirty="0"/>
              <a:t>그리고 국제 무역의 감소 등 다양한 경제적 문제를 안고 있었음을 드러낸 사건이었다</a:t>
            </a:r>
            <a:r>
              <a:rPr lang="en-US" altLang="ko-KR" dirty="0"/>
              <a:t>. </a:t>
            </a:r>
            <a:r>
              <a:rPr lang="ko-KR" altLang="en-US" dirty="0"/>
              <a:t>또한 주식 시장 붕괴 이후 나타난 통화량 감소와 그로 인한 투자 위축</a:t>
            </a:r>
            <a:r>
              <a:rPr lang="en-US" altLang="ko-KR" dirty="0"/>
              <a:t>, </a:t>
            </a:r>
            <a:r>
              <a:rPr lang="ko-KR" altLang="en-US" dirty="0"/>
              <a:t>실업 증가가 더 큰 문제였다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 err="1"/>
              <a:t>스무트</a:t>
            </a:r>
            <a:r>
              <a:rPr lang="en-US" altLang="ko-KR" dirty="0"/>
              <a:t>-</a:t>
            </a:r>
            <a:r>
              <a:rPr lang="ko-KR" altLang="en-US" dirty="0" err="1"/>
              <a:t>홀리</a:t>
            </a:r>
            <a:r>
              <a:rPr lang="ko-KR" altLang="en-US" dirty="0"/>
              <a:t> 관세법 역시 대공황의 직접적인 원인보단 심화 요소로 작용했다</a:t>
            </a:r>
            <a:r>
              <a:rPr lang="en-US" altLang="ko-KR" dirty="0"/>
              <a:t>. </a:t>
            </a:r>
            <a:r>
              <a:rPr lang="ko-KR" altLang="en-US" dirty="0"/>
              <a:t>미국은 관세법 이전에도 대외무역 의존도가 낮았고</a:t>
            </a:r>
            <a:r>
              <a:rPr lang="en-US" altLang="ko-KR" dirty="0"/>
              <a:t>, </a:t>
            </a:r>
            <a:r>
              <a:rPr lang="ko-KR" altLang="en-US" dirty="0"/>
              <a:t>수출액도 큰 차이를 보이지 않았다</a:t>
            </a:r>
            <a:r>
              <a:rPr lang="en-US" altLang="ko-KR" dirty="0"/>
              <a:t>. </a:t>
            </a:r>
            <a:r>
              <a:rPr lang="ko-KR" altLang="en-US" dirty="0"/>
              <a:t>은행 위기 또한 대공황의 원인보단</a:t>
            </a:r>
            <a:r>
              <a:rPr lang="en-US" altLang="ko-KR" dirty="0"/>
              <a:t> </a:t>
            </a:r>
            <a:r>
              <a:rPr lang="ko-KR" altLang="en-US" dirty="0"/>
              <a:t>금융 긴축 정책의 결과로 경제 위기의 확산을 촉진하였다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학자들의 의견과 </a:t>
            </a:r>
            <a:r>
              <a:rPr lang="ko-KR" altLang="en-US" b="1" dirty="0" err="1"/>
              <a:t>테민</a:t>
            </a:r>
            <a:r>
              <a:rPr lang="ko-KR" altLang="en-US" b="1" dirty="0"/>
              <a:t> 논쟁</a:t>
            </a:r>
          </a:p>
          <a:p>
            <a:pPr lvl="1"/>
            <a:r>
              <a:rPr lang="ko-KR" altLang="en-US" dirty="0"/>
              <a:t>대공황의 원인에 대한 학자들의 의견은 크게 </a:t>
            </a:r>
            <a:r>
              <a:rPr lang="ko-KR" altLang="en-US" dirty="0" err="1"/>
              <a:t>유효수요론자와</a:t>
            </a:r>
            <a:r>
              <a:rPr lang="ko-KR" altLang="en-US" dirty="0"/>
              <a:t> </a:t>
            </a:r>
            <a:r>
              <a:rPr lang="ko-KR" altLang="en-US" dirty="0" err="1"/>
              <a:t>통화론자로</a:t>
            </a:r>
            <a:r>
              <a:rPr lang="ko-KR" altLang="en-US" dirty="0"/>
              <a:t> 나뉜다</a:t>
            </a:r>
            <a:r>
              <a:rPr lang="en-US" altLang="ko-KR" dirty="0"/>
              <a:t>. </a:t>
            </a:r>
            <a:r>
              <a:rPr lang="ko-KR" altLang="en-US" dirty="0" err="1"/>
              <a:t>유효수요론자는</a:t>
            </a:r>
            <a:r>
              <a:rPr lang="ko-KR" altLang="en-US" dirty="0"/>
              <a:t> 유효수요 부족으로 인한 </a:t>
            </a:r>
            <a:r>
              <a:rPr lang="ko-KR" altLang="en-US" dirty="0" err="1"/>
              <a:t>생산과잉설비가</a:t>
            </a:r>
            <a:r>
              <a:rPr lang="ko-KR" altLang="en-US" dirty="0"/>
              <a:t> 문제였다고 본다</a:t>
            </a:r>
            <a:r>
              <a:rPr lang="en-US" altLang="ko-KR" dirty="0"/>
              <a:t>. </a:t>
            </a:r>
            <a:r>
              <a:rPr lang="ko-KR" altLang="en-US" dirty="0"/>
              <a:t>이들은 과소소비론을 주장했는데</a:t>
            </a:r>
            <a:r>
              <a:rPr lang="en-US" altLang="ko-KR" dirty="0"/>
              <a:t>, </a:t>
            </a:r>
            <a:r>
              <a:rPr lang="ko-KR" altLang="en-US" dirty="0"/>
              <a:t>부의 불균형한 분배로 소비가 줄어들고</a:t>
            </a:r>
            <a:r>
              <a:rPr lang="en-US" altLang="ko-KR" dirty="0"/>
              <a:t>, </a:t>
            </a:r>
            <a:r>
              <a:rPr lang="ko-KR" altLang="en-US" dirty="0"/>
              <a:t>이로 인해 유효수요가 감소했다고 주장한다</a:t>
            </a:r>
            <a:r>
              <a:rPr lang="en-US" altLang="ko-KR" dirty="0"/>
              <a:t>. </a:t>
            </a:r>
            <a:r>
              <a:rPr lang="ko-KR" altLang="en-US" dirty="0"/>
              <a:t>반면</a:t>
            </a:r>
            <a:r>
              <a:rPr lang="en-US" altLang="ko-KR" dirty="0"/>
              <a:t>, </a:t>
            </a:r>
            <a:r>
              <a:rPr lang="ko-KR" altLang="en-US" dirty="0" err="1"/>
              <a:t>통화론자들은</a:t>
            </a:r>
            <a:r>
              <a:rPr lang="ko-KR" altLang="en-US" dirty="0"/>
              <a:t> 유효수요가 아닌 통화량 감소가 대공황의 주요 원인이라고 보았다</a:t>
            </a:r>
            <a:r>
              <a:rPr lang="en-US" altLang="ko-KR" dirty="0"/>
              <a:t>. </a:t>
            </a:r>
            <a:r>
              <a:rPr lang="ko-KR" altLang="en-US" dirty="0"/>
              <a:t>특히</a:t>
            </a:r>
            <a:r>
              <a:rPr lang="en-US" altLang="ko-KR" dirty="0"/>
              <a:t>, </a:t>
            </a:r>
            <a:r>
              <a:rPr lang="ko-KR" altLang="en-US" dirty="0"/>
              <a:t>미 연준이 이자율을 내려야 할 시점에 오히려 인상하여 통화량 감소를 초래하고</a:t>
            </a:r>
            <a:r>
              <a:rPr lang="en-US" altLang="ko-KR" dirty="0"/>
              <a:t>, </a:t>
            </a:r>
            <a:r>
              <a:rPr lang="ko-KR" altLang="en-US" dirty="0"/>
              <a:t>이는 투자와 고용을 악화시켰다고 설명한다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한편</a:t>
            </a:r>
            <a:r>
              <a:rPr lang="en-US" altLang="ko-KR" dirty="0"/>
              <a:t>, </a:t>
            </a:r>
            <a:r>
              <a:rPr lang="ko-KR" altLang="en-US" dirty="0" err="1"/>
              <a:t>테민은</a:t>
            </a:r>
            <a:r>
              <a:rPr lang="ko-KR" altLang="en-US" dirty="0"/>
              <a:t> </a:t>
            </a:r>
            <a:r>
              <a:rPr lang="ko-KR" altLang="en-US" dirty="0" err="1"/>
              <a:t>통화론자들의</a:t>
            </a:r>
            <a:r>
              <a:rPr lang="ko-KR" altLang="en-US" dirty="0"/>
              <a:t> 주장에 이자율의 상승이 관찰되지 않았고 투자 및 지출의 감소가 통화량의 감소를 불러왔다는 점을 들어 반박하며</a:t>
            </a:r>
            <a:r>
              <a:rPr lang="en-US" altLang="ko-KR" dirty="0"/>
              <a:t>, </a:t>
            </a:r>
            <a:r>
              <a:rPr lang="ko-KR" altLang="en-US" dirty="0"/>
              <a:t>대공황의 원인은 통화량 감소가 아닌 소비와 투자 지출의 감소라고 주장했다</a:t>
            </a:r>
            <a:r>
              <a:rPr lang="en-US" altLang="ko-KR" dirty="0"/>
              <a:t>. </a:t>
            </a:r>
            <a:r>
              <a:rPr lang="ko-KR" altLang="en-US" dirty="0"/>
              <a:t>이러한 </a:t>
            </a:r>
            <a:r>
              <a:rPr lang="ko-KR" altLang="en-US" dirty="0" err="1"/>
              <a:t>테민의</a:t>
            </a:r>
            <a:r>
              <a:rPr lang="ko-KR" altLang="en-US" dirty="0"/>
              <a:t> 주장을 둘러싼 논쟁을 </a:t>
            </a:r>
            <a:r>
              <a:rPr lang="en-US" altLang="ko-KR" dirty="0"/>
              <a:t>＇</a:t>
            </a:r>
            <a:r>
              <a:rPr lang="ko-KR" altLang="en-US" dirty="0" err="1"/>
              <a:t>테민</a:t>
            </a:r>
            <a:r>
              <a:rPr lang="ko-KR" altLang="en-US" dirty="0"/>
              <a:t> 논쟁</a:t>
            </a:r>
            <a:r>
              <a:rPr lang="en-US" altLang="ko-KR" dirty="0"/>
              <a:t>＇</a:t>
            </a:r>
            <a:r>
              <a:rPr lang="ko-KR" altLang="en-US" dirty="0"/>
              <a:t>이라고 부른다</a:t>
            </a:r>
            <a:r>
              <a:rPr lang="en-US" altLang="ko-KR" dirty="0"/>
              <a:t>. </a:t>
            </a:r>
            <a:r>
              <a:rPr lang="ko-KR" altLang="en-US" dirty="0"/>
              <a:t>그러나 </a:t>
            </a:r>
            <a:r>
              <a:rPr lang="ko-KR" altLang="en-US" dirty="0" err="1"/>
              <a:t>테민의</a:t>
            </a:r>
            <a:r>
              <a:rPr lang="ko-KR" altLang="en-US" dirty="0"/>
              <a:t> 주장은 대공황의 원인을 완전히 설명하지 못했고</a:t>
            </a:r>
            <a:r>
              <a:rPr lang="en-US" altLang="ko-KR" dirty="0"/>
              <a:t>, </a:t>
            </a:r>
            <a:r>
              <a:rPr lang="ko-KR" altLang="en-US" dirty="0"/>
              <a:t>이는 대공황이 여러 경제적 요인들이 복합적으로 작용한 결과임을 보여준다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현재 경제와 대공황의 시사점</a:t>
            </a:r>
          </a:p>
          <a:p>
            <a:pPr lvl="1"/>
            <a:r>
              <a:rPr lang="en-US" altLang="ko-KR" dirty="0"/>
              <a:t>2020</a:t>
            </a:r>
            <a:r>
              <a:rPr lang="ko-KR" altLang="en-US" dirty="0"/>
              <a:t>년대의 경제 상황은 대공황 시기와 여러 면에서 유사한 점을 보인다</a:t>
            </a:r>
            <a:r>
              <a:rPr lang="en-US" altLang="ko-KR" dirty="0"/>
              <a:t>. </a:t>
            </a:r>
            <a:r>
              <a:rPr lang="ko-KR" altLang="en-US" dirty="0"/>
              <a:t>코로나 팬데믹</a:t>
            </a:r>
            <a:r>
              <a:rPr lang="en-US" altLang="ko-KR" dirty="0"/>
              <a:t>, </a:t>
            </a:r>
            <a:r>
              <a:rPr lang="ko-KR" altLang="en-US" dirty="0"/>
              <a:t>러시아</a:t>
            </a:r>
            <a:r>
              <a:rPr lang="en-US" altLang="ko-KR" dirty="0"/>
              <a:t>-</a:t>
            </a:r>
            <a:r>
              <a:rPr lang="ko-KR" altLang="en-US" dirty="0"/>
              <a:t>우크라이나 전쟁</a:t>
            </a:r>
            <a:r>
              <a:rPr lang="en-US" altLang="ko-KR" dirty="0"/>
              <a:t>, </a:t>
            </a:r>
            <a:r>
              <a:rPr lang="ko-KR" altLang="en-US" dirty="0"/>
              <a:t>중국 은행 도산</a:t>
            </a:r>
            <a:r>
              <a:rPr lang="en-US" altLang="ko-KR" dirty="0"/>
              <a:t>, </a:t>
            </a:r>
            <a:r>
              <a:rPr lang="ko-KR" altLang="en-US" dirty="0"/>
              <a:t>고령화</a:t>
            </a:r>
            <a:r>
              <a:rPr lang="en-US" altLang="ko-KR" dirty="0"/>
              <a:t>, </a:t>
            </a:r>
            <a:r>
              <a:rPr lang="ko-KR" altLang="en-US" dirty="0"/>
              <a:t>탈세계화와 같은 여러 요인들이 복합적으로 작용하며 경제적 불안과 심리적 경기침체를 초래했다</a:t>
            </a:r>
            <a:r>
              <a:rPr lang="en-US" altLang="ko-KR" dirty="0"/>
              <a:t>. </a:t>
            </a:r>
            <a:r>
              <a:rPr lang="ko-KR" altLang="en-US" dirty="0"/>
              <a:t>오늘날의 경제 지표들은 호황을 나타내고 있지만</a:t>
            </a:r>
            <a:r>
              <a:rPr lang="en-US" altLang="ko-KR" dirty="0"/>
              <a:t>, </a:t>
            </a:r>
            <a:r>
              <a:rPr lang="ko-KR" altLang="en-US" dirty="0"/>
              <a:t>여전히 많은 사람들은 경제적 불안감을 느끼고 있다</a:t>
            </a:r>
            <a:r>
              <a:rPr lang="en-US" altLang="ko-KR" dirty="0"/>
              <a:t>. </a:t>
            </a:r>
            <a:r>
              <a:rPr lang="ko-KR" altLang="en-US" dirty="0"/>
              <a:t>이는 대공황 당시와 마찬가지로 심리적 요인이 경제 전반에 큰 영향을 미친다는 점을 시사한다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D27E71B-582F-C8F2-3191-9775BCC3DF20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/>
              <a:t>대공황이란</a:t>
            </a:r>
            <a:endParaRPr lang="en-US" altLang="ko-KR" dirty="0"/>
          </a:p>
          <a:p>
            <a:r>
              <a:rPr lang="ko-KR" altLang="en-US" dirty="0"/>
              <a:t>대공황의 배경과 검은 목요일</a:t>
            </a:r>
            <a:endParaRPr lang="en-US" altLang="ko-KR" dirty="0"/>
          </a:p>
          <a:p>
            <a:r>
              <a:rPr lang="ko-KR" altLang="en-US" dirty="0"/>
              <a:t>대공황의 전개과정</a:t>
            </a:r>
            <a:endParaRPr lang="en-US" altLang="ko-KR" dirty="0"/>
          </a:p>
          <a:p>
            <a:r>
              <a:rPr lang="ko-KR" altLang="en-US" dirty="0"/>
              <a:t>원인 분석 </a:t>
            </a:r>
            <a:r>
              <a:rPr lang="en-US" altLang="ko-KR" dirty="0"/>
              <a:t>: </a:t>
            </a:r>
            <a:r>
              <a:rPr lang="ko-KR" altLang="en-US" dirty="0"/>
              <a:t>여러 사건들의 상호작용</a:t>
            </a:r>
            <a:endParaRPr lang="en-US" altLang="ko-KR" dirty="0"/>
          </a:p>
          <a:p>
            <a:r>
              <a:rPr lang="ko-KR" altLang="en-US" dirty="0"/>
              <a:t>학자들의 의견과 </a:t>
            </a:r>
            <a:r>
              <a:rPr lang="ko-KR" altLang="en-US" dirty="0" err="1"/>
              <a:t>테민논쟁</a:t>
            </a:r>
            <a:endParaRPr lang="en-US" altLang="ko-KR" dirty="0"/>
          </a:p>
          <a:p>
            <a:r>
              <a:rPr lang="ko-KR" altLang="en-US" dirty="0"/>
              <a:t>현재의 시사점</a:t>
            </a:r>
          </a:p>
        </p:txBody>
      </p:sp>
    </p:spTree>
    <p:extLst>
      <p:ext uri="{BB962C8B-B14F-4D97-AF65-F5344CB8AC3E}">
        <p14:creationId xmlns:p14="http://schemas.microsoft.com/office/powerpoint/2010/main" val="176072323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27472</TotalTime>
  <Words>4472</Words>
  <Application>Microsoft Office PowerPoint</Application>
  <PresentationFormat>A4 용지(210x297mm)</PresentationFormat>
  <Paragraphs>446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맑은 고딕</vt:lpstr>
      <vt:lpstr>Arial</vt:lpstr>
      <vt:lpstr>Wingdings</vt:lpstr>
      <vt:lpstr>디자인 사용자 지정</vt:lpstr>
      <vt:lpstr>PowerPoint 프레젠테이션</vt:lpstr>
      <vt:lpstr>글로벌경제론 개요</vt:lpstr>
      <vt:lpstr>근대국민국가 성립</vt:lpstr>
      <vt:lpstr>근대국민국가 성립</vt:lpstr>
      <vt:lpstr>1차 세계화</vt:lpstr>
      <vt:lpstr>1차 세계화</vt:lpstr>
      <vt:lpstr>1차 세계화</vt:lpstr>
      <vt:lpstr>1차 세계화</vt:lpstr>
      <vt:lpstr>전간기: 세계화의 후퇴</vt:lpstr>
      <vt:lpstr>PowerPoint 프레젠테이션</vt:lpstr>
      <vt:lpstr>전간기: 1920년대</vt:lpstr>
      <vt:lpstr>미 중앙은행의 역사 </vt:lpstr>
      <vt:lpstr>새계 대공황의 경과 원인 회복과정</vt:lpstr>
      <vt:lpstr>PowerPoint 프레젠테이션</vt:lpstr>
      <vt:lpstr>PowerPoint 프레젠테이션</vt:lpstr>
      <vt:lpstr>1차세계화의 정의, 운영방식, 전개과정</vt:lpstr>
      <vt:lpstr>1차세계화의 몰락과 금본위제의 몰락</vt:lpstr>
      <vt:lpstr>테민논쟁을 포함한 대공황의 원인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554</cp:revision>
  <cp:lastPrinted>2024-10-01T13:36:29Z</cp:lastPrinted>
  <dcterms:created xsi:type="dcterms:W3CDTF">2021-05-24T07:27:04Z</dcterms:created>
  <dcterms:modified xsi:type="dcterms:W3CDTF">2024-10-25T04:28:14Z</dcterms:modified>
</cp:coreProperties>
</file>