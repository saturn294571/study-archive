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693400" cy="7556500"/>
  <p:notesSz cx="10693400" cy="7556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4" autoAdjust="0"/>
  </p:normalViewPr>
  <p:slideViewPr>
    <p:cSldViewPr>
      <p:cViewPr varScale="1">
        <p:scale>
          <a:sx n="99" d="100"/>
          <a:sy n="99" d="100"/>
        </p:scale>
        <p:origin x="51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712EB-A70E-458F-A0F1-1DA99A386498}" type="datetimeFigureOut">
              <a:rPr lang="ko-KR" altLang="en-US" smtClean="0"/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5EA5B-A528-4E15-9C34-25D67CF22E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0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12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00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1870 </a:t>
            </a:r>
            <a:r>
              <a:rPr lang="ko-KR" altLang="en-US" dirty="0" err="1"/>
              <a:t>대불황</a:t>
            </a:r>
            <a:r>
              <a:rPr lang="ko-KR" altLang="en-US" dirty="0"/>
              <a:t> 주원인</a:t>
            </a:r>
            <a:r>
              <a:rPr lang="en-US" altLang="ko-KR" dirty="0"/>
              <a:t>? </a:t>
            </a:r>
            <a:r>
              <a:rPr lang="ko-KR" altLang="en-US" dirty="0"/>
              <a:t>수요의 확대 </a:t>
            </a:r>
            <a:r>
              <a:rPr lang="en-US" altLang="ko-KR" dirty="0"/>
              <a:t>&lt; </a:t>
            </a:r>
            <a:r>
              <a:rPr lang="ko-KR" altLang="en-US" dirty="0"/>
              <a:t>공급의 확대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24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618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전쟁의 양상 </a:t>
            </a:r>
            <a:r>
              <a:rPr lang="en-US" altLang="ko-KR" dirty="0"/>
              <a:t>: </a:t>
            </a:r>
            <a:r>
              <a:rPr lang="ko-KR" altLang="en-US" dirty="0"/>
              <a:t>산업화의 발달로 사상자 증가 </a:t>
            </a:r>
            <a:r>
              <a:rPr lang="en-US" altLang="ko-KR" dirty="0"/>
              <a:t>-&gt; </a:t>
            </a:r>
            <a:r>
              <a:rPr lang="ko-KR" altLang="en-US" dirty="0"/>
              <a:t>기술과 생산력이 집약적이어야 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295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대전의 여파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5EA5B-A528-4E15-9C34-25D67CF22ED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23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4973" y="1620905"/>
            <a:ext cx="5289550" cy="93345"/>
          </a:xfrm>
          <a:custGeom>
            <a:avLst/>
            <a:gdLst/>
            <a:ahLst/>
            <a:cxnLst/>
            <a:rect l="l" t="t" r="r" b="b"/>
            <a:pathLst>
              <a:path w="5289550" h="93344">
                <a:moveTo>
                  <a:pt x="5289177" y="0"/>
                </a:moveTo>
                <a:lnTo>
                  <a:pt x="0" y="0"/>
                </a:lnTo>
                <a:lnTo>
                  <a:pt x="0" y="93310"/>
                </a:lnTo>
                <a:lnTo>
                  <a:pt x="5289177" y="93310"/>
                </a:lnTo>
                <a:lnTo>
                  <a:pt x="528917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4973" y="1620906"/>
            <a:ext cx="9041765" cy="0"/>
          </a:xfrm>
          <a:custGeom>
            <a:avLst/>
            <a:gdLst/>
            <a:ahLst/>
            <a:cxnLst/>
            <a:rect l="l" t="t" r="r" b="b"/>
            <a:pathLst>
              <a:path w="9041765">
                <a:moveTo>
                  <a:pt x="0" y="0"/>
                </a:moveTo>
                <a:lnTo>
                  <a:pt x="9041328" y="0"/>
                </a:lnTo>
              </a:path>
            </a:pathLst>
          </a:custGeom>
          <a:ln w="8113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4973" y="6238521"/>
            <a:ext cx="9003665" cy="0"/>
          </a:xfrm>
          <a:custGeom>
            <a:avLst/>
            <a:gdLst/>
            <a:ahLst/>
            <a:cxnLst/>
            <a:rect l="l" t="t" r="r" b="b"/>
            <a:pathLst>
              <a:path w="9003665">
                <a:moveTo>
                  <a:pt x="0" y="0"/>
                </a:moveTo>
                <a:lnTo>
                  <a:pt x="9003452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41434" y="6394094"/>
            <a:ext cx="910183" cy="2301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508" y="1172532"/>
            <a:ext cx="8952382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1830" y="1820222"/>
            <a:ext cx="8829738" cy="368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0509" y="6347752"/>
            <a:ext cx="93471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xqbpcurTd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4973" y="3962575"/>
            <a:ext cx="8830310" cy="97790"/>
            <a:chOff x="844973" y="3962575"/>
            <a:chExt cx="8830310" cy="97790"/>
          </a:xfrm>
        </p:grpSpPr>
        <p:sp>
          <p:nvSpPr>
            <p:cNvPr id="3" name="object 3"/>
            <p:cNvSpPr/>
            <p:nvPr/>
          </p:nvSpPr>
          <p:spPr>
            <a:xfrm>
              <a:off x="844973" y="3966633"/>
              <a:ext cx="5457190" cy="93345"/>
            </a:xfrm>
            <a:custGeom>
              <a:avLst/>
              <a:gdLst/>
              <a:ahLst/>
              <a:cxnLst/>
              <a:rect l="l" t="t" r="r" b="b"/>
              <a:pathLst>
                <a:path w="5457190" h="93345">
                  <a:moveTo>
                    <a:pt x="5457131" y="0"/>
                  </a:moveTo>
                  <a:lnTo>
                    <a:pt x="0" y="0"/>
                  </a:lnTo>
                  <a:lnTo>
                    <a:pt x="0" y="93310"/>
                  </a:lnTo>
                  <a:lnTo>
                    <a:pt x="5457131" y="93310"/>
                  </a:lnTo>
                  <a:lnTo>
                    <a:pt x="5457131" y="0"/>
                  </a:lnTo>
                  <a:close/>
                </a:path>
              </a:pathLst>
            </a:custGeom>
            <a:solidFill>
              <a:srgbClr val="476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4973" y="3966632"/>
              <a:ext cx="8830310" cy="0"/>
            </a:xfrm>
            <a:custGeom>
              <a:avLst/>
              <a:gdLst/>
              <a:ahLst/>
              <a:cxnLst/>
              <a:rect l="l" t="t" r="r" b="b"/>
              <a:pathLst>
                <a:path w="8830310">
                  <a:moveTo>
                    <a:pt x="0" y="0"/>
                  </a:moveTo>
                  <a:lnTo>
                    <a:pt x="8830309" y="0"/>
                  </a:lnTo>
                </a:path>
              </a:pathLst>
            </a:custGeom>
            <a:ln w="8113">
              <a:solidFill>
                <a:srgbClr val="4764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0187" y="2801720"/>
            <a:ext cx="360235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" dirty="0"/>
              <a:t>전간기</a:t>
            </a:r>
            <a:r>
              <a:rPr sz="2850" b="0" spc="10" dirty="0">
                <a:latin typeface="Calibri Light"/>
                <a:cs typeface="Calibri Light"/>
              </a:rPr>
              <a:t>:</a:t>
            </a:r>
            <a:r>
              <a:rPr sz="2850" b="0" spc="20" dirty="0">
                <a:latin typeface="Calibri Light"/>
                <a:cs typeface="Calibri Light"/>
              </a:rPr>
              <a:t> </a:t>
            </a:r>
            <a:r>
              <a:rPr sz="2900" spc="-5" dirty="0"/>
              <a:t>세계화</a:t>
            </a:r>
            <a:r>
              <a:rPr sz="2900" dirty="0"/>
              <a:t>의</a:t>
            </a:r>
            <a:r>
              <a:rPr sz="2900" spc="-365" dirty="0"/>
              <a:t> </a:t>
            </a:r>
            <a:r>
              <a:rPr sz="2900" spc="-5" dirty="0"/>
              <a:t>후퇴</a:t>
            </a:r>
            <a:endParaRPr sz="2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2551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전간기</a:t>
            </a:r>
            <a:r>
              <a:rPr sz="2925" b="0" spc="15" baseline="1424" dirty="0">
                <a:latin typeface="Calibri Light"/>
                <a:cs typeface="Calibri Light"/>
              </a:rPr>
              <a:t>:</a:t>
            </a:r>
            <a:r>
              <a:rPr sz="2925" b="0" spc="67" baseline="1424" dirty="0">
                <a:latin typeface="Calibri Light"/>
                <a:cs typeface="Calibri Light"/>
              </a:rPr>
              <a:t> </a:t>
            </a:r>
            <a:r>
              <a:rPr sz="2000" spc="45" dirty="0"/>
              <a:t>세계화</a:t>
            </a:r>
            <a:r>
              <a:rPr sz="2000" dirty="0"/>
              <a:t>의</a:t>
            </a:r>
            <a:r>
              <a:rPr sz="2000" spc="-190" dirty="0"/>
              <a:t> </a:t>
            </a:r>
            <a:r>
              <a:rPr sz="2000" spc="45" dirty="0"/>
              <a:t>후퇴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3451860" cy="187896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50850" indent="-438784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AutoNum type="arabicPeriod"/>
              <a:tabLst>
                <a:tab pos="450850" algn="l"/>
                <a:tab pos="451484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직전</a:t>
            </a:r>
            <a:endParaRPr sz="1700">
              <a:latin typeface="Malgun Gothic"/>
              <a:cs typeface="Malgun Gothic"/>
            </a:endParaRPr>
          </a:p>
          <a:p>
            <a:pPr marL="450850" indent="-438784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AutoNum type="arabicPeriod"/>
              <a:tabLst>
                <a:tab pos="450850" algn="l"/>
                <a:tab pos="451484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총력전의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경제학</a:t>
            </a:r>
            <a:endParaRPr sz="1700">
              <a:latin typeface="Malgun Gothic"/>
              <a:cs typeface="Malgun Gothic"/>
            </a:endParaRPr>
          </a:p>
          <a:p>
            <a:pPr marL="450850" indent="-438784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Corbel"/>
              <a:buAutoNum type="arabicPeriod"/>
              <a:tabLst>
                <a:tab pos="450850" algn="l"/>
                <a:tab pos="451484" algn="l"/>
              </a:tabLst>
            </a:pPr>
            <a:r>
              <a:rPr sz="1700" dirty="0">
                <a:latin typeface="Malgun Gothic"/>
                <a:cs typeface="Malgun Gothic"/>
              </a:rPr>
              <a:t>전간기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4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1920</a:t>
            </a:r>
            <a:r>
              <a:rPr sz="1700" dirty="0">
                <a:latin typeface="Malgun Gothic"/>
                <a:cs typeface="Malgun Gothic"/>
              </a:rPr>
              <a:t>년대</a:t>
            </a:r>
            <a:endParaRPr sz="1700">
              <a:latin typeface="Malgun Gothic"/>
              <a:cs typeface="Malgun Gothic"/>
            </a:endParaRPr>
          </a:p>
          <a:p>
            <a:pPr marL="450850" indent="-438784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Corbel"/>
              <a:buAutoNum type="arabicPeriod"/>
              <a:tabLst>
                <a:tab pos="450850" algn="l"/>
                <a:tab pos="451484" algn="l"/>
              </a:tabLst>
            </a:pP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역사</a:t>
            </a:r>
            <a:endParaRPr sz="1700">
              <a:latin typeface="Malgun Gothic"/>
              <a:cs typeface="Malgun Gothic"/>
            </a:endParaRPr>
          </a:p>
          <a:p>
            <a:pPr marL="450850" indent="-438784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Corbel"/>
              <a:buAutoNum type="arabicPeriod"/>
              <a:tabLst>
                <a:tab pos="450850" algn="l"/>
                <a:tab pos="451484" algn="l"/>
              </a:tabLst>
            </a:pPr>
            <a:r>
              <a:rPr sz="1700" dirty="0">
                <a:latin typeface="Malgun Gothic"/>
                <a:cs typeface="Malgun Gothic"/>
              </a:rPr>
              <a:t>전간기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대공황과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뉴딜</a:t>
            </a:r>
            <a:endParaRPr sz="1700">
              <a:latin typeface="Malgun Gothic"/>
              <a:cs typeface="Malgun Gothic"/>
            </a:endParaRPr>
          </a:p>
          <a:p>
            <a:pPr marL="450850" indent="-438784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AutoNum type="arabicPeriod"/>
              <a:tabLst>
                <a:tab pos="450850" algn="l"/>
                <a:tab pos="451484" algn="l"/>
              </a:tabLst>
            </a:pP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242" y="4606661"/>
            <a:ext cx="3895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spc="35" dirty="0">
                <a:latin typeface="Calibri Light"/>
                <a:cs typeface="Calibri Light"/>
              </a:rPr>
              <a:t>1.</a:t>
            </a:r>
            <a:r>
              <a:rPr sz="3300" b="0" spc="30" dirty="0">
                <a:latin typeface="Calibri Light"/>
                <a:cs typeface="Calibri Light"/>
              </a:rPr>
              <a:t> </a:t>
            </a:r>
            <a:r>
              <a:rPr sz="3300" b="0" spc="50" dirty="0">
                <a:latin typeface="Calibri Light"/>
                <a:cs typeface="Calibri Light"/>
              </a:rPr>
              <a:t>1</a:t>
            </a:r>
            <a:r>
              <a:rPr sz="3400" dirty="0"/>
              <a:t>차</a:t>
            </a:r>
            <a:r>
              <a:rPr sz="3400" spc="-409" dirty="0"/>
              <a:t> </a:t>
            </a:r>
            <a:r>
              <a:rPr sz="3400" spc="5" dirty="0"/>
              <a:t>세계대</a:t>
            </a:r>
            <a:r>
              <a:rPr sz="3400" dirty="0"/>
              <a:t>전</a:t>
            </a:r>
            <a:r>
              <a:rPr sz="3400" spc="-409" dirty="0"/>
              <a:t> </a:t>
            </a:r>
            <a:r>
              <a:rPr sz="3400" spc="5" dirty="0"/>
              <a:t>직전</a:t>
            </a:r>
            <a:endParaRPr sz="3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2497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제국주</a:t>
            </a:r>
            <a:r>
              <a:rPr dirty="0"/>
              <a:t>의</a:t>
            </a:r>
            <a:r>
              <a:rPr spc="-190" dirty="0"/>
              <a:t> </a:t>
            </a:r>
            <a:r>
              <a:rPr sz="2925" b="0" spc="22" baseline="1424" dirty="0">
                <a:latin typeface="Calibri Light"/>
                <a:cs typeface="Calibri Light"/>
              </a:rPr>
              <a:t>(</a:t>
            </a:r>
            <a:r>
              <a:rPr sz="2925" b="0" spc="30" baseline="1424" dirty="0">
                <a:latin typeface="Calibri Light"/>
                <a:cs typeface="Calibri Light"/>
              </a:rPr>
              <a:t>I</a:t>
            </a:r>
            <a:r>
              <a:rPr sz="2925" b="0" spc="104" baseline="1424" dirty="0">
                <a:latin typeface="Calibri Light"/>
                <a:cs typeface="Calibri Light"/>
              </a:rPr>
              <a:t>m</a:t>
            </a:r>
            <a:r>
              <a:rPr sz="2925" b="0" spc="75" baseline="1424" dirty="0">
                <a:latin typeface="Calibri Light"/>
                <a:cs typeface="Calibri Light"/>
              </a:rPr>
              <a:t>p</a:t>
            </a:r>
            <a:r>
              <a:rPr sz="2925" b="0" spc="60" baseline="1424" dirty="0">
                <a:latin typeface="Calibri Light"/>
                <a:cs typeface="Calibri Light"/>
              </a:rPr>
              <a:t>e</a:t>
            </a:r>
            <a:r>
              <a:rPr sz="2925" b="0" spc="37" baseline="1424" dirty="0">
                <a:latin typeface="Calibri Light"/>
                <a:cs typeface="Calibri Light"/>
              </a:rPr>
              <a:t>r</a:t>
            </a:r>
            <a:r>
              <a:rPr sz="2925" b="0" spc="22" baseline="1424" dirty="0">
                <a:latin typeface="Calibri Light"/>
                <a:cs typeface="Calibri Light"/>
              </a:rPr>
              <a:t>i</a:t>
            </a:r>
            <a:r>
              <a:rPr sz="2925" b="0" spc="52" baseline="1424" dirty="0">
                <a:latin typeface="Calibri Light"/>
                <a:cs typeface="Calibri Light"/>
              </a:rPr>
              <a:t>a</a:t>
            </a:r>
            <a:r>
              <a:rPr sz="2925" b="0" spc="22" baseline="1424" dirty="0">
                <a:latin typeface="Calibri Light"/>
                <a:cs typeface="Calibri Light"/>
              </a:rPr>
              <a:t>li</a:t>
            </a:r>
            <a:r>
              <a:rPr sz="2925" b="0" spc="44" baseline="1424" dirty="0">
                <a:latin typeface="Calibri Light"/>
                <a:cs typeface="Calibri Light"/>
              </a:rPr>
              <a:t>s</a:t>
            </a:r>
            <a:r>
              <a:rPr sz="2925" b="0" spc="104" baseline="1424" dirty="0">
                <a:latin typeface="Calibri Light"/>
                <a:cs typeface="Calibri Light"/>
              </a:rPr>
              <a:t>m</a:t>
            </a:r>
            <a:r>
              <a:rPr sz="2925" b="0" spc="15" baseline="1424" dirty="0">
                <a:latin typeface="Calibri Light"/>
                <a:cs typeface="Calibri Light"/>
              </a:rPr>
              <a:t>)</a:t>
            </a:r>
            <a:endParaRPr sz="2925" baseline="1424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823270"/>
            <a:ext cx="8939530" cy="378648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20675" marR="5080" indent="-308610">
              <a:lnSpc>
                <a:spcPct val="100600"/>
              </a:lnSpc>
              <a:spcBef>
                <a:spcPts val="8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1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87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0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년대부터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서구의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선진자본주의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국가들이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활동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범위를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자국으로만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국한하지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않고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아  프리카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아시아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등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후진지역으로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진출하여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경쟁적으로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식민지를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획득해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나간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역사적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과정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이  내주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10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2005)</a:t>
            </a:r>
          </a:p>
          <a:p>
            <a:pPr marL="619760" marR="86360" lvl="1" indent="-299720">
              <a:lnSpc>
                <a:spcPts val="1989"/>
              </a:lnSpc>
              <a:spcBef>
                <a:spcPts val="47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서구열강이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축적한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자본을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유리하게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투자할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해외시장과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상품의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원료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공급지를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향하  여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진출</a:t>
            </a:r>
          </a:p>
          <a:p>
            <a:pPr marL="619760" lvl="1" indent="-299720">
              <a:lnSpc>
                <a:spcPts val="2030"/>
              </a:lnSpc>
              <a:spcBef>
                <a:spcPts val="40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서구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열강들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강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이해관계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대립으로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경쟁과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갈등</a:t>
            </a:r>
            <a:r>
              <a:rPr sz="1700" dirty="0">
                <a:highlight>
                  <a:srgbClr val="FFFF00"/>
                </a:highlight>
                <a:latin typeface="Wingdings"/>
                <a:cs typeface="Wingdings"/>
              </a:rPr>
              <a:t></a:t>
            </a:r>
            <a:r>
              <a:rPr sz="1700" spc="-8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협상과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동맹을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맺어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두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진영으로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대립</a:t>
            </a:r>
          </a:p>
          <a:p>
            <a:pPr marL="619760">
              <a:lnSpc>
                <a:spcPts val="2030"/>
              </a:lnSpc>
            </a:pPr>
            <a:r>
              <a:rPr sz="1700" dirty="0">
                <a:highlight>
                  <a:srgbClr val="FFFF00"/>
                </a:highlight>
                <a:latin typeface="Wingdings"/>
                <a:cs typeface="Wingdings"/>
              </a:rPr>
              <a:t></a:t>
            </a:r>
            <a:r>
              <a:rPr sz="170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700" spc="-165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1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차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세계대전</a:t>
            </a:r>
          </a:p>
          <a:p>
            <a:pPr marL="320675" marR="93980" indent="-308610">
              <a:lnSpc>
                <a:spcPts val="1989"/>
              </a:lnSpc>
              <a:spcBef>
                <a:spcPts val="56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제국주의적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행위는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역사를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 err="1">
                <a:latin typeface="Malgun Gothic"/>
                <a:cs typeface="Malgun Gothic"/>
              </a:rPr>
              <a:t>가진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 err="1">
                <a:latin typeface="Malgun Gothic"/>
                <a:cs typeface="Malgun Gothic"/>
              </a:rPr>
              <a:t>현상이</a:t>
            </a:r>
            <a:r>
              <a:rPr lang="ko-KR" altLang="en-US" sz="1700" dirty="0" err="1">
                <a:latin typeface="Malgun Gothic"/>
                <a:cs typeface="Malgun Gothic"/>
              </a:rPr>
              <a:t>었</a:t>
            </a:r>
            <a:r>
              <a:rPr sz="1700" dirty="0" err="1">
                <a:latin typeface="Malgun Gothic"/>
                <a:cs typeface="Malgun Gothic"/>
              </a:rPr>
              <a:t>으나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제국주의라고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때는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“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dirty="0">
                <a:latin typeface="Malgun Gothic"/>
                <a:cs typeface="Malgun Gothic"/>
              </a:rPr>
              <a:t>세기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말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  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서구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열강들에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해외식민지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병합과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지배</a:t>
            </a:r>
            <a:r>
              <a:rPr sz="1700" spc="-5" dirty="0">
                <a:latin typeface="Corbel"/>
                <a:cs typeface="Corbel"/>
              </a:rPr>
              <a:t>”</a:t>
            </a:r>
            <a:r>
              <a:rPr sz="1700" dirty="0">
                <a:latin typeface="Malgun Gothic"/>
                <a:cs typeface="Malgun Gothic"/>
              </a:rPr>
              <a:t>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의미</a:t>
            </a:r>
          </a:p>
          <a:p>
            <a:pPr marL="320675" indent="-308610">
              <a:lnSpc>
                <a:spcPct val="100000"/>
              </a:lnSpc>
              <a:spcBef>
                <a:spcPts val="3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dirty="0">
                <a:latin typeface="Malgun Gothic"/>
                <a:cs typeface="Malgun Gothic"/>
              </a:rPr>
              <a:t>세기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말</a:t>
            </a:r>
            <a:r>
              <a:rPr sz="1700" dirty="0">
                <a:latin typeface="Corbel"/>
                <a:cs typeface="Corbel"/>
              </a:rPr>
              <a:t>?</a:t>
            </a:r>
          </a:p>
          <a:p>
            <a:pPr marL="619760" lvl="1" indent="-29972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경제적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측면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자본주의적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팽창</a:t>
            </a:r>
          </a:p>
          <a:p>
            <a:pPr marL="619760" lvl="1" indent="-29972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정치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외교적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측면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87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심화된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열강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마찰과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경쟁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민족주의</a:t>
            </a:r>
          </a:p>
          <a:p>
            <a:pPr marL="619760" lvl="1" indent="-29972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외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과잉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해소책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 err="1">
                <a:latin typeface="Malgun Gothic"/>
                <a:cs typeface="Malgun Gothic"/>
              </a:rPr>
              <a:t>기독교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 err="1">
                <a:latin typeface="Malgun Gothic"/>
                <a:cs typeface="Malgun Gothic"/>
              </a:rPr>
              <a:t>전파</a:t>
            </a:r>
            <a:r>
              <a:rPr lang="ko-KR" altLang="en-US" sz="1700" dirty="0">
                <a:latin typeface="Malgun Gothic"/>
                <a:cs typeface="Malgun Gothic"/>
              </a:rPr>
              <a:t> </a:t>
            </a:r>
            <a:endParaRPr sz="17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063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19</a:t>
            </a:r>
            <a:r>
              <a:rPr sz="2000" spc="45" dirty="0"/>
              <a:t>세</a:t>
            </a:r>
            <a:r>
              <a:rPr sz="2000" dirty="0"/>
              <a:t>기</a:t>
            </a:r>
            <a:r>
              <a:rPr sz="2000" spc="-190" dirty="0"/>
              <a:t> </a:t>
            </a:r>
            <a:r>
              <a:rPr sz="2000" dirty="0"/>
              <a:t>말</a:t>
            </a:r>
            <a:r>
              <a:rPr sz="2000" spc="-190" dirty="0"/>
              <a:t> </a:t>
            </a:r>
            <a:r>
              <a:rPr sz="2000" spc="45" dirty="0"/>
              <a:t>영국</a:t>
            </a:r>
            <a:r>
              <a:rPr sz="2000" dirty="0"/>
              <a:t>의</a:t>
            </a:r>
            <a:r>
              <a:rPr sz="2000" spc="-190" dirty="0"/>
              <a:t> </a:t>
            </a:r>
            <a:r>
              <a:rPr sz="2000" spc="45" dirty="0"/>
              <a:t>해외팽창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8904605" cy="29936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일찍부터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특허회사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등으로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식민지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진출</a:t>
            </a:r>
          </a:p>
          <a:p>
            <a:pPr marL="320675" marR="5080" indent="-308610">
              <a:lnSpc>
                <a:spcPct val="10240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표면의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¼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영토와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세계인구의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¼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지배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영연방으로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탈바  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시작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현재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영제국은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사라지고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영연방만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남았음</a:t>
            </a:r>
          </a:p>
          <a:p>
            <a:pPr marL="320675" indent="-308610">
              <a:lnSpc>
                <a:spcPct val="100000"/>
              </a:lnSpc>
              <a:spcBef>
                <a:spcPts val="38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dirty="0">
                <a:latin typeface="Malgun Gothic"/>
                <a:cs typeface="Malgun Gothic"/>
              </a:rPr>
              <a:t>세기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세기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식민지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방식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간접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지배에서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직접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지배로</a:t>
            </a:r>
          </a:p>
          <a:p>
            <a:pPr marL="320675" indent="-30861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최소한의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경비주의와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자유무역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추구</a:t>
            </a: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자유무역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제국주의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Wingdings"/>
                <a:cs typeface="Wingdings"/>
              </a:rPr>
              <a:t></a:t>
            </a:r>
            <a:r>
              <a:rPr sz="1700" spc="-8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건설적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제국주의</a:t>
            </a:r>
          </a:p>
          <a:p>
            <a:pPr marL="619760" marR="16510" lvl="1" indent="-299720">
              <a:lnSpc>
                <a:spcPct val="10240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1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87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0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이전에는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영국이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국제경제에서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진정한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우위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점유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간접지배를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전제로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자유무역  제국주의</a:t>
            </a:r>
            <a:r>
              <a:rPr sz="1700" spc="-26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가능</a:t>
            </a:r>
          </a:p>
          <a:p>
            <a:pPr marL="619760" marR="59690" lvl="1" indent="-299720">
              <a:lnSpc>
                <a:spcPts val="1989"/>
              </a:lnSpc>
              <a:spcBef>
                <a:spcPts val="47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1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87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0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이후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미국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독일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신흥공업국가와의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경쟁에서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뒤쳐지면서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제국주의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진출에서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좀더  노골적인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정부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개입을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요구하는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직접지배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방식으로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063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19</a:t>
            </a:r>
            <a:r>
              <a:rPr sz="2000" spc="45" dirty="0"/>
              <a:t>세</a:t>
            </a:r>
            <a:r>
              <a:rPr sz="2000" dirty="0"/>
              <a:t>기</a:t>
            </a:r>
            <a:r>
              <a:rPr sz="2000" spc="-190" dirty="0"/>
              <a:t> </a:t>
            </a:r>
            <a:r>
              <a:rPr sz="2000" dirty="0"/>
              <a:t>말</a:t>
            </a:r>
            <a:r>
              <a:rPr sz="2000" spc="-190" dirty="0"/>
              <a:t> </a:t>
            </a:r>
            <a:r>
              <a:rPr sz="2000" spc="45" dirty="0"/>
              <a:t>미국</a:t>
            </a:r>
            <a:r>
              <a:rPr sz="2000" dirty="0"/>
              <a:t>의</a:t>
            </a:r>
            <a:r>
              <a:rPr sz="2000" spc="-190" dirty="0"/>
              <a:t> </a:t>
            </a:r>
            <a:r>
              <a:rPr sz="2000" spc="45" dirty="0"/>
              <a:t>해외팽창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0230"/>
            <a:ext cx="8868410" cy="37426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51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spc="5" dirty="0">
                <a:latin typeface="Corbel"/>
                <a:cs typeface="Corbel"/>
              </a:rPr>
              <a:t>23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M</a:t>
            </a:r>
            <a:r>
              <a:rPr sz="1700" dirty="0">
                <a:latin typeface="Corbel"/>
                <a:cs typeface="Corbel"/>
              </a:rPr>
              <a:t>o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spc="5" dirty="0">
                <a:latin typeface="Corbel"/>
                <a:cs typeface="Corbel"/>
              </a:rPr>
              <a:t>r</a:t>
            </a:r>
            <a:r>
              <a:rPr sz="1700" spc="-5" dirty="0">
                <a:latin typeface="Corbel"/>
                <a:cs typeface="Corbel"/>
              </a:rPr>
              <a:t>o</a:t>
            </a:r>
            <a:r>
              <a:rPr sz="1700" dirty="0">
                <a:latin typeface="Corbel"/>
                <a:cs typeface="Corbel"/>
              </a:rPr>
              <a:t>e</a:t>
            </a:r>
            <a:r>
              <a:rPr sz="1700" spc="5" dirty="0">
                <a:latin typeface="Corbel"/>
                <a:cs typeface="Corbel"/>
              </a:rPr>
              <a:t> d</a:t>
            </a:r>
            <a:r>
              <a:rPr sz="1700" spc="-5" dirty="0">
                <a:latin typeface="Corbel"/>
                <a:cs typeface="Corbel"/>
              </a:rPr>
              <a:t>o</a:t>
            </a:r>
            <a:r>
              <a:rPr sz="1700" dirty="0">
                <a:latin typeface="Corbel"/>
                <a:cs typeface="Corbel"/>
              </a:rPr>
              <a:t>c</a:t>
            </a:r>
            <a:r>
              <a:rPr sz="1700" spc="5" dirty="0">
                <a:latin typeface="Corbel"/>
                <a:cs typeface="Corbel"/>
              </a:rPr>
              <a:t>tr</a:t>
            </a:r>
            <a:r>
              <a:rPr sz="1700" spc="-5" dirty="0">
                <a:latin typeface="Corbel"/>
                <a:cs typeface="Corbel"/>
              </a:rPr>
              <a:t>in</a:t>
            </a:r>
            <a:r>
              <a:rPr sz="1700" dirty="0">
                <a:latin typeface="Corbel"/>
                <a:cs typeface="Corbel"/>
              </a:rPr>
              <a:t>e</a:t>
            </a:r>
          </a:p>
          <a:p>
            <a:pPr marL="619760" marR="5080" lvl="1" indent="-299720">
              <a:lnSpc>
                <a:spcPct val="102699"/>
              </a:lnSpc>
              <a:spcBef>
                <a:spcPts val="32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500" spc="20" dirty="0">
                <a:latin typeface="Malgun Gothic"/>
                <a:cs typeface="Malgun Gothic"/>
              </a:rPr>
              <a:t>미국의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고립주의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20" dirty="0">
                <a:latin typeface="Malgun Gothic"/>
                <a:cs typeface="Malgun Gothic"/>
              </a:rPr>
              <a:t>외교선언</a:t>
            </a:r>
            <a:r>
              <a:rPr sz="1500" spc="20" dirty="0">
                <a:latin typeface="Corbel"/>
                <a:cs typeface="Corbel"/>
              </a:rPr>
              <a:t>.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20" dirty="0">
                <a:latin typeface="Malgun Gothic"/>
                <a:cs typeface="Malgun Gothic"/>
              </a:rPr>
              <a:t>유럽국가가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아메리카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대륙의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국가들을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식민지화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하려거나</a:t>
            </a:r>
            <a:r>
              <a:rPr sz="1500" spc="-18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20" dirty="0">
                <a:highlight>
                  <a:srgbClr val="FFFF00"/>
                </a:highlight>
                <a:latin typeface="Malgun Gothic"/>
                <a:cs typeface="Malgun Gothic"/>
              </a:rPr>
              <a:t>전쟁을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일으 </a:t>
            </a:r>
            <a:r>
              <a:rPr sz="1500" spc="-51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키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면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이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를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미국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에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대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한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전쟁</a:t>
            </a:r>
            <a:r>
              <a:rPr sz="1500" spc="30" dirty="0">
                <a:latin typeface="Malgun Gothic"/>
                <a:cs typeface="Malgun Gothic"/>
              </a:rPr>
              <a:t>으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받아들이</a:t>
            </a:r>
            <a:r>
              <a:rPr sz="1500" dirty="0">
                <a:latin typeface="Malgun Gothic"/>
                <a:cs typeface="Malgun Gothic"/>
              </a:rPr>
              <a:t>고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대응하고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미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국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역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시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유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럽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일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에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관여하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지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않겠다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는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내  용</a:t>
            </a:r>
          </a:p>
          <a:p>
            <a:pPr marL="619760" lvl="1" indent="-299720">
              <a:lnSpc>
                <a:spcPct val="100000"/>
              </a:lnSpc>
              <a:spcBef>
                <a:spcPts val="38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500" spc="15" dirty="0">
                <a:latin typeface="Corbel"/>
                <a:cs typeface="Corbel"/>
              </a:rPr>
              <a:t>18</a:t>
            </a:r>
            <a:r>
              <a:rPr sz="1500" spc="20" dirty="0">
                <a:latin typeface="Corbel"/>
                <a:cs typeface="Corbel"/>
              </a:rPr>
              <a:t>9</a:t>
            </a:r>
            <a:r>
              <a:rPr sz="1500" spc="15" dirty="0">
                <a:latin typeface="Corbel"/>
                <a:cs typeface="Corbel"/>
              </a:rPr>
              <a:t>8</a:t>
            </a:r>
            <a:r>
              <a:rPr sz="1500" dirty="0">
                <a:latin typeface="Malgun Gothic"/>
                <a:cs typeface="Malgun Gothic"/>
              </a:rPr>
              <a:t>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스페인</a:t>
            </a:r>
            <a:r>
              <a:rPr sz="1500" dirty="0">
                <a:latin typeface="Malgun Gothic"/>
                <a:cs typeface="Malgun Gothic"/>
              </a:rPr>
              <a:t>에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대항</a:t>
            </a:r>
            <a:r>
              <a:rPr sz="1500" dirty="0">
                <a:latin typeface="Malgun Gothic"/>
                <a:cs typeface="Malgun Gothic"/>
              </a:rPr>
              <a:t>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일어</a:t>
            </a:r>
            <a:r>
              <a:rPr sz="1500" dirty="0">
                <a:latin typeface="Malgun Gothic"/>
                <a:cs typeface="Malgun Gothic"/>
              </a:rPr>
              <a:t>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쿠</a:t>
            </a:r>
            <a:r>
              <a:rPr sz="1500" dirty="0">
                <a:latin typeface="Malgun Gothic"/>
                <a:cs typeface="Malgun Gothic"/>
              </a:rPr>
              <a:t>바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독립전쟁</a:t>
            </a:r>
            <a:r>
              <a:rPr sz="1500" dirty="0">
                <a:latin typeface="Malgun Gothic"/>
                <a:cs typeface="Malgun Gothic"/>
              </a:rPr>
              <a:t>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지</a:t>
            </a:r>
            <a:r>
              <a:rPr sz="1500" dirty="0">
                <a:latin typeface="Malgun Gothic"/>
                <a:cs typeface="Malgun Gothic"/>
              </a:rPr>
              <a:t>원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Wingdings"/>
                <a:cs typeface="Wingdings"/>
              </a:rPr>
              <a:t>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괌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프에르토리코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필리</a:t>
            </a:r>
            <a:r>
              <a:rPr sz="1500" dirty="0">
                <a:latin typeface="Malgun Gothic"/>
                <a:cs typeface="Malgun Gothic"/>
              </a:rPr>
              <a:t>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획득</a:t>
            </a:r>
            <a:endParaRPr sz="1500" dirty="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2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dirty="0">
                <a:latin typeface="Malgun Gothic"/>
                <a:cs typeface="Malgun Gothic"/>
              </a:rPr>
              <a:t>세기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팽창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동기</a:t>
            </a:r>
          </a:p>
          <a:p>
            <a:pPr marL="619760" lvl="1" indent="-299720">
              <a:lnSpc>
                <a:spcPct val="100000"/>
              </a:lnSpc>
              <a:spcBef>
                <a:spcPts val="34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북아메리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카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안에서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의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확장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이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끝남</a:t>
            </a:r>
            <a:r>
              <a:rPr sz="1500" dirty="0">
                <a:highlight>
                  <a:srgbClr val="FFFF00"/>
                </a:highlight>
                <a:latin typeface="Corbel"/>
                <a:cs typeface="Corbel"/>
              </a:rPr>
              <a:t>.</a:t>
            </a:r>
            <a:r>
              <a:rPr sz="1500" spc="15" dirty="0">
                <a:highlight>
                  <a:srgbClr val="FFFF00"/>
                </a:highlight>
                <a:latin typeface="Corbel"/>
                <a:cs typeface="Corbel"/>
              </a:rPr>
              <a:t> “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프론티어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의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종결</a:t>
            </a:r>
            <a:r>
              <a:rPr sz="1500" dirty="0">
                <a:highlight>
                  <a:srgbClr val="FFFF00"/>
                </a:highlight>
                <a:latin typeface="Corbel"/>
                <a:cs typeface="Corbel"/>
              </a:rPr>
              <a:t>”</a:t>
            </a:r>
          </a:p>
          <a:p>
            <a:pPr marL="619760" lvl="1" indent="-299720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500" spc="30" dirty="0">
                <a:latin typeface="Malgun Gothic"/>
                <a:cs typeface="Malgun Gothic"/>
              </a:rPr>
              <a:t>유럽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해</a:t>
            </a:r>
            <a:r>
              <a:rPr sz="1500" dirty="0">
                <a:latin typeface="Malgun Gothic"/>
                <a:cs typeface="Malgun Gothic"/>
              </a:rPr>
              <a:t>외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팽창</a:t>
            </a:r>
            <a:endParaRPr sz="1500" dirty="0">
              <a:latin typeface="Malgun Gothic"/>
              <a:cs typeface="Malgun Gothic"/>
            </a:endParaRPr>
          </a:p>
          <a:p>
            <a:pPr marL="320675">
              <a:lnSpc>
                <a:spcPct val="100000"/>
              </a:lnSpc>
              <a:spcBef>
                <a:spcPts val="385"/>
              </a:spcBef>
            </a:pPr>
            <a:r>
              <a:rPr sz="1500" dirty="0">
                <a:solidFill>
                  <a:srgbClr val="4764B0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4764B0"/>
                </a:solidFill>
                <a:latin typeface="Times New Roman"/>
                <a:cs typeface="Times New Roman"/>
              </a:rPr>
              <a:t> </a:t>
            </a:r>
            <a:r>
              <a:rPr sz="1500" spc="135" dirty="0">
                <a:solidFill>
                  <a:srgbClr val="4764B0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미국</a:t>
            </a:r>
            <a:r>
              <a:rPr sz="1500" dirty="0">
                <a:latin typeface="Malgun Gothic"/>
                <a:cs typeface="Malgun Gothic"/>
              </a:rPr>
              <a:t>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공격적</a:t>
            </a:r>
            <a:r>
              <a:rPr sz="1500" dirty="0">
                <a:latin typeface="Malgun Gothic"/>
                <a:cs typeface="Malgun Gothic"/>
              </a:rPr>
              <a:t>인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대</a:t>
            </a:r>
            <a:r>
              <a:rPr sz="1500" dirty="0">
                <a:latin typeface="Malgun Gothic"/>
                <a:cs typeface="Malgun Gothic"/>
              </a:rPr>
              <a:t>외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정책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팽창</a:t>
            </a:r>
            <a:r>
              <a:rPr sz="1500" dirty="0">
                <a:latin typeface="Malgun Gothic"/>
                <a:cs typeface="Malgun Gothic"/>
              </a:rPr>
              <a:t>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해야한다</a:t>
            </a:r>
            <a:r>
              <a:rPr sz="1500" dirty="0">
                <a:latin typeface="Malgun Gothic"/>
                <a:cs typeface="Malgun Gothic"/>
              </a:rPr>
              <a:t>는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요구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동</a:t>
            </a:r>
            <a:r>
              <a:rPr sz="1500" dirty="0">
                <a:latin typeface="Malgun Gothic"/>
                <a:cs typeface="Malgun Gothic"/>
              </a:rPr>
              <a:t>기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제공</a:t>
            </a:r>
            <a:endParaRPr sz="1500" dirty="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필리핀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독립전쟁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99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1902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미국식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본인들은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아니라고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이야기하는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제국주의의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실패</a:t>
            </a:r>
          </a:p>
          <a:p>
            <a:pPr marL="320675" indent="-30861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190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루스벨트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팽창주의자</a:t>
            </a:r>
            <a:r>
              <a:rPr sz="1700" dirty="0">
                <a:latin typeface="Corbel"/>
                <a:cs typeface="Corbel"/>
              </a:rPr>
              <a:t>)</a:t>
            </a:r>
            <a:r>
              <a:rPr sz="1700" dirty="0">
                <a:latin typeface="Malgun Gothic"/>
                <a:cs typeface="Malgun Gothic"/>
              </a:rPr>
              <a:t>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발전된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형태의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먼로주의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선언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팽창주의자가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아닌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latin typeface="Malgun Gothic"/>
                <a:cs typeface="Malgun Gothic"/>
              </a:rPr>
              <a:t>윌슨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역시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중남미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국가들에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영향력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행사에는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적극적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중남미에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집중</a:t>
            </a:r>
            <a:r>
              <a:rPr sz="1700" dirty="0">
                <a:latin typeface="Corbel"/>
                <a:cs typeface="Corbel"/>
              </a:rPr>
              <a:t>? </a:t>
            </a:r>
            <a:r>
              <a:rPr sz="1700" dirty="0">
                <a:latin typeface="Malgun Gothic"/>
                <a:cs typeface="Malgun Gothic"/>
              </a:rPr>
              <a:t>유럽열강과는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달랐을까</a:t>
            </a:r>
            <a:r>
              <a:rPr sz="1700" dirty="0">
                <a:latin typeface="Corbel"/>
                <a:cs typeface="Corbel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C8F72-1775-6D26-E898-476653340099}"/>
              </a:ext>
            </a:extLst>
          </p:cNvPr>
          <p:cNvSpPr txBox="1"/>
          <p:nvPr/>
        </p:nvSpPr>
        <p:spPr>
          <a:xfrm>
            <a:off x="3934383" y="1132990"/>
            <a:ext cx="3095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왜 먼로주의</a:t>
            </a:r>
            <a:r>
              <a:rPr lang="en-US" altLang="ko-KR" sz="1200" dirty="0"/>
              <a:t>? </a:t>
            </a:r>
            <a:r>
              <a:rPr lang="ko-KR" altLang="en-US" sz="1200" dirty="0"/>
              <a:t>미국이 아직 </a:t>
            </a:r>
            <a:r>
              <a:rPr lang="ko-KR" altLang="en-US" sz="1200" dirty="0" err="1"/>
              <a:t>신생국</a:t>
            </a:r>
            <a:r>
              <a:rPr lang="en-US" altLang="ko-KR" sz="1200" dirty="0"/>
              <a:t>/</a:t>
            </a:r>
          </a:p>
          <a:p>
            <a:r>
              <a:rPr lang="ko-KR" altLang="en-US" sz="1200" dirty="0"/>
              <a:t>미국 내에서도 서부개척이 이루어지지 않음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843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19</a:t>
            </a:r>
            <a:r>
              <a:rPr sz="2000" spc="45" dirty="0"/>
              <a:t>세</a:t>
            </a:r>
            <a:r>
              <a:rPr sz="2000" dirty="0"/>
              <a:t>기</a:t>
            </a:r>
            <a:r>
              <a:rPr sz="2000" spc="-190" dirty="0"/>
              <a:t> </a:t>
            </a:r>
            <a:r>
              <a:rPr sz="2000" dirty="0"/>
              <a:t>말</a:t>
            </a:r>
            <a:r>
              <a:rPr sz="2000" spc="-190" dirty="0"/>
              <a:t> </a:t>
            </a:r>
            <a:r>
              <a:rPr sz="2000" spc="45" dirty="0"/>
              <a:t>유럽국가들</a:t>
            </a:r>
            <a:r>
              <a:rPr sz="2000" dirty="0"/>
              <a:t>의</a:t>
            </a:r>
            <a:r>
              <a:rPr sz="2000" spc="-190" dirty="0"/>
              <a:t> </a:t>
            </a:r>
            <a:r>
              <a:rPr sz="2000" spc="45" dirty="0"/>
              <a:t>해외팽창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823270"/>
            <a:ext cx="53441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참조</a:t>
            </a:r>
            <a:r>
              <a:rPr sz="1700" dirty="0">
                <a:latin typeface="Corbel"/>
                <a:cs typeface="Corbel"/>
                <a:hlinkClick r:id="rId3"/>
              </a:rPr>
              <a:t>:</a:t>
            </a:r>
            <a:r>
              <a:rPr sz="1700" spc="-55" dirty="0">
                <a:solidFill>
                  <a:srgbClr val="7C0808"/>
                </a:solidFill>
                <a:latin typeface="Corbel"/>
                <a:cs typeface="Corbel"/>
                <a:hlinkClick r:id="rId3"/>
              </a:rPr>
              <a:t> </a:t>
            </a:r>
            <a:r>
              <a:rPr sz="1700" u="sng" dirty="0">
                <a:solidFill>
                  <a:srgbClr val="7C0808"/>
                </a:solidFill>
                <a:uFill>
                  <a:solidFill>
                    <a:srgbClr val="7C0808"/>
                  </a:solidFill>
                </a:uFill>
                <a:latin typeface="Corbel"/>
                <a:cs typeface="Corbel"/>
                <a:hlinkClick r:id="rId3"/>
              </a:rPr>
              <a:t>https://www.youtube.com/watch?v=vxqbpcurTd</a:t>
            </a:r>
            <a:r>
              <a:rPr sz="1700" u="sng" dirty="0">
                <a:solidFill>
                  <a:srgbClr val="7C0808"/>
                </a:solidFill>
                <a:uFill>
                  <a:solidFill>
                    <a:srgbClr val="7C0808"/>
                  </a:solidFill>
                </a:uFill>
                <a:latin typeface="Corbel"/>
                <a:cs typeface="Corbel"/>
              </a:rPr>
              <a:t>w</a:t>
            </a:r>
            <a:endParaRPr sz="17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1908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1870</a:t>
            </a:r>
            <a:r>
              <a:rPr sz="2000" spc="45" dirty="0"/>
              <a:t>년</a:t>
            </a:r>
            <a:r>
              <a:rPr sz="2000" dirty="0"/>
              <a:t>대</a:t>
            </a:r>
            <a:r>
              <a:rPr sz="2000" spc="-190" dirty="0"/>
              <a:t> </a:t>
            </a:r>
            <a:r>
              <a:rPr sz="2000" spc="45" dirty="0"/>
              <a:t>대불황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6114415" cy="28054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87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90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중엽까지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지속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현상</a:t>
            </a:r>
          </a:p>
          <a:p>
            <a:pPr marL="791845" lvl="1" indent="-38989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Corbel"/>
              <a:buAutoNum type="arabicPeriod"/>
              <a:tabLst>
                <a:tab pos="791210" algn="l"/>
                <a:tab pos="791845" algn="l"/>
              </a:tabLst>
            </a:pPr>
            <a:r>
              <a:rPr sz="1700" dirty="0">
                <a:latin typeface="Malgun Gothic"/>
                <a:cs typeface="Malgun Gothic"/>
              </a:rPr>
              <a:t>물가하락</a:t>
            </a:r>
          </a:p>
          <a:p>
            <a:pPr marL="791845" lvl="1" indent="-38989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Corbel"/>
              <a:buAutoNum type="arabicPeriod"/>
              <a:tabLst>
                <a:tab pos="791210" algn="l"/>
                <a:tab pos="791845" algn="l"/>
              </a:tabLst>
            </a:pPr>
            <a:r>
              <a:rPr sz="1700" dirty="0">
                <a:latin typeface="Malgun Gothic"/>
                <a:cs typeface="Malgun Gothic"/>
              </a:rPr>
              <a:t>공업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증가</a:t>
            </a:r>
          </a:p>
          <a:p>
            <a:pPr marL="791845" lvl="1" indent="-38989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Corbel"/>
              <a:buAutoNum type="arabicPeriod"/>
              <a:tabLst>
                <a:tab pos="791210" algn="l"/>
                <a:tab pos="791845" algn="l"/>
              </a:tabLst>
            </a:pPr>
            <a:r>
              <a:rPr sz="1700" dirty="0">
                <a:latin typeface="Malgun Gothic"/>
                <a:cs typeface="Malgun Gothic"/>
              </a:rPr>
              <a:t>낮은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투자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낮은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이자율</a:t>
            </a:r>
          </a:p>
          <a:p>
            <a:pPr marL="791845" lvl="1" indent="-38989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Corbel"/>
              <a:buAutoNum type="arabicPeriod"/>
              <a:tabLst>
                <a:tab pos="791210" algn="l"/>
                <a:tab pos="791845" algn="l"/>
              </a:tabLst>
            </a:pPr>
            <a:r>
              <a:rPr sz="1700" dirty="0">
                <a:latin typeface="Malgun Gothic"/>
                <a:cs typeface="Malgun Gothic"/>
              </a:rPr>
              <a:t>높은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실업률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그러나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임금은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상승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원인</a:t>
            </a:r>
          </a:p>
          <a:p>
            <a:pPr marL="619760" indent="-29972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산업화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진전에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따른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증대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비용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증가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판로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축소</a:t>
            </a:r>
          </a:p>
          <a:p>
            <a:pPr marL="619760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기업간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과열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수익률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242" y="4606661"/>
            <a:ext cx="62725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spc="35" dirty="0">
                <a:latin typeface="Calibri Light"/>
                <a:cs typeface="Calibri Light"/>
              </a:rPr>
              <a:t>2.</a:t>
            </a:r>
            <a:r>
              <a:rPr sz="3300" b="0" spc="30" dirty="0">
                <a:latin typeface="Calibri Light"/>
                <a:cs typeface="Calibri Light"/>
              </a:rPr>
              <a:t> </a:t>
            </a:r>
            <a:r>
              <a:rPr sz="3300" b="0" spc="50" dirty="0">
                <a:latin typeface="Calibri Light"/>
                <a:cs typeface="Calibri Light"/>
              </a:rPr>
              <a:t>1</a:t>
            </a:r>
            <a:r>
              <a:rPr sz="3400" dirty="0"/>
              <a:t>차</a:t>
            </a:r>
            <a:r>
              <a:rPr sz="3400" spc="-409" dirty="0"/>
              <a:t> </a:t>
            </a:r>
            <a:r>
              <a:rPr sz="3400" spc="5" dirty="0"/>
              <a:t>세계대전</a:t>
            </a:r>
            <a:r>
              <a:rPr sz="3300" b="0" spc="25" dirty="0">
                <a:latin typeface="Calibri Light"/>
                <a:cs typeface="Calibri Light"/>
              </a:rPr>
              <a:t>:</a:t>
            </a:r>
            <a:r>
              <a:rPr sz="3300" b="0" spc="30" dirty="0">
                <a:latin typeface="Calibri Light"/>
                <a:cs typeface="Calibri Light"/>
              </a:rPr>
              <a:t> </a:t>
            </a:r>
            <a:r>
              <a:rPr sz="3400" spc="5" dirty="0"/>
              <a:t>총력전</a:t>
            </a:r>
            <a:r>
              <a:rPr sz="3400" dirty="0"/>
              <a:t>의</a:t>
            </a:r>
            <a:r>
              <a:rPr sz="3400" spc="-409" dirty="0"/>
              <a:t> </a:t>
            </a:r>
            <a:r>
              <a:rPr sz="3400" spc="5" dirty="0"/>
              <a:t>경제학</a:t>
            </a:r>
            <a:endParaRPr sz="3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1515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</a:t>
            </a:r>
            <a:r>
              <a:rPr sz="2000" dirty="0"/>
              <a:t>차</a:t>
            </a:r>
            <a:r>
              <a:rPr sz="2000" spc="-190" dirty="0"/>
              <a:t> </a:t>
            </a:r>
            <a:r>
              <a:rPr sz="2000" spc="45" dirty="0"/>
              <a:t>세계대전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920806"/>
            <a:ext cx="8759190" cy="390271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20675" marR="393065" indent="-308610">
              <a:lnSpc>
                <a:spcPts val="1989"/>
              </a:lnSpc>
              <a:spcBef>
                <a:spcPts val="204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대비한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삼국협상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T</a:t>
            </a:r>
            <a:r>
              <a:rPr sz="1700" spc="5" dirty="0">
                <a:latin typeface="Corbel"/>
                <a:cs typeface="Corbel"/>
              </a:rPr>
              <a:t>r</a:t>
            </a:r>
            <a:r>
              <a:rPr sz="1700" spc="-5" dirty="0">
                <a:latin typeface="Corbel"/>
                <a:cs typeface="Corbel"/>
              </a:rPr>
              <a:t>i</a:t>
            </a:r>
            <a:r>
              <a:rPr sz="1700" dirty="0">
                <a:latin typeface="Corbel"/>
                <a:cs typeface="Corbel"/>
              </a:rPr>
              <a:t>p</a:t>
            </a:r>
            <a:r>
              <a:rPr sz="1700" spc="-5" dirty="0">
                <a:latin typeface="Corbel"/>
                <a:cs typeface="Corbel"/>
              </a:rPr>
              <a:t>l</a:t>
            </a:r>
            <a:r>
              <a:rPr sz="1700" dirty="0">
                <a:latin typeface="Corbel"/>
                <a:cs typeface="Corbel"/>
              </a:rPr>
              <a:t>e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E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spc="5" dirty="0">
                <a:latin typeface="Corbel"/>
                <a:cs typeface="Corbel"/>
              </a:rPr>
              <a:t>te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spc="5" dirty="0">
                <a:latin typeface="Corbel"/>
                <a:cs typeface="Corbel"/>
              </a:rPr>
              <a:t>te</a:t>
            </a:r>
            <a:r>
              <a:rPr sz="1700" spc="-5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영국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프랑스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러시아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latin typeface="Malgun Gothic"/>
                <a:cs typeface="Malgun Gothic"/>
              </a:rPr>
              <a:t>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삼국동맹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T</a:t>
            </a:r>
            <a:r>
              <a:rPr sz="1700" spc="5" dirty="0">
                <a:latin typeface="Corbel"/>
                <a:cs typeface="Corbel"/>
              </a:rPr>
              <a:t>r</a:t>
            </a:r>
            <a:r>
              <a:rPr sz="1700" spc="-5" dirty="0">
                <a:latin typeface="Corbel"/>
                <a:cs typeface="Corbel"/>
              </a:rPr>
              <a:t>i</a:t>
            </a:r>
            <a:r>
              <a:rPr sz="1700" dirty="0">
                <a:latin typeface="Corbel"/>
                <a:cs typeface="Corbel"/>
              </a:rPr>
              <a:t>p</a:t>
            </a:r>
            <a:r>
              <a:rPr sz="1700" spc="-5" dirty="0">
                <a:latin typeface="Corbel"/>
                <a:cs typeface="Corbel"/>
              </a:rPr>
              <a:t>l</a:t>
            </a:r>
            <a:r>
              <a:rPr sz="1700" dirty="0">
                <a:latin typeface="Corbel"/>
                <a:cs typeface="Corbel"/>
              </a:rPr>
              <a:t>e  </a:t>
            </a:r>
            <a:r>
              <a:rPr sz="1700" spc="-5" dirty="0">
                <a:latin typeface="Corbel"/>
                <a:cs typeface="Corbel"/>
              </a:rPr>
              <a:t>Alliance</a:t>
            </a:r>
            <a:r>
              <a:rPr sz="1700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(</a:t>
            </a:r>
            <a:r>
              <a:rPr sz="1700" spc="-5" dirty="0">
                <a:latin typeface="Malgun Gothic"/>
                <a:cs typeface="Malgun Gothic"/>
              </a:rPr>
              <a:t>독일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spc="-5" dirty="0">
                <a:latin typeface="Malgun Gothic"/>
                <a:cs typeface="Malgun Gothic"/>
              </a:rPr>
              <a:t>오스트리아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spc="-5" dirty="0">
                <a:latin typeface="Malgun Gothic"/>
                <a:cs typeface="Malgun Gothic"/>
              </a:rPr>
              <a:t>이탈리아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)</a:t>
            </a:r>
          </a:p>
          <a:p>
            <a:pPr marL="320675" indent="-308610">
              <a:lnSpc>
                <a:spcPct val="100000"/>
              </a:lnSpc>
              <a:spcBef>
                <a:spcPts val="42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경쟁에서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두각을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나타낼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최선의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방책은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군비경쟁이♘음</a:t>
            </a:r>
            <a:r>
              <a:rPr sz="1700" dirty="0">
                <a:latin typeface="Corbel"/>
                <a:cs typeface="Corbel"/>
              </a:rPr>
              <a:t>.</a:t>
            </a:r>
          </a:p>
          <a:p>
            <a:pPr marL="320675" marR="5080" indent="-308610">
              <a:lnSpc>
                <a:spcPct val="99800"/>
              </a:lnSpc>
              <a:spcBef>
                <a:spcPts val="36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직접적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동기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커지는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긴장감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속에서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191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오스트리아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영토인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보스니아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헤르체코  비나의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사라예보에서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세르비아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민족주의자가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오스트리아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헝가리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계승자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부부를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암  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(6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오스트리아가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세르비아에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최후통첩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선언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세르비아를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지지  하던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오스트리아를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향해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전쟁동원령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대해  선전포고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동맹국인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프랑스에도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선전포고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대항하여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영국  도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참전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(8</a:t>
            </a:r>
            <a:r>
              <a:rPr sz="1700" spc="-5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dirty="0">
                <a:latin typeface="Corbel"/>
                <a:cs typeface="Corbel"/>
              </a:rPr>
              <a:t>)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새로운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특징들</a:t>
            </a:r>
          </a:p>
          <a:p>
            <a:pPr marL="619760" lvl="1" indent="-299720">
              <a:lnSpc>
                <a:spcPts val="2014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새로운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무기의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등장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장거리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대포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기관총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수류탄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전차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독가스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전투기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폭격기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잠수함</a:t>
            </a:r>
          </a:p>
          <a:p>
            <a:pPr marL="619760">
              <a:lnSpc>
                <a:spcPts val="2014"/>
              </a:lnSpc>
            </a:pP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사상자가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늘어남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군인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개인의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용맹성이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이제는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중요하지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않음</a:t>
            </a:r>
          </a:p>
          <a:p>
            <a:pPr marL="619760" marR="153035" lvl="1" indent="-299720">
              <a:lnSpc>
                <a:spcPct val="10240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총력전의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등장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: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전쟁에서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승리를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거두기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위해서는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국가경제가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총동원해야하는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전쟁이  등장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17" y="851992"/>
            <a:ext cx="10388582" cy="58409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1903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총력전</a:t>
            </a:r>
            <a:r>
              <a:rPr dirty="0"/>
              <a:t>의</a:t>
            </a:r>
            <a:r>
              <a:rPr spc="-190" dirty="0"/>
              <a:t> </a:t>
            </a:r>
            <a:r>
              <a:rPr spc="45" dirty="0"/>
              <a:t>경제학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841961"/>
            <a:ext cx="8795385" cy="40812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07645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dirty="0">
                <a:latin typeface="Malgun Gothic"/>
                <a:cs typeface="Malgun Gothic"/>
              </a:rPr>
              <a:t>세기와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30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세기의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진정한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분수령</a:t>
            </a:r>
          </a:p>
          <a:p>
            <a:pPr marL="596900" marR="400050" lvl="1" indent="-194945">
              <a:lnSpc>
                <a:spcPts val="1700"/>
              </a:lnSpc>
              <a:spcBef>
                <a:spcPts val="415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15" dirty="0">
                <a:latin typeface="Corbel"/>
                <a:cs typeface="Corbel"/>
              </a:rPr>
              <a:t>1</a:t>
            </a:r>
            <a:r>
              <a:rPr sz="1500" spc="20" dirty="0">
                <a:latin typeface="Corbel"/>
                <a:cs typeface="Corbel"/>
              </a:rPr>
              <a:t>9</a:t>
            </a:r>
            <a:r>
              <a:rPr sz="1500" spc="30" dirty="0">
                <a:latin typeface="Malgun Gothic"/>
                <a:cs typeface="Malgun Gothic"/>
              </a:rPr>
              <a:t>세</a:t>
            </a:r>
            <a:r>
              <a:rPr sz="1500" dirty="0">
                <a:latin typeface="Malgun Gothic"/>
                <a:cs typeface="Malgun Gothic"/>
              </a:rPr>
              <a:t>기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말</a:t>
            </a:r>
            <a:r>
              <a:rPr sz="1500" dirty="0">
                <a:latin typeface="Malgun Gothic"/>
                <a:cs typeface="Malgun Gothic"/>
              </a:rPr>
              <a:t>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금본위제</a:t>
            </a:r>
            <a:r>
              <a:rPr sz="1500" dirty="0">
                <a:latin typeface="Malgun Gothic"/>
                <a:cs typeface="Malgun Gothic"/>
              </a:rPr>
              <a:t>를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바탕으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하</a:t>
            </a:r>
            <a:r>
              <a:rPr sz="1500" dirty="0">
                <a:latin typeface="Malgun Gothic"/>
                <a:cs typeface="Malgun Gothic"/>
              </a:rPr>
              <a:t>는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국제지불체제</a:t>
            </a:r>
            <a:r>
              <a:rPr sz="1500" dirty="0">
                <a:latin typeface="Malgun Gothic"/>
                <a:cs typeface="Malgun Gothic"/>
              </a:rPr>
              <a:t>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작동하</a:t>
            </a:r>
            <a:r>
              <a:rPr sz="1500" dirty="0">
                <a:latin typeface="Malgun Gothic"/>
                <a:cs typeface="Malgun Gothic"/>
              </a:rPr>
              <a:t>고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런던</a:t>
            </a:r>
            <a:r>
              <a:rPr sz="1500" dirty="0"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이러</a:t>
            </a:r>
            <a:r>
              <a:rPr sz="1500" dirty="0">
                <a:latin typeface="Malgun Gothic"/>
                <a:cs typeface="Malgun Gothic"/>
              </a:rPr>
              <a:t>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안정적인  체제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중추</a:t>
            </a:r>
            <a:r>
              <a:rPr sz="1500" dirty="0">
                <a:latin typeface="Malgun Gothic"/>
                <a:cs typeface="Malgun Gothic"/>
              </a:rPr>
              <a:t>적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역할</a:t>
            </a:r>
            <a:r>
              <a:rPr sz="1500" dirty="0">
                <a:latin typeface="Corbel"/>
                <a:cs typeface="Corbel"/>
              </a:rPr>
              <a:t>.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주요</a:t>
            </a:r>
            <a:r>
              <a:rPr sz="1500" dirty="0">
                <a:latin typeface="Malgun Gothic"/>
                <a:cs typeface="Malgun Gothic"/>
              </a:rPr>
              <a:t>국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중</a:t>
            </a:r>
            <a:r>
              <a:rPr sz="1500" dirty="0">
                <a:latin typeface="Malgun Gothic"/>
                <a:cs typeface="Malgun Gothic"/>
              </a:rPr>
              <a:t>앙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은행</a:t>
            </a:r>
            <a:r>
              <a:rPr sz="1500" dirty="0">
                <a:latin typeface="Malgun Gothic"/>
                <a:cs typeface="Malgun Gothic"/>
              </a:rPr>
              <a:t>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서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협력</a:t>
            </a:r>
            <a:r>
              <a:rPr sz="1500" dirty="0">
                <a:latin typeface="Corbel"/>
                <a:cs typeface="Corbel"/>
              </a:rPr>
              <a:t>.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생산요소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자유로</a:t>
            </a:r>
            <a:r>
              <a:rPr sz="1500" dirty="0">
                <a:latin typeface="Malgun Gothic"/>
                <a:cs typeface="Malgun Gothic"/>
              </a:rPr>
              <a:t>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국제</a:t>
            </a:r>
            <a:r>
              <a:rPr sz="1500" dirty="0">
                <a:latin typeface="Malgun Gothic"/>
                <a:cs typeface="Malgun Gothic"/>
              </a:rPr>
              <a:t>적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이동</a:t>
            </a:r>
            <a:endParaRPr sz="1500" dirty="0">
              <a:latin typeface="Malgun Gothic"/>
              <a:cs typeface="Malgun Gothic"/>
            </a:endParaRPr>
          </a:p>
          <a:p>
            <a:pPr marL="207010" indent="-19494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07645" algn="l"/>
              </a:tabLst>
            </a:pP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자체가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하나의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중요한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혁명이♘음</a:t>
            </a:r>
          </a:p>
          <a:p>
            <a:pPr marL="596900" marR="5080" lvl="1" indent="-194945">
              <a:lnSpc>
                <a:spcPts val="1700"/>
              </a:lnSpc>
              <a:spcBef>
                <a:spcPts val="390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15" dirty="0">
                <a:latin typeface="Corbel"/>
                <a:cs typeface="Corbel"/>
              </a:rPr>
              <a:t>1</a:t>
            </a:r>
            <a:r>
              <a:rPr sz="1500" spc="20" dirty="0">
                <a:latin typeface="Corbel"/>
                <a:cs typeface="Corbel"/>
              </a:rPr>
              <a:t>9</a:t>
            </a:r>
            <a:r>
              <a:rPr sz="1500" spc="15" dirty="0">
                <a:latin typeface="Corbel"/>
                <a:cs typeface="Corbel"/>
              </a:rPr>
              <a:t>1</a:t>
            </a:r>
            <a:r>
              <a:rPr sz="1500" spc="10" dirty="0">
                <a:latin typeface="Corbel"/>
                <a:cs typeface="Corbel"/>
              </a:rPr>
              <a:t>4</a:t>
            </a:r>
            <a:r>
              <a:rPr sz="1500" dirty="0">
                <a:latin typeface="Malgun Gothic"/>
                <a:cs typeface="Malgun Gothic"/>
              </a:rPr>
              <a:t>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</a:t>
            </a:r>
            <a:r>
              <a:rPr sz="1500" dirty="0">
                <a:latin typeface="Malgun Gothic"/>
                <a:cs typeface="Malgun Gothic"/>
              </a:rPr>
              <a:t>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국가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의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역할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은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제한적</a:t>
            </a:r>
            <a:r>
              <a:rPr sz="1500" dirty="0">
                <a:latin typeface="Corbel"/>
                <a:cs typeface="Corbel"/>
              </a:rPr>
              <a:t>: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국방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외교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국</a:t>
            </a:r>
            <a:r>
              <a:rPr sz="1500" dirty="0">
                <a:latin typeface="Malgun Gothic"/>
                <a:cs typeface="Malgun Gothic"/>
              </a:rPr>
              <a:t>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치</a:t>
            </a:r>
            <a:r>
              <a:rPr sz="1500" dirty="0">
                <a:latin typeface="Malgun Gothic"/>
                <a:cs typeface="Malgun Gothic"/>
              </a:rPr>
              <a:t>안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정도</a:t>
            </a:r>
            <a:r>
              <a:rPr sz="1500" dirty="0">
                <a:latin typeface="Malgun Gothic"/>
                <a:cs typeface="Malgun Gothic"/>
              </a:rPr>
              <a:t>만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담당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전</a:t>
            </a:r>
            <a:r>
              <a:rPr sz="1500" dirty="0">
                <a:latin typeface="Malgun Gothic"/>
                <a:cs typeface="Malgun Gothic"/>
              </a:rPr>
              <a:t>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재</a:t>
            </a:r>
            <a:r>
              <a:rPr sz="1500" dirty="0">
                <a:latin typeface="Malgun Gothic"/>
                <a:cs typeface="Malgun Gothic"/>
              </a:rPr>
              <a:t>정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수</a:t>
            </a:r>
            <a:r>
              <a:rPr sz="1500" dirty="0">
                <a:latin typeface="Malgun Gothic"/>
                <a:cs typeface="Malgun Gothic"/>
              </a:rPr>
              <a:t>입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지출</a:t>
            </a:r>
            <a:r>
              <a:rPr sz="1500" dirty="0"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전쟁  </a:t>
            </a:r>
            <a:r>
              <a:rPr sz="1500" spc="20" dirty="0">
                <a:latin typeface="Malgun Gothic"/>
                <a:cs typeface="Malgun Gothic"/>
              </a:rPr>
              <a:t>전까지</a:t>
            </a:r>
            <a:r>
              <a:rPr sz="1500" spc="-250" dirty="0">
                <a:latin typeface="Malgun Gothic"/>
                <a:cs typeface="Malgun Gothic"/>
              </a:rPr>
              <a:t> </a:t>
            </a:r>
            <a:r>
              <a:rPr sz="1500" spc="15" dirty="0">
                <a:latin typeface="Corbel"/>
                <a:cs typeface="Corbel"/>
              </a:rPr>
              <a:t>GDP</a:t>
            </a:r>
            <a:r>
              <a:rPr sz="1500" spc="15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5" dirty="0">
                <a:latin typeface="Corbel"/>
                <a:cs typeface="Corbel"/>
              </a:rPr>
              <a:t>15%</a:t>
            </a:r>
            <a:r>
              <a:rPr sz="1500" spc="3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수준</a:t>
            </a:r>
            <a:endParaRPr sz="1500" dirty="0">
              <a:latin typeface="Malgun Gothic"/>
              <a:cs typeface="Malgun Gothic"/>
            </a:endParaRPr>
          </a:p>
          <a:p>
            <a:pPr marL="596900" lvl="1" indent="-19558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전쟁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을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거치면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서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정부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는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-10" dirty="0">
                <a:highlight>
                  <a:srgbClr val="FFFF00"/>
                </a:highlight>
                <a:latin typeface="Corbel"/>
                <a:cs typeface="Corbel"/>
              </a:rPr>
              <a:t>2</a:t>
            </a:r>
            <a:r>
              <a:rPr sz="1500" spc="15" dirty="0">
                <a:highlight>
                  <a:srgbClr val="FFFF00"/>
                </a:highlight>
                <a:latin typeface="Corbel"/>
                <a:cs typeface="Corbel"/>
              </a:rPr>
              <a:t>0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세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기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거대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한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소비자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변모됨</a:t>
            </a:r>
            <a:endParaRPr sz="1500" dirty="0">
              <a:latin typeface="Malgun Gothic"/>
              <a:cs typeface="Malgun Gothic"/>
            </a:endParaRPr>
          </a:p>
          <a:p>
            <a:pPr marL="596900" lvl="1" indent="-19558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30" dirty="0">
                <a:latin typeface="Malgun Gothic"/>
                <a:cs typeface="Malgun Gothic"/>
              </a:rPr>
              <a:t>정</a:t>
            </a:r>
            <a:r>
              <a:rPr sz="1500" dirty="0">
                <a:latin typeface="Malgun Gothic"/>
                <a:cs typeface="Malgun Gothic"/>
              </a:rPr>
              <a:t>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지출</a:t>
            </a:r>
            <a:r>
              <a:rPr sz="1500" dirty="0">
                <a:latin typeface="Malgun Gothic"/>
                <a:cs typeface="Malgun Gothic"/>
              </a:rPr>
              <a:t>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영국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경</a:t>
            </a:r>
            <a:r>
              <a:rPr sz="1500" dirty="0">
                <a:latin typeface="Malgun Gothic"/>
                <a:cs typeface="Malgun Gothic"/>
              </a:rPr>
              <a:t>우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전</a:t>
            </a:r>
            <a:r>
              <a:rPr sz="1500" dirty="0">
                <a:latin typeface="Malgun Gothic"/>
                <a:cs typeface="Malgun Gothic"/>
              </a:rPr>
              <a:t>쟁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중</a:t>
            </a:r>
            <a:r>
              <a:rPr sz="1500" spc="-245" dirty="0">
                <a:latin typeface="Malgun Gothic"/>
                <a:cs typeface="Malgun Gothic"/>
              </a:rPr>
              <a:t> </a:t>
            </a:r>
            <a:r>
              <a:rPr sz="1500" spc="20" dirty="0">
                <a:latin typeface="Corbel"/>
                <a:cs typeface="Corbel"/>
              </a:rPr>
              <a:t>G</a:t>
            </a:r>
            <a:r>
              <a:rPr sz="1500" spc="25" dirty="0">
                <a:latin typeface="Corbel"/>
                <a:cs typeface="Corbel"/>
              </a:rPr>
              <a:t>D</a:t>
            </a:r>
            <a:r>
              <a:rPr sz="1500" spc="15" dirty="0">
                <a:latin typeface="Corbel"/>
                <a:cs typeface="Corbel"/>
              </a:rPr>
              <a:t>P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절</a:t>
            </a:r>
            <a:r>
              <a:rPr sz="1500" dirty="0">
                <a:latin typeface="Malgun Gothic"/>
                <a:cs typeface="Malgun Gothic"/>
              </a:rPr>
              <a:t>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수준으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증가</a:t>
            </a:r>
            <a:endParaRPr sz="1500" dirty="0">
              <a:latin typeface="Malgun Gothic"/>
              <a:cs typeface="Malgun Gothic"/>
            </a:endParaRPr>
          </a:p>
          <a:p>
            <a:pPr marL="596900" lvl="1" indent="-19558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30" dirty="0">
                <a:latin typeface="Malgun Gothic"/>
                <a:cs typeface="Malgun Gothic"/>
              </a:rPr>
              <a:t>막대</a:t>
            </a:r>
            <a:r>
              <a:rPr sz="1500" dirty="0">
                <a:latin typeface="Malgun Gothic"/>
                <a:cs typeface="Malgun Gothic"/>
              </a:rPr>
              <a:t>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노동력</a:t>
            </a:r>
            <a:r>
              <a:rPr sz="1500" dirty="0"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평</a:t>
            </a:r>
            <a:r>
              <a:rPr sz="1500" dirty="0">
                <a:latin typeface="Malgun Gothic"/>
                <a:cs typeface="Malgun Gothic"/>
              </a:rPr>
              <a:t>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생산에</a:t>
            </a:r>
            <a:r>
              <a:rPr sz="1500" dirty="0">
                <a:latin typeface="Malgun Gothic"/>
                <a:cs typeface="Malgun Gothic"/>
              </a:rPr>
              <a:t>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군</a:t>
            </a:r>
            <a:r>
              <a:rPr sz="1500" dirty="0">
                <a:latin typeface="Malgun Gothic"/>
                <a:cs typeface="Malgun Gothic"/>
              </a:rPr>
              <a:t>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서비</a:t>
            </a:r>
            <a:r>
              <a:rPr sz="1500" dirty="0">
                <a:latin typeface="Malgun Gothic"/>
                <a:cs typeface="Malgun Gothic"/>
              </a:rPr>
              <a:t>스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및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생산으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이동</a:t>
            </a:r>
            <a:endParaRPr sz="1500" dirty="0">
              <a:latin typeface="Malgun Gothic"/>
              <a:cs typeface="Malgun Gothic"/>
            </a:endParaRPr>
          </a:p>
          <a:p>
            <a:pPr marL="207010" marR="790575" indent="-194945">
              <a:lnSpc>
                <a:spcPts val="1800"/>
              </a:lnSpc>
              <a:spcBef>
                <a:spcPts val="875"/>
              </a:spcBef>
              <a:buFont typeface="Arial MT"/>
              <a:buChar char="•"/>
              <a:tabLst>
                <a:tab pos="20764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일반징집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: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거의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모든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남자가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전선으로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떠나고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자리를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여성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아동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노인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노동력으로  대체되면서</a:t>
            </a:r>
            <a:r>
              <a:rPr sz="1700" spc="-260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사회가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크게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변함</a:t>
            </a:r>
          </a:p>
          <a:p>
            <a:pPr marL="207010" indent="-19494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07645" algn="l"/>
              </a:tabLst>
            </a:pPr>
            <a:r>
              <a:rPr sz="1700" dirty="0">
                <a:latin typeface="Malgun Gothic"/>
                <a:cs typeface="Malgun Gothic"/>
              </a:rPr>
              <a:t>국제경제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측면</a:t>
            </a:r>
          </a:p>
          <a:p>
            <a:pPr marL="596900" lvl="1" indent="-19558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수입관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세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폐지</a:t>
            </a:r>
            <a:r>
              <a:rPr sz="1500" dirty="0">
                <a:latin typeface="Corbel"/>
                <a:cs typeface="Corbel"/>
              </a:rPr>
              <a:t>: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농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업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부문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이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파괴</a:t>
            </a:r>
            <a:r>
              <a:rPr sz="1500" spc="30" dirty="0">
                <a:latin typeface="Malgun Gothic"/>
                <a:cs typeface="Malgun Gothic"/>
              </a:rPr>
              <a:t>되면</a:t>
            </a:r>
            <a:r>
              <a:rPr sz="1500" dirty="0">
                <a:latin typeface="Malgun Gothic"/>
                <a:cs typeface="Malgun Gothic"/>
              </a:rPr>
              <a:t>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값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싼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해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외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농업상품</a:t>
            </a:r>
            <a:r>
              <a:rPr sz="1500" dirty="0">
                <a:latin typeface="Malgun Gothic"/>
                <a:cs typeface="Malgun Gothic"/>
              </a:rPr>
              <a:t>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얻</a:t>
            </a:r>
            <a:r>
              <a:rPr sz="1500" dirty="0">
                <a:latin typeface="Malgun Gothic"/>
                <a:cs typeface="Malgun Gothic"/>
              </a:rPr>
              <a:t>기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위해</a:t>
            </a:r>
            <a:endParaRPr sz="1500" dirty="0">
              <a:latin typeface="Malgun Gothic"/>
              <a:cs typeface="Malgun Gothic"/>
            </a:endParaRPr>
          </a:p>
          <a:p>
            <a:pPr marL="596900" marR="7620" lvl="1" indent="-194945">
              <a:lnSpc>
                <a:spcPts val="1610"/>
              </a:lnSpc>
              <a:spcBef>
                <a:spcPts val="500"/>
              </a:spcBef>
              <a:buFont typeface="Arial MT"/>
              <a:buChar char="•"/>
              <a:tabLst>
                <a:tab pos="596900" algn="l"/>
                <a:tab pos="597535" algn="l"/>
              </a:tabLst>
            </a:pPr>
            <a:r>
              <a:rPr sz="1500" spc="30" dirty="0">
                <a:latin typeface="Malgun Gothic"/>
                <a:cs typeface="Malgun Gothic"/>
              </a:rPr>
              <a:t>협상</a:t>
            </a:r>
            <a:r>
              <a:rPr sz="1500" dirty="0">
                <a:latin typeface="Malgun Gothic"/>
                <a:cs typeface="Malgun Gothic"/>
              </a:rPr>
              <a:t>국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대부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형태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금융협력</a:t>
            </a:r>
            <a:r>
              <a:rPr sz="1500" dirty="0"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이루어짐</a:t>
            </a:r>
            <a:r>
              <a:rPr sz="1500" dirty="0">
                <a:latin typeface="Corbel"/>
                <a:cs typeface="Corbel"/>
              </a:rPr>
              <a:t>: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영국</a:t>
            </a:r>
            <a:r>
              <a:rPr sz="1500" dirty="0"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프랑스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이탈리아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벨기</a:t>
            </a:r>
            <a:r>
              <a:rPr sz="1500" dirty="0">
                <a:latin typeface="Malgun Gothic"/>
                <a:cs typeface="Malgun Gothic"/>
              </a:rPr>
              <a:t>에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같</a:t>
            </a:r>
            <a:r>
              <a:rPr sz="1500" dirty="0">
                <a:latin typeface="Malgun Gothic"/>
                <a:cs typeface="Malgun Gothic"/>
              </a:rPr>
              <a:t>은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연합국에게  대부</a:t>
            </a:r>
            <a:r>
              <a:rPr sz="1500" dirty="0">
                <a:latin typeface="Corbel"/>
                <a:cs typeface="Corbel"/>
              </a:rPr>
              <a:t>,</a:t>
            </a:r>
            <a:r>
              <a:rPr sz="1500" spc="15" dirty="0">
                <a:latin typeface="Corbel"/>
                <a:cs typeface="Corbel"/>
              </a:rPr>
              <a:t> </a:t>
            </a:r>
            <a:r>
              <a:rPr sz="1500" dirty="0">
                <a:latin typeface="Malgun Gothic"/>
                <a:cs typeface="Malgun Gothic"/>
              </a:rPr>
              <a:t>그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후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미국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이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거</a:t>
            </a:r>
            <a:r>
              <a:rPr sz="1500" dirty="0">
                <a:latin typeface="Malgun Gothic"/>
                <a:cs typeface="Malgun Gothic"/>
              </a:rPr>
              <a:t>의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모</a:t>
            </a:r>
            <a:r>
              <a:rPr sz="1500" dirty="0">
                <a:latin typeface="Malgun Gothic"/>
                <a:cs typeface="Malgun Gothic"/>
              </a:rPr>
              <a:t>든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latin typeface="Malgun Gothic"/>
                <a:cs typeface="Malgun Gothic"/>
              </a:rPr>
              <a:t>유럽국에</a:t>
            </a:r>
            <a:r>
              <a:rPr sz="1500" dirty="0">
                <a:latin typeface="Malgun Gothic"/>
                <a:cs typeface="Malgun Gothic"/>
              </a:rPr>
              <a:t>게</a:t>
            </a:r>
            <a:r>
              <a:rPr sz="1500" spc="-185" dirty="0"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전</a:t>
            </a:r>
            <a:r>
              <a:rPr sz="1500" dirty="0">
                <a:highlight>
                  <a:srgbClr val="FFFF00"/>
                </a:highlight>
                <a:latin typeface="Malgun Gothic"/>
                <a:cs typeface="Malgun Gothic"/>
              </a:rPr>
              <a:t>시</a:t>
            </a:r>
            <a:r>
              <a:rPr sz="1500" spc="-185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500" spc="30" dirty="0">
                <a:highlight>
                  <a:srgbClr val="FFFF00"/>
                </a:highlight>
                <a:latin typeface="Malgun Gothic"/>
                <a:cs typeface="Malgun Gothic"/>
              </a:rPr>
              <a:t>대부</a:t>
            </a:r>
            <a:endParaRPr sz="1500" dirty="0">
              <a:highlight>
                <a:srgbClr val="FFFF00"/>
              </a:highlight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1921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미국</a:t>
            </a:r>
            <a:r>
              <a:rPr dirty="0"/>
              <a:t>의</a:t>
            </a:r>
            <a:r>
              <a:rPr spc="-190" dirty="0"/>
              <a:t> </a:t>
            </a:r>
            <a:r>
              <a:rPr sz="2925" b="0" spc="60" baseline="1424" dirty="0">
                <a:latin typeface="Calibri Light"/>
                <a:cs typeface="Calibri Light"/>
              </a:rPr>
              <a:t>1</a:t>
            </a:r>
            <a:r>
              <a:rPr sz="2000" dirty="0"/>
              <a:t>차</a:t>
            </a:r>
            <a:r>
              <a:rPr sz="2000" spc="-190" dirty="0"/>
              <a:t> </a:t>
            </a:r>
            <a:r>
              <a:rPr sz="2000" spc="45" dirty="0"/>
              <a:t>세계대전</a:t>
            </a:r>
            <a:r>
              <a:rPr sz="2000" dirty="0"/>
              <a:t>의</a:t>
            </a:r>
            <a:r>
              <a:rPr sz="2000" spc="-190" dirty="0"/>
              <a:t> </a:t>
            </a:r>
            <a:r>
              <a:rPr sz="2000" spc="45" dirty="0"/>
              <a:t>참전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8953500" cy="420627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191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월에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참전</a:t>
            </a: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spc="-5" dirty="0">
                <a:latin typeface="Corbel"/>
                <a:cs typeface="Corbel"/>
              </a:rPr>
              <a:t>80</a:t>
            </a:r>
            <a:r>
              <a:rPr sz="1700" dirty="0">
                <a:latin typeface="Malgun Gothic"/>
                <a:cs typeface="Malgun Gothic"/>
              </a:rPr>
              <a:t>만명의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병력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엄청난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양의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전쟁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물자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연합국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승리에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기여</a:t>
            </a:r>
          </a:p>
          <a:p>
            <a:pPr marL="320675" indent="-308610">
              <a:lnSpc>
                <a:spcPts val="2014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99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1916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국방비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지출은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G</a:t>
            </a:r>
            <a:r>
              <a:rPr sz="1700" spc="-5" dirty="0">
                <a:latin typeface="Corbel"/>
                <a:cs typeface="Corbel"/>
              </a:rPr>
              <a:t>DP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spc="-5" dirty="0">
                <a:latin typeface="Corbel"/>
                <a:cs typeface="Corbel"/>
              </a:rPr>
              <a:t>.8</a:t>
            </a:r>
            <a:r>
              <a:rPr sz="1700" dirty="0">
                <a:latin typeface="Corbel"/>
                <a:cs typeface="Corbel"/>
              </a:rPr>
              <a:t>%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 err="1">
                <a:latin typeface="Malgun Gothic"/>
                <a:cs typeface="Malgun Gothic"/>
              </a:rPr>
              <a:t>수준이</a:t>
            </a:r>
            <a:r>
              <a:rPr lang="ko-KR" altLang="en-US" sz="1700" dirty="0" err="1">
                <a:latin typeface="Malgun Gothic"/>
                <a:cs typeface="Malgun Gothic"/>
              </a:rPr>
              <a:t>었</a:t>
            </a:r>
            <a:r>
              <a:rPr sz="1700" dirty="0" err="1">
                <a:latin typeface="Malgun Gothic"/>
                <a:cs typeface="Malgun Gothic"/>
              </a:rPr>
              <a:t>으나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참전한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동안</a:t>
            </a:r>
          </a:p>
          <a:p>
            <a:pPr marL="320675">
              <a:lnSpc>
                <a:spcPts val="2014"/>
              </a:lnSpc>
            </a:pPr>
            <a:r>
              <a:rPr sz="1700" dirty="0">
                <a:latin typeface="Corbel"/>
                <a:cs typeface="Corbel"/>
              </a:rPr>
              <a:t>1919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G</a:t>
            </a:r>
            <a:r>
              <a:rPr sz="1700" spc="-5" dirty="0">
                <a:latin typeface="Corbel"/>
                <a:cs typeface="Corbel"/>
              </a:rPr>
              <a:t>DP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25</a:t>
            </a:r>
            <a:r>
              <a:rPr sz="1700" dirty="0">
                <a:latin typeface="Corbel"/>
                <a:cs typeface="Corbel"/>
              </a:rPr>
              <a:t>% </a:t>
            </a:r>
            <a:r>
              <a:rPr sz="1700" dirty="0">
                <a:latin typeface="Malgun Gothic"/>
                <a:cs typeface="Malgun Gothic"/>
              </a:rPr>
              <a:t>수준의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국방비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spc="5" dirty="0">
                <a:latin typeface="Corbel"/>
                <a:cs typeface="Corbel"/>
              </a:rPr>
              <a:t>32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억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달러</a:t>
            </a:r>
            <a:r>
              <a:rPr sz="1700" dirty="0">
                <a:latin typeface="Corbel"/>
                <a:cs typeface="Corbel"/>
              </a:rPr>
              <a:t>)</a:t>
            </a:r>
          </a:p>
          <a:p>
            <a:pPr marL="619760" lvl="1" indent="-299720">
              <a:lnSpc>
                <a:spcPts val="2014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Corbel"/>
                <a:cs typeface="Corbel"/>
              </a:rPr>
              <a:t>191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전시재정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수입법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W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dirty="0">
                <a:latin typeface="Corbel"/>
                <a:cs typeface="Corbel"/>
              </a:rPr>
              <a:t>r</a:t>
            </a:r>
            <a:r>
              <a:rPr sz="1700" spc="5" dirty="0">
                <a:latin typeface="Corbel"/>
                <a:cs typeface="Corbel"/>
              </a:rPr>
              <a:t> Re</a:t>
            </a:r>
            <a:r>
              <a:rPr sz="1700" dirty="0">
                <a:latin typeface="Corbel"/>
                <a:cs typeface="Corbel"/>
              </a:rPr>
              <a:t>v</a:t>
            </a:r>
            <a:r>
              <a:rPr sz="1700" spc="5" dirty="0">
                <a:latin typeface="Corbel"/>
                <a:cs typeface="Corbel"/>
              </a:rPr>
              <a:t>e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dirty="0">
                <a:latin typeface="Corbel"/>
                <a:cs typeface="Corbel"/>
              </a:rPr>
              <a:t>ue</a:t>
            </a:r>
            <a:r>
              <a:rPr sz="1700" spc="5" dirty="0">
                <a:latin typeface="Corbel"/>
                <a:cs typeface="Corbel"/>
              </a:rPr>
              <a:t> A</a:t>
            </a:r>
            <a:r>
              <a:rPr sz="1700" spc="-5" dirty="0">
                <a:latin typeface="Corbel"/>
                <a:cs typeface="Corbel"/>
              </a:rPr>
              <a:t>c</a:t>
            </a:r>
            <a:r>
              <a:rPr sz="1700" dirty="0">
                <a:latin typeface="Corbel"/>
                <a:cs typeface="Corbel"/>
              </a:rPr>
              <a:t>t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초과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이윤세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도입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소득세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인상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공채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발행</a:t>
            </a:r>
          </a:p>
          <a:p>
            <a:pPr marL="619760">
              <a:lnSpc>
                <a:spcPts val="2014"/>
              </a:lnSpc>
            </a:pPr>
            <a:r>
              <a:rPr sz="1700" dirty="0">
                <a:latin typeface="Corbel"/>
                <a:cs typeface="Corbel"/>
              </a:rPr>
              <a:t>liberty</a:t>
            </a:r>
            <a:r>
              <a:rPr sz="1700" spc="-25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bonds</a:t>
            </a:r>
            <a:endParaRPr sz="1700" dirty="0">
              <a:latin typeface="Corbel"/>
              <a:cs typeface="Corbel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통제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경제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c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o</a:t>
            </a:r>
            <a:r>
              <a:rPr sz="1700" spc="5" dirty="0">
                <a:highlight>
                  <a:srgbClr val="FFFF00"/>
                </a:highlight>
                <a:latin typeface="Corbel"/>
                <a:cs typeface="Corbel"/>
              </a:rPr>
              <a:t>mm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an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d</a:t>
            </a:r>
            <a:r>
              <a:rPr sz="1700" spc="5" dirty="0">
                <a:highlight>
                  <a:srgbClr val="FFFF00"/>
                </a:highlight>
                <a:latin typeface="Corbel"/>
                <a:cs typeface="Corbel"/>
              </a:rPr>
              <a:t> e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c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ono</a:t>
            </a:r>
            <a:r>
              <a:rPr sz="1700" spc="5" dirty="0">
                <a:highlight>
                  <a:srgbClr val="FFFF00"/>
                </a:highlight>
                <a:latin typeface="Corbel"/>
                <a:cs typeface="Corbel"/>
              </a:rPr>
              <a:t>m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y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등장</a:t>
            </a:r>
          </a:p>
          <a:p>
            <a:pPr marL="619760" lvl="1" indent="-29972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단기간에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많은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양의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물자를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생산하고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분배하기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위함</a:t>
            </a:r>
          </a:p>
          <a:p>
            <a:pPr marL="619760" lvl="1" indent="-299720">
              <a:lnSpc>
                <a:spcPts val="2014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lang="ko-KR" altLang="en-US" sz="1700" dirty="0">
                <a:highlight>
                  <a:srgbClr val="FFFF00"/>
                </a:highlight>
                <a:latin typeface="Malgun Gothic"/>
                <a:cs typeface="Malgun Gothic"/>
              </a:rPr>
              <a:t>민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기업과의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군수품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계약으로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감당할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없어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정부가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직접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민간의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수요를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일시적으로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억</a:t>
            </a:r>
          </a:p>
          <a:p>
            <a:pPr marL="619760">
              <a:lnSpc>
                <a:spcPts val="2014"/>
              </a:lnSpc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제하고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민간과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공적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부문의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생산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및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유통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설비를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모두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전시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수요를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위해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직접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통제</a:t>
            </a:r>
          </a:p>
          <a:p>
            <a:pPr marL="619760" lvl="1" indent="-299720">
              <a:lnSpc>
                <a:spcPts val="2014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국가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방위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위원회</a:t>
            </a:r>
            <a:r>
              <a:rPr sz="1700" dirty="0">
                <a:latin typeface="Malgun Gothic"/>
                <a:cs typeface="Malgun Gothic"/>
              </a:rPr>
              <a:t>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설립하고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산업별로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생산과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분배를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계획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감독하는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통제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기구</a:t>
            </a:r>
            <a:r>
              <a:rPr sz="1700" dirty="0">
                <a:latin typeface="Malgun Gothic"/>
                <a:cs typeface="Malgun Gothic"/>
              </a:rPr>
              <a:t>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설립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(5</a:t>
            </a:r>
          </a:p>
          <a:p>
            <a:pPr marL="619760">
              <a:lnSpc>
                <a:spcPts val="2014"/>
              </a:lnSpc>
            </a:pPr>
            <a:r>
              <a:rPr sz="1700" dirty="0">
                <a:latin typeface="Malgun Gothic"/>
                <a:cs typeface="Malgun Gothic"/>
              </a:rPr>
              <a:t>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여개의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연방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기관이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신설</a:t>
            </a:r>
            <a:r>
              <a:rPr sz="1700" dirty="0">
                <a:latin typeface="Corbel"/>
                <a:cs typeface="Corbel"/>
              </a:rPr>
              <a:t>)</a:t>
            </a:r>
          </a:p>
          <a:p>
            <a:pPr marL="619760" lvl="1" indent="-29972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천여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자동차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천여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비행기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등을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공급</a:t>
            </a: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정부가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생산과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분배에서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중요한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역할을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할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수도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있다는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선례를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남김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1383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미국</a:t>
            </a:r>
            <a:r>
              <a:rPr dirty="0"/>
              <a:t>의</a:t>
            </a:r>
            <a:r>
              <a:rPr spc="-190" dirty="0"/>
              <a:t> </a:t>
            </a:r>
            <a:r>
              <a:rPr spc="45" dirty="0"/>
              <a:t>부상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8817610" cy="338810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미국의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피해가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다른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참전국보다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적♘음</a:t>
            </a: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사망자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11</a:t>
            </a:r>
            <a:r>
              <a:rPr sz="1700" dirty="0">
                <a:latin typeface="Malgun Gothic"/>
                <a:cs typeface="Malgun Gothic"/>
              </a:rPr>
              <a:t>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프랑스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만명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대영제국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90</a:t>
            </a:r>
            <a:r>
              <a:rPr sz="1700" dirty="0">
                <a:latin typeface="Malgun Gothic"/>
                <a:cs typeface="Malgun Gothic"/>
              </a:rPr>
              <a:t>만명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00</a:t>
            </a:r>
            <a:r>
              <a:rPr sz="1700" dirty="0">
                <a:latin typeface="Malgun Gothic"/>
                <a:cs typeface="Malgun Gothic"/>
              </a:rPr>
              <a:t>만명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오스트리아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110</a:t>
            </a:r>
            <a:r>
              <a:rPr sz="1700" dirty="0">
                <a:latin typeface="Malgun Gothic"/>
                <a:cs typeface="Malgun Gothic"/>
              </a:rPr>
              <a:t>만</a:t>
            </a:r>
          </a:p>
          <a:p>
            <a:pPr marL="619760">
              <a:lnSpc>
                <a:spcPct val="100000"/>
              </a:lnSpc>
              <a:spcBef>
                <a:spcPts val="45"/>
              </a:spcBef>
            </a:pPr>
            <a:r>
              <a:rPr sz="1700" dirty="0">
                <a:latin typeface="Malgun Gothic"/>
                <a:cs typeface="Malgun Gothic"/>
              </a:rPr>
              <a:t>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만명</a:t>
            </a:r>
          </a:p>
          <a:p>
            <a:pPr marL="619760" lvl="1" indent="-299720">
              <a:lnSpc>
                <a:spcPct val="100000"/>
              </a:lnSpc>
              <a:spcBef>
                <a:spcPts val="38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독일과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오스트리아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해체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요충지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상실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막대한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배상금</a:t>
            </a:r>
          </a:p>
          <a:p>
            <a:pPr marL="320675" indent="-30861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러시아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제국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해체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사회주의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연방공화국이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만들어짐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(191</a:t>
            </a:r>
            <a:r>
              <a:rPr sz="1700" spc="-5" dirty="0">
                <a:highlight>
                  <a:srgbClr val="FFFF00"/>
                </a:highlight>
                <a:latin typeface="Corbel"/>
                <a:cs typeface="Corbel"/>
              </a:rPr>
              <a:t>7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년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볼셰비키</a:t>
            </a:r>
            <a:r>
              <a:rPr sz="1700" spc="-254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700" dirty="0">
                <a:highlight>
                  <a:srgbClr val="FFFF00"/>
                </a:highlight>
                <a:latin typeface="Malgun Gothic"/>
                <a:cs typeface="Malgun Gothic"/>
              </a:rPr>
              <a:t>혁명</a:t>
            </a:r>
            <a:r>
              <a:rPr sz="1700" dirty="0">
                <a:highlight>
                  <a:srgbClr val="FFFF00"/>
                </a:highlight>
                <a:latin typeface="Corbel"/>
                <a:cs typeface="Corbel"/>
              </a:rPr>
              <a:t>)</a:t>
            </a: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부상</a:t>
            </a: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전쟁으로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영국</a:t>
            </a:r>
            <a:r>
              <a:rPr sz="1700" dirty="0">
                <a:latin typeface="Corbel"/>
                <a:cs typeface="Corbel"/>
              </a:rPr>
              <a:t>/</a:t>
            </a:r>
            <a:r>
              <a:rPr sz="1700" dirty="0">
                <a:latin typeface="Malgun Gothic"/>
                <a:cs typeface="Malgun Gothic"/>
              </a:rPr>
              <a:t>독일의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생산성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격차가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벌어짐</a:t>
            </a:r>
          </a:p>
          <a:p>
            <a:pPr marL="619760" lvl="1" indent="-29972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미국의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전세계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제조업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비중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191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6%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42%</a:t>
            </a:r>
            <a:endParaRPr sz="1700" dirty="0">
              <a:latin typeface="Corbel"/>
              <a:cs typeface="Corbel"/>
            </a:endParaRPr>
          </a:p>
          <a:p>
            <a:pPr marL="619760" lvl="1" indent="-29972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spc="-5" dirty="0">
                <a:latin typeface="Corbel"/>
                <a:cs typeface="Corbel"/>
              </a:rPr>
              <a:t>No</a:t>
            </a:r>
            <a:r>
              <a:rPr sz="1700" spc="5" dirty="0">
                <a:latin typeface="Corbel"/>
                <a:cs typeface="Corbel"/>
              </a:rPr>
              <a:t>m</a:t>
            </a:r>
            <a:r>
              <a:rPr sz="1700" spc="-5" dirty="0">
                <a:latin typeface="Corbel"/>
                <a:cs typeface="Corbel"/>
              </a:rPr>
              <a:t>ina</a:t>
            </a:r>
            <a:r>
              <a:rPr sz="1700" dirty="0">
                <a:latin typeface="Corbel"/>
                <a:cs typeface="Corbel"/>
              </a:rPr>
              <a:t>l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G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dirty="0">
                <a:latin typeface="Corbel"/>
                <a:cs typeface="Corbel"/>
              </a:rPr>
              <a:t>P </a:t>
            </a:r>
            <a:r>
              <a:rPr sz="1700" spc="5" dirty="0">
                <a:latin typeface="Corbel"/>
                <a:cs typeface="Corbel"/>
              </a:rPr>
              <a:t>1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spc="5" dirty="0">
                <a:latin typeface="Corbel"/>
                <a:cs typeface="Corbel"/>
              </a:rPr>
              <a:t>1</a:t>
            </a:r>
            <a:r>
              <a:rPr sz="1700" dirty="0">
                <a:latin typeface="Corbel"/>
                <a:cs typeface="Corbel"/>
              </a:rPr>
              <a:t>4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dirty="0">
                <a:latin typeface="Corbel"/>
                <a:cs typeface="Corbel"/>
              </a:rPr>
              <a:t>6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억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달러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87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억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달러</a:t>
            </a:r>
          </a:p>
          <a:p>
            <a:pPr marL="619760" marR="24765" lvl="1" indent="-299720">
              <a:lnSpc>
                <a:spcPts val="1989"/>
              </a:lnSpc>
              <a:spcBef>
                <a:spcPts val="5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자본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수입국에서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수출국으로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국가들이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물자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구매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뉴욕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자본시장에서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  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242" y="4606661"/>
            <a:ext cx="37020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spc="35" dirty="0">
                <a:latin typeface="Calibri Light"/>
                <a:cs typeface="Calibri Light"/>
              </a:rPr>
              <a:t>3.</a:t>
            </a:r>
            <a:r>
              <a:rPr sz="3300" b="0" spc="-10" dirty="0">
                <a:latin typeface="Calibri Light"/>
                <a:cs typeface="Calibri Light"/>
              </a:rPr>
              <a:t> </a:t>
            </a:r>
            <a:r>
              <a:rPr sz="3400" spc="10" dirty="0"/>
              <a:t>전간기</a:t>
            </a:r>
            <a:r>
              <a:rPr sz="3300" b="0" spc="10" dirty="0">
                <a:latin typeface="Calibri Light"/>
                <a:cs typeface="Calibri Light"/>
              </a:rPr>
              <a:t>:</a:t>
            </a:r>
            <a:r>
              <a:rPr sz="3300" b="0" spc="-10" dirty="0">
                <a:latin typeface="Calibri Light"/>
                <a:cs typeface="Calibri Light"/>
              </a:rPr>
              <a:t> </a:t>
            </a:r>
            <a:r>
              <a:rPr sz="3300" b="0" spc="35" dirty="0">
                <a:latin typeface="Calibri Light"/>
                <a:cs typeface="Calibri Light"/>
              </a:rPr>
              <a:t>1920</a:t>
            </a:r>
            <a:r>
              <a:rPr sz="3400" spc="35" dirty="0"/>
              <a:t>년대</a:t>
            </a:r>
            <a:endParaRPr sz="3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4417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</a:t>
            </a:r>
            <a:r>
              <a:rPr dirty="0"/>
              <a:t>기</a:t>
            </a:r>
            <a:r>
              <a:rPr spc="-190" dirty="0"/>
              <a:t> </a:t>
            </a:r>
            <a:r>
              <a:rPr sz="2925" b="0" spc="30" baseline="1424" dirty="0">
                <a:latin typeface="Calibri Light"/>
                <a:cs typeface="Calibri Light"/>
              </a:rPr>
              <a:t>I</a:t>
            </a:r>
            <a:r>
              <a:rPr sz="2925" b="0" spc="67" baseline="1424" dirty="0">
                <a:latin typeface="Calibri Light"/>
                <a:cs typeface="Calibri Light"/>
              </a:rPr>
              <a:t>n</a:t>
            </a:r>
            <a:r>
              <a:rPr sz="2925" b="0" spc="37" baseline="1424" dirty="0">
                <a:latin typeface="Calibri Light"/>
                <a:cs typeface="Calibri Light"/>
              </a:rPr>
              <a:t>t</a:t>
            </a:r>
            <a:r>
              <a:rPr sz="2925" b="0" spc="67" baseline="1424" dirty="0">
                <a:latin typeface="Calibri Light"/>
                <a:cs typeface="Calibri Light"/>
              </a:rPr>
              <a:t>e</a:t>
            </a:r>
            <a:r>
              <a:rPr sz="2925" b="0" spc="37" baseline="1424" dirty="0">
                <a:latin typeface="Calibri Light"/>
                <a:cs typeface="Calibri Light"/>
              </a:rPr>
              <a:t>r</a:t>
            </a:r>
            <a:r>
              <a:rPr sz="2925" b="0" spc="82" baseline="1424" dirty="0">
                <a:latin typeface="Calibri Light"/>
                <a:cs typeface="Calibri Light"/>
              </a:rPr>
              <a:t>w</a:t>
            </a:r>
            <a:r>
              <a:rPr sz="2925" b="0" spc="52" baseline="1424" dirty="0">
                <a:latin typeface="Calibri Light"/>
                <a:cs typeface="Calibri Light"/>
              </a:rPr>
              <a:t>a</a:t>
            </a:r>
            <a:r>
              <a:rPr sz="2925" b="0" spc="22" baseline="1424" dirty="0">
                <a:latin typeface="Calibri Light"/>
                <a:cs typeface="Calibri Light"/>
              </a:rPr>
              <a:t>r</a:t>
            </a:r>
            <a:r>
              <a:rPr sz="2925" b="0" spc="60" baseline="1424" dirty="0">
                <a:latin typeface="Calibri Light"/>
                <a:cs typeface="Calibri Light"/>
              </a:rPr>
              <a:t> </a:t>
            </a:r>
            <a:r>
              <a:rPr sz="2925" b="0" spc="75" baseline="1424" dirty="0">
                <a:latin typeface="Calibri Light"/>
                <a:cs typeface="Calibri Light"/>
              </a:rPr>
              <a:t>P</a:t>
            </a:r>
            <a:r>
              <a:rPr sz="2925" b="0" spc="60" baseline="1424" dirty="0">
                <a:latin typeface="Calibri Light"/>
                <a:cs typeface="Calibri Light"/>
              </a:rPr>
              <a:t>e</a:t>
            </a:r>
            <a:r>
              <a:rPr sz="2925" b="0" spc="37" baseline="1424" dirty="0">
                <a:latin typeface="Calibri Light"/>
                <a:cs typeface="Calibri Light"/>
              </a:rPr>
              <a:t>r</a:t>
            </a:r>
            <a:r>
              <a:rPr sz="2925" b="0" spc="22" baseline="1424" dirty="0">
                <a:latin typeface="Calibri Light"/>
                <a:cs typeface="Calibri Light"/>
              </a:rPr>
              <a:t>i</a:t>
            </a:r>
            <a:r>
              <a:rPr sz="2925" b="0" spc="67" baseline="1424" dirty="0">
                <a:latin typeface="Calibri Light"/>
                <a:cs typeface="Calibri Light"/>
              </a:rPr>
              <a:t>o</a:t>
            </a:r>
            <a:r>
              <a:rPr sz="2925" b="0" spc="37" baseline="1424" dirty="0">
                <a:latin typeface="Calibri Light"/>
                <a:cs typeface="Calibri Light"/>
              </a:rPr>
              <a:t>d</a:t>
            </a:r>
            <a:r>
              <a:rPr sz="2925" b="0" spc="75" baseline="1424" dirty="0">
                <a:latin typeface="Calibri Light"/>
                <a:cs typeface="Calibri Light"/>
              </a:rPr>
              <a:t> </a:t>
            </a:r>
            <a:r>
              <a:rPr sz="2925" b="0" spc="22" baseline="1424" dirty="0">
                <a:latin typeface="Calibri Light"/>
                <a:cs typeface="Calibri Light"/>
              </a:rPr>
              <a:t>(</a:t>
            </a:r>
            <a:r>
              <a:rPr sz="2925" b="0" spc="60" baseline="1424" dirty="0">
                <a:latin typeface="Calibri Light"/>
                <a:cs typeface="Calibri Light"/>
              </a:rPr>
              <a:t>191</a:t>
            </a:r>
            <a:r>
              <a:rPr sz="2925" b="0" spc="67" baseline="1424" dirty="0">
                <a:latin typeface="Calibri Light"/>
                <a:cs typeface="Calibri Light"/>
              </a:rPr>
              <a:t>8</a:t>
            </a:r>
            <a:r>
              <a:rPr sz="2925" b="0" spc="52" baseline="1424" dirty="0">
                <a:latin typeface="Calibri Light"/>
                <a:cs typeface="Calibri Light"/>
              </a:rPr>
              <a:t>-1939</a:t>
            </a:r>
            <a:r>
              <a:rPr sz="2925" b="0" spc="15" baseline="1424" dirty="0">
                <a:latin typeface="Calibri Light"/>
                <a:cs typeface="Calibri Light"/>
              </a:rPr>
              <a:t>)</a:t>
            </a:r>
            <a:r>
              <a:rPr sz="2925" b="0" spc="52" baseline="1424" dirty="0">
                <a:latin typeface="Calibri Light"/>
                <a:cs typeface="Calibri Light"/>
              </a:rPr>
              <a:t> </a:t>
            </a:r>
            <a:r>
              <a:rPr sz="2000" spc="45" dirty="0"/>
              <a:t>미국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698741"/>
            <a:ext cx="8724900" cy="39243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20675" indent="-308610" algn="just">
              <a:lnSpc>
                <a:spcPct val="100000"/>
              </a:lnSpc>
              <a:spcBef>
                <a:spcPts val="67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600" spc="15" dirty="0">
                <a:latin typeface="Malgun Gothic"/>
                <a:cs typeface="Malgun Gothic"/>
              </a:rPr>
              <a:t>원인</a:t>
            </a:r>
            <a:endParaRPr sz="1600">
              <a:latin typeface="Malgun Gothic"/>
              <a:cs typeface="Malgun Gothic"/>
            </a:endParaRPr>
          </a:p>
          <a:p>
            <a:pPr marL="619760" lvl="1" indent="-299720" algn="just">
              <a:lnSpc>
                <a:spcPct val="100000"/>
              </a:lnSpc>
              <a:spcBef>
                <a:spcPts val="575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spc="15" dirty="0">
                <a:latin typeface="Malgun Gothic"/>
                <a:cs typeface="Malgun Gothic"/>
              </a:rPr>
              <a:t>금본위제</a:t>
            </a:r>
            <a:r>
              <a:rPr sz="1600" dirty="0">
                <a:latin typeface="Malgun Gothic"/>
                <a:cs typeface="Malgun Gothic"/>
              </a:rPr>
              <a:t>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복귀하</a:t>
            </a:r>
            <a:r>
              <a:rPr sz="1600" dirty="0">
                <a:latin typeface="Malgun Gothic"/>
                <a:cs typeface="Malgun Gothic"/>
              </a:rPr>
              <a:t>는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과정에</a:t>
            </a:r>
            <a:r>
              <a:rPr sz="1600" dirty="0">
                <a:latin typeface="Malgun Gothic"/>
                <a:cs typeface="Malgun Gothic"/>
              </a:rPr>
              <a:t>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파운드화</a:t>
            </a:r>
            <a:r>
              <a:rPr sz="1600" dirty="0">
                <a:latin typeface="Malgun Gothic"/>
                <a:cs typeface="Malgun Gothic"/>
              </a:rPr>
              <a:t>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과대평가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달러화</a:t>
            </a:r>
            <a:r>
              <a:rPr sz="1600" dirty="0">
                <a:latin typeface="Malgun Gothic"/>
                <a:cs typeface="Malgun Gothic"/>
              </a:rPr>
              <a:t>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과소평가</a:t>
            </a:r>
            <a:endParaRPr sz="1600">
              <a:latin typeface="Malgun Gothic"/>
              <a:cs typeface="Malgun Gothic"/>
            </a:endParaRPr>
          </a:p>
          <a:p>
            <a:pPr marL="619760" marR="46990" lvl="1" indent="-299720" algn="just">
              <a:lnSpc>
                <a:spcPct val="111900"/>
              </a:lnSpc>
              <a:spcBef>
                <a:spcPts val="350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spc="15" dirty="0">
                <a:latin typeface="Malgun Gothic"/>
                <a:cs typeface="Malgun Gothic"/>
              </a:rPr>
              <a:t>고정</a:t>
            </a:r>
            <a:r>
              <a:rPr sz="1600" dirty="0">
                <a:latin typeface="Malgun Gothic"/>
                <a:cs typeface="Malgun Gothic"/>
              </a:rPr>
              <a:t>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환율</a:t>
            </a:r>
            <a:r>
              <a:rPr sz="1600" dirty="0">
                <a:latin typeface="Malgun Gothic"/>
                <a:cs typeface="Malgun Gothic"/>
              </a:rPr>
              <a:t>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지키</a:t>
            </a:r>
            <a:r>
              <a:rPr sz="1600" dirty="0">
                <a:latin typeface="Malgun Gothic"/>
                <a:cs typeface="Malgun Gothic"/>
              </a:rPr>
              <a:t>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위해</a:t>
            </a:r>
            <a:r>
              <a:rPr sz="1600" dirty="0">
                <a:latin typeface="Malgun Gothic"/>
                <a:cs typeface="Malgun Gothic"/>
              </a:rPr>
              <a:t>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영국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긴축재정기</a:t>
            </a:r>
            <a:r>
              <a:rPr sz="1600" dirty="0">
                <a:latin typeface="Malgun Gothic"/>
                <a:cs typeface="Malgun Gothic"/>
              </a:rPr>
              <a:t>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영국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불황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심화되</a:t>
            </a:r>
            <a:r>
              <a:rPr sz="1600" dirty="0">
                <a:latin typeface="Malgun Gothic"/>
                <a:cs typeface="Malgun Gothic"/>
              </a:rPr>
              <a:t>고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높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실업률  </a:t>
            </a:r>
            <a:r>
              <a:rPr sz="1600" spc="10" dirty="0">
                <a:latin typeface="Corbel"/>
                <a:cs typeface="Corbel"/>
              </a:rPr>
              <a:t>(</a:t>
            </a:r>
            <a:r>
              <a:rPr sz="1600" spc="15" dirty="0">
                <a:latin typeface="Malgun Gothic"/>
                <a:cs typeface="Malgun Gothic"/>
              </a:rPr>
              <a:t>영국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5" dirty="0">
                <a:latin typeface="Corbel"/>
                <a:cs typeface="Corbel"/>
              </a:rPr>
              <a:t>“1</a:t>
            </a:r>
            <a:r>
              <a:rPr sz="1600" dirty="0">
                <a:latin typeface="Malgun Gothic"/>
                <a:cs typeface="Malgun Gothic"/>
              </a:rPr>
              <a:t>차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세계대</a:t>
            </a:r>
            <a:r>
              <a:rPr sz="1600" dirty="0">
                <a:latin typeface="Malgun Gothic"/>
                <a:cs typeface="Malgun Gothic"/>
              </a:rPr>
              <a:t>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이</a:t>
            </a:r>
            <a:r>
              <a:rPr sz="1600" dirty="0">
                <a:latin typeface="Malgun Gothic"/>
                <a:cs typeface="Malgun Gothic"/>
              </a:rPr>
              <a:t>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급변</a:t>
            </a:r>
            <a:r>
              <a:rPr sz="1600" dirty="0">
                <a:latin typeface="Malgun Gothic"/>
                <a:cs typeface="Malgun Gothic"/>
              </a:rPr>
              <a:t>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세계경제질서</a:t>
            </a:r>
            <a:r>
              <a:rPr sz="1600" dirty="0">
                <a:latin typeface="Malgun Gothic"/>
                <a:cs typeface="Malgun Gothic"/>
              </a:rPr>
              <a:t>에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대처하</a:t>
            </a:r>
            <a:r>
              <a:rPr sz="1600" dirty="0">
                <a:latin typeface="Malgun Gothic"/>
                <a:cs typeface="Malgun Gothic"/>
              </a:rPr>
              <a:t>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못하</a:t>
            </a:r>
            <a:r>
              <a:rPr sz="1600" dirty="0">
                <a:latin typeface="Malgun Gothic"/>
                <a:cs typeface="Malgun Gothic"/>
              </a:rPr>
              <a:t>고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5" dirty="0">
                <a:latin typeface="Corbel"/>
                <a:cs typeface="Corbel"/>
              </a:rPr>
              <a:t>1</a:t>
            </a:r>
            <a:r>
              <a:rPr sz="1600" spc="10" dirty="0">
                <a:latin typeface="Corbel"/>
                <a:cs typeface="Corbel"/>
              </a:rPr>
              <a:t>9</a:t>
            </a:r>
            <a:r>
              <a:rPr sz="1600" spc="15" dirty="0">
                <a:latin typeface="Malgun Gothic"/>
                <a:cs typeface="Malgun Gothic"/>
              </a:rPr>
              <a:t>세기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안정</a:t>
            </a:r>
            <a:r>
              <a:rPr sz="1600" dirty="0">
                <a:latin typeface="Malgun Gothic"/>
                <a:cs typeface="Malgun Gothic"/>
              </a:rPr>
              <a:t>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황금  </a:t>
            </a:r>
            <a:r>
              <a:rPr sz="1600" spc="10" dirty="0">
                <a:latin typeface="Malgun Gothic"/>
                <a:cs typeface="Malgun Gothic"/>
              </a:rPr>
              <a:t>시기로</a:t>
            </a:r>
            <a:r>
              <a:rPr sz="1600" spc="-229" dirty="0">
                <a:latin typeface="Malgun Gothic"/>
                <a:cs typeface="Malgun Gothic"/>
              </a:rPr>
              <a:t> </a:t>
            </a:r>
            <a:r>
              <a:rPr sz="1600" spc="10" dirty="0">
                <a:latin typeface="Malgun Gothic"/>
                <a:cs typeface="Malgun Gothic"/>
              </a:rPr>
              <a:t>복귀하려는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0" dirty="0">
                <a:latin typeface="Malgun Gothic"/>
                <a:cs typeface="Malgun Gothic"/>
              </a:rPr>
              <a:t>시대착오적인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0" dirty="0">
                <a:latin typeface="Malgun Gothic"/>
                <a:cs typeface="Malgun Gothic"/>
              </a:rPr>
              <a:t>성향</a:t>
            </a:r>
            <a:r>
              <a:rPr sz="1600" spc="10" dirty="0">
                <a:latin typeface="Corbel"/>
                <a:cs typeface="Corbel"/>
              </a:rPr>
              <a:t>”)</a:t>
            </a:r>
            <a:endParaRPr sz="1600">
              <a:latin typeface="Corbel"/>
              <a:cs typeface="Corbel"/>
            </a:endParaRPr>
          </a:p>
          <a:p>
            <a:pPr marL="619760" marR="29209" lvl="1" indent="-299720" algn="just">
              <a:lnSpc>
                <a:spcPct val="110000"/>
              </a:lnSpc>
              <a:spcBef>
                <a:spcPts val="380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spc="5" dirty="0">
                <a:latin typeface="Corbel"/>
                <a:cs typeface="Corbel"/>
              </a:rPr>
              <a:t>1</a:t>
            </a:r>
            <a:r>
              <a:rPr sz="1600" spc="10" dirty="0">
                <a:latin typeface="Corbel"/>
                <a:cs typeface="Corbel"/>
              </a:rPr>
              <a:t>92</a:t>
            </a:r>
            <a:r>
              <a:rPr sz="1600" spc="5" dirty="0">
                <a:latin typeface="Corbel"/>
                <a:cs typeface="Corbel"/>
              </a:rPr>
              <a:t>0</a:t>
            </a:r>
            <a:r>
              <a:rPr sz="1600" spc="15" dirty="0">
                <a:latin typeface="Malgun Gothic"/>
                <a:cs typeface="Malgun Gothic"/>
              </a:rPr>
              <a:t>년</a:t>
            </a:r>
            <a:r>
              <a:rPr sz="1600" dirty="0">
                <a:latin typeface="Malgun Gothic"/>
                <a:cs typeface="Malgun Gothic"/>
              </a:rPr>
              <a:t>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미국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세계대</a:t>
            </a:r>
            <a:r>
              <a:rPr sz="1600" dirty="0">
                <a:latin typeface="Malgun Gothic"/>
                <a:cs typeface="Malgun Gothic"/>
              </a:rPr>
              <a:t>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중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막대</a:t>
            </a:r>
            <a:r>
              <a:rPr sz="1600" dirty="0">
                <a:latin typeface="Malgun Gothic"/>
                <a:cs typeface="Malgun Gothic"/>
              </a:rPr>
              <a:t>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해외자</a:t>
            </a:r>
            <a:r>
              <a:rPr sz="1600" dirty="0">
                <a:latin typeface="Malgun Gothic"/>
                <a:cs typeface="Malgun Gothic"/>
              </a:rPr>
              <a:t>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축적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지속적</a:t>
            </a:r>
            <a:r>
              <a:rPr sz="1600" dirty="0">
                <a:latin typeface="Malgun Gothic"/>
                <a:cs typeface="Malgun Gothic"/>
              </a:rPr>
              <a:t>인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국제수</a:t>
            </a:r>
            <a:r>
              <a:rPr sz="1600" dirty="0">
                <a:latin typeface="Malgun Gothic"/>
                <a:cs typeface="Malgun Gothic"/>
              </a:rPr>
              <a:t>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흑자</a:t>
            </a:r>
            <a:r>
              <a:rPr sz="1600" dirty="0">
                <a:latin typeface="Malgun Gothic"/>
                <a:cs typeface="Malgun Gothic"/>
              </a:rPr>
              <a:t>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대외적으로  강력</a:t>
            </a:r>
            <a:r>
              <a:rPr sz="1600" dirty="0">
                <a:latin typeface="Malgun Gothic"/>
                <a:cs typeface="Malgun Gothic"/>
              </a:rPr>
              <a:t>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우</a:t>
            </a:r>
            <a:r>
              <a:rPr sz="1600" dirty="0">
                <a:latin typeface="Malgun Gothic"/>
                <a:cs typeface="Malgun Gothic"/>
              </a:rPr>
              <a:t>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구축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막대</a:t>
            </a:r>
            <a:r>
              <a:rPr sz="1600" dirty="0">
                <a:latin typeface="Malgun Gothic"/>
                <a:cs typeface="Malgun Gothic"/>
              </a:rPr>
              <a:t>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자본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유</a:t>
            </a:r>
            <a:r>
              <a:rPr sz="1600" dirty="0">
                <a:latin typeface="Malgun Gothic"/>
                <a:cs typeface="Malgun Gothic"/>
              </a:rPr>
              <a:t>입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투</a:t>
            </a:r>
            <a:r>
              <a:rPr sz="1600" dirty="0">
                <a:latin typeface="Malgun Gothic"/>
                <a:cs typeface="Malgun Gothic"/>
              </a:rPr>
              <a:t>자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붐</a:t>
            </a:r>
            <a:r>
              <a:rPr sz="1600" dirty="0">
                <a:latin typeface="Malgun Gothic"/>
                <a:cs typeface="Malgun Gothic"/>
              </a:rPr>
              <a:t>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넘</a:t>
            </a:r>
            <a:r>
              <a:rPr sz="1600" dirty="0">
                <a:latin typeface="Malgun Gothic"/>
                <a:cs typeface="Malgun Gothic"/>
              </a:rPr>
              <a:t>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투기</a:t>
            </a:r>
            <a:r>
              <a:rPr sz="1600" dirty="0">
                <a:latin typeface="Malgun Gothic"/>
                <a:cs typeface="Malgun Gothic"/>
              </a:rPr>
              <a:t>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이어짐</a:t>
            </a:r>
            <a:endParaRPr sz="1600">
              <a:latin typeface="Malgun Gothic"/>
              <a:cs typeface="Malgun Gothic"/>
            </a:endParaRPr>
          </a:p>
          <a:p>
            <a:pPr marL="619760" lvl="1" indent="-299720" algn="just">
              <a:lnSpc>
                <a:spcPct val="100000"/>
              </a:lnSpc>
              <a:spcBef>
                <a:spcPts val="580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spc="15" dirty="0">
                <a:latin typeface="Malgun Gothic"/>
                <a:cs typeface="Malgun Gothic"/>
              </a:rPr>
              <a:t>유</a:t>
            </a:r>
            <a:r>
              <a:rPr sz="1600" dirty="0">
                <a:latin typeface="Malgun Gothic"/>
                <a:cs typeface="Malgun Gothic"/>
              </a:rPr>
              <a:t>럽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경제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안정보다</a:t>
            </a:r>
            <a:r>
              <a:rPr sz="1600" dirty="0">
                <a:latin typeface="Malgun Gothic"/>
                <a:cs typeface="Malgun Gothic"/>
              </a:rPr>
              <a:t>는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자국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안정</a:t>
            </a:r>
            <a:r>
              <a:rPr sz="1600" dirty="0">
                <a:latin typeface="Malgun Gothic"/>
                <a:cs typeface="Malgun Gothic"/>
              </a:rPr>
              <a:t>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최우선으</a:t>
            </a:r>
            <a:r>
              <a:rPr sz="1600" dirty="0">
                <a:latin typeface="Malgun Gothic"/>
                <a:cs typeface="Malgun Gothic"/>
              </a:rPr>
              <a:t>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추구</a:t>
            </a:r>
            <a:endParaRPr sz="1600">
              <a:latin typeface="Malgun Gothic"/>
              <a:cs typeface="Malgun Gothic"/>
            </a:endParaRPr>
          </a:p>
          <a:p>
            <a:pPr marL="320675" indent="-308610" algn="just">
              <a:lnSpc>
                <a:spcPct val="100000"/>
              </a:lnSpc>
              <a:spcBef>
                <a:spcPts val="57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600" spc="15" dirty="0">
                <a:latin typeface="Malgun Gothic"/>
                <a:cs typeface="Malgun Gothic"/>
              </a:rPr>
              <a:t>미국</a:t>
            </a:r>
            <a:r>
              <a:rPr sz="1600" dirty="0">
                <a:latin typeface="Malgun Gothic"/>
                <a:cs typeface="Malgun Gothic"/>
              </a:rPr>
              <a:t>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5" dirty="0">
                <a:latin typeface="Corbel"/>
                <a:cs typeface="Corbel"/>
              </a:rPr>
              <a:t>1</a:t>
            </a:r>
            <a:r>
              <a:rPr sz="1600" spc="10" dirty="0">
                <a:latin typeface="Corbel"/>
                <a:cs typeface="Corbel"/>
              </a:rPr>
              <a:t>92</a:t>
            </a:r>
            <a:r>
              <a:rPr sz="1600" spc="5" dirty="0">
                <a:latin typeface="Corbel"/>
                <a:cs typeface="Corbel"/>
              </a:rPr>
              <a:t>1</a:t>
            </a:r>
            <a:r>
              <a:rPr sz="1600" spc="10" dirty="0">
                <a:latin typeface="Corbel"/>
                <a:cs typeface="Corbel"/>
              </a:rPr>
              <a:t>-22</a:t>
            </a:r>
            <a:r>
              <a:rPr sz="1600" spc="15" dirty="0">
                <a:latin typeface="Malgun Gothic"/>
                <a:cs typeface="Malgun Gothic"/>
              </a:rPr>
              <a:t>년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경</a:t>
            </a:r>
            <a:r>
              <a:rPr sz="1600" dirty="0">
                <a:latin typeface="Malgun Gothic"/>
                <a:cs typeface="Malgun Gothic"/>
              </a:rPr>
              <a:t>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침체</a:t>
            </a:r>
            <a:r>
              <a:rPr sz="1600" dirty="0">
                <a:latin typeface="Corbel"/>
                <a:cs typeface="Corbel"/>
              </a:rPr>
              <a:t>. </a:t>
            </a:r>
            <a:r>
              <a:rPr sz="1600" dirty="0">
                <a:latin typeface="Malgun Gothic"/>
                <a:cs typeface="Malgun Gothic"/>
              </a:rPr>
              <a:t>그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이후에</a:t>
            </a:r>
            <a:r>
              <a:rPr sz="1600" dirty="0">
                <a:latin typeface="Malgun Gothic"/>
                <a:cs typeface="Malgun Gothic"/>
              </a:rPr>
              <a:t>는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번영</a:t>
            </a:r>
            <a:r>
              <a:rPr sz="1600" dirty="0">
                <a:latin typeface="Malgun Gothic"/>
                <a:cs typeface="Malgun Gothic"/>
              </a:rPr>
              <a:t>과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팽창</a:t>
            </a:r>
            <a:r>
              <a:rPr sz="1600" dirty="0">
                <a:latin typeface="Malgun Gothic"/>
                <a:cs typeface="Malgun Gothic"/>
              </a:rPr>
              <a:t>의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시기</a:t>
            </a:r>
            <a:endParaRPr sz="1600">
              <a:latin typeface="Malgun Gothic"/>
              <a:cs typeface="Malgun Gothic"/>
            </a:endParaRPr>
          </a:p>
          <a:p>
            <a:pPr marL="619760" lvl="1" indent="-299720" algn="just">
              <a:lnSpc>
                <a:spcPct val="100000"/>
              </a:lnSpc>
              <a:spcBef>
                <a:spcPts val="575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spc="5" dirty="0">
                <a:latin typeface="Corbel"/>
                <a:cs typeface="Corbel"/>
              </a:rPr>
              <a:t>1</a:t>
            </a:r>
            <a:r>
              <a:rPr sz="1600" spc="10" dirty="0">
                <a:latin typeface="Corbel"/>
                <a:cs typeface="Corbel"/>
              </a:rPr>
              <a:t>92</a:t>
            </a:r>
            <a:r>
              <a:rPr sz="1600" spc="5" dirty="0">
                <a:latin typeface="Corbel"/>
                <a:cs typeface="Corbel"/>
              </a:rPr>
              <a:t>0</a:t>
            </a:r>
            <a:r>
              <a:rPr sz="1600" spc="15" dirty="0">
                <a:latin typeface="Malgun Gothic"/>
                <a:cs typeface="Malgun Gothic"/>
              </a:rPr>
              <a:t>년</a:t>
            </a:r>
            <a:r>
              <a:rPr sz="1600" dirty="0">
                <a:latin typeface="Malgun Gothic"/>
                <a:cs typeface="Malgun Gothic"/>
              </a:rPr>
              <a:t>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산업생산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0" dirty="0">
                <a:latin typeface="Corbel"/>
                <a:cs typeface="Corbel"/>
              </a:rPr>
              <a:t>6</a:t>
            </a:r>
            <a:r>
              <a:rPr sz="1600" spc="5" dirty="0">
                <a:latin typeface="Corbel"/>
                <a:cs typeface="Corbel"/>
              </a:rPr>
              <a:t>0</a:t>
            </a:r>
            <a:r>
              <a:rPr sz="1600" dirty="0">
                <a:latin typeface="Corbel"/>
                <a:cs typeface="Corbel"/>
              </a:rPr>
              <a:t>%</a:t>
            </a:r>
            <a:r>
              <a:rPr sz="1600" spc="10" dirty="0">
                <a:latin typeface="Corbel"/>
                <a:cs typeface="Corbel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이</a:t>
            </a:r>
            <a:r>
              <a:rPr sz="1600" dirty="0">
                <a:latin typeface="Malgun Gothic"/>
                <a:cs typeface="Malgun Gothic"/>
              </a:rPr>
              <a:t>상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증가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개</a:t>
            </a:r>
            <a:r>
              <a:rPr sz="1600" dirty="0">
                <a:latin typeface="Malgun Gothic"/>
                <a:cs typeface="Malgun Gothic"/>
              </a:rPr>
              <a:t>인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소득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5" dirty="0">
                <a:latin typeface="Corbel"/>
                <a:cs typeface="Corbel"/>
              </a:rPr>
              <a:t>33</a:t>
            </a:r>
            <a:r>
              <a:rPr sz="1600" dirty="0">
                <a:latin typeface="Corbel"/>
                <a:cs typeface="Corbel"/>
              </a:rPr>
              <a:t>%</a:t>
            </a:r>
            <a:r>
              <a:rPr sz="1600" spc="10" dirty="0">
                <a:latin typeface="Corbel"/>
                <a:cs typeface="Corbel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정</a:t>
            </a:r>
            <a:r>
              <a:rPr sz="1600" dirty="0">
                <a:latin typeface="Malgun Gothic"/>
                <a:cs typeface="Malgun Gothic"/>
              </a:rPr>
              <a:t>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증가</a:t>
            </a:r>
            <a:endParaRPr sz="1600">
              <a:latin typeface="Malgun Gothic"/>
              <a:cs typeface="Malgun Gothic"/>
            </a:endParaRPr>
          </a:p>
          <a:p>
            <a:pPr marL="619760" marR="5080" lvl="1" indent="-299720" algn="just">
              <a:lnSpc>
                <a:spcPct val="112500"/>
              </a:lnSpc>
              <a:spcBef>
                <a:spcPts val="335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600" dirty="0">
                <a:latin typeface="Malgun Gothic"/>
                <a:cs typeface="Malgun Gothic"/>
              </a:rPr>
              <a:t>주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원인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기술력</a:t>
            </a:r>
            <a:r>
              <a:rPr sz="1600" dirty="0">
                <a:latin typeface="Corbel"/>
                <a:cs typeface="Corbel"/>
              </a:rPr>
              <a:t>: </a:t>
            </a:r>
            <a:r>
              <a:rPr sz="1600" spc="15" dirty="0">
                <a:latin typeface="Malgun Gothic"/>
                <a:cs typeface="Malgun Gothic"/>
              </a:rPr>
              <a:t>자동</a:t>
            </a:r>
            <a:r>
              <a:rPr sz="1600" dirty="0">
                <a:latin typeface="Malgun Gothic"/>
                <a:cs typeface="Malgun Gothic"/>
              </a:rPr>
              <a:t>차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산업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시</a:t>
            </a:r>
            <a:r>
              <a:rPr sz="1600" dirty="0">
                <a:latin typeface="Malgun Gothic"/>
                <a:cs typeface="Malgun Gothic"/>
              </a:rPr>
              <a:t>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급속</a:t>
            </a:r>
            <a:r>
              <a:rPr sz="1600" dirty="0">
                <a:latin typeface="Malgun Gothic"/>
                <a:cs typeface="Malgun Gothic"/>
              </a:rPr>
              <a:t>히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발달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관</a:t>
            </a:r>
            <a:r>
              <a:rPr sz="1600" dirty="0">
                <a:latin typeface="Malgun Gothic"/>
                <a:cs typeface="Malgun Gothic"/>
              </a:rPr>
              <a:t>련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산업</a:t>
            </a:r>
            <a:r>
              <a:rPr sz="1600" dirty="0">
                <a:latin typeface="Malgun Gothic"/>
                <a:cs typeface="Malgun Gothic"/>
              </a:rPr>
              <a:t>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활기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자동</a:t>
            </a:r>
            <a:r>
              <a:rPr sz="1600" dirty="0">
                <a:latin typeface="Malgun Gothic"/>
                <a:cs typeface="Malgun Gothic"/>
              </a:rPr>
              <a:t>차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제조업자들  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철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고무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유리제품</a:t>
            </a:r>
            <a:r>
              <a:rPr sz="1600" dirty="0">
                <a:latin typeface="Malgun Gothic"/>
                <a:cs typeface="Malgun Gothic"/>
              </a:rPr>
              <a:t>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구매하</a:t>
            </a:r>
            <a:r>
              <a:rPr sz="1600" dirty="0">
                <a:latin typeface="Malgun Gothic"/>
                <a:cs typeface="Malgun Gothic"/>
              </a:rPr>
              <a:t>고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공구회사</a:t>
            </a:r>
            <a:r>
              <a:rPr sz="1600" dirty="0">
                <a:latin typeface="Malgun Gothic"/>
                <a:cs typeface="Malgun Gothic"/>
              </a:rPr>
              <a:t>를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사들였음</a:t>
            </a:r>
            <a:r>
              <a:rPr sz="1600" dirty="0">
                <a:latin typeface="Corbel"/>
                <a:cs typeface="Corbel"/>
              </a:rPr>
              <a:t>. </a:t>
            </a:r>
            <a:r>
              <a:rPr sz="1600" spc="15" dirty="0">
                <a:latin typeface="Malgun Gothic"/>
                <a:cs typeface="Malgun Gothic"/>
              </a:rPr>
              <a:t>정유회사에</a:t>
            </a:r>
            <a:r>
              <a:rPr sz="1600" dirty="0">
                <a:latin typeface="Malgun Gothic"/>
                <a:cs typeface="Malgun Gothic"/>
              </a:rPr>
              <a:t>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가솔</a:t>
            </a:r>
            <a:r>
              <a:rPr sz="1600" dirty="0">
                <a:latin typeface="Malgun Gothic"/>
                <a:cs typeface="Malgun Gothic"/>
              </a:rPr>
              <a:t>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구매</a:t>
            </a:r>
            <a:r>
              <a:rPr sz="1600" dirty="0">
                <a:latin typeface="Corbel"/>
                <a:cs typeface="Corbel"/>
              </a:rPr>
              <a:t>, </a:t>
            </a:r>
            <a:r>
              <a:rPr sz="1600" spc="15" dirty="0">
                <a:latin typeface="Malgun Gothic"/>
                <a:cs typeface="Malgun Gothic"/>
              </a:rPr>
              <a:t>도</a:t>
            </a:r>
            <a:r>
              <a:rPr sz="1600" dirty="0">
                <a:latin typeface="Malgun Gothic"/>
                <a:cs typeface="Malgun Gothic"/>
              </a:rPr>
              <a:t>로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건  </a:t>
            </a:r>
            <a:r>
              <a:rPr sz="1600" spc="15" dirty="0">
                <a:latin typeface="Malgun Gothic"/>
                <a:cs typeface="Malgun Gothic"/>
              </a:rPr>
              <a:t>설</a:t>
            </a:r>
            <a:r>
              <a:rPr sz="1600" dirty="0">
                <a:latin typeface="Malgun Gothic"/>
                <a:cs typeface="Malgun Gothic"/>
              </a:rPr>
              <a:t>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로비</a:t>
            </a:r>
            <a:r>
              <a:rPr sz="1600" spc="5" dirty="0">
                <a:latin typeface="Corbel"/>
                <a:cs typeface="Corbel"/>
              </a:rPr>
              <a:t>/</a:t>
            </a:r>
            <a:r>
              <a:rPr sz="1600" spc="15" dirty="0">
                <a:latin typeface="Malgun Gothic"/>
                <a:cs typeface="Malgun Gothic"/>
              </a:rPr>
              <a:t>촉</a:t>
            </a:r>
            <a:r>
              <a:rPr sz="1600" dirty="0">
                <a:latin typeface="Malgun Gothic"/>
                <a:cs typeface="Malgun Gothic"/>
              </a:rPr>
              <a:t>진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교외주</a:t>
            </a:r>
            <a:r>
              <a:rPr sz="1600" dirty="0">
                <a:latin typeface="Malgun Gothic"/>
                <a:cs typeface="Malgun Gothic"/>
              </a:rPr>
              <a:t>택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수</a:t>
            </a:r>
            <a:r>
              <a:rPr sz="1600" dirty="0">
                <a:latin typeface="Malgun Gothic"/>
                <a:cs typeface="Malgun Gothic"/>
              </a:rPr>
              <a:t>요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증</a:t>
            </a:r>
            <a:r>
              <a:rPr sz="1600" dirty="0">
                <a:latin typeface="Malgun Gothic"/>
                <a:cs typeface="Malgun Gothic"/>
              </a:rPr>
              <a:t>가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Wingdings"/>
                <a:cs typeface="Wingdings"/>
              </a:rPr>
              <a:t>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주</a:t>
            </a:r>
            <a:r>
              <a:rPr sz="1600" dirty="0">
                <a:latin typeface="Malgun Gothic"/>
                <a:cs typeface="Malgun Gothic"/>
              </a:rPr>
              <a:t>택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경</a:t>
            </a:r>
            <a:r>
              <a:rPr sz="1600" dirty="0">
                <a:latin typeface="Malgun Gothic"/>
                <a:cs typeface="Malgun Gothic"/>
              </a:rPr>
              <a:t>기</a:t>
            </a:r>
            <a:r>
              <a:rPr sz="1600" spc="-225" dirty="0">
                <a:latin typeface="Malgun Gothic"/>
                <a:cs typeface="Malgun Gothic"/>
              </a:rPr>
              <a:t> </a:t>
            </a:r>
            <a:r>
              <a:rPr sz="1600" spc="15" dirty="0">
                <a:latin typeface="Malgun Gothic"/>
                <a:cs typeface="Malgun Gothic"/>
              </a:rPr>
              <a:t>호황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1383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</a:t>
            </a:r>
            <a:r>
              <a:rPr dirty="0"/>
              <a:t>기</a:t>
            </a:r>
            <a:r>
              <a:rPr spc="-190" dirty="0"/>
              <a:t> </a:t>
            </a:r>
            <a:r>
              <a:rPr spc="45" dirty="0"/>
              <a:t>미국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774432"/>
            <a:ext cx="8817610" cy="37839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년부터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년간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대통령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의회는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공화당이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장악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연방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정부는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기업과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협조적인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관계</a:t>
            </a:r>
            <a:endParaRPr sz="1700">
              <a:latin typeface="Malgun Gothic"/>
              <a:cs typeface="Malgun Gothic"/>
            </a:endParaRPr>
          </a:p>
          <a:p>
            <a:pPr marL="320675" marR="81915" indent="-308610">
              <a:lnSpc>
                <a:spcPts val="1989"/>
              </a:lnSpc>
              <a:spcBef>
                <a:spcPts val="56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하딩과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쿨리지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대통령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기업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산업이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효율성과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생산성을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달성할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있도록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공공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  책을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이용</a:t>
            </a:r>
            <a:endParaRPr sz="1700">
              <a:latin typeface="Malgun Gothic"/>
              <a:cs typeface="Malgun Gothic"/>
            </a:endParaRPr>
          </a:p>
          <a:p>
            <a:pPr marL="619760" marR="48895" lvl="1" indent="-299720">
              <a:lnSpc>
                <a:spcPts val="202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당시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재무부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장관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앤드류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멜론</a:t>
            </a:r>
            <a:r>
              <a:rPr sz="1700" spc="5" dirty="0">
                <a:latin typeface="Corbel"/>
                <a:cs typeface="Corbel"/>
              </a:rPr>
              <a:t>A</a:t>
            </a:r>
            <a:r>
              <a:rPr sz="1700" spc="-5" dirty="0">
                <a:latin typeface="Corbel"/>
                <a:cs typeface="Corbel"/>
              </a:rPr>
              <a:t>n</a:t>
            </a:r>
            <a:r>
              <a:rPr sz="1700" spc="5" dirty="0">
                <a:latin typeface="Corbel"/>
                <a:cs typeface="Corbel"/>
              </a:rPr>
              <a:t>dre</a:t>
            </a:r>
            <a:r>
              <a:rPr sz="1700" dirty="0">
                <a:latin typeface="Corbel"/>
                <a:cs typeface="Corbel"/>
              </a:rPr>
              <a:t>w </a:t>
            </a:r>
            <a:r>
              <a:rPr sz="1700" spc="-5" dirty="0">
                <a:latin typeface="Corbel"/>
                <a:cs typeface="Corbel"/>
              </a:rPr>
              <a:t>M</a:t>
            </a:r>
            <a:r>
              <a:rPr sz="1700" spc="5" dirty="0">
                <a:latin typeface="Corbel"/>
                <a:cs typeface="Corbel"/>
              </a:rPr>
              <a:t>e</a:t>
            </a:r>
            <a:r>
              <a:rPr sz="1700" dirty="0">
                <a:latin typeface="Corbel"/>
                <a:cs typeface="Corbel"/>
              </a:rPr>
              <a:t>ll</a:t>
            </a:r>
            <a:r>
              <a:rPr sz="1700" spc="-5" dirty="0">
                <a:latin typeface="Corbel"/>
                <a:cs typeface="Corbel"/>
              </a:rPr>
              <a:t>on</a:t>
            </a:r>
            <a:r>
              <a:rPr sz="1700" dirty="0">
                <a:latin typeface="Malgun Gothic"/>
                <a:cs typeface="Malgun Gothic"/>
              </a:rPr>
              <a:t>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기업이윤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개인소득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상속세를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낮추기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위  해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애썼으며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절반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가까이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감세</a:t>
            </a:r>
            <a:endParaRPr sz="1700">
              <a:latin typeface="Malgun Gothic"/>
              <a:cs typeface="Malgun Gothic"/>
            </a:endParaRPr>
          </a:p>
          <a:p>
            <a:pPr marL="619760" lvl="1" indent="-299720">
              <a:lnSpc>
                <a:spcPct val="100000"/>
              </a:lnSpc>
              <a:spcBef>
                <a:spcPts val="29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다른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나라에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빌려준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채무를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회수하려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애씀</a:t>
            </a:r>
            <a:endParaRPr sz="1700">
              <a:latin typeface="Malgun Gothic"/>
              <a:cs typeface="Malgun Gothic"/>
            </a:endParaRPr>
          </a:p>
          <a:p>
            <a:pPr marL="619760" marR="95250" lvl="1" indent="-299720">
              <a:lnSpc>
                <a:spcPts val="1989"/>
              </a:lnSpc>
              <a:spcBef>
                <a:spcPts val="56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상무부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장관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하버트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후버는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민간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부문의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자발적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협력을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안정과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생산성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향상을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이루는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  고의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방법으로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후원함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협의체주의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spc="5" dirty="0">
                <a:latin typeface="Corbel"/>
                <a:cs typeface="Corbel"/>
              </a:rPr>
              <a:t>ss</a:t>
            </a:r>
            <a:r>
              <a:rPr sz="1700" spc="-5" dirty="0">
                <a:latin typeface="Corbel"/>
                <a:cs typeface="Corbel"/>
              </a:rPr>
              <a:t>o</a:t>
            </a:r>
            <a:r>
              <a:rPr sz="1700" dirty="0">
                <a:latin typeface="Corbel"/>
                <a:cs typeface="Corbel"/>
              </a:rPr>
              <a:t>c</a:t>
            </a:r>
            <a:r>
              <a:rPr sz="1700" spc="-5" dirty="0">
                <a:latin typeface="Corbel"/>
                <a:cs typeface="Corbel"/>
              </a:rPr>
              <a:t>ia</a:t>
            </a:r>
            <a:r>
              <a:rPr sz="1700" spc="5" dirty="0">
                <a:latin typeface="Corbel"/>
                <a:cs typeface="Corbel"/>
              </a:rPr>
              <a:t>t</a:t>
            </a:r>
            <a:r>
              <a:rPr sz="1700" spc="-5" dirty="0">
                <a:latin typeface="Corbel"/>
                <a:cs typeface="Corbel"/>
              </a:rPr>
              <a:t>ioni</a:t>
            </a:r>
            <a:r>
              <a:rPr sz="1700" spc="5" dirty="0">
                <a:latin typeface="Corbel"/>
                <a:cs typeface="Corbel"/>
              </a:rPr>
              <a:t>s</a:t>
            </a:r>
            <a:r>
              <a:rPr sz="1700" dirty="0">
                <a:latin typeface="Corbel"/>
                <a:cs typeface="Corbel"/>
              </a:rPr>
              <a:t>m</a:t>
            </a:r>
            <a:endParaRPr sz="1700">
              <a:latin typeface="Corbel"/>
              <a:cs typeface="Corbel"/>
            </a:endParaRPr>
          </a:p>
          <a:p>
            <a:pPr marL="320675" marR="5080" indent="-308610">
              <a:lnSpc>
                <a:spcPct val="100600"/>
              </a:lnSpc>
              <a:spcBef>
                <a:spcPts val="29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활력있는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전국적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문화를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만들어냈고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중간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계급은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성장하는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소비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문화에  젖어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있♘으며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호황을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이루던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의존적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산업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필요에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부응하여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재조직되♘  음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이러한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가운데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주식시장의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붕괴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대공황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2551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</a:t>
            </a:r>
            <a:r>
              <a:rPr dirty="0"/>
              <a:t>기</a:t>
            </a:r>
            <a:r>
              <a:rPr spc="-190" dirty="0"/>
              <a:t> </a:t>
            </a:r>
            <a:r>
              <a:rPr spc="45" dirty="0"/>
              <a:t>미국</a:t>
            </a:r>
            <a:r>
              <a:rPr sz="2925" b="0" spc="15" baseline="1424" dirty="0">
                <a:latin typeface="Calibri Light"/>
                <a:cs typeface="Calibri Light"/>
              </a:rPr>
              <a:t>:</a:t>
            </a:r>
            <a:r>
              <a:rPr sz="2925" b="0" spc="67" baseline="1424" dirty="0">
                <a:latin typeface="Calibri Light"/>
                <a:cs typeface="Calibri Light"/>
              </a:rPr>
              <a:t> </a:t>
            </a:r>
            <a:r>
              <a:rPr sz="2000" spc="45" dirty="0"/>
              <a:t>소비사회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814056"/>
            <a:ext cx="8888730" cy="288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marR="5080" indent="-308610">
              <a:lnSpc>
                <a:spcPct val="1082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가정이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라디오세트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하나씩은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중간계급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가정은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전기냉장고</a:t>
            </a:r>
            <a:r>
              <a:rPr sz="1700" dirty="0">
                <a:latin typeface="Corbel"/>
                <a:cs typeface="Corbel"/>
              </a:rPr>
              <a:t>,  </a:t>
            </a:r>
            <a:r>
              <a:rPr sz="1700" dirty="0">
                <a:latin typeface="Malgun Gothic"/>
                <a:cs typeface="Malgun Gothic"/>
              </a:rPr>
              <a:t>식기세척기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10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진공청소기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구매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64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손목시계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담배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화장품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대량생산된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의복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구매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58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무엇보다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자동차</a:t>
            </a:r>
            <a:r>
              <a:rPr sz="1700" spc="-5" dirty="0">
                <a:latin typeface="Corbel"/>
                <a:cs typeface="Corbel"/>
              </a:rPr>
              <a:t>!</a:t>
            </a:r>
            <a:r>
              <a:rPr sz="1700" dirty="0">
                <a:latin typeface="Corbel"/>
                <a:cs typeface="Corbel"/>
              </a:rPr>
              <a:t>!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spc="-5" dirty="0">
                <a:latin typeface="Corbel"/>
                <a:cs typeface="Corbel"/>
              </a:rPr>
              <a:t>00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만대가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자동차가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보급되어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있♘음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55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필요해서가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아니라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편의와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쾌락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안락함을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추구하며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구매</a:t>
            </a:r>
            <a:endParaRPr sz="1700">
              <a:latin typeface="Malgun Gothic"/>
              <a:cs typeface="Malgun Gothic"/>
            </a:endParaRPr>
          </a:p>
          <a:p>
            <a:pPr marL="320675" marR="53340" indent="-308610">
              <a:lnSpc>
                <a:spcPct val="107100"/>
              </a:lnSpc>
              <a:spcBef>
                <a:spcPts val="52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전자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가전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플라스틱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나일론과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같은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인조섬유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알루미늄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마그네슘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석유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전기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그리고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다른  산업들이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기술의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진전에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힘입어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급속하게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성장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67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비행이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발전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전화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보급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55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전시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선전술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발달로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광고의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시대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중요한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매체는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라디오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1492" y="1172532"/>
            <a:ext cx="8888095" cy="305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000" b="1" spc="45" dirty="0">
                <a:solidFill>
                  <a:srgbClr val="005466"/>
                </a:solidFill>
                <a:latin typeface="Malgun Gothic"/>
                <a:cs typeface="Malgun Gothic"/>
              </a:rPr>
              <a:t>대공황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5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주가는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지속적으로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상승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투기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열풍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10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dirty="0">
                <a:latin typeface="Malgun Gothic"/>
                <a:cs typeface="Malgun Gothic"/>
              </a:rPr>
              <a:t>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B</a:t>
            </a:r>
            <a:r>
              <a:rPr sz="1700" spc="-5" dirty="0">
                <a:latin typeface="Corbel"/>
                <a:cs typeface="Corbel"/>
              </a:rPr>
              <a:t>lac</a:t>
            </a:r>
            <a:r>
              <a:rPr sz="1700" dirty="0">
                <a:latin typeface="Corbel"/>
                <a:cs typeface="Corbel"/>
              </a:rPr>
              <a:t>k Tu</a:t>
            </a:r>
            <a:r>
              <a:rPr sz="1700" spc="5" dirty="0">
                <a:latin typeface="Corbel"/>
                <a:cs typeface="Corbel"/>
              </a:rPr>
              <a:t>e</a:t>
            </a:r>
            <a:r>
              <a:rPr sz="1700" dirty="0">
                <a:latin typeface="Corbel"/>
                <a:cs typeface="Corbel"/>
              </a:rPr>
              <a:t>s</a:t>
            </a:r>
            <a:r>
              <a:rPr sz="1700" spc="5" dirty="0">
                <a:latin typeface="Corbel"/>
                <a:cs typeface="Corbel"/>
              </a:rPr>
              <a:t>d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dirty="0">
                <a:latin typeface="Corbel"/>
                <a:cs typeface="Corbel"/>
              </a:rPr>
              <a:t>y,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뉴욕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주식시장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붕괴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세계적인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공황으로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이어짐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8-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정부의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긴축재정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정책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스무트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홀리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관세법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32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프랭클린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루즈벨트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대통령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당선</a:t>
            </a:r>
            <a:endParaRPr sz="17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764B0"/>
              </a:buClr>
              <a:buFont typeface="Wingdings"/>
              <a:buChar char=""/>
            </a:pPr>
            <a:endParaRPr sz="15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대공황의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원인에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대해서는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의견이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분분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우리가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주목해야할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점은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대공황이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무척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심각했다는</a:t>
            </a:r>
            <a:endParaRPr sz="1700">
              <a:latin typeface="Malgun Gothic"/>
              <a:cs typeface="Malgun Gothic"/>
            </a:endParaRPr>
          </a:p>
          <a:p>
            <a:pPr marL="320675">
              <a:lnSpc>
                <a:spcPct val="100000"/>
              </a:lnSpc>
              <a:spcBef>
                <a:spcPts val="70"/>
              </a:spcBef>
            </a:pPr>
            <a:r>
              <a:rPr sz="1700" dirty="0">
                <a:latin typeface="Malgun Gothic"/>
                <a:cs typeface="Malgun Gothic"/>
              </a:rPr>
              <a:t>것과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매우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오랫동안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계속되♘다는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점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4684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</a:t>
            </a:r>
            <a:r>
              <a:rPr dirty="0"/>
              <a:t>기</a:t>
            </a:r>
            <a:r>
              <a:rPr spc="-190" dirty="0"/>
              <a:t> </a:t>
            </a:r>
            <a:r>
              <a:rPr sz="2925" b="0" spc="60" baseline="1424" dirty="0">
                <a:latin typeface="Calibri Light"/>
                <a:cs typeface="Calibri Light"/>
              </a:rPr>
              <a:t>1920</a:t>
            </a:r>
            <a:r>
              <a:rPr sz="2000" spc="45" dirty="0"/>
              <a:t>년</a:t>
            </a:r>
            <a:r>
              <a:rPr sz="2000" dirty="0"/>
              <a:t>대</a:t>
            </a:r>
            <a:r>
              <a:rPr sz="2000" spc="-190" dirty="0"/>
              <a:t> </a:t>
            </a:r>
            <a:r>
              <a:rPr sz="2000" spc="45" dirty="0"/>
              <a:t>유럽</a:t>
            </a:r>
            <a:r>
              <a:rPr sz="2925" b="0" spc="15" baseline="1424" dirty="0">
                <a:latin typeface="Calibri Light"/>
                <a:cs typeface="Calibri Light"/>
              </a:rPr>
              <a:t>:</a:t>
            </a:r>
            <a:r>
              <a:rPr sz="2925" b="0" spc="67" baseline="1424" dirty="0">
                <a:latin typeface="Calibri Light"/>
                <a:cs typeface="Calibri Light"/>
              </a:rPr>
              <a:t> </a:t>
            </a:r>
            <a:r>
              <a:rPr sz="2925" b="0" spc="60" baseline="1424" dirty="0">
                <a:latin typeface="Calibri Light"/>
                <a:cs typeface="Calibri Light"/>
              </a:rPr>
              <a:t>1</a:t>
            </a:r>
            <a:r>
              <a:rPr sz="2000" dirty="0"/>
              <a:t>차</a:t>
            </a:r>
            <a:r>
              <a:rPr sz="2000" spc="-190" dirty="0"/>
              <a:t> </a:t>
            </a:r>
            <a:r>
              <a:rPr sz="2000" spc="45" dirty="0"/>
              <a:t>세계대</a:t>
            </a:r>
            <a:r>
              <a:rPr sz="2000" dirty="0"/>
              <a:t>전</a:t>
            </a:r>
            <a:r>
              <a:rPr sz="2000" spc="-190" dirty="0"/>
              <a:t> </a:t>
            </a:r>
            <a:r>
              <a:rPr sz="2000" spc="45" dirty="0"/>
              <a:t>결과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8957310" cy="38481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 algn="just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국가들의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국내외의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사회적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정치적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불안정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예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latin typeface="Malgun Gothic"/>
                <a:cs typeface="Malgun Gothic"/>
              </a:rPr>
              <a:t>무솔리니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히틀러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10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혁명</a:t>
            </a:r>
            <a:endParaRPr sz="1700">
              <a:latin typeface="Malgun Gothic"/>
              <a:cs typeface="Malgun Gothic"/>
            </a:endParaRPr>
          </a:p>
          <a:p>
            <a:pPr marL="320675" indent="-308610" algn="just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전쟁은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수요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공급측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모두를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크게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교란시킴</a:t>
            </a:r>
            <a:endParaRPr sz="1700">
              <a:latin typeface="Malgun Gothic"/>
              <a:cs typeface="Malgun Gothic"/>
            </a:endParaRPr>
          </a:p>
          <a:p>
            <a:pPr marL="619760" marR="8255" lvl="1" indent="-299720" algn="just">
              <a:lnSpc>
                <a:spcPct val="98200"/>
              </a:lnSpc>
              <a:spcBef>
                <a:spcPts val="490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산업의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생산설비가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엄청나게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늘어남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전후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없어지자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외생충격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평시  생산패턴으로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돌아가는데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어려움</a:t>
            </a:r>
            <a:r>
              <a:rPr sz="1700" dirty="0">
                <a:latin typeface="Corbel"/>
                <a:cs typeface="Corbel"/>
              </a:rPr>
              <a:t>. 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노동력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역시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평시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생산으로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재배치에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어려움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과잉설  비문제</a:t>
            </a:r>
            <a:endParaRPr sz="1700">
              <a:latin typeface="Malgun Gothic"/>
              <a:cs typeface="Malgun Gothic"/>
            </a:endParaRPr>
          </a:p>
          <a:p>
            <a:pPr marL="619760" lvl="1" indent="-299720" algn="just">
              <a:lnSpc>
                <a:spcPts val="2014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"/>
              <a:tabLst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세계시장의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변화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일본과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같은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전쟁터가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아니♘던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곳은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제조업자들의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시장을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잠</a:t>
            </a:r>
            <a:endParaRPr sz="1700">
              <a:latin typeface="Malgun Gothic"/>
              <a:cs typeface="Malgun Gothic"/>
            </a:endParaRPr>
          </a:p>
          <a:p>
            <a:pPr marL="619760">
              <a:lnSpc>
                <a:spcPts val="2014"/>
              </a:lnSpc>
            </a:pPr>
            <a:r>
              <a:rPr sz="1700" dirty="0">
                <a:latin typeface="Malgun Gothic"/>
                <a:cs typeface="Malgun Gothic"/>
              </a:rPr>
              <a:t>식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경직된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경제환경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물가와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임금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유연성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감소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약화된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금융구조</a:t>
            </a:r>
            <a:endParaRPr sz="1700">
              <a:latin typeface="Malgun Gothic"/>
              <a:cs typeface="Malgun Gothic"/>
            </a:endParaRPr>
          </a:p>
          <a:p>
            <a:pPr marL="619760" lvl="1" indent="-299720">
              <a:lnSpc>
                <a:spcPct val="100000"/>
              </a:lnSpc>
              <a:spcBef>
                <a:spcPts val="359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취약한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체제</a:t>
            </a:r>
            <a:endParaRPr sz="1700">
              <a:latin typeface="Malgun Gothic"/>
              <a:cs typeface="Malgun Gothic"/>
            </a:endParaRPr>
          </a:p>
          <a:p>
            <a:pPr marL="619760" lvl="1" indent="-29972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금본위제도가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작동하지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않음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패전국에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막대한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배상금</a:t>
            </a:r>
            <a:endParaRPr sz="1700">
              <a:latin typeface="Malgun Gothic"/>
              <a:cs typeface="Malgun Gothic"/>
            </a:endParaRPr>
          </a:p>
          <a:p>
            <a:pPr marL="320675" marR="219710" indent="-308610">
              <a:lnSpc>
                <a:spcPct val="10240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오스트리아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헝가리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해체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독일제국과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일부의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분리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러시아제국의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  급자족경제로의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모두가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국제경제에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충격을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주♘음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6550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60" baseline="1424" dirty="0">
                <a:latin typeface="Calibri Light"/>
                <a:cs typeface="Calibri Light"/>
              </a:rPr>
              <a:t>1920</a:t>
            </a:r>
            <a:r>
              <a:rPr sz="2000" spc="45" dirty="0"/>
              <a:t>년</a:t>
            </a:r>
            <a:r>
              <a:rPr sz="2000" dirty="0"/>
              <a:t>대</a:t>
            </a:r>
            <a:r>
              <a:rPr sz="2000" spc="-190" dirty="0"/>
              <a:t> </a:t>
            </a:r>
            <a:r>
              <a:rPr sz="2000" spc="45" dirty="0"/>
              <a:t>유럽경제</a:t>
            </a:r>
            <a:r>
              <a:rPr sz="2925" b="0" spc="15" baseline="1424" dirty="0">
                <a:latin typeface="Calibri Light"/>
                <a:cs typeface="Calibri Light"/>
              </a:rPr>
              <a:t>:</a:t>
            </a:r>
            <a:r>
              <a:rPr sz="2925" b="0" spc="67" baseline="1424" dirty="0">
                <a:latin typeface="Calibri Light"/>
                <a:cs typeface="Calibri Light"/>
              </a:rPr>
              <a:t> </a:t>
            </a:r>
            <a:r>
              <a:rPr sz="2000" spc="45" dirty="0"/>
              <a:t>불황</a:t>
            </a:r>
            <a:r>
              <a:rPr sz="2000" dirty="0"/>
              <a:t>과</a:t>
            </a:r>
            <a:r>
              <a:rPr sz="2000" spc="-190" dirty="0"/>
              <a:t> </a:t>
            </a:r>
            <a:r>
              <a:rPr sz="2000" spc="45" dirty="0"/>
              <a:t>위기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1492" y="2097590"/>
            <a:ext cx="4286885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indent="-308610">
              <a:lnSpc>
                <a:spcPts val="203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인플레이션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수요는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늘고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공급은</a:t>
            </a:r>
            <a:endParaRPr sz="1700">
              <a:latin typeface="Malgun Gothic"/>
              <a:cs typeface="Malgun Gothic"/>
            </a:endParaRPr>
          </a:p>
          <a:p>
            <a:pPr marL="320675">
              <a:lnSpc>
                <a:spcPts val="2030"/>
              </a:lnSpc>
            </a:pPr>
            <a:r>
              <a:rPr sz="1700" dirty="0">
                <a:latin typeface="Malgun Gothic"/>
                <a:cs typeface="Malgun Gothic"/>
              </a:rPr>
              <a:t>끊겨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참전국에서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일어남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ts val="2014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세계경제의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침체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거의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모든</a:t>
            </a:r>
            <a:endParaRPr sz="1700">
              <a:latin typeface="Malgun Gothic"/>
              <a:cs typeface="Malgun Gothic"/>
            </a:endParaRPr>
          </a:p>
          <a:p>
            <a:pPr marL="320675">
              <a:lnSpc>
                <a:spcPts val="2014"/>
              </a:lnSpc>
            </a:pPr>
            <a:r>
              <a:rPr sz="1700" dirty="0">
                <a:latin typeface="Malgun Gothic"/>
                <a:cs typeface="Malgun Gothic"/>
              </a:rPr>
              <a:t>나라가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불황</a:t>
            </a:r>
            <a:endParaRPr sz="17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5004" y="2084210"/>
            <a:ext cx="3464151" cy="4089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5245" y="850900"/>
            <a:ext cx="4237219" cy="5842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649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전간</a:t>
            </a:r>
            <a:r>
              <a:rPr dirty="0"/>
              <a:t>기</a:t>
            </a:r>
            <a:r>
              <a:rPr spc="-190" dirty="0"/>
              <a:t> </a:t>
            </a:r>
            <a:r>
              <a:rPr spc="45" dirty="0"/>
              <a:t>유럽</a:t>
            </a:r>
            <a:r>
              <a:rPr sz="2925" b="0" spc="37" baseline="1424" dirty="0">
                <a:latin typeface="Calibri Light"/>
                <a:cs typeface="Calibri Light"/>
              </a:rPr>
              <a:t>:</a:t>
            </a:r>
            <a:r>
              <a:rPr sz="2000" spc="45" dirty="0"/>
              <a:t>금본위</a:t>
            </a:r>
            <a:r>
              <a:rPr sz="2000" dirty="0"/>
              <a:t>제</a:t>
            </a:r>
            <a:r>
              <a:rPr sz="2000" spc="-190" dirty="0"/>
              <a:t> </a:t>
            </a:r>
            <a:r>
              <a:rPr sz="2000" spc="45" dirty="0"/>
              <a:t>복</a:t>
            </a:r>
            <a:r>
              <a:rPr sz="2000" dirty="0"/>
              <a:t>귀</a:t>
            </a:r>
            <a:r>
              <a:rPr sz="2000" spc="-190" dirty="0"/>
              <a:t> </a:t>
            </a:r>
            <a:r>
              <a:rPr sz="2000" spc="45" dirty="0"/>
              <a:t>시도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830" y="2304854"/>
            <a:ext cx="4272915" cy="38538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20675" marR="91440" indent="-308610" algn="just">
              <a:lnSpc>
                <a:spcPts val="1989"/>
              </a:lnSpc>
              <a:spcBef>
                <a:spcPts val="204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통화가치가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계속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떨어지자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금본위제로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복  귀하자는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여론이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강해짐</a:t>
            </a:r>
            <a:endParaRPr sz="1700">
              <a:latin typeface="Malgun Gothic"/>
              <a:cs typeface="Malgun Gothic"/>
            </a:endParaRPr>
          </a:p>
          <a:p>
            <a:pPr marL="320675" marR="51435" indent="-308610" algn="just">
              <a:lnSpc>
                <a:spcPts val="1989"/>
              </a:lnSpc>
              <a:spcBef>
                <a:spcPts val="53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복귀과정에서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각국이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통화가치를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  호조정없이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결정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각국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상대적으  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과대</a:t>
            </a:r>
            <a:r>
              <a:rPr sz="1700" dirty="0">
                <a:latin typeface="Corbel"/>
                <a:cs typeface="Corbel"/>
              </a:rPr>
              <a:t>/</a:t>
            </a:r>
            <a:r>
              <a:rPr sz="1700" dirty="0">
                <a:latin typeface="Malgun Gothic"/>
                <a:cs typeface="Malgun Gothic"/>
              </a:rPr>
              <a:t>과소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평가되는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문제</a:t>
            </a:r>
            <a:endParaRPr sz="1700">
              <a:latin typeface="Malgun Gothic"/>
              <a:cs typeface="Malgun Gothic"/>
            </a:endParaRPr>
          </a:p>
          <a:p>
            <a:pPr marL="320675" indent="-308610" algn="just">
              <a:lnSpc>
                <a:spcPts val="2030"/>
              </a:lnSpc>
              <a:spcBef>
                <a:spcPts val="4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과대평가한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나라는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통화가치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유지를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위해</a:t>
            </a:r>
            <a:endParaRPr sz="1700">
              <a:latin typeface="Malgun Gothic"/>
              <a:cs typeface="Malgun Gothic"/>
            </a:endParaRPr>
          </a:p>
          <a:p>
            <a:pPr marL="320675" algn="just">
              <a:lnSpc>
                <a:spcPts val="2030"/>
              </a:lnSpc>
            </a:pPr>
            <a:r>
              <a:rPr sz="1700" dirty="0">
                <a:latin typeface="Malgun Gothic"/>
                <a:cs typeface="Malgun Gothic"/>
              </a:rPr>
              <a:t>긴축재정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영국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latin typeface="Wingdings"/>
                <a:cs typeface="Wingdings"/>
              </a:rPr>
              <a:t>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algun Gothic"/>
                <a:cs typeface="Malgun Gothic"/>
              </a:rPr>
              <a:t>실업과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불황의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심화</a:t>
            </a:r>
            <a:endParaRPr sz="1700">
              <a:latin typeface="Malgun Gothic"/>
              <a:cs typeface="Malgun Gothic"/>
            </a:endParaRPr>
          </a:p>
          <a:p>
            <a:pPr marL="320675" marR="90805" indent="-308610">
              <a:lnSpc>
                <a:spcPts val="1989"/>
              </a:lnSpc>
              <a:spcBef>
                <a:spcPts val="56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배상금과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전시채무가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나라가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금본위  제에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복귀한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채무가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커짐</a:t>
            </a:r>
            <a:endParaRPr sz="1700">
              <a:latin typeface="Malgun Gothic"/>
              <a:cs typeface="Malgun Gothic"/>
            </a:endParaRPr>
          </a:p>
          <a:p>
            <a:pPr marL="320675" marR="5080" indent="-308610">
              <a:lnSpc>
                <a:spcPct val="100600"/>
              </a:lnSpc>
              <a:spcBef>
                <a:spcPts val="29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호황으로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유입되  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자본이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줄♘음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+ </a:t>
            </a:r>
            <a:r>
              <a:rPr sz="1700" spc="5" dirty="0">
                <a:latin typeface="Corbel"/>
                <a:cs typeface="Corbel"/>
              </a:rPr>
              <a:t>FR</a:t>
            </a:r>
            <a:r>
              <a:rPr sz="1700" dirty="0">
                <a:latin typeface="Corbel"/>
                <a:cs typeface="Corbel"/>
              </a:rPr>
              <a:t>B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긴축재정 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이자율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인상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spc="-5" dirty="0">
                <a:latin typeface="Corbel"/>
                <a:cs typeface="Corbel"/>
              </a:rPr>
              <a:t>--</a:t>
            </a:r>
            <a:r>
              <a:rPr sz="1700" dirty="0">
                <a:latin typeface="Corbel"/>
                <a:cs typeface="Corbel"/>
              </a:rPr>
              <a:t>&gt; </a:t>
            </a:r>
            <a:r>
              <a:rPr sz="1700" dirty="0">
                <a:latin typeface="Malgun Gothic"/>
                <a:cs typeface="Malgun Gothic"/>
              </a:rPr>
              <a:t>해외자본에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의존하던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오  스트리아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31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파산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유럽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다  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은행들도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예금인출과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은행파산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242" y="4606661"/>
            <a:ext cx="45421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spc="35" dirty="0">
                <a:latin typeface="Calibri Light"/>
                <a:cs typeface="Calibri Light"/>
              </a:rPr>
              <a:t>3.</a:t>
            </a:r>
            <a:r>
              <a:rPr sz="3300" b="0" spc="30" dirty="0">
                <a:latin typeface="Calibri Light"/>
                <a:cs typeface="Calibri Light"/>
              </a:rPr>
              <a:t> </a:t>
            </a:r>
            <a:r>
              <a:rPr sz="3400" spc="5" dirty="0"/>
              <a:t>미</a:t>
            </a:r>
            <a:r>
              <a:rPr sz="3400" dirty="0"/>
              <a:t>국</a:t>
            </a:r>
            <a:r>
              <a:rPr sz="3400" spc="-409" dirty="0"/>
              <a:t> </a:t>
            </a:r>
            <a:r>
              <a:rPr sz="3400" spc="5" dirty="0"/>
              <a:t>중앙은행</a:t>
            </a:r>
            <a:r>
              <a:rPr sz="3400" dirty="0"/>
              <a:t>의</a:t>
            </a:r>
            <a:r>
              <a:rPr sz="3400" spc="-415" dirty="0"/>
              <a:t> </a:t>
            </a:r>
            <a:r>
              <a:rPr sz="3400" spc="5" dirty="0"/>
              <a:t>역사</a:t>
            </a:r>
            <a:endParaRPr sz="3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3735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0" spc="22" baseline="1424" dirty="0">
                <a:latin typeface="Calibri Light"/>
                <a:cs typeface="Calibri Light"/>
              </a:rPr>
              <a:t>(</a:t>
            </a:r>
            <a:r>
              <a:rPr sz="2000" spc="45" dirty="0"/>
              <a:t>거</a:t>
            </a:r>
            <a:r>
              <a:rPr sz="2000" dirty="0"/>
              <a:t>시</a:t>
            </a:r>
            <a:r>
              <a:rPr sz="2000" spc="-190" dirty="0"/>
              <a:t> </a:t>
            </a:r>
            <a:r>
              <a:rPr sz="2000" spc="45" dirty="0"/>
              <a:t>복습</a:t>
            </a:r>
            <a:r>
              <a:rPr sz="2925" b="0" spc="15" baseline="1424" dirty="0">
                <a:latin typeface="Calibri Light"/>
                <a:cs typeface="Calibri Light"/>
              </a:rPr>
              <a:t>)</a:t>
            </a:r>
            <a:r>
              <a:rPr sz="2925" b="0" spc="52" baseline="1424" dirty="0">
                <a:latin typeface="Calibri Light"/>
                <a:cs typeface="Calibri Light"/>
              </a:rPr>
              <a:t> </a:t>
            </a:r>
            <a:r>
              <a:rPr sz="2000" spc="45" dirty="0"/>
              <a:t>재정정책</a:t>
            </a:r>
            <a:r>
              <a:rPr sz="2000" dirty="0"/>
              <a:t>과</a:t>
            </a:r>
            <a:r>
              <a:rPr sz="2000" spc="-190" dirty="0"/>
              <a:t> </a:t>
            </a:r>
            <a:r>
              <a:rPr sz="2000" spc="45" dirty="0"/>
              <a:t>통화정책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492" y="1777480"/>
            <a:ext cx="8927465" cy="35794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459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경제정책이란</a:t>
            </a:r>
            <a:r>
              <a:rPr sz="1700" dirty="0">
                <a:latin typeface="Corbel"/>
                <a:cs typeface="Corbel"/>
              </a:rPr>
              <a:t>?</a:t>
            </a:r>
            <a:r>
              <a:rPr sz="1700" spc="-30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문우식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30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통화정책론</a:t>
            </a:r>
            <a:r>
              <a:rPr sz="1700" dirty="0">
                <a:latin typeface="Corbel"/>
                <a:cs typeface="Corbel"/>
              </a:rPr>
              <a:t>)</a:t>
            </a:r>
            <a:endParaRPr sz="1700">
              <a:latin typeface="Corbel"/>
              <a:cs typeface="Corbel"/>
            </a:endParaRP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경제성과에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영향을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위해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개입하는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행위</a:t>
            </a:r>
            <a:endParaRPr sz="1700">
              <a:latin typeface="Malgun Gothic"/>
              <a:cs typeface="Malgun Gothic"/>
            </a:endParaRPr>
          </a:p>
          <a:p>
            <a:pPr marL="619760" lvl="1" indent="-299720">
              <a:lnSpc>
                <a:spcPts val="2014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정책목표는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대체로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성장정책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성장과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효율향상</a:t>
            </a:r>
            <a:r>
              <a:rPr sz="1700" dirty="0">
                <a:latin typeface="Corbel"/>
                <a:cs typeface="Corbel"/>
              </a:rPr>
              <a:t>),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분배정책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형평성의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확보</a:t>
            </a:r>
            <a:r>
              <a:rPr sz="1700" dirty="0">
                <a:latin typeface="Corbel"/>
                <a:cs typeface="Corbel"/>
              </a:rPr>
              <a:t>),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안정화정책</a:t>
            </a:r>
            <a:endParaRPr sz="1700">
              <a:latin typeface="Malgun Gothic"/>
              <a:cs typeface="Malgun Gothic"/>
            </a:endParaRPr>
          </a:p>
          <a:p>
            <a:pPr marL="619760">
              <a:lnSpc>
                <a:spcPts val="2014"/>
              </a:lnSpc>
            </a:pP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경기대응</a:t>
            </a:r>
            <a:r>
              <a:rPr sz="1700" dirty="0">
                <a:latin typeface="Corbel"/>
                <a:cs typeface="Corbel"/>
              </a:rPr>
              <a:t>)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가지로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구성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거시정책의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기둥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재정정책과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통화정책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재정정책</a:t>
            </a:r>
            <a:endParaRPr sz="1700">
              <a:latin typeface="Malgun Gothic"/>
              <a:cs typeface="Malgun Gothic"/>
            </a:endParaRPr>
          </a:p>
          <a:p>
            <a:pPr marL="619760" marR="31750" lvl="1" indent="-299720">
              <a:lnSpc>
                <a:spcPct val="10240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정부가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세금을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징수하고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의거하여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예산을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세워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필요한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지출을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재정운영과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관련  된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정책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Malgun Gothic"/>
                <a:cs typeface="Malgun Gothic"/>
              </a:rPr>
              <a:t>통화정책</a:t>
            </a:r>
            <a:endParaRPr sz="1700">
              <a:latin typeface="Malgun Gothic"/>
              <a:cs typeface="Malgun Gothic"/>
            </a:endParaRPr>
          </a:p>
          <a:p>
            <a:pPr marL="619760" lvl="1" indent="-29972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금본위제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하에서는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통화정책이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없음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태환성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유일한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통화정책</a:t>
            </a:r>
            <a:r>
              <a:rPr sz="1700" dirty="0">
                <a:latin typeface="Corbel"/>
                <a:cs typeface="Corbel"/>
              </a:rPr>
              <a:t>)</a:t>
            </a:r>
            <a:endParaRPr sz="1700">
              <a:latin typeface="Corbel"/>
              <a:cs typeface="Corbel"/>
            </a:endParaRPr>
          </a:p>
          <a:p>
            <a:pPr marL="619760" marR="5080" lvl="1" indent="-299720">
              <a:lnSpc>
                <a:spcPts val="1989"/>
              </a:lnSpc>
              <a:spcBef>
                <a:spcPts val="565"/>
              </a:spcBef>
              <a:buClr>
                <a:srgbClr val="4764B0"/>
              </a:buClr>
              <a:buFont typeface="Wingdings"/>
              <a:buChar char=""/>
              <a:tabLst>
                <a:tab pos="619760" algn="l"/>
                <a:tab pos="620395" algn="l"/>
              </a:tabLst>
            </a:pPr>
            <a:r>
              <a:rPr sz="1700" dirty="0">
                <a:latin typeface="Malgun Gothic"/>
                <a:cs typeface="Malgun Gothic"/>
              </a:rPr>
              <a:t>불태환통화를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사용하면서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금준비금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통화량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본원통화와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예금통화의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등을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조정할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  요가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생김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2825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미</a:t>
            </a:r>
            <a:r>
              <a:rPr dirty="0"/>
              <a:t>국</a:t>
            </a:r>
            <a:r>
              <a:rPr spc="-190" dirty="0"/>
              <a:t> </a:t>
            </a:r>
            <a:r>
              <a:rPr spc="45" dirty="0"/>
              <a:t>중앙은행</a:t>
            </a:r>
            <a:r>
              <a:rPr dirty="0"/>
              <a:t>의</a:t>
            </a:r>
            <a:r>
              <a:rPr spc="-190" dirty="0"/>
              <a:t> </a:t>
            </a:r>
            <a:r>
              <a:rPr spc="45" dirty="0"/>
              <a:t>역</a:t>
            </a:r>
            <a:r>
              <a:rPr dirty="0"/>
              <a:t>사</a:t>
            </a:r>
            <a:r>
              <a:rPr spc="-190" dirty="0"/>
              <a:t> </a:t>
            </a:r>
            <a:r>
              <a:rPr sz="2925" b="0" spc="22" baseline="1424" dirty="0">
                <a:latin typeface="Calibri Light"/>
                <a:cs typeface="Calibri Light"/>
              </a:rPr>
              <a:t>(</a:t>
            </a:r>
            <a:r>
              <a:rPr sz="2925" b="0" spc="60" baseline="1424" dirty="0">
                <a:latin typeface="Calibri Light"/>
                <a:cs typeface="Calibri Light"/>
              </a:rPr>
              <a:t>1</a:t>
            </a:r>
            <a:r>
              <a:rPr sz="2925" b="0" spc="15" baseline="1424" dirty="0">
                <a:latin typeface="Calibri Light"/>
                <a:cs typeface="Calibri Light"/>
              </a:rPr>
              <a:t>)</a:t>
            </a:r>
            <a:endParaRPr sz="2925" baseline="1424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820222"/>
            <a:ext cx="8818245" cy="380237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20675" marR="48895" indent="-308610">
              <a:lnSpc>
                <a:spcPct val="90600"/>
              </a:lnSpc>
              <a:spcBef>
                <a:spcPts val="29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spc="-5" dirty="0">
                <a:latin typeface="Corbel"/>
                <a:cs typeface="Corbel"/>
              </a:rPr>
              <a:t>1791-1811: </a:t>
            </a:r>
            <a:r>
              <a:rPr sz="1700" dirty="0">
                <a:latin typeface="Malgun Gothic"/>
                <a:cs typeface="Malgun Gothic"/>
              </a:rPr>
              <a:t>알렉산더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해밀턴이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1791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합중국은행</a:t>
            </a:r>
            <a:r>
              <a:rPr sz="1700" dirty="0">
                <a:latin typeface="Corbel"/>
                <a:cs typeface="Corbel"/>
              </a:rPr>
              <a:t>the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First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Bank</a:t>
            </a:r>
            <a:r>
              <a:rPr sz="1700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of</a:t>
            </a:r>
            <a:r>
              <a:rPr sz="1700" dirty="0">
                <a:latin typeface="Corbel"/>
                <a:cs typeface="Corbel"/>
              </a:rPr>
              <a:t> the</a:t>
            </a:r>
            <a:r>
              <a:rPr sz="1700" spc="10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United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States</a:t>
            </a:r>
            <a:r>
              <a:rPr sz="1700" dirty="0">
                <a:latin typeface="Malgun Gothic"/>
                <a:cs typeface="Malgun Gothic"/>
              </a:rPr>
              <a:t>를 </a:t>
            </a:r>
            <a:r>
              <a:rPr sz="1700" spc="-58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만들♘음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공화주의자들은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개념에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반대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5" dirty="0">
                <a:latin typeface="Corbel"/>
                <a:cs typeface="Corbel"/>
              </a:rPr>
              <a:t>1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면허기간이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끝났을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면  허가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취소됨</a:t>
            </a:r>
            <a:endParaRPr sz="1700">
              <a:latin typeface="Malgun Gothic"/>
              <a:cs typeface="Malgun Gothic"/>
            </a:endParaRPr>
          </a:p>
          <a:p>
            <a:pPr marL="320675" marR="81280" indent="-308610">
              <a:lnSpc>
                <a:spcPct val="906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16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6: 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16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다시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만들려는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시도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합중국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인가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싫  어하는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앤드류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잭슨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대통령이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대통령으로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선출된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없애려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노력</a:t>
            </a:r>
            <a:r>
              <a:rPr sz="1700" dirty="0">
                <a:latin typeface="Corbel"/>
                <a:cs typeface="Corbel"/>
              </a:rPr>
              <a:t>.  1836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면허갱신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실패</a:t>
            </a:r>
            <a:endParaRPr sz="1700">
              <a:latin typeface="Malgun Gothic"/>
              <a:cs typeface="Malgun Gothic"/>
            </a:endParaRPr>
          </a:p>
          <a:p>
            <a:pPr marL="320675" marR="5080" indent="-308610">
              <a:lnSpc>
                <a:spcPts val="1800"/>
              </a:lnSpc>
              <a:spcBef>
                <a:spcPts val="40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Corbel"/>
                <a:cs typeface="Corbel"/>
              </a:rPr>
              <a:t>6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65 </a:t>
            </a:r>
            <a:r>
              <a:rPr sz="1700" dirty="0">
                <a:latin typeface="Malgun Gothic"/>
                <a:cs typeface="Malgun Gothic"/>
              </a:rPr>
              <a:t>자유은행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시대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자유은행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체제란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없이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상업은행들이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경쟁적으로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은행권  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발행하고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은행설립에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법적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요건이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느슨하며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지불준비에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통제도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없는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금융구조</a:t>
            </a:r>
            <a:endParaRPr sz="1700">
              <a:latin typeface="Malgun Gothic"/>
              <a:cs typeface="Malgun Gothic"/>
            </a:endParaRPr>
          </a:p>
          <a:p>
            <a:pPr marL="320675" marR="163830" indent="-308610">
              <a:lnSpc>
                <a:spcPts val="18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6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국립은행법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남북전쟁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통과되어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전국적으로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면허를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받은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만들어졌고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이  들이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찍어낸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은행권은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정부가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보증</a:t>
            </a:r>
            <a:endParaRPr sz="1700">
              <a:latin typeface="Malgun Gothic"/>
              <a:cs typeface="Malgun Gothic"/>
            </a:endParaRPr>
          </a:p>
          <a:p>
            <a:pPr marL="320675" marR="71755" indent="-308610" algn="just">
              <a:lnSpc>
                <a:spcPct val="90600"/>
              </a:lnSpc>
              <a:spcBef>
                <a:spcPts val="33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87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190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금융공황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6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국립은행법으로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통화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안정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조치들이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마련되♘으나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은행도산  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금융공황이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여전히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존재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</a:t>
            </a:r>
            <a:r>
              <a:rPr sz="1700" spc="-5" dirty="0">
                <a:latin typeface="Corbel"/>
                <a:cs typeface="Corbel"/>
              </a:rPr>
              <a:t>8</a:t>
            </a:r>
            <a:r>
              <a:rPr sz="1700" dirty="0">
                <a:latin typeface="Corbel"/>
                <a:cs typeface="Corbel"/>
              </a:rPr>
              <a:t>9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불황은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처음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겪는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불황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이후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J</a:t>
            </a:r>
            <a:r>
              <a:rPr sz="1700" spc="-5" dirty="0">
                <a:latin typeface="Corbel"/>
                <a:cs typeface="Corbel"/>
              </a:rPr>
              <a:t>.P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Mo</a:t>
            </a:r>
            <a:r>
              <a:rPr sz="1700" spc="5" dirty="0">
                <a:latin typeface="Corbel"/>
                <a:cs typeface="Corbel"/>
              </a:rPr>
              <a:t>r</a:t>
            </a:r>
            <a:r>
              <a:rPr sz="1700" dirty="0">
                <a:latin typeface="Corbel"/>
                <a:cs typeface="Corbel"/>
              </a:rPr>
              <a:t>g</a:t>
            </a:r>
            <a:r>
              <a:rPr sz="1700" spc="-5" dirty="0">
                <a:latin typeface="Corbel"/>
                <a:cs typeface="Corbel"/>
              </a:rPr>
              <a:t>an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힘으  로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안정을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되찾음</a:t>
            </a:r>
            <a:endParaRPr sz="1700">
              <a:latin typeface="Malgun Gothic"/>
              <a:cs typeface="Malgun Gothic"/>
            </a:endParaRPr>
          </a:p>
          <a:p>
            <a:pPr marL="320675" marR="118110" indent="-308610" algn="just">
              <a:lnSpc>
                <a:spcPts val="1920"/>
              </a:lnSpc>
              <a:spcBef>
                <a:spcPts val="31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190</a:t>
            </a:r>
            <a:r>
              <a:rPr sz="1700" spc="-5" dirty="0">
                <a:latin typeface="Corbel"/>
                <a:cs typeface="Corbel"/>
              </a:rPr>
              <a:t>7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a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v</a:t>
            </a:r>
            <a:r>
              <a:rPr sz="1700" spc="5" dirty="0">
                <a:latin typeface="Corbel"/>
                <a:cs typeface="Corbel"/>
              </a:rPr>
              <a:t>er</a:t>
            </a:r>
            <a:r>
              <a:rPr sz="1700" dirty="0">
                <a:latin typeface="Corbel"/>
                <a:cs typeface="Corbel"/>
              </a:rPr>
              <a:t>y</a:t>
            </a:r>
            <a:r>
              <a:rPr sz="1700" spc="5" dirty="0">
                <a:latin typeface="Corbel"/>
                <a:cs typeface="Corbel"/>
              </a:rPr>
              <a:t> b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dirty="0">
                <a:latin typeface="Corbel"/>
                <a:cs typeface="Corbel"/>
              </a:rPr>
              <a:t>d</a:t>
            </a:r>
            <a:r>
              <a:rPr sz="1700" spc="5" dirty="0">
                <a:latin typeface="Corbel"/>
                <a:cs typeface="Corbel"/>
              </a:rPr>
              <a:t> ye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spc="5" dirty="0">
                <a:latin typeface="Corbel"/>
                <a:cs typeface="Corbel"/>
              </a:rPr>
              <a:t>r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10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스트리트의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투기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붐으로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인한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금융공황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점차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대다수의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미국인들  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건강한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은행제와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필요를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느낌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508" y="1172532"/>
            <a:ext cx="28257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미</a:t>
            </a:r>
            <a:r>
              <a:rPr dirty="0"/>
              <a:t>국</a:t>
            </a:r>
            <a:r>
              <a:rPr spc="-190" dirty="0"/>
              <a:t> </a:t>
            </a:r>
            <a:r>
              <a:rPr spc="45" dirty="0"/>
              <a:t>중앙은행</a:t>
            </a:r>
            <a:r>
              <a:rPr dirty="0"/>
              <a:t>의</a:t>
            </a:r>
            <a:r>
              <a:rPr spc="-190" dirty="0"/>
              <a:t> </a:t>
            </a:r>
            <a:r>
              <a:rPr spc="45" dirty="0"/>
              <a:t>역</a:t>
            </a:r>
            <a:r>
              <a:rPr dirty="0"/>
              <a:t>사</a:t>
            </a:r>
            <a:r>
              <a:rPr spc="-190" dirty="0"/>
              <a:t> </a:t>
            </a:r>
            <a:r>
              <a:rPr sz="2925" b="0" spc="22" baseline="1424" dirty="0">
                <a:latin typeface="Calibri Light"/>
                <a:cs typeface="Calibri Light"/>
              </a:rPr>
              <a:t>(</a:t>
            </a:r>
            <a:r>
              <a:rPr sz="2925" b="0" spc="60" baseline="1424" dirty="0">
                <a:latin typeface="Calibri Light"/>
                <a:cs typeface="Calibri Light"/>
              </a:rPr>
              <a:t>2</a:t>
            </a:r>
            <a:r>
              <a:rPr sz="2925" b="0" spc="15" baseline="1424" dirty="0">
                <a:latin typeface="Calibri Light"/>
                <a:cs typeface="Calibri Light"/>
              </a:rPr>
              <a:t>)</a:t>
            </a:r>
            <a:endParaRPr sz="2925" baseline="1424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30" y="1820222"/>
            <a:ext cx="8825230" cy="368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indent="-308610">
              <a:lnSpc>
                <a:spcPts val="2014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spc="-5" dirty="0">
                <a:latin typeface="Corbel"/>
                <a:cs typeface="Corbel"/>
              </a:rPr>
              <a:t>1908-1912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분산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시기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1908</a:t>
            </a:r>
            <a:r>
              <a:rPr sz="1700" spc="-5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Corbel"/>
                <a:cs typeface="Corbel"/>
              </a:rPr>
              <a:t>Aldrich-Vreeland Act.</a:t>
            </a:r>
            <a:r>
              <a:rPr sz="1700" spc="-5" dirty="0">
                <a:latin typeface="Corbel"/>
                <a:cs typeface="Corbel"/>
              </a:rPr>
              <a:t> 1907</a:t>
            </a:r>
            <a:r>
              <a:rPr sz="1700" spc="-5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은행공황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대응책으로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나</a:t>
            </a:r>
            <a:endParaRPr sz="1700">
              <a:latin typeface="Malgun Gothic"/>
              <a:cs typeface="Malgun Gothic"/>
            </a:endParaRPr>
          </a:p>
          <a:p>
            <a:pPr marL="320675" algn="just">
              <a:lnSpc>
                <a:spcPts val="2014"/>
              </a:lnSpc>
            </a:pPr>
            <a:r>
              <a:rPr sz="1700" dirty="0">
                <a:latin typeface="Malgun Gothic"/>
                <a:cs typeface="Malgun Gothic"/>
              </a:rPr>
              <a:t>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법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알드리히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의원의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주도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은행주도계획이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만들어짐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그러나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반대에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직면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191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윌슨의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금융개혁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연방준비법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Fe</a:t>
            </a:r>
            <a:r>
              <a:rPr sz="1700" dirty="0">
                <a:latin typeface="Corbel"/>
                <a:cs typeface="Corbel"/>
              </a:rPr>
              <a:t>d</a:t>
            </a:r>
            <a:r>
              <a:rPr sz="1700" spc="5" dirty="0">
                <a:latin typeface="Corbel"/>
                <a:cs typeface="Corbel"/>
              </a:rPr>
              <a:t>er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dirty="0">
                <a:latin typeface="Corbel"/>
                <a:cs typeface="Corbel"/>
              </a:rPr>
              <a:t>l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spc="5" dirty="0">
                <a:latin typeface="Corbel"/>
                <a:cs typeface="Corbel"/>
              </a:rPr>
              <a:t>Reser</a:t>
            </a:r>
            <a:r>
              <a:rPr sz="1700" dirty="0">
                <a:latin typeface="Corbel"/>
                <a:cs typeface="Corbel"/>
              </a:rPr>
              <a:t>ve</a:t>
            </a:r>
            <a:r>
              <a:rPr sz="1700" spc="5" dirty="0">
                <a:latin typeface="Corbel"/>
                <a:cs typeface="Corbel"/>
              </a:rPr>
              <a:t> A</a:t>
            </a:r>
            <a:r>
              <a:rPr sz="1700" dirty="0">
                <a:latin typeface="Corbel"/>
                <a:cs typeface="Corbel"/>
              </a:rPr>
              <a:t>ct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제안서가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만들어짐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191</a:t>
            </a:r>
            <a:r>
              <a:rPr sz="1700" spc="5" dirty="0">
                <a:latin typeface="Corbel"/>
                <a:cs typeface="Corbel"/>
              </a:rPr>
              <a:t>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연방준비제도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5" dirty="0">
                <a:latin typeface="Corbel"/>
                <a:cs typeface="Corbel"/>
              </a:rPr>
              <a:t>Fe</a:t>
            </a:r>
            <a:r>
              <a:rPr sz="1700" dirty="0">
                <a:latin typeface="Corbel"/>
                <a:cs typeface="Corbel"/>
              </a:rPr>
              <a:t>d</a:t>
            </a:r>
            <a:r>
              <a:rPr sz="1700" spc="5" dirty="0">
                <a:latin typeface="Corbel"/>
                <a:cs typeface="Corbel"/>
              </a:rPr>
              <a:t>er</a:t>
            </a:r>
            <a:r>
              <a:rPr sz="1700" spc="-5" dirty="0">
                <a:latin typeface="Corbel"/>
                <a:cs typeface="Corbel"/>
              </a:rPr>
              <a:t>a</a:t>
            </a:r>
            <a:r>
              <a:rPr sz="1700" dirty="0">
                <a:latin typeface="Corbel"/>
                <a:cs typeface="Corbel"/>
              </a:rPr>
              <a:t>l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spc="5" dirty="0">
                <a:latin typeface="Corbel"/>
                <a:cs typeface="Corbel"/>
              </a:rPr>
              <a:t>Reser</a:t>
            </a:r>
            <a:r>
              <a:rPr sz="1700" dirty="0">
                <a:latin typeface="Corbel"/>
                <a:cs typeface="Corbel"/>
              </a:rPr>
              <a:t>ve</a:t>
            </a:r>
            <a:r>
              <a:rPr sz="1700" spc="5" dirty="0">
                <a:latin typeface="Corbel"/>
                <a:cs typeface="Corbel"/>
              </a:rPr>
              <a:t> A</a:t>
            </a:r>
            <a:r>
              <a:rPr sz="1700" dirty="0">
                <a:latin typeface="Corbel"/>
                <a:cs typeface="Corbel"/>
              </a:rPr>
              <a:t>ct</a:t>
            </a:r>
            <a:endParaRPr sz="1700">
              <a:latin typeface="Corbel"/>
              <a:cs typeface="Corbel"/>
            </a:endParaRPr>
          </a:p>
          <a:p>
            <a:pPr marL="320675" indent="-308610" algn="just">
              <a:lnSpc>
                <a:spcPts val="2030"/>
              </a:lnSpc>
              <a:spcBef>
                <a:spcPts val="455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191</a:t>
            </a:r>
            <a:r>
              <a:rPr sz="1700" spc="5" dirty="0">
                <a:latin typeface="Corbel"/>
                <a:cs typeface="Corbel"/>
              </a:rPr>
              <a:t>4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Corbel"/>
                <a:cs typeface="Corbel"/>
              </a:rPr>
              <a:t>19 </a:t>
            </a:r>
            <a:r>
              <a:rPr sz="1700" dirty="0">
                <a:latin typeface="Malgun Gothic"/>
                <a:cs typeface="Malgun Gothic"/>
              </a:rPr>
              <a:t>세계대전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정책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정상영업</a:t>
            </a:r>
            <a:r>
              <a:rPr sz="1700" dirty="0">
                <a:latin typeface="Corbel"/>
                <a:cs typeface="Corbel"/>
              </a:rPr>
              <a:t>,  </a:t>
            </a:r>
            <a:r>
              <a:rPr sz="1700" dirty="0">
                <a:latin typeface="Malgun Gothic"/>
                <a:cs typeface="Malgun Gothic"/>
              </a:rPr>
              <a:t>유럽의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수출도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용이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미국이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독일에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선전</a:t>
            </a:r>
            <a:endParaRPr sz="1700">
              <a:latin typeface="Malgun Gothic"/>
              <a:cs typeface="Malgun Gothic"/>
            </a:endParaRPr>
          </a:p>
          <a:p>
            <a:pPr marL="320675" algn="just">
              <a:lnSpc>
                <a:spcPts val="2030"/>
              </a:lnSpc>
            </a:pPr>
            <a:r>
              <a:rPr sz="1700" dirty="0">
                <a:latin typeface="Malgun Gothic"/>
                <a:cs typeface="Malgun Gothic"/>
              </a:rPr>
              <a:t>포고할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때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까지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전쟁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비용의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간접적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지원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참전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직접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지원</a:t>
            </a:r>
            <a:endParaRPr sz="1700">
              <a:latin typeface="Malgun Gothic"/>
              <a:cs typeface="Malgun Gothic"/>
            </a:endParaRPr>
          </a:p>
          <a:p>
            <a:pPr marL="320675" marR="5080" indent="-308610" algn="just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</a:t>
            </a:r>
            <a:r>
              <a:rPr sz="1700" spc="-5" dirty="0">
                <a:latin typeface="Corbel"/>
                <a:cs typeface="Corbel"/>
              </a:rPr>
              <a:t>0</a:t>
            </a:r>
            <a:r>
              <a:rPr sz="1700" dirty="0">
                <a:latin typeface="Malgun Gothic"/>
                <a:cs typeface="Malgun Gothic"/>
              </a:rPr>
              <a:t>년대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공개시장조작의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시작</a:t>
            </a:r>
            <a:r>
              <a:rPr sz="1700" dirty="0">
                <a:latin typeface="Corbel"/>
                <a:cs typeface="Corbel"/>
              </a:rPr>
              <a:t>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</a:t>
            </a:r>
            <a:r>
              <a:rPr sz="1700" spc="5" dirty="0">
                <a:latin typeface="Corbel"/>
                <a:cs typeface="Corbel"/>
              </a:rPr>
              <a:t>23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경기후퇴를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막기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위해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정부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증권의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대량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구매</a:t>
            </a:r>
            <a:r>
              <a:rPr sz="1700" dirty="0">
                <a:latin typeface="Corbel"/>
                <a:cs typeface="Corbel"/>
              </a:rPr>
              <a:t>.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(</a:t>
            </a:r>
            <a:r>
              <a:rPr sz="1700" dirty="0">
                <a:latin typeface="Malgun Gothic"/>
                <a:cs typeface="Malgun Gothic"/>
              </a:rPr>
              <a:t>금으  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무엇인가를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하지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않고</a:t>
            </a:r>
            <a:r>
              <a:rPr sz="1700" spc="-5" dirty="0">
                <a:latin typeface="Corbel"/>
                <a:cs typeface="Corbel"/>
              </a:rPr>
              <a:t>!</a:t>
            </a:r>
            <a:r>
              <a:rPr sz="1700" dirty="0">
                <a:latin typeface="Corbel"/>
                <a:cs typeface="Corbel"/>
              </a:rPr>
              <a:t>) </a:t>
            </a:r>
            <a:r>
              <a:rPr sz="1700" dirty="0">
                <a:latin typeface="Malgun Gothic"/>
                <a:cs typeface="Malgun Gothic"/>
              </a:rPr>
              <a:t>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사건은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은행이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공개시장조작으로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신용을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획득할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수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있다는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강  한</a:t>
            </a:r>
            <a:r>
              <a:rPr sz="1700" spc="-26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증거가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되♘음</a:t>
            </a:r>
            <a:endParaRPr sz="1700">
              <a:latin typeface="Malgun Gothic"/>
              <a:cs typeface="Malgun Gothic"/>
            </a:endParaRPr>
          </a:p>
          <a:p>
            <a:pPr marL="320675" indent="-308610">
              <a:lnSpc>
                <a:spcPct val="100000"/>
              </a:lnSpc>
              <a:spcBef>
                <a:spcPts val="36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1929-1933</a:t>
            </a:r>
            <a:r>
              <a:rPr sz="1700" spc="-30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대공황</a:t>
            </a:r>
            <a:endParaRPr sz="1700">
              <a:latin typeface="Malgun Gothic"/>
              <a:cs typeface="Malgun Gothic"/>
            </a:endParaRPr>
          </a:p>
          <a:p>
            <a:pPr marL="320675" marR="127000" indent="-308610">
              <a:lnSpc>
                <a:spcPts val="1989"/>
              </a:lnSpc>
              <a:spcBef>
                <a:spcPts val="590"/>
              </a:spcBef>
              <a:buClr>
                <a:srgbClr val="4764B0"/>
              </a:buClr>
              <a:buFont typeface="Wingdings"/>
              <a:buChar char=""/>
              <a:tabLst>
                <a:tab pos="321310" algn="l"/>
              </a:tabLst>
            </a:pPr>
            <a:r>
              <a:rPr sz="1700" dirty="0">
                <a:latin typeface="Corbel"/>
                <a:cs typeface="Corbel"/>
              </a:rPr>
              <a:t>1933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Malgun Gothic"/>
                <a:cs typeface="Malgun Gothic"/>
              </a:rPr>
              <a:t>글래스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spc="-5" dirty="0">
                <a:latin typeface="Malgun Gothic"/>
                <a:cs typeface="Malgun Gothic"/>
              </a:rPr>
              <a:t>스티걸법</a:t>
            </a:r>
            <a:r>
              <a:rPr sz="1700" spc="-250" dirty="0">
                <a:latin typeface="Malgun Gothic"/>
                <a:cs typeface="Malgun Gothic"/>
              </a:rPr>
              <a:t> </a:t>
            </a:r>
            <a:r>
              <a:rPr sz="1700" spc="-5" dirty="0">
                <a:latin typeface="Corbel"/>
                <a:cs typeface="Corbel"/>
              </a:rPr>
              <a:t>Glass-Steagall </a:t>
            </a:r>
            <a:r>
              <a:rPr sz="1700" dirty="0">
                <a:latin typeface="Corbel"/>
                <a:cs typeface="Corbel"/>
              </a:rPr>
              <a:t>Act: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상업은행과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투자은행의</a:t>
            </a:r>
            <a:r>
              <a:rPr sz="1700" spc="-25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업무를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분리</a:t>
            </a:r>
            <a:r>
              <a:rPr sz="1700" dirty="0">
                <a:latin typeface="Corbel"/>
                <a:cs typeface="Corbel"/>
              </a:rPr>
              <a:t>. </a:t>
            </a:r>
            <a:r>
              <a:rPr sz="1700" dirty="0">
                <a:latin typeface="Malgun Gothic"/>
                <a:cs typeface="Malgun Gothic"/>
              </a:rPr>
              <a:t>예금보험 </a:t>
            </a:r>
            <a:r>
              <a:rPr sz="1700" spc="-58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공사를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설립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Malgun Gothic"/>
                <a:cs typeface="Malgun Gothic"/>
              </a:rPr>
              <a:t>공개시장조작을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중앙은행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아래에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두♘음</a:t>
            </a:r>
            <a:r>
              <a:rPr sz="1700" dirty="0">
                <a:latin typeface="Corbel"/>
                <a:cs typeface="Corbel"/>
              </a:rPr>
              <a:t>,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1999</a:t>
            </a:r>
            <a:r>
              <a:rPr sz="1700" dirty="0">
                <a:latin typeface="Malgun Gothic"/>
                <a:cs typeface="Malgun Gothic"/>
              </a:rPr>
              <a:t>년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그램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리치</a:t>
            </a:r>
            <a:r>
              <a:rPr sz="1700" spc="-5" dirty="0">
                <a:latin typeface="Corbel"/>
                <a:cs typeface="Corbel"/>
              </a:rPr>
              <a:t>-</a:t>
            </a:r>
            <a:r>
              <a:rPr sz="1700" dirty="0">
                <a:latin typeface="Malgun Gothic"/>
                <a:cs typeface="Malgun Gothic"/>
              </a:rPr>
              <a:t>블라일리법  </a:t>
            </a:r>
            <a:r>
              <a:rPr sz="1700" dirty="0">
                <a:latin typeface="Corbel"/>
                <a:cs typeface="Corbel"/>
              </a:rPr>
              <a:t>Gramm </a:t>
            </a:r>
            <a:r>
              <a:rPr sz="1700" spc="-5" dirty="0">
                <a:latin typeface="Corbel"/>
                <a:cs typeface="Corbel"/>
              </a:rPr>
              <a:t>Leach</a:t>
            </a:r>
            <a:r>
              <a:rPr sz="1700" dirty="0">
                <a:latin typeface="Corbel"/>
                <a:cs typeface="Corbel"/>
              </a:rPr>
              <a:t> </a:t>
            </a:r>
            <a:r>
              <a:rPr sz="1700" spc="-5" dirty="0">
                <a:latin typeface="Corbel"/>
                <a:cs typeface="Corbel"/>
              </a:rPr>
              <a:t>Bliley</a:t>
            </a:r>
            <a:r>
              <a:rPr sz="1700" spc="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Act:</a:t>
            </a:r>
            <a:r>
              <a:rPr sz="1700" spc="-5" dirty="0">
                <a:latin typeface="Corbel"/>
                <a:cs typeface="Corbel"/>
              </a:rPr>
              <a:t> </a:t>
            </a:r>
            <a:r>
              <a:rPr sz="1700" dirty="0">
                <a:latin typeface="Corbel"/>
                <a:cs typeface="Corbel"/>
              </a:rPr>
              <a:t>GLBA</a:t>
            </a:r>
            <a:r>
              <a:rPr sz="1700" dirty="0">
                <a:latin typeface="Malgun Gothic"/>
                <a:cs typeface="Malgun Gothic"/>
              </a:rPr>
              <a:t>로</a:t>
            </a:r>
            <a:r>
              <a:rPr sz="1700" spc="-254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무력화됨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1331</TotalTime>
  <Words>2262</Words>
  <Application>Microsoft Office PowerPoint</Application>
  <PresentationFormat>사용자 지정</PresentationFormat>
  <Paragraphs>223</Paragraphs>
  <Slides>26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Arial MT</vt:lpstr>
      <vt:lpstr>Malgun Gothic</vt:lpstr>
      <vt:lpstr>Malgun Gothic</vt:lpstr>
      <vt:lpstr>Calibri</vt:lpstr>
      <vt:lpstr>Calibri Light</vt:lpstr>
      <vt:lpstr>Corbel</vt:lpstr>
      <vt:lpstr>Times New Roman</vt:lpstr>
      <vt:lpstr>Wingdings</vt:lpstr>
      <vt:lpstr>Office Theme</vt:lpstr>
      <vt:lpstr>전간기: 세계화의 후퇴</vt:lpstr>
      <vt:lpstr>전간기: 세계화의 후퇴</vt:lpstr>
      <vt:lpstr>1. 1차 세계대전 직전</vt:lpstr>
      <vt:lpstr>제국주의 (Imperialism)</vt:lpstr>
      <vt:lpstr>19세기 말 영국의 해외팽창</vt:lpstr>
      <vt:lpstr>19세기 말 미국의 해외팽창</vt:lpstr>
      <vt:lpstr>19세기 말 유럽국가들의 해외팽창</vt:lpstr>
      <vt:lpstr>1870년대 대불황</vt:lpstr>
      <vt:lpstr>2. 1차 세계대전: 총력전의 경제학</vt:lpstr>
      <vt:lpstr>1차 세계대전</vt:lpstr>
      <vt:lpstr>PowerPoint 프레젠테이션</vt:lpstr>
      <vt:lpstr>총력전의 경제학</vt:lpstr>
      <vt:lpstr>미국의 1차 세계대전의 참전</vt:lpstr>
      <vt:lpstr>미국의 부상</vt:lpstr>
      <vt:lpstr>3. 전간기: 1920년대</vt:lpstr>
      <vt:lpstr>전간기 Interwar Period (1918-1939) 미국</vt:lpstr>
      <vt:lpstr>전간기 미국</vt:lpstr>
      <vt:lpstr>전간기 미국: 소비사회</vt:lpstr>
      <vt:lpstr>PowerPoint 프레젠테이션</vt:lpstr>
      <vt:lpstr>전간기 1920년대 유럽: 1차 세계대전 결과</vt:lpstr>
      <vt:lpstr>1920년대 유럽경제: 불황과 위기</vt:lpstr>
      <vt:lpstr>전간기 유럽:금본위제 복귀 시도</vt:lpstr>
      <vt:lpstr>3. 미국 중앙은행의 역사</vt:lpstr>
      <vt:lpstr>(거시 복습) 재정정책과 통화정책</vt:lpstr>
      <vt:lpstr>미국 중앙은행의 역사 (1)</vt:lpstr>
      <vt:lpstr>미국 중앙은행의 역사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3_전간기세계</dc:title>
  <dc:creator>Bogang Jun</dc:creator>
  <cp:lastModifiedBy>노동주</cp:lastModifiedBy>
  <cp:revision>1</cp:revision>
  <dcterms:created xsi:type="dcterms:W3CDTF">2024-09-20T05:58:48Z</dcterms:created>
  <dcterms:modified xsi:type="dcterms:W3CDTF">2024-09-21T07:23:27Z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2024-09-20T00:00:00Z</vt:filetime>
  </property>
</Properties>
</file>