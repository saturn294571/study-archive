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1.xml" ContentType="application/inkml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9" r:id="rId13"/>
    <p:sldId id="267" r:id="rId14"/>
    <p:sldId id="268" r:id="rId15"/>
    <p:sldId id="269" r:id="rId16"/>
    <p:sldId id="270" r:id="rId17"/>
    <p:sldId id="28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</p:sldIdLst>
  <p:sldSz cx="9144000" cy="6858000" type="screen4x3"/>
  <p:notesSz cx="6888163" cy="10020300"/>
  <p:defaultTextStyle>
    <a:defPPr>
      <a:defRPr lang="ko-KR"/>
    </a:defPPr>
    <a:lvl1pPr marL="0" algn="l" defTabSz="953523" rtl="0" eaLnBrk="1" latinLnBrk="1" hangingPunct="1">
      <a:defRPr sz="1877" kern="1200">
        <a:solidFill>
          <a:schemeClr val="tx1"/>
        </a:solidFill>
        <a:latin typeface="+mn-lt"/>
        <a:ea typeface="+mn-ea"/>
        <a:cs typeface="+mn-cs"/>
      </a:defRPr>
    </a:lvl1pPr>
    <a:lvl2pPr marL="476763" algn="l" defTabSz="953523" rtl="0" eaLnBrk="1" latinLnBrk="1" hangingPunct="1">
      <a:defRPr sz="1877" kern="1200">
        <a:solidFill>
          <a:schemeClr val="tx1"/>
        </a:solidFill>
        <a:latin typeface="+mn-lt"/>
        <a:ea typeface="+mn-ea"/>
        <a:cs typeface="+mn-cs"/>
      </a:defRPr>
    </a:lvl2pPr>
    <a:lvl3pPr marL="953523" algn="l" defTabSz="953523" rtl="0" eaLnBrk="1" latinLnBrk="1" hangingPunct="1">
      <a:defRPr sz="1877" kern="1200">
        <a:solidFill>
          <a:schemeClr val="tx1"/>
        </a:solidFill>
        <a:latin typeface="+mn-lt"/>
        <a:ea typeface="+mn-ea"/>
        <a:cs typeface="+mn-cs"/>
      </a:defRPr>
    </a:lvl3pPr>
    <a:lvl4pPr marL="1430286" algn="l" defTabSz="953523" rtl="0" eaLnBrk="1" latinLnBrk="1" hangingPunct="1">
      <a:defRPr sz="1877" kern="1200">
        <a:solidFill>
          <a:schemeClr val="tx1"/>
        </a:solidFill>
        <a:latin typeface="+mn-lt"/>
        <a:ea typeface="+mn-ea"/>
        <a:cs typeface="+mn-cs"/>
      </a:defRPr>
    </a:lvl4pPr>
    <a:lvl5pPr marL="1907049" algn="l" defTabSz="953523" rtl="0" eaLnBrk="1" latinLnBrk="1" hangingPunct="1">
      <a:defRPr sz="1877" kern="1200">
        <a:solidFill>
          <a:schemeClr val="tx1"/>
        </a:solidFill>
        <a:latin typeface="+mn-lt"/>
        <a:ea typeface="+mn-ea"/>
        <a:cs typeface="+mn-cs"/>
      </a:defRPr>
    </a:lvl5pPr>
    <a:lvl6pPr marL="2383810" algn="l" defTabSz="953523" rtl="0" eaLnBrk="1" latinLnBrk="1" hangingPunct="1">
      <a:defRPr sz="1877" kern="1200">
        <a:solidFill>
          <a:schemeClr val="tx1"/>
        </a:solidFill>
        <a:latin typeface="+mn-lt"/>
        <a:ea typeface="+mn-ea"/>
        <a:cs typeface="+mn-cs"/>
      </a:defRPr>
    </a:lvl6pPr>
    <a:lvl7pPr marL="2860569" algn="l" defTabSz="953523" rtl="0" eaLnBrk="1" latinLnBrk="1" hangingPunct="1">
      <a:defRPr sz="1877" kern="1200">
        <a:solidFill>
          <a:schemeClr val="tx1"/>
        </a:solidFill>
        <a:latin typeface="+mn-lt"/>
        <a:ea typeface="+mn-ea"/>
        <a:cs typeface="+mn-cs"/>
      </a:defRPr>
    </a:lvl7pPr>
    <a:lvl8pPr marL="3337332" algn="l" defTabSz="953523" rtl="0" eaLnBrk="1" latinLnBrk="1" hangingPunct="1">
      <a:defRPr sz="1877" kern="1200">
        <a:solidFill>
          <a:schemeClr val="tx1"/>
        </a:solidFill>
        <a:latin typeface="+mn-lt"/>
        <a:ea typeface="+mn-ea"/>
        <a:cs typeface="+mn-cs"/>
      </a:defRPr>
    </a:lvl8pPr>
    <a:lvl9pPr marL="3814090" algn="l" defTabSz="953523" rtl="0" eaLnBrk="1" latinLnBrk="1" hangingPunct="1">
      <a:defRPr sz="1877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620" userDrawn="1">
          <p15:clr>
            <a:srgbClr val="A4A3A4"/>
          </p15:clr>
        </p15:guide>
        <p15:guide id="2" pos="184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519FAD7-D36D-E785-C46C-07FE8B84F412}" name="노동주" initials="/노" userId="S::oceanman33@office.inha.ac.kr::a4f3ab01-bf75-4be5-97ef-11f9189485e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52" autoAdjust="0"/>
    <p:restoredTop sz="58093" autoAdjust="0"/>
  </p:normalViewPr>
  <p:slideViewPr>
    <p:cSldViewPr>
      <p:cViewPr varScale="1">
        <p:scale>
          <a:sx n="63" d="100"/>
          <a:sy n="63" d="100"/>
        </p:scale>
        <p:origin x="518" y="53"/>
      </p:cViewPr>
      <p:guideLst>
        <p:guide orient="horz" pos="2620"/>
        <p:guide pos="18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>
        <p:scale>
          <a:sx n="100" d="100"/>
          <a:sy n="100" d="100"/>
        </p:scale>
        <p:origin x="2179" y="-1229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BAF0E8BE-80D3-7CD5-E771-EBF5E7CDC0A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8"/>
            <a:ext cx="2984939" cy="503121"/>
          </a:xfrm>
          <a:prstGeom prst="rect">
            <a:avLst/>
          </a:prstGeom>
        </p:spPr>
        <p:txBody>
          <a:bodyPr vert="horz" lIns="84710" tIns="42355" rIns="84710" bIns="42355" rtlCol="0"/>
          <a:lstStyle>
            <a:lvl1pPr algn="l">
              <a:defRPr sz="1100"/>
            </a:lvl1pPr>
          </a:lstStyle>
          <a:p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54B5178-4032-7E7C-33B6-A3D476AF69D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02202" y="8"/>
            <a:ext cx="2983916" cy="503121"/>
          </a:xfrm>
          <a:prstGeom prst="rect">
            <a:avLst/>
          </a:prstGeom>
        </p:spPr>
        <p:txBody>
          <a:bodyPr vert="horz" lIns="84710" tIns="42355" rIns="84710" bIns="42355" rtlCol="0"/>
          <a:lstStyle>
            <a:lvl1pPr algn="r">
              <a:defRPr sz="1100"/>
            </a:lvl1pPr>
          </a:lstStyle>
          <a:p>
            <a:fld id="{A6E9290C-AC5F-4DB9-9817-C15F08C53C3C}" type="datetimeFigureOut">
              <a:rPr lang="ko-KR" altLang="en-US" smtClean="0"/>
              <a:t>2024-09-28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5F87E68-D7D8-D858-E9A5-AF29AF903B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9517180"/>
            <a:ext cx="2984939" cy="503120"/>
          </a:xfrm>
          <a:prstGeom prst="rect">
            <a:avLst/>
          </a:prstGeom>
        </p:spPr>
        <p:txBody>
          <a:bodyPr vert="horz" lIns="84710" tIns="42355" rIns="84710" bIns="42355" rtlCol="0" anchor="b"/>
          <a:lstStyle>
            <a:lvl1pPr algn="l">
              <a:defRPr sz="11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E82742D-ADF8-FE2D-A05F-62CE9E3B869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02202" y="9517180"/>
            <a:ext cx="2983916" cy="503120"/>
          </a:xfrm>
          <a:prstGeom prst="rect">
            <a:avLst/>
          </a:prstGeom>
        </p:spPr>
        <p:txBody>
          <a:bodyPr vert="horz" lIns="84710" tIns="42355" rIns="84710" bIns="42355" rtlCol="0" anchor="b"/>
          <a:lstStyle>
            <a:lvl1pPr algn="r">
              <a:defRPr sz="1100"/>
            </a:lvl1pPr>
          </a:lstStyle>
          <a:p>
            <a:fld id="{61094001-0A31-4ECD-8550-FEA9843481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337358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56" userDrawn="1">
          <p15:clr>
            <a:srgbClr val="F26B43"/>
          </p15:clr>
        </p15:guide>
        <p15:guide id="2" pos="2170" userDrawn="1">
          <p15:clr>
            <a:srgbClr val="F26B43"/>
          </p15:clr>
        </p15:guide>
      </p15:sldGuideLst>
    </p:ext>
  </p:extLst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0T04:22:53.9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8"/>
            <a:ext cx="2984939" cy="503121"/>
          </a:xfrm>
          <a:prstGeom prst="rect">
            <a:avLst/>
          </a:prstGeom>
        </p:spPr>
        <p:txBody>
          <a:bodyPr vert="horz" lIns="84710" tIns="42355" rIns="84710" bIns="42355" rtlCol="0"/>
          <a:lstStyle>
            <a:lvl1pPr algn="l">
              <a:defRPr sz="11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902202" y="8"/>
            <a:ext cx="2983916" cy="503121"/>
          </a:xfrm>
          <a:prstGeom prst="rect">
            <a:avLst/>
          </a:prstGeom>
        </p:spPr>
        <p:txBody>
          <a:bodyPr vert="horz" lIns="84710" tIns="42355" rIns="84710" bIns="42355" rtlCol="0"/>
          <a:lstStyle>
            <a:lvl1pPr algn="r">
              <a:defRPr sz="1100"/>
            </a:lvl1pPr>
          </a:lstStyle>
          <a:p>
            <a:fld id="{801D11F5-0887-49F2-AF0F-D7123F2BB8A6}" type="datetimeFigureOut">
              <a:rPr lang="ko-KR" altLang="en-US" smtClean="0"/>
              <a:t>2024-09-28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89038" y="1252538"/>
            <a:ext cx="4510087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4710" tIns="42355" rIns="84710" bIns="42355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9230" y="4822804"/>
            <a:ext cx="5509713" cy="3944967"/>
          </a:xfrm>
          <a:prstGeom prst="rect">
            <a:avLst/>
          </a:prstGeom>
        </p:spPr>
        <p:txBody>
          <a:bodyPr vert="horz" lIns="84710" tIns="42355" rIns="84710" bIns="42355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517180"/>
            <a:ext cx="2984939" cy="503120"/>
          </a:xfrm>
          <a:prstGeom prst="rect">
            <a:avLst/>
          </a:prstGeom>
        </p:spPr>
        <p:txBody>
          <a:bodyPr vert="horz" lIns="84710" tIns="42355" rIns="84710" bIns="42355" rtlCol="0" anchor="b"/>
          <a:lstStyle>
            <a:lvl1pPr algn="l">
              <a:defRPr sz="11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902202" y="9517180"/>
            <a:ext cx="2983916" cy="503120"/>
          </a:xfrm>
          <a:prstGeom prst="rect">
            <a:avLst/>
          </a:prstGeom>
        </p:spPr>
        <p:txBody>
          <a:bodyPr vert="horz" lIns="84710" tIns="42355" rIns="84710" bIns="42355" rtlCol="0" anchor="b"/>
          <a:lstStyle>
            <a:lvl1pPr algn="r">
              <a:defRPr sz="1100"/>
            </a:lvl1pPr>
          </a:lstStyle>
          <a:p>
            <a:fld id="{8A8CF464-B56C-4822-8513-DBEA94A34C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269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53523" rtl="0" eaLnBrk="1" latinLnBrk="1" hangingPunct="1">
      <a:defRPr sz="1254" kern="1200">
        <a:solidFill>
          <a:schemeClr val="tx1"/>
        </a:solidFill>
        <a:latin typeface="+mn-lt"/>
        <a:ea typeface="+mn-ea"/>
        <a:cs typeface="+mn-cs"/>
      </a:defRPr>
    </a:lvl1pPr>
    <a:lvl2pPr marL="476763" algn="l" defTabSz="953523" rtl="0" eaLnBrk="1" latinLnBrk="1" hangingPunct="1">
      <a:defRPr sz="1254" kern="1200">
        <a:solidFill>
          <a:schemeClr val="tx1"/>
        </a:solidFill>
        <a:latin typeface="+mn-lt"/>
        <a:ea typeface="+mn-ea"/>
        <a:cs typeface="+mn-cs"/>
      </a:defRPr>
    </a:lvl2pPr>
    <a:lvl3pPr marL="953523" algn="l" defTabSz="953523" rtl="0" eaLnBrk="1" latinLnBrk="1" hangingPunct="1">
      <a:defRPr sz="1254" kern="1200">
        <a:solidFill>
          <a:schemeClr val="tx1"/>
        </a:solidFill>
        <a:latin typeface="+mn-lt"/>
        <a:ea typeface="+mn-ea"/>
        <a:cs typeface="+mn-cs"/>
      </a:defRPr>
    </a:lvl3pPr>
    <a:lvl4pPr marL="1430286" algn="l" defTabSz="953523" rtl="0" eaLnBrk="1" latinLnBrk="1" hangingPunct="1">
      <a:defRPr sz="1254" kern="1200">
        <a:solidFill>
          <a:schemeClr val="tx1"/>
        </a:solidFill>
        <a:latin typeface="+mn-lt"/>
        <a:ea typeface="+mn-ea"/>
        <a:cs typeface="+mn-cs"/>
      </a:defRPr>
    </a:lvl4pPr>
    <a:lvl5pPr marL="1907049" algn="l" defTabSz="953523" rtl="0" eaLnBrk="1" latinLnBrk="1" hangingPunct="1">
      <a:defRPr sz="1254" kern="1200">
        <a:solidFill>
          <a:schemeClr val="tx1"/>
        </a:solidFill>
        <a:latin typeface="+mn-lt"/>
        <a:ea typeface="+mn-ea"/>
        <a:cs typeface="+mn-cs"/>
      </a:defRPr>
    </a:lvl5pPr>
    <a:lvl6pPr marL="2383810" algn="l" defTabSz="953523" rtl="0" eaLnBrk="1" latinLnBrk="1" hangingPunct="1">
      <a:defRPr sz="1254" kern="1200">
        <a:solidFill>
          <a:schemeClr val="tx1"/>
        </a:solidFill>
        <a:latin typeface="+mn-lt"/>
        <a:ea typeface="+mn-ea"/>
        <a:cs typeface="+mn-cs"/>
      </a:defRPr>
    </a:lvl6pPr>
    <a:lvl7pPr marL="2860569" algn="l" defTabSz="953523" rtl="0" eaLnBrk="1" latinLnBrk="1" hangingPunct="1">
      <a:defRPr sz="1254" kern="1200">
        <a:solidFill>
          <a:schemeClr val="tx1"/>
        </a:solidFill>
        <a:latin typeface="+mn-lt"/>
        <a:ea typeface="+mn-ea"/>
        <a:cs typeface="+mn-cs"/>
      </a:defRPr>
    </a:lvl7pPr>
    <a:lvl8pPr marL="3337332" algn="l" defTabSz="953523" rtl="0" eaLnBrk="1" latinLnBrk="1" hangingPunct="1">
      <a:defRPr sz="1254" kern="1200">
        <a:solidFill>
          <a:schemeClr val="tx1"/>
        </a:solidFill>
        <a:latin typeface="+mn-lt"/>
        <a:ea typeface="+mn-ea"/>
        <a:cs typeface="+mn-cs"/>
      </a:defRPr>
    </a:lvl8pPr>
    <a:lvl9pPr marL="3814090" algn="l" defTabSz="953523" rtl="0" eaLnBrk="1" latinLnBrk="1" hangingPunct="1">
      <a:defRPr sz="125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189038" y="1252538"/>
            <a:ext cx="4510087" cy="3382962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8CF464-B56C-4822-8513-DBEA94A34CF3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63687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189038" y="1252538"/>
            <a:ext cx="4510087" cy="3382962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차 혁명으로 인해 기술혁신 </a:t>
            </a:r>
            <a:r>
              <a:rPr lang="en-US" altLang="ko-KR" dirty="0"/>
              <a:t>-&gt; </a:t>
            </a:r>
            <a:r>
              <a:rPr lang="ko-KR" altLang="en-US" dirty="0" err="1"/>
              <a:t>멜서스트랩에ㅓㅅ</a:t>
            </a:r>
            <a:r>
              <a:rPr lang="ko-KR" altLang="en-US" dirty="0"/>
              <a:t> 빠져나옴</a:t>
            </a:r>
            <a:endParaRPr lang="en-US" altLang="ko-KR" dirty="0"/>
          </a:p>
          <a:p>
            <a:r>
              <a:rPr lang="ko-KR" altLang="en-US" dirty="0"/>
              <a:t>기술혁신의 핵심 </a:t>
            </a:r>
            <a:r>
              <a:rPr lang="en-US" altLang="ko-KR" dirty="0"/>
              <a:t>= 1</a:t>
            </a:r>
            <a:r>
              <a:rPr lang="ko-KR" altLang="en-US" dirty="0"/>
              <a:t>차산업혁명</a:t>
            </a:r>
            <a:endParaRPr lang="en-US" altLang="ko-KR" dirty="0"/>
          </a:p>
          <a:p>
            <a:r>
              <a:rPr lang="ko-KR" altLang="en-US" dirty="0"/>
              <a:t>무역구조 </a:t>
            </a:r>
            <a:r>
              <a:rPr lang="en-US" altLang="ko-KR" dirty="0"/>
              <a:t>&amp; </a:t>
            </a:r>
            <a:r>
              <a:rPr lang="ko-KR" altLang="en-US" dirty="0"/>
              <a:t>금융구조</a:t>
            </a:r>
            <a:endParaRPr lang="en-US" altLang="ko-KR" dirty="0"/>
          </a:p>
          <a:p>
            <a:r>
              <a:rPr lang="en-US" altLang="ko-KR" dirty="0"/>
              <a:t>1</a:t>
            </a:r>
            <a:r>
              <a:rPr lang="ko-KR" altLang="en-US" dirty="0"/>
              <a:t>파트 영국을 중심으로 곡물법 폐지</a:t>
            </a:r>
            <a:r>
              <a:rPr lang="en-US" altLang="ko-KR" dirty="0"/>
              <a:t>~1</a:t>
            </a:r>
            <a:r>
              <a:rPr lang="ko-KR" altLang="en-US" dirty="0"/>
              <a:t>차세계화 이전까지</a:t>
            </a:r>
            <a:endParaRPr lang="en-US" altLang="ko-KR" dirty="0"/>
          </a:p>
          <a:p>
            <a:r>
              <a:rPr lang="en-US" altLang="ko-KR" dirty="0"/>
              <a:t>2</a:t>
            </a:r>
            <a:r>
              <a:rPr lang="ko-KR" altLang="en-US" dirty="0"/>
              <a:t>파트 </a:t>
            </a:r>
            <a:r>
              <a:rPr lang="en-US" altLang="ko-KR" dirty="0"/>
              <a:t>1914~1939 2</a:t>
            </a:r>
            <a:r>
              <a:rPr lang="ko-KR" altLang="en-US" dirty="0"/>
              <a:t>차 대전까지의 </a:t>
            </a:r>
            <a:r>
              <a:rPr lang="ko-KR" altLang="en-US" dirty="0" err="1"/>
              <a:t>전간기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미국</a:t>
            </a:r>
            <a:r>
              <a:rPr lang="en-US" altLang="ko-KR" dirty="0"/>
              <a:t>. </a:t>
            </a:r>
            <a:r>
              <a:rPr lang="ko-KR" altLang="en-US" dirty="0"/>
              <a:t>유럽 사람들은 어떠한 경험을 했는가를 중점적으로</a:t>
            </a:r>
            <a:endParaRPr lang="en-US" altLang="ko-KR" dirty="0"/>
          </a:p>
          <a:p>
            <a:r>
              <a:rPr lang="ko-KR" altLang="en-US" dirty="0"/>
              <a:t>전후의 무역</a:t>
            </a:r>
            <a:r>
              <a:rPr lang="en-US" altLang="ko-KR" dirty="0"/>
              <a:t>/</a:t>
            </a:r>
            <a:r>
              <a:rPr lang="ko-KR" altLang="en-US" dirty="0"/>
              <a:t>금융구조 자본주의 </a:t>
            </a:r>
            <a:r>
              <a:rPr lang="ko-KR" altLang="en-US" dirty="0" err="1"/>
              <a:t>활듬기</a:t>
            </a:r>
            <a:r>
              <a:rPr lang="ko-KR" altLang="en-US" dirty="0"/>
              <a:t> </a:t>
            </a:r>
            <a:r>
              <a:rPr lang="ko-KR" altLang="en-US" dirty="0" err="1"/>
              <a:t>브레튼우즈체제</a:t>
            </a:r>
            <a:r>
              <a:rPr lang="en-US" altLang="ko-KR" dirty="0"/>
              <a:t>/GATT</a:t>
            </a:r>
            <a:r>
              <a:rPr lang="ko-KR" altLang="en-US" dirty="0"/>
              <a:t>체제 </a:t>
            </a:r>
            <a:r>
              <a:rPr lang="en-US" altLang="ko-KR" dirty="0"/>
              <a:t>;</a:t>
            </a:r>
            <a:r>
              <a:rPr lang="ko-KR" altLang="en-US" dirty="0"/>
              <a:t> </a:t>
            </a:r>
            <a:r>
              <a:rPr lang="ko-KR" altLang="en-US" dirty="0" err="1"/>
              <a:t>브레튼우즈</a:t>
            </a:r>
            <a:r>
              <a:rPr lang="ko-KR" altLang="en-US" dirty="0"/>
              <a:t> 붕괴 전까지</a:t>
            </a:r>
            <a:endParaRPr lang="en-US" altLang="ko-KR" dirty="0"/>
          </a:p>
          <a:p>
            <a:r>
              <a:rPr lang="en-US" altLang="ko-KR" dirty="0"/>
              <a:t>1980</a:t>
            </a:r>
            <a:r>
              <a:rPr lang="ko-KR" altLang="en-US" dirty="0"/>
              <a:t>년 신자유주의 </a:t>
            </a:r>
            <a:r>
              <a:rPr lang="en-US" altLang="ko-KR" dirty="0"/>
              <a:t>~ 2008</a:t>
            </a:r>
            <a:r>
              <a:rPr lang="ko-KR" altLang="en-US" dirty="0"/>
              <a:t>년</a:t>
            </a:r>
            <a:endParaRPr lang="en-US" altLang="ko-KR" dirty="0"/>
          </a:p>
          <a:p>
            <a:endParaRPr lang="en-US" altLang="ko-KR" dirty="0"/>
          </a:p>
          <a:p>
            <a:pPr marL="211775" indent="-211775">
              <a:buAutoNum type="arabicPeriod"/>
            </a:pPr>
            <a:r>
              <a:rPr lang="ko-KR" altLang="en-US" dirty="0"/>
              <a:t>제국주의시대</a:t>
            </a:r>
            <a:endParaRPr lang="en-US" altLang="ko-KR" dirty="0"/>
          </a:p>
          <a:p>
            <a:pPr marL="211775" indent="-211775">
              <a:buAutoNum type="arabicPeriod"/>
            </a:pPr>
            <a:r>
              <a:rPr lang="ko-KR" altLang="en-US" dirty="0" err="1"/>
              <a:t>전간기</a:t>
            </a:r>
            <a:endParaRPr lang="en-US" altLang="ko-KR" dirty="0"/>
          </a:p>
          <a:p>
            <a:pPr marL="211775" indent="-211775">
              <a:buAutoNum type="arabicPeriod"/>
            </a:pPr>
            <a:r>
              <a:rPr lang="ko-KR" altLang="en-US" dirty="0"/>
              <a:t>자본주의 황금기</a:t>
            </a:r>
            <a:endParaRPr lang="en-US" altLang="ko-KR" dirty="0"/>
          </a:p>
          <a:p>
            <a:pPr marL="211775" indent="-211775">
              <a:buAutoNum type="arabicPeriod"/>
            </a:pPr>
            <a:r>
              <a:rPr lang="ko-KR" altLang="en-US" dirty="0"/>
              <a:t>신자유주의 시기</a:t>
            </a:r>
            <a:r>
              <a:rPr lang="en-US" altLang="ko-KR" dirty="0"/>
              <a:t>(WTO </a:t>
            </a:r>
            <a:r>
              <a:rPr lang="ko-KR" altLang="en-US" dirty="0"/>
              <a:t>중심</a:t>
            </a:r>
            <a:r>
              <a:rPr lang="en-US" altLang="ko-KR" dirty="0"/>
              <a:t>)</a:t>
            </a:r>
          </a:p>
          <a:p>
            <a:pPr marL="211775" indent="-211775">
              <a:buAutoNum type="arabicPeriod"/>
            </a:pPr>
            <a:r>
              <a:rPr lang="en-US" altLang="ko-KR" dirty="0"/>
              <a:t>2008 </a:t>
            </a:r>
            <a:r>
              <a:rPr lang="ko-KR" altLang="en-US" dirty="0"/>
              <a:t>이후 오늘날</a:t>
            </a:r>
            <a:endParaRPr lang="en-US" altLang="ko-KR" dirty="0"/>
          </a:p>
          <a:p>
            <a:r>
              <a:rPr lang="ko-KR" altLang="en-US" dirty="0"/>
              <a:t>무역질서 </a:t>
            </a:r>
            <a:r>
              <a:rPr lang="en-US" altLang="ko-KR" dirty="0"/>
              <a:t>/ </a:t>
            </a:r>
            <a:r>
              <a:rPr lang="ko-KR" altLang="en-US" dirty="0"/>
              <a:t>금융제도</a:t>
            </a:r>
            <a:r>
              <a:rPr lang="en-US" altLang="ko-KR" dirty="0"/>
              <a:t> -&gt; </a:t>
            </a:r>
            <a:r>
              <a:rPr lang="ko-KR" altLang="en-US" dirty="0"/>
              <a:t>세계질서</a:t>
            </a:r>
            <a:r>
              <a:rPr lang="en-US" altLang="ko-KR" dirty="0"/>
              <a:t>. </a:t>
            </a:r>
            <a:r>
              <a:rPr lang="ko-KR" altLang="en-US" dirty="0"/>
              <a:t>왜 이것들을 </a:t>
            </a:r>
            <a:r>
              <a:rPr lang="ko-KR" altLang="en-US" dirty="0" err="1"/>
              <a:t>눈여겨</a:t>
            </a:r>
            <a:r>
              <a:rPr lang="ko-KR" altLang="en-US" dirty="0"/>
              <a:t> 봐야 하는가</a:t>
            </a:r>
            <a:r>
              <a:rPr lang="en-US" altLang="ko-KR" dirty="0"/>
              <a:t>?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8CF464-B56C-4822-8513-DBEA94A34CF3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90107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189038" y="1252538"/>
            <a:ext cx="4510087" cy="3382962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8CF464-B56C-4822-8513-DBEA94A34CF3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69503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189038" y="1252538"/>
            <a:ext cx="4510087" cy="3382962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근대국민국가 </a:t>
            </a:r>
            <a:r>
              <a:rPr lang="en-US" altLang="ko-KR" dirty="0"/>
              <a:t>: nation state</a:t>
            </a:r>
          </a:p>
          <a:p>
            <a:r>
              <a:rPr lang="ko-KR" altLang="en-US" dirty="0"/>
              <a:t>민족주의에 대한 감정</a:t>
            </a:r>
            <a:r>
              <a:rPr lang="en-US" altLang="ko-KR" dirty="0"/>
              <a:t> = </a:t>
            </a:r>
            <a:r>
              <a:rPr lang="ko-KR" altLang="en-US" dirty="0"/>
              <a:t>원래 있던 게 아닌 발명된 개념이다 </a:t>
            </a:r>
            <a:r>
              <a:rPr lang="en-US" altLang="ko-KR" dirty="0"/>
              <a:t>; </a:t>
            </a:r>
            <a:r>
              <a:rPr lang="ko-KR" altLang="en-US" dirty="0"/>
              <a:t>마찬가지로 어린이와 어린이의 보호 또한 발명된 개념이다 가족의 느낌조차 </a:t>
            </a:r>
            <a:r>
              <a:rPr lang="en-US" altLang="ko-KR" dirty="0"/>
              <a:t>(</a:t>
            </a:r>
            <a:r>
              <a:rPr lang="ko-KR" altLang="en-US" dirty="0"/>
              <a:t>당연하게 생각 어떻게 만들어졌나 왜 만들어 졌나</a:t>
            </a:r>
            <a:r>
              <a:rPr lang="en-US" altLang="ko-KR" dirty="0"/>
              <a:t>?</a:t>
            </a:r>
            <a:r>
              <a:rPr lang="ko-KR" altLang="en-US" dirty="0"/>
              <a:t>와 같은 맥락을 </a:t>
            </a:r>
            <a:r>
              <a:rPr lang="ko-KR" altLang="en-US" dirty="0" err="1"/>
              <a:t>파악하는게</a:t>
            </a:r>
            <a:r>
              <a:rPr lang="ko-KR" altLang="en-US" dirty="0"/>
              <a:t> 중요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dirty="0"/>
              <a:t>중세 봉건시대</a:t>
            </a:r>
            <a:endParaRPr lang="en-US" altLang="ko-KR" dirty="0"/>
          </a:p>
          <a:p>
            <a:r>
              <a:rPr lang="ko-KR" altLang="en-US" dirty="0"/>
              <a:t>로마의 멸망 </a:t>
            </a:r>
            <a:r>
              <a:rPr lang="en-US" altLang="ko-KR" dirty="0"/>
              <a:t>= 500; </a:t>
            </a:r>
            <a:r>
              <a:rPr lang="ko-KR" altLang="en-US" dirty="0"/>
              <a:t>국가라는 틀이 없어지며 기사들에게 보호</a:t>
            </a:r>
            <a:r>
              <a:rPr lang="en-US" altLang="ko-KR" dirty="0"/>
              <a:t>; </a:t>
            </a:r>
            <a:r>
              <a:rPr lang="ko-KR" altLang="en-US" dirty="0" err="1"/>
              <a:t>중세봉건시대</a:t>
            </a:r>
            <a:r>
              <a:rPr lang="ko-KR" altLang="en-US" dirty="0"/>
              <a:t> 성립</a:t>
            </a:r>
            <a:r>
              <a:rPr lang="en-US" altLang="ko-KR" dirty="0"/>
              <a:t>;</a:t>
            </a:r>
          </a:p>
          <a:p>
            <a:pPr marL="211775" indent="-211775">
              <a:buAutoNum type="arabicPeriod"/>
            </a:pPr>
            <a:r>
              <a:rPr lang="ko-KR" altLang="en-US" dirty="0"/>
              <a:t>기사계급 </a:t>
            </a:r>
            <a:r>
              <a:rPr lang="en-US" altLang="ko-KR" dirty="0"/>
              <a:t>: </a:t>
            </a:r>
            <a:r>
              <a:rPr lang="ko-KR" altLang="en-US" dirty="0"/>
              <a:t>왕과 봉건제후들</a:t>
            </a:r>
            <a:r>
              <a:rPr lang="en-US" altLang="ko-KR" dirty="0"/>
              <a:t>. </a:t>
            </a:r>
            <a:r>
              <a:rPr lang="ko-KR" altLang="en-US" dirty="0"/>
              <a:t>제후들 밑에 기사들</a:t>
            </a:r>
            <a:r>
              <a:rPr lang="en-US" altLang="ko-KR" dirty="0"/>
              <a:t> (</a:t>
            </a:r>
            <a:r>
              <a:rPr lang="ko-KR" altLang="en-US" dirty="0"/>
              <a:t>쌍무적 관계 </a:t>
            </a:r>
            <a:r>
              <a:rPr lang="en-US" altLang="ko-KR" dirty="0"/>
              <a:t>: </a:t>
            </a:r>
            <a:r>
              <a:rPr lang="ko-KR" altLang="en-US" dirty="0" err="1"/>
              <a:t>전쟁등이</a:t>
            </a:r>
            <a:r>
              <a:rPr lang="ko-KR" altLang="en-US" dirty="0"/>
              <a:t> 발발하면 왕 밑의 제후들이 계약에 의해 전부 동원됨</a:t>
            </a:r>
            <a:r>
              <a:rPr lang="en-US" altLang="ko-KR" dirty="0"/>
              <a:t>); </a:t>
            </a:r>
            <a:r>
              <a:rPr lang="ko-KR" altLang="en-US" dirty="0"/>
              <a:t>왕은 자신의 관할 영토만 다스릴 수 있고 타 영주들을 간섭 </a:t>
            </a:r>
            <a:r>
              <a:rPr lang="en-US" altLang="ko-KR" dirty="0"/>
              <a:t>X/ </a:t>
            </a:r>
            <a:r>
              <a:rPr lang="ko-KR" altLang="en-US" dirty="0"/>
              <a:t>농노</a:t>
            </a:r>
            <a:r>
              <a:rPr lang="en-US" altLang="ko-KR" dirty="0"/>
              <a:t>: </a:t>
            </a:r>
            <a:r>
              <a:rPr lang="ko-KR" altLang="en-US" dirty="0"/>
              <a:t>이동의 자유가 없음</a:t>
            </a:r>
            <a:endParaRPr lang="en-US" altLang="ko-KR" dirty="0"/>
          </a:p>
          <a:p>
            <a:pPr marL="211775" indent="-211775">
              <a:buAutoNum type="arabicPeriod"/>
            </a:pPr>
            <a:endParaRPr lang="en-US" altLang="ko-KR" dirty="0"/>
          </a:p>
          <a:p>
            <a:r>
              <a:rPr lang="ko-KR" altLang="en-US" dirty="0"/>
              <a:t>르네상스</a:t>
            </a:r>
            <a:r>
              <a:rPr lang="en-US" altLang="ko-KR" dirty="0"/>
              <a:t>: </a:t>
            </a:r>
            <a:r>
              <a:rPr lang="ko-KR" altLang="en-US" dirty="0"/>
              <a:t>중세의 신 중심에서 인간중심으로 </a:t>
            </a:r>
            <a:endParaRPr lang="en-US" altLang="ko-KR" dirty="0"/>
          </a:p>
          <a:p>
            <a:r>
              <a:rPr lang="ko-KR" altLang="en-US" dirty="0"/>
              <a:t>종교전쟁에 따라 왕의 권한이 점차 </a:t>
            </a:r>
            <a:r>
              <a:rPr lang="ko-KR" altLang="en-US" dirty="0" err="1"/>
              <a:t>강해짐</a:t>
            </a:r>
            <a:endParaRPr lang="en-US" altLang="ko-KR" dirty="0"/>
          </a:p>
          <a:p>
            <a:r>
              <a:rPr lang="ko-KR" altLang="en-US" dirty="0"/>
              <a:t>각 제후들의 영역은 희미해지고 왕의 영향이 세짐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절대왕정</a:t>
            </a:r>
            <a:endParaRPr lang="en-US" altLang="ko-KR" dirty="0"/>
          </a:p>
          <a:p>
            <a:r>
              <a:rPr lang="ko-KR" altLang="en-US" dirty="0"/>
              <a:t>왕권신수설</a:t>
            </a:r>
            <a:endParaRPr lang="en-US" altLang="ko-KR" dirty="0"/>
          </a:p>
          <a:p>
            <a:r>
              <a:rPr lang="ko-KR" altLang="en-US" dirty="0"/>
              <a:t>상비군</a:t>
            </a:r>
            <a:endParaRPr lang="en-US" altLang="ko-KR" dirty="0"/>
          </a:p>
          <a:p>
            <a:r>
              <a:rPr lang="ko-KR" altLang="en-US" dirty="0"/>
              <a:t>관료제</a:t>
            </a:r>
            <a:endParaRPr lang="en-US" altLang="ko-KR" dirty="0"/>
          </a:p>
          <a:p>
            <a:r>
              <a:rPr lang="ko-KR" altLang="en-US" dirty="0"/>
              <a:t>각 지역의 제후들은 중앙귀족으로 편입됨</a:t>
            </a:r>
            <a:endParaRPr lang="en-US" altLang="ko-KR" dirty="0"/>
          </a:p>
          <a:p>
            <a:r>
              <a:rPr lang="ko-KR" altLang="en-US" dirty="0"/>
              <a:t>지방의 경계를 허물고 국가의 경계를 키우는 것이</a:t>
            </a:r>
            <a:endParaRPr lang="en-US" altLang="ko-KR" dirty="0"/>
          </a:p>
          <a:p>
            <a:r>
              <a:rPr lang="ko-KR" altLang="en-US" dirty="0"/>
              <a:t>루이</a:t>
            </a:r>
            <a:r>
              <a:rPr lang="en-US" altLang="ko-KR" dirty="0"/>
              <a:t>14, </a:t>
            </a:r>
            <a:r>
              <a:rPr lang="ko-KR" altLang="en-US" dirty="0"/>
              <a:t>엘리자베스 </a:t>
            </a:r>
            <a:r>
              <a:rPr lang="en-US" altLang="ko-KR" dirty="0"/>
              <a:t>: </a:t>
            </a:r>
          </a:p>
          <a:p>
            <a:r>
              <a:rPr lang="ko-KR" altLang="en-US" dirty="0"/>
              <a:t>절대왕정의 주인공 </a:t>
            </a:r>
            <a:r>
              <a:rPr lang="en-US" altLang="ko-KR" dirty="0"/>
              <a:t>: </a:t>
            </a:r>
            <a:r>
              <a:rPr lang="ko-KR" altLang="en-US" dirty="0"/>
              <a:t>왕</a:t>
            </a:r>
            <a:endParaRPr lang="en-US" altLang="ko-KR" dirty="0"/>
          </a:p>
          <a:p>
            <a:r>
              <a:rPr lang="en-US" altLang="ko-KR" b="1" dirty="0"/>
              <a:t>1789</a:t>
            </a:r>
            <a:r>
              <a:rPr lang="ko-KR" altLang="en-US" b="1" dirty="0"/>
              <a:t>년 프랑스혁명</a:t>
            </a:r>
            <a:r>
              <a:rPr lang="en-US" altLang="ko-KR" b="1" dirty="0"/>
              <a:t> -&gt; </a:t>
            </a:r>
            <a:r>
              <a:rPr lang="ko-KR" altLang="en-US" b="1" dirty="0"/>
              <a:t>나폴레옹</a:t>
            </a:r>
            <a:r>
              <a:rPr lang="en-US" altLang="ko-KR" b="1" dirty="0"/>
              <a:t>: </a:t>
            </a:r>
            <a:r>
              <a:rPr lang="ko-KR" altLang="en-US" b="1" dirty="0"/>
              <a:t>혁명을 전파하며 유럽 정복 </a:t>
            </a:r>
            <a:r>
              <a:rPr lang="en-US" altLang="ko-KR" b="1" dirty="0"/>
              <a:t>-&gt; </a:t>
            </a:r>
            <a:r>
              <a:rPr lang="ko-KR" altLang="en-US" b="1" dirty="0"/>
              <a:t>민족주의 </a:t>
            </a:r>
            <a:r>
              <a:rPr lang="en-US" altLang="ko-KR" b="1" dirty="0"/>
              <a:t>&amp; </a:t>
            </a:r>
            <a:r>
              <a:rPr lang="ko-KR" altLang="en-US" b="1" dirty="0"/>
              <a:t>자유주의의 토대가 됨</a:t>
            </a:r>
            <a:endParaRPr lang="en-US" altLang="ko-KR" b="1" dirty="0"/>
          </a:p>
          <a:p>
            <a:r>
              <a:rPr lang="ko-KR" altLang="en-US" b="0" dirty="0"/>
              <a:t>세계화의 과정</a:t>
            </a:r>
            <a:r>
              <a:rPr lang="en-US" altLang="ko-KR" b="0" dirty="0"/>
              <a:t>: </a:t>
            </a:r>
            <a:r>
              <a:rPr lang="ko-KR" altLang="en-US" b="0" dirty="0"/>
              <a:t>한 개인은 어떻게 경계를 인식할까</a:t>
            </a:r>
            <a:r>
              <a:rPr lang="en-US" altLang="ko-KR" b="0" dirty="0"/>
              <a:t>? </a:t>
            </a:r>
            <a:r>
              <a:rPr lang="ko-KR" altLang="en-US" b="0" dirty="0"/>
              <a:t>세계화가 되면 국가의 경계가 </a:t>
            </a:r>
            <a:r>
              <a:rPr lang="ko-KR" altLang="en-US" b="0" dirty="0" err="1"/>
              <a:t>느슨해지고</a:t>
            </a:r>
            <a:r>
              <a:rPr lang="ko-KR" altLang="en-US" b="0" dirty="0"/>
              <a:t> 지구촌의 경계가 강화</a:t>
            </a:r>
            <a:r>
              <a:rPr lang="en-US" altLang="ko-KR" b="0" dirty="0"/>
              <a:t>; </a:t>
            </a:r>
            <a:r>
              <a:rPr lang="ko-KR" altLang="en-US" b="0" dirty="0"/>
              <a:t>지구촌이 개인에게</a:t>
            </a:r>
            <a:endParaRPr lang="en-US" altLang="ko-KR" b="0" dirty="0"/>
          </a:p>
          <a:p>
            <a:r>
              <a:rPr lang="ko-KR" altLang="en-US" b="0" dirty="0"/>
              <a:t>근대국가의 체계가 </a:t>
            </a:r>
            <a:r>
              <a:rPr lang="ko-KR" altLang="en-US" b="0" dirty="0" err="1"/>
              <a:t>시험받음</a:t>
            </a:r>
            <a:r>
              <a:rPr lang="ko-KR" altLang="en-US" b="0" dirty="0"/>
              <a:t> </a:t>
            </a:r>
            <a:r>
              <a:rPr lang="en-US" altLang="ko-KR" b="0" dirty="0"/>
              <a:t>= EU</a:t>
            </a:r>
            <a:r>
              <a:rPr lang="ko-KR" altLang="en-US" b="0" dirty="0"/>
              <a:t>의 탄생 </a:t>
            </a:r>
            <a:r>
              <a:rPr lang="en-US" altLang="ko-KR" b="0" dirty="0"/>
              <a:t>;</a:t>
            </a:r>
          </a:p>
          <a:p>
            <a:r>
              <a:rPr lang="ko-KR" altLang="en-US" b="0" dirty="0"/>
              <a:t>세계화 이후 </a:t>
            </a:r>
            <a:r>
              <a:rPr lang="en-US" altLang="ko-KR" b="0" dirty="0"/>
              <a:t>EU</a:t>
            </a:r>
            <a:r>
              <a:rPr lang="ko-KR" altLang="en-US" b="0" dirty="0"/>
              <a:t>안에서 잘 </a:t>
            </a:r>
            <a:r>
              <a:rPr lang="ko-KR" altLang="en-US" b="0" dirty="0" err="1"/>
              <a:t>살게된</a:t>
            </a:r>
            <a:r>
              <a:rPr lang="ko-KR" altLang="en-US" b="0" dirty="0"/>
              <a:t> 국가들이 낙후된 국가들을 잘 돌볼 수 있나</a:t>
            </a:r>
            <a:r>
              <a:rPr lang="en-US" altLang="ko-KR" b="0" dirty="0"/>
              <a:t>?</a:t>
            </a:r>
          </a:p>
          <a:p>
            <a:r>
              <a:rPr lang="en-US" altLang="ko-KR" b="0" dirty="0"/>
              <a:t>-&gt; </a:t>
            </a:r>
            <a:r>
              <a:rPr lang="ko-KR" altLang="en-US" b="0" dirty="0"/>
              <a:t>이후 다시 근대국민국가의 개념이 가장 중요함을 깨달음</a:t>
            </a:r>
            <a:endParaRPr lang="en-US" altLang="ko-KR" b="0" dirty="0"/>
          </a:p>
          <a:p>
            <a:r>
              <a:rPr lang="ko-KR" altLang="en-US" b="0" dirty="0"/>
              <a:t>근대국가를 가장 중요한 경계로 생각하며 진행</a:t>
            </a:r>
            <a:endParaRPr lang="en-US" altLang="ko-KR" b="0" dirty="0"/>
          </a:p>
          <a:p>
            <a:r>
              <a:rPr lang="ko-KR" altLang="en-US" b="0" dirty="0"/>
              <a:t>근대국가 </a:t>
            </a:r>
            <a:r>
              <a:rPr lang="en-US" altLang="ko-KR" b="0" dirty="0"/>
              <a:t>= </a:t>
            </a:r>
            <a:r>
              <a:rPr lang="ko-KR" altLang="en-US" b="0" dirty="0"/>
              <a:t>발명된 개념</a:t>
            </a:r>
            <a:r>
              <a:rPr lang="en-US" altLang="ko-KR" b="0" dirty="0"/>
              <a:t>; </a:t>
            </a:r>
            <a:r>
              <a:rPr lang="ko-KR" altLang="en-US" b="0" dirty="0" err="1"/>
              <a:t>바ㄱ뀔</a:t>
            </a:r>
            <a:r>
              <a:rPr lang="ko-KR" altLang="en-US" b="0" dirty="0"/>
              <a:t> 수 있다</a:t>
            </a:r>
            <a:endParaRPr lang="en-US" altLang="ko-KR" b="0" dirty="0"/>
          </a:p>
          <a:p>
            <a:endParaRPr lang="en-US" altLang="ko-KR" b="0" dirty="0"/>
          </a:p>
          <a:p>
            <a:endParaRPr lang="en-US" altLang="ko-KR" b="0" dirty="0"/>
          </a:p>
          <a:p>
            <a:r>
              <a:rPr lang="ko-KR" altLang="en-US" b="0" dirty="0"/>
              <a:t>중상주의 절대왕정시기 왕을 뒷받침하던 이데올로기</a:t>
            </a:r>
            <a:endParaRPr lang="en-US" altLang="ko-KR" b="0" dirty="0"/>
          </a:p>
          <a:p>
            <a:r>
              <a:rPr lang="ko-KR" altLang="en-US" b="0" dirty="0"/>
              <a:t>부는 국가에 축적된 금</a:t>
            </a:r>
            <a:r>
              <a:rPr lang="en-US" altLang="ko-KR" b="0" dirty="0"/>
              <a:t>/</a:t>
            </a:r>
            <a:r>
              <a:rPr lang="ko-KR" altLang="en-US" b="0" dirty="0"/>
              <a:t>은의 양으로부터 나온다 </a:t>
            </a:r>
            <a:r>
              <a:rPr lang="en-US" altLang="ko-KR" b="0" dirty="0"/>
              <a:t> -&gt; </a:t>
            </a:r>
            <a:r>
              <a:rPr lang="ko-KR" altLang="en-US" b="0" dirty="0"/>
              <a:t>무역은 제로섬</a:t>
            </a:r>
            <a:endParaRPr lang="en-US" altLang="ko-KR" b="0" dirty="0"/>
          </a:p>
          <a:p>
            <a:r>
              <a:rPr lang="ko-KR" altLang="en-US" b="0" dirty="0" err="1"/>
              <a:t>아담스미스</a:t>
            </a:r>
            <a:r>
              <a:rPr lang="ko-KR" altLang="en-US" b="0" dirty="0"/>
              <a:t> </a:t>
            </a:r>
            <a:r>
              <a:rPr lang="en-US" altLang="ko-KR" b="0" dirty="0"/>
              <a:t>; </a:t>
            </a:r>
            <a:r>
              <a:rPr lang="ko-KR" altLang="en-US" b="0" dirty="0"/>
              <a:t>무역은 포지티브 </a:t>
            </a:r>
            <a:r>
              <a:rPr lang="ko-KR" altLang="en-US" b="0" dirty="0" err="1"/>
              <a:t>섬게임</a:t>
            </a:r>
            <a:r>
              <a:rPr lang="en-US" altLang="ko-KR" b="0" dirty="0"/>
              <a:t>;</a:t>
            </a:r>
          </a:p>
          <a:p>
            <a:r>
              <a:rPr lang="ko-KR" altLang="en-US" b="0" dirty="0"/>
              <a:t>왕의 재정수입 증대를 위해 산업정책을 씀 </a:t>
            </a:r>
            <a:r>
              <a:rPr lang="en-US" altLang="ko-KR" b="0" dirty="0"/>
              <a:t>+ </a:t>
            </a:r>
            <a:r>
              <a:rPr lang="ko-KR" altLang="en-US" b="0" dirty="0"/>
              <a:t>보호무역 </a:t>
            </a:r>
            <a:r>
              <a:rPr lang="en-US" altLang="ko-KR" b="0" dirty="0"/>
              <a:t>(</a:t>
            </a:r>
            <a:r>
              <a:rPr lang="ko-KR" altLang="en-US" b="0" dirty="0"/>
              <a:t>헨리</a:t>
            </a:r>
            <a:r>
              <a:rPr lang="en-US" altLang="ko-KR" b="0" dirty="0"/>
              <a:t>8</a:t>
            </a:r>
            <a:r>
              <a:rPr lang="ko-KR" altLang="en-US" b="0" dirty="0"/>
              <a:t>세 </a:t>
            </a:r>
            <a:r>
              <a:rPr lang="en-US" altLang="ko-KR" b="0" dirty="0"/>
              <a:t>: </a:t>
            </a:r>
            <a:r>
              <a:rPr lang="ko-KR" altLang="en-US" b="0" dirty="0"/>
              <a:t>모직물 산업</a:t>
            </a:r>
            <a:r>
              <a:rPr lang="en-US" altLang="ko-KR" b="0" dirty="0"/>
              <a:t> </a:t>
            </a:r>
            <a:r>
              <a:rPr lang="ko-KR" altLang="en-US" b="0" dirty="0"/>
              <a:t>보호를 위한 정책 </a:t>
            </a:r>
            <a:r>
              <a:rPr lang="en-US" altLang="ko-KR" b="0" dirty="0"/>
              <a:t>; </a:t>
            </a:r>
            <a:r>
              <a:rPr lang="ko-KR" altLang="en-US" b="0" dirty="0"/>
              <a:t>엘리자베스 </a:t>
            </a:r>
            <a:r>
              <a:rPr lang="en-US" altLang="ko-KR" b="0" dirty="0"/>
              <a:t>1</a:t>
            </a:r>
            <a:r>
              <a:rPr lang="ko-KR" altLang="en-US" b="0" dirty="0"/>
              <a:t>세 </a:t>
            </a:r>
            <a:r>
              <a:rPr lang="en-US" altLang="ko-KR" b="0" dirty="0"/>
              <a:t>: </a:t>
            </a:r>
            <a:r>
              <a:rPr lang="ko-KR" altLang="en-US" b="0" dirty="0"/>
              <a:t>산업보호 정책</a:t>
            </a:r>
            <a:r>
              <a:rPr lang="en-US" altLang="ko-KR" b="0" dirty="0"/>
              <a:t>)</a:t>
            </a:r>
          </a:p>
          <a:p>
            <a:r>
              <a:rPr lang="en-US" altLang="ko-KR" b="0" dirty="0"/>
              <a:t>1601 </a:t>
            </a:r>
            <a:r>
              <a:rPr lang="ko-KR" altLang="en-US" b="0" dirty="0"/>
              <a:t>동인도회사 </a:t>
            </a:r>
            <a:r>
              <a:rPr lang="en-US" altLang="ko-KR" b="0" dirty="0"/>
              <a:t>: VOC </a:t>
            </a:r>
            <a:r>
              <a:rPr lang="ko-KR" altLang="en-US" b="0" dirty="0" err="1"/>
              <a:t>네덜</a:t>
            </a:r>
            <a:r>
              <a:rPr lang="en-US" altLang="ko-KR" b="0" dirty="0"/>
              <a:t>; GIC </a:t>
            </a:r>
            <a:r>
              <a:rPr lang="ko-KR" altLang="en-US" b="0" dirty="0"/>
              <a:t>영국동인도</a:t>
            </a:r>
            <a:r>
              <a:rPr lang="en-US" altLang="ko-KR" b="0" dirty="0"/>
              <a:t> -&gt; </a:t>
            </a:r>
            <a:r>
              <a:rPr lang="ko-KR" altLang="en-US" b="0" dirty="0"/>
              <a:t>자본주의의 시작</a:t>
            </a:r>
            <a:endParaRPr lang="en-US" altLang="ko-KR" b="0" dirty="0"/>
          </a:p>
          <a:p>
            <a:r>
              <a:rPr lang="ko-KR" altLang="en-US" b="0" dirty="0"/>
              <a:t>국왕이 동인도회사에게 독점권이 담긴 특허장을 줌</a:t>
            </a:r>
            <a:endParaRPr lang="en-US" altLang="ko-KR" b="0" dirty="0"/>
          </a:p>
          <a:p>
            <a:r>
              <a:rPr lang="en-US" altLang="ko-KR" b="0" dirty="0"/>
              <a:t>GIC, HBC -&gt; </a:t>
            </a:r>
            <a:r>
              <a:rPr lang="ko-KR" altLang="en-US" b="0" dirty="0"/>
              <a:t>동인도 </a:t>
            </a:r>
            <a:r>
              <a:rPr lang="en-US" altLang="ko-KR" b="0" dirty="0"/>
              <a:t>= </a:t>
            </a:r>
            <a:r>
              <a:rPr lang="ko-KR" altLang="en-US" b="0" dirty="0"/>
              <a:t>아시아지역 </a:t>
            </a:r>
            <a:r>
              <a:rPr lang="en-US" altLang="ko-KR" b="0" dirty="0"/>
              <a:t>HBC</a:t>
            </a:r>
            <a:r>
              <a:rPr lang="ko-KR" altLang="en-US" b="0" dirty="0"/>
              <a:t>는 북아메리카 지역 개발에 대한 독점을 부여</a:t>
            </a:r>
            <a:endParaRPr lang="en-US" altLang="ko-KR" b="0" dirty="0"/>
          </a:p>
          <a:p>
            <a:r>
              <a:rPr lang="en-US" altLang="ko-KR" b="0" dirty="0"/>
              <a:t>HBC</a:t>
            </a:r>
            <a:r>
              <a:rPr lang="ko-KR" altLang="en-US" b="0" dirty="0"/>
              <a:t>의 경우 비버가죽 </a:t>
            </a:r>
            <a:r>
              <a:rPr lang="en-US" altLang="ko-KR" b="0" dirty="0"/>
              <a:t>-&gt; </a:t>
            </a:r>
            <a:r>
              <a:rPr lang="ko-KR" altLang="en-US" b="0" dirty="0"/>
              <a:t>인디언에게 구매 후 영국에 판매</a:t>
            </a:r>
            <a:endParaRPr lang="en-US" altLang="ko-KR" b="0" dirty="0"/>
          </a:p>
          <a:p>
            <a:r>
              <a:rPr lang="en-US" altLang="ko-KR" b="0" dirty="0"/>
              <a:t>HBC</a:t>
            </a:r>
            <a:r>
              <a:rPr lang="ko-KR" altLang="en-US" b="0" dirty="0"/>
              <a:t>에 전쟁선포와 상비군을 보유할 권리</a:t>
            </a:r>
            <a:r>
              <a:rPr lang="en-US" altLang="ko-KR" b="0" dirty="0"/>
              <a:t>, </a:t>
            </a:r>
            <a:r>
              <a:rPr lang="ko-KR" altLang="en-US" b="0" dirty="0"/>
              <a:t>조약을 체결할 권리</a:t>
            </a:r>
            <a:r>
              <a:rPr lang="en-US" altLang="ko-KR" b="0" dirty="0"/>
              <a:t>, </a:t>
            </a:r>
            <a:r>
              <a:rPr lang="ko-KR" altLang="en-US" b="0" dirty="0"/>
              <a:t>화폐주조</a:t>
            </a:r>
            <a:r>
              <a:rPr lang="en-US" altLang="ko-KR" b="0" dirty="0"/>
              <a:t>, </a:t>
            </a:r>
            <a:r>
              <a:rPr lang="ko-KR" altLang="en-US" b="0" dirty="0" err="1"/>
              <a:t>사법권를</a:t>
            </a:r>
            <a:r>
              <a:rPr lang="ko-KR" altLang="en-US" b="0" dirty="0"/>
              <a:t> 줌</a:t>
            </a:r>
            <a:endParaRPr lang="en-US" altLang="ko-KR" b="0" dirty="0"/>
          </a:p>
          <a:p>
            <a:r>
              <a:rPr lang="ko-KR" altLang="en-US" b="0" dirty="0"/>
              <a:t>왕의 수입을 증대한다는 </a:t>
            </a:r>
            <a:r>
              <a:rPr lang="ko-KR" altLang="en-US" b="0" dirty="0" err="1"/>
              <a:t>명목하에</a:t>
            </a:r>
            <a:r>
              <a:rPr lang="ko-KR" altLang="en-US" b="0" dirty="0"/>
              <a:t> 국가의 특허권을 줌 </a:t>
            </a:r>
            <a:r>
              <a:rPr lang="en-US" altLang="ko-KR" b="0" dirty="0"/>
              <a:t>; </a:t>
            </a:r>
            <a:r>
              <a:rPr lang="ko-KR" altLang="en-US" b="0" dirty="0"/>
              <a:t>준 국가적 </a:t>
            </a:r>
            <a:endParaRPr lang="en-US" altLang="ko-KR" b="0" dirty="0"/>
          </a:p>
          <a:p>
            <a:r>
              <a:rPr lang="ko-KR" altLang="en-US" b="0" dirty="0"/>
              <a:t>얼마나 초기에 무역이 힘들었나</a:t>
            </a:r>
            <a:r>
              <a:rPr lang="en-US" altLang="ko-KR" b="0" dirty="0"/>
              <a:t>? -&gt; </a:t>
            </a:r>
            <a:r>
              <a:rPr lang="ko-KR" altLang="en-US" b="0" dirty="0"/>
              <a:t>너무나 많은 불확실성이 존재</a:t>
            </a:r>
            <a:r>
              <a:rPr lang="en-US" altLang="ko-KR" b="0" dirty="0"/>
              <a:t>. </a:t>
            </a:r>
            <a:r>
              <a:rPr lang="ko-KR" altLang="en-US" b="0" dirty="0"/>
              <a:t>과정의 매우 </a:t>
            </a:r>
            <a:r>
              <a:rPr lang="ko-KR" altLang="en-US" b="0" dirty="0" err="1"/>
              <a:t>힘듬</a:t>
            </a:r>
            <a:r>
              <a:rPr lang="en-US" altLang="ko-KR" b="0" dirty="0"/>
              <a:t>; -&gt; </a:t>
            </a:r>
            <a:r>
              <a:rPr lang="ko-KR" altLang="en-US" b="0" dirty="0"/>
              <a:t>이 과정이 너무나 힘들기 때문에 준국가적 권한을 부여</a:t>
            </a:r>
            <a:endParaRPr lang="en-US" altLang="ko-KR" b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8CF464-B56C-4822-8513-DBEA94A34CF3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08984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189038" y="1252538"/>
            <a:ext cx="4510087" cy="3382962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중상주의 </a:t>
            </a:r>
            <a:r>
              <a:rPr lang="en-US" altLang="ko-KR" dirty="0"/>
              <a:t>= </a:t>
            </a:r>
            <a:r>
              <a:rPr lang="ko-KR" altLang="en-US" dirty="0"/>
              <a:t>이념</a:t>
            </a:r>
            <a:r>
              <a:rPr lang="en-US" altLang="ko-KR" dirty="0"/>
              <a:t>; </a:t>
            </a:r>
            <a:r>
              <a:rPr lang="ko-KR" altLang="en-US" dirty="0"/>
              <a:t>자본주의 </a:t>
            </a:r>
            <a:r>
              <a:rPr lang="en-US" altLang="ko-KR" dirty="0"/>
              <a:t>= </a:t>
            </a:r>
            <a:r>
              <a:rPr lang="ko-KR" altLang="en-US" dirty="0"/>
              <a:t>좀더 실체적</a:t>
            </a:r>
            <a:r>
              <a:rPr lang="en-US" altLang="ko-KR" dirty="0"/>
              <a:t>(</a:t>
            </a:r>
            <a:r>
              <a:rPr lang="ko-KR" altLang="en-US" dirty="0"/>
              <a:t>자본주의 </a:t>
            </a:r>
            <a:r>
              <a:rPr lang="en-US" altLang="ko-KR" dirty="0"/>
              <a:t>= </a:t>
            </a:r>
            <a:r>
              <a:rPr lang="ko-KR" altLang="en-US" dirty="0"/>
              <a:t>생산의 재투자 과정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네덜란드 동인도</a:t>
            </a:r>
            <a:endParaRPr lang="en-US" altLang="ko-KR" dirty="0"/>
          </a:p>
          <a:p>
            <a:r>
              <a:rPr lang="ko-KR" altLang="en-US" dirty="0"/>
              <a:t>자본주의는 </a:t>
            </a:r>
            <a:r>
              <a:rPr lang="en-US" altLang="ko-KR" dirty="0"/>
              <a:t>1601 </a:t>
            </a:r>
            <a:r>
              <a:rPr lang="ko-KR" altLang="en-US" dirty="0"/>
              <a:t>네덜란드 동인도</a:t>
            </a:r>
            <a:r>
              <a:rPr lang="en-US" altLang="ko-KR" dirty="0"/>
              <a:t> </a:t>
            </a:r>
          </a:p>
          <a:p>
            <a:r>
              <a:rPr lang="ko-KR" altLang="en-US" dirty="0" err="1"/>
              <a:t>아담스미스</a:t>
            </a:r>
            <a:r>
              <a:rPr lang="ko-KR" altLang="en-US" dirty="0"/>
              <a:t> </a:t>
            </a:r>
            <a:r>
              <a:rPr lang="en-US" altLang="ko-KR" dirty="0"/>
              <a:t>1776 -&gt; </a:t>
            </a:r>
            <a:r>
              <a:rPr lang="ko-KR" altLang="en-US" dirty="0"/>
              <a:t>중상주의와 반대되는 의견</a:t>
            </a:r>
            <a:endParaRPr lang="en-US" altLang="ko-KR" dirty="0"/>
          </a:p>
          <a:p>
            <a:r>
              <a:rPr lang="ko-KR" altLang="en-US" dirty="0"/>
              <a:t>중상주의 </a:t>
            </a:r>
            <a:r>
              <a:rPr lang="en-US" altLang="ko-KR" dirty="0"/>
              <a:t>: </a:t>
            </a:r>
            <a:r>
              <a:rPr lang="ko-KR" altLang="en-US" dirty="0"/>
              <a:t>기업과 국가는 동맹관계이다</a:t>
            </a:r>
            <a:r>
              <a:rPr lang="en-US" altLang="ko-KR" dirty="0"/>
              <a:t> ; </a:t>
            </a:r>
            <a:r>
              <a:rPr lang="ko-KR" altLang="en-US" dirty="0"/>
              <a:t>국제무역 </a:t>
            </a:r>
            <a:r>
              <a:rPr lang="en-US" altLang="ko-KR" dirty="0"/>
              <a:t>= </a:t>
            </a:r>
            <a:r>
              <a:rPr lang="ko-KR" altLang="en-US" dirty="0" err="1"/>
              <a:t>독점해야함</a:t>
            </a:r>
            <a:r>
              <a:rPr lang="en-US" altLang="ko-KR" dirty="0"/>
              <a:t>; </a:t>
            </a:r>
            <a:r>
              <a:rPr lang="ko-KR" altLang="en-US" dirty="0"/>
              <a:t>외국의 힘을 배격</a:t>
            </a:r>
            <a:r>
              <a:rPr lang="en-US" altLang="ko-KR" dirty="0"/>
              <a:t>; </a:t>
            </a:r>
            <a:r>
              <a:rPr lang="ko-KR" altLang="en-US" dirty="0"/>
              <a:t>자국의 이익을 지키자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애덤스미스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시장이 국가의 통제로부터 자유로워야 함</a:t>
            </a:r>
            <a:r>
              <a:rPr lang="en-US" altLang="ko-KR" dirty="0"/>
              <a:t>; </a:t>
            </a:r>
            <a:r>
              <a:rPr lang="ko-KR" altLang="en-US" dirty="0"/>
              <a:t>독점이 아니라 경쟁</a:t>
            </a:r>
            <a:r>
              <a:rPr lang="en-US" altLang="ko-KR" dirty="0"/>
              <a:t>; </a:t>
            </a:r>
            <a:r>
              <a:rPr lang="ko-KR" altLang="en-US" dirty="0"/>
              <a:t>리카도 </a:t>
            </a:r>
            <a:r>
              <a:rPr lang="en-US" altLang="ko-KR" dirty="0"/>
              <a:t>: </a:t>
            </a:r>
            <a:r>
              <a:rPr lang="ko-KR" altLang="en-US" dirty="0"/>
              <a:t>비교우위론</a:t>
            </a:r>
            <a:r>
              <a:rPr lang="en-US" altLang="ko-KR" dirty="0"/>
              <a:t>(</a:t>
            </a:r>
            <a:r>
              <a:rPr lang="ko-KR" altLang="en-US" dirty="0" err="1"/>
              <a:t>경재을</a:t>
            </a:r>
            <a:r>
              <a:rPr lang="ko-KR" altLang="en-US" dirty="0"/>
              <a:t> 통해 발전</a:t>
            </a:r>
            <a:r>
              <a:rPr lang="en-US" altLang="ko-KR" dirty="0"/>
              <a:t>); GIC, VOC </a:t>
            </a:r>
            <a:r>
              <a:rPr lang="ko-KR" altLang="en-US" dirty="0"/>
              <a:t>모두 독점을 통한 부패로 이어짐</a:t>
            </a:r>
            <a:r>
              <a:rPr lang="en-US" altLang="ko-KR" dirty="0"/>
              <a:t> -&gt; </a:t>
            </a:r>
            <a:r>
              <a:rPr lang="ko-KR" altLang="en-US" dirty="0"/>
              <a:t>국가와 기업의 협력은 부패로 이어진다</a:t>
            </a:r>
            <a:endParaRPr lang="en-US" altLang="ko-KR" dirty="0"/>
          </a:p>
          <a:p>
            <a:r>
              <a:rPr lang="ko-KR" altLang="en-US" dirty="0"/>
              <a:t>어느 것이 정답인가</a:t>
            </a:r>
            <a:r>
              <a:rPr lang="en-US" altLang="ko-KR" dirty="0"/>
              <a:t>? </a:t>
            </a:r>
            <a:r>
              <a:rPr lang="ko-KR" altLang="en-US" dirty="0"/>
              <a:t>상황마다 다름</a:t>
            </a:r>
            <a:r>
              <a:rPr lang="en-US" altLang="ko-KR" dirty="0"/>
              <a:t>; </a:t>
            </a:r>
            <a:r>
              <a:rPr lang="ko-KR" altLang="en-US" dirty="0"/>
              <a:t>무역이 발전하기 전엔 독점과 협력이 좋음</a:t>
            </a:r>
            <a:r>
              <a:rPr lang="en-US" altLang="ko-KR" dirty="0"/>
              <a:t>; </a:t>
            </a:r>
            <a:r>
              <a:rPr lang="ko-KR" altLang="en-US" dirty="0"/>
              <a:t>발전한 후엔 경쟁을 할 수 있게 </a:t>
            </a:r>
            <a:r>
              <a:rPr lang="ko-KR" altLang="en-US" dirty="0" err="1"/>
              <a:t>하는게</a:t>
            </a:r>
            <a:r>
              <a:rPr lang="ko-KR" altLang="en-US" dirty="0"/>
              <a:t> 더 좋음 </a:t>
            </a:r>
            <a:r>
              <a:rPr lang="en-US" altLang="ko-KR" dirty="0"/>
              <a:t>-&gt; </a:t>
            </a:r>
            <a:r>
              <a:rPr lang="ko-KR" altLang="en-US" dirty="0"/>
              <a:t>오늘날에도 통용</a:t>
            </a:r>
            <a:r>
              <a:rPr lang="en-US" altLang="ko-KR" dirty="0"/>
              <a:t>(</a:t>
            </a:r>
            <a:r>
              <a:rPr lang="ko-KR" altLang="en-US" dirty="0"/>
              <a:t>우리나라도 </a:t>
            </a:r>
            <a:r>
              <a:rPr lang="en-US" altLang="ko-KR" dirty="0"/>
              <a:t>60 70</a:t>
            </a:r>
            <a:r>
              <a:rPr lang="ko-KR" altLang="en-US" dirty="0"/>
              <a:t>엔 국가주도적 성장 </a:t>
            </a:r>
            <a:r>
              <a:rPr lang="en-US" altLang="ko-KR" dirty="0"/>
              <a:t>-&gt; 90</a:t>
            </a:r>
            <a:r>
              <a:rPr lang="ko-KR" altLang="en-US" dirty="0"/>
              <a:t>년대 이후엔 경쟁을 위해 </a:t>
            </a:r>
            <a:r>
              <a:rPr lang="ko-KR" altLang="en-US" dirty="0" err="1"/>
              <a:t>느슨해짐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중상주의 </a:t>
            </a:r>
            <a:r>
              <a:rPr lang="en-US" altLang="ko-KR" dirty="0"/>
              <a:t>: </a:t>
            </a:r>
            <a:r>
              <a:rPr lang="ko-KR" altLang="en-US" dirty="0"/>
              <a:t>시장이 </a:t>
            </a:r>
            <a:r>
              <a:rPr lang="ko-KR" altLang="en-US" dirty="0" err="1"/>
              <a:t>작동하여명</a:t>
            </a:r>
            <a:r>
              <a:rPr lang="ko-KR" altLang="en-US" dirty="0"/>
              <a:t> 비시장제도</a:t>
            </a:r>
            <a:r>
              <a:rPr lang="en-US" altLang="ko-KR" dirty="0"/>
              <a:t>(</a:t>
            </a:r>
            <a:r>
              <a:rPr lang="ko-KR" altLang="en-US" dirty="0"/>
              <a:t>국가의 서포트</a:t>
            </a:r>
            <a:r>
              <a:rPr lang="en-US" altLang="ko-KR" dirty="0"/>
              <a:t>)</a:t>
            </a:r>
            <a:r>
              <a:rPr lang="ko-KR" altLang="en-US" dirty="0"/>
              <a:t>가 필요</a:t>
            </a:r>
            <a:r>
              <a:rPr lang="en-US" altLang="ko-KR" dirty="0"/>
              <a:t>; </a:t>
            </a:r>
            <a:r>
              <a:rPr lang="ko-KR" altLang="en-US" dirty="0"/>
              <a:t>오늘날에도 제도주의 경제학자들이 강조하며 살아있음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무역에서의 거래비용</a:t>
            </a:r>
            <a:endParaRPr lang="en-US" altLang="ko-KR" dirty="0"/>
          </a:p>
          <a:p>
            <a:r>
              <a:rPr lang="ko-KR" altLang="en-US" dirty="0"/>
              <a:t>세계화를 이끌었던 배경</a:t>
            </a:r>
            <a:endParaRPr lang="en-US" altLang="ko-KR" dirty="0"/>
          </a:p>
          <a:p>
            <a:r>
              <a:rPr lang="ko-KR" altLang="en-US" dirty="0"/>
              <a:t>세계화의 두 축</a:t>
            </a:r>
            <a:r>
              <a:rPr lang="en-US" altLang="ko-KR" dirty="0"/>
              <a:t>: </a:t>
            </a:r>
            <a:r>
              <a:rPr lang="ko-KR" altLang="en-US" dirty="0"/>
              <a:t>금융제도와 무역제도</a:t>
            </a:r>
            <a:r>
              <a:rPr lang="en-US" altLang="ko-KR" dirty="0"/>
              <a:t>(</a:t>
            </a:r>
            <a:r>
              <a:rPr lang="ko-KR" altLang="en-US" dirty="0"/>
              <a:t>수업에서 중점적으로 다룰 내용</a:t>
            </a:r>
            <a:r>
              <a:rPr lang="en-US" altLang="ko-KR" dirty="0"/>
              <a:t>) </a:t>
            </a:r>
          </a:p>
          <a:p>
            <a:r>
              <a:rPr lang="en-US" altLang="ko-KR" b="1" dirty="0"/>
              <a:t>HBC</a:t>
            </a:r>
            <a:r>
              <a:rPr lang="ko-KR" altLang="en-US" b="1" dirty="0"/>
              <a:t>와 같은 초기의 기업들이 얼마나 많은 위험을 직면했는가</a:t>
            </a:r>
            <a:r>
              <a:rPr lang="en-US" altLang="ko-KR" b="1" dirty="0"/>
              <a:t>? </a:t>
            </a:r>
            <a:r>
              <a:rPr lang="ko-KR" altLang="en-US" b="1" dirty="0"/>
              <a:t>특허장이 어떤 역할을 했는가</a:t>
            </a:r>
            <a:r>
              <a:rPr lang="en-US" altLang="ko-KR" b="1" dirty="0"/>
              <a:t>? </a:t>
            </a:r>
            <a:r>
              <a:rPr lang="ko-KR" altLang="en-US" b="1" dirty="0"/>
              <a:t>왜 독점 이득을 바랬는가</a:t>
            </a:r>
            <a:r>
              <a:rPr lang="en-US" altLang="ko-KR" b="1" dirty="0"/>
              <a:t>? -&gt; </a:t>
            </a:r>
            <a:r>
              <a:rPr lang="ko-KR" altLang="en-US" b="1" dirty="0"/>
              <a:t>당대의 맥락에서 파악해야 함</a:t>
            </a:r>
            <a:endParaRPr lang="en-US" altLang="ko-KR" b="1" dirty="0"/>
          </a:p>
          <a:p>
            <a:r>
              <a:rPr lang="ko-KR" altLang="en-US" b="0" dirty="0" err="1"/>
              <a:t>ㅇㅁ금융거래들이</a:t>
            </a:r>
            <a:r>
              <a:rPr lang="ko-KR" altLang="en-US" b="0" dirty="0"/>
              <a:t> 어떻게 일어날 수 있나</a:t>
            </a:r>
            <a:r>
              <a:rPr lang="en-US" altLang="ko-KR" b="0" dirty="0"/>
              <a:t>? </a:t>
            </a:r>
            <a:r>
              <a:rPr lang="ko-KR" altLang="en-US" b="0" dirty="0"/>
              <a:t>와 같은 질문을 하며 </a:t>
            </a:r>
            <a:r>
              <a:rPr lang="ko-KR" altLang="en-US" b="0" dirty="0" err="1"/>
              <a:t>거래ㅣㅂ용을</a:t>
            </a:r>
            <a:r>
              <a:rPr lang="ko-KR" altLang="en-US" b="0" dirty="0"/>
              <a:t> 파악</a:t>
            </a:r>
            <a:endParaRPr lang="en-US" altLang="ko-KR" b="0" dirty="0"/>
          </a:p>
          <a:p>
            <a:r>
              <a:rPr lang="ko-KR" altLang="en-US" b="0" dirty="0"/>
              <a:t>시장을 지지하고 있는</a:t>
            </a:r>
            <a:endParaRPr lang="en-US" altLang="ko-KR" b="0" dirty="0"/>
          </a:p>
          <a:p>
            <a:r>
              <a:rPr lang="ko-KR" altLang="en-US" b="0" dirty="0"/>
              <a:t>호혜와 신뢰 </a:t>
            </a:r>
            <a:r>
              <a:rPr lang="en-US" altLang="ko-KR" b="0" dirty="0"/>
              <a:t>-&gt; </a:t>
            </a:r>
            <a:r>
              <a:rPr lang="ko-KR" altLang="en-US" b="0" dirty="0"/>
              <a:t>신뢰받고 있는 관계이기에 거래를 함</a:t>
            </a:r>
            <a:endParaRPr lang="en-US" altLang="ko-KR" b="0" dirty="0"/>
          </a:p>
          <a:p>
            <a:r>
              <a:rPr lang="ko-KR" altLang="en-US" b="0" dirty="0"/>
              <a:t>윤리적인</a:t>
            </a:r>
            <a:r>
              <a:rPr lang="en-US" altLang="ko-KR" b="0" dirty="0"/>
              <a:t>/</a:t>
            </a:r>
            <a:r>
              <a:rPr lang="ko-KR" altLang="en-US" b="0" dirty="0"/>
              <a:t>종교적인 신념체계 </a:t>
            </a:r>
            <a:r>
              <a:rPr lang="en-US" altLang="ko-KR" b="0" dirty="0"/>
              <a:t>-&gt; </a:t>
            </a:r>
            <a:r>
              <a:rPr lang="ko-KR" altLang="en-US" b="0" dirty="0"/>
              <a:t>거래가 이루어짐 </a:t>
            </a:r>
            <a:r>
              <a:rPr lang="en-US" altLang="ko-KR" b="0" dirty="0"/>
              <a:t>1) 2)</a:t>
            </a:r>
            <a:r>
              <a:rPr lang="ko-KR" altLang="en-US" b="0" dirty="0"/>
              <a:t>의 경우 작은 규모에서 작동함</a:t>
            </a:r>
            <a:r>
              <a:rPr lang="en-US" altLang="ko-KR" b="0" dirty="0"/>
              <a:t>. </a:t>
            </a:r>
          </a:p>
          <a:p>
            <a:r>
              <a:rPr lang="en-US" altLang="ko-KR" b="0" dirty="0"/>
              <a:t>3)</a:t>
            </a:r>
            <a:r>
              <a:rPr lang="ko-KR" altLang="en-US" b="0" dirty="0"/>
              <a:t>의 경우 국가에 의한 공식제도</a:t>
            </a:r>
            <a:r>
              <a:rPr lang="en-US" altLang="ko-KR" b="0" dirty="0"/>
              <a:t>(</a:t>
            </a:r>
            <a:r>
              <a:rPr lang="ko-KR" altLang="en-US" b="0" dirty="0"/>
              <a:t>재산권보호를 위한 법적제도</a:t>
            </a:r>
            <a:r>
              <a:rPr lang="en-US" altLang="ko-KR" b="0" dirty="0"/>
              <a:t>. </a:t>
            </a:r>
            <a:r>
              <a:rPr lang="ko-KR" altLang="en-US" b="0" dirty="0"/>
              <a:t>계약을 강제하는 법정</a:t>
            </a:r>
            <a:r>
              <a:rPr lang="en-US" altLang="ko-KR" b="0" dirty="0"/>
              <a:t>; </a:t>
            </a:r>
            <a:r>
              <a:rPr lang="ko-KR" altLang="en-US" b="0" dirty="0"/>
              <a:t>규범위반을 단속하는 경찰</a:t>
            </a:r>
            <a:r>
              <a:rPr lang="en-US" altLang="ko-KR" b="0" dirty="0"/>
              <a:t>; </a:t>
            </a:r>
            <a:r>
              <a:rPr lang="ko-KR" altLang="en-US" b="0" dirty="0"/>
              <a:t>강제규칙을 정하고 집행하는 관료</a:t>
            </a:r>
            <a:r>
              <a:rPr lang="en-US" altLang="ko-KR" b="0" dirty="0"/>
              <a:t>; </a:t>
            </a:r>
            <a:r>
              <a:rPr lang="ko-KR" altLang="en-US" b="0" dirty="0"/>
              <a:t>통화와 금융안정을 </a:t>
            </a:r>
            <a:r>
              <a:rPr lang="ko-KR" altLang="en-US" b="0" dirty="0" err="1"/>
              <a:t>유짛하는</a:t>
            </a:r>
            <a:r>
              <a:rPr lang="ko-KR" altLang="en-US" b="0" dirty="0"/>
              <a:t> 중앙은행</a:t>
            </a:r>
            <a:r>
              <a:rPr lang="en-US" altLang="ko-KR" b="0" dirty="0"/>
              <a:t>)</a:t>
            </a:r>
          </a:p>
          <a:p>
            <a:r>
              <a:rPr lang="ko-KR" altLang="en-US" b="0" dirty="0" err="1"/>
              <a:t>국가간의</a:t>
            </a:r>
            <a:r>
              <a:rPr lang="ko-KR" altLang="en-US" b="0" dirty="0"/>
              <a:t> 무역에서 거래비용 절감 방법은</a:t>
            </a:r>
            <a:r>
              <a:rPr lang="en-US" altLang="ko-KR" b="0" dirty="0"/>
              <a:t>? </a:t>
            </a:r>
            <a:r>
              <a:rPr lang="ko-KR" altLang="en-US" b="0" dirty="0"/>
              <a:t>국가간 거래비용은 국가내 비용보다 훨씬 높다</a:t>
            </a:r>
            <a:endParaRPr lang="en-US" altLang="ko-KR" b="0" dirty="0"/>
          </a:p>
          <a:p>
            <a:r>
              <a:rPr lang="ko-KR" altLang="en-US" b="0" dirty="0"/>
              <a:t>왜</a:t>
            </a:r>
            <a:r>
              <a:rPr lang="en-US" altLang="ko-KR" b="0" dirty="0"/>
              <a:t>?</a:t>
            </a:r>
          </a:p>
          <a:p>
            <a:pPr marL="211775" indent="-211775">
              <a:buAutoNum type="arabicPeriod"/>
            </a:pPr>
            <a:r>
              <a:rPr lang="ko-KR" altLang="en-US" b="0" dirty="0"/>
              <a:t>국내거래에서의 </a:t>
            </a:r>
            <a:r>
              <a:rPr lang="ko-KR" altLang="en-US" b="0" dirty="0" err="1"/>
              <a:t>국가ㅗ아</a:t>
            </a:r>
            <a:r>
              <a:rPr lang="ko-KR" altLang="en-US" b="0" dirty="0"/>
              <a:t> 같은 제도를 제공하는 국제제도의 부재</a:t>
            </a:r>
            <a:r>
              <a:rPr lang="en-US" altLang="ko-KR" b="0" dirty="0"/>
              <a:t>; </a:t>
            </a:r>
          </a:p>
          <a:p>
            <a:pPr marL="211775" indent="-211775">
              <a:buAutoNum type="arabicPeriod"/>
            </a:pPr>
            <a:r>
              <a:rPr lang="ko-KR" altLang="en-US" b="0" dirty="0"/>
              <a:t>국가별로 다른 규범 </a:t>
            </a:r>
            <a:r>
              <a:rPr lang="en-US" altLang="ko-KR" b="0" dirty="0"/>
              <a:t>ex) </a:t>
            </a:r>
            <a:r>
              <a:rPr lang="ko-KR" altLang="en-US" b="0" dirty="0"/>
              <a:t>서로 다른 법규</a:t>
            </a:r>
            <a:r>
              <a:rPr lang="en-US" altLang="ko-KR" b="0" dirty="0"/>
              <a:t>, </a:t>
            </a:r>
            <a:r>
              <a:rPr lang="ko-KR" altLang="en-US" b="0" dirty="0"/>
              <a:t>노동규칙</a:t>
            </a:r>
            <a:r>
              <a:rPr lang="en-US" altLang="ko-KR" b="0" dirty="0"/>
              <a:t>, </a:t>
            </a:r>
            <a:r>
              <a:rPr lang="ko-KR" altLang="en-US" b="0" dirty="0"/>
              <a:t>식품안전규칙 등</a:t>
            </a:r>
            <a:endParaRPr lang="en-US" altLang="ko-KR" b="0" dirty="0"/>
          </a:p>
          <a:p>
            <a:r>
              <a:rPr lang="en-US" altLang="ko-KR" b="0" dirty="0"/>
              <a:t>1. 2.</a:t>
            </a:r>
            <a:r>
              <a:rPr lang="ko-KR" altLang="en-US" b="0" dirty="0"/>
              <a:t>를 이겨내고 금융제도와 무역질서 생기는데 각 시대에서 어떤 모습을 하고 있는가</a:t>
            </a:r>
            <a:r>
              <a:rPr lang="en-US" altLang="ko-KR" b="0" dirty="0"/>
              <a:t>? </a:t>
            </a:r>
            <a:r>
              <a:rPr lang="ko-KR" altLang="en-US" b="0" dirty="0"/>
              <a:t>가 수업의 주요 포인트</a:t>
            </a:r>
            <a:endParaRPr lang="en-US" altLang="ko-KR" b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8CF464-B56C-4822-8513-DBEA94A34CF3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29987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189038" y="1252538"/>
            <a:ext cx="4510087" cy="3382962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경제가 </a:t>
            </a:r>
            <a:r>
              <a:rPr lang="ko-KR" altLang="en-US" dirty="0" err="1"/>
              <a:t>오픈될수록</a:t>
            </a:r>
            <a:r>
              <a:rPr lang="ko-KR" altLang="en-US" dirty="0"/>
              <a:t> 정부가 </a:t>
            </a:r>
            <a:r>
              <a:rPr lang="ko-KR" altLang="en-US" dirty="0" err="1"/>
              <a:t>커져야한다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8CF464-B56C-4822-8513-DBEA94A34CF3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88796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189038" y="1252538"/>
            <a:ext cx="4510087" cy="3382962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중상주의 </a:t>
            </a:r>
            <a:r>
              <a:rPr lang="en-US" altLang="ko-KR" dirty="0"/>
              <a:t>-&gt; </a:t>
            </a:r>
            <a:r>
              <a:rPr lang="ko-KR" altLang="en-US" dirty="0"/>
              <a:t>국가의 개념 </a:t>
            </a:r>
            <a:r>
              <a:rPr lang="en-US" altLang="ko-KR" dirty="0"/>
              <a:t>= </a:t>
            </a:r>
            <a:r>
              <a:rPr lang="ko-KR" altLang="en-US" dirty="0"/>
              <a:t>왕 </a:t>
            </a:r>
            <a:r>
              <a:rPr lang="en-US" altLang="ko-KR" dirty="0"/>
              <a:t>; </a:t>
            </a:r>
            <a:r>
              <a:rPr lang="ko-KR" altLang="en-US" dirty="0"/>
              <a:t>왕의 소득을 높이기 </a:t>
            </a:r>
            <a:r>
              <a:rPr lang="ko-KR" altLang="en-US" dirty="0" err="1"/>
              <a:t>ㅜ이한</a:t>
            </a:r>
            <a:r>
              <a:rPr lang="ko-KR" altLang="en-US" dirty="0"/>
              <a:t> 상업 정책</a:t>
            </a:r>
            <a:r>
              <a:rPr lang="en-US" altLang="ko-KR" dirty="0"/>
              <a:t>; </a:t>
            </a:r>
            <a:r>
              <a:rPr lang="ko-KR" altLang="en-US" dirty="0"/>
              <a:t>무역을 통해 금을 자국으로 가지고 오기 </a:t>
            </a:r>
            <a:r>
              <a:rPr lang="ko-KR" altLang="en-US" dirty="0" err="1"/>
              <a:t>ㅜ이한</a:t>
            </a:r>
            <a:r>
              <a:rPr lang="ko-KR" altLang="en-US" dirty="0"/>
              <a:t> 팽창정책 </a:t>
            </a:r>
            <a:r>
              <a:rPr lang="en-US" altLang="ko-KR" dirty="0"/>
              <a:t>HBC</a:t>
            </a:r>
            <a:r>
              <a:rPr lang="ko-KR" altLang="en-US" dirty="0"/>
              <a:t>나 </a:t>
            </a:r>
            <a:r>
              <a:rPr lang="en-US" altLang="ko-KR" dirty="0"/>
              <a:t>VOC</a:t>
            </a:r>
            <a:r>
              <a:rPr lang="ko-KR" altLang="en-US" dirty="0"/>
              <a:t>에게 독점권을 부여할 수 밖에 없다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중상주의를 거쳐 자유무역의 시기로 나아가게 되는데</a:t>
            </a:r>
            <a:r>
              <a:rPr lang="en-US" altLang="ko-KR" dirty="0"/>
              <a:t>, </a:t>
            </a:r>
            <a:r>
              <a:rPr lang="ko-KR" altLang="en-US" dirty="0"/>
              <a:t>그것의 가장 큰 계기</a:t>
            </a:r>
            <a:r>
              <a:rPr lang="en-US" altLang="ko-KR" dirty="0"/>
              <a:t>/</a:t>
            </a:r>
            <a:r>
              <a:rPr lang="ko-KR" altLang="en-US" dirty="0"/>
              <a:t>원인 </a:t>
            </a:r>
            <a:r>
              <a:rPr lang="en-US" altLang="ko-KR" dirty="0"/>
              <a:t>= </a:t>
            </a:r>
            <a:r>
              <a:rPr lang="ko-KR" altLang="en-US" dirty="0"/>
              <a:t>영국의 </a:t>
            </a:r>
            <a:r>
              <a:rPr lang="en-US" altLang="ko-KR" dirty="0"/>
              <a:t>1</a:t>
            </a:r>
            <a:r>
              <a:rPr lang="ko-KR" altLang="en-US" dirty="0"/>
              <a:t>차 산업혁명</a:t>
            </a:r>
            <a:endParaRPr lang="en-US" altLang="ko-KR" dirty="0"/>
          </a:p>
          <a:p>
            <a:r>
              <a:rPr lang="ko-KR" altLang="en-US" dirty="0"/>
              <a:t>그 이전 </a:t>
            </a:r>
            <a:r>
              <a:rPr lang="en-US" altLang="ko-KR" dirty="0"/>
              <a:t>: </a:t>
            </a:r>
            <a:r>
              <a:rPr lang="ko-KR" altLang="en-US" dirty="0"/>
              <a:t>중상주의</a:t>
            </a:r>
            <a:endParaRPr lang="en-US" altLang="ko-KR" dirty="0"/>
          </a:p>
          <a:p>
            <a:r>
              <a:rPr lang="en-US" altLang="ko-KR" dirty="0"/>
              <a:t>1780: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r>
              <a:rPr lang="ko-KR" altLang="en-US" dirty="0"/>
              <a:t>차산업혁명</a:t>
            </a:r>
            <a:r>
              <a:rPr lang="en-US" altLang="ko-KR" dirty="0"/>
              <a:t> </a:t>
            </a:r>
          </a:p>
          <a:p>
            <a:r>
              <a:rPr lang="en-US" altLang="ko-KR" dirty="0"/>
              <a:t>1846 </a:t>
            </a:r>
            <a:r>
              <a:rPr lang="ko-KR" altLang="en-US" dirty="0"/>
              <a:t>곡물법 폐지</a:t>
            </a:r>
            <a:endParaRPr lang="en-US" altLang="ko-KR" dirty="0"/>
          </a:p>
          <a:p>
            <a:r>
              <a:rPr lang="en-US" altLang="ko-KR" dirty="0"/>
              <a:t>1849 </a:t>
            </a:r>
            <a:r>
              <a:rPr lang="ko-KR" altLang="en-US" dirty="0" err="1"/>
              <a:t>항해조례폐지</a:t>
            </a:r>
            <a:endParaRPr lang="en-US" altLang="ko-KR" dirty="0"/>
          </a:p>
          <a:p>
            <a:r>
              <a:rPr lang="en-US" altLang="ko-KR" dirty="0"/>
              <a:t>1850~1914 : 1</a:t>
            </a:r>
            <a:r>
              <a:rPr lang="ko-KR" altLang="en-US" dirty="0"/>
              <a:t>차세계화와 자유무역시대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왜 자유무역으로 갔는가</a:t>
            </a:r>
            <a:r>
              <a:rPr lang="en-US" altLang="ko-KR" dirty="0"/>
              <a:t>?</a:t>
            </a:r>
          </a:p>
          <a:p>
            <a:pPr marL="211775" indent="-211775">
              <a:buAutoNum type="arabicPeriod"/>
            </a:pPr>
            <a:r>
              <a:rPr lang="ko-KR" altLang="en-US" dirty="0"/>
              <a:t>국내적 요인</a:t>
            </a:r>
            <a:endParaRPr lang="en-US" altLang="ko-KR" dirty="0"/>
          </a:p>
          <a:p>
            <a:pPr marL="635325" lvl="1" indent="-211775">
              <a:buAutoNum type="arabicPeriod"/>
            </a:pPr>
            <a:r>
              <a:rPr lang="ko-KR" altLang="en-US" dirty="0" err="1"/>
              <a:t>젠트리계층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en-US" dirty="0"/>
              <a:t>토지기반 엘리트</a:t>
            </a:r>
            <a:r>
              <a:rPr lang="en-US" altLang="ko-KR" dirty="0"/>
              <a:t>(</a:t>
            </a:r>
            <a:r>
              <a:rPr lang="ko-KR" altLang="en-US" dirty="0"/>
              <a:t>지주</a:t>
            </a:r>
            <a:r>
              <a:rPr lang="en-US" altLang="ko-KR" dirty="0"/>
              <a:t>) -&gt; </a:t>
            </a:r>
            <a:r>
              <a:rPr lang="ko-KR" altLang="en-US" dirty="0"/>
              <a:t>산업혁명이후 산업가들이 부유</a:t>
            </a:r>
            <a:r>
              <a:rPr lang="en-US" altLang="ko-KR" dirty="0"/>
              <a:t>. </a:t>
            </a:r>
            <a:r>
              <a:rPr lang="ko-KR" altLang="en-US" dirty="0"/>
              <a:t>노예무역을 하는 상업가도 부를 축적 </a:t>
            </a:r>
            <a:r>
              <a:rPr lang="en-US" altLang="ko-KR" dirty="0"/>
              <a:t>; </a:t>
            </a:r>
            <a:r>
              <a:rPr lang="ko-KR" altLang="en-US" dirty="0"/>
              <a:t>따라서 </a:t>
            </a:r>
            <a:r>
              <a:rPr lang="ko-KR" altLang="en-US" dirty="0" err="1"/>
              <a:t>젠트리</a:t>
            </a:r>
            <a:r>
              <a:rPr lang="ko-KR" altLang="en-US" dirty="0"/>
              <a:t> </a:t>
            </a:r>
            <a:r>
              <a:rPr lang="en-US" altLang="ko-KR" dirty="0"/>
              <a:t>vs </a:t>
            </a:r>
            <a:r>
              <a:rPr lang="ko-KR" altLang="en-US" dirty="0"/>
              <a:t>산업가</a:t>
            </a:r>
            <a:r>
              <a:rPr lang="en-US" altLang="ko-KR" dirty="0"/>
              <a:t>/</a:t>
            </a:r>
            <a:r>
              <a:rPr lang="ko-KR" altLang="en-US" dirty="0" err="1"/>
              <a:t>상업가</a:t>
            </a:r>
            <a:r>
              <a:rPr lang="ko-KR" altLang="en-US" dirty="0"/>
              <a:t> </a:t>
            </a:r>
            <a:r>
              <a:rPr lang="en-US" altLang="ko-KR" dirty="0"/>
              <a:t>+ </a:t>
            </a:r>
            <a:r>
              <a:rPr lang="ko-KR" altLang="en-US" dirty="0"/>
              <a:t>노동자</a:t>
            </a:r>
            <a:endParaRPr lang="en-US" altLang="ko-KR" dirty="0"/>
          </a:p>
          <a:p>
            <a:pPr marL="423550" lvl="1"/>
            <a:r>
              <a:rPr lang="ko-KR" altLang="en-US" dirty="0"/>
              <a:t>노동자는 밀을 구매해 생계를 유지해야 하나 </a:t>
            </a:r>
            <a:r>
              <a:rPr lang="ko-KR" altLang="en-US" dirty="0" err="1"/>
              <a:t>젠트리</a:t>
            </a:r>
            <a:r>
              <a:rPr lang="ko-KR" altLang="en-US" dirty="0"/>
              <a:t> 계층은 곡물법의 보호를 받음</a:t>
            </a:r>
            <a:endParaRPr lang="en-US" altLang="ko-KR" dirty="0"/>
          </a:p>
          <a:p>
            <a:pPr marL="423550" lvl="1"/>
            <a:r>
              <a:rPr lang="ko-KR" altLang="en-US" dirty="0"/>
              <a:t>산업가</a:t>
            </a:r>
            <a:r>
              <a:rPr lang="en-US" altLang="ko-KR" dirty="0"/>
              <a:t>+</a:t>
            </a:r>
            <a:r>
              <a:rPr lang="ko-KR" altLang="en-US" dirty="0"/>
              <a:t>노동자는 밀의 가격이 낮아지면 각각 임금의 실질가치 상승과 생활비 절약이란 측면에서 서로 옹호함</a:t>
            </a:r>
            <a:endParaRPr lang="en-US" altLang="ko-KR" dirty="0"/>
          </a:p>
          <a:p>
            <a:pPr marL="423550" lvl="1"/>
            <a:r>
              <a:rPr lang="en-US" altLang="ko-KR" dirty="0"/>
              <a:t>2. </a:t>
            </a:r>
            <a:r>
              <a:rPr lang="ko-KR" altLang="en-US" dirty="0"/>
              <a:t>항해조례 </a:t>
            </a:r>
            <a:r>
              <a:rPr lang="en-US" altLang="ko-KR" dirty="0"/>
              <a:t>= </a:t>
            </a:r>
            <a:r>
              <a:rPr lang="ko-KR" altLang="en-US" dirty="0"/>
              <a:t>중상주의 조례</a:t>
            </a:r>
            <a:r>
              <a:rPr lang="en-US" altLang="ko-KR" dirty="0"/>
              <a:t>; EIC</a:t>
            </a:r>
            <a:r>
              <a:rPr lang="ko-KR" altLang="en-US" dirty="0"/>
              <a:t>가 무역을 개척하던 초기엔 필요했다</a:t>
            </a:r>
            <a:r>
              <a:rPr lang="en-US" altLang="ko-KR" dirty="0"/>
              <a:t>. But </a:t>
            </a:r>
            <a:r>
              <a:rPr lang="ko-KR" altLang="en-US" dirty="0" err="1"/>
              <a:t>애덤스미스도</a:t>
            </a:r>
            <a:r>
              <a:rPr lang="ko-KR" altLang="en-US" dirty="0"/>
              <a:t> 지적하듯 시간이 지나며 부패함</a:t>
            </a:r>
            <a:endParaRPr lang="en-US" altLang="ko-KR" dirty="0"/>
          </a:p>
          <a:p>
            <a:pPr marL="423550" lvl="1"/>
            <a:r>
              <a:rPr lang="ko-KR" altLang="en-US" dirty="0"/>
              <a:t>폐지를 원하는 지식인들은 이코노미스트지에 기고</a:t>
            </a:r>
            <a:endParaRPr lang="en-US" altLang="ko-KR" dirty="0"/>
          </a:p>
          <a:p>
            <a:pPr marL="211775" indent="-211775">
              <a:buAutoNum type="arabicPeriod"/>
            </a:pPr>
            <a:r>
              <a:rPr lang="ko-KR" altLang="en-US" dirty="0"/>
              <a:t>국외적 요인</a:t>
            </a:r>
            <a:endParaRPr lang="en-US" altLang="ko-KR" dirty="0"/>
          </a:p>
          <a:p>
            <a:pPr marL="635325" lvl="1" indent="-211775">
              <a:buAutoNum type="arabicPeriod"/>
            </a:pPr>
            <a:r>
              <a:rPr lang="ko-KR" altLang="en-US" dirty="0"/>
              <a:t>경공업</a:t>
            </a:r>
            <a:r>
              <a:rPr lang="en-US" altLang="ko-KR" dirty="0"/>
              <a:t>; </a:t>
            </a:r>
            <a:r>
              <a:rPr lang="ko-KR" altLang="en-US" dirty="0" err="1"/>
              <a:t>같은제품인데</a:t>
            </a:r>
            <a:r>
              <a:rPr lang="ko-KR" altLang="en-US" dirty="0"/>
              <a:t> 생산비용을 절약</a:t>
            </a:r>
            <a:r>
              <a:rPr lang="en-US" altLang="ko-KR" dirty="0"/>
              <a:t>; </a:t>
            </a:r>
            <a:r>
              <a:rPr lang="ko-KR" altLang="en-US" dirty="0"/>
              <a:t>가격경쟁력이 있음</a:t>
            </a:r>
            <a:r>
              <a:rPr lang="en-US" altLang="ko-KR" dirty="0"/>
              <a:t>. </a:t>
            </a:r>
            <a:r>
              <a:rPr lang="ko-KR" altLang="en-US" dirty="0"/>
              <a:t>면직물은 인도에서 가장 발달</a:t>
            </a:r>
            <a:r>
              <a:rPr lang="en-US" altLang="ko-KR" dirty="0"/>
              <a:t>; </a:t>
            </a:r>
            <a:r>
              <a:rPr lang="ko-KR" altLang="en-US" dirty="0"/>
              <a:t>해외시장에서 영국이 </a:t>
            </a:r>
            <a:r>
              <a:rPr lang="ko-KR" altLang="en-US" dirty="0" err="1"/>
              <a:t>잘팔리고</a:t>
            </a:r>
            <a:r>
              <a:rPr lang="ko-KR" altLang="en-US" dirty="0"/>
              <a:t> 인도가 </a:t>
            </a:r>
            <a:r>
              <a:rPr lang="ko-KR" altLang="en-US" dirty="0" err="1"/>
              <a:t>줄어듬</a:t>
            </a:r>
            <a:r>
              <a:rPr lang="en-US" altLang="ko-KR" dirty="0"/>
              <a:t>;</a:t>
            </a:r>
            <a:br>
              <a:rPr lang="en-US" altLang="ko-KR" dirty="0"/>
            </a:br>
            <a:r>
              <a:rPr lang="ko-KR" altLang="en-US" dirty="0"/>
              <a:t>항해조례는 영국산업을 보호하기 위해 존재했으나 </a:t>
            </a:r>
            <a:r>
              <a:rPr lang="en-US" altLang="ko-KR" dirty="0"/>
              <a:t>, </a:t>
            </a:r>
            <a:r>
              <a:rPr lang="ko-KR" altLang="en-US" dirty="0"/>
              <a:t>이러한 상황에선 방해가 됨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1870</a:t>
            </a:r>
            <a:r>
              <a:rPr lang="ko-KR" altLang="en-US" dirty="0"/>
              <a:t>년대 대불황의 시대 </a:t>
            </a:r>
            <a:r>
              <a:rPr lang="en-US" altLang="ko-KR" dirty="0"/>
              <a:t>-&gt; </a:t>
            </a:r>
            <a:r>
              <a:rPr lang="ko-KR" altLang="en-US" dirty="0"/>
              <a:t>영국 자유무역의 변화</a:t>
            </a:r>
            <a:endParaRPr lang="en-US" altLang="ko-KR" dirty="0"/>
          </a:p>
          <a:p>
            <a:pPr marL="635325" lvl="1" indent="-211775">
              <a:buAutoNum type="arabicPeriod"/>
            </a:pPr>
            <a:r>
              <a:rPr lang="en-US" altLang="ko-KR" dirty="0"/>
              <a:t>1870 </a:t>
            </a:r>
            <a:r>
              <a:rPr lang="ko-KR" altLang="en-US" dirty="0"/>
              <a:t>불황 이전 자유무역 제국주의의 시대</a:t>
            </a:r>
            <a:endParaRPr lang="en-US" altLang="ko-KR" dirty="0"/>
          </a:p>
          <a:p>
            <a:pPr marL="635325" lvl="1" indent="-211775">
              <a:buAutoNum type="arabicPeriod"/>
            </a:pPr>
            <a:r>
              <a:rPr lang="ko-KR" altLang="en-US" dirty="0"/>
              <a:t>불황 이후 건설적 제국주의 시대</a:t>
            </a:r>
            <a:endParaRPr lang="en-US" altLang="ko-KR" dirty="0"/>
          </a:p>
          <a:p>
            <a:r>
              <a:rPr lang="ko-KR" altLang="en-US" dirty="0"/>
              <a:t>산업화를 통해 관세를 낮춰 제품가격을 떨어트리지 않아도 충분히 가격경쟁력이 있음</a:t>
            </a:r>
            <a:endParaRPr lang="en-US" altLang="ko-KR" dirty="0"/>
          </a:p>
          <a:p>
            <a:r>
              <a:rPr lang="en-US" altLang="ko-KR" dirty="0"/>
              <a:t>1</a:t>
            </a:r>
            <a:r>
              <a:rPr lang="ko-KR" altLang="en-US" dirty="0"/>
              <a:t>차 세계화</a:t>
            </a:r>
            <a:r>
              <a:rPr lang="en-US" altLang="ko-KR" dirty="0"/>
              <a:t> </a:t>
            </a:r>
            <a:r>
              <a:rPr lang="ko-KR" altLang="en-US" dirty="0"/>
              <a:t>무역제도</a:t>
            </a:r>
            <a:r>
              <a:rPr lang="en-US" altLang="ko-KR" dirty="0"/>
              <a:t>= </a:t>
            </a:r>
            <a:r>
              <a:rPr lang="ko-KR" altLang="en-US" dirty="0"/>
              <a:t>제국주의 </a:t>
            </a:r>
            <a:r>
              <a:rPr lang="en-US" altLang="ko-KR" dirty="0"/>
              <a:t>&amp; </a:t>
            </a:r>
            <a:r>
              <a:rPr lang="ko-KR" altLang="en-US" dirty="0"/>
              <a:t>금융제도 </a:t>
            </a:r>
            <a:r>
              <a:rPr lang="en-US" altLang="ko-KR" dirty="0"/>
              <a:t>= </a:t>
            </a:r>
            <a:r>
              <a:rPr lang="ko-KR" altLang="en-US" dirty="0"/>
              <a:t>금본위제도</a:t>
            </a:r>
            <a:endParaRPr lang="en-US" altLang="ko-KR" dirty="0"/>
          </a:p>
          <a:p>
            <a:r>
              <a:rPr lang="ko-KR" altLang="en-US" dirty="0"/>
              <a:t>자유무역 제국주의는 식민지간 계약을 맺고 최소한의 간섭 </a:t>
            </a:r>
            <a:r>
              <a:rPr lang="en-US" altLang="ko-KR" dirty="0"/>
              <a:t>(but, </a:t>
            </a:r>
            <a:r>
              <a:rPr lang="ko-KR" altLang="en-US" dirty="0"/>
              <a:t>자유무역의 최혜국대우 조항</a:t>
            </a:r>
            <a:r>
              <a:rPr lang="en-US" altLang="ko-KR" dirty="0"/>
              <a:t>, </a:t>
            </a:r>
            <a:r>
              <a:rPr lang="ko-KR" altLang="en-US" dirty="0"/>
              <a:t>자국민 이득 조장</a:t>
            </a:r>
            <a:r>
              <a:rPr lang="en-US" altLang="ko-KR" dirty="0"/>
              <a:t>, </a:t>
            </a:r>
            <a:r>
              <a:rPr lang="ko-KR" altLang="en-US" dirty="0"/>
              <a:t>식민지의 엘리트를 포섭해서 통제하도록 하는 것처럼 간접적인 간섭을 함 식민지는 </a:t>
            </a:r>
            <a:r>
              <a:rPr lang="ko-KR" altLang="en-US" dirty="0" err="1"/>
              <a:t>자유무역하에</a:t>
            </a:r>
            <a:r>
              <a:rPr lang="ko-KR" altLang="en-US" dirty="0"/>
              <a:t> </a:t>
            </a:r>
            <a:r>
              <a:rPr lang="ko-KR" altLang="en-US" dirty="0" err="1"/>
              <a:t>탈산업</a:t>
            </a:r>
            <a:r>
              <a:rPr lang="en-US" altLang="ko-KR" dirty="0"/>
              <a:t>/</a:t>
            </a:r>
            <a:r>
              <a:rPr lang="ko-KR" altLang="en-US" dirty="0"/>
              <a:t>농업을 할 수 밖에 없고</a:t>
            </a:r>
            <a:r>
              <a:rPr lang="en-US" altLang="ko-KR" dirty="0"/>
              <a:t>, </a:t>
            </a:r>
            <a:r>
              <a:rPr lang="ko-KR" altLang="en-US" dirty="0"/>
              <a:t>선진국은 산업의 발전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en-US" altLang="ko-KR" dirty="0"/>
              <a:t>1</a:t>
            </a:r>
            <a:r>
              <a:rPr lang="ko-KR" altLang="en-US" dirty="0" err="1"/>
              <a:t>차세계화임에도</a:t>
            </a:r>
            <a:r>
              <a:rPr lang="ko-KR" altLang="en-US" dirty="0"/>
              <a:t> </a:t>
            </a:r>
            <a:r>
              <a:rPr lang="en-US" altLang="ko-KR" dirty="0"/>
              <a:t>1870</a:t>
            </a:r>
            <a:r>
              <a:rPr lang="ko-KR" altLang="en-US" dirty="0"/>
              <a:t> </a:t>
            </a:r>
            <a:r>
              <a:rPr lang="ko-KR" altLang="en-US" dirty="0" err="1"/>
              <a:t>대불황</a:t>
            </a:r>
            <a:r>
              <a:rPr lang="ko-KR" altLang="en-US" dirty="0"/>
              <a:t> 이후 보호무역으로 다시 회귀</a:t>
            </a:r>
            <a:r>
              <a:rPr lang="en-US" altLang="ko-KR" dirty="0"/>
              <a:t>; ex) </a:t>
            </a:r>
            <a:r>
              <a:rPr lang="ko-KR" altLang="en-US" dirty="0"/>
              <a:t>비스마르크</a:t>
            </a:r>
            <a:r>
              <a:rPr lang="en-US" altLang="ko-KR" dirty="0"/>
              <a:t>= </a:t>
            </a:r>
            <a:r>
              <a:rPr lang="ko-KR" altLang="en-US" dirty="0"/>
              <a:t>철과 호밀의 동맹</a:t>
            </a:r>
            <a:r>
              <a:rPr lang="en-US" altLang="ko-KR" dirty="0"/>
              <a:t>; </a:t>
            </a:r>
            <a:r>
              <a:rPr lang="ko-KR" altLang="en-US" dirty="0"/>
              <a:t>프랑스 </a:t>
            </a:r>
            <a:r>
              <a:rPr lang="en-US" altLang="ko-KR" dirty="0"/>
              <a:t>; </a:t>
            </a:r>
            <a:r>
              <a:rPr lang="ko-KR" altLang="en-US" dirty="0"/>
              <a:t>영국은 식민지를 </a:t>
            </a:r>
            <a:r>
              <a:rPr lang="ko-KR" altLang="en-US" dirty="0" err="1"/>
              <a:t>늘려나감</a:t>
            </a:r>
            <a:r>
              <a:rPr lang="en-US" altLang="ko-KR" dirty="0"/>
              <a:t>; </a:t>
            </a:r>
            <a:r>
              <a:rPr lang="ko-KR" altLang="en-US" dirty="0"/>
              <a:t>자유무역 제국주의는 영국과 </a:t>
            </a:r>
            <a:r>
              <a:rPr lang="ko-KR" altLang="en-US" dirty="0" err="1"/>
              <a:t>식민지간의</a:t>
            </a:r>
            <a:r>
              <a:rPr lang="ko-KR" altLang="en-US" dirty="0"/>
              <a:t> 경계를 허무는데 중점을 둔 반면 건설적 제국주의는 각 국가들이 분업을 확실히 하고 영연방을 </a:t>
            </a:r>
            <a:r>
              <a:rPr lang="ko-KR" altLang="en-US" dirty="0" err="1"/>
              <a:t>공고히해서</a:t>
            </a:r>
            <a:r>
              <a:rPr lang="ko-KR" altLang="en-US" dirty="0"/>
              <a:t> 다른 국가들이 간섭하지 </a:t>
            </a:r>
            <a:r>
              <a:rPr lang="ko-KR" altLang="en-US" dirty="0" err="1"/>
              <a:t>못하도록함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타국의 경우는 자유무역 제국주의를 대부분 계속 표방하여 영국만의 특이케이스</a:t>
            </a:r>
            <a:r>
              <a:rPr lang="en-US" altLang="ko-KR" dirty="0"/>
              <a:t>.)</a:t>
            </a:r>
          </a:p>
          <a:p>
            <a:r>
              <a:rPr lang="ko-KR" altLang="en-US" dirty="0"/>
              <a:t>제국주의 시대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8CF464-B56C-4822-8513-DBEA94A34CF3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96663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189038" y="1252538"/>
            <a:ext cx="4510087" cy="3382962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8CF464-B56C-4822-8513-DBEA94A34CF3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29998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189038" y="1252538"/>
            <a:ext cx="4510087" cy="3382962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세계화 </a:t>
            </a:r>
            <a:r>
              <a:rPr lang="en-US" altLang="ko-KR" dirty="0"/>
              <a:t>= </a:t>
            </a:r>
            <a:r>
              <a:rPr lang="ko-KR" altLang="en-US" dirty="0"/>
              <a:t>상품시장과 요소</a:t>
            </a:r>
            <a:r>
              <a:rPr lang="en-US" altLang="ko-KR" dirty="0"/>
              <a:t>(</a:t>
            </a:r>
            <a:r>
              <a:rPr lang="ko-KR" altLang="en-US" dirty="0"/>
              <a:t>자본과 노동시장</a:t>
            </a:r>
            <a:r>
              <a:rPr lang="en-US" altLang="ko-KR" dirty="0"/>
              <a:t>)</a:t>
            </a:r>
            <a:r>
              <a:rPr lang="ko-KR" altLang="en-US" dirty="0"/>
              <a:t>의 국제적 통합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왜 제국주의가 무역제도가 될 수 있나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Ex) </a:t>
            </a:r>
            <a:r>
              <a:rPr lang="ko-KR" altLang="en-US" dirty="0"/>
              <a:t>영국 인도간 </a:t>
            </a:r>
            <a:r>
              <a:rPr lang="ko-KR" altLang="en-US" dirty="0" err="1"/>
              <a:t>무역시</a:t>
            </a:r>
            <a:r>
              <a:rPr lang="ko-KR" altLang="en-US" dirty="0"/>
              <a:t> 상품에 대한 대가를 치르지 않았을 경우 제국주의 하엔 군대를 동원해 무력으로 진압</a:t>
            </a:r>
            <a:endParaRPr lang="en-US" altLang="ko-KR" dirty="0"/>
          </a:p>
          <a:p>
            <a:r>
              <a:rPr lang="ko-KR" altLang="en-US" dirty="0"/>
              <a:t>자유무역을 표방함에도 제</a:t>
            </a:r>
            <a:r>
              <a:rPr lang="en-US" altLang="ko-KR" dirty="0"/>
              <a:t>3</a:t>
            </a:r>
            <a:r>
              <a:rPr lang="ko-KR" altLang="en-US" dirty="0"/>
              <a:t>자의 강제가 필요할 경우 군대를 동원하여 해결</a:t>
            </a:r>
            <a:endParaRPr lang="en-US" altLang="ko-KR" dirty="0"/>
          </a:p>
          <a:p>
            <a:pPr defTabSz="847100">
              <a:defRPr/>
            </a:pPr>
            <a:endParaRPr lang="en-US" altLang="ko-KR" dirty="0"/>
          </a:p>
          <a:p>
            <a:pPr defTabSz="847100">
              <a:defRPr/>
            </a:pPr>
            <a:r>
              <a:rPr lang="ko-KR" altLang="en-US" dirty="0"/>
              <a:t>세계화가 가능했던 배경은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r>
              <a:rPr lang="en-US" altLang="ko-KR" dirty="0"/>
              <a:t>1. </a:t>
            </a:r>
            <a:r>
              <a:rPr lang="ko-KR" altLang="en-US" dirty="0"/>
              <a:t>운송</a:t>
            </a:r>
            <a:r>
              <a:rPr lang="en-US" altLang="ko-KR" dirty="0"/>
              <a:t>/</a:t>
            </a:r>
            <a:r>
              <a:rPr lang="ko-KR" altLang="en-US" dirty="0" err="1"/>
              <a:t>통신깃술의</a:t>
            </a:r>
            <a:r>
              <a:rPr lang="ko-KR" altLang="en-US" dirty="0"/>
              <a:t> 발달 </a:t>
            </a:r>
            <a:r>
              <a:rPr lang="en-US" altLang="ko-KR" dirty="0"/>
              <a:t>(</a:t>
            </a:r>
            <a:r>
              <a:rPr lang="ko-KR" altLang="en-US" dirty="0"/>
              <a:t>증기선</a:t>
            </a:r>
            <a:r>
              <a:rPr lang="en-US" altLang="ko-KR" dirty="0"/>
              <a:t>/</a:t>
            </a:r>
            <a:r>
              <a:rPr lang="ko-KR" altLang="en-US" dirty="0"/>
              <a:t>철도</a:t>
            </a:r>
            <a:r>
              <a:rPr lang="en-US" altLang="ko-KR" dirty="0"/>
              <a:t>/</a:t>
            </a:r>
            <a:r>
              <a:rPr lang="ko-KR" altLang="en-US" dirty="0"/>
              <a:t>운하 로 상품과 인력이 빠르게 전달</a:t>
            </a:r>
            <a:r>
              <a:rPr lang="en-US" altLang="ko-KR" dirty="0"/>
              <a:t>, </a:t>
            </a:r>
            <a:r>
              <a:rPr lang="ko-KR" altLang="en-US" dirty="0"/>
              <a:t>통신기술의 발달로 빠른 정보 교류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통화</a:t>
            </a:r>
            <a:r>
              <a:rPr lang="en-US" altLang="ko-KR" dirty="0"/>
              <a:t>: 1870 </a:t>
            </a:r>
            <a:r>
              <a:rPr lang="ko-KR" altLang="en-US" dirty="0" err="1"/>
              <a:t>금본우ㅢ제</a:t>
            </a:r>
            <a:r>
              <a:rPr lang="ko-KR" altLang="en-US" dirty="0"/>
              <a:t> 통화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3. </a:t>
            </a:r>
            <a:r>
              <a:rPr lang="ko-KR" altLang="en-US" dirty="0"/>
              <a:t>자유시장 경제학자 담론</a:t>
            </a:r>
            <a:r>
              <a:rPr lang="en-US" altLang="ko-KR" dirty="0"/>
              <a:t>(</a:t>
            </a:r>
            <a:r>
              <a:rPr lang="ko-KR" altLang="en-US" dirty="0"/>
              <a:t>세계주요국이 규제를 완화</a:t>
            </a:r>
            <a:r>
              <a:rPr lang="en-US" altLang="ko-KR" dirty="0"/>
              <a:t>);</a:t>
            </a:r>
          </a:p>
          <a:p>
            <a:r>
              <a:rPr lang="en-US" altLang="ko-KR" dirty="0"/>
              <a:t>+ </a:t>
            </a:r>
            <a:r>
              <a:rPr lang="ko-KR" altLang="en-US" dirty="0"/>
              <a:t>주요 선진국들의 의사결정자들의 신념체계 수렴</a:t>
            </a:r>
            <a:endParaRPr lang="en-US" altLang="ko-KR" dirty="0"/>
          </a:p>
          <a:p>
            <a:r>
              <a:rPr lang="en-US" altLang="ko-KR" dirty="0"/>
              <a:t>+ </a:t>
            </a:r>
            <a:r>
              <a:rPr lang="ko-KR" altLang="en-US" dirty="0"/>
              <a:t>제국주의 </a:t>
            </a:r>
            <a:r>
              <a:rPr lang="en-US" altLang="ko-KR" dirty="0"/>
              <a:t>: </a:t>
            </a:r>
            <a:r>
              <a:rPr lang="ko-KR" altLang="en-US" dirty="0"/>
              <a:t>국제사회에서의 제 </a:t>
            </a:r>
            <a:r>
              <a:rPr lang="en-US" altLang="ko-KR" dirty="0"/>
              <a:t>3</a:t>
            </a:r>
            <a:r>
              <a:rPr lang="ko-KR" altLang="en-US" dirty="0"/>
              <a:t>자 강제집행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8CF464-B56C-4822-8513-DBEA94A34CF3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92316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189038" y="1252538"/>
            <a:ext cx="4510087" cy="3382962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8CF464-B56C-4822-8513-DBEA94A34CF3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37198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189038" y="1252538"/>
            <a:ext cx="4510087" cy="3382962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8CF464-B56C-4822-8513-DBEA94A34CF3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65454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189038" y="1252538"/>
            <a:ext cx="4510087" cy="3382962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8CF464-B56C-4822-8513-DBEA94A34CF3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88132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189038" y="1252538"/>
            <a:ext cx="4510087" cy="3382962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8CF464-B56C-4822-8513-DBEA94A34CF3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97933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189038" y="1252538"/>
            <a:ext cx="4510087" cy="3382962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8CF464-B56C-4822-8513-DBEA94A34CF3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59429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189038" y="1252538"/>
            <a:ext cx="4510087" cy="3382962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8CF464-B56C-4822-8513-DBEA94A34CF3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84264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189038" y="1252538"/>
            <a:ext cx="4510087" cy="3382962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8CF464-B56C-4822-8513-DBEA94A34CF3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64378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189038" y="1252538"/>
            <a:ext cx="4510087" cy="3382962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8CF464-B56C-4822-8513-DBEA94A34CF3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23777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189038" y="1252538"/>
            <a:ext cx="4510087" cy="3382962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운영방식 </a:t>
            </a:r>
            <a:r>
              <a:rPr lang="en-US" altLang="ko-KR" dirty="0"/>
              <a:t>– </a:t>
            </a:r>
            <a:r>
              <a:rPr lang="ko-KR" altLang="en-US" dirty="0"/>
              <a:t>거래비용 </a:t>
            </a:r>
            <a:endParaRPr lang="en-US" altLang="ko-KR" dirty="0"/>
          </a:p>
          <a:p>
            <a:r>
              <a:rPr lang="ko-KR" altLang="en-US" dirty="0"/>
              <a:t>제도 </a:t>
            </a:r>
            <a:r>
              <a:rPr lang="en-US" altLang="ko-KR" dirty="0"/>
              <a:t>: </a:t>
            </a:r>
            <a:r>
              <a:rPr lang="ko-KR" altLang="en-US" dirty="0" err="1"/>
              <a:t>패권국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무역 </a:t>
            </a:r>
            <a:r>
              <a:rPr lang="en-US" altLang="ko-KR" dirty="0"/>
              <a:t>+ </a:t>
            </a:r>
            <a:r>
              <a:rPr lang="ko-KR" altLang="en-US" dirty="0"/>
              <a:t>금융제도</a:t>
            </a:r>
            <a:endParaRPr lang="en-US" altLang="ko-KR" dirty="0"/>
          </a:p>
          <a:p>
            <a:r>
              <a:rPr lang="ko-KR" altLang="en-US" dirty="0"/>
              <a:t>생산요소시장 </a:t>
            </a:r>
            <a:r>
              <a:rPr lang="en-US" altLang="ko-KR" dirty="0"/>
              <a:t>+ </a:t>
            </a:r>
            <a:r>
              <a:rPr lang="ko-KR" altLang="en-US"/>
              <a:t>상품시장의 통합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8CF464-B56C-4822-8513-DBEA94A34CF3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483714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189038" y="1252538"/>
            <a:ext cx="4510087" cy="3382962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8CF464-B56C-4822-8513-DBEA94A34CF3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392417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189038" y="1252538"/>
            <a:ext cx="4510087" cy="3382962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8CF464-B56C-4822-8513-DBEA94A34CF3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97041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189038" y="1252538"/>
            <a:ext cx="4510087" cy="3382962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8CF464-B56C-4822-8513-DBEA94A34CF3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850697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189038" y="1252538"/>
            <a:ext cx="4510087" cy="3382962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8CF464-B56C-4822-8513-DBEA94A34CF3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674634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189038" y="1252538"/>
            <a:ext cx="4510087" cy="3382962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8CF464-B56C-4822-8513-DBEA94A34CF3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44423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22552" y="3599989"/>
            <a:ext cx="4666481" cy="84713"/>
          </a:xfrm>
          <a:custGeom>
            <a:avLst/>
            <a:gdLst/>
            <a:ahLst/>
            <a:cxnLst/>
            <a:rect l="l" t="t" r="r" b="b"/>
            <a:pathLst>
              <a:path w="5457190" h="93345">
                <a:moveTo>
                  <a:pt x="5457131" y="0"/>
                </a:moveTo>
                <a:lnTo>
                  <a:pt x="0" y="0"/>
                </a:lnTo>
                <a:lnTo>
                  <a:pt x="0" y="93310"/>
                </a:lnTo>
                <a:lnTo>
                  <a:pt x="5457131" y="93310"/>
                </a:lnTo>
                <a:lnTo>
                  <a:pt x="5457131" y="0"/>
                </a:lnTo>
                <a:close/>
              </a:path>
            </a:pathLst>
          </a:custGeom>
          <a:solidFill>
            <a:srgbClr val="4764B0"/>
          </a:solidFill>
        </p:spPr>
        <p:txBody>
          <a:bodyPr wrap="square" lIns="0" tIns="0" rIns="0" bIns="0" rtlCol="0"/>
          <a:lstStyle/>
          <a:p>
            <a:endParaRPr sz="1225"/>
          </a:p>
        </p:txBody>
      </p:sp>
      <p:sp>
        <p:nvSpPr>
          <p:cNvPr id="17" name="bg object 17"/>
          <p:cNvSpPr/>
          <p:nvPr/>
        </p:nvSpPr>
        <p:spPr>
          <a:xfrm>
            <a:off x="722552" y="3599970"/>
            <a:ext cx="7550859" cy="0"/>
          </a:xfrm>
          <a:custGeom>
            <a:avLst/>
            <a:gdLst/>
            <a:ahLst/>
            <a:cxnLst/>
            <a:rect l="l" t="t" r="r" b="b"/>
            <a:pathLst>
              <a:path w="8830310">
                <a:moveTo>
                  <a:pt x="0" y="0"/>
                </a:moveTo>
                <a:lnTo>
                  <a:pt x="8830309" y="0"/>
                </a:lnTo>
              </a:path>
            </a:pathLst>
          </a:custGeom>
          <a:ln w="8113">
            <a:solidFill>
              <a:srgbClr val="4764B0"/>
            </a:solidFill>
          </a:ln>
        </p:spPr>
        <p:txBody>
          <a:bodyPr wrap="square" lIns="0" tIns="0" rIns="0" bIns="0" rtlCol="0"/>
          <a:lstStyle/>
          <a:p>
            <a:endParaRPr sz="1225"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78313" y="2448753"/>
            <a:ext cx="7587384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3" y="3840513"/>
            <a:ext cx="64008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16" b="0" i="0">
                <a:solidFill>
                  <a:srgbClr val="005466"/>
                </a:solidFill>
                <a:latin typeface="Malgun Gothic"/>
                <a:cs typeface="Malgun Gothic"/>
              </a:defRPr>
            </a:lvl1pPr>
          </a:lstStyle>
          <a:p>
            <a:pPr marL="8641">
              <a:spcBef>
                <a:spcPts val="140"/>
              </a:spcBef>
            </a:pPr>
            <a:r>
              <a:rPr lang="ko-KR" altLang="en-US" spc="-9"/>
              <a:t>글로벌경제론</a:t>
            </a:r>
            <a:endParaRPr lang="ko-KR" altLang="en-US" spc="-9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81" b="1" i="1">
                <a:solidFill>
                  <a:schemeClr val="hlink"/>
                </a:solidFill>
                <a:latin typeface="Corbel"/>
                <a:cs typeface="Corbel"/>
              </a:defRPr>
            </a:lvl1pPr>
          </a:lstStyle>
          <a:p>
            <a:pPr marL="25924">
              <a:lnSpc>
                <a:spcPts val="712"/>
              </a:lnSpc>
            </a:pPr>
            <a:fld id="{81D60167-4931-47E6-BA6A-407CBD079E47}" type="slidenum">
              <a:rPr lang="en-US" altLang="ko-KR" smtClean="0"/>
              <a:pPr marL="25924">
                <a:lnSpc>
                  <a:spcPts val="712"/>
                </a:lnSpc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22548" y="1471106"/>
            <a:ext cx="4523130" cy="84713"/>
          </a:xfrm>
          <a:custGeom>
            <a:avLst/>
            <a:gdLst/>
            <a:ahLst/>
            <a:cxnLst/>
            <a:rect l="l" t="t" r="r" b="b"/>
            <a:pathLst>
              <a:path w="5289550" h="93344">
                <a:moveTo>
                  <a:pt x="5289177" y="0"/>
                </a:moveTo>
                <a:lnTo>
                  <a:pt x="0" y="0"/>
                </a:lnTo>
                <a:lnTo>
                  <a:pt x="0" y="93310"/>
                </a:lnTo>
                <a:lnTo>
                  <a:pt x="5289177" y="93310"/>
                </a:lnTo>
                <a:lnTo>
                  <a:pt x="5289177" y="0"/>
                </a:lnTo>
                <a:close/>
              </a:path>
            </a:pathLst>
          </a:custGeom>
          <a:solidFill>
            <a:srgbClr val="4764B0"/>
          </a:solidFill>
        </p:spPr>
        <p:txBody>
          <a:bodyPr wrap="square" lIns="0" tIns="0" rIns="0" bIns="0" rtlCol="0"/>
          <a:lstStyle/>
          <a:p>
            <a:endParaRPr sz="1225"/>
          </a:p>
        </p:txBody>
      </p:sp>
      <p:sp>
        <p:nvSpPr>
          <p:cNvPr id="17" name="bg object 17"/>
          <p:cNvSpPr/>
          <p:nvPr/>
        </p:nvSpPr>
        <p:spPr>
          <a:xfrm>
            <a:off x="722550" y="1471074"/>
            <a:ext cx="7731678" cy="0"/>
          </a:xfrm>
          <a:custGeom>
            <a:avLst/>
            <a:gdLst/>
            <a:ahLst/>
            <a:cxnLst/>
            <a:rect l="l" t="t" r="r" b="b"/>
            <a:pathLst>
              <a:path w="9041765">
                <a:moveTo>
                  <a:pt x="0" y="0"/>
                </a:moveTo>
                <a:lnTo>
                  <a:pt x="9041328" y="0"/>
                </a:lnTo>
              </a:path>
            </a:pathLst>
          </a:custGeom>
          <a:ln w="8113">
            <a:solidFill>
              <a:srgbClr val="4764B0"/>
            </a:solidFill>
          </a:ln>
        </p:spPr>
        <p:txBody>
          <a:bodyPr wrap="square" lIns="0" tIns="0" rIns="0" bIns="0" rtlCol="0"/>
          <a:lstStyle/>
          <a:p>
            <a:endParaRPr sz="1225"/>
          </a:p>
        </p:txBody>
      </p:sp>
      <p:sp>
        <p:nvSpPr>
          <p:cNvPr id="18" name="bg object 18"/>
          <p:cNvSpPr/>
          <p:nvPr/>
        </p:nvSpPr>
        <p:spPr>
          <a:xfrm>
            <a:off x="722547" y="5661850"/>
            <a:ext cx="7699098" cy="0"/>
          </a:xfrm>
          <a:custGeom>
            <a:avLst/>
            <a:gdLst/>
            <a:ahLst/>
            <a:cxnLst/>
            <a:rect l="l" t="t" r="r" b="b"/>
            <a:pathLst>
              <a:path w="9003665">
                <a:moveTo>
                  <a:pt x="0" y="0"/>
                </a:moveTo>
                <a:lnTo>
                  <a:pt x="9003452" y="0"/>
                </a:lnTo>
              </a:path>
            </a:pathLst>
          </a:custGeom>
          <a:ln w="3175">
            <a:solidFill>
              <a:srgbClr val="4764B0"/>
            </a:solidFill>
          </a:ln>
        </p:spPr>
        <p:txBody>
          <a:bodyPr wrap="square" lIns="0" tIns="0" rIns="0" bIns="0" rtlCol="0"/>
          <a:lstStyle/>
          <a:p>
            <a:endParaRPr sz="1225"/>
          </a:p>
        </p:txBody>
      </p:sp>
      <p:pic>
        <p:nvPicPr>
          <p:cNvPr id="19" name="bg 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87934" y="5803065"/>
            <a:ext cx="778305" cy="20885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44386" y="1064166"/>
            <a:ext cx="7655244" cy="209288"/>
          </a:xfrm>
        </p:spPr>
        <p:txBody>
          <a:bodyPr lIns="0" tIns="0" rIns="0" bIns="0"/>
          <a:lstStyle>
            <a:lvl1pPr>
              <a:defRPr sz="1360" b="1" i="0">
                <a:solidFill>
                  <a:srgbClr val="005466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16" b="0" i="0">
                <a:solidFill>
                  <a:srgbClr val="005466"/>
                </a:solidFill>
                <a:latin typeface="Malgun Gothic"/>
                <a:cs typeface="Malgun Gothic"/>
              </a:defRPr>
            </a:lvl1pPr>
          </a:lstStyle>
          <a:p>
            <a:pPr marL="8641">
              <a:spcBef>
                <a:spcPts val="140"/>
              </a:spcBef>
            </a:pPr>
            <a:r>
              <a:rPr lang="ko-KR" altLang="en-US" spc="-9"/>
              <a:t>글로벌경제론</a:t>
            </a:r>
            <a:endParaRPr lang="ko-KR" altLang="en-US" spc="-9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81" b="1" i="1">
                <a:solidFill>
                  <a:schemeClr val="hlink"/>
                </a:solidFill>
                <a:latin typeface="Corbel"/>
                <a:cs typeface="Corbel"/>
              </a:defRPr>
            </a:lvl1pPr>
          </a:lstStyle>
          <a:p>
            <a:pPr marL="25924">
              <a:lnSpc>
                <a:spcPts val="712"/>
              </a:lnSpc>
            </a:pPr>
            <a:fld id="{81D60167-4931-47E6-BA6A-407CBD079E47}" type="slidenum">
              <a:rPr lang="en-US" altLang="ko-KR" smtClean="0"/>
              <a:pPr marL="25924">
                <a:lnSpc>
                  <a:spcPts val="712"/>
                </a:lnSpc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44386" y="1064166"/>
            <a:ext cx="7655244" cy="209288"/>
          </a:xfrm>
        </p:spPr>
        <p:txBody>
          <a:bodyPr lIns="0" tIns="0" rIns="0" bIns="0"/>
          <a:lstStyle>
            <a:lvl1pPr>
              <a:defRPr sz="1360" b="1" i="0">
                <a:solidFill>
                  <a:srgbClr val="005466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9" y="1577368"/>
            <a:ext cx="39776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9" y="1577368"/>
            <a:ext cx="39776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16" b="0" i="0">
                <a:solidFill>
                  <a:srgbClr val="005466"/>
                </a:solidFill>
                <a:latin typeface="Malgun Gothic"/>
                <a:cs typeface="Malgun Gothic"/>
              </a:defRPr>
            </a:lvl1pPr>
          </a:lstStyle>
          <a:p>
            <a:pPr marL="8641">
              <a:spcBef>
                <a:spcPts val="140"/>
              </a:spcBef>
            </a:pPr>
            <a:r>
              <a:rPr lang="ko-KR" altLang="en-US" spc="-9"/>
              <a:t>글로벌경제론</a:t>
            </a:r>
            <a:endParaRPr lang="ko-KR" altLang="en-US" spc="-9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81" b="1" i="1">
                <a:solidFill>
                  <a:schemeClr val="hlink"/>
                </a:solidFill>
                <a:latin typeface="Corbel"/>
                <a:cs typeface="Corbel"/>
              </a:defRPr>
            </a:lvl1pPr>
          </a:lstStyle>
          <a:p>
            <a:pPr marL="25924">
              <a:lnSpc>
                <a:spcPts val="712"/>
              </a:lnSpc>
            </a:pPr>
            <a:fld id="{81D60167-4931-47E6-BA6A-407CBD079E47}" type="slidenum">
              <a:rPr lang="en-US" altLang="ko-KR" smtClean="0"/>
              <a:pPr marL="25924">
                <a:lnSpc>
                  <a:spcPts val="712"/>
                </a:lnSpc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22548" y="1471106"/>
            <a:ext cx="4523130" cy="84713"/>
          </a:xfrm>
          <a:custGeom>
            <a:avLst/>
            <a:gdLst/>
            <a:ahLst/>
            <a:cxnLst/>
            <a:rect l="l" t="t" r="r" b="b"/>
            <a:pathLst>
              <a:path w="5289550" h="93344">
                <a:moveTo>
                  <a:pt x="5289177" y="0"/>
                </a:moveTo>
                <a:lnTo>
                  <a:pt x="0" y="0"/>
                </a:lnTo>
                <a:lnTo>
                  <a:pt x="0" y="93310"/>
                </a:lnTo>
                <a:lnTo>
                  <a:pt x="5289177" y="93310"/>
                </a:lnTo>
                <a:lnTo>
                  <a:pt x="5289177" y="0"/>
                </a:lnTo>
                <a:close/>
              </a:path>
            </a:pathLst>
          </a:custGeom>
          <a:solidFill>
            <a:srgbClr val="4764B0"/>
          </a:solidFill>
        </p:spPr>
        <p:txBody>
          <a:bodyPr wrap="square" lIns="0" tIns="0" rIns="0" bIns="0" rtlCol="0"/>
          <a:lstStyle/>
          <a:p>
            <a:endParaRPr sz="1225"/>
          </a:p>
        </p:txBody>
      </p:sp>
      <p:sp>
        <p:nvSpPr>
          <p:cNvPr id="17" name="bg object 17"/>
          <p:cNvSpPr/>
          <p:nvPr/>
        </p:nvSpPr>
        <p:spPr>
          <a:xfrm>
            <a:off x="722550" y="1471074"/>
            <a:ext cx="7731678" cy="0"/>
          </a:xfrm>
          <a:custGeom>
            <a:avLst/>
            <a:gdLst/>
            <a:ahLst/>
            <a:cxnLst/>
            <a:rect l="l" t="t" r="r" b="b"/>
            <a:pathLst>
              <a:path w="9041765">
                <a:moveTo>
                  <a:pt x="0" y="0"/>
                </a:moveTo>
                <a:lnTo>
                  <a:pt x="9041328" y="0"/>
                </a:lnTo>
              </a:path>
            </a:pathLst>
          </a:custGeom>
          <a:ln w="8113">
            <a:solidFill>
              <a:srgbClr val="4764B0"/>
            </a:solidFill>
          </a:ln>
        </p:spPr>
        <p:txBody>
          <a:bodyPr wrap="square" lIns="0" tIns="0" rIns="0" bIns="0" rtlCol="0"/>
          <a:lstStyle/>
          <a:p>
            <a:endParaRPr sz="1225"/>
          </a:p>
        </p:txBody>
      </p:sp>
      <p:sp>
        <p:nvSpPr>
          <p:cNvPr id="18" name="bg object 18"/>
          <p:cNvSpPr/>
          <p:nvPr/>
        </p:nvSpPr>
        <p:spPr>
          <a:xfrm>
            <a:off x="722547" y="5661850"/>
            <a:ext cx="7699098" cy="0"/>
          </a:xfrm>
          <a:custGeom>
            <a:avLst/>
            <a:gdLst/>
            <a:ahLst/>
            <a:cxnLst/>
            <a:rect l="l" t="t" r="r" b="b"/>
            <a:pathLst>
              <a:path w="9003665">
                <a:moveTo>
                  <a:pt x="0" y="0"/>
                </a:moveTo>
                <a:lnTo>
                  <a:pt x="9003452" y="0"/>
                </a:lnTo>
              </a:path>
            </a:pathLst>
          </a:custGeom>
          <a:ln w="3175">
            <a:solidFill>
              <a:srgbClr val="4764B0"/>
            </a:solidFill>
          </a:ln>
        </p:spPr>
        <p:txBody>
          <a:bodyPr wrap="square" lIns="0" tIns="0" rIns="0" bIns="0" rtlCol="0"/>
          <a:lstStyle/>
          <a:p>
            <a:endParaRPr sz="1225"/>
          </a:p>
        </p:txBody>
      </p:sp>
      <p:pic>
        <p:nvPicPr>
          <p:cNvPr id="19" name="bg 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87934" y="5803065"/>
            <a:ext cx="778305" cy="20885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44386" y="1064166"/>
            <a:ext cx="7655244" cy="209288"/>
          </a:xfrm>
        </p:spPr>
        <p:txBody>
          <a:bodyPr lIns="0" tIns="0" rIns="0" bIns="0"/>
          <a:lstStyle>
            <a:lvl1pPr>
              <a:defRPr sz="1360" b="1" i="0">
                <a:solidFill>
                  <a:srgbClr val="005466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16" b="0" i="0">
                <a:solidFill>
                  <a:srgbClr val="005466"/>
                </a:solidFill>
                <a:latin typeface="Malgun Gothic"/>
                <a:cs typeface="Malgun Gothic"/>
              </a:defRPr>
            </a:lvl1pPr>
          </a:lstStyle>
          <a:p>
            <a:pPr marL="8641">
              <a:spcBef>
                <a:spcPts val="140"/>
              </a:spcBef>
            </a:pPr>
            <a:r>
              <a:rPr lang="ko-KR" altLang="en-US" spc="-9"/>
              <a:t>글로벌경제론</a:t>
            </a:r>
            <a:endParaRPr lang="ko-KR" altLang="en-US" spc="-9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81" b="1" i="1">
                <a:solidFill>
                  <a:schemeClr val="hlink"/>
                </a:solidFill>
                <a:latin typeface="Corbel"/>
                <a:cs typeface="Corbel"/>
              </a:defRPr>
            </a:lvl1pPr>
          </a:lstStyle>
          <a:p>
            <a:pPr marL="25924">
              <a:lnSpc>
                <a:spcPts val="712"/>
              </a:lnSpc>
            </a:pPr>
            <a:fld id="{81D60167-4931-47E6-BA6A-407CBD079E47}" type="slidenum">
              <a:rPr lang="en-US" altLang="ko-KR" smtClean="0"/>
              <a:pPr marL="25924">
                <a:lnSpc>
                  <a:spcPts val="712"/>
                </a:lnSpc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16" b="0" i="0">
                <a:solidFill>
                  <a:srgbClr val="005466"/>
                </a:solidFill>
                <a:latin typeface="Malgun Gothic"/>
                <a:cs typeface="Malgun Gothic"/>
              </a:defRPr>
            </a:lvl1pPr>
          </a:lstStyle>
          <a:p>
            <a:pPr marL="8641">
              <a:spcBef>
                <a:spcPts val="140"/>
              </a:spcBef>
            </a:pPr>
            <a:r>
              <a:rPr lang="ko-KR" altLang="en-US" spc="-9"/>
              <a:t>글로벌경제론</a:t>
            </a:r>
            <a:endParaRPr lang="ko-KR" altLang="en-US" spc="-9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81" b="1" i="1">
                <a:solidFill>
                  <a:schemeClr val="hlink"/>
                </a:solidFill>
                <a:latin typeface="Corbel"/>
                <a:cs typeface="Corbel"/>
              </a:defRPr>
            </a:lvl1pPr>
          </a:lstStyle>
          <a:p>
            <a:pPr marL="25924">
              <a:lnSpc>
                <a:spcPts val="712"/>
              </a:lnSpc>
            </a:pPr>
            <a:fld id="{81D60167-4931-47E6-BA6A-407CBD079E47}" type="slidenum">
              <a:rPr lang="en-US" altLang="ko-KR" smtClean="0"/>
              <a:pPr marL="25924">
                <a:lnSpc>
                  <a:spcPts val="712"/>
                </a:lnSpc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22548" y="1471106"/>
            <a:ext cx="4523130" cy="84713"/>
          </a:xfrm>
          <a:custGeom>
            <a:avLst/>
            <a:gdLst/>
            <a:ahLst/>
            <a:cxnLst/>
            <a:rect l="l" t="t" r="r" b="b"/>
            <a:pathLst>
              <a:path w="5289550" h="93344">
                <a:moveTo>
                  <a:pt x="5289177" y="0"/>
                </a:moveTo>
                <a:lnTo>
                  <a:pt x="0" y="0"/>
                </a:lnTo>
                <a:lnTo>
                  <a:pt x="0" y="93310"/>
                </a:lnTo>
                <a:lnTo>
                  <a:pt x="5289177" y="93310"/>
                </a:lnTo>
                <a:lnTo>
                  <a:pt x="5289177" y="0"/>
                </a:lnTo>
                <a:close/>
              </a:path>
            </a:pathLst>
          </a:custGeom>
          <a:solidFill>
            <a:srgbClr val="4764B0"/>
          </a:solidFill>
        </p:spPr>
        <p:txBody>
          <a:bodyPr wrap="square" lIns="0" tIns="0" rIns="0" bIns="0" rtlCol="0"/>
          <a:lstStyle/>
          <a:p>
            <a:endParaRPr sz="1225"/>
          </a:p>
        </p:txBody>
      </p:sp>
      <p:sp>
        <p:nvSpPr>
          <p:cNvPr id="17" name="bg object 17"/>
          <p:cNvSpPr/>
          <p:nvPr/>
        </p:nvSpPr>
        <p:spPr>
          <a:xfrm>
            <a:off x="722550" y="1471074"/>
            <a:ext cx="7731678" cy="0"/>
          </a:xfrm>
          <a:custGeom>
            <a:avLst/>
            <a:gdLst/>
            <a:ahLst/>
            <a:cxnLst/>
            <a:rect l="l" t="t" r="r" b="b"/>
            <a:pathLst>
              <a:path w="9041765">
                <a:moveTo>
                  <a:pt x="0" y="0"/>
                </a:moveTo>
                <a:lnTo>
                  <a:pt x="9041328" y="0"/>
                </a:lnTo>
              </a:path>
            </a:pathLst>
          </a:custGeom>
          <a:ln w="8113">
            <a:solidFill>
              <a:srgbClr val="4764B0"/>
            </a:solidFill>
          </a:ln>
        </p:spPr>
        <p:txBody>
          <a:bodyPr wrap="square" lIns="0" tIns="0" rIns="0" bIns="0" rtlCol="0"/>
          <a:lstStyle/>
          <a:p>
            <a:endParaRPr sz="1225"/>
          </a:p>
        </p:txBody>
      </p:sp>
      <p:sp>
        <p:nvSpPr>
          <p:cNvPr id="18" name="bg object 18"/>
          <p:cNvSpPr/>
          <p:nvPr/>
        </p:nvSpPr>
        <p:spPr>
          <a:xfrm>
            <a:off x="722547" y="5661850"/>
            <a:ext cx="7699098" cy="0"/>
          </a:xfrm>
          <a:custGeom>
            <a:avLst/>
            <a:gdLst/>
            <a:ahLst/>
            <a:cxnLst/>
            <a:rect l="l" t="t" r="r" b="b"/>
            <a:pathLst>
              <a:path w="9003665">
                <a:moveTo>
                  <a:pt x="0" y="0"/>
                </a:moveTo>
                <a:lnTo>
                  <a:pt x="9003452" y="0"/>
                </a:lnTo>
              </a:path>
            </a:pathLst>
          </a:custGeom>
          <a:ln w="3175">
            <a:solidFill>
              <a:srgbClr val="4764B0"/>
            </a:solidFill>
          </a:ln>
        </p:spPr>
        <p:txBody>
          <a:bodyPr wrap="square" lIns="0" tIns="0" rIns="0" bIns="0" rtlCol="0"/>
          <a:lstStyle/>
          <a:p>
            <a:endParaRPr sz="1225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44386" y="1064179"/>
            <a:ext cx="7655244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005466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63705" y="1780595"/>
            <a:ext cx="4080595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44394" y="5760999"/>
            <a:ext cx="1084411" cy="1255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16" b="0" i="0">
                <a:solidFill>
                  <a:srgbClr val="005466"/>
                </a:solidFill>
                <a:latin typeface="Malgun Gothic"/>
                <a:cs typeface="Malgun Gothic"/>
              </a:defRPr>
            </a:lvl1pPr>
          </a:lstStyle>
          <a:p>
            <a:pPr marL="8641">
              <a:spcBef>
                <a:spcPts val="140"/>
              </a:spcBef>
            </a:pPr>
            <a:r>
              <a:rPr lang="ko-KR" altLang="en-US" spc="-9"/>
              <a:t>글로벌경제론</a:t>
            </a:r>
            <a:endParaRPr lang="ko-KR" altLang="en-US" spc="-9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10" y="6377959"/>
            <a:ext cx="2103118" cy="2888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495075" y="5825802"/>
            <a:ext cx="174302" cy="904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81" b="1" i="1">
                <a:solidFill>
                  <a:schemeClr val="hlink"/>
                </a:solidFill>
                <a:latin typeface="Corbel"/>
                <a:cs typeface="Corbel"/>
              </a:defRPr>
            </a:lvl1pPr>
          </a:lstStyle>
          <a:p>
            <a:pPr marL="25924">
              <a:lnSpc>
                <a:spcPts val="712"/>
              </a:lnSpc>
            </a:pPr>
            <a:fld id="{81D60167-4931-47E6-BA6A-407CBD079E47}" type="slidenum">
              <a:rPr lang="en-US" altLang="ko-KR" smtClean="0"/>
              <a:pPr marL="25924">
                <a:lnSpc>
                  <a:spcPts val="712"/>
                </a:lnSpc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11099">
        <a:defRPr>
          <a:latin typeface="+mn-lt"/>
          <a:ea typeface="+mn-ea"/>
          <a:cs typeface="+mn-cs"/>
        </a:defRPr>
      </a:lvl2pPr>
      <a:lvl3pPr marL="622193">
        <a:defRPr>
          <a:latin typeface="+mn-lt"/>
          <a:ea typeface="+mn-ea"/>
          <a:cs typeface="+mn-cs"/>
        </a:defRPr>
      </a:lvl3pPr>
      <a:lvl4pPr marL="933292">
        <a:defRPr>
          <a:latin typeface="+mn-lt"/>
          <a:ea typeface="+mn-ea"/>
          <a:cs typeface="+mn-cs"/>
        </a:defRPr>
      </a:lvl4pPr>
      <a:lvl5pPr marL="1244393">
        <a:defRPr>
          <a:latin typeface="+mn-lt"/>
          <a:ea typeface="+mn-ea"/>
          <a:cs typeface="+mn-cs"/>
        </a:defRPr>
      </a:lvl5pPr>
      <a:lvl6pPr marL="1555490">
        <a:defRPr>
          <a:latin typeface="+mn-lt"/>
          <a:ea typeface="+mn-ea"/>
          <a:cs typeface="+mn-cs"/>
        </a:defRPr>
      </a:lvl6pPr>
      <a:lvl7pPr marL="1866583">
        <a:defRPr>
          <a:latin typeface="+mn-lt"/>
          <a:ea typeface="+mn-ea"/>
          <a:cs typeface="+mn-cs"/>
        </a:defRPr>
      </a:lvl7pPr>
      <a:lvl8pPr marL="2177682">
        <a:defRPr>
          <a:latin typeface="+mn-lt"/>
          <a:ea typeface="+mn-ea"/>
          <a:cs typeface="+mn-cs"/>
        </a:defRPr>
      </a:lvl8pPr>
      <a:lvl9pPr marL="2488778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11099">
        <a:defRPr>
          <a:latin typeface="+mn-lt"/>
          <a:ea typeface="+mn-ea"/>
          <a:cs typeface="+mn-cs"/>
        </a:defRPr>
      </a:lvl2pPr>
      <a:lvl3pPr marL="622193">
        <a:defRPr>
          <a:latin typeface="+mn-lt"/>
          <a:ea typeface="+mn-ea"/>
          <a:cs typeface="+mn-cs"/>
        </a:defRPr>
      </a:lvl3pPr>
      <a:lvl4pPr marL="933292">
        <a:defRPr>
          <a:latin typeface="+mn-lt"/>
          <a:ea typeface="+mn-ea"/>
          <a:cs typeface="+mn-cs"/>
        </a:defRPr>
      </a:lvl4pPr>
      <a:lvl5pPr marL="1244393">
        <a:defRPr>
          <a:latin typeface="+mn-lt"/>
          <a:ea typeface="+mn-ea"/>
          <a:cs typeface="+mn-cs"/>
        </a:defRPr>
      </a:lvl5pPr>
      <a:lvl6pPr marL="1555490">
        <a:defRPr>
          <a:latin typeface="+mn-lt"/>
          <a:ea typeface="+mn-ea"/>
          <a:cs typeface="+mn-cs"/>
        </a:defRPr>
      </a:lvl6pPr>
      <a:lvl7pPr marL="1866583">
        <a:defRPr>
          <a:latin typeface="+mn-lt"/>
          <a:ea typeface="+mn-ea"/>
          <a:cs typeface="+mn-cs"/>
        </a:defRPr>
      </a:lvl7pPr>
      <a:lvl8pPr marL="2177682">
        <a:defRPr>
          <a:latin typeface="+mn-lt"/>
          <a:ea typeface="+mn-ea"/>
          <a:cs typeface="+mn-cs"/>
        </a:defRPr>
      </a:lvl8pPr>
      <a:lvl9pPr marL="2488778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customXml" Target="../ink/ink1.xml"/><Relationship Id="rId4" Type="http://schemas.openxmlformats.org/officeDocument/2006/relationships/image" Target="../media/image3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52190" y="2693795"/>
            <a:ext cx="2926178" cy="437964"/>
          </a:xfrm>
          <a:prstGeom prst="rect">
            <a:avLst/>
          </a:prstGeom>
        </p:spPr>
        <p:txBody>
          <a:bodyPr vert="horz" wrap="square" lIns="0" tIns="8214" rIns="0" bIns="0" rtlCol="0">
            <a:spAutoFit/>
          </a:bodyPr>
          <a:lstStyle/>
          <a:p>
            <a:pPr marL="8641">
              <a:spcBef>
                <a:spcPts val="66"/>
              </a:spcBef>
            </a:pPr>
            <a:r>
              <a:rPr sz="2792" b="1" spc="-9" dirty="0">
                <a:solidFill>
                  <a:srgbClr val="005466"/>
                </a:solidFill>
                <a:latin typeface="Malgun Gothic"/>
                <a:cs typeface="Malgun Gothic"/>
              </a:rPr>
              <a:t>글로벌경제</a:t>
            </a:r>
            <a:r>
              <a:rPr sz="2792" b="1" dirty="0">
                <a:solidFill>
                  <a:srgbClr val="005466"/>
                </a:solidFill>
                <a:latin typeface="Malgun Gothic"/>
                <a:cs typeface="Malgun Gothic"/>
              </a:rPr>
              <a:t>론</a:t>
            </a:r>
            <a:r>
              <a:rPr sz="2792" b="1" spc="-362" dirty="0">
                <a:solidFill>
                  <a:srgbClr val="005466"/>
                </a:solidFill>
                <a:latin typeface="Malgun Gothic"/>
                <a:cs typeface="Malgun Gothic"/>
              </a:rPr>
              <a:t> </a:t>
            </a:r>
            <a:r>
              <a:rPr sz="2792" b="1" spc="-9" dirty="0">
                <a:solidFill>
                  <a:srgbClr val="005466"/>
                </a:solidFill>
                <a:latin typeface="Malgun Gothic"/>
                <a:cs typeface="Malgun Gothic"/>
              </a:rPr>
              <a:t>개관</a:t>
            </a:r>
            <a:endParaRPr sz="2792">
              <a:latin typeface="Malgun Gothic"/>
              <a:cs typeface="Malgun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52194" y="3832061"/>
            <a:ext cx="4821923" cy="208018"/>
          </a:xfrm>
          <a:prstGeom prst="rect">
            <a:avLst/>
          </a:prstGeom>
        </p:spPr>
        <p:txBody>
          <a:bodyPr vert="horz" wrap="square" lIns="0" tIns="8648" rIns="0" bIns="0" rtlCol="0">
            <a:spAutoFit/>
          </a:bodyPr>
          <a:lstStyle/>
          <a:p>
            <a:pPr marL="8641">
              <a:spcBef>
                <a:spcPts val="69"/>
              </a:spcBef>
            </a:pPr>
            <a:r>
              <a:rPr sz="1295" spc="-12" dirty="0">
                <a:latin typeface="Corbel"/>
                <a:cs typeface="Corbel"/>
              </a:rPr>
              <a:t>1</a:t>
            </a:r>
            <a:r>
              <a:rPr sz="1295" dirty="0">
                <a:latin typeface="Malgun Gothic"/>
                <a:cs typeface="Malgun Gothic"/>
              </a:rPr>
              <a:t>차</a:t>
            </a:r>
            <a:r>
              <a:rPr sz="1295" spc="-221" dirty="0">
                <a:latin typeface="Malgun Gothic"/>
                <a:cs typeface="Malgun Gothic"/>
              </a:rPr>
              <a:t> </a:t>
            </a:r>
            <a:r>
              <a:rPr sz="1295" spc="-20" dirty="0">
                <a:latin typeface="Malgun Gothic"/>
                <a:cs typeface="Malgun Gothic"/>
              </a:rPr>
              <a:t>세계화</a:t>
            </a:r>
            <a:r>
              <a:rPr sz="1295" dirty="0">
                <a:latin typeface="Corbel"/>
                <a:cs typeface="Corbel"/>
              </a:rPr>
              <a:t>,</a:t>
            </a:r>
            <a:r>
              <a:rPr sz="1295" spc="-15" dirty="0">
                <a:latin typeface="Corbel"/>
                <a:cs typeface="Corbel"/>
              </a:rPr>
              <a:t> </a:t>
            </a:r>
            <a:r>
              <a:rPr sz="1295" spc="-20" dirty="0">
                <a:latin typeface="Malgun Gothic"/>
                <a:cs typeface="Malgun Gothic"/>
              </a:rPr>
              <a:t>전간기</a:t>
            </a:r>
            <a:r>
              <a:rPr sz="1295" dirty="0">
                <a:latin typeface="Corbel"/>
                <a:cs typeface="Corbel"/>
              </a:rPr>
              <a:t>,</a:t>
            </a:r>
            <a:r>
              <a:rPr sz="1295" spc="-15" dirty="0">
                <a:latin typeface="Corbel"/>
                <a:cs typeface="Corbel"/>
              </a:rPr>
              <a:t> </a:t>
            </a:r>
            <a:r>
              <a:rPr sz="1295" spc="-20" dirty="0">
                <a:latin typeface="Malgun Gothic"/>
                <a:cs typeface="Malgun Gothic"/>
              </a:rPr>
              <a:t>자본주의황금기</a:t>
            </a:r>
            <a:r>
              <a:rPr sz="1295" dirty="0">
                <a:latin typeface="Corbel"/>
                <a:cs typeface="Corbel"/>
              </a:rPr>
              <a:t>,</a:t>
            </a:r>
            <a:r>
              <a:rPr sz="1295" spc="-15" dirty="0">
                <a:latin typeface="Corbel"/>
                <a:cs typeface="Corbel"/>
              </a:rPr>
              <a:t> </a:t>
            </a:r>
            <a:r>
              <a:rPr sz="1295" spc="-12" dirty="0">
                <a:latin typeface="Corbel"/>
                <a:cs typeface="Corbel"/>
              </a:rPr>
              <a:t>2</a:t>
            </a:r>
            <a:r>
              <a:rPr sz="1295" dirty="0">
                <a:latin typeface="Malgun Gothic"/>
                <a:cs typeface="Malgun Gothic"/>
              </a:rPr>
              <a:t>차</a:t>
            </a:r>
            <a:r>
              <a:rPr sz="1295" spc="-221" dirty="0">
                <a:latin typeface="Malgun Gothic"/>
                <a:cs typeface="Malgun Gothic"/>
              </a:rPr>
              <a:t> </a:t>
            </a:r>
            <a:r>
              <a:rPr sz="1295" spc="-20" dirty="0">
                <a:latin typeface="Malgun Gothic"/>
                <a:cs typeface="Malgun Gothic"/>
              </a:rPr>
              <a:t>세계화</a:t>
            </a:r>
            <a:r>
              <a:rPr sz="1295" dirty="0">
                <a:latin typeface="Corbel"/>
                <a:cs typeface="Corbel"/>
              </a:rPr>
              <a:t>,</a:t>
            </a:r>
            <a:r>
              <a:rPr sz="1295" spc="-15" dirty="0">
                <a:latin typeface="Corbel"/>
                <a:cs typeface="Corbel"/>
              </a:rPr>
              <a:t> </a:t>
            </a:r>
            <a:r>
              <a:rPr sz="1295" spc="-20" dirty="0">
                <a:latin typeface="Malgun Gothic"/>
                <a:cs typeface="Malgun Gothic"/>
              </a:rPr>
              <a:t>그리</a:t>
            </a:r>
            <a:r>
              <a:rPr sz="1295" dirty="0">
                <a:latin typeface="Malgun Gothic"/>
                <a:cs typeface="Malgun Gothic"/>
              </a:rPr>
              <a:t>고</a:t>
            </a:r>
            <a:r>
              <a:rPr sz="1295" spc="-221" dirty="0">
                <a:latin typeface="Malgun Gothic"/>
                <a:cs typeface="Malgun Gothic"/>
              </a:rPr>
              <a:t> </a:t>
            </a:r>
            <a:r>
              <a:rPr sz="1295" spc="-12" dirty="0">
                <a:latin typeface="Corbel"/>
                <a:cs typeface="Corbel"/>
              </a:rPr>
              <a:t>2</a:t>
            </a:r>
            <a:r>
              <a:rPr sz="1295" spc="-15" dirty="0">
                <a:latin typeface="Corbel"/>
                <a:cs typeface="Corbel"/>
              </a:rPr>
              <a:t>00</a:t>
            </a:r>
            <a:r>
              <a:rPr sz="1295" spc="-9" dirty="0">
                <a:latin typeface="Corbel"/>
                <a:cs typeface="Corbel"/>
              </a:rPr>
              <a:t>8</a:t>
            </a:r>
            <a:r>
              <a:rPr sz="1295" dirty="0">
                <a:latin typeface="Malgun Gothic"/>
                <a:cs typeface="Malgun Gothic"/>
              </a:rPr>
              <a:t>년</a:t>
            </a:r>
            <a:r>
              <a:rPr sz="1295" spc="-221" dirty="0">
                <a:latin typeface="Malgun Gothic"/>
                <a:cs typeface="Malgun Gothic"/>
              </a:rPr>
              <a:t> </a:t>
            </a:r>
            <a:r>
              <a:rPr sz="1295" spc="-20" dirty="0">
                <a:latin typeface="Malgun Gothic"/>
                <a:cs typeface="Malgun Gothic"/>
              </a:rPr>
              <a:t>이후</a:t>
            </a:r>
            <a:endParaRPr sz="1295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25191" y="5187157"/>
            <a:ext cx="636238" cy="134280"/>
          </a:xfrm>
          <a:prstGeom prst="rect">
            <a:avLst/>
          </a:prstGeom>
        </p:spPr>
        <p:txBody>
          <a:bodyPr vert="horz" wrap="square" lIns="0" tIns="8648" rIns="0" bIns="0" rtlCol="0">
            <a:spAutoFit/>
          </a:bodyPr>
          <a:lstStyle/>
          <a:p>
            <a:pPr marL="8641">
              <a:spcBef>
                <a:spcPts val="69"/>
              </a:spcBef>
            </a:pPr>
            <a:r>
              <a:rPr sz="816" spc="-9" dirty="0">
                <a:solidFill>
                  <a:srgbClr val="005466"/>
                </a:solidFill>
                <a:latin typeface="Malgun Gothic"/>
                <a:cs typeface="Malgun Gothic"/>
              </a:rPr>
              <a:t>글로벌경제론</a:t>
            </a:r>
            <a:endParaRPr sz="816">
              <a:latin typeface="Malgun Gothic"/>
              <a:cs typeface="Malgun Gothic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91109" y="5209542"/>
            <a:ext cx="619537" cy="15663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519050" y="1655370"/>
            <a:ext cx="2632694" cy="2860090"/>
          </a:xfrm>
          <a:prstGeom prst="rect">
            <a:avLst/>
          </a:prstGeom>
        </p:spPr>
        <p:txBody>
          <a:bodyPr vert="horz" wrap="square" lIns="0" tIns="8648" rIns="0" bIns="0" rtlCol="0">
            <a:spAutoFit/>
          </a:bodyPr>
          <a:lstStyle/>
          <a:p>
            <a:pPr marL="14692">
              <a:spcBef>
                <a:spcPts val="69"/>
              </a:spcBef>
            </a:pPr>
            <a:r>
              <a:rPr sz="1360" b="1" spc="31" dirty="0">
                <a:solidFill>
                  <a:srgbClr val="005466"/>
                </a:solidFill>
                <a:latin typeface="Malgun Gothic"/>
                <a:cs typeface="Malgun Gothic"/>
              </a:rPr>
              <a:t>차례</a:t>
            </a:r>
            <a:endParaRPr sz="1360" dirty="0">
              <a:latin typeface="Malgun Gothic"/>
              <a:cs typeface="Malgun Gothic"/>
            </a:endParaRPr>
          </a:p>
          <a:p>
            <a:pPr>
              <a:spcBef>
                <a:spcPts val="44"/>
              </a:spcBef>
            </a:pPr>
            <a:endParaRPr sz="1260" dirty="0">
              <a:latin typeface="Malgun Gothic"/>
              <a:cs typeface="Malgun Gothic"/>
            </a:endParaRPr>
          </a:p>
          <a:p>
            <a:pPr marL="209991" marR="1052542" indent="-209991" algn="r">
              <a:spcBef>
                <a:spcPts val="5"/>
              </a:spcBef>
              <a:buClr>
                <a:srgbClr val="4764B0"/>
              </a:buClr>
              <a:buFont typeface="Wingdings"/>
              <a:buChar char=""/>
              <a:tabLst>
                <a:tab pos="209991" algn="l"/>
              </a:tabLst>
            </a:pPr>
            <a:r>
              <a:rPr sz="1158" dirty="0">
                <a:latin typeface="Malgun Gothic"/>
                <a:cs typeface="Malgun Gothic"/>
              </a:rPr>
              <a:t>근대국민국가의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성립</a:t>
            </a:r>
          </a:p>
          <a:p>
            <a:pPr marL="203509" marR="1061621" lvl="1" indent="-203509" algn="r">
              <a:spcBef>
                <a:spcPts val="933"/>
              </a:spcBef>
              <a:buClr>
                <a:srgbClr val="4764B0"/>
              </a:buClr>
              <a:buFont typeface="Wingdings"/>
              <a:buChar char=""/>
              <a:tabLst>
                <a:tab pos="203509" algn="l"/>
                <a:tab pos="203943" algn="l"/>
              </a:tabLst>
            </a:pPr>
            <a:r>
              <a:rPr sz="1022" spc="20" dirty="0">
                <a:latin typeface="Malgun Gothic"/>
                <a:cs typeface="Malgun Gothic"/>
              </a:rPr>
              <a:t>고전</a:t>
            </a:r>
            <a:r>
              <a:rPr sz="1022" dirty="0">
                <a:latin typeface="Malgun Gothic"/>
                <a:cs typeface="Malgun Gothic"/>
              </a:rPr>
              <a:t>적</a:t>
            </a:r>
            <a:r>
              <a:rPr sz="1022" spc="-127" dirty="0">
                <a:latin typeface="Malgun Gothic"/>
                <a:cs typeface="Malgun Gothic"/>
              </a:rPr>
              <a:t> </a:t>
            </a:r>
            <a:r>
              <a:rPr sz="1022" spc="20" dirty="0">
                <a:latin typeface="Malgun Gothic"/>
                <a:cs typeface="Malgun Gothic"/>
              </a:rPr>
              <a:t>중상주의란</a:t>
            </a:r>
            <a:r>
              <a:rPr sz="1022" dirty="0">
                <a:latin typeface="Corbel"/>
                <a:cs typeface="Corbel"/>
              </a:rPr>
              <a:t>?</a:t>
            </a:r>
          </a:p>
          <a:p>
            <a:pPr marL="421712" lvl="1" indent="-203943">
              <a:spcBef>
                <a:spcPts val="881"/>
              </a:spcBef>
              <a:buClr>
                <a:srgbClr val="4764B0"/>
              </a:buClr>
              <a:buFont typeface="Wingdings"/>
              <a:buChar char=""/>
              <a:tabLst>
                <a:tab pos="421712" algn="l"/>
                <a:tab pos="422141" algn="l"/>
              </a:tabLst>
            </a:pPr>
            <a:r>
              <a:rPr sz="1022" spc="20" dirty="0">
                <a:latin typeface="Malgun Gothic"/>
                <a:cs typeface="Malgun Gothic"/>
              </a:rPr>
              <a:t>고전</a:t>
            </a:r>
            <a:r>
              <a:rPr sz="1022" dirty="0">
                <a:latin typeface="Malgun Gothic"/>
                <a:cs typeface="Malgun Gothic"/>
              </a:rPr>
              <a:t>적</a:t>
            </a:r>
            <a:r>
              <a:rPr sz="1022" spc="-127" dirty="0">
                <a:latin typeface="Malgun Gothic"/>
                <a:cs typeface="Malgun Gothic"/>
              </a:rPr>
              <a:t> </a:t>
            </a:r>
            <a:r>
              <a:rPr sz="1022" spc="20" dirty="0">
                <a:latin typeface="Malgun Gothic"/>
                <a:cs typeface="Malgun Gothic"/>
              </a:rPr>
              <a:t>중상주의에</a:t>
            </a:r>
            <a:r>
              <a:rPr sz="1022" dirty="0">
                <a:latin typeface="Malgun Gothic"/>
                <a:cs typeface="Malgun Gothic"/>
              </a:rPr>
              <a:t>서</a:t>
            </a:r>
            <a:r>
              <a:rPr sz="1022" spc="-127" dirty="0">
                <a:latin typeface="Malgun Gothic"/>
                <a:cs typeface="Malgun Gothic"/>
              </a:rPr>
              <a:t> </a:t>
            </a:r>
            <a:r>
              <a:rPr sz="1022" spc="20" dirty="0">
                <a:latin typeface="Malgun Gothic"/>
                <a:cs typeface="Malgun Gothic"/>
              </a:rPr>
              <a:t>자유무</a:t>
            </a:r>
            <a:r>
              <a:rPr sz="1022" dirty="0">
                <a:latin typeface="Malgun Gothic"/>
                <a:cs typeface="Malgun Gothic"/>
              </a:rPr>
              <a:t>역</a:t>
            </a:r>
            <a:r>
              <a:rPr sz="1022" spc="-127" dirty="0">
                <a:latin typeface="Malgun Gothic"/>
                <a:cs typeface="Malgun Gothic"/>
              </a:rPr>
              <a:t> </a:t>
            </a:r>
            <a:r>
              <a:rPr sz="1022" spc="20" dirty="0">
                <a:latin typeface="Malgun Gothic"/>
                <a:cs typeface="Malgun Gothic"/>
              </a:rPr>
              <a:t>시대로</a:t>
            </a:r>
            <a:endParaRPr sz="1022" dirty="0">
              <a:latin typeface="Malgun Gothic"/>
              <a:cs typeface="Malgun Gothic"/>
            </a:endParaRPr>
          </a:p>
          <a:p>
            <a:pPr marL="421712" lvl="1" indent="-203943">
              <a:spcBef>
                <a:spcPts val="881"/>
              </a:spcBef>
              <a:buClr>
                <a:srgbClr val="4764B0"/>
              </a:buClr>
              <a:buFont typeface="Wingdings"/>
              <a:buChar char=""/>
              <a:tabLst>
                <a:tab pos="421712" algn="l"/>
                <a:tab pos="422141" algn="l"/>
              </a:tabLst>
            </a:pPr>
            <a:r>
              <a:rPr sz="1022" spc="20" dirty="0">
                <a:latin typeface="Malgun Gothic"/>
                <a:cs typeface="Malgun Gothic"/>
              </a:rPr>
              <a:t>거래비용</a:t>
            </a:r>
            <a:r>
              <a:rPr sz="1022" dirty="0">
                <a:latin typeface="Malgun Gothic"/>
                <a:cs typeface="Malgun Gothic"/>
              </a:rPr>
              <a:t>과</a:t>
            </a:r>
            <a:r>
              <a:rPr sz="1022" spc="-127" dirty="0">
                <a:latin typeface="Malgun Gothic"/>
                <a:cs typeface="Malgun Gothic"/>
              </a:rPr>
              <a:t> </a:t>
            </a:r>
            <a:r>
              <a:rPr sz="1022" spc="20" dirty="0">
                <a:latin typeface="Malgun Gothic"/>
                <a:cs typeface="Malgun Gothic"/>
              </a:rPr>
              <a:t>제도</a:t>
            </a:r>
            <a:r>
              <a:rPr sz="1022" dirty="0">
                <a:latin typeface="Corbel"/>
                <a:cs typeface="Corbel"/>
              </a:rPr>
              <a:t>,</a:t>
            </a:r>
            <a:r>
              <a:rPr sz="1022" spc="12" dirty="0">
                <a:latin typeface="Corbel"/>
                <a:cs typeface="Corbel"/>
              </a:rPr>
              <a:t> </a:t>
            </a:r>
            <a:r>
              <a:rPr sz="1022" spc="20" dirty="0">
                <a:latin typeface="Malgun Gothic"/>
                <a:cs typeface="Malgun Gothic"/>
              </a:rPr>
              <a:t>그리</a:t>
            </a:r>
            <a:r>
              <a:rPr sz="1022" dirty="0">
                <a:latin typeface="Malgun Gothic"/>
                <a:cs typeface="Malgun Gothic"/>
              </a:rPr>
              <a:t>고</a:t>
            </a:r>
            <a:r>
              <a:rPr sz="1022" spc="-127" dirty="0">
                <a:latin typeface="Malgun Gothic"/>
                <a:cs typeface="Malgun Gothic"/>
              </a:rPr>
              <a:t> </a:t>
            </a:r>
            <a:r>
              <a:rPr sz="1022" spc="20" dirty="0">
                <a:latin typeface="Malgun Gothic"/>
                <a:cs typeface="Malgun Gothic"/>
              </a:rPr>
              <a:t>세계화</a:t>
            </a:r>
            <a:endParaRPr sz="1022" dirty="0">
              <a:latin typeface="Malgun Gothic"/>
              <a:cs typeface="Malgun Gothic"/>
            </a:endParaRPr>
          </a:p>
          <a:p>
            <a:pPr marL="218201" indent="-209991">
              <a:spcBef>
                <a:spcPts val="962"/>
              </a:spcBef>
              <a:buClr>
                <a:srgbClr val="4764B0"/>
              </a:buClr>
              <a:buFont typeface="Wingdings"/>
              <a:buChar char=""/>
              <a:tabLst>
                <a:tab pos="218633" algn="l"/>
              </a:tabLst>
            </a:pPr>
            <a:r>
              <a:rPr sz="1158" dirty="0">
                <a:latin typeface="Corbel"/>
                <a:cs typeface="Corbel"/>
              </a:rPr>
              <a:t>1</a:t>
            </a:r>
            <a:r>
              <a:rPr sz="1158" dirty="0">
                <a:latin typeface="Malgun Gothic"/>
                <a:cs typeface="Malgun Gothic"/>
              </a:rPr>
              <a:t>차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세계화</a:t>
            </a:r>
          </a:p>
          <a:p>
            <a:pPr marL="421712" lvl="1" indent="-203943">
              <a:spcBef>
                <a:spcPts val="919"/>
              </a:spcBef>
              <a:buClr>
                <a:srgbClr val="4764B0"/>
              </a:buClr>
              <a:buFont typeface="Wingdings"/>
              <a:buChar char=""/>
              <a:tabLst>
                <a:tab pos="421712" algn="l"/>
                <a:tab pos="422141" algn="l"/>
              </a:tabLst>
            </a:pPr>
            <a:r>
              <a:rPr sz="1022" spc="20" dirty="0">
                <a:latin typeface="Malgun Gothic"/>
                <a:cs typeface="Malgun Gothic"/>
              </a:rPr>
              <a:t>제국주의</a:t>
            </a:r>
            <a:endParaRPr sz="1022" dirty="0">
              <a:latin typeface="Malgun Gothic"/>
              <a:cs typeface="Malgun Gothic"/>
            </a:endParaRPr>
          </a:p>
          <a:p>
            <a:pPr marL="421712" lvl="1" indent="-203943">
              <a:spcBef>
                <a:spcPts val="881"/>
              </a:spcBef>
              <a:buClr>
                <a:srgbClr val="4764B0"/>
              </a:buClr>
              <a:buFont typeface="Wingdings"/>
              <a:buChar char=""/>
              <a:tabLst>
                <a:tab pos="421712" algn="l"/>
                <a:tab pos="422141" algn="l"/>
              </a:tabLst>
            </a:pPr>
            <a:r>
              <a:rPr sz="1022" spc="20" dirty="0">
                <a:latin typeface="Malgun Gothic"/>
                <a:cs typeface="Malgun Gothic"/>
              </a:rPr>
              <a:t>금본위제도</a:t>
            </a:r>
            <a:endParaRPr sz="1022" dirty="0">
              <a:latin typeface="Malgun Gothic"/>
              <a:cs typeface="Malgun Gothic"/>
            </a:endParaRPr>
          </a:p>
          <a:p>
            <a:pPr marL="218201" indent="-209991">
              <a:spcBef>
                <a:spcPts val="962"/>
              </a:spcBef>
              <a:buClr>
                <a:srgbClr val="4764B0"/>
              </a:buClr>
              <a:buFont typeface="Wingdings"/>
              <a:buChar char=""/>
              <a:tabLst>
                <a:tab pos="218633" algn="l"/>
              </a:tabLst>
            </a:pPr>
            <a:r>
              <a:rPr sz="1158" dirty="0">
                <a:latin typeface="Corbel"/>
                <a:cs typeface="Corbel"/>
              </a:rPr>
              <a:t>1</a:t>
            </a:r>
            <a:r>
              <a:rPr sz="1158" dirty="0">
                <a:latin typeface="Malgun Gothic"/>
                <a:cs typeface="Malgun Gothic"/>
              </a:rPr>
              <a:t>차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세계화의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결과</a:t>
            </a:r>
          </a:p>
          <a:p>
            <a:pPr marL="218201" indent="-209991">
              <a:spcBef>
                <a:spcPts val="916"/>
              </a:spcBef>
              <a:buClr>
                <a:srgbClr val="4764B0"/>
              </a:buClr>
              <a:buFont typeface="Wingdings"/>
              <a:buChar char=""/>
              <a:tabLst>
                <a:tab pos="218633" algn="l"/>
              </a:tabLst>
            </a:pPr>
            <a:r>
              <a:rPr sz="1158" dirty="0">
                <a:latin typeface="Malgun Gothic"/>
                <a:cs typeface="Malgun Gothic"/>
              </a:rPr>
              <a:t>미국의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부상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Corbel"/>
                <a:cs typeface="Corbel"/>
              </a:rPr>
              <a:t>(</a:t>
            </a:r>
            <a:r>
              <a:rPr sz="1158" spc="5" dirty="0">
                <a:latin typeface="Corbel"/>
                <a:cs typeface="Corbel"/>
              </a:rPr>
              <a:t>2</a:t>
            </a:r>
            <a:r>
              <a:rPr sz="1158" dirty="0">
                <a:latin typeface="Malgun Gothic"/>
                <a:cs typeface="Malgun Gothic"/>
              </a:rPr>
              <a:t>차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산업혁명</a:t>
            </a:r>
            <a:r>
              <a:rPr sz="1158" dirty="0">
                <a:latin typeface="Corbel"/>
                <a:cs typeface="Corbel"/>
              </a:rPr>
              <a:t>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25191" y="5187157"/>
            <a:ext cx="636238" cy="134280"/>
          </a:xfrm>
          <a:prstGeom prst="rect">
            <a:avLst/>
          </a:prstGeom>
        </p:spPr>
        <p:txBody>
          <a:bodyPr vert="horz" wrap="square" lIns="0" tIns="8648" rIns="0" bIns="0" rtlCol="0">
            <a:spAutoFit/>
          </a:bodyPr>
          <a:lstStyle/>
          <a:p>
            <a:pPr marL="8641">
              <a:spcBef>
                <a:spcPts val="69"/>
              </a:spcBef>
            </a:pPr>
            <a:r>
              <a:rPr sz="816" spc="-9" dirty="0">
                <a:solidFill>
                  <a:srgbClr val="005466"/>
                </a:solidFill>
                <a:latin typeface="Malgun Gothic"/>
                <a:cs typeface="Malgun Gothic"/>
              </a:rPr>
              <a:t>글로벌경제론</a:t>
            </a:r>
            <a:endParaRPr sz="816">
              <a:latin typeface="Malgun Gothic"/>
              <a:cs typeface="Malgun Gothic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91109" y="5209542"/>
            <a:ext cx="619537" cy="15663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639361" y="3992881"/>
            <a:ext cx="2736429" cy="364664"/>
          </a:xfrm>
          <a:prstGeom prst="rect">
            <a:avLst/>
          </a:prstGeom>
        </p:spPr>
        <p:txBody>
          <a:bodyPr vert="horz" wrap="square" lIns="0" tIns="8648" rIns="0" bIns="0" rtlCol="0">
            <a:spAutoFit/>
          </a:bodyPr>
          <a:lstStyle/>
          <a:p>
            <a:pPr marL="8641">
              <a:spcBef>
                <a:spcPts val="69"/>
              </a:spcBef>
            </a:pPr>
            <a:r>
              <a:rPr sz="2313" b="1" spc="5" dirty="0">
                <a:solidFill>
                  <a:srgbClr val="005466"/>
                </a:solidFill>
                <a:latin typeface="Malgun Gothic"/>
                <a:cs typeface="Malgun Gothic"/>
              </a:rPr>
              <a:t>근대국민국가</a:t>
            </a:r>
            <a:r>
              <a:rPr sz="2313" b="1" dirty="0">
                <a:solidFill>
                  <a:srgbClr val="005466"/>
                </a:solidFill>
                <a:latin typeface="Malgun Gothic"/>
                <a:cs typeface="Malgun Gothic"/>
              </a:rPr>
              <a:t>의</a:t>
            </a:r>
            <a:r>
              <a:rPr sz="2313" b="1" spc="-284" dirty="0">
                <a:solidFill>
                  <a:srgbClr val="005466"/>
                </a:solidFill>
                <a:latin typeface="Malgun Gothic"/>
                <a:cs typeface="Malgun Gothic"/>
              </a:rPr>
              <a:t> </a:t>
            </a:r>
            <a:r>
              <a:rPr sz="2313" b="1" spc="5" dirty="0">
                <a:solidFill>
                  <a:srgbClr val="005466"/>
                </a:solidFill>
                <a:latin typeface="Malgun Gothic"/>
                <a:cs typeface="Malgun Gothic"/>
              </a:rPr>
              <a:t>성립</a:t>
            </a:r>
            <a:endParaRPr sz="2313">
              <a:latin typeface="Malgun Gothic"/>
              <a:cs typeface="Malgun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54729" y="5173336"/>
            <a:ext cx="57054" cy="113505"/>
          </a:xfrm>
          <a:prstGeom prst="rect">
            <a:avLst/>
          </a:prstGeom>
        </p:spPr>
        <p:txBody>
          <a:bodyPr vert="horz" wrap="square" lIns="0" tIns="8648" rIns="0" bIns="0" rtlCol="0">
            <a:spAutoFit/>
          </a:bodyPr>
          <a:lstStyle/>
          <a:p>
            <a:pPr marL="8641">
              <a:spcBef>
                <a:spcPts val="69"/>
              </a:spcBef>
            </a:pPr>
            <a:r>
              <a:rPr sz="681" b="1" i="1" dirty="0">
                <a:solidFill>
                  <a:srgbClr val="0000FF"/>
                </a:solidFill>
                <a:latin typeface="Corbel"/>
                <a:cs typeface="Corbel"/>
              </a:rPr>
              <a:t>3</a:t>
            </a:r>
            <a:endParaRPr sz="681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5187" y="1655368"/>
            <a:ext cx="1648946" cy="217981"/>
          </a:xfrm>
          <a:prstGeom prst="rect">
            <a:avLst/>
          </a:prstGeom>
        </p:spPr>
        <p:txBody>
          <a:bodyPr vert="horz" wrap="square" lIns="0" tIns="8648" rIns="0" bIns="0" rtlCol="0">
            <a:spAutoFit/>
          </a:bodyPr>
          <a:lstStyle/>
          <a:p>
            <a:pPr marL="8641">
              <a:spcBef>
                <a:spcPts val="69"/>
              </a:spcBef>
            </a:pPr>
            <a:r>
              <a:rPr spc="31" dirty="0"/>
              <a:t>근대국민국가</a:t>
            </a:r>
            <a:r>
              <a:rPr dirty="0"/>
              <a:t>의</a:t>
            </a:r>
            <a:r>
              <a:rPr spc="-130" dirty="0"/>
              <a:t> </a:t>
            </a:r>
            <a:r>
              <a:rPr spc="31" dirty="0"/>
              <a:t>출현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1490968" y="5177995"/>
            <a:ext cx="599496" cy="269021"/>
          </a:xfrm>
          <a:prstGeom prst="rect">
            <a:avLst/>
          </a:prstGeom>
        </p:spPr>
        <p:txBody>
          <a:bodyPr vert="horz" wrap="square" lIns="0" tIns="17721" rIns="0" bIns="0" rtlCol="0">
            <a:spAutoFit/>
          </a:bodyPr>
          <a:lstStyle/>
          <a:p>
            <a:pPr marL="8641">
              <a:spcBef>
                <a:spcPts val="140"/>
              </a:spcBef>
            </a:pPr>
            <a:r>
              <a:rPr spc="-9" dirty="0"/>
              <a:t>글로벌경제론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22727" y="2135600"/>
            <a:ext cx="4341289" cy="600372"/>
          </a:xfrm>
          <a:prstGeom prst="rect">
            <a:avLst/>
          </a:prstGeom>
        </p:spPr>
        <p:txBody>
          <a:bodyPr vert="horz" wrap="square" lIns="0" tIns="39766" rIns="0" bIns="0" rtlCol="0">
            <a:spAutoFit/>
          </a:bodyPr>
          <a:lstStyle/>
          <a:p>
            <a:pPr marL="143020" indent="-134807">
              <a:spcBef>
                <a:spcPts val="314"/>
              </a:spcBef>
              <a:buFont typeface="Corbel"/>
              <a:buAutoNum type="arabicPeriod"/>
              <a:tabLst>
                <a:tab pos="143454" algn="l"/>
              </a:tabLst>
            </a:pPr>
            <a:r>
              <a:rPr sz="1158" dirty="0">
                <a:latin typeface="Malgun Gothic"/>
                <a:cs typeface="Malgun Gothic"/>
              </a:rPr>
              <a:t>근대국민국가의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출현</a:t>
            </a:r>
            <a:endParaRPr sz="1158">
              <a:latin typeface="Malgun Gothic"/>
              <a:cs typeface="Malgun Gothic"/>
            </a:endParaRPr>
          </a:p>
          <a:p>
            <a:pPr marL="421712" lvl="1" indent="-203943">
              <a:spcBef>
                <a:spcPts val="246"/>
              </a:spcBef>
              <a:buClr>
                <a:srgbClr val="4764B0"/>
              </a:buClr>
              <a:buFont typeface="Wingdings"/>
              <a:buChar char=""/>
              <a:tabLst>
                <a:tab pos="421712" algn="l"/>
                <a:tab pos="422141" algn="l"/>
              </a:tabLst>
            </a:pPr>
            <a:r>
              <a:rPr sz="1158" dirty="0">
                <a:latin typeface="Malgun Gothic"/>
                <a:cs typeface="Malgun Gothic"/>
              </a:rPr>
              <a:t>중세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봉건시대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Wingdings"/>
                <a:cs typeface="Wingdings"/>
              </a:rPr>
              <a:t></a:t>
            </a:r>
            <a:r>
              <a:rPr sz="1158" spc="-54" dirty="0">
                <a:latin typeface="Times New Roman"/>
                <a:cs typeface="Times New Roman"/>
              </a:rPr>
              <a:t> </a:t>
            </a:r>
            <a:r>
              <a:rPr sz="1158" dirty="0">
                <a:latin typeface="Malgun Gothic"/>
                <a:cs typeface="Malgun Gothic"/>
              </a:rPr>
              <a:t>르네상스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시대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Wingdings"/>
                <a:cs typeface="Wingdings"/>
              </a:rPr>
              <a:t></a:t>
            </a:r>
            <a:r>
              <a:rPr sz="1158" spc="-54" dirty="0">
                <a:latin typeface="Times New Roman"/>
                <a:cs typeface="Times New Roman"/>
              </a:rPr>
              <a:t> </a:t>
            </a:r>
            <a:r>
              <a:rPr sz="1158" dirty="0">
                <a:latin typeface="Malgun Gothic"/>
                <a:cs typeface="Malgun Gothic"/>
              </a:rPr>
              <a:t>절대왕정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Wingdings"/>
                <a:cs typeface="Wingdings"/>
              </a:rPr>
              <a:t></a:t>
            </a:r>
            <a:r>
              <a:rPr sz="1158" spc="-54" dirty="0">
                <a:latin typeface="Times New Roman"/>
                <a:cs typeface="Times New Roman"/>
              </a:rPr>
              <a:t> </a:t>
            </a:r>
            <a:r>
              <a:rPr sz="1158" dirty="0">
                <a:latin typeface="Malgun Gothic"/>
                <a:cs typeface="Malgun Gothic"/>
              </a:rPr>
              <a:t>근대국민국가</a:t>
            </a:r>
            <a:endParaRPr sz="1158">
              <a:latin typeface="Malgun Gothic"/>
              <a:cs typeface="Malgun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22733" y="3191617"/>
            <a:ext cx="3082641" cy="600372"/>
          </a:xfrm>
          <a:prstGeom prst="rect">
            <a:avLst/>
          </a:prstGeom>
        </p:spPr>
        <p:txBody>
          <a:bodyPr vert="horz" wrap="square" lIns="0" tIns="39766" rIns="0" bIns="0" rtlCol="0">
            <a:spAutoFit/>
          </a:bodyPr>
          <a:lstStyle/>
          <a:p>
            <a:pPr marL="152094" indent="-143882">
              <a:spcBef>
                <a:spcPts val="314"/>
              </a:spcBef>
              <a:buFont typeface="Corbel"/>
              <a:buAutoNum type="arabicPeriod" startAt="2"/>
              <a:tabLst>
                <a:tab pos="152527" algn="l"/>
              </a:tabLst>
            </a:pPr>
            <a:r>
              <a:rPr sz="1158" dirty="0">
                <a:latin typeface="Malgun Gothic"/>
                <a:cs typeface="Malgun Gothic"/>
              </a:rPr>
              <a:t>중상주의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Corbel"/>
                <a:cs typeface="Corbel"/>
              </a:rPr>
              <a:t>(1</a:t>
            </a:r>
            <a:r>
              <a:rPr sz="1158" spc="-5" dirty="0">
                <a:latin typeface="Corbel"/>
                <a:cs typeface="Corbel"/>
              </a:rPr>
              <a:t>7</a:t>
            </a:r>
            <a:r>
              <a:rPr sz="1158" dirty="0">
                <a:latin typeface="Malgun Gothic"/>
                <a:cs typeface="Malgun Gothic"/>
              </a:rPr>
              <a:t>세기</a:t>
            </a:r>
            <a:r>
              <a:rPr sz="1158" dirty="0">
                <a:latin typeface="Corbel"/>
                <a:cs typeface="Corbel"/>
              </a:rPr>
              <a:t>)</a:t>
            </a:r>
          </a:p>
          <a:p>
            <a:pPr marL="421712" lvl="1" indent="-203943">
              <a:spcBef>
                <a:spcPts val="246"/>
              </a:spcBef>
              <a:buClr>
                <a:srgbClr val="4764B0"/>
              </a:buClr>
              <a:buFont typeface="Wingdings"/>
              <a:buChar char=""/>
              <a:tabLst>
                <a:tab pos="421712" algn="l"/>
                <a:tab pos="422141" algn="l"/>
              </a:tabLst>
            </a:pPr>
            <a:r>
              <a:rPr sz="1158" dirty="0">
                <a:latin typeface="Malgun Gothic"/>
                <a:cs typeface="Malgun Gothic"/>
              </a:rPr>
              <a:t>국왕과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국가의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경제적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이익이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밀접한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관계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5187" y="1655368"/>
            <a:ext cx="1866356" cy="217981"/>
          </a:xfrm>
          <a:prstGeom prst="rect">
            <a:avLst/>
          </a:prstGeom>
        </p:spPr>
        <p:txBody>
          <a:bodyPr vert="horz" wrap="square" lIns="0" tIns="8648" rIns="0" bIns="0" rtlCol="0">
            <a:spAutoFit/>
          </a:bodyPr>
          <a:lstStyle/>
          <a:p>
            <a:pPr marL="8641">
              <a:spcBef>
                <a:spcPts val="69"/>
              </a:spcBef>
            </a:pPr>
            <a:r>
              <a:rPr spc="31" dirty="0"/>
              <a:t>고전</a:t>
            </a:r>
            <a:r>
              <a:rPr dirty="0"/>
              <a:t>적</a:t>
            </a:r>
            <a:r>
              <a:rPr spc="-130" dirty="0"/>
              <a:t> </a:t>
            </a:r>
            <a:r>
              <a:rPr spc="31" dirty="0"/>
              <a:t>중상주의</a:t>
            </a:r>
            <a:r>
              <a:rPr dirty="0"/>
              <a:t>의</a:t>
            </a:r>
            <a:r>
              <a:rPr spc="-130" dirty="0"/>
              <a:t> </a:t>
            </a:r>
            <a:r>
              <a:rPr spc="31" dirty="0"/>
              <a:t>이해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1490968" y="5177995"/>
            <a:ext cx="599496" cy="269021"/>
          </a:xfrm>
          <a:prstGeom prst="rect">
            <a:avLst/>
          </a:prstGeom>
        </p:spPr>
        <p:txBody>
          <a:bodyPr vert="horz" wrap="square" lIns="0" tIns="17721" rIns="0" bIns="0" rtlCol="0">
            <a:spAutoFit/>
          </a:bodyPr>
          <a:lstStyle/>
          <a:p>
            <a:pPr marL="8641">
              <a:spcBef>
                <a:spcPts val="140"/>
              </a:spcBef>
            </a:pPr>
            <a:r>
              <a:rPr spc="-9" dirty="0"/>
              <a:t>글로벌경제론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66922" y="2083735"/>
            <a:ext cx="3672200" cy="2742336"/>
          </a:xfrm>
          <a:prstGeom prst="rect">
            <a:avLst/>
          </a:prstGeom>
        </p:spPr>
        <p:txBody>
          <a:bodyPr vert="horz" wrap="square" lIns="0" tIns="83421" rIns="0" bIns="0" rtlCol="0">
            <a:spAutoFit/>
          </a:bodyPr>
          <a:lstStyle/>
          <a:p>
            <a:pPr marL="143882" indent="-135677">
              <a:spcBef>
                <a:spcPts val="659"/>
              </a:spcBef>
              <a:buFont typeface="Corbel"/>
              <a:buAutoNum type="arabicPeriod" startAt="3"/>
              <a:tabLst>
                <a:tab pos="144318" algn="l"/>
              </a:tabLst>
            </a:pPr>
            <a:r>
              <a:rPr sz="1158" dirty="0">
                <a:latin typeface="Malgun Gothic"/>
                <a:cs typeface="Malgun Gothic"/>
              </a:rPr>
              <a:t>자본주의에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관한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중상주의자의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담론</a:t>
            </a:r>
            <a:endParaRPr sz="1158">
              <a:latin typeface="Malgun Gothic"/>
              <a:cs typeface="Malgun Gothic"/>
            </a:endParaRPr>
          </a:p>
          <a:p>
            <a:pPr marL="421712" lvl="1" indent="-203943">
              <a:spcBef>
                <a:spcPts val="586"/>
              </a:spcBef>
              <a:buClr>
                <a:srgbClr val="4764B0"/>
              </a:buClr>
              <a:buFont typeface="Wingdings"/>
              <a:buChar char=""/>
              <a:tabLst>
                <a:tab pos="421712" algn="l"/>
                <a:tab pos="422141" algn="l"/>
              </a:tabLst>
            </a:pPr>
            <a:r>
              <a:rPr sz="1158" dirty="0">
                <a:latin typeface="Malgun Gothic"/>
                <a:cs typeface="Malgun Gothic"/>
              </a:rPr>
              <a:t>국가와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기업의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동맹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관계</a:t>
            </a:r>
            <a:endParaRPr sz="1158">
              <a:latin typeface="Malgun Gothic"/>
              <a:cs typeface="Malgun Gothic"/>
            </a:endParaRPr>
          </a:p>
          <a:p>
            <a:pPr marL="421712" lvl="1" indent="-203943">
              <a:spcBef>
                <a:spcPts val="524"/>
              </a:spcBef>
              <a:buClr>
                <a:srgbClr val="4764B0"/>
              </a:buClr>
              <a:buFont typeface="Wingdings"/>
              <a:buChar char=""/>
              <a:tabLst>
                <a:tab pos="421712" algn="l"/>
                <a:tab pos="422141" algn="l"/>
              </a:tabLst>
            </a:pPr>
            <a:r>
              <a:rPr sz="1158" dirty="0">
                <a:latin typeface="Malgun Gothic"/>
                <a:cs typeface="Malgun Gothic"/>
              </a:rPr>
              <a:t>중상주의자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Corbel"/>
                <a:cs typeface="Corbel"/>
              </a:rPr>
              <a:t>v</a:t>
            </a:r>
            <a:r>
              <a:rPr sz="1158" spc="5" dirty="0">
                <a:latin typeface="Corbel"/>
                <a:cs typeface="Corbel"/>
              </a:rPr>
              <a:t>s</a:t>
            </a:r>
            <a:r>
              <a:rPr sz="1158" dirty="0">
                <a:latin typeface="Corbel"/>
                <a:cs typeface="Corbel"/>
              </a:rPr>
              <a:t>.</a:t>
            </a:r>
            <a:r>
              <a:rPr sz="1158" spc="-5" dirty="0">
                <a:latin typeface="Corbel"/>
                <a:cs typeface="Corbel"/>
              </a:rPr>
              <a:t> </a:t>
            </a:r>
            <a:r>
              <a:rPr sz="1158" dirty="0">
                <a:latin typeface="Malgun Gothic"/>
                <a:cs typeface="Malgun Gothic"/>
              </a:rPr>
              <a:t>아담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스미스</a:t>
            </a:r>
            <a:endParaRPr sz="1158">
              <a:latin typeface="Malgun Gothic"/>
              <a:cs typeface="Malgun Gothic"/>
            </a:endParaRPr>
          </a:p>
          <a:p>
            <a:pPr marL="421712" lvl="1" indent="-203943">
              <a:spcBef>
                <a:spcPts val="590"/>
              </a:spcBef>
              <a:buClr>
                <a:srgbClr val="4764B0"/>
              </a:buClr>
              <a:buFont typeface="Wingdings"/>
              <a:buChar char=""/>
              <a:tabLst>
                <a:tab pos="421712" algn="l"/>
                <a:tab pos="422141" algn="l"/>
              </a:tabLst>
            </a:pPr>
            <a:r>
              <a:rPr sz="1158" dirty="0">
                <a:latin typeface="Malgun Gothic"/>
                <a:cs typeface="Malgun Gothic"/>
              </a:rPr>
              <a:t>시장이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제대로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기능하려면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비시장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제도가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필요하다</a:t>
            </a:r>
            <a:endParaRPr sz="1158">
              <a:latin typeface="Malgun Gothic"/>
              <a:cs typeface="Malgun Gothic"/>
            </a:endParaRPr>
          </a:p>
          <a:p>
            <a:pPr lvl="1">
              <a:spcBef>
                <a:spcPts val="15"/>
              </a:spcBef>
              <a:buClr>
                <a:srgbClr val="4764B0"/>
              </a:buClr>
              <a:buFont typeface="Wingdings"/>
              <a:buChar char=""/>
            </a:pPr>
            <a:endParaRPr sz="1360">
              <a:latin typeface="Malgun Gothic"/>
              <a:cs typeface="Malgun Gothic"/>
            </a:endParaRPr>
          </a:p>
          <a:p>
            <a:pPr marL="152954" indent="-144750">
              <a:buFont typeface="Corbel"/>
              <a:buAutoNum type="arabicPeriod" startAt="3"/>
              <a:tabLst>
                <a:tab pos="153392" algn="l"/>
              </a:tabLst>
            </a:pPr>
            <a:r>
              <a:rPr sz="1158" dirty="0">
                <a:latin typeface="Malgun Gothic"/>
                <a:cs typeface="Malgun Gothic"/>
              </a:rPr>
              <a:t>무역에서의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거래비용</a:t>
            </a:r>
            <a:endParaRPr sz="1158">
              <a:latin typeface="Malgun Gothic"/>
              <a:cs typeface="Malgun Gothic"/>
            </a:endParaRPr>
          </a:p>
          <a:p>
            <a:pPr marL="421712" lvl="1" indent="-203943">
              <a:spcBef>
                <a:spcPts val="524"/>
              </a:spcBef>
              <a:buClr>
                <a:srgbClr val="4764B0"/>
              </a:buClr>
              <a:buFont typeface="Wingdings"/>
              <a:buChar char=""/>
              <a:tabLst>
                <a:tab pos="421712" algn="l"/>
                <a:tab pos="422141" algn="l"/>
              </a:tabLst>
            </a:pPr>
            <a:r>
              <a:rPr sz="1158" dirty="0">
                <a:latin typeface="Malgun Gothic"/>
                <a:cs typeface="Malgun Gothic"/>
              </a:rPr>
              <a:t>국가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내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거래비용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절감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제도</a:t>
            </a:r>
            <a:endParaRPr sz="1158">
              <a:latin typeface="Malgun Gothic"/>
              <a:cs typeface="Malgun Gothic"/>
            </a:endParaRPr>
          </a:p>
          <a:p>
            <a:pPr marL="803669" lvl="2" indent="-265728">
              <a:spcBef>
                <a:spcPts val="509"/>
              </a:spcBef>
              <a:buClr>
                <a:srgbClr val="4764B0"/>
              </a:buClr>
              <a:buFont typeface="Corbel"/>
              <a:buAutoNum type="arabicParenR"/>
              <a:tabLst>
                <a:tab pos="803669" algn="l"/>
                <a:tab pos="804101" algn="l"/>
              </a:tabLst>
            </a:pPr>
            <a:r>
              <a:rPr sz="1022" spc="20" dirty="0">
                <a:latin typeface="Malgun Gothic"/>
                <a:cs typeface="Malgun Gothic"/>
              </a:rPr>
              <a:t>호혜</a:t>
            </a:r>
            <a:r>
              <a:rPr sz="1022" dirty="0">
                <a:latin typeface="Malgun Gothic"/>
                <a:cs typeface="Malgun Gothic"/>
              </a:rPr>
              <a:t>와</a:t>
            </a:r>
            <a:r>
              <a:rPr sz="1022" spc="-127" dirty="0">
                <a:latin typeface="Malgun Gothic"/>
                <a:cs typeface="Malgun Gothic"/>
              </a:rPr>
              <a:t> </a:t>
            </a:r>
            <a:r>
              <a:rPr sz="1022" spc="20" dirty="0">
                <a:latin typeface="Malgun Gothic"/>
                <a:cs typeface="Malgun Gothic"/>
              </a:rPr>
              <a:t>신뢰</a:t>
            </a:r>
            <a:r>
              <a:rPr sz="1022" dirty="0">
                <a:latin typeface="Malgun Gothic"/>
                <a:cs typeface="Malgun Gothic"/>
              </a:rPr>
              <a:t>에</a:t>
            </a:r>
            <a:r>
              <a:rPr sz="1022" spc="-127" dirty="0">
                <a:latin typeface="Malgun Gothic"/>
                <a:cs typeface="Malgun Gothic"/>
              </a:rPr>
              <a:t> </a:t>
            </a:r>
            <a:r>
              <a:rPr sz="1022" spc="20" dirty="0">
                <a:latin typeface="Malgun Gothic"/>
                <a:cs typeface="Malgun Gothic"/>
              </a:rPr>
              <a:t>기반</a:t>
            </a:r>
            <a:r>
              <a:rPr sz="1022" dirty="0">
                <a:latin typeface="Malgun Gothic"/>
                <a:cs typeface="Malgun Gothic"/>
              </a:rPr>
              <a:t>을</a:t>
            </a:r>
            <a:r>
              <a:rPr sz="1022" spc="-127" dirty="0">
                <a:latin typeface="Malgun Gothic"/>
                <a:cs typeface="Malgun Gothic"/>
              </a:rPr>
              <a:t> </a:t>
            </a:r>
            <a:r>
              <a:rPr sz="1022" dirty="0">
                <a:latin typeface="Malgun Gothic"/>
                <a:cs typeface="Malgun Gothic"/>
              </a:rPr>
              <a:t>둔</a:t>
            </a:r>
            <a:r>
              <a:rPr sz="1022" spc="-127" dirty="0">
                <a:latin typeface="Malgun Gothic"/>
                <a:cs typeface="Malgun Gothic"/>
              </a:rPr>
              <a:t> </a:t>
            </a:r>
            <a:r>
              <a:rPr sz="1022" spc="20" dirty="0">
                <a:latin typeface="Malgun Gothic"/>
                <a:cs typeface="Malgun Gothic"/>
              </a:rPr>
              <a:t>오</a:t>
            </a:r>
            <a:r>
              <a:rPr sz="1022" dirty="0">
                <a:latin typeface="Malgun Gothic"/>
                <a:cs typeface="Malgun Gothic"/>
              </a:rPr>
              <a:t>랜</a:t>
            </a:r>
            <a:r>
              <a:rPr sz="1022" spc="-127" dirty="0">
                <a:latin typeface="Malgun Gothic"/>
                <a:cs typeface="Malgun Gothic"/>
              </a:rPr>
              <a:t> </a:t>
            </a:r>
            <a:r>
              <a:rPr sz="1022" spc="20" dirty="0">
                <a:latin typeface="Malgun Gothic"/>
                <a:cs typeface="Malgun Gothic"/>
              </a:rPr>
              <a:t>관계</a:t>
            </a:r>
            <a:endParaRPr sz="1022">
              <a:latin typeface="Malgun Gothic"/>
              <a:cs typeface="Malgun Gothic"/>
            </a:endParaRPr>
          </a:p>
          <a:p>
            <a:pPr marL="803669" lvl="2" indent="-265728">
              <a:spcBef>
                <a:spcPts val="539"/>
              </a:spcBef>
              <a:buClr>
                <a:srgbClr val="4764B0"/>
              </a:buClr>
              <a:buFont typeface="Corbel"/>
              <a:buAutoNum type="arabicParenR"/>
              <a:tabLst>
                <a:tab pos="803669" algn="l"/>
                <a:tab pos="804101" algn="l"/>
              </a:tabLst>
            </a:pPr>
            <a:r>
              <a:rPr sz="1022" spc="20" dirty="0">
                <a:latin typeface="Malgun Gothic"/>
                <a:cs typeface="Malgun Gothic"/>
              </a:rPr>
              <a:t>신</a:t>
            </a:r>
            <a:r>
              <a:rPr sz="1022" dirty="0">
                <a:latin typeface="Malgun Gothic"/>
                <a:cs typeface="Malgun Gothic"/>
              </a:rPr>
              <a:t>념</a:t>
            </a:r>
            <a:r>
              <a:rPr sz="1022" spc="-127" dirty="0">
                <a:latin typeface="Malgun Gothic"/>
                <a:cs typeface="Malgun Gothic"/>
              </a:rPr>
              <a:t> </a:t>
            </a:r>
            <a:r>
              <a:rPr sz="1022" spc="20" dirty="0">
                <a:latin typeface="Malgun Gothic"/>
                <a:cs typeface="Malgun Gothic"/>
              </a:rPr>
              <a:t>체계</a:t>
            </a:r>
            <a:endParaRPr sz="1022">
              <a:latin typeface="Malgun Gothic"/>
              <a:cs typeface="Malgun Gothic"/>
            </a:endParaRPr>
          </a:p>
          <a:p>
            <a:pPr marL="803669" lvl="2" indent="-265728">
              <a:spcBef>
                <a:spcPts val="560"/>
              </a:spcBef>
              <a:buClr>
                <a:srgbClr val="4764B0"/>
              </a:buClr>
              <a:buFont typeface="Corbel"/>
              <a:buAutoNum type="arabicParenR"/>
              <a:tabLst>
                <a:tab pos="803669" algn="l"/>
                <a:tab pos="804101" algn="l"/>
              </a:tabLst>
            </a:pPr>
            <a:r>
              <a:rPr sz="1022" dirty="0">
                <a:latin typeface="Malgun Gothic"/>
                <a:cs typeface="Malgun Gothic"/>
              </a:rPr>
              <a:t>제</a:t>
            </a:r>
            <a:r>
              <a:rPr sz="1022" spc="-127" dirty="0">
                <a:latin typeface="Malgun Gothic"/>
                <a:cs typeface="Malgun Gothic"/>
              </a:rPr>
              <a:t> </a:t>
            </a:r>
            <a:r>
              <a:rPr sz="1022" spc="9" dirty="0">
                <a:latin typeface="Corbel"/>
                <a:cs typeface="Corbel"/>
              </a:rPr>
              <a:t>3</a:t>
            </a:r>
            <a:r>
              <a:rPr sz="1022" spc="20" dirty="0">
                <a:latin typeface="Malgun Gothic"/>
                <a:cs typeface="Malgun Gothic"/>
              </a:rPr>
              <a:t>자</a:t>
            </a:r>
            <a:r>
              <a:rPr sz="1022" dirty="0">
                <a:latin typeface="Malgun Gothic"/>
                <a:cs typeface="Malgun Gothic"/>
              </a:rPr>
              <a:t>의</a:t>
            </a:r>
            <a:r>
              <a:rPr sz="1022" spc="-127" dirty="0">
                <a:latin typeface="Malgun Gothic"/>
                <a:cs typeface="Malgun Gothic"/>
              </a:rPr>
              <a:t> </a:t>
            </a:r>
            <a:r>
              <a:rPr sz="1022" spc="20" dirty="0">
                <a:latin typeface="Malgun Gothic"/>
                <a:cs typeface="Malgun Gothic"/>
              </a:rPr>
              <a:t>강제</a:t>
            </a:r>
            <a:endParaRPr sz="1022">
              <a:latin typeface="Malgun Gothic"/>
              <a:cs typeface="Malgun Gothic"/>
            </a:endParaRPr>
          </a:p>
          <a:p>
            <a:pPr marL="421712" lvl="1" indent="-203943">
              <a:spcBef>
                <a:spcPts val="467"/>
              </a:spcBef>
              <a:buClr>
                <a:srgbClr val="4764B0"/>
              </a:buClr>
              <a:buFont typeface="Wingdings"/>
              <a:buChar char=""/>
              <a:tabLst>
                <a:tab pos="421712" algn="l"/>
                <a:tab pos="422141" algn="l"/>
              </a:tabLst>
            </a:pPr>
            <a:r>
              <a:rPr sz="1158" dirty="0">
                <a:latin typeface="Malgun Gothic"/>
                <a:cs typeface="Malgun Gothic"/>
              </a:rPr>
              <a:t>국가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간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무역에서의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거래비용은</a:t>
            </a:r>
            <a:r>
              <a:rPr sz="1158" dirty="0">
                <a:latin typeface="Corbel"/>
                <a:cs typeface="Corbel"/>
              </a:rPr>
              <a:t>?</a:t>
            </a:r>
            <a:endParaRPr sz="1158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42424" y="1436438"/>
            <a:ext cx="3683730" cy="397648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525191" y="5187157"/>
            <a:ext cx="636238" cy="134280"/>
          </a:xfrm>
          <a:prstGeom prst="rect">
            <a:avLst/>
          </a:prstGeom>
        </p:spPr>
        <p:txBody>
          <a:bodyPr vert="horz" wrap="square" lIns="0" tIns="8648" rIns="0" bIns="0" rtlCol="0">
            <a:spAutoFit/>
          </a:bodyPr>
          <a:lstStyle/>
          <a:p>
            <a:pPr marL="8641">
              <a:spcBef>
                <a:spcPts val="69"/>
              </a:spcBef>
            </a:pPr>
            <a:r>
              <a:rPr sz="816" spc="-9" dirty="0">
                <a:solidFill>
                  <a:srgbClr val="005466"/>
                </a:solidFill>
                <a:latin typeface="Malgun Gothic"/>
                <a:cs typeface="Malgun Gothic"/>
              </a:rPr>
              <a:t>글로벌경제론</a:t>
            </a:r>
            <a:endParaRPr sz="816">
              <a:latin typeface="Malgun Gothic"/>
              <a:cs typeface="Malgun Gothic"/>
            </a:endParaRPr>
          </a:p>
        </p:txBody>
      </p:sp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291109" y="5209542"/>
            <a:ext cx="619537" cy="15663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547391" y="5204447"/>
            <a:ext cx="64403" cy="113505"/>
          </a:xfrm>
          <a:prstGeom prst="rect">
            <a:avLst/>
          </a:prstGeom>
        </p:spPr>
        <p:txBody>
          <a:bodyPr vert="horz" wrap="square" lIns="0" tIns="8648" rIns="0" bIns="0" rtlCol="0">
            <a:spAutoFit/>
          </a:bodyPr>
          <a:lstStyle/>
          <a:p>
            <a:pPr marL="8641">
              <a:spcBef>
                <a:spcPts val="69"/>
              </a:spcBef>
            </a:pPr>
            <a:r>
              <a:rPr sz="681" b="1" i="1" dirty="0">
                <a:solidFill>
                  <a:srgbClr val="0000FF"/>
                </a:solidFill>
                <a:latin typeface="Corbel"/>
                <a:cs typeface="Corbel"/>
              </a:rPr>
              <a:t>6</a:t>
            </a:r>
            <a:endParaRPr sz="681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07802" y="1957807"/>
            <a:ext cx="6154479" cy="66563"/>
            <a:chOff x="844973" y="1616849"/>
            <a:chExt cx="9041765" cy="97790"/>
          </a:xfrm>
        </p:grpSpPr>
        <p:sp>
          <p:nvSpPr>
            <p:cNvPr id="3" name="object 3"/>
            <p:cNvSpPr/>
            <p:nvPr/>
          </p:nvSpPr>
          <p:spPr>
            <a:xfrm>
              <a:off x="844973" y="1620905"/>
              <a:ext cx="5289550" cy="93345"/>
            </a:xfrm>
            <a:custGeom>
              <a:avLst/>
              <a:gdLst/>
              <a:ahLst/>
              <a:cxnLst/>
              <a:rect l="l" t="t" r="r" b="b"/>
              <a:pathLst>
                <a:path w="5289550" h="93344">
                  <a:moveTo>
                    <a:pt x="5289177" y="0"/>
                  </a:moveTo>
                  <a:lnTo>
                    <a:pt x="0" y="0"/>
                  </a:lnTo>
                  <a:lnTo>
                    <a:pt x="0" y="93310"/>
                  </a:lnTo>
                  <a:lnTo>
                    <a:pt x="5289177" y="93310"/>
                  </a:lnTo>
                  <a:lnTo>
                    <a:pt x="5289177" y="0"/>
                  </a:lnTo>
                  <a:close/>
                </a:path>
              </a:pathLst>
            </a:custGeom>
            <a:solidFill>
              <a:srgbClr val="4764B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4" name="object 4"/>
            <p:cNvSpPr/>
            <p:nvPr/>
          </p:nvSpPr>
          <p:spPr>
            <a:xfrm>
              <a:off x="844973" y="1620906"/>
              <a:ext cx="9041765" cy="0"/>
            </a:xfrm>
            <a:custGeom>
              <a:avLst/>
              <a:gdLst/>
              <a:ahLst/>
              <a:cxnLst/>
              <a:rect l="l" t="t" r="r" b="b"/>
              <a:pathLst>
                <a:path w="9041765">
                  <a:moveTo>
                    <a:pt x="0" y="0"/>
                  </a:moveTo>
                  <a:lnTo>
                    <a:pt x="9041328" y="0"/>
                  </a:lnTo>
                </a:path>
              </a:pathLst>
            </a:custGeom>
            <a:ln w="8113">
              <a:solidFill>
                <a:srgbClr val="4764B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sp>
        <p:nvSpPr>
          <p:cNvPr id="5" name="object 5"/>
          <p:cNvSpPr/>
          <p:nvPr/>
        </p:nvSpPr>
        <p:spPr>
          <a:xfrm>
            <a:off x="1507810" y="5103640"/>
            <a:ext cx="6128545" cy="0"/>
          </a:xfrm>
          <a:custGeom>
            <a:avLst/>
            <a:gdLst/>
            <a:ahLst/>
            <a:cxnLst/>
            <a:rect l="l" t="t" r="r" b="b"/>
            <a:pathLst>
              <a:path w="9003665">
                <a:moveTo>
                  <a:pt x="0" y="0"/>
                </a:moveTo>
                <a:lnTo>
                  <a:pt x="9003452" y="0"/>
                </a:lnTo>
              </a:path>
            </a:pathLst>
          </a:custGeom>
          <a:ln w="3175">
            <a:solidFill>
              <a:srgbClr val="4764B0"/>
            </a:solidFill>
          </a:ln>
        </p:spPr>
        <p:txBody>
          <a:bodyPr wrap="square" lIns="0" tIns="0" rIns="0" bIns="0" rtlCol="0"/>
          <a:lstStyle/>
          <a:p>
            <a:endParaRPr sz="1225"/>
          </a:p>
        </p:txBody>
      </p:sp>
      <p:sp>
        <p:nvSpPr>
          <p:cNvPr id="6" name="object 6"/>
          <p:cNvSpPr txBox="1"/>
          <p:nvPr/>
        </p:nvSpPr>
        <p:spPr>
          <a:xfrm>
            <a:off x="1525191" y="5187157"/>
            <a:ext cx="636238" cy="134280"/>
          </a:xfrm>
          <a:prstGeom prst="rect">
            <a:avLst/>
          </a:prstGeom>
        </p:spPr>
        <p:txBody>
          <a:bodyPr vert="horz" wrap="square" lIns="0" tIns="8648" rIns="0" bIns="0" rtlCol="0">
            <a:spAutoFit/>
          </a:bodyPr>
          <a:lstStyle/>
          <a:p>
            <a:pPr marL="8641">
              <a:spcBef>
                <a:spcPts val="69"/>
              </a:spcBef>
            </a:pPr>
            <a:r>
              <a:rPr sz="816" spc="-9" dirty="0">
                <a:solidFill>
                  <a:srgbClr val="005466"/>
                </a:solidFill>
                <a:latin typeface="Malgun Gothic"/>
                <a:cs typeface="Malgun Gothic"/>
              </a:rPr>
              <a:t>글로벌경제론</a:t>
            </a:r>
            <a:endParaRPr sz="816">
              <a:latin typeface="Malgun Gothic"/>
              <a:cs typeface="Malgun Gothic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91109" y="5209542"/>
            <a:ext cx="619537" cy="156637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525191" y="1655368"/>
            <a:ext cx="2790888" cy="217981"/>
          </a:xfrm>
          <a:prstGeom prst="rect">
            <a:avLst/>
          </a:prstGeom>
        </p:spPr>
        <p:txBody>
          <a:bodyPr vert="horz" wrap="square" lIns="0" tIns="8648" rIns="0" bIns="0" rtlCol="0">
            <a:spAutoFit/>
          </a:bodyPr>
          <a:lstStyle/>
          <a:p>
            <a:pPr marL="8641">
              <a:spcBef>
                <a:spcPts val="69"/>
              </a:spcBef>
            </a:pPr>
            <a:r>
              <a:rPr spc="31" dirty="0"/>
              <a:t>중상주</a:t>
            </a:r>
            <a:r>
              <a:rPr dirty="0"/>
              <a:t>의</a:t>
            </a:r>
            <a:r>
              <a:rPr spc="-130" dirty="0"/>
              <a:t> </a:t>
            </a:r>
            <a:r>
              <a:rPr spc="31" dirty="0"/>
              <a:t>시대에</a:t>
            </a:r>
            <a:r>
              <a:rPr dirty="0"/>
              <a:t>서</a:t>
            </a:r>
            <a:r>
              <a:rPr spc="-130" dirty="0"/>
              <a:t> </a:t>
            </a:r>
            <a:r>
              <a:rPr spc="31" dirty="0"/>
              <a:t>자유무</a:t>
            </a:r>
            <a:r>
              <a:rPr dirty="0"/>
              <a:t>역</a:t>
            </a:r>
            <a:r>
              <a:rPr spc="-130" dirty="0"/>
              <a:t> </a:t>
            </a:r>
            <a:r>
              <a:rPr spc="31" dirty="0"/>
              <a:t>시대로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519047" y="2098305"/>
            <a:ext cx="1498099" cy="186923"/>
          </a:xfrm>
          <a:prstGeom prst="rect">
            <a:avLst/>
          </a:prstGeom>
        </p:spPr>
        <p:txBody>
          <a:bodyPr vert="horz" wrap="square" lIns="0" tIns="8648" rIns="0" bIns="0" rtlCol="0">
            <a:spAutoFit/>
          </a:bodyPr>
          <a:lstStyle/>
          <a:p>
            <a:pPr marL="8641">
              <a:spcBef>
                <a:spcPts val="69"/>
              </a:spcBef>
            </a:pPr>
            <a:r>
              <a:rPr sz="1158" dirty="0">
                <a:latin typeface="Malgun Gothic"/>
                <a:cs typeface="Malgun Gothic"/>
              </a:rPr>
              <a:t>영국의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제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Corbel"/>
                <a:cs typeface="Corbel"/>
              </a:rPr>
              <a:t>1</a:t>
            </a:r>
            <a:r>
              <a:rPr sz="1158" dirty="0">
                <a:latin typeface="Malgun Gothic"/>
                <a:cs typeface="Malgun Gothic"/>
              </a:rPr>
              <a:t>차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산업혁명</a:t>
            </a:r>
            <a:endParaRPr sz="1158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25191" y="5187157"/>
            <a:ext cx="636238" cy="134280"/>
          </a:xfrm>
          <a:prstGeom prst="rect">
            <a:avLst/>
          </a:prstGeom>
        </p:spPr>
        <p:txBody>
          <a:bodyPr vert="horz" wrap="square" lIns="0" tIns="8648" rIns="0" bIns="0" rtlCol="0">
            <a:spAutoFit/>
          </a:bodyPr>
          <a:lstStyle/>
          <a:p>
            <a:pPr marL="8641">
              <a:spcBef>
                <a:spcPts val="69"/>
              </a:spcBef>
            </a:pPr>
            <a:r>
              <a:rPr sz="816" spc="-9" dirty="0">
                <a:solidFill>
                  <a:srgbClr val="005466"/>
                </a:solidFill>
                <a:latin typeface="Malgun Gothic"/>
                <a:cs typeface="Malgun Gothic"/>
              </a:rPr>
              <a:t>글로벌경제론</a:t>
            </a:r>
            <a:endParaRPr sz="816">
              <a:latin typeface="Malgun Gothic"/>
              <a:cs typeface="Malgun Gothic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91109" y="5209542"/>
            <a:ext cx="619537" cy="15663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639354" y="3992881"/>
            <a:ext cx="1412519" cy="364664"/>
          </a:xfrm>
          <a:prstGeom prst="rect">
            <a:avLst/>
          </a:prstGeom>
        </p:spPr>
        <p:txBody>
          <a:bodyPr vert="horz" wrap="square" lIns="0" tIns="8648" rIns="0" bIns="0" rtlCol="0">
            <a:spAutoFit/>
          </a:bodyPr>
          <a:lstStyle/>
          <a:p>
            <a:pPr marL="8641">
              <a:spcBef>
                <a:spcPts val="69"/>
              </a:spcBef>
            </a:pPr>
            <a:r>
              <a:rPr sz="2249" spc="35" dirty="0">
                <a:solidFill>
                  <a:srgbClr val="005466"/>
                </a:solidFill>
                <a:latin typeface="Calibri Light"/>
                <a:cs typeface="Calibri Light"/>
              </a:rPr>
              <a:t>1</a:t>
            </a:r>
            <a:r>
              <a:rPr sz="2313" b="1" dirty="0">
                <a:solidFill>
                  <a:srgbClr val="005466"/>
                </a:solidFill>
                <a:latin typeface="Malgun Gothic"/>
                <a:cs typeface="Malgun Gothic"/>
              </a:rPr>
              <a:t>차</a:t>
            </a:r>
            <a:r>
              <a:rPr sz="2313" b="1" spc="-281" dirty="0">
                <a:solidFill>
                  <a:srgbClr val="005466"/>
                </a:solidFill>
                <a:latin typeface="Malgun Gothic"/>
                <a:cs typeface="Malgun Gothic"/>
              </a:rPr>
              <a:t> </a:t>
            </a:r>
            <a:r>
              <a:rPr sz="2313" b="1" spc="5" dirty="0">
                <a:solidFill>
                  <a:srgbClr val="005466"/>
                </a:solidFill>
                <a:latin typeface="Malgun Gothic"/>
                <a:cs typeface="Malgun Gothic"/>
              </a:rPr>
              <a:t>세계화</a:t>
            </a:r>
            <a:endParaRPr sz="2313">
              <a:latin typeface="Malgun Gothic"/>
              <a:cs typeface="Malgun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51023" y="5173336"/>
            <a:ext cx="64835" cy="113505"/>
          </a:xfrm>
          <a:prstGeom prst="rect">
            <a:avLst/>
          </a:prstGeom>
        </p:spPr>
        <p:txBody>
          <a:bodyPr vert="horz" wrap="square" lIns="0" tIns="8648" rIns="0" bIns="0" rtlCol="0">
            <a:spAutoFit/>
          </a:bodyPr>
          <a:lstStyle/>
          <a:p>
            <a:pPr marL="8641">
              <a:spcBef>
                <a:spcPts val="69"/>
              </a:spcBef>
            </a:pPr>
            <a:r>
              <a:rPr sz="681" b="1" i="1" dirty="0">
                <a:solidFill>
                  <a:srgbClr val="0000FF"/>
                </a:solidFill>
                <a:latin typeface="Corbel"/>
                <a:cs typeface="Corbel"/>
              </a:rPr>
              <a:t>8</a:t>
            </a:r>
            <a:endParaRPr sz="681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5188" y="1655365"/>
            <a:ext cx="1955828" cy="217973"/>
          </a:xfrm>
          <a:prstGeom prst="rect">
            <a:avLst/>
          </a:prstGeom>
        </p:spPr>
        <p:txBody>
          <a:bodyPr vert="horz" wrap="square" lIns="0" tIns="8648" rIns="0" bIns="0" rtlCol="0">
            <a:spAutoFit/>
          </a:bodyPr>
          <a:lstStyle/>
          <a:p>
            <a:pPr marL="8641">
              <a:spcBef>
                <a:spcPts val="69"/>
              </a:spcBef>
            </a:pPr>
            <a:r>
              <a:rPr spc="31" dirty="0"/>
              <a:t>제</a:t>
            </a:r>
            <a:r>
              <a:rPr sz="1991" b="0" spc="44" baseline="1424" dirty="0">
                <a:latin typeface="Calibri Light"/>
                <a:cs typeface="Calibri Light"/>
              </a:rPr>
              <a:t>1</a:t>
            </a:r>
            <a:r>
              <a:rPr dirty="0"/>
              <a:t>차</a:t>
            </a:r>
            <a:r>
              <a:rPr spc="-130" dirty="0"/>
              <a:t> </a:t>
            </a:r>
            <a:r>
              <a:rPr spc="31" dirty="0"/>
              <a:t>세계화</a:t>
            </a:r>
            <a:r>
              <a:rPr dirty="0"/>
              <a:t>와</a:t>
            </a:r>
            <a:r>
              <a:rPr spc="-130" dirty="0"/>
              <a:t> </a:t>
            </a:r>
            <a:r>
              <a:rPr spc="31" dirty="0"/>
              <a:t>제국주의</a:t>
            </a:r>
            <a:endParaRPr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1490968" y="5177995"/>
            <a:ext cx="599496" cy="269021"/>
          </a:xfrm>
          <a:prstGeom prst="rect">
            <a:avLst/>
          </a:prstGeom>
        </p:spPr>
        <p:txBody>
          <a:bodyPr vert="horz" wrap="square" lIns="0" tIns="17721" rIns="0" bIns="0" rtlCol="0">
            <a:spAutoFit/>
          </a:bodyPr>
          <a:lstStyle/>
          <a:p>
            <a:pPr marL="8641">
              <a:spcBef>
                <a:spcPts val="140"/>
              </a:spcBef>
            </a:pPr>
            <a:r>
              <a:rPr spc="-9" dirty="0"/>
              <a:t>글로벌경제론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19055" y="2158469"/>
            <a:ext cx="2124395" cy="658719"/>
          </a:xfrm>
          <a:prstGeom prst="rect">
            <a:avLst/>
          </a:prstGeom>
        </p:spPr>
        <p:txBody>
          <a:bodyPr vert="horz" wrap="square" lIns="0" tIns="8648" rIns="0" bIns="0" rtlCol="0">
            <a:spAutoFit/>
          </a:bodyPr>
          <a:lstStyle/>
          <a:p>
            <a:pPr marL="8641">
              <a:spcBef>
                <a:spcPts val="69"/>
              </a:spcBef>
            </a:pPr>
            <a:r>
              <a:rPr sz="1158" dirty="0">
                <a:latin typeface="Malgun Gothic"/>
                <a:cs typeface="Malgun Gothic"/>
              </a:rPr>
              <a:t>제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Corbel"/>
                <a:cs typeface="Corbel"/>
              </a:rPr>
              <a:t>1</a:t>
            </a:r>
            <a:r>
              <a:rPr sz="1158" dirty="0">
                <a:latin typeface="Malgun Gothic"/>
                <a:cs typeface="Malgun Gothic"/>
              </a:rPr>
              <a:t>차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세계화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Corbel"/>
                <a:cs typeface="Corbel"/>
              </a:rPr>
              <a:t>(19</a:t>
            </a:r>
            <a:r>
              <a:rPr sz="1158" dirty="0">
                <a:latin typeface="Malgun Gothic"/>
                <a:cs typeface="Malgun Gothic"/>
              </a:rPr>
              <a:t>세기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중반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spc="-5" dirty="0">
                <a:latin typeface="Corbel"/>
                <a:cs typeface="Corbel"/>
              </a:rPr>
              <a:t>-</a:t>
            </a:r>
            <a:r>
              <a:rPr sz="1158" dirty="0">
                <a:latin typeface="Corbel"/>
                <a:cs typeface="Corbel"/>
              </a:rPr>
              <a:t>1914)</a:t>
            </a:r>
          </a:p>
          <a:p>
            <a:pPr marL="421712" indent="-203943">
              <a:spcBef>
                <a:spcPts val="932"/>
              </a:spcBef>
              <a:buClr>
                <a:srgbClr val="4764B0"/>
              </a:buClr>
              <a:buFont typeface="Wingdings"/>
              <a:buChar char=""/>
              <a:tabLst>
                <a:tab pos="421712" algn="l"/>
                <a:tab pos="422141" algn="l"/>
              </a:tabLst>
            </a:pPr>
            <a:r>
              <a:rPr sz="1158" dirty="0">
                <a:latin typeface="Malgun Gothic"/>
                <a:cs typeface="Malgun Gothic"/>
              </a:rPr>
              <a:t>가능하게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된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배경은</a:t>
            </a:r>
            <a:r>
              <a:rPr sz="1158" dirty="0">
                <a:latin typeface="Corbel"/>
                <a:cs typeface="Corbel"/>
              </a:rPr>
              <a:t>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20A72B-9B01-0266-7D93-842F236AFB40}"/>
              </a:ext>
            </a:extLst>
          </p:cNvPr>
          <p:cNvSpPr txBox="1"/>
          <p:nvPr/>
        </p:nvSpPr>
        <p:spPr>
          <a:xfrm>
            <a:off x="1943100" y="3634219"/>
            <a:ext cx="5257800" cy="219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25" dirty="0">
                <a:solidFill>
                  <a:schemeClr val="tx2"/>
                </a:solidFill>
              </a:rPr>
              <a:t>제국주의 </a:t>
            </a:r>
            <a:r>
              <a:rPr lang="en-US" altLang="ko-KR" sz="825" dirty="0">
                <a:solidFill>
                  <a:schemeClr val="tx2"/>
                </a:solidFill>
              </a:rPr>
              <a:t>= </a:t>
            </a:r>
            <a:r>
              <a:rPr lang="ko-KR" altLang="en-US" sz="825" dirty="0">
                <a:solidFill>
                  <a:schemeClr val="tx2"/>
                </a:solidFill>
              </a:rPr>
              <a:t>국제거래에서의 제</a:t>
            </a:r>
            <a:r>
              <a:rPr lang="en-US" altLang="ko-KR" sz="825" dirty="0">
                <a:solidFill>
                  <a:schemeClr val="tx2"/>
                </a:solidFill>
              </a:rPr>
              <a:t>3</a:t>
            </a:r>
            <a:r>
              <a:rPr lang="ko-KR" altLang="en-US" sz="825" dirty="0">
                <a:solidFill>
                  <a:schemeClr val="tx2"/>
                </a:solidFill>
              </a:rPr>
              <a:t>자 강제집행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07802" y="1957807"/>
            <a:ext cx="6154479" cy="66563"/>
            <a:chOff x="844973" y="1616849"/>
            <a:chExt cx="9041765" cy="97790"/>
          </a:xfrm>
        </p:grpSpPr>
        <p:sp>
          <p:nvSpPr>
            <p:cNvPr id="3" name="object 3"/>
            <p:cNvSpPr/>
            <p:nvPr/>
          </p:nvSpPr>
          <p:spPr>
            <a:xfrm>
              <a:off x="844973" y="1620905"/>
              <a:ext cx="5289550" cy="93345"/>
            </a:xfrm>
            <a:custGeom>
              <a:avLst/>
              <a:gdLst/>
              <a:ahLst/>
              <a:cxnLst/>
              <a:rect l="l" t="t" r="r" b="b"/>
              <a:pathLst>
                <a:path w="5289550" h="93344">
                  <a:moveTo>
                    <a:pt x="5289177" y="0"/>
                  </a:moveTo>
                  <a:lnTo>
                    <a:pt x="0" y="0"/>
                  </a:lnTo>
                  <a:lnTo>
                    <a:pt x="0" y="93310"/>
                  </a:lnTo>
                  <a:lnTo>
                    <a:pt x="5289177" y="93310"/>
                  </a:lnTo>
                  <a:lnTo>
                    <a:pt x="5289177" y="0"/>
                  </a:lnTo>
                  <a:close/>
                </a:path>
              </a:pathLst>
            </a:custGeom>
            <a:solidFill>
              <a:srgbClr val="4764B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4" name="object 4"/>
            <p:cNvSpPr/>
            <p:nvPr/>
          </p:nvSpPr>
          <p:spPr>
            <a:xfrm>
              <a:off x="844973" y="1620906"/>
              <a:ext cx="9041765" cy="0"/>
            </a:xfrm>
            <a:custGeom>
              <a:avLst/>
              <a:gdLst/>
              <a:ahLst/>
              <a:cxnLst/>
              <a:rect l="l" t="t" r="r" b="b"/>
              <a:pathLst>
                <a:path w="9041765">
                  <a:moveTo>
                    <a:pt x="0" y="0"/>
                  </a:moveTo>
                  <a:lnTo>
                    <a:pt x="9041328" y="0"/>
                  </a:lnTo>
                </a:path>
              </a:pathLst>
            </a:custGeom>
            <a:ln w="8113">
              <a:solidFill>
                <a:srgbClr val="4764B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91109" y="5209542"/>
            <a:ext cx="619537" cy="15663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525185" y="1655366"/>
            <a:ext cx="1659320" cy="217973"/>
          </a:xfrm>
          <a:prstGeom prst="rect">
            <a:avLst/>
          </a:prstGeom>
        </p:spPr>
        <p:txBody>
          <a:bodyPr vert="horz" wrap="square" lIns="0" tIns="8648" rIns="0" bIns="0" rtlCol="0">
            <a:spAutoFit/>
          </a:bodyPr>
          <a:lstStyle/>
          <a:p>
            <a:pPr marL="8641">
              <a:spcBef>
                <a:spcPts val="69"/>
              </a:spcBef>
            </a:pPr>
            <a:r>
              <a:rPr spc="31" dirty="0"/>
              <a:t>제</a:t>
            </a:r>
            <a:r>
              <a:rPr sz="1991" b="0" spc="44" baseline="1424" dirty="0">
                <a:latin typeface="Calibri Light"/>
                <a:cs typeface="Calibri Light"/>
              </a:rPr>
              <a:t>1</a:t>
            </a:r>
            <a:r>
              <a:rPr dirty="0"/>
              <a:t>차</a:t>
            </a:r>
            <a:r>
              <a:rPr spc="-130" dirty="0"/>
              <a:t> </a:t>
            </a:r>
            <a:r>
              <a:rPr spc="31" dirty="0"/>
              <a:t>세계</a:t>
            </a:r>
            <a:r>
              <a:rPr dirty="0"/>
              <a:t>화</a:t>
            </a:r>
            <a:r>
              <a:rPr spc="-130" dirty="0"/>
              <a:t> </a:t>
            </a:r>
            <a:r>
              <a:rPr spc="31" dirty="0"/>
              <a:t>배</a:t>
            </a:r>
            <a:r>
              <a:rPr dirty="0"/>
              <a:t>경</a:t>
            </a:r>
            <a:r>
              <a:rPr spc="-130" dirty="0"/>
              <a:t> </a:t>
            </a:r>
            <a:r>
              <a:rPr sz="1991" b="0" spc="15" baseline="1424" dirty="0">
                <a:latin typeface="Calibri Light"/>
                <a:cs typeface="Calibri Light"/>
              </a:rPr>
              <a:t>(</a:t>
            </a:r>
            <a:r>
              <a:rPr sz="1991" b="0" spc="44" baseline="1424" dirty="0">
                <a:latin typeface="Calibri Light"/>
                <a:cs typeface="Calibri Light"/>
              </a:rPr>
              <a:t>1</a:t>
            </a:r>
            <a:r>
              <a:rPr sz="1991" b="0" spc="12" baseline="1424" dirty="0">
                <a:latin typeface="Calibri Light"/>
                <a:cs typeface="Calibri Light"/>
              </a:rPr>
              <a:t>)</a:t>
            </a:r>
            <a:endParaRPr sz="1991" baseline="1424">
              <a:latin typeface="Calibri Light"/>
              <a:cs typeface="Calibri Ligh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84514" y="4378339"/>
            <a:ext cx="6160530" cy="717199"/>
          </a:xfrm>
          <a:prstGeom prst="rect">
            <a:avLst/>
          </a:prstGeom>
        </p:spPr>
        <p:txBody>
          <a:bodyPr vert="horz" wrap="square" lIns="0" tIns="66563" rIns="0" bIns="0" rtlCol="0">
            <a:spAutoFit/>
          </a:bodyPr>
          <a:lstStyle/>
          <a:p>
            <a:pPr marL="140862" indent="-132653">
              <a:spcBef>
                <a:spcPts val="524"/>
              </a:spcBef>
              <a:buFont typeface="Arial MT"/>
              <a:buChar char="•"/>
              <a:tabLst>
                <a:tab pos="141290" algn="l"/>
              </a:tabLst>
            </a:pPr>
            <a:r>
              <a:rPr sz="1158" dirty="0">
                <a:highlight>
                  <a:srgbClr val="FFFF00"/>
                </a:highlight>
                <a:latin typeface="Corbel"/>
                <a:cs typeface="Corbel"/>
              </a:rPr>
              <a:t>1</a:t>
            </a:r>
            <a:r>
              <a:rPr sz="1158" spc="-20" dirty="0">
                <a:highlight>
                  <a:srgbClr val="FFFF00"/>
                </a:highlight>
                <a:latin typeface="Corbel"/>
                <a:cs typeface="Corbel"/>
              </a:rPr>
              <a:t>8</a:t>
            </a:r>
            <a:r>
              <a:rPr sz="1158" spc="-5" dirty="0">
                <a:highlight>
                  <a:srgbClr val="FFFF00"/>
                </a:highlight>
                <a:latin typeface="Corbel"/>
                <a:cs typeface="Corbel"/>
              </a:rPr>
              <a:t>7</a:t>
            </a:r>
            <a:r>
              <a:rPr sz="1158" dirty="0">
                <a:highlight>
                  <a:srgbClr val="FFFF00"/>
                </a:highlight>
                <a:latin typeface="Corbel"/>
                <a:cs typeface="Corbel"/>
              </a:rPr>
              <a:t>0</a:t>
            </a:r>
            <a:r>
              <a:rPr sz="1158" spc="-5" dirty="0">
                <a:highlight>
                  <a:srgbClr val="FFFF00"/>
                </a:highlight>
                <a:latin typeface="Corbel"/>
                <a:cs typeface="Corbel"/>
              </a:rPr>
              <a:t>-</a:t>
            </a:r>
            <a:r>
              <a:rPr sz="1158" dirty="0">
                <a:highlight>
                  <a:srgbClr val="FFFF00"/>
                </a:highlight>
                <a:latin typeface="Corbel"/>
                <a:cs typeface="Corbel"/>
              </a:rPr>
              <a:t>1910 </a:t>
            </a:r>
            <a:r>
              <a:rPr sz="1158" dirty="0">
                <a:latin typeface="Malgun Gothic"/>
                <a:cs typeface="Malgun Gothic"/>
              </a:rPr>
              <a:t>사이에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철도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연장은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highlight>
                  <a:srgbClr val="FFFF00"/>
                </a:highlight>
                <a:latin typeface="Malgun Gothic"/>
                <a:cs typeface="Malgun Gothic"/>
              </a:rPr>
              <a:t>폭발적으로</a:t>
            </a:r>
            <a:r>
              <a:rPr sz="1158" spc="-173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158" dirty="0">
                <a:highlight>
                  <a:srgbClr val="FFFF00"/>
                </a:highlight>
                <a:latin typeface="Malgun Gothic"/>
                <a:cs typeface="Malgun Gothic"/>
              </a:rPr>
              <a:t>증가</a:t>
            </a:r>
          </a:p>
          <a:p>
            <a:pPr marL="140862" indent="-132653">
              <a:spcBef>
                <a:spcPts val="460"/>
              </a:spcBef>
              <a:buFont typeface="Arial MT"/>
              <a:buChar char="•"/>
              <a:tabLst>
                <a:tab pos="141290" algn="l"/>
              </a:tabLst>
            </a:pPr>
            <a:r>
              <a:rPr sz="1158" dirty="0">
                <a:latin typeface="Malgun Gothic"/>
                <a:cs typeface="Malgun Gothic"/>
              </a:rPr>
              <a:t>증기선의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사용으로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Corbel"/>
                <a:cs typeface="Corbel"/>
              </a:rPr>
              <a:t>19C</a:t>
            </a:r>
            <a:r>
              <a:rPr sz="1158" spc="-5" dirty="0">
                <a:latin typeface="Corbel"/>
                <a:cs typeface="Corbel"/>
              </a:rPr>
              <a:t> </a:t>
            </a:r>
            <a:r>
              <a:rPr sz="1158" dirty="0">
                <a:latin typeface="Malgun Gothic"/>
                <a:cs typeface="Malgun Gothic"/>
              </a:rPr>
              <a:t>중반부터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급감</a:t>
            </a:r>
          </a:p>
          <a:p>
            <a:pPr marL="140862" indent="-132653">
              <a:spcBef>
                <a:spcPts val="440"/>
              </a:spcBef>
              <a:buFont typeface="Arial MT"/>
              <a:buChar char="•"/>
              <a:tabLst>
                <a:tab pos="141290" algn="l"/>
                <a:tab pos="6149358" algn="l"/>
              </a:tabLst>
            </a:pPr>
            <a:r>
              <a:rPr sz="1158" u="sng" dirty="0">
                <a:highlight>
                  <a:srgbClr val="FFFF00"/>
                </a:highlight>
                <a:uFill>
                  <a:solidFill>
                    <a:srgbClr val="4764B0"/>
                  </a:solidFill>
                </a:uFill>
                <a:latin typeface="Malgun Gothic"/>
                <a:cs typeface="Malgun Gothic"/>
              </a:rPr>
              <a:t>냉장기술</a:t>
            </a:r>
            <a:r>
              <a:rPr sz="1158" u="sng" spc="-173" dirty="0">
                <a:highlight>
                  <a:srgbClr val="FFFF00"/>
                </a:highlight>
                <a:uFill>
                  <a:solidFill>
                    <a:srgbClr val="4764B0"/>
                  </a:solidFill>
                </a:uFill>
                <a:latin typeface="Malgun Gothic"/>
                <a:cs typeface="Malgun Gothic"/>
              </a:rPr>
              <a:t> </a:t>
            </a:r>
            <a:r>
              <a:rPr sz="1158" u="sng" dirty="0">
                <a:highlight>
                  <a:srgbClr val="FFFF00"/>
                </a:highlight>
                <a:uFill>
                  <a:solidFill>
                    <a:srgbClr val="4764B0"/>
                  </a:solidFill>
                </a:uFill>
                <a:latin typeface="Malgun Gothic"/>
                <a:cs typeface="Malgun Gothic"/>
              </a:rPr>
              <a:t>역시</a:t>
            </a:r>
            <a:r>
              <a:rPr sz="1158" u="sng" spc="-173" dirty="0">
                <a:highlight>
                  <a:srgbClr val="FFFF00"/>
                </a:highlight>
                <a:uFill>
                  <a:solidFill>
                    <a:srgbClr val="4764B0"/>
                  </a:solidFill>
                </a:uFill>
                <a:latin typeface="Malgun Gothic"/>
                <a:cs typeface="Malgun Gothic"/>
              </a:rPr>
              <a:t> </a:t>
            </a:r>
            <a:r>
              <a:rPr sz="1158" u="sng" dirty="0">
                <a:highlight>
                  <a:srgbClr val="FFFF00"/>
                </a:highlight>
                <a:uFill>
                  <a:solidFill>
                    <a:srgbClr val="4764B0"/>
                  </a:solidFill>
                </a:uFill>
                <a:latin typeface="Malgun Gothic"/>
                <a:cs typeface="Malgun Gothic"/>
              </a:rPr>
              <a:t>운송비</a:t>
            </a:r>
            <a:r>
              <a:rPr sz="1158" u="sng" spc="-173" dirty="0">
                <a:highlight>
                  <a:srgbClr val="FFFF00"/>
                </a:highlight>
                <a:uFill>
                  <a:solidFill>
                    <a:srgbClr val="4764B0"/>
                  </a:solidFill>
                </a:uFill>
                <a:latin typeface="Malgun Gothic"/>
                <a:cs typeface="Malgun Gothic"/>
              </a:rPr>
              <a:t> </a:t>
            </a:r>
            <a:r>
              <a:rPr sz="1158" u="sng" dirty="0">
                <a:highlight>
                  <a:srgbClr val="FFFF00"/>
                </a:highlight>
                <a:uFill>
                  <a:solidFill>
                    <a:srgbClr val="4764B0"/>
                  </a:solidFill>
                </a:uFill>
                <a:latin typeface="Malgun Gothic"/>
                <a:cs typeface="Malgun Gothic"/>
              </a:rPr>
              <a:t>하락에</a:t>
            </a:r>
            <a:r>
              <a:rPr sz="1158" u="sng" spc="-173" dirty="0">
                <a:highlight>
                  <a:srgbClr val="FFFF00"/>
                </a:highlight>
                <a:uFill>
                  <a:solidFill>
                    <a:srgbClr val="4764B0"/>
                  </a:solidFill>
                </a:uFill>
                <a:latin typeface="Malgun Gothic"/>
                <a:cs typeface="Malgun Gothic"/>
              </a:rPr>
              <a:t> </a:t>
            </a:r>
            <a:r>
              <a:rPr sz="1158" u="sng" dirty="0">
                <a:highlight>
                  <a:srgbClr val="FFFF00"/>
                </a:highlight>
                <a:uFill>
                  <a:solidFill>
                    <a:srgbClr val="4764B0"/>
                  </a:solidFill>
                </a:uFill>
                <a:latin typeface="Malgun Gothic"/>
                <a:cs typeface="Malgun Gothic"/>
              </a:rPr>
              <a:t>기여</a:t>
            </a:r>
            <a:r>
              <a:rPr sz="1158" u="sng" dirty="0">
                <a:uFill>
                  <a:solidFill>
                    <a:srgbClr val="4764B0"/>
                  </a:solidFill>
                </a:uFill>
                <a:latin typeface="Malgun Gothic"/>
                <a:cs typeface="Malgun Gothic"/>
              </a:rPr>
              <a:t>	</a:t>
            </a:r>
            <a:endParaRPr sz="1158" dirty="0">
              <a:latin typeface="Malgun Gothic"/>
              <a:cs typeface="Malgun Gothic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88945" y="2090503"/>
            <a:ext cx="2915297" cy="2275510"/>
          </a:xfrm>
          <a:prstGeom prst="rect">
            <a:avLst/>
          </a:prstGeom>
        </p:spPr>
      </p:pic>
      <p:graphicFrame>
        <p:nvGraphicFramePr>
          <p:cNvPr id="9" name="object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1844938"/>
              </p:ext>
            </p:extLst>
          </p:nvPr>
        </p:nvGraphicFramePr>
        <p:xfrm>
          <a:off x="1417325" y="2198678"/>
          <a:ext cx="3237815" cy="217716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40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7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5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87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2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6060">
                <a:tc>
                  <a:txBody>
                    <a:bodyPr/>
                    <a:lstStyle/>
                    <a:p>
                      <a:pPr marR="112395"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900" spc="-5" dirty="0">
                          <a:latin typeface="Malgun Gothic"/>
                          <a:cs typeface="Malgun Gothic"/>
                        </a:rPr>
                        <a:t>철도</a:t>
                      </a:r>
                      <a:r>
                        <a:rPr sz="900" spc="-6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spc="-10" dirty="0">
                          <a:latin typeface="Malgun Gothic"/>
                          <a:cs typeface="Malgun Gothic"/>
                        </a:rPr>
                        <a:t>연장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3890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5104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900" spc="-10" dirty="0">
                          <a:latin typeface="Corbel"/>
                          <a:cs typeface="Corbel"/>
                        </a:rPr>
                        <a:t>1850</a:t>
                      </a:r>
                      <a:endParaRPr sz="900">
                        <a:latin typeface="Corbel"/>
                        <a:cs typeface="Corbel"/>
                      </a:endParaRPr>
                    </a:p>
                  </a:txBody>
                  <a:tcPr marL="0" marR="0" marT="30259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067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900" spc="-10" dirty="0">
                          <a:latin typeface="Corbel"/>
                          <a:cs typeface="Corbel"/>
                        </a:rPr>
                        <a:t>1870</a:t>
                      </a:r>
                      <a:endParaRPr sz="900">
                        <a:latin typeface="Corbel"/>
                        <a:cs typeface="Corbel"/>
                      </a:endParaRPr>
                    </a:p>
                  </a:txBody>
                  <a:tcPr marL="0" marR="0" marT="30259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273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900" spc="-5" dirty="0">
                          <a:latin typeface="Corbel"/>
                          <a:cs typeface="Corbel"/>
                        </a:rPr>
                        <a:t>1890</a:t>
                      </a:r>
                      <a:endParaRPr sz="900">
                        <a:latin typeface="Corbel"/>
                        <a:cs typeface="Corbel"/>
                      </a:endParaRPr>
                    </a:p>
                  </a:txBody>
                  <a:tcPr marL="0" marR="0" marT="30259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305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900" spc="-10" dirty="0">
                          <a:latin typeface="Corbel"/>
                          <a:cs typeface="Corbel"/>
                        </a:rPr>
                        <a:t>1910</a:t>
                      </a:r>
                      <a:endParaRPr sz="900">
                        <a:latin typeface="Corbel"/>
                        <a:cs typeface="Corbel"/>
                      </a:endParaRPr>
                    </a:p>
                  </a:txBody>
                  <a:tcPr marL="0" marR="0" marT="30259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419">
                <a:tc>
                  <a:txBody>
                    <a:bodyPr/>
                    <a:lstStyle/>
                    <a:p>
                      <a:pPr marR="112395"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900" spc="-10" dirty="0">
                          <a:latin typeface="Malgun Gothic"/>
                          <a:cs typeface="Malgun Gothic"/>
                        </a:rPr>
                        <a:t>오</a:t>
                      </a:r>
                      <a:r>
                        <a:rPr sz="1200" spc="-15" baseline="4629" dirty="0">
                          <a:latin typeface="Corbel"/>
                          <a:cs typeface="Corbel"/>
                        </a:rPr>
                        <a:t>-</a:t>
                      </a:r>
                      <a:r>
                        <a:rPr sz="900" spc="-10" dirty="0">
                          <a:latin typeface="Malgun Gothic"/>
                          <a:cs typeface="Malgun Gothic"/>
                        </a:rPr>
                        <a:t>헝가리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38467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293370" algn="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900" spc="-5" dirty="0">
                          <a:latin typeface="Corbel"/>
                          <a:cs typeface="Corbel"/>
                        </a:rPr>
                        <a:t>954</a:t>
                      </a:r>
                      <a:endParaRPr sz="900">
                        <a:latin typeface="Corbel"/>
                        <a:cs typeface="Corbel"/>
                      </a:endParaRPr>
                    </a:p>
                  </a:txBody>
                  <a:tcPr marL="0" marR="0" marT="30259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253365" algn="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900" spc="-5" dirty="0">
                          <a:latin typeface="Corbel"/>
                          <a:cs typeface="Corbel"/>
                        </a:rPr>
                        <a:t>5,949</a:t>
                      </a:r>
                      <a:endParaRPr sz="900">
                        <a:latin typeface="Corbel"/>
                        <a:cs typeface="Corbel"/>
                      </a:endParaRPr>
                    </a:p>
                  </a:txBody>
                  <a:tcPr marL="0" marR="0" marT="30259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227329" algn="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900" spc="-5" dirty="0">
                          <a:latin typeface="Corbel"/>
                          <a:cs typeface="Corbel"/>
                        </a:rPr>
                        <a:t>16,489</a:t>
                      </a:r>
                      <a:endParaRPr sz="900">
                        <a:latin typeface="Corbel"/>
                        <a:cs typeface="Corbel"/>
                      </a:endParaRPr>
                    </a:p>
                  </a:txBody>
                  <a:tcPr marL="0" marR="0" marT="30259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204470" algn="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900" spc="-5" dirty="0">
                          <a:latin typeface="Corbel"/>
                          <a:cs typeface="Corbel"/>
                        </a:rPr>
                        <a:t>26,834</a:t>
                      </a:r>
                      <a:endParaRPr sz="900">
                        <a:latin typeface="Corbel"/>
                        <a:cs typeface="Corbel"/>
                      </a:endParaRPr>
                    </a:p>
                  </a:txBody>
                  <a:tcPr marL="0" marR="0" marT="30259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5627">
                <a:tc>
                  <a:txBody>
                    <a:bodyPr/>
                    <a:lstStyle/>
                    <a:p>
                      <a:pPr marR="112395"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900" spc="-10" dirty="0">
                          <a:latin typeface="Malgun Gothic"/>
                          <a:cs typeface="Malgun Gothic"/>
                        </a:rPr>
                        <a:t>호주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38467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131445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900" dirty="0">
                          <a:latin typeface="Corbel"/>
                          <a:cs typeface="Corbel"/>
                        </a:rPr>
                        <a:t>.</a:t>
                      </a:r>
                      <a:endParaRPr sz="900">
                        <a:latin typeface="Corbel"/>
                        <a:cs typeface="Corbel"/>
                      </a:endParaRPr>
                    </a:p>
                  </a:txBody>
                  <a:tcPr marL="0" marR="0" marT="30259" marB="0"/>
                </a:tc>
                <a:tc>
                  <a:txBody>
                    <a:bodyPr/>
                    <a:lstStyle/>
                    <a:p>
                      <a:pPr marR="288925" algn="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900" spc="-5" dirty="0">
                          <a:latin typeface="Corbel"/>
                          <a:cs typeface="Corbel"/>
                        </a:rPr>
                        <a:t>953</a:t>
                      </a:r>
                      <a:endParaRPr sz="900">
                        <a:latin typeface="Corbel"/>
                        <a:cs typeface="Corbel"/>
                      </a:endParaRPr>
                    </a:p>
                  </a:txBody>
                  <a:tcPr marL="0" marR="0" marT="30259" marB="0"/>
                </a:tc>
                <a:tc>
                  <a:txBody>
                    <a:bodyPr/>
                    <a:lstStyle/>
                    <a:p>
                      <a:pPr marR="235585" algn="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900" spc="-5" dirty="0">
                          <a:latin typeface="Corbel"/>
                          <a:cs typeface="Corbel"/>
                        </a:rPr>
                        <a:t>9,524</a:t>
                      </a:r>
                      <a:endParaRPr sz="900">
                        <a:latin typeface="Corbel"/>
                        <a:cs typeface="Corbel"/>
                      </a:endParaRPr>
                    </a:p>
                  </a:txBody>
                  <a:tcPr marL="0" marR="0" marT="30259" marB="0"/>
                </a:tc>
                <a:tc>
                  <a:txBody>
                    <a:bodyPr/>
                    <a:lstStyle/>
                    <a:p>
                      <a:pPr marR="213360" algn="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900" spc="-10" dirty="0">
                          <a:latin typeface="Corbel"/>
                          <a:cs typeface="Corbel"/>
                        </a:rPr>
                        <a:t>17,429</a:t>
                      </a:r>
                      <a:endParaRPr sz="900">
                        <a:latin typeface="Corbel"/>
                        <a:cs typeface="Corbel"/>
                      </a:endParaRPr>
                    </a:p>
                  </a:txBody>
                  <a:tcPr marL="0" marR="0" marT="30259" marB="0"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889">
                <a:tc>
                  <a:txBody>
                    <a:bodyPr/>
                    <a:lstStyle/>
                    <a:p>
                      <a:pPr marR="11239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900" spc="-10" dirty="0">
                          <a:latin typeface="Malgun Gothic"/>
                          <a:cs typeface="Malgun Gothic"/>
                        </a:rPr>
                        <a:t>아르헨티나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39766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13144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dirty="0">
                          <a:latin typeface="Corbel"/>
                          <a:cs typeface="Corbel"/>
                        </a:rPr>
                        <a:t>.</a:t>
                      </a:r>
                      <a:endParaRPr sz="900">
                        <a:latin typeface="Corbel"/>
                        <a:cs typeface="Corbel"/>
                      </a:endParaRPr>
                    </a:p>
                  </a:txBody>
                  <a:tcPr marL="0" marR="0" marT="29393" marB="0"/>
                </a:tc>
                <a:tc>
                  <a:txBody>
                    <a:bodyPr/>
                    <a:lstStyle/>
                    <a:p>
                      <a:pPr marL="4216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spc="-5" dirty="0">
                          <a:latin typeface="Corbel"/>
                          <a:cs typeface="Corbel"/>
                        </a:rPr>
                        <a:t>637</a:t>
                      </a:r>
                      <a:endParaRPr sz="900">
                        <a:latin typeface="Corbel"/>
                        <a:cs typeface="Corbel"/>
                      </a:endParaRPr>
                    </a:p>
                  </a:txBody>
                  <a:tcPr marL="0" marR="0" marT="29393" marB="0"/>
                </a:tc>
                <a:tc>
                  <a:txBody>
                    <a:bodyPr/>
                    <a:lstStyle/>
                    <a:p>
                      <a:pPr marR="240665" algn="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spc="-5" dirty="0">
                          <a:latin typeface="Corbel"/>
                          <a:cs typeface="Corbel"/>
                        </a:rPr>
                        <a:t>5,434</a:t>
                      </a:r>
                      <a:endParaRPr sz="900">
                        <a:latin typeface="Corbel"/>
                        <a:cs typeface="Corbel"/>
                      </a:endParaRPr>
                    </a:p>
                  </a:txBody>
                  <a:tcPr marL="0" marR="0" marT="29393" marB="0"/>
                </a:tc>
                <a:tc>
                  <a:txBody>
                    <a:bodyPr/>
                    <a:lstStyle/>
                    <a:p>
                      <a:pPr marR="222885" algn="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spc="-10" dirty="0">
                          <a:latin typeface="Corbel"/>
                          <a:cs typeface="Corbel"/>
                        </a:rPr>
                        <a:t>17,381</a:t>
                      </a:r>
                      <a:endParaRPr sz="900">
                        <a:latin typeface="Corbel"/>
                        <a:cs typeface="Corbel"/>
                      </a:endParaRPr>
                    </a:p>
                  </a:txBody>
                  <a:tcPr marL="0" marR="0" marT="29393" marB="0"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5627">
                <a:tc>
                  <a:txBody>
                    <a:bodyPr/>
                    <a:lstStyle/>
                    <a:p>
                      <a:pPr marR="112395"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900" spc="-10" dirty="0">
                          <a:latin typeface="Malgun Gothic"/>
                          <a:cs typeface="Malgun Gothic"/>
                        </a:rPr>
                        <a:t>중국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38467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13144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900" dirty="0">
                          <a:latin typeface="Corbel"/>
                          <a:cs typeface="Corbel"/>
                        </a:rPr>
                        <a:t>.</a:t>
                      </a:r>
                      <a:endParaRPr sz="900">
                        <a:latin typeface="Corbel"/>
                        <a:cs typeface="Corbel"/>
                      </a:endParaRPr>
                    </a:p>
                  </a:txBody>
                  <a:tcPr marL="0" marR="0" marT="28094" marB="0"/>
                </a:tc>
                <a:tc>
                  <a:txBody>
                    <a:bodyPr/>
                    <a:lstStyle/>
                    <a:p>
                      <a:pPr marR="4953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900" dirty="0">
                          <a:latin typeface="Corbel"/>
                          <a:cs typeface="Corbel"/>
                        </a:rPr>
                        <a:t>.</a:t>
                      </a:r>
                      <a:endParaRPr sz="900">
                        <a:latin typeface="Corbel"/>
                        <a:cs typeface="Corbel"/>
                      </a:endParaRPr>
                    </a:p>
                  </a:txBody>
                  <a:tcPr marL="0" marR="0" marT="28094" marB="0"/>
                </a:tc>
                <a:tc>
                  <a:txBody>
                    <a:bodyPr/>
                    <a:lstStyle/>
                    <a:p>
                      <a:pPr marR="287655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900" dirty="0">
                          <a:latin typeface="Corbel"/>
                          <a:cs typeface="Corbel"/>
                        </a:rPr>
                        <a:t>80</a:t>
                      </a:r>
                      <a:endParaRPr sz="900">
                        <a:latin typeface="Corbel"/>
                        <a:cs typeface="Corbel"/>
                      </a:endParaRPr>
                    </a:p>
                  </a:txBody>
                  <a:tcPr marL="0" marR="0" marT="28094" marB="0"/>
                </a:tc>
                <a:tc>
                  <a:txBody>
                    <a:bodyPr/>
                    <a:lstStyle/>
                    <a:p>
                      <a:pPr marR="211454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900" spc="-5" dirty="0">
                          <a:latin typeface="Corbel"/>
                          <a:cs typeface="Corbel"/>
                        </a:rPr>
                        <a:t>5,092</a:t>
                      </a:r>
                      <a:endParaRPr sz="900">
                        <a:latin typeface="Corbel"/>
                        <a:cs typeface="Corbel"/>
                      </a:endParaRPr>
                    </a:p>
                  </a:txBody>
                  <a:tcPr marL="0" marR="0" marT="28094" marB="0"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1622">
                <a:tc>
                  <a:txBody>
                    <a:bodyPr/>
                    <a:lstStyle/>
                    <a:p>
                      <a:pPr marR="112395"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900" spc="-10" dirty="0">
                          <a:latin typeface="Malgun Gothic"/>
                          <a:cs typeface="Malgun Gothic"/>
                        </a:rPr>
                        <a:t>프랑스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38467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279400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900" spc="-10" dirty="0">
                          <a:latin typeface="Corbel"/>
                          <a:cs typeface="Corbel"/>
                        </a:rPr>
                        <a:t>1,714</a:t>
                      </a:r>
                      <a:endParaRPr sz="900">
                        <a:latin typeface="Corbel"/>
                        <a:cs typeface="Corbel"/>
                      </a:endParaRPr>
                    </a:p>
                  </a:txBody>
                  <a:tcPr marL="0" marR="0" marT="28094" marB="0"/>
                </a:tc>
                <a:tc>
                  <a:txBody>
                    <a:bodyPr/>
                    <a:lstStyle/>
                    <a:p>
                      <a:pPr marL="28448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900" spc="-10" dirty="0">
                          <a:latin typeface="Corbel"/>
                          <a:cs typeface="Corbel"/>
                        </a:rPr>
                        <a:t>11,142</a:t>
                      </a:r>
                      <a:endParaRPr sz="900" dirty="0">
                        <a:latin typeface="Corbel"/>
                        <a:cs typeface="Corbel"/>
                      </a:endParaRPr>
                    </a:p>
                  </a:txBody>
                  <a:tcPr marL="0" marR="0" marT="28094" marB="0"/>
                </a:tc>
                <a:tc>
                  <a:txBody>
                    <a:bodyPr/>
                    <a:lstStyle/>
                    <a:p>
                      <a:pPr marR="237490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900" spc="-15" dirty="0">
                          <a:latin typeface="Corbel"/>
                          <a:cs typeface="Corbel"/>
                        </a:rPr>
                        <a:t>22,911</a:t>
                      </a:r>
                      <a:endParaRPr sz="900">
                        <a:latin typeface="Corbel"/>
                        <a:cs typeface="Corbel"/>
                      </a:endParaRPr>
                    </a:p>
                  </a:txBody>
                  <a:tcPr marL="0" marR="0" marT="28094" marB="0"/>
                </a:tc>
                <a:tc>
                  <a:txBody>
                    <a:bodyPr/>
                    <a:lstStyle/>
                    <a:p>
                      <a:pPr marR="208915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900" spc="-5" dirty="0">
                          <a:latin typeface="Corbel"/>
                          <a:cs typeface="Corbel"/>
                        </a:rPr>
                        <a:t>30,643</a:t>
                      </a:r>
                      <a:endParaRPr sz="900">
                        <a:latin typeface="Corbel"/>
                        <a:cs typeface="Corbel"/>
                      </a:endParaRPr>
                    </a:p>
                  </a:txBody>
                  <a:tcPr marL="0" marR="0" marT="28094" marB="0"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2095">
                <a:tc>
                  <a:txBody>
                    <a:bodyPr/>
                    <a:lstStyle/>
                    <a:p>
                      <a:pPr marR="112395"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900" spc="-10" dirty="0">
                          <a:latin typeface="Malgun Gothic"/>
                          <a:cs typeface="Malgun Gothic"/>
                        </a:rPr>
                        <a:t>독일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38467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276860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900" spc="-5" dirty="0">
                          <a:latin typeface="Corbel"/>
                          <a:cs typeface="Corbel"/>
                        </a:rPr>
                        <a:t>3,637</a:t>
                      </a:r>
                      <a:endParaRPr sz="900">
                        <a:latin typeface="Corbel"/>
                        <a:cs typeface="Corbel"/>
                      </a:endParaRPr>
                    </a:p>
                  </a:txBody>
                  <a:tcPr marL="0" marR="0" marT="28094" marB="0"/>
                </a:tc>
                <a:tc>
                  <a:txBody>
                    <a:bodyPr/>
                    <a:lstStyle/>
                    <a:p>
                      <a:pPr marL="28638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900" spc="-10" dirty="0">
                          <a:latin typeface="Corbel"/>
                          <a:cs typeface="Corbel"/>
                        </a:rPr>
                        <a:t>11,729</a:t>
                      </a:r>
                      <a:endParaRPr sz="900">
                        <a:latin typeface="Corbel"/>
                        <a:cs typeface="Corbel"/>
                      </a:endParaRPr>
                    </a:p>
                  </a:txBody>
                  <a:tcPr marL="0" marR="0" marT="28094" marB="0"/>
                </a:tc>
                <a:tc>
                  <a:txBody>
                    <a:bodyPr/>
                    <a:lstStyle/>
                    <a:p>
                      <a:pPr marR="239395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900" spc="-10" dirty="0">
                          <a:latin typeface="Corbel"/>
                          <a:cs typeface="Corbel"/>
                        </a:rPr>
                        <a:t>25,411</a:t>
                      </a:r>
                      <a:endParaRPr sz="900">
                        <a:latin typeface="Corbel"/>
                        <a:cs typeface="Corbel"/>
                      </a:endParaRPr>
                    </a:p>
                  </a:txBody>
                  <a:tcPr marL="0" marR="0" marT="28094" marB="0"/>
                </a:tc>
                <a:tc>
                  <a:txBody>
                    <a:bodyPr/>
                    <a:lstStyle/>
                    <a:p>
                      <a:pPr marR="212090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900" spc="-5" dirty="0">
                          <a:latin typeface="Corbel"/>
                          <a:cs typeface="Corbel"/>
                        </a:rPr>
                        <a:t>36,152</a:t>
                      </a:r>
                      <a:endParaRPr sz="900">
                        <a:latin typeface="Corbel"/>
                        <a:cs typeface="Corbel"/>
                      </a:endParaRPr>
                    </a:p>
                  </a:txBody>
                  <a:tcPr marL="0" marR="0" marT="28094" marB="0"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5627">
                <a:tc>
                  <a:txBody>
                    <a:bodyPr/>
                    <a:lstStyle/>
                    <a:p>
                      <a:pPr marR="112395"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900" spc="-10" dirty="0">
                          <a:latin typeface="Malgun Gothic"/>
                          <a:cs typeface="Malgun Gothic"/>
                        </a:rPr>
                        <a:t>인도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38467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131445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900" dirty="0">
                          <a:latin typeface="Corbel"/>
                          <a:cs typeface="Corbel"/>
                        </a:rPr>
                        <a:t>.</a:t>
                      </a:r>
                      <a:endParaRPr sz="900">
                        <a:latin typeface="Corbel"/>
                        <a:cs typeface="Corbel"/>
                      </a:endParaRPr>
                    </a:p>
                  </a:txBody>
                  <a:tcPr marL="0" marR="0" marT="30259" marB="0"/>
                </a:tc>
                <a:tc>
                  <a:txBody>
                    <a:bodyPr/>
                    <a:lstStyle/>
                    <a:p>
                      <a:pPr marR="270510" algn="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900" spc="-5" dirty="0">
                          <a:latin typeface="Corbel"/>
                          <a:cs typeface="Corbel"/>
                        </a:rPr>
                        <a:t>4,771</a:t>
                      </a:r>
                      <a:endParaRPr sz="900">
                        <a:latin typeface="Corbel"/>
                        <a:cs typeface="Corbel"/>
                      </a:endParaRPr>
                    </a:p>
                  </a:txBody>
                  <a:tcPr marL="0" marR="0" marT="30259" marB="0"/>
                </a:tc>
                <a:tc>
                  <a:txBody>
                    <a:bodyPr/>
                    <a:lstStyle/>
                    <a:p>
                      <a:pPr marR="233045" algn="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900" spc="-5" dirty="0">
                          <a:latin typeface="Corbel"/>
                          <a:cs typeface="Corbel"/>
                        </a:rPr>
                        <a:t>16,401</a:t>
                      </a:r>
                      <a:endParaRPr sz="900" dirty="0">
                        <a:latin typeface="Corbel"/>
                        <a:cs typeface="Corbel"/>
                      </a:endParaRPr>
                    </a:p>
                  </a:txBody>
                  <a:tcPr marL="0" marR="0" marT="30259" marB="0"/>
                </a:tc>
                <a:tc>
                  <a:txBody>
                    <a:bodyPr/>
                    <a:lstStyle/>
                    <a:p>
                      <a:pPr marR="203835" algn="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900" spc="-5" dirty="0">
                          <a:latin typeface="Corbel"/>
                          <a:cs typeface="Corbel"/>
                        </a:rPr>
                        <a:t>32,099</a:t>
                      </a:r>
                      <a:endParaRPr sz="900">
                        <a:latin typeface="Corbel"/>
                        <a:cs typeface="Corbel"/>
                      </a:endParaRPr>
                    </a:p>
                  </a:txBody>
                  <a:tcPr marL="0" marR="0" marT="30259" marB="0"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5627">
                <a:tc>
                  <a:txBody>
                    <a:bodyPr/>
                    <a:lstStyle/>
                    <a:p>
                      <a:pPr marR="112395"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900" spc="-10" dirty="0">
                          <a:latin typeface="Malgun Gothic"/>
                          <a:cs typeface="Malgun Gothic"/>
                        </a:rPr>
                        <a:t>일본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38467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131445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900" dirty="0">
                          <a:latin typeface="Corbel"/>
                          <a:cs typeface="Corbel"/>
                        </a:rPr>
                        <a:t>.</a:t>
                      </a:r>
                      <a:endParaRPr sz="900">
                        <a:latin typeface="Corbel"/>
                        <a:cs typeface="Corbel"/>
                      </a:endParaRPr>
                    </a:p>
                  </a:txBody>
                  <a:tcPr marL="0" marR="0" marT="30259" marB="0"/>
                </a:tc>
                <a:tc>
                  <a:txBody>
                    <a:bodyPr/>
                    <a:lstStyle/>
                    <a:p>
                      <a:pPr marR="49530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900" dirty="0">
                          <a:latin typeface="Corbel"/>
                          <a:cs typeface="Corbel"/>
                        </a:rPr>
                        <a:t>.</a:t>
                      </a:r>
                      <a:endParaRPr sz="900">
                        <a:latin typeface="Corbel"/>
                        <a:cs typeface="Corbel"/>
                      </a:endParaRPr>
                    </a:p>
                  </a:txBody>
                  <a:tcPr marL="0" marR="0" marT="30259" marB="0"/>
                </a:tc>
                <a:tc>
                  <a:txBody>
                    <a:bodyPr/>
                    <a:lstStyle/>
                    <a:p>
                      <a:pPr marR="249554" algn="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900" spc="-10" dirty="0">
                          <a:latin typeface="Corbel"/>
                          <a:cs typeface="Corbel"/>
                        </a:rPr>
                        <a:t>1,139</a:t>
                      </a:r>
                      <a:endParaRPr sz="900">
                        <a:latin typeface="Corbel"/>
                        <a:cs typeface="Corbel"/>
                      </a:endParaRPr>
                    </a:p>
                  </a:txBody>
                  <a:tcPr marL="0" marR="0" marT="30259" marB="0"/>
                </a:tc>
                <a:tc>
                  <a:txBody>
                    <a:bodyPr/>
                    <a:lstStyle/>
                    <a:p>
                      <a:pPr marR="225425" algn="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900" spc="-10" dirty="0">
                          <a:latin typeface="Corbel"/>
                          <a:cs typeface="Corbel"/>
                        </a:rPr>
                        <a:t>5,130</a:t>
                      </a:r>
                      <a:endParaRPr sz="900">
                        <a:latin typeface="Corbel"/>
                        <a:cs typeface="Corbel"/>
                      </a:endParaRPr>
                    </a:p>
                  </a:txBody>
                  <a:tcPr marL="0" marR="0" marT="30259" marB="0"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5627">
                <a:tc>
                  <a:txBody>
                    <a:bodyPr/>
                    <a:lstStyle/>
                    <a:p>
                      <a:pPr marR="112395"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900" spc="-10" dirty="0">
                          <a:latin typeface="Malgun Gothic"/>
                          <a:cs typeface="Malgun Gothic"/>
                        </a:rPr>
                        <a:t>영국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38467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267335" algn="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900" spc="-10" dirty="0">
                          <a:latin typeface="Corbel"/>
                          <a:cs typeface="Corbel"/>
                        </a:rPr>
                        <a:t>6,621</a:t>
                      </a:r>
                      <a:endParaRPr sz="900">
                        <a:latin typeface="Corbel"/>
                        <a:cs typeface="Corbel"/>
                      </a:endParaRPr>
                    </a:p>
                  </a:txBody>
                  <a:tcPr marL="0" marR="0" marT="30259" marB="0"/>
                </a:tc>
                <a:tc>
                  <a:txBody>
                    <a:bodyPr/>
                    <a:lstStyle/>
                    <a:p>
                      <a:pPr marL="29019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900" spc="-5" dirty="0">
                          <a:latin typeface="Corbel"/>
                          <a:cs typeface="Corbel"/>
                        </a:rPr>
                        <a:t>15,537</a:t>
                      </a:r>
                      <a:endParaRPr sz="900">
                        <a:latin typeface="Corbel"/>
                        <a:cs typeface="Corbel"/>
                      </a:endParaRPr>
                    </a:p>
                  </a:txBody>
                  <a:tcPr marL="0" marR="0" marT="30259" marB="0"/>
                </a:tc>
                <a:tc>
                  <a:txBody>
                    <a:bodyPr/>
                    <a:lstStyle/>
                    <a:p>
                      <a:pPr marR="237490" algn="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900" spc="-10" dirty="0">
                          <a:latin typeface="Corbel"/>
                          <a:cs typeface="Corbel"/>
                        </a:rPr>
                        <a:t>20,073</a:t>
                      </a:r>
                      <a:endParaRPr sz="900">
                        <a:latin typeface="Corbel"/>
                        <a:cs typeface="Corbel"/>
                      </a:endParaRPr>
                    </a:p>
                  </a:txBody>
                  <a:tcPr marL="0" marR="0" marT="30259" marB="0"/>
                </a:tc>
                <a:tc>
                  <a:txBody>
                    <a:bodyPr/>
                    <a:lstStyle/>
                    <a:p>
                      <a:pPr marR="219710" algn="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900" spc="-15" dirty="0">
                          <a:latin typeface="Corbel"/>
                          <a:cs typeface="Corbel"/>
                        </a:rPr>
                        <a:t>23,387</a:t>
                      </a:r>
                      <a:endParaRPr sz="900">
                        <a:latin typeface="Corbel"/>
                        <a:cs typeface="Corbel"/>
                      </a:endParaRPr>
                    </a:p>
                  </a:txBody>
                  <a:tcPr marL="0" marR="0" marT="30259" marB="0"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2946">
                <a:tc>
                  <a:txBody>
                    <a:bodyPr/>
                    <a:lstStyle/>
                    <a:p>
                      <a:pPr marR="112395"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900" spc="-10" dirty="0">
                          <a:latin typeface="Malgun Gothic"/>
                          <a:cs typeface="Malgun Gothic"/>
                        </a:rPr>
                        <a:t>미국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38467" marB="0">
                    <a:lnL w="12700">
                      <a:solidFill>
                        <a:srgbClr val="FFFFFF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67970" algn="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900" spc="-10" dirty="0">
                          <a:latin typeface="Corbel"/>
                          <a:cs typeface="Corbel"/>
                        </a:rPr>
                        <a:t>9,021</a:t>
                      </a:r>
                      <a:endParaRPr sz="900">
                        <a:latin typeface="Corbel"/>
                        <a:cs typeface="Corbel"/>
                      </a:endParaRPr>
                    </a:p>
                  </a:txBody>
                  <a:tcPr marL="0" marR="0" marT="30259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495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900" spc="-15" dirty="0">
                          <a:latin typeface="Corbel"/>
                          <a:cs typeface="Corbel"/>
                        </a:rPr>
                        <a:t>52,922</a:t>
                      </a:r>
                      <a:endParaRPr sz="900">
                        <a:latin typeface="Corbel"/>
                        <a:cs typeface="Corbel"/>
                      </a:endParaRPr>
                    </a:p>
                  </a:txBody>
                  <a:tcPr marL="0" marR="0" marT="30259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37490" algn="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900" spc="-10" dirty="0">
                          <a:latin typeface="Corbel"/>
                          <a:cs typeface="Corbel"/>
                        </a:rPr>
                        <a:t>116,703</a:t>
                      </a:r>
                      <a:endParaRPr sz="900" dirty="0">
                        <a:latin typeface="Corbel"/>
                        <a:cs typeface="Corbel"/>
                      </a:endParaRPr>
                    </a:p>
                  </a:txBody>
                  <a:tcPr marL="0" marR="0" marT="30259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1135" algn="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900" spc="-10" dirty="0">
                          <a:latin typeface="Corbel"/>
                          <a:cs typeface="Corbel"/>
                        </a:rPr>
                        <a:t>249,902</a:t>
                      </a:r>
                      <a:endParaRPr sz="900" dirty="0">
                        <a:latin typeface="Corbel"/>
                        <a:cs typeface="Corbel"/>
                      </a:endParaRPr>
                    </a:p>
                  </a:txBody>
                  <a:tcPr marL="0" marR="0" marT="30259" marB="0"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1490968" y="5177995"/>
            <a:ext cx="599496" cy="269021"/>
          </a:xfrm>
          <a:prstGeom prst="rect">
            <a:avLst/>
          </a:prstGeom>
        </p:spPr>
        <p:txBody>
          <a:bodyPr vert="horz" wrap="square" lIns="0" tIns="17721" rIns="0" bIns="0" rtlCol="0">
            <a:spAutoFit/>
          </a:bodyPr>
          <a:lstStyle/>
          <a:p>
            <a:pPr marL="8641">
              <a:spcBef>
                <a:spcPts val="140"/>
              </a:spcBef>
            </a:pPr>
            <a:r>
              <a:rPr spc="-9" dirty="0"/>
              <a:t>글로벌경제론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5" name="잉크 14">
                <a:extLst>
                  <a:ext uri="{FF2B5EF4-FFF2-40B4-BE49-F238E27FC236}">
                    <a16:creationId xmlns:a16="http://schemas.microsoft.com/office/drawing/2014/main" id="{17C308B1-6B94-2FE8-A159-5F887FF8E587}"/>
                  </a:ext>
                </a:extLst>
              </p14:cNvPr>
              <p14:cNvContentPartPr/>
              <p14:nvPr/>
            </p14:nvContentPartPr>
            <p14:xfrm>
              <a:off x="5795213" y="1311255"/>
              <a:ext cx="270" cy="270"/>
            </p14:xfrm>
          </p:contentPart>
        </mc:Choice>
        <mc:Fallback xmlns="">
          <p:pic>
            <p:nvPicPr>
              <p:cNvPr id="15" name="잉크 14">
                <a:extLst>
                  <a:ext uri="{FF2B5EF4-FFF2-40B4-BE49-F238E27FC236}">
                    <a16:creationId xmlns:a16="http://schemas.microsoft.com/office/drawing/2014/main" id="{17C308B1-6B94-2FE8-A159-5F887FF8E58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790353" y="1306665"/>
                <a:ext cx="9450" cy="945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6D5A4797-4192-C82E-CC80-5317F0495D5E}"/>
              </a:ext>
            </a:extLst>
          </p:cNvPr>
          <p:cNvSpPr txBox="1"/>
          <p:nvPr/>
        </p:nvSpPr>
        <p:spPr>
          <a:xfrm>
            <a:off x="2260045" y="5248172"/>
            <a:ext cx="52578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>
                <a:solidFill>
                  <a:schemeClr val="tx2"/>
                </a:solidFill>
              </a:rPr>
              <a:t>철도 </a:t>
            </a:r>
            <a:r>
              <a:rPr lang="en-US" altLang="ko-KR" sz="1050" dirty="0">
                <a:solidFill>
                  <a:schemeClr val="tx2"/>
                </a:solidFill>
              </a:rPr>
              <a:t>= </a:t>
            </a:r>
            <a:r>
              <a:rPr lang="ko-KR" altLang="en-US" sz="1050" dirty="0">
                <a:solidFill>
                  <a:schemeClr val="tx2"/>
                </a:solidFill>
              </a:rPr>
              <a:t>수요의 창출</a:t>
            </a:r>
            <a:endParaRPr lang="en-US" altLang="ko-KR" sz="1050" dirty="0">
              <a:solidFill>
                <a:schemeClr val="tx2"/>
              </a:solidFill>
            </a:endParaRPr>
          </a:p>
          <a:p>
            <a:r>
              <a:rPr lang="ko-KR" altLang="en-US" sz="1050" dirty="0">
                <a:solidFill>
                  <a:schemeClr val="tx2"/>
                </a:solidFill>
              </a:rPr>
              <a:t>냉장기술 </a:t>
            </a:r>
            <a:r>
              <a:rPr lang="en-US" altLang="ko-KR" sz="1050" dirty="0">
                <a:solidFill>
                  <a:schemeClr val="tx2"/>
                </a:solidFill>
              </a:rPr>
              <a:t>= </a:t>
            </a:r>
            <a:endParaRPr lang="ko-KR" altLang="en-US" sz="105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5185" y="1655366"/>
            <a:ext cx="1659320" cy="217973"/>
          </a:xfrm>
          <a:prstGeom prst="rect">
            <a:avLst/>
          </a:prstGeom>
        </p:spPr>
        <p:txBody>
          <a:bodyPr vert="horz" wrap="square" lIns="0" tIns="8648" rIns="0" bIns="0" rtlCol="0">
            <a:spAutoFit/>
          </a:bodyPr>
          <a:lstStyle/>
          <a:p>
            <a:pPr marL="8641">
              <a:spcBef>
                <a:spcPts val="69"/>
              </a:spcBef>
            </a:pPr>
            <a:r>
              <a:rPr spc="31" dirty="0"/>
              <a:t>제</a:t>
            </a:r>
            <a:r>
              <a:rPr sz="1991" b="0" spc="44" baseline="1424" dirty="0">
                <a:latin typeface="Calibri Light"/>
                <a:cs typeface="Calibri Light"/>
              </a:rPr>
              <a:t>1</a:t>
            </a:r>
            <a:r>
              <a:rPr dirty="0"/>
              <a:t>차</a:t>
            </a:r>
            <a:r>
              <a:rPr spc="-130" dirty="0"/>
              <a:t> </a:t>
            </a:r>
            <a:r>
              <a:rPr spc="31" dirty="0"/>
              <a:t>세계</a:t>
            </a:r>
            <a:r>
              <a:rPr dirty="0"/>
              <a:t>화</a:t>
            </a:r>
            <a:r>
              <a:rPr spc="-130" dirty="0"/>
              <a:t> </a:t>
            </a:r>
            <a:r>
              <a:rPr spc="31" dirty="0"/>
              <a:t>배</a:t>
            </a:r>
            <a:r>
              <a:rPr dirty="0"/>
              <a:t>경</a:t>
            </a:r>
            <a:r>
              <a:rPr spc="-130" dirty="0"/>
              <a:t> </a:t>
            </a:r>
            <a:r>
              <a:rPr sz="1991" b="0" spc="15" baseline="1424" dirty="0">
                <a:latin typeface="Calibri Light"/>
                <a:cs typeface="Calibri Light"/>
              </a:rPr>
              <a:t>(</a:t>
            </a:r>
            <a:r>
              <a:rPr sz="1991" b="0" spc="44" baseline="1424" dirty="0">
                <a:latin typeface="Calibri Light"/>
                <a:cs typeface="Calibri Light"/>
              </a:rPr>
              <a:t>2</a:t>
            </a:r>
            <a:r>
              <a:rPr sz="1991" b="0" spc="12" baseline="1424" dirty="0">
                <a:latin typeface="Calibri Light"/>
                <a:cs typeface="Calibri Light"/>
              </a:rPr>
              <a:t>)</a:t>
            </a:r>
            <a:endParaRPr sz="1991" baseline="1424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1490968" y="5177995"/>
            <a:ext cx="599496" cy="269021"/>
          </a:xfrm>
          <a:prstGeom prst="rect">
            <a:avLst/>
          </a:prstGeom>
        </p:spPr>
        <p:txBody>
          <a:bodyPr vert="horz" wrap="square" lIns="0" tIns="17721" rIns="0" bIns="0" rtlCol="0">
            <a:spAutoFit/>
          </a:bodyPr>
          <a:lstStyle/>
          <a:p>
            <a:pPr marL="8641">
              <a:spcBef>
                <a:spcPts val="140"/>
              </a:spcBef>
            </a:pPr>
            <a:r>
              <a:rPr spc="-9" dirty="0"/>
              <a:t>글로벌경제론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19050" y="2158474"/>
            <a:ext cx="6094400" cy="2139572"/>
          </a:xfrm>
          <a:prstGeom prst="rect">
            <a:avLst/>
          </a:prstGeom>
        </p:spPr>
        <p:txBody>
          <a:bodyPr vert="horz" wrap="square" lIns="0" tIns="8648" rIns="0" bIns="0" rtlCol="0">
            <a:spAutoFit/>
          </a:bodyPr>
          <a:lstStyle/>
          <a:p>
            <a:pPr marL="218201" indent="-209991">
              <a:spcBef>
                <a:spcPts val="69"/>
              </a:spcBef>
              <a:buClr>
                <a:srgbClr val="4764B0"/>
              </a:buClr>
              <a:buFont typeface="Wingdings"/>
              <a:buChar char=""/>
              <a:tabLst>
                <a:tab pos="218633" algn="l"/>
              </a:tabLst>
            </a:pPr>
            <a:r>
              <a:rPr sz="1158" dirty="0">
                <a:latin typeface="Corbel"/>
                <a:cs typeface="Corbel"/>
              </a:rPr>
              <a:t>1</a:t>
            </a:r>
            <a:r>
              <a:rPr sz="1158" spc="-5" dirty="0">
                <a:latin typeface="Corbel"/>
                <a:cs typeface="Corbel"/>
              </a:rPr>
              <a:t>87</a:t>
            </a:r>
            <a:r>
              <a:rPr sz="1158" dirty="0">
                <a:latin typeface="Corbel"/>
                <a:cs typeface="Corbel"/>
              </a:rPr>
              <a:t>0</a:t>
            </a:r>
            <a:r>
              <a:rPr sz="1158" dirty="0">
                <a:latin typeface="Malgun Gothic"/>
                <a:cs typeface="Malgun Gothic"/>
              </a:rPr>
              <a:t>년대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highlight>
                  <a:srgbClr val="FFFF00"/>
                </a:highlight>
                <a:latin typeface="Malgun Gothic"/>
                <a:cs typeface="Malgun Gothic"/>
              </a:rPr>
              <a:t>금본위</a:t>
            </a:r>
            <a:r>
              <a:rPr sz="1158" spc="-173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158" dirty="0">
                <a:highlight>
                  <a:srgbClr val="FFFF00"/>
                </a:highlight>
                <a:latin typeface="Malgun Gothic"/>
                <a:cs typeface="Malgun Gothic"/>
              </a:rPr>
              <a:t>국제통화</a:t>
            </a:r>
          </a:p>
          <a:p>
            <a:pPr marL="421712" lvl="1" indent="-203943">
              <a:spcBef>
                <a:spcPts val="932"/>
              </a:spcBef>
              <a:buClr>
                <a:srgbClr val="4764B0"/>
              </a:buClr>
              <a:buFont typeface="Wingdings"/>
              <a:buChar char=""/>
              <a:tabLst>
                <a:tab pos="421712" algn="l"/>
                <a:tab pos="422141" algn="l"/>
              </a:tabLst>
            </a:pPr>
            <a:r>
              <a:rPr sz="1158" dirty="0">
                <a:latin typeface="Malgun Gothic"/>
                <a:cs typeface="Malgun Gothic"/>
              </a:rPr>
              <a:t>세계화를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지탱한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중요한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기반</a:t>
            </a:r>
          </a:p>
          <a:p>
            <a:pPr marL="421712" lvl="1" indent="-203943">
              <a:spcBef>
                <a:spcPts val="996"/>
              </a:spcBef>
              <a:buClr>
                <a:srgbClr val="4764B0"/>
              </a:buClr>
              <a:buFont typeface="Wingdings"/>
              <a:buChar char=""/>
              <a:tabLst>
                <a:tab pos="421712" algn="l"/>
                <a:tab pos="422141" algn="l"/>
              </a:tabLst>
            </a:pPr>
            <a:r>
              <a:rPr sz="1158" dirty="0">
                <a:highlight>
                  <a:srgbClr val="FFFF00"/>
                </a:highlight>
                <a:latin typeface="Malgun Gothic"/>
                <a:cs typeface="Malgun Gothic"/>
              </a:rPr>
              <a:t>각국</a:t>
            </a:r>
            <a:r>
              <a:rPr sz="1158" spc="-173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158" dirty="0">
                <a:highlight>
                  <a:srgbClr val="FFFF00"/>
                </a:highlight>
                <a:latin typeface="Malgun Gothic"/>
                <a:cs typeface="Malgun Gothic"/>
              </a:rPr>
              <a:t>통화는</a:t>
            </a:r>
            <a:r>
              <a:rPr sz="1158" spc="-173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158" dirty="0">
                <a:highlight>
                  <a:srgbClr val="FFFF00"/>
                </a:highlight>
                <a:latin typeface="Malgun Gothic"/>
                <a:cs typeface="Malgun Gothic"/>
              </a:rPr>
              <a:t>금</a:t>
            </a:r>
            <a:r>
              <a:rPr sz="1158" spc="-173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158" dirty="0">
                <a:highlight>
                  <a:srgbClr val="FFFF00"/>
                </a:highlight>
                <a:latin typeface="Malgun Gothic"/>
                <a:cs typeface="Malgun Gothic"/>
              </a:rPr>
              <a:t>가치에</a:t>
            </a:r>
            <a:r>
              <a:rPr sz="1158" spc="-173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158" dirty="0">
                <a:highlight>
                  <a:srgbClr val="FFFF00"/>
                </a:highlight>
                <a:latin typeface="Malgun Gothic"/>
                <a:cs typeface="Malgun Gothic"/>
              </a:rPr>
              <a:t>고정</a:t>
            </a:r>
          </a:p>
          <a:p>
            <a:pPr marL="421712" lvl="1" indent="-203943">
              <a:spcBef>
                <a:spcPts val="996"/>
              </a:spcBef>
              <a:buClr>
                <a:srgbClr val="4764B0"/>
              </a:buClr>
              <a:buFont typeface="Wingdings"/>
              <a:buChar char=""/>
              <a:tabLst>
                <a:tab pos="421712" algn="l"/>
                <a:tab pos="422141" algn="l"/>
              </a:tabLst>
            </a:pPr>
            <a:r>
              <a:rPr sz="1158" dirty="0">
                <a:latin typeface="Malgun Gothic"/>
                <a:cs typeface="Malgun Gothic"/>
              </a:rPr>
              <a:t>금본위제의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조건</a:t>
            </a:r>
            <a:r>
              <a:rPr sz="1158" dirty="0">
                <a:latin typeface="Corbel"/>
                <a:cs typeface="Corbel"/>
              </a:rPr>
              <a:t>:</a:t>
            </a:r>
            <a:r>
              <a:rPr sz="1158" spc="-5" dirty="0">
                <a:latin typeface="Corbel"/>
                <a:cs typeface="Corbel"/>
              </a:rPr>
              <a:t> </a:t>
            </a:r>
            <a:r>
              <a:rPr sz="1158" dirty="0">
                <a:latin typeface="Corbel"/>
                <a:cs typeface="Corbel"/>
              </a:rPr>
              <a:t>1) </a:t>
            </a:r>
            <a:r>
              <a:rPr sz="1158" dirty="0">
                <a:highlight>
                  <a:srgbClr val="FFFF00"/>
                </a:highlight>
                <a:latin typeface="Malgun Gothic"/>
                <a:cs typeface="Malgun Gothic"/>
              </a:rPr>
              <a:t>자본의</a:t>
            </a:r>
            <a:r>
              <a:rPr sz="1158" spc="-173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158" dirty="0">
                <a:highlight>
                  <a:srgbClr val="FFFF00"/>
                </a:highlight>
                <a:latin typeface="Malgun Gothic"/>
                <a:cs typeface="Malgun Gothic"/>
              </a:rPr>
              <a:t>자유로운</a:t>
            </a:r>
            <a:r>
              <a:rPr sz="1158" spc="-173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158" dirty="0">
                <a:highlight>
                  <a:srgbClr val="FFFF00"/>
                </a:highlight>
                <a:latin typeface="Malgun Gothic"/>
                <a:cs typeface="Malgun Gothic"/>
              </a:rPr>
              <a:t>이동</a:t>
            </a:r>
            <a:r>
              <a:rPr sz="1158" dirty="0">
                <a:latin typeface="Corbel"/>
                <a:cs typeface="Corbel"/>
              </a:rPr>
              <a:t>,</a:t>
            </a:r>
            <a:r>
              <a:rPr sz="1158" spc="-5" dirty="0">
                <a:latin typeface="Corbel"/>
                <a:cs typeface="Corbel"/>
              </a:rPr>
              <a:t> </a:t>
            </a:r>
            <a:r>
              <a:rPr sz="1158" spc="5" dirty="0">
                <a:latin typeface="Corbel"/>
                <a:cs typeface="Corbel"/>
              </a:rPr>
              <a:t>2</a:t>
            </a:r>
            <a:r>
              <a:rPr sz="1158" dirty="0">
                <a:latin typeface="Corbel"/>
                <a:cs typeface="Corbel"/>
              </a:rPr>
              <a:t>) </a:t>
            </a:r>
            <a:r>
              <a:rPr sz="1158" dirty="0">
                <a:highlight>
                  <a:srgbClr val="FFFF00"/>
                </a:highlight>
                <a:latin typeface="Malgun Gothic"/>
                <a:cs typeface="Malgun Gothic"/>
              </a:rPr>
              <a:t>국가</a:t>
            </a:r>
            <a:r>
              <a:rPr sz="1158" spc="-173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158" dirty="0">
                <a:highlight>
                  <a:srgbClr val="FFFF00"/>
                </a:highlight>
                <a:latin typeface="Malgun Gothic"/>
                <a:cs typeface="Malgun Gothic"/>
              </a:rPr>
              <a:t>간</a:t>
            </a:r>
            <a:r>
              <a:rPr sz="1158" spc="-173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158" dirty="0">
                <a:highlight>
                  <a:srgbClr val="FFFF00"/>
                </a:highlight>
                <a:latin typeface="Malgun Gothic"/>
                <a:cs typeface="Malgun Gothic"/>
              </a:rPr>
              <a:t>고정환율의</a:t>
            </a:r>
            <a:r>
              <a:rPr sz="1158" spc="-173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158" dirty="0">
                <a:highlight>
                  <a:srgbClr val="FFFF00"/>
                </a:highlight>
                <a:latin typeface="Malgun Gothic"/>
                <a:cs typeface="Malgun Gothic"/>
              </a:rPr>
              <a:t>유지</a:t>
            </a:r>
            <a:r>
              <a:rPr sz="1158" spc="-173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158" spc="5" dirty="0">
                <a:latin typeface="Corbel"/>
                <a:cs typeface="Corbel"/>
              </a:rPr>
              <a:t>3</a:t>
            </a:r>
            <a:r>
              <a:rPr sz="1158" dirty="0">
                <a:latin typeface="Corbel"/>
                <a:cs typeface="Corbel"/>
              </a:rPr>
              <a:t>) </a:t>
            </a:r>
            <a:r>
              <a:rPr sz="1158" dirty="0">
                <a:highlight>
                  <a:srgbClr val="FFFF00"/>
                </a:highlight>
                <a:latin typeface="Malgun Gothic"/>
                <a:cs typeface="Malgun Gothic"/>
              </a:rPr>
              <a:t>조정기구의</a:t>
            </a:r>
            <a:r>
              <a:rPr sz="1158" spc="-173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158" dirty="0">
                <a:highlight>
                  <a:srgbClr val="FFFF00"/>
                </a:highlight>
                <a:latin typeface="Malgun Gothic"/>
                <a:cs typeface="Malgun Gothic"/>
              </a:rPr>
              <a:t>부재</a:t>
            </a:r>
          </a:p>
          <a:p>
            <a:pPr marL="421712">
              <a:spcBef>
                <a:spcPts val="656"/>
              </a:spcBef>
            </a:pPr>
            <a:r>
              <a:rPr sz="1158" dirty="0">
                <a:highlight>
                  <a:srgbClr val="FFFF00"/>
                </a:highlight>
                <a:latin typeface="Corbel"/>
                <a:cs typeface="Corbel"/>
              </a:rPr>
              <a:t>(</a:t>
            </a:r>
            <a:r>
              <a:rPr sz="1158" dirty="0">
                <a:highlight>
                  <a:srgbClr val="FFFF00"/>
                </a:highlight>
                <a:latin typeface="Malgun Gothic"/>
                <a:cs typeface="Malgun Gothic"/>
              </a:rPr>
              <a:t>통화정책</a:t>
            </a:r>
            <a:r>
              <a:rPr sz="1158" spc="-173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158" dirty="0">
                <a:highlight>
                  <a:srgbClr val="FFFF00"/>
                </a:highlight>
                <a:latin typeface="Malgun Gothic"/>
                <a:cs typeface="Malgun Gothic"/>
              </a:rPr>
              <a:t>불가능</a:t>
            </a:r>
            <a:r>
              <a:rPr sz="1158" dirty="0">
                <a:highlight>
                  <a:srgbClr val="FFFF00"/>
                </a:highlight>
                <a:latin typeface="Corbel"/>
                <a:cs typeface="Corbel"/>
              </a:rPr>
              <a:t>)</a:t>
            </a:r>
          </a:p>
          <a:p>
            <a:pPr marL="421712" lvl="1" indent="-203943">
              <a:spcBef>
                <a:spcPts val="982"/>
              </a:spcBef>
              <a:buClr>
                <a:srgbClr val="4764B0"/>
              </a:buClr>
              <a:buFont typeface="Wingdings"/>
              <a:buChar char=""/>
              <a:tabLst>
                <a:tab pos="421712" algn="l"/>
                <a:tab pos="422141" algn="l"/>
              </a:tabLst>
            </a:pPr>
            <a:r>
              <a:rPr sz="1158" dirty="0">
                <a:highlight>
                  <a:srgbClr val="FFFF00"/>
                </a:highlight>
                <a:latin typeface="Malgun Gothic"/>
                <a:cs typeface="Malgun Gothic"/>
              </a:rPr>
              <a:t>한</a:t>
            </a:r>
            <a:r>
              <a:rPr sz="1158" spc="-173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158" dirty="0">
                <a:highlight>
                  <a:srgbClr val="FFFF00"/>
                </a:highlight>
                <a:latin typeface="Malgun Gothic"/>
                <a:cs typeface="Malgun Gothic"/>
              </a:rPr>
              <a:t>나라의</a:t>
            </a:r>
            <a:r>
              <a:rPr sz="1158" spc="-173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158" dirty="0">
                <a:highlight>
                  <a:srgbClr val="FFFF00"/>
                </a:highlight>
                <a:latin typeface="Malgun Gothic"/>
                <a:cs typeface="Malgun Gothic"/>
              </a:rPr>
              <a:t>물가수준</a:t>
            </a:r>
            <a:r>
              <a:rPr sz="1158" dirty="0">
                <a:highlight>
                  <a:srgbClr val="FFFF00"/>
                </a:highlight>
                <a:latin typeface="Corbel"/>
                <a:cs typeface="Corbel"/>
              </a:rPr>
              <a:t>,</a:t>
            </a:r>
            <a:r>
              <a:rPr sz="1158" spc="-5" dirty="0">
                <a:highlight>
                  <a:srgbClr val="FFFF00"/>
                </a:highlight>
                <a:latin typeface="Corbel"/>
                <a:cs typeface="Corbel"/>
              </a:rPr>
              <a:t> </a:t>
            </a:r>
            <a:r>
              <a:rPr sz="1158" dirty="0">
                <a:highlight>
                  <a:srgbClr val="FFFF00"/>
                </a:highlight>
                <a:latin typeface="Malgun Gothic"/>
                <a:cs typeface="Malgun Gothic"/>
              </a:rPr>
              <a:t>통화량은</a:t>
            </a:r>
            <a:r>
              <a:rPr sz="1158" spc="-173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158" dirty="0">
                <a:highlight>
                  <a:srgbClr val="FFFF00"/>
                </a:highlight>
                <a:latin typeface="Malgun Gothic"/>
                <a:cs typeface="Malgun Gothic"/>
              </a:rPr>
              <a:t>그</a:t>
            </a:r>
            <a:r>
              <a:rPr sz="1158" spc="-173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158" dirty="0">
                <a:highlight>
                  <a:srgbClr val="FFFF00"/>
                </a:highlight>
                <a:latin typeface="Malgun Gothic"/>
                <a:cs typeface="Malgun Gothic"/>
              </a:rPr>
              <a:t>나라의</a:t>
            </a:r>
            <a:r>
              <a:rPr sz="1158" spc="-173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158" dirty="0">
                <a:highlight>
                  <a:srgbClr val="FFFF00"/>
                </a:highlight>
                <a:latin typeface="Malgun Gothic"/>
                <a:cs typeface="Malgun Gothic"/>
              </a:rPr>
              <a:t>금보유량에</a:t>
            </a:r>
            <a:r>
              <a:rPr sz="1158" spc="-173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158" dirty="0">
                <a:highlight>
                  <a:srgbClr val="FFFF00"/>
                </a:highlight>
                <a:latin typeface="Malgun Gothic"/>
                <a:cs typeface="Malgun Gothic"/>
              </a:rPr>
              <a:t>의해</a:t>
            </a:r>
            <a:r>
              <a:rPr sz="1158" spc="-173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158" dirty="0">
                <a:highlight>
                  <a:srgbClr val="FFFF00"/>
                </a:highlight>
                <a:latin typeface="Malgun Gothic"/>
                <a:cs typeface="Malgun Gothic"/>
              </a:rPr>
              <a:t>결정됨</a:t>
            </a:r>
          </a:p>
          <a:p>
            <a:pPr marL="421712" lvl="1" indent="-203943">
              <a:spcBef>
                <a:spcPts val="932"/>
              </a:spcBef>
              <a:buClr>
                <a:srgbClr val="4764B0"/>
              </a:buClr>
              <a:buFont typeface="Wingdings"/>
              <a:buChar char=""/>
              <a:tabLst>
                <a:tab pos="421712" algn="l"/>
                <a:tab pos="422141" algn="l"/>
              </a:tabLst>
            </a:pPr>
            <a:r>
              <a:rPr sz="1158" dirty="0">
                <a:highlight>
                  <a:srgbClr val="FFFF00"/>
                </a:highlight>
                <a:latin typeface="Malgun Gothic"/>
                <a:cs typeface="Malgun Gothic"/>
              </a:rPr>
              <a:t>국제수지조정</a:t>
            </a:r>
            <a:r>
              <a:rPr sz="1158" spc="-173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158" dirty="0">
                <a:highlight>
                  <a:srgbClr val="FFFF00"/>
                </a:highlight>
                <a:latin typeface="Malgun Gothic"/>
                <a:cs typeface="Malgun Gothic"/>
              </a:rPr>
              <a:t>메커니즘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16CC4E-200D-FCCE-9A44-0ACA9AEC96E1}"/>
              </a:ext>
            </a:extLst>
          </p:cNvPr>
          <p:cNvSpPr txBox="1"/>
          <p:nvPr/>
        </p:nvSpPr>
        <p:spPr>
          <a:xfrm>
            <a:off x="3600450" y="2158474"/>
            <a:ext cx="5257800" cy="219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25" dirty="0">
                <a:solidFill>
                  <a:schemeClr val="tx2"/>
                </a:solidFill>
              </a:rPr>
              <a:t>국제 거래에 있어 결제수단을 금으로 지불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58E9D2-1869-CC4F-3BB7-8E5B1281D501}"/>
              </a:ext>
            </a:extLst>
          </p:cNvPr>
          <p:cNvSpPr txBox="1"/>
          <p:nvPr/>
        </p:nvSpPr>
        <p:spPr>
          <a:xfrm>
            <a:off x="3829050" y="2454458"/>
            <a:ext cx="451485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25" dirty="0">
                <a:solidFill>
                  <a:schemeClr val="tx2"/>
                </a:solidFill>
              </a:rPr>
              <a:t>영국 </a:t>
            </a:r>
            <a:r>
              <a:rPr lang="en-US" altLang="ko-KR" sz="825" dirty="0">
                <a:solidFill>
                  <a:schemeClr val="tx2"/>
                </a:solidFill>
              </a:rPr>
              <a:t>1</a:t>
            </a:r>
            <a:r>
              <a:rPr lang="ko-KR" altLang="en-US" sz="825" dirty="0">
                <a:solidFill>
                  <a:schemeClr val="tx2"/>
                </a:solidFill>
              </a:rPr>
              <a:t>파운드 </a:t>
            </a:r>
            <a:r>
              <a:rPr lang="en-US" altLang="ko-KR" sz="825" dirty="0">
                <a:solidFill>
                  <a:schemeClr val="tx2"/>
                </a:solidFill>
              </a:rPr>
              <a:t>= 113</a:t>
            </a:r>
            <a:r>
              <a:rPr lang="ko-KR" altLang="en-US" sz="825" dirty="0" err="1">
                <a:solidFill>
                  <a:schemeClr val="tx2"/>
                </a:solidFill>
              </a:rPr>
              <a:t>그래인</a:t>
            </a:r>
            <a:endParaRPr lang="en-US" altLang="ko-KR" sz="825" dirty="0">
              <a:solidFill>
                <a:schemeClr val="tx2"/>
              </a:solidFill>
            </a:endParaRPr>
          </a:p>
          <a:p>
            <a:r>
              <a:rPr lang="ko-KR" altLang="en-US" sz="825" dirty="0">
                <a:solidFill>
                  <a:schemeClr val="tx2"/>
                </a:solidFill>
              </a:rPr>
              <a:t>미 </a:t>
            </a:r>
            <a:r>
              <a:rPr lang="en-US" altLang="ko-KR" sz="825" dirty="0">
                <a:solidFill>
                  <a:schemeClr val="tx2"/>
                </a:solidFill>
              </a:rPr>
              <a:t>1</a:t>
            </a:r>
            <a:r>
              <a:rPr lang="ko-KR" altLang="en-US" sz="825" dirty="0">
                <a:solidFill>
                  <a:schemeClr val="tx2"/>
                </a:solidFill>
              </a:rPr>
              <a:t>달러 </a:t>
            </a:r>
            <a:r>
              <a:rPr lang="en-US" altLang="ko-KR" sz="825" dirty="0">
                <a:solidFill>
                  <a:schemeClr val="tx2"/>
                </a:solidFill>
              </a:rPr>
              <a:t>= 23.22 </a:t>
            </a:r>
            <a:r>
              <a:rPr lang="ko-KR" altLang="en-US" sz="825" dirty="0" err="1">
                <a:solidFill>
                  <a:schemeClr val="tx2"/>
                </a:solidFill>
              </a:rPr>
              <a:t>그래인</a:t>
            </a:r>
            <a:endParaRPr lang="en-US" altLang="ko-KR" sz="825" dirty="0">
              <a:solidFill>
                <a:schemeClr val="tx2"/>
              </a:solidFill>
            </a:endParaRPr>
          </a:p>
          <a:p>
            <a:pPr marL="128588" indent="-128588">
              <a:buFont typeface="Symbol" panose="05050102010706020507" pitchFamily="18" charset="2"/>
              <a:buChar char="Þ"/>
            </a:pPr>
            <a:r>
              <a:rPr lang="ko-KR" altLang="en-US" sz="825" dirty="0">
                <a:solidFill>
                  <a:schemeClr val="tx2"/>
                </a:solidFill>
              </a:rPr>
              <a:t>각국의 통화가 금 가치에 고정</a:t>
            </a:r>
            <a:r>
              <a:rPr lang="en-US" altLang="ko-KR" sz="825" dirty="0">
                <a:solidFill>
                  <a:schemeClr val="tx2"/>
                </a:solidFill>
              </a:rPr>
              <a:t>, </a:t>
            </a:r>
            <a:r>
              <a:rPr lang="ko-KR" altLang="en-US" sz="825" dirty="0">
                <a:solidFill>
                  <a:schemeClr val="tx2"/>
                </a:solidFill>
              </a:rPr>
              <a:t>환율이 고정됨</a:t>
            </a:r>
            <a:endParaRPr lang="en-US" altLang="ko-KR" sz="825" dirty="0">
              <a:solidFill>
                <a:schemeClr val="tx2"/>
              </a:solidFill>
            </a:endParaRPr>
          </a:p>
          <a:p>
            <a:pPr marL="128588" indent="-128588">
              <a:buFont typeface="Symbol" panose="05050102010706020507" pitchFamily="18" charset="2"/>
              <a:buChar char="Þ"/>
            </a:pPr>
            <a:r>
              <a:rPr lang="en-US" altLang="ko-KR" sz="825" dirty="0">
                <a:solidFill>
                  <a:schemeClr val="tx2"/>
                </a:solidFill>
              </a:rPr>
              <a:t>1</a:t>
            </a:r>
            <a:r>
              <a:rPr lang="ko-KR" altLang="en-US" sz="825" dirty="0">
                <a:solidFill>
                  <a:schemeClr val="tx2"/>
                </a:solidFill>
              </a:rPr>
              <a:t>파운드 </a:t>
            </a:r>
            <a:r>
              <a:rPr lang="en-US" altLang="ko-KR" sz="825" dirty="0">
                <a:solidFill>
                  <a:schemeClr val="tx2"/>
                </a:solidFill>
              </a:rPr>
              <a:t>= 113 / 23.22 </a:t>
            </a:r>
            <a:r>
              <a:rPr lang="ko-KR" altLang="en-US" sz="825" dirty="0" err="1">
                <a:solidFill>
                  <a:schemeClr val="tx2"/>
                </a:solidFill>
              </a:rPr>
              <a:t>그래인</a:t>
            </a:r>
            <a:endParaRPr lang="ko-KR" altLang="en-US" sz="825" dirty="0">
              <a:solidFill>
                <a:schemeClr val="tx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01C924-DCEB-8EC7-A06D-A6986B48A39F}"/>
              </a:ext>
            </a:extLst>
          </p:cNvPr>
          <p:cNvSpPr txBox="1"/>
          <p:nvPr/>
        </p:nvSpPr>
        <p:spPr>
          <a:xfrm>
            <a:off x="6337935" y="3330897"/>
            <a:ext cx="2000250" cy="219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25" dirty="0">
                <a:solidFill>
                  <a:schemeClr val="tx2"/>
                </a:solidFill>
              </a:rPr>
              <a:t>-&gt; </a:t>
            </a:r>
            <a:r>
              <a:rPr lang="ko-KR" altLang="en-US" sz="825" dirty="0">
                <a:solidFill>
                  <a:schemeClr val="tx2"/>
                </a:solidFill>
              </a:rPr>
              <a:t>통화량의 조정을 임의로 할 수 없음</a:t>
            </a:r>
            <a:r>
              <a:rPr lang="en-US" altLang="ko-KR" sz="825" dirty="0">
                <a:solidFill>
                  <a:schemeClr val="tx2"/>
                </a:solidFill>
              </a:rPr>
              <a:t> </a:t>
            </a:r>
            <a:endParaRPr lang="ko-KR" altLang="en-US" sz="825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C9F973-0DE1-9218-8C7D-4C8655EBB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국제수지 조정 메커니즘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70D00F5-6AA0-2B32-0FA6-E59418E28A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3705" y="2192696"/>
            <a:ext cx="4080595" cy="1846659"/>
          </a:xfrm>
        </p:spPr>
        <p:txBody>
          <a:bodyPr/>
          <a:lstStyle/>
          <a:p>
            <a:r>
              <a:rPr lang="en-US" altLang="ko-KR" sz="1200" dirty="0"/>
              <a:t>A</a:t>
            </a:r>
            <a:r>
              <a:rPr lang="ko-KR" altLang="en-US" sz="1200" dirty="0"/>
              <a:t>국이 국제수지 적자</a:t>
            </a:r>
            <a:endParaRPr lang="en-US" altLang="ko-KR" sz="1200" dirty="0"/>
          </a:p>
          <a:p>
            <a:pPr marL="214313" indent="-214313">
              <a:buFont typeface="Wingdings" panose="05000000000000000000" pitchFamily="2" charset="2"/>
              <a:buChar char="è"/>
            </a:pPr>
            <a:r>
              <a:rPr lang="ko-KR" altLang="en-US" sz="1200" dirty="0"/>
              <a:t>은행역할 </a:t>
            </a:r>
            <a:r>
              <a:rPr lang="en-US" altLang="ko-KR" sz="1200" dirty="0"/>
              <a:t>X</a:t>
            </a:r>
            <a:r>
              <a:rPr lang="ko-KR" altLang="en-US" sz="1200" dirty="0"/>
              <a:t>라면 </a:t>
            </a:r>
            <a:r>
              <a:rPr lang="en-US" altLang="ko-KR" sz="1200" dirty="0"/>
              <a:t>	</a:t>
            </a:r>
            <a:r>
              <a:rPr lang="ko-KR" altLang="en-US" sz="1200" dirty="0"/>
              <a:t>금</a:t>
            </a:r>
            <a:r>
              <a:rPr lang="en-US" altLang="ko-KR" sz="1200" dirty="0"/>
              <a:t>:</a:t>
            </a:r>
            <a:r>
              <a:rPr lang="ko-KR" altLang="en-US" sz="1200" dirty="0"/>
              <a:t> 적자국</a:t>
            </a:r>
            <a:r>
              <a:rPr lang="en-US" altLang="ko-KR" sz="1200" dirty="0"/>
              <a:t>(A)</a:t>
            </a:r>
            <a:r>
              <a:rPr lang="ko-KR" altLang="en-US" sz="1200" dirty="0"/>
              <a:t> </a:t>
            </a:r>
            <a:r>
              <a:rPr lang="en-US" altLang="ko-KR" sz="1200" dirty="0"/>
              <a:t>-&gt; </a:t>
            </a:r>
            <a:r>
              <a:rPr lang="ko-KR" altLang="en-US" sz="1200" dirty="0"/>
              <a:t>흑자국</a:t>
            </a:r>
            <a:r>
              <a:rPr lang="en-US" altLang="ko-KR" sz="1200" dirty="0"/>
              <a:t>(B)</a:t>
            </a:r>
          </a:p>
          <a:p>
            <a:pPr marL="214313" indent="-214313">
              <a:buFont typeface="Wingdings" panose="05000000000000000000" pitchFamily="2" charset="2"/>
              <a:buChar char="è"/>
            </a:pPr>
            <a:r>
              <a:rPr lang="en-US" altLang="ko-KR" sz="1200" dirty="0"/>
              <a:t>A</a:t>
            </a:r>
            <a:r>
              <a:rPr lang="ko-KR" altLang="en-US" sz="1200" dirty="0"/>
              <a:t>국 통화량 낮아짐</a:t>
            </a:r>
            <a:endParaRPr lang="en-US" altLang="ko-KR" sz="1200" dirty="0"/>
          </a:p>
          <a:p>
            <a:pPr marL="525412" lvl="1" indent="-214313">
              <a:buFont typeface="Wingdings" panose="05000000000000000000" pitchFamily="2" charset="2"/>
              <a:buChar char="è"/>
            </a:pPr>
            <a:r>
              <a:rPr lang="ko-KR" altLang="en-US" sz="1200" dirty="0"/>
              <a:t>가격정화 플로우 </a:t>
            </a:r>
            <a:r>
              <a:rPr lang="ko-KR" altLang="en-US" sz="1200" dirty="0" err="1"/>
              <a:t>매커니즘</a:t>
            </a:r>
            <a:r>
              <a:rPr lang="en-US" altLang="ko-KR" sz="1200" dirty="0"/>
              <a:t>:</a:t>
            </a:r>
            <a:br>
              <a:rPr lang="en-US" altLang="ko-KR" sz="1200" dirty="0"/>
            </a:br>
            <a:r>
              <a:rPr lang="ko-KR" altLang="en-US" sz="1200" dirty="0"/>
              <a:t>물가하락 </a:t>
            </a:r>
            <a:r>
              <a:rPr lang="en-US" altLang="ko-KR" sz="1200" dirty="0"/>
              <a:t>-&gt; </a:t>
            </a:r>
            <a:r>
              <a:rPr lang="ko-KR" altLang="en-US" sz="1200" dirty="0"/>
              <a:t>수출상승</a:t>
            </a:r>
            <a:r>
              <a:rPr lang="en-US" altLang="ko-KR" sz="1200" dirty="0"/>
              <a:t>, </a:t>
            </a:r>
            <a:r>
              <a:rPr lang="ko-KR" altLang="en-US" sz="1200" dirty="0"/>
              <a:t>수입 하락 개선</a:t>
            </a:r>
            <a:endParaRPr lang="en-US" altLang="ko-KR" sz="1200" dirty="0"/>
          </a:p>
          <a:p>
            <a:pPr marL="525412" lvl="1" indent="-214313">
              <a:buFont typeface="Wingdings" panose="05000000000000000000" pitchFamily="2" charset="2"/>
              <a:buChar char="è"/>
            </a:pPr>
            <a:r>
              <a:rPr lang="ko-KR" altLang="en-US" sz="1200" dirty="0"/>
              <a:t>자본이동설</a:t>
            </a:r>
            <a:r>
              <a:rPr lang="en-US" altLang="ko-KR" sz="1200" dirty="0"/>
              <a:t>:</a:t>
            </a:r>
            <a:br>
              <a:rPr lang="en-US" altLang="ko-KR" sz="1200" dirty="0"/>
            </a:br>
            <a:r>
              <a:rPr lang="ko-KR" altLang="en-US" sz="1200" dirty="0"/>
              <a:t>이자율 상승 </a:t>
            </a:r>
            <a:r>
              <a:rPr lang="en-US" altLang="ko-KR" sz="1200" dirty="0"/>
              <a:t>-&gt; </a:t>
            </a:r>
            <a:r>
              <a:rPr lang="ko-KR" altLang="en-US" sz="1200" dirty="0"/>
              <a:t>자본 유입</a:t>
            </a:r>
            <a:endParaRPr lang="en-US" altLang="ko-KR" sz="1200" dirty="0"/>
          </a:p>
          <a:p>
            <a:pPr marL="525412" lvl="1" indent="-214313">
              <a:buFont typeface="Wingdings" panose="05000000000000000000" pitchFamily="2" charset="2"/>
              <a:buChar char="è"/>
            </a:pPr>
            <a:r>
              <a:rPr lang="ko-KR" altLang="en-US" sz="1200" dirty="0" err="1"/>
              <a:t>개방경제승수이론</a:t>
            </a:r>
            <a:r>
              <a:rPr lang="en-US" altLang="ko-KR" sz="1200" dirty="0"/>
              <a:t>:</a:t>
            </a:r>
            <a:br>
              <a:rPr lang="en-US" altLang="ko-KR" sz="1200" dirty="0"/>
            </a:br>
            <a:r>
              <a:rPr lang="ko-KR" altLang="en-US" sz="1200" dirty="0"/>
              <a:t>유효수요 감소</a:t>
            </a:r>
            <a:r>
              <a:rPr lang="en-US" altLang="ko-KR" sz="1200" dirty="0"/>
              <a:t>, </a:t>
            </a:r>
            <a:r>
              <a:rPr lang="ko-KR" altLang="en-US" sz="1200" dirty="0"/>
              <a:t>지출</a:t>
            </a:r>
            <a:r>
              <a:rPr lang="en-US" altLang="ko-KR" sz="1200" dirty="0"/>
              <a:t>&amp;</a:t>
            </a:r>
            <a:r>
              <a:rPr lang="ko-KR" altLang="en-US" sz="1200" dirty="0"/>
              <a:t>고용 감소</a:t>
            </a:r>
            <a:r>
              <a:rPr lang="en-US" altLang="ko-KR" sz="1200" dirty="0"/>
              <a:t>,  </a:t>
            </a:r>
            <a:r>
              <a:rPr lang="ko-KR" altLang="en-US" sz="1200" dirty="0"/>
              <a:t>수입수요 감소</a:t>
            </a:r>
            <a:endParaRPr lang="en-US" altLang="ko-KR" sz="1200" dirty="0"/>
          </a:p>
          <a:p>
            <a:pPr marL="836506" lvl="2" indent="-214313">
              <a:buFont typeface="Wingdings" panose="05000000000000000000" pitchFamily="2" charset="2"/>
              <a:buChar char="è"/>
            </a:pPr>
            <a:endParaRPr lang="en-US" altLang="ko-KR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3B8033-D4EA-9EBC-3812-32A0565D1A33}"/>
              </a:ext>
            </a:extLst>
          </p:cNvPr>
          <p:cNvSpPr txBox="1"/>
          <p:nvPr/>
        </p:nvSpPr>
        <p:spPr>
          <a:xfrm>
            <a:off x="3896339" y="2961527"/>
            <a:ext cx="1495922" cy="308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8" dirty="0"/>
              <a:t>-&gt; </a:t>
            </a:r>
            <a:r>
              <a:rPr lang="ko-KR" altLang="en-US" sz="1408" dirty="0"/>
              <a:t>국제수지 개선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9BC487-8554-E077-27D7-D65C29B0ADF3}"/>
              </a:ext>
            </a:extLst>
          </p:cNvPr>
          <p:cNvSpPr txBox="1"/>
          <p:nvPr/>
        </p:nvSpPr>
        <p:spPr>
          <a:xfrm>
            <a:off x="458803" y="4127239"/>
            <a:ext cx="7834196" cy="308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8" dirty="0" err="1"/>
              <a:t>통화론적</a:t>
            </a:r>
            <a:r>
              <a:rPr lang="ko-KR" altLang="en-US" sz="1408" dirty="0"/>
              <a:t> 접근 </a:t>
            </a:r>
            <a:r>
              <a:rPr lang="en-US" altLang="ko-KR" sz="1408" dirty="0"/>
              <a:t>: </a:t>
            </a:r>
            <a:r>
              <a:rPr lang="ko-KR" altLang="en-US" sz="1408" dirty="0"/>
              <a:t>위의 경로들이 기대가 합리적일 수록 구매력 평가 </a:t>
            </a:r>
            <a:r>
              <a:rPr lang="en-US" altLang="ko-KR" sz="1408" dirty="0"/>
              <a:t>or </a:t>
            </a:r>
            <a:r>
              <a:rPr lang="ko-KR" altLang="en-US" sz="1408" dirty="0"/>
              <a:t>이자율 평가의 회복이 빠르다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1AD8E4-78D3-4D0F-FA96-85982FD55C0D}"/>
              </a:ext>
            </a:extLst>
          </p:cNvPr>
          <p:cNvSpPr txBox="1"/>
          <p:nvPr/>
        </p:nvSpPr>
        <p:spPr>
          <a:xfrm>
            <a:off x="458803" y="4711414"/>
            <a:ext cx="3860352" cy="308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8" dirty="0"/>
              <a:t>중앙은행 의 역할 </a:t>
            </a:r>
            <a:r>
              <a:rPr lang="en-US" altLang="ko-KR" sz="1408" dirty="0"/>
              <a:t>= </a:t>
            </a:r>
            <a:r>
              <a:rPr lang="ko-KR" altLang="en-US" sz="1408" dirty="0"/>
              <a:t>조정 </a:t>
            </a:r>
            <a:r>
              <a:rPr lang="ko-KR" altLang="en-US" sz="1408" dirty="0" err="1"/>
              <a:t>매커니즘을</a:t>
            </a:r>
            <a:r>
              <a:rPr lang="ko-KR" altLang="en-US" sz="1408" dirty="0"/>
              <a:t> 허용</a:t>
            </a:r>
            <a:r>
              <a:rPr lang="en-US" altLang="ko-KR" sz="1408" dirty="0"/>
              <a:t>, </a:t>
            </a:r>
            <a:r>
              <a:rPr lang="ko-KR" altLang="en-US" sz="1408" dirty="0"/>
              <a:t>촉진</a:t>
            </a:r>
          </a:p>
        </p:txBody>
      </p:sp>
    </p:spTree>
    <p:extLst>
      <p:ext uri="{BB962C8B-B14F-4D97-AF65-F5344CB8AC3E}">
        <p14:creationId xmlns:p14="http://schemas.microsoft.com/office/powerpoint/2010/main" val="12064599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5185" y="1655366"/>
            <a:ext cx="1659320" cy="217973"/>
          </a:xfrm>
          <a:prstGeom prst="rect">
            <a:avLst/>
          </a:prstGeom>
        </p:spPr>
        <p:txBody>
          <a:bodyPr vert="horz" wrap="square" lIns="0" tIns="8648" rIns="0" bIns="0" rtlCol="0">
            <a:spAutoFit/>
          </a:bodyPr>
          <a:lstStyle/>
          <a:p>
            <a:pPr marL="8641">
              <a:spcBef>
                <a:spcPts val="69"/>
              </a:spcBef>
            </a:pPr>
            <a:r>
              <a:rPr spc="31" dirty="0"/>
              <a:t>제</a:t>
            </a:r>
            <a:r>
              <a:rPr sz="1991" b="0" spc="44" baseline="1424" dirty="0">
                <a:latin typeface="Calibri Light"/>
                <a:cs typeface="Calibri Light"/>
              </a:rPr>
              <a:t>1</a:t>
            </a:r>
            <a:r>
              <a:rPr dirty="0"/>
              <a:t>차</a:t>
            </a:r>
            <a:r>
              <a:rPr spc="-130" dirty="0"/>
              <a:t> </a:t>
            </a:r>
            <a:r>
              <a:rPr spc="31" dirty="0"/>
              <a:t>세계</a:t>
            </a:r>
            <a:r>
              <a:rPr dirty="0"/>
              <a:t>화</a:t>
            </a:r>
            <a:r>
              <a:rPr spc="-130" dirty="0"/>
              <a:t> </a:t>
            </a:r>
            <a:r>
              <a:rPr spc="31" dirty="0"/>
              <a:t>배</a:t>
            </a:r>
            <a:r>
              <a:rPr dirty="0"/>
              <a:t>경</a:t>
            </a:r>
            <a:r>
              <a:rPr spc="-130" dirty="0"/>
              <a:t> </a:t>
            </a:r>
            <a:r>
              <a:rPr sz="1991" b="0" spc="15" baseline="1424" dirty="0">
                <a:latin typeface="Calibri Light"/>
                <a:cs typeface="Calibri Light"/>
              </a:rPr>
              <a:t>(</a:t>
            </a:r>
            <a:r>
              <a:rPr sz="1991" b="0" spc="44" baseline="1424" dirty="0">
                <a:latin typeface="Calibri Light"/>
                <a:cs typeface="Calibri Light"/>
              </a:rPr>
              <a:t>3</a:t>
            </a:r>
            <a:r>
              <a:rPr sz="1991" b="0" spc="12" baseline="1424" dirty="0">
                <a:latin typeface="Calibri Light"/>
                <a:cs typeface="Calibri Light"/>
              </a:rPr>
              <a:t>)</a:t>
            </a:r>
            <a:endParaRPr sz="1991" baseline="1424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1490968" y="5177995"/>
            <a:ext cx="599496" cy="269021"/>
          </a:xfrm>
          <a:prstGeom prst="rect">
            <a:avLst/>
          </a:prstGeom>
        </p:spPr>
        <p:txBody>
          <a:bodyPr vert="horz" wrap="square" lIns="0" tIns="17721" rIns="0" bIns="0" rtlCol="0">
            <a:spAutoFit/>
          </a:bodyPr>
          <a:lstStyle/>
          <a:p>
            <a:pPr marL="8641">
              <a:spcBef>
                <a:spcPts val="140"/>
              </a:spcBef>
            </a:pPr>
            <a:r>
              <a:rPr spc="-9" dirty="0"/>
              <a:t>글로벌경제론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19050" y="2158471"/>
            <a:ext cx="3536481" cy="1725869"/>
          </a:xfrm>
          <a:prstGeom prst="rect">
            <a:avLst/>
          </a:prstGeom>
        </p:spPr>
        <p:txBody>
          <a:bodyPr vert="horz" wrap="square" lIns="0" tIns="8648" rIns="0" bIns="0" rtlCol="0">
            <a:spAutoFit/>
          </a:bodyPr>
          <a:lstStyle/>
          <a:p>
            <a:pPr marL="143020" indent="-134807">
              <a:spcBef>
                <a:spcPts val="69"/>
              </a:spcBef>
              <a:buFont typeface="Corbel"/>
              <a:buAutoNum type="arabicPeriod"/>
              <a:tabLst>
                <a:tab pos="143454" algn="l"/>
              </a:tabLst>
            </a:pPr>
            <a:r>
              <a:rPr sz="1158" dirty="0">
                <a:latin typeface="Malgun Gothic"/>
                <a:cs typeface="Malgun Gothic"/>
              </a:rPr>
              <a:t>자유주의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담론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수용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Wingdings"/>
                <a:cs typeface="Wingdings"/>
              </a:rPr>
              <a:t></a:t>
            </a:r>
            <a:r>
              <a:rPr sz="1158" spc="-54" dirty="0">
                <a:latin typeface="Times New Roman"/>
                <a:cs typeface="Times New Roman"/>
              </a:rPr>
              <a:t> </a:t>
            </a:r>
            <a:r>
              <a:rPr sz="1158" dirty="0">
                <a:latin typeface="Malgun Gothic"/>
                <a:cs typeface="Malgun Gothic"/>
              </a:rPr>
              <a:t>세계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주요국들의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규제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완화</a:t>
            </a:r>
          </a:p>
          <a:p>
            <a:pPr>
              <a:spcBef>
                <a:spcPts val="45"/>
              </a:spcBef>
              <a:buFont typeface="Corbel"/>
              <a:buAutoNum type="arabicPeriod"/>
            </a:pPr>
            <a:endParaRPr sz="1803" dirty="0">
              <a:latin typeface="Malgun Gothic"/>
              <a:cs typeface="Malgun Gothic"/>
            </a:endParaRPr>
          </a:p>
          <a:p>
            <a:pPr marL="152094" indent="-143882">
              <a:buFont typeface="Corbel"/>
              <a:buAutoNum type="arabicPeriod"/>
              <a:tabLst>
                <a:tab pos="152527" algn="l"/>
              </a:tabLst>
            </a:pPr>
            <a:r>
              <a:rPr sz="1158" dirty="0">
                <a:latin typeface="Malgun Gothic"/>
                <a:cs typeface="Malgun Gothic"/>
              </a:rPr>
              <a:t>제국주의</a:t>
            </a:r>
          </a:p>
          <a:p>
            <a:pPr marL="421712" lvl="1" indent="-203943">
              <a:spcBef>
                <a:spcPts val="996"/>
              </a:spcBef>
              <a:buClr>
                <a:srgbClr val="4764B0"/>
              </a:buClr>
              <a:buFont typeface="Wingdings"/>
              <a:buChar char=""/>
              <a:tabLst>
                <a:tab pos="421712" algn="l"/>
                <a:tab pos="422141" algn="l"/>
              </a:tabLst>
            </a:pPr>
            <a:r>
              <a:rPr sz="1158" dirty="0">
                <a:latin typeface="Malgun Gothic"/>
                <a:cs typeface="Malgun Gothic"/>
              </a:rPr>
              <a:t>영국의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자유무역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제국주의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Corbel"/>
                <a:cs typeface="Corbel"/>
              </a:rPr>
              <a:t>(1</a:t>
            </a:r>
            <a:r>
              <a:rPr sz="1158" spc="-5" dirty="0">
                <a:latin typeface="Corbel"/>
                <a:cs typeface="Corbel"/>
              </a:rPr>
              <a:t>8</a:t>
            </a:r>
            <a:r>
              <a:rPr sz="1158" dirty="0">
                <a:latin typeface="Corbel"/>
                <a:cs typeface="Corbel"/>
              </a:rPr>
              <a:t>5</a:t>
            </a:r>
            <a:r>
              <a:rPr sz="1158" spc="-5" dirty="0">
                <a:latin typeface="Corbel"/>
                <a:cs typeface="Corbel"/>
              </a:rPr>
              <a:t>0</a:t>
            </a:r>
            <a:r>
              <a:rPr sz="1158" dirty="0">
                <a:latin typeface="Malgun Gothic"/>
                <a:cs typeface="Malgun Gothic"/>
              </a:rPr>
              <a:t>년대</a:t>
            </a:r>
            <a:r>
              <a:rPr sz="1158" spc="-5" dirty="0">
                <a:latin typeface="Corbel"/>
                <a:cs typeface="Corbel"/>
              </a:rPr>
              <a:t>-</a:t>
            </a:r>
            <a:r>
              <a:rPr sz="1158" dirty="0">
                <a:latin typeface="Corbel"/>
                <a:cs typeface="Corbel"/>
              </a:rPr>
              <a:t>1</a:t>
            </a:r>
            <a:r>
              <a:rPr sz="1158" spc="-5" dirty="0">
                <a:latin typeface="Corbel"/>
                <a:cs typeface="Corbel"/>
              </a:rPr>
              <a:t>87</a:t>
            </a:r>
            <a:r>
              <a:rPr sz="1158" dirty="0">
                <a:latin typeface="Corbel"/>
                <a:cs typeface="Corbel"/>
              </a:rPr>
              <a:t>0</a:t>
            </a:r>
            <a:r>
              <a:rPr sz="1158" dirty="0">
                <a:latin typeface="Malgun Gothic"/>
                <a:cs typeface="Malgun Gothic"/>
              </a:rPr>
              <a:t>년대</a:t>
            </a:r>
            <a:r>
              <a:rPr sz="1158" dirty="0">
                <a:latin typeface="Corbel"/>
                <a:cs typeface="Corbel"/>
              </a:rPr>
              <a:t>)</a:t>
            </a:r>
          </a:p>
          <a:p>
            <a:pPr lvl="1">
              <a:lnSpc>
                <a:spcPct val="100000"/>
              </a:lnSpc>
              <a:buClr>
                <a:srgbClr val="4764B0"/>
              </a:buClr>
              <a:buFont typeface="Wingdings"/>
              <a:buChar char=""/>
            </a:pPr>
            <a:endParaRPr sz="1566" dirty="0">
              <a:latin typeface="Corbel"/>
              <a:cs typeface="Corbel"/>
            </a:endParaRPr>
          </a:p>
          <a:p>
            <a:pPr marL="421712" lvl="1" indent="-203943">
              <a:spcBef>
                <a:spcPts val="1387"/>
              </a:spcBef>
              <a:buClr>
                <a:srgbClr val="4764B0"/>
              </a:buClr>
              <a:buFont typeface="Wingdings"/>
              <a:buChar char=""/>
              <a:tabLst>
                <a:tab pos="421712" algn="l"/>
                <a:tab pos="422141" algn="l"/>
              </a:tabLst>
            </a:pPr>
            <a:r>
              <a:rPr sz="1158" dirty="0">
                <a:latin typeface="Malgun Gothic"/>
                <a:cs typeface="Malgun Gothic"/>
              </a:rPr>
              <a:t>영국의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건설적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제국주의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Corbel"/>
                <a:cs typeface="Corbel"/>
              </a:rPr>
              <a:t>(1</a:t>
            </a:r>
            <a:r>
              <a:rPr sz="1158" spc="-5" dirty="0">
                <a:latin typeface="Corbel"/>
                <a:cs typeface="Corbel"/>
              </a:rPr>
              <a:t>87</a:t>
            </a:r>
            <a:r>
              <a:rPr sz="1158" dirty="0">
                <a:latin typeface="Corbel"/>
                <a:cs typeface="Corbel"/>
              </a:rPr>
              <a:t>0</a:t>
            </a:r>
            <a:r>
              <a:rPr sz="1158" dirty="0">
                <a:latin typeface="Malgun Gothic"/>
                <a:cs typeface="Malgun Gothic"/>
              </a:rPr>
              <a:t>년대</a:t>
            </a:r>
            <a:r>
              <a:rPr sz="1158" spc="-5" dirty="0">
                <a:latin typeface="Corbel"/>
                <a:cs typeface="Corbel"/>
              </a:rPr>
              <a:t>-</a:t>
            </a:r>
            <a:r>
              <a:rPr sz="1158" dirty="0">
                <a:latin typeface="Corbel"/>
                <a:cs typeface="Corbel"/>
              </a:rPr>
              <a:t>1</a:t>
            </a:r>
            <a:r>
              <a:rPr sz="1158" dirty="0">
                <a:latin typeface="Malgun Gothic"/>
                <a:cs typeface="Malgun Gothic"/>
              </a:rPr>
              <a:t>차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세계대전</a:t>
            </a:r>
            <a:r>
              <a:rPr sz="1158" dirty="0">
                <a:latin typeface="Corbel"/>
                <a:cs typeface="Corbel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0CFA5B-3408-BD48-F1B4-23B3C8934491}"/>
              </a:ext>
            </a:extLst>
          </p:cNvPr>
          <p:cNvSpPr txBox="1"/>
          <p:nvPr/>
        </p:nvSpPr>
        <p:spPr>
          <a:xfrm>
            <a:off x="2285571" y="3143104"/>
            <a:ext cx="51475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자유무역 </a:t>
            </a:r>
            <a:r>
              <a:rPr lang="en-US" altLang="ko-KR" sz="1200" dirty="0"/>
              <a:t>= </a:t>
            </a:r>
            <a:r>
              <a:rPr lang="ko-KR" altLang="en-US" sz="1200" dirty="0"/>
              <a:t>국가간 거래를 더 잘하려면 국가의 역할이 더 많이 늘어야 한다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221983-0160-8E34-09BE-49B5A353F54B}"/>
              </a:ext>
            </a:extLst>
          </p:cNvPr>
          <p:cNvSpPr txBox="1"/>
          <p:nvPr/>
        </p:nvSpPr>
        <p:spPr>
          <a:xfrm>
            <a:off x="2171700" y="3734022"/>
            <a:ext cx="31005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선진국의 산업화된 제품 </a:t>
            </a:r>
            <a:r>
              <a:rPr lang="en-US" altLang="ko-KR" sz="1200" dirty="0"/>
              <a:t>-&gt; </a:t>
            </a:r>
            <a:r>
              <a:rPr lang="ko-KR" altLang="en-US" sz="1200" dirty="0"/>
              <a:t>식민지에게 판매</a:t>
            </a:r>
            <a:endParaRPr lang="en-US" altLang="ko-KR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5186" y="1655368"/>
            <a:ext cx="1295384" cy="217981"/>
          </a:xfrm>
          <a:prstGeom prst="rect">
            <a:avLst/>
          </a:prstGeom>
        </p:spPr>
        <p:txBody>
          <a:bodyPr vert="horz" wrap="square" lIns="0" tIns="8648" rIns="0" bIns="0" rtlCol="0">
            <a:spAutoFit/>
          </a:bodyPr>
          <a:lstStyle/>
          <a:p>
            <a:pPr marL="8641">
              <a:spcBef>
                <a:spcPts val="69"/>
              </a:spcBef>
            </a:pPr>
            <a:r>
              <a:rPr spc="31" dirty="0"/>
              <a:t>금본위제</a:t>
            </a:r>
            <a:r>
              <a:rPr dirty="0"/>
              <a:t>의</a:t>
            </a:r>
            <a:r>
              <a:rPr spc="-130" dirty="0"/>
              <a:t> </a:t>
            </a:r>
            <a:r>
              <a:rPr spc="31" dirty="0"/>
              <a:t>역사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1490968" y="5177995"/>
            <a:ext cx="599496" cy="269021"/>
          </a:xfrm>
          <a:prstGeom prst="rect">
            <a:avLst/>
          </a:prstGeom>
        </p:spPr>
        <p:txBody>
          <a:bodyPr vert="horz" wrap="square" lIns="0" tIns="17721" rIns="0" bIns="0" rtlCol="0">
            <a:spAutoFit/>
          </a:bodyPr>
          <a:lstStyle/>
          <a:p>
            <a:pPr marL="8641">
              <a:spcBef>
                <a:spcPts val="140"/>
              </a:spcBef>
            </a:pPr>
            <a:r>
              <a:rPr spc="-9" dirty="0"/>
              <a:t>글로벌경제론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65661C-2850-D402-EF49-0769EDD1BC23}"/>
              </a:ext>
            </a:extLst>
          </p:cNvPr>
          <p:cNvSpPr txBox="1"/>
          <p:nvPr/>
        </p:nvSpPr>
        <p:spPr>
          <a:xfrm>
            <a:off x="914400" y="1239528"/>
            <a:ext cx="2178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복본위제 </a:t>
            </a:r>
            <a:r>
              <a:rPr lang="en-US" altLang="ko-KR" sz="1100" dirty="0"/>
              <a:t> = </a:t>
            </a:r>
            <a:r>
              <a:rPr lang="ko-KR" altLang="en-US" sz="1100" dirty="0"/>
              <a:t>금본위제 </a:t>
            </a:r>
            <a:r>
              <a:rPr lang="en-US" altLang="ko-KR" sz="1100" dirty="0"/>
              <a:t>+ </a:t>
            </a:r>
            <a:r>
              <a:rPr lang="ko-KR" altLang="en-US" sz="1100" dirty="0"/>
              <a:t>은본위제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9C97B5-9344-6269-538A-E465D27FD236}"/>
              </a:ext>
            </a:extLst>
          </p:cNvPr>
          <p:cNvSpPr txBox="1"/>
          <p:nvPr/>
        </p:nvSpPr>
        <p:spPr>
          <a:xfrm>
            <a:off x="914400" y="1912344"/>
            <a:ext cx="282160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1803: </a:t>
            </a:r>
            <a:r>
              <a:rPr lang="ko-KR" altLang="en-US" sz="1100" dirty="0"/>
              <a:t>영 </a:t>
            </a:r>
            <a:r>
              <a:rPr lang="en-US" altLang="ko-KR" sz="1100" dirty="0"/>
              <a:t>= </a:t>
            </a:r>
            <a:r>
              <a:rPr lang="ko-KR" altLang="en-US" sz="1100" dirty="0"/>
              <a:t>금본위</a:t>
            </a:r>
            <a:r>
              <a:rPr lang="en-US" altLang="ko-KR" sz="1100" dirty="0"/>
              <a:t>; </a:t>
            </a:r>
            <a:r>
              <a:rPr lang="ko-KR" altLang="en-US" sz="1100" dirty="0" err="1"/>
              <a:t>프</a:t>
            </a:r>
            <a:r>
              <a:rPr lang="ko-KR" altLang="en-US" sz="1100" dirty="0"/>
              <a:t> </a:t>
            </a:r>
            <a:r>
              <a:rPr lang="en-US" altLang="ko-KR" sz="1100" dirty="0"/>
              <a:t>= </a:t>
            </a:r>
            <a:r>
              <a:rPr lang="ko-KR" altLang="en-US" sz="1100" dirty="0"/>
              <a:t>복본위</a:t>
            </a:r>
            <a:r>
              <a:rPr lang="en-US" altLang="ko-KR" sz="1100" dirty="0"/>
              <a:t>; </a:t>
            </a:r>
            <a:r>
              <a:rPr lang="ko-KR" altLang="en-US" sz="1100" dirty="0"/>
              <a:t>독  </a:t>
            </a:r>
            <a:r>
              <a:rPr lang="en-US" altLang="ko-KR" sz="1100" dirty="0"/>
              <a:t>=</a:t>
            </a:r>
            <a:r>
              <a:rPr lang="ko-KR" altLang="en-US" sz="1100" dirty="0" err="1"/>
              <a:t>은본위</a:t>
            </a:r>
            <a:endParaRPr lang="en-US" altLang="ko-KR" sz="1100" dirty="0"/>
          </a:p>
          <a:p>
            <a:r>
              <a:rPr lang="en-US" altLang="ko-KR" sz="1100" dirty="0"/>
              <a:t>1870 : </a:t>
            </a:r>
            <a:r>
              <a:rPr lang="ko-KR" altLang="en-US" sz="1100" dirty="0"/>
              <a:t>금본위제로 수렴</a:t>
            </a:r>
            <a:endParaRPr lang="en-US" altLang="ko-KR" sz="1100" dirty="0"/>
          </a:p>
          <a:p>
            <a:r>
              <a:rPr lang="en-US" altLang="ko-KR" sz="1100" dirty="0"/>
              <a:t>1914 : ww1</a:t>
            </a:r>
          </a:p>
          <a:p>
            <a:r>
              <a:rPr lang="en-US" altLang="ko-KR" sz="1100" dirty="0"/>
              <a:t>1939 : ww2</a:t>
            </a:r>
          </a:p>
          <a:p>
            <a:r>
              <a:rPr lang="en-US" altLang="ko-KR" sz="1100" dirty="0"/>
              <a:t>1945</a:t>
            </a:r>
          </a:p>
          <a:p>
            <a:r>
              <a:rPr lang="en-US" altLang="ko-KR" sz="1100" dirty="0"/>
              <a:t>~</a:t>
            </a:r>
            <a:r>
              <a:rPr lang="ko-KR" altLang="en-US" sz="1100" dirty="0"/>
              <a:t> </a:t>
            </a:r>
            <a:r>
              <a:rPr lang="ko-KR" altLang="en-US" sz="1100" dirty="0" err="1"/>
              <a:t>브레튼우즈</a:t>
            </a:r>
            <a:r>
              <a:rPr lang="ko-KR" altLang="en-US" sz="1100" dirty="0"/>
              <a:t> 체제</a:t>
            </a:r>
            <a:endParaRPr lang="en-US" altLang="ko-KR" sz="1100" dirty="0"/>
          </a:p>
          <a:p>
            <a:r>
              <a:rPr lang="en-US" altLang="ko-KR" sz="1100" dirty="0"/>
              <a:t>1971</a:t>
            </a:r>
          </a:p>
          <a:p>
            <a:r>
              <a:rPr lang="en-US" altLang="ko-KR" sz="1100" dirty="0"/>
              <a:t>1870 ~ 1914 : </a:t>
            </a:r>
            <a:r>
              <a:rPr lang="ko-KR" altLang="en-US" sz="1100" dirty="0"/>
              <a:t>고전적 금본위제 </a:t>
            </a:r>
            <a:r>
              <a:rPr lang="en-US" altLang="ko-KR" sz="1100" dirty="0"/>
              <a:t>= 1</a:t>
            </a:r>
            <a:r>
              <a:rPr lang="ko-KR" altLang="en-US" sz="1100" dirty="0"/>
              <a:t>차 세계화</a:t>
            </a:r>
            <a:endParaRPr lang="en-US" altLang="ko-KR" sz="11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F1C85A-7E82-8345-31BC-79AF74F6C1A9}"/>
              </a:ext>
            </a:extLst>
          </p:cNvPr>
          <p:cNvSpPr txBox="1"/>
          <p:nvPr/>
        </p:nvSpPr>
        <p:spPr>
          <a:xfrm>
            <a:off x="4191000" y="1912344"/>
            <a:ext cx="421782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영국 금본위가 자리잡는 과정</a:t>
            </a:r>
            <a:endParaRPr lang="en-US" altLang="ko-KR" sz="1100" dirty="0"/>
          </a:p>
          <a:p>
            <a:r>
              <a:rPr lang="ko-KR" altLang="en-US" sz="1100" dirty="0"/>
              <a:t>원래 가치보다 금화를 낮게 책정 </a:t>
            </a:r>
            <a:r>
              <a:rPr lang="en-US" altLang="ko-KR" sz="1100" dirty="0"/>
              <a:t>-&gt; </a:t>
            </a:r>
            <a:r>
              <a:rPr lang="ko-KR" altLang="en-US" sz="1100" dirty="0"/>
              <a:t>금화가 악화가 됨</a:t>
            </a:r>
            <a:endParaRPr lang="en-US" altLang="ko-KR" sz="1100" dirty="0"/>
          </a:p>
          <a:p>
            <a:r>
              <a:rPr lang="ko-KR" altLang="en-US" sz="1100" dirty="0" err="1"/>
              <a:t>그래샴의</a:t>
            </a:r>
            <a:r>
              <a:rPr lang="ko-KR" altLang="en-US" sz="1100" dirty="0"/>
              <a:t> 법칙에 의해 악화를 더 유통하므로 금본위제가 자리잡음</a:t>
            </a:r>
            <a:endParaRPr lang="en-US" altLang="ko-KR" sz="1100" dirty="0"/>
          </a:p>
          <a:p>
            <a:endParaRPr lang="en-US" altLang="ko-KR" sz="1100" dirty="0"/>
          </a:p>
          <a:p>
            <a:r>
              <a:rPr lang="ko-KR" altLang="en-US" sz="1100" dirty="0" err="1"/>
              <a:t>그래샴의</a:t>
            </a:r>
            <a:r>
              <a:rPr lang="ko-KR" altLang="en-US" sz="1100" dirty="0"/>
              <a:t> 법칙 </a:t>
            </a:r>
            <a:r>
              <a:rPr lang="en-US" altLang="ko-KR" sz="1100" dirty="0"/>
              <a:t>= </a:t>
            </a:r>
            <a:r>
              <a:rPr lang="ko-KR" altLang="en-US" sz="1100" dirty="0"/>
              <a:t>악화가 양화를 구축한다</a:t>
            </a:r>
            <a:endParaRPr lang="en-US" altLang="ko-KR" sz="1100" dirty="0"/>
          </a:p>
          <a:p>
            <a:r>
              <a:rPr lang="ko-KR" altLang="en-US" sz="1100" dirty="0"/>
              <a:t>악화 </a:t>
            </a:r>
            <a:r>
              <a:rPr lang="en-US" altLang="ko-KR" sz="1100" dirty="0"/>
              <a:t>= </a:t>
            </a:r>
            <a:r>
              <a:rPr lang="ko-KR" altLang="en-US" sz="1100" dirty="0"/>
              <a:t>정부의 약속보다 덜 들어간 것</a:t>
            </a:r>
            <a:endParaRPr lang="en-US" altLang="ko-KR" sz="1100" dirty="0"/>
          </a:p>
          <a:p>
            <a:r>
              <a:rPr lang="ko-KR" altLang="en-US" sz="1100" dirty="0"/>
              <a:t>양화 </a:t>
            </a:r>
            <a:r>
              <a:rPr lang="en-US" altLang="ko-KR" sz="1100" dirty="0"/>
              <a:t>= </a:t>
            </a:r>
            <a:r>
              <a:rPr lang="ko-KR" altLang="en-US" sz="1100" dirty="0"/>
              <a:t>약속대로 금이 들어간 것</a:t>
            </a:r>
            <a:endParaRPr lang="en-US" altLang="ko-KR" sz="1100" dirty="0"/>
          </a:p>
          <a:p>
            <a:r>
              <a:rPr lang="ko-KR" altLang="en-US" sz="1100" dirty="0"/>
              <a:t>사람들은 악화를 더 자주 사용함</a:t>
            </a:r>
            <a:r>
              <a:rPr lang="en-US" altLang="ko-KR" sz="1100" dirty="0"/>
              <a:t>(</a:t>
            </a:r>
            <a:r>
              <a:rPr lang="ko-KR" altLang="en-US" sz="1100" dirty="0"/>
              <a:t>실제 양화는 보관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B59B9A-B342-FC4C-5BF8-FD7E32C4154B}"/>
              </a:ext>
            </a:extLst>
          </p:cNvPr>
          <p:cNvSpPr txBox="1"/>
          <p:nvPr/>
        </p:nvSpPr>
        <p:spPr>
          <a:xfrm>
            <a:off x="735179" y="3368063"/>
            <a:ext cx="8118569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err="1"/>
              <a:t>프</a:t>
            </a:r>
            <a:r>
              <a:rPr lang="ko-KR" altLang="en-US" sz="1100" dirty="0"/>
              <a:t> 독이 영국의 금본위제로 따라가는 과정</a:t>
            </a:r>
            <a:r>
              <a:rPr lang="en-US" altLang="ko-KR" sz="1100" dirty="0"/>
              <a:t>?</a:t>
            </a:r>
          </a:p>
          <a:p>
            <a:pPr marL="228600" indent="-228600">
              <a:buAutoNum type="arabicPeriod"/>
            </a:pPr>
            <a:r>
              <a:rPr lang="ko-KR" altLang="en-US" sz="1100" dirty="0"/>
              <a:t>네트워크 </a:t>
            </a:r>
            <a:r>
              <a:rPr lang="ko-KR" altLang="en-US" sz="1100" dirty="0" err="1"/>
              <a:t>외부성</a:t>
            </a:r>
            <a:r>
              <a:rPr lang="en-US" altLang="ko-KR" sz="1100" dirty="0"/>
              <a:t> (</a:t>
            </a:r>
            <a:r>
              <a:rPr lang="ko-KR" altLang="en-US" sz="1100" dirty="0"/>
              <a:t>함께 같은 제도를 이용할 경우의 이용</a:t>
            </a:r>
            <a:r>
              <a:rPr lang="en-US" altLang="ko-KR" sz="1100" dirty="0"/>
              <a:t>)</a:t>
            </a:r>
          </a:p>
          <a:p>
            <a:pPr marL="705363" lvl="1" indent="-228600">
              <a:buAutoNum type="arabicPeriod"/>
            </a:pPr>
            <a:r>
              <a:rPr lang="ko-KR" altLang="en-US" sz="1100" dirty="0"/>
              <a:t>너도나도 </a:t>
            </a:r>
            <a:r>
              <a:rPr lang="ko-KR" altLang="en-US" sz="1100" dirty="0" err="1"/>
              <a:t>소비함으로서</a:t>
            </a:r>
            <a:r>
              <a:rPr lang="ko-KR" altLang="en-US" sz="1100" dirty="0"/>
              <a:t> 단가가 낮아짐</a:t>
            </a:r>
            <a:endParaRPr lang="en-US" altLang="ko-KR" sz="1100" dirty="0"/>
          </a:p>
          <a:p>
            <a:pPr marL="705363" lvl="1" indent="-228600">
              <a:buAutoNum type="arabicPeriod"/>
            </a:pPr>
            <a:r>
              <a:rPr lang="ko-KR" altLang="en-US" sz="1100" dirty="0"/>
              <a:t>각 나라는 </a:t>
            </a:r>
            <a:r>
              <a:rPr lang="ko-KR" altLang="en-US" sz="1100" dirty="0" err="1"/>
              <a:t>다른나라와</a:t>
            </a:r>
            <a:r>
              <a:rPr lang="ko-KR" altLang="en-US" sz="1100" dirty="0"/>
              <a:t> 동일한 통화제도를 유지하는 것이</a:t>
            </a:r>
            <a:r>
              <a:rPr lang="en-US" altLang="ko-KR" sz="1100" dirty="0"/>
              <a:t> </a:t>
            </a:r>
            <a:r>
              <a:rPr lang="ko-KR" altLang="en-US" sz="1100" dirty="0"/>
              <a:t>무역에 유리</a:t>
            </a:r>
            <a:endParaRPr lang="en-US" altLang="ko-KR" sz="1100" dirty="0"/>
          </a:p>
          <a:p>
            <a:pPr marL="228600" indent="-228600">
              <a:buAutoNum type="arabicPeriod"/>
            </a:pPr>
            <a:r>
              <a:rPr lang="ko-KR" altLang="en-US" sz="1100" dirty="0"/>
              <a:t>전환비용</a:t>
            </a:r>
            <a:r>
              <a:rPr lang="en-US" altLang="ko-KR" sz="1100" dirty="0"/>
              <a:t> (</a:t>
            </a:r>
            <a:r>
              <a:rPr lang="ko-KR" altLang="en-US" sz="1100" dirty="0"/>
              <a:t>제도를 전환하는데 들어가는 비용</a:t>
            </a:r>
            <a:r>
              <a:rPr lang="en-US" altLang="ko-KR" sz="1100" dirty="0"/>
              <a:t>)</a:t>
            </a:r>
          </a:p>
          <a:p>
            <a:pPr marL="705363" lvl="1" indent="-228600">
              <a:buAutoNum type="arabicPeriod"/>
            </a:pPr>
            <a:r>
              <a:rPr lang="ko-KR" altLang="en-US" sz="1100" dirty="0"/>
              <a:t>네트워크 </a:t>
            </a:r>
            <a:r>
              <a:rPr lang="ko-KR" altLang="en-US" sz="1100" dirty="0" err="1"/>
              <a:t>외부성</a:t>
            </a:r>
            <a:r>
              <a:rPr lang="ko-KR" altLang="en-US" sz="1100" dirty="0"/>
              <a:t> </a:t>
            </a:r>
            <a:r>
              <a:rPr lang="en-US" altLang="ko-KR" sz="1100" dirty="0"/>
              <a:t>&gt;</a:t>
            </a:r>
            <a:r>
              <a:rPr lang="ko-KR" altLang="en-US" sz="1100" dirty="0"/>
              <a:t> 전환비용 이어야 제도가 전환</a:t>
            </a:r>
            <a:endParaRPr lang="en-US" altLang="ko-KR" sz="1100" dirty="0"/>
          </a:p>
          <a:p>
            <a:pPr marL="705363" lvl="1" indent="-228600">
              <a:buAutoNum type="arabicPeriod"/>
            </a:pPr>
            <a:r>
              <a:rPr lang="ko-KR" altLang="en-US" sz="1100" dirty="0" err="1"/>
              <a:t>보불전쟁</a:t>
            </a:r>
            <a:r>
              <a:rPr lang="en-US" altLang="ko-KR" sz="1100" dirty="0"/>
              <a:t>: </a:t>
            </a:r>
            <a:r>
              <a:rPr lang="ko-KR" altLang="en-US" sz="1100" dirty="0" err="1"/>
              <a:t>프</a:t>
            </a:r>
            <a:r>
              <a:rPr lang="en-US" altLang="ko-KR" sz="1100" dirty="0"/>
              <a:t>-</a:t>
            </a:r>
            <a:r>
              <a:rPr lang="ko-KR" altLang="en-US" sz="1100" dirty="0"/>
              <a:t>독간 전쟁</a:t>
            </a:r>
            <a:r>
              <a:rPr lang="en-US" altLang="ko-KR" sz="1100" dirty="0"/>
              <a:t> -&gt; </a:t>
            </a:r>
            <a:r>
              <a:rPr lang="ko-KR" altLang="en-US" sz="1100" dirty="0"/>
              <a:t>독 승리 </a:t>
            </a:r>
            <a:r>
              <a:rPr lang="en-US" altLang="ko-KR" sz="1100" dirty="0"/>
              <a:t>-&gt; </a:t>
            </a:r>
            <a:r>
              <a:rPr lang="ko-KR" altLang="en-US" sz="1100" dirty="0" err="1"/>
              <a:t>프의</a:t>
            </a:r>
            <a:r>
              <a:rPr lang="ko-KR" altLang="en-US" sz="1100" dirty="0"/>
              <a:t> 배상금으로 금본위제를 따르는 마르크화를 만들기를 원함</a:t>
            </a:r>
            <a:br>
              <a:rPr lang="en-US" altLang="ko-KR" sz="1100" dirty="0"/>
            </a:br>
            <a:r>
              <a:rPr lang="ko-KR" altLang="en-US" sz="1100" dirty="0"/>
              <a:t>금본위를 따르려면 금을 더 보유하고 은을 판매 </a:t>
            </a:r>
            <a:r>
              <a:rPr lang="en-US" altLang="ko-KR" sz="1100" dirty="0"/>
              <a:t>-&gt; </a:t>
            </a:r>
            <a:r>
              <a:rPr lang="ko-KR" altLang="en-US" sz="1100" dirty="0" err="1"/>
              <a:t>프가</a:t>
            </a:r>
            <a:r>
              <a:rPr lang="ko-KR" altLang="en-US" sz="1100" dirty="0"/>
              <a:t> 독의 은을 </a:t>
            </a:r>
            <a:r>
              <a:rPr lang="ko-KR" altLang="en-US" sz="1100" dirty="0" err="1"/>
              <a:t>사주질</a:t>
            </a:r>
            <a:r>
              <a:rPr lang="ko-KR" altLang="en-US" sz="1100" dirty="0"/>
              <a:t> 않음 </a:t>
            </a:r>
            <a:r>
              <a:rPr lang="en-US" altLang="ko-KR" sz="1100" dirty="0"/>
              <a:t>-&gt; </a:t>
            </a:r>
            <a:r>
              <a:rPr lang="ko-KR" altLang="en-US" sz="1100" dirty="0"/>
              <a:t>프랑스 은화  신뢰 약화 </a:t>
            </a:r>
            <a:r>
              <a:rPr lang="en-US" altLang="ko-KR" sz="1100" dirty="0"/>
              <a:t>-&gt; </a:t>
            </a:r>
            <a:r>
              <a:rPr lang="ko-KR" altLang="en-US" sz="1100" dirty="0" err="1"/>
              <a:t>프</a:t>
            </a:r>
            <a:r>
              <a:rPr lang="ko-KR" altLang="en-US" sz="1100" dirty="0"/>
              <a:t> 금본위제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C90D31-659F-4AB5-6A9C-C85CBA80808E}"/>
              </a:ext>
            </a:extLst>
          </p:cNvPr>
          <p:cNvSpPr txBox="1"/>
          <p:nvPr/>
        </p:nvSpPr>
        <p:spPr>
          <a:xfrm>
            <a:off x="1066800" y="4865499"/>
            <a:ext cx="65037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영국이 산업혁명으로 인해 패권을 갖춤 </a:t>
            </a:r>
            <a:r>
              <a:rPr lang="en-US" altLang="ko-KR" sz="1100" dirty="0"/>
              <a:t>-&gt; </a:t>
            </a:r>
            <a:r>
              <a:rPr lang="ko-KR" altLang="en-US" sz="1100" dirty="0"/>
              <a:t>영국과의 교역 증가 </a:t>
            </a:r>
            <a:r>
              <a:rPr lang="en-US" altLang="ko-KR" sz="1100" dirty="0"/>
              <a:t>-&gt; </a:t>
            </a:r>
            <a:r>
              <a:rPr lang="ko-KR" altLang="en-US" sz="1100" dirty="0"/>
              <a:t>네트워크 </a:t>
            </a:r>
            <a:r>
              <a:rPr lang="ko-KR" altLang="en-US" sz="1100" dirty="0" err="1"/>
              <a:t>외부성</a:t>
            </a:r>
            <a:r>
              <a:rPr lang="ko-KR" altLang="en-US" sz="1100" dirty="0"/>
              <a:t> 증가를 위해 금본위제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9C490F-6F67-4780-2724-82E7A43A11A3}"/>
              </a:ext>
            </a:extLst>
          </p:cNvPr>
          <p:cNvSpPr txBox="1"/>
          <p:nvPr/>
        </p:nvSpPr>
        <p:spPr>
          <a:xfrm>
            <a:off x="444079" y="5791200"/>
            <a:ext cx="403988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이후 </a:t>
            </a:r>
            <a:r>
              <a:rPr lang="en-US" altLang="ko-KR" sz="1100" dirty="0"/>
              <a:t>1</a:t>
            </a:r>
            <a:r>
              <a:rPr lang="ko-KR" altLang="en-US" sz="1100" dirty="0"/>
              <a:t>차대전 후 통화정책 사용을 위해 각국은 금본위제를 포기</a:t>
            </a:r>
            <a:endParaRPr lang="en-US" altLang="ko-KR" sz="1100" dirty="0"/>
          </a:p>
          <a:p>
            <a:r>
              <a:rPr lang="en-US" altLang="ko-KR" sz="1100" dirty="0"/>
              <a:t>2</a:t>
            </a:r>
            <a:r>
              <a:rPr lang="ko-KR" altLang="en-US" sz="1100" dirty="0"/>
              <a:t>차대전 이후 복구를 위해 </a:t>
            </a:r>
            <a:r>
              <a:rPr lang="ko-KR" altLang="en-US" sz="1100" dirty="0" err="1"/>
              <a:t>브레튼우즈</a:t>
            </a:r>
            <a:r>
              <a:rPr lang="ko-KR" altLang="en-US" sz="1100" dirty="0"/>
              <a:t> 체제 성립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76594A-88F3-6F3A-A37A-2BF9771533B2}"/>
              </a:ext>
            </a:extLst>
          </p:cNvPr>
          <p:cNvSpPr txBox="1"/>
          <p:nvPr/>
        </p:nvSpPr>
        <p:spPr>
          <a:xfrm>
            <a:off x="4572000" y="5447016"/>
            <a:ext cx="27526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조정기구의 부재 </a:t>
            </a:r>
            <a:r>
              <a:rPr lang="en-US" altLang="ko-KR" sz="1200" dirty="0"/>
              <a:t>-&gt; </a:t>
            </a:r>
            <a:r>
              <a:rPr lang="ko-KR" altLang="en-US" sz="1200" dirty="0"/>
              <a:t>중앙은행의 목표</a:t>
            </a:r>
            <a:endParaRPr lang="en-US" altLang="ko-KR" sz="1200" dirty="0"/>
          </a:p>
          <a:p>
            <a:r>
              <a:rPr lang="ko-KR" altLang="en-US" sz="1200" dirty="0"/>
              <a:t>통화정책은 목표가 아니었음</a:t>
            </a:r>
            <a:r>
              <a:rPr lang="en-US" altLang="ko-KR" sz="1200" dirty="0"/>
              <a:t>; </a:t>
            </a:r>
          </a:p>
          <a:p>
            <a:r>
              <a:rPr lang="ko-KR" altLang="en-US" sz="1200" dirty="0"/>
              <a:t>통화정책을 담당하는 조정기구의 부재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5185" y="1655366"/>
            <a:ext cx="2700553" cy="217973"/>
          </a:xfrm>
          <a:prstGeom prst="rect">
            <a:avLst/>
          </a:prstGeom>
        </p:spPr>
        <p:txBody>
          <a:bodyPr vert="horz" wrap="square" lIns="0" tIns="8648" rIns="0" bIns="0" rtlCol="0">
            <a:spAutoFit/>
          </a:bodyPr>
          <a:lstStyle/>
          <a:p>
            <a:pPr marL="8641">
              <a:spcBef>
                <a:spcPts val="69"/>
              </a:spcBef>
            </a:pPr>
            <a:r>
              <a:rPr spc="31" dirty="0"/>
              <a:t>금본위제</a:t>
            </a:r>
            <a:r>
              <a:rPr dirty="0"/>
              <a:t>와</a:t>
            </a:r>
            <a:r>
              <a:rPr spc="-130" dirty="0"/>
              <a:t> </a:t>
            </a:r>
            <a:r>
              <a:rPr spc="31" dirty="0"/>
              <a:t>금융세계화</a:t>
            </a:r>
            <a:r>
              <a:rPr sz="1991" b="0" spc="15" baseline="1424" dirty="0">
                <a:latin typeface="Calibri Light"/>
                <a:cs typeface="Calibri Light"/>
              </a:rPr>
              <a:t>(</a:t>
            </a:r>
            <a:r>
              <a:rPr sz="1991" b="0" spc="35" baseline="1424" dirty="0">
                <a:latin typeface="Calibri Light"/>
                <a:cs typeface="Calibri Light"/>
              </a:rPr>
              <a:t>1870-1914)</a:t>
            </a:r>
            <a:endParaRPr sz="1991" baseline="1424">
              <a:latin typeface="Calibri Light"/>
              <a:cs typeface="Calibri Ligh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1490968" y="5177995"/>
            <a:ext cx="795032" cy="143441"/>
          </a:xfrm>
          <a:prstGeom prst="rect">
            <a:avLst/>
          </a:prstGeom>
        </p:spPr>
        <p:txBody>
          <a:bodyPr vert="horz" wrap="square" lIns="0" tIns="17721" rIns="0" bIns="0" rtlCol="0">
            <a:spAutoFit/>
          </a:bodyPr>
          <a:lstStyle/>
          <a:p>
            <a:pPr marL="8641">
              <a:spcBef>
                <a:spcPts val="140"/>
              </a:spcBef>
            </a:pPr>
            <a:r>
              <a:rPr spc="-9" dirty="0"/>
              <a:t>글로벌경제론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19050" y="2098305"/>
            <a:ext cx="3510150" cy="186923"/>
          </a:xfrm>
          <a:prstGeom prst="rect">
            <a:avLst/>
          </a:prstGeom>
        </p:spPr>
        <p:txBody>
          <a:bodyPr vert="horz" wrap="square" lIns="0" tIns="8648" rIns="0" bIns="0" rtlCol="0">
            <a:spAutoFit/>
          </a:bodyPr>
          <a:lstStyle/>
          <a:p>
            <a:pPr marL="218201" indent="-209991">
              <a:spcBef>
                <a:spcPts val="69"/>
              </a:spcBef>
              <a:buClr>
                <a:srgbClr val="4764B0"/>
              </a:buClr>
              <a:buFont typeface="Wingdings"/>
              <a:buChar char=""/>
              <a:tabLst>
                <a:tab pos="218633" algn="l"/>
              </a:tabLst>
            </a:pPr>
            <a:r>
              <a:rPr sz="1158" dirty="0">
                <a:latin typeface="Malgun Gothic"/>
                <a:cs typeface="Malgun Gothic"/>
              </a:rPr>
              <a:t>금융세계화는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중앙은행들이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공유한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믿음의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산물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519054" y="2944779"/>
            <a:ext cx="1674879" cy="186923"/>
          </a:xfrm>
          <a:prstGeom prst="rect">
            <a:avLst/>
          </a:prstGeom>
        </p:spPr>
        <p:txBody>
          <a:bodyPr vert="horz" wrap="square" lIns="0" tIns="8648" rIns="0" bIns="0" rtlCol="0">
            <a:spAutoFit/>
          </a:bodyPr>
          <a:lstStyle/>
          <a:p>
            <a:pPr marL="218201" indent="-209991">
              <a:spcBef>
                <a:spcPts val="69"/>
              </a:spcBef>
              <a:buClr>
                <a:srgbClr val="4764B0"/>
              </a:buClr>
              <a:buFont typeface="Wingdings"/>
              <a:buChar char=""/>
              <a:tabLst>
                <a:tab pos="218633" algn="l"/>
              </a:tabLst>
            </a:pPr>
            <a:r>
              <a:rPr sz="1158" dirty="0">
                <a:latin typeface="Malgun Gothic"/>
                <a:cs typeface="Malgun Gothic"/>
              </a:rPr>
              <a:t>채무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불이행의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위험은</a:t>
            </a:r>
            <a:r>
              <a:rPr sz="1158" dirty="0">
                <a:latin typeface="Corbel"/>
                <a:cs typeface="Corbel"/>
              </a:rPr>
              <a:t>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BEEB4C-B48F-2DC5-5302-F16D0A4D390C}"/>
              </a:ext>
            </a:extLst>
          </p:cNvPr>
          <p:cNvSpPr txBox="1"/>
          <p:nvPr/>
        </p:nvSpPr>
        <p:spPr>
          <a:xfrm>
            <a:off x="1490968" y="2384171"/>
            <a:ext cx="47852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중앙은행 </a:t>
            </a:r>
            <a:r>
              <a:rPr lang="en-US" altLang="ko-KR" sz="1200" dirty="0"/>
              <a:t>-&gt; </a:t>
            </a:r>
            <a:r>
              <a:rPr lang="ko-KR" altLang="en-US" sz="1200" dirty="0"/>
              <a:t>자국 정치 압박으로부터 독립적 </a:t>
            </a:r>
            <a:r>
              <a:rPr lang="en-US" altLang="ko-KR" sz="1200" dirty="0"/>
              <a:t>-&gt; </a:t>
            </a:r>
            <a:r>
              <a:rPr lang="ko-KR" altLang="en-US" sz="1200" dirty="0"/>
              <a:t>세계질서를 위한 정책 </a:t>
            </a:r>
            <a:endParaRPr lang="en-US" altLang="ko-KR" sz="1200" dirty="0"/>
          </a:p>
          <a:p>
            <a:r>
              <a:rPr lang="ko-KR" altLang="en-US" sz="1200" dirty="0"/>
              <a:t>베리 </a:t>
            </a:r>
            <a:r>
              <a:rPr lang="ko-KR" altLang="en-US" sz="1200" dirty="0" err="1"/>
              <a:t>알케인그린</a:t>
            </a:r>
            <a:r>
              <a:rPr lang="ko-KR" altLang="en-US" sz="1200" dirty="0"/>
              <a:t> </a:t>
            </a:r>
            <a:r>
              <a:rPr lang="en-US" altLang="ko-KR" sz="1200" dirty="0"/>
              <a:t>: </a:t>
            </a:r>
            <a:endParaRPr lang="ko-KR" altLang="en-US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8C3D29-D13D-BFE0-696C-F4E504E689A4}"/>
              </a:ext>
            </a:extLst>
          </p:cNvPr>
          <p:cNvSpPr txBox="1"/>
          <p:nvPr/>
        </p:nvSpPr>
        <p:spPr>
          <a:xfrm>
            <a:off x="1555186" y="3186697"/>
            <a:ext cx="377379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강대국의 무력 </a:t>
            </a:r>
            <a:r>
              <a:rPr lang="en-US" altLang="ko-KR" sz="1200" dirty="0"/>
              <a:t>&amp; </a:t>
            </a:r>
            <a:r>
              <a:rPr lang="ko-KR" altLang="en-US" sz="1200" dirty="0"/>
              <a:t>제국주의 통치</a:t>
            </a:r>
            <a:r>
              <a:rPr lang="en-US" altLang="ko-KR" sz="1200" dirty="0"/>
              <a:t>; </a:t>
            </a:r>
            <a:r>
              <a:rPr lang="ko-KR" altLang="en-US" sz="1200" dirty="0"/>
              <a:t>채무계약을 강제집행</a:t>
            </a:r>
            <a:endParaRPr lang="en-US" altLang="ko-KR" sz="1200" dirty="0"/>
          </a:p>
          <a:p>
            <a:r>
              <a:rPr lang="en-US" altLang="ko-KR" sz="1200" dirty="0"/>
              <a:t>Ex) </a:t>
            </a:r>
            <a:r>
              <a:rPr lang="ko-KR" altLang="en-US" sz="1200" dirty="0"/>
              <a:t>영국해외투자 </a:t>
            </a:r>
            <a:r>
              <a:rPr lang="en-US" altLang="ko-KR" sz="1200" dirty="0"/>
              <a:t>: </a:t>
            </a:r>
            <a:r>
              <a:rPr lang="ko-KR" altLang="en-US" sz="1200" dirty="0"/>
              <a:t>인도</a:t>
            </a:r>
            <a:r>
              <a:rPr lang="en-US" altLang="ko-KR" sz="1200" dirty="0"/>
              <a:t>/</a:t>
            </a:r>
            <a:r>
              <a:rPr lang="ko-KR" altLang="en-US" sz="1200" dirty="0"/>
              <a:t>미국의 철도투자</a:t>
            </a:r>
            <a:endParaRPr lang="en-US" altLang="ko-KR" sz="1200" dirty="0"/>
          </a:p>
          <a:p>
            <a:r>
              <a:rPr lang="en-US" altLang="ko-KR" sz="1200" dirty="0"/>
              <a:t>1882 </a:t>
            </a:r>
            <a:r>
              <a:rPr lang="ko-KR" altLang="en-US" sz="1200" dirty="0"/>
              <a:t>영국 이집트 침략 </a:t>
            </a:r>
            <a:r>
              <a:rPr lang="en-US" altLang="ko-KR" sz="1200" dirty="0"/>
              <a:t>-&gt; </a:t>
            </a:r>
            <a:r>
              <a:rPr lang="ko-KR" altLang="en-US" sz="1200" dirty="0"/>
              <a:t>해외채무 상환</a:t>
            </a:r>
            <a:endParaRPr lang="en-US" altLang="ko-KR" sz="1200" dirty="0"/>
          </a:p>
          <a:p>
            <a:endParaRPr lang="en-US" altLang="ko-KR" sz="1200" dirty="0"/>
          </a:p>
          <a:p>
            <a:endParaRPr lang="en-US" altLang="ko-KR" sz="1200" dirty="0"/>
          </a:p>
          <a:p>
            <a:r>
              <a:rPr lang="ko-KR" altLang="en-US" sz="1200" dirty="0"/>
              <a:t>각국 엘리트 신념체계 공유</a:t>
            </a:r>
            <a:endParaRPr lang="en-US" altLang="ko-KR" sz="1200" dirty="0"/>
          </a:p>
          <a:p>
            <a:r>
              <a:rPr lang="en-US" altLang="ko-KR" sz="1200" dirty="0"/>
              <a:t>+ </a:t>
            </a:r>
            <a:r>
              <a:rPr lang="ko-KR" altLang="en-US" sz="1200" dirty="0"/>
              <a:t>제 </a:t>
            </a:r>
            <a:r>
              <a:rPr lang="en-US" altLang="ko-KR" sz="1200" dirty="0"/>
              <a:t>3</a:t>
            </a:r>
            <a:r>
              <a:rPr lang="ko-KR" altLang="en-US" sz="1200" dirty="0"/>
              <a:t>자 강제집행</a:t>
            </a:r>
            <a:endParaRPr lang="en-US" altLang="ko-KR" sz="1200" dirty="0"/>
          </a:p>
          <a:p>
            <a:r>
              <a:rPr lang="ko-KR" altLang="en-US" sz="1200" dirty="0"/>
              <a:t>을 통해 </a:t>
            </a:r>
            <a:r>
              <a:rPr lang="en-US" altLang="ko-KR" sz="1200" dirty="0"/>
              <a:t>1</a:t>
            </a:r>
            <a:r>
              <a:rPr lang="ko-KR" altLang="en-US" sz="1200" dirty="0"/>
              <a:t>차 세계화가 가능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5190" y="1655365"/>
            <a:ext cx="2085495" cy="217973"/>
          </a:xfrm>
          <a:prstGeom prst="rect">
            <a:avLst/>
          </a:prstGeom>
        </p:spPr>
        <p:txBody>
          <a:bodyPr vert="horz" wrap="square" lIns="0" tIns="8648" rIns="0" bIns="0" rtlCol="0">
            <a:spAutoFit/>
          </a:bodyPr>
          <a:lstStyle/>
          <a:p>
            <a:pPr marL="8641">
              <a:spcBef>
                <a:spcPts val="69"/>
              </a:spcBef>
            </a:pPr>
            <a:r>
              <a:rPr sz="1991" b="0" spc="44" baseline="1424" dirty="0">
                <a:latin typeface="Calibri Light"/>
                <a:cs typeface="Calibri Light"/>
              </a:rPr>
              <a:t>20</a:t>
            </a:r>
            <a:r>
              <a:rPr spc="31" dirty="0"/>
              <a:t>세</a:t>
            </a:r>
            <a:r>
              <a:rPr dirty="0"/>
              <a:t>기</a:t>
            </a:r>
            <a:r>
              <a:rPr spc="-130" dirty="0"/>
              <a:t> </a:t>
            </a:r>
            <a:r>
              <a:rPr dirty="0"/>
              <a:t>초</a:t>
            </a:r>
            <a:r>
              <a:rPr spc="-130" dirty="0"/>
              <a:t> </a:t>
            </a:r>
            <a:r>
              <a:rPr spc="31" dirty="0"/>
              <a:t>금본위제</a:t>
            </a:r>
            <a:r>
              <a:rPr dirty="0"/>
              <a:t>의</a:t>
            </a:r>
            <a:r>
              <a:rPr spc="-130" dirty="0"/>
              <a:t> </a:t>
            </a:r>
            <a:r>
              <a:rPr spc="31" dirty="0"/>
              <a:t>몰락</a:t>
            </a:r>
            <a:endParaRPr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1490968" y="5177995"/>
            <a:ext cx="599496" cy="269021"/>
          </a:xfrm>
          <a:prstGeom prst="rect">
            <a:avLst/>
          </a:prstGeom>
        </p:spPr>
        <p:txBody>
          <a:bodyPr vert="horz" wrap="square" lIns="0" tIns="17721" rIns="0" bIns="0" rtlCol="0">
            <a:spAutoFit/>
          </a:bodyPr>
          <a:lstStyle/>
          <a:p>
            <a:pPr marL="8641">
              <a:spcBef>
                <a:spcPts val="140"/>
              </a:spcBef>
            </a:pPr>
            <a:r>
              <a:rPr spc="-9" dirty="0"/>
              <a:t>글로벌경제론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19052" y="2098308"/>
            <a:ext cx="3205347" cy="1071203"/>
          </a:xfrm>
          <a:prstGeom prst="rect">
            <a:avLst/>
          </a:prstGeom>
        </p:spPr>
        <p:txBody>
          <a:bodyPr vert="horz" wrap="square" lIns="0" tIns="8648" rIns="0" bIns="0" rtlCol="0">
            <a:spAutoFit/>
          </a:bodyPr>
          <a:lstStyle/>
          <a:p>
            <a:pPr marL="218201" indent="-209991">
              <a:spcBef>
                <a:spcPts val="69"/>
              </a:spcBef>
              <a:buClr>
                <a:srgbClr val="4764B0"/>
              </a:buClr>
              <a:buFont typeface="Wingdings"/>
              <a:buChar char=""/>
              <a:tabLst>
                <a:tab pos="218633" algn="l"/>
              </a:tabLst>
            </a:pPr>
            <a:r>
              <a:rPr sz="1158" dirty="0">
                <a:latin typeface="Malgun Gothic"/>
                <a:cs typeface="Malgun Gothic"/>
              </a:rPr>
              <a:t>제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Corbel"/>
                <a:cs typeface="Corbel"/>
              </a:rPr>
              <a:t>1</a:t>
            </a:r>
            <a:r>
              <a:rPr sz="1158" dirty="0">
                <a:latin typeface="Malgun Gothic"/>
                <a:cs typeface="Malgun Gothic"/>
              </a:rPr>
              <a:t>차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세계대전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이후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각국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정부의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환율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통제</a:t>
            </a:r>
          </a:p>
          <a:p>
            <a:pPr>
              <a:spcBef>
                <a:spcPts val="26"/>
              </a:spcBef>
              <a:buClr>
                <a:srgbClr val="4764B0"/>
              </a:buClr>
              <a:buFont typeface="Wingdings"/>
              <a:buChar char=""/>
            </a:pPr>
            <a:endParaRPr sz="1053" dirty="0">
              <a:latin typeface="Malgun Gothic"/>
              <a:cs typeface="Malgun Gothic"/>
            </a:endParaRPr>
          </a:p>
          <a:p>
            <a:pPr marL="218201" indent="-209991">
              <a:spcBef>
                <a:spcPts val="5"/>
              </a:spcBef>
              <a:buClr>
                <a:srgbClr val="4764B0"/>
              </a:buClr>
              <a:buFont typeface="Wingdings"/>
              <a:buChar char=""/>
              <a:tabLst>
                <a:tab pos="218633" algn="l"/>
              </a:tabLst>
            </a:pPr>
            <a:r>
              <a:rPr sz="1158" dirty="0">
                <a:latin typeface="Malgun Gothic"/>
                <a:cs typeface="Malgun Gothic"/>
              </a:rPr>
              <a:t>경제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주도권의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변화</a:t>
            </a:r>
          </a:p>
          <a:p>
            <a:pPr>
              <a:spcBef>
                <a:spcPts val="26"/>
              </a:spcBef>
              <a:buClr>
                <a:srgbClr val="4764B0"/>
              </a:buClr>
              <a:buFont typeface="Wingdings"/>
              <a:buChar char=""/>
            </a:pPr>
            <a:endParaRPr sz="1053" dirty="0">
              <a:latin typeface="Malgun Gothic"/>
              <a:cs typeface="Malgun Gothic"/>
            </a:endParaRPr>
          </a:p>
          <a:p>
            <a:pPr marL="218201" indent="-209991">
              <a:spcBef>
                <a:spcPts val="5"/>
              </a:spcBef>
              <a:buClr>
                <a:srgbClr val="4764B0"/>
              </a:buClr>
              <a:buFont typeface="Wingdings"/>
              <a:buChar char=""/>
              <a:tabLst>
                <a:tab pos="218633" algn="l"/>
              </a:tabLst>
            </a:pPr>
            <a:r>
              <a:rPr sz="1158" dirty="0">
                <a:latin typeface="Corbel"/>
                <a:cs typeface="Corbel"/>
              </a:rPr>
              <a:t>19</a:t>
            </a:r>
            <a:r>
              <a:rPr sz="1158" spc="5" dirty="0">
                <a:latin typeface="Corbel"/>
                <a:cs typeface="Corbel"/>
              </a:rPr>
              <a:t>31</a:t>
            </a:r>
            <a:r>
              <a:rPr sz="1158" dirty="0">
                <a:latin typeface="Malgun Gothic"/>
                <a:cs typeface="Malgun Gothic"/>
              </a:rPr>
              <a:t>년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영국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금본위제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포기</a:t>
            </a:r>
          </a:p>
          <a:p>
            <a:pPr marL="421712" lvl="1" indent="-203943">
              <a:spcBef>
                <a:spcPts val="246"/>
              </a:spcBef>
              <a:buClr>
                <a:srgbClr val="4764B0"/>
              </a:buClr>
              <a:buFont typeface="Wingdings"/>
              <a:buChar char=""/>
              <a:tabLst>
                <a:tab pos="421712" algn="l"/>
                <a:tab pos="422141" algn="l"/>
              </a:tabLst>
            </a:pPr>
            <a:r>
              <a:rPr sz="1158" dirty="0">
                <a:latin typeface="Malgun Gothic"/>
                <a:cs typeface="Malgun Gothic"/>
              </a:rPr>
              <a:t>무엇이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문제인가</a:t>
            </a:r>
            <a:r>
              <a:rPr sz="1158" dirty="0">
                <a:latin typeface="Corbel"/>
                <a:cs typeface="Corbel"/>
              </a:rPr>
              <a:t>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2D1B10-B5FF-D20C-1382-80B64B14BFD7}"/>
              </a:ext>
            </a:extLst>
          </p:cNvPr>
          <p:cNvSpPr txBox="1"/>
          <p:nvPr/>
        </p:nvSpPr>
        <p:spPr>
          <a:xfrm>
            <a:off x="1644918" y="577312"/>
            <a:ext cx="21323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1</a:t>
            </a:r>
            <a:r>
              <a:rPr lang="ko-KR" altLang="en-US" sz="1200" dirty="0"/>
              <a:t>차 세계대전 중 초 인플레 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36B67D-DBC0-D97B-FCC9-FCA620046669}"/>
              </a:ext>
            </a:extLst>
          </p:cNvPr>
          <p:cNvSpPr txBox="1"/>
          <p:nvPr/>
        </p:nvSpPr>
        <p:spPr>
          <a:xfrm>
            <a:off x="4604569" y="2098308"/>
            <a:ext cx="30203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금태환 중지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초인플레</a:t>
            </a:r>
            <a:r>
              <a:rPr lang="ko-KR" altLang="en-US" sz="1200" dirty="0"/>
              <a:t> </a:t>
            </a:r>
            <a:r>
              <a:rPr lang="en-US" altLang="ko-KR" sz="1200" dirty="0"/>
              <a:t>-&gt; </a:t>
            </a:r>
            <a:r>
              <a:rPr lang="ko-KR" altLang="en-US" sz="1200" dirty="0"/>
              <a:t>금본위 복귀 시도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372431-1FEC-B3B9-0922-F67A3AE80E6F}"/>
              </a:ext>
            </a:extLst>
          </p:cNvPr>
          <p:cNvSpPr txBox="1"/>
          <p:nvPr/>
        </p:nvSpPr>
        <p:spPr>
          <a:xfrm>
            <a:off x="4879275" y="2332126"/>
            <a:ext cx="3429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결과 </a:t>
            </a:r>
            <a:r>
              <a:rPr lang="en-US" altLang="ko-KR" sz="1200" dirty="0"/>
              <a:t>: 1924 </a:t>
            </a:r>
            <a:r>
              <a:rPr lang="ko-KR" altLang="en-US" sz="1200" dirty="0"/>
              <a:t>영국 금본위제 복귀</a:t>
            </a:r>
            <a:r>
              <a:rPr lang="en-US" altLang="ko-KR" sz="1200" dirty="0"/>
              <a:t>; (</a:t>
            </a:r>
            <a:r>
              <a:rPr lang="ko-KR" altLang="en-US" sz="1200" dirty="0"/>
              <a:t>이전 평가 그대로</a:t>
            </a:r>
            <a:r>
              <a:rPr lang="en-US" altLang="ko-KR" sz="1200" dirty="0"/>
              <a:t>)</a:t>
            </a:r>
          </a:p>
          <a:p>
            <a:r>
              <a:rPr lang="ko-KR" altLang="en-US" sz="1200" dirty="0"/>
              <a:t>이후 디플레이션 </a:t>
            </a:r>
            <a:r>
              <a:rPr lang="en-US" altLang="ko-KR" sz="1200" dirty="0"/>
              <a:t>but, </a:t>
            </a:r>
            <a:r>
              <a:rPr lang="ko-KR" altLang="en-US" sz="1200" dirty="0"/>
              <a:t>상대적 물가에서 실질임금은 여전히 높음</a:t>
            </a:r>
            <a:r>
              <a:rPr lang="en-US" altLang="ko-KR" sz="1200" dirty="0"/>
              <a:t> -&gt; </a:t>
            </a:r>
            <a:r>
              <a:rPr lang="ko-KR" altLang="en-US" sz="1200" dirty="0"/>
              <a:t>고용과 투자 위축</a:t>
            </a:r>
            <a:endParaRPr lang="en-US" altLang="ko-KR" sz="1200" dirty="0"/>
          </a:p>
          <a:p>
            <a:r>
              <a:rPr lang="ko-KR" altLang="en-US" sz="1200" dirty="0"/>
              <a:t>국가 경쟁력 하락 </a:t>
            </a:r>
            <a:r>
              <a:rPr lang="en-US" altLang="ko-KR" sz="1200" dirty="0"/>
              <a:t>-&gt; </a:t>
            </a:r>
            <a:r>
              <a:rPr lang="ko-KR" altLang="en-US" sz="1200" dirty="0"/>
              <a:t>산업에 타격</a:t>
            </a:r>
            <a:endParaRPr lang="en-US" altLang="ko-KR" sz="1200" dirty="0"/>
          </a:p>
          <a:p>
            <a:r>
              <a:rPr lang="en-US" altLang="ko-KR" sz="1200" dirty="0"/>
              <a:t>Ex) </a:t>
            </a:r>
            <a:r>
              <a:rPr lang="ko-KR" altLang="en-US" sz="1200" dirty="0"/>
              <a:t>석탄</a:t>
            </a:r>
            <a:r>
              <a:rPr lang="en-US" altLang="ko-KR" sz="1200" dirty="0"/>
              <a:t>, </a:t>
            </a:r>
            <a:r>
              <a:rPr lang="ko-KR" altLang="en-US" sz="1200" dirty="0"/>
              <a:t>철강</a:t>
            </a:r>
            <a:r>
              <a:rPr lang="en-US" altLang="ko-KR" sz="1200" dirty="0"/>
              <a:t>,</a:t>
            </a:r>
            <a:br>
              <a:rPr lang="en-US" altLang="ko-KR" sz="1200" dirty="0"/>
            </a:br>
            <a:r>
              <a:rPr lang="en-US" altLang="ko-KR" sz="1200" dirty="0"/>
              <a:t>+ </a:t>
            </a:r>
            <a:r>
              <a:rPr lang="ko-KR" altLang="en-US" sz="1200" dirty="0"/>
              <a:t>높은 금리 유지 </a:t>
            </a:r>
            <a:r>
              <a:rPr lang="en-US" altLang="ko-KR" sz="1200" dirty="0"/>
              <a:t>(</a:t>
            </a:r>
            <a:r>
              <a:rPr lang="ko-KR" altLang="en-US" sz="1200" dirty="0" err="1"/>
              <a:t>금유출</a:t>
            </a:r>
            <a:r>
              <a:rPr lang="ko-KR" altLang="en-US" sz="1200" dirty="0"/>
              <a:t> 방지를 위해</a:t>
            </a:r>
            <a:r>
              <a:rPr lang="en-US" altLang="ko-KR" sz="1200" dirty="0"/>
              <a:t>)</a:t>
            </a:r>
          </a:p>
          <a:p>
            <a:r>
              <a:rPr lang="en-US" altLang="ko-KR" sz="1200" dirty="0"/>
              <a:t>-&gt; 1931 </a:t>
            </a:r>
            <a:r>
              <a:rPr lang="ko-KR" altLang="en-US" sz="1200" dirty="0"/>
              <a:t>금본위제 포기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CD13F6-ABB3-CA23-AC4A-BFC5A5E80C8D}"/>
              </a:ext>
            </a:extLst>
          </p:cNvPr>
          <p:cNvSpPr txBox="1"/>
          <p:nvPr/>
        </p:nvSpPr>
        <p:spPr>
          <a:xfrm>
            <a:off x="404352" y="3194049"/>
            <a:ext cx="473914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ko-KR" altLang="en-US" sz="1200" dirty="0"/>
              <a:t>국제수지 자동조절 메커니즘 작동 </a:t>
            </a:r>
            <a:r>
              <a:rPr lang="en-US" altLang="ko-KR" sz="1200" dirty="0"/>
              <a:t>X</a:t>
            </a:r>
          </a:p>
          <a:p>
            <a:pPr lvl="1"/>
            <a:r>
              <a:rPr lang="ko-KR" altLang="en-US" sz="1200" dirty="0"/>
              <a:t>신축적 임금으로 뒷받침된 개별적 </a:t>
            </a:r>
            <a:r>
              <a:rPr lang="ko-KR" altLang="en-US" sz="1200" dirty="0" err="1"/>
              <a:t>분산화된</a:t>
            </a:r>
            <a:r>
              <a:rPr lang="ko-KR" altLang="en-US" sz="1200" dirty="0"/>
              <a:t> 노동시장이 필요 </a:t>
            </a:r>
            <a:r>
              <a:rPr lang="en-US" altLang="ko-KR" sz="1200" dirty="0"/>
              <a:t>(</a:t>
            </a:r>
            <a:r>
              <a:rPr lang="ko-KR" altLang="en-US" sz="1200" dirty="0"/>
              <a:t>노동시장의 유연화</a:t>
            </a:r>
            <a:r>
              <a:rPr lang="en-US" altLang="ko-KR" sz="1200" dirty="0"/>
              <a:t>)</a:t>
            </a:r>
          </a:p>
          <a:p>
            <a:pPr lvl="1"/>
            <a:r>
              <a:rPr lang="en-US" altLang="ko-KR" sz="1200" dirty="0"/>
              <a:t>Ex)</a:t>
            </a:r>
            <a:r>
              <a:rPr lang="ko-KR" altLang="en-US" sz="1200" dirty="0"/>
              <a:t> 산업 경쟁력 하락</a:t>
            </a:r>
            <a:r>
              <a:rPr lang="en-US" altLang="ko-KR" sz="1200" dirty="0"/>
              <a:t> -&gt; </a:t>
            </a:r>
            <a:r>
              <a:rPr lang="ko-KR" altLang="en-US" sz="1200" dirty="0"/>
              <a:t>임금</a:t>
            </a:r>
            <a:r>
              <a:rPr lang="en-US" altLang="ko-KR" sz="1200" dirty="0"/>
              <a:t>/</a:t>
            </a:r>
            <a:r>
              <a:rPr lang="ko-KR" altLang="en-US" sz="1200" dirty="0"/>
              <a:t>비용 하락 </a:t>
            </a:r>
            <a:r>
              <a:rPr lang="en-US" altLang="ko-KR" sz="1200" dirty="0"/>
              <a:t>-&gt; </a:t>
            </a:r>
            <a:r>
              <a:rPr lang="ko-KR" altLang="en-US" sz="1200" dirty="0"/>
              <a:t>가격경쟁력 상승</a:t>
            </a:r>
            <a:br>
              <a:rPr lang="en-US" altLang="ko-KR" sz="1200" dirty="0"/>
            </a:br>
            <a:r>
              <a:rPr lang="ko-KR" altLang="en-US" sz="1200" dirty="0"/>
              <a:t>임금</a:t>
            </a:r>
            <a:r>
              <a:rPr lang="en-US" altLang="ko-KR" sz="1200" dirty="0"/>
              <a:t>/</a:t>
            </a:r>
            <a:r>
              <a:rPr lang="ko-KR" altLang="en-US" sz="1200" dirty="0"/>
              <a:t>비용 하락을 케인즈가 고용</a:t>
            </a:r>
            <a:r>
              <a:rPr lang="en-US" altLang="ko-KR" sz="1200" dirty="0"/>
              <a:t>/</a:t>
            </a:r>
            <a:r>
              <a:rPr lang="ko-KR" altLang="en-US" sz="1200" dirty="0"/>
              <a:t>이자 및 화폐의 일반이론</a:t>
            </a:r>
            <a:endParaRPr lang="en-US" altLang="ko-KR" sz="1200" dirty="0"/>
          </a:p>
          <a:p>
            <a:r>
              <a:rPr lang="en-US" altLang="ko-KR" sz="1200" dirty="0"/>
              <a:t>2. </a:t>
            </a:r>
            <a:r>
              <a:rPr lang="ko-KR" altLang="en-US" sz="1200" dirty="0"/>
              <a:t>정치</a:t>
            </a:r>
            <a:r>
              <a:rPr lang="en-US" altLang="ko-KR" sz="1200" dirty="0"/>
              <a:t>: </a:t>
            </a:r>
            <a:r>
              <a:rPr lang="ko-KR" altLang="en-US" sz="1200" dirty="0"/>
              <a:t>노동자들의 투표권</a:t>
            </a:r>
            <a:endParaRPr lang="en-US" altLang="ko-KR" sz="1200" dirty="0"/>
          </a:p>
          <a:p>
            <a:pPr lvl="1"/>
            <a:r>
              <a:rPr lang="ko-KR" altLang="en-US" sz="1200" dirty="0"/>
              <a:t>실업 </a:t>
            </a:r>
            <a:r>
              <a:rPr lang="en-US" altLang="ko-KR" sz="1200" dirty="0"/>
              <a:t>vs </a:t>
            </a:r>
            <a:r>
              <a:rPr lang="ko-KR" altLang="en-US" sz="1200" dirty="0"/>
              <a:t>금본위제 포기</a:t>
            </a:r>
            <a:endParaRPr lang="en-US" altLang="ko-KR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7E6EEB-4D06-37AD-FF6F-8211FDD33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932F5D5-8440-1BB4-E4D4-5B2EB25FAF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3705" y="1780595"/>
            <a:ext cx="4080595" cy="3139321"/>
          </a:xfrm>
        </p:spPr>
        <p:txBody>
          <a:bodyPr/>
          <a:lstStyle/>
          <a:p>
            <a:r>
              <a:rPr lang="en-US" altLang="ko-KR" sz="1200" dirty="0"/>
              <a:t>1</a:t>
            </a:r>
            <a:r>
              <a:rPr lang="ko-KR" altLang="en-US" sz="1200" dirty="0"/>
              <a:t>차 </a:t>
            </a:r>
            <a:r>
              <a:rPr lang="ko-KR" altLang="en-US" sz="1200" dirty="0" err="1"/>
              <a:t>대전중</a:t>
            </a:r>
            <a:r>
              <a:rPr lang="ko-KR" altLang="en-US" sz="1200" dirty="0"/>
              <a:t> 초 인플레 발생 </a:t>
            </a:r>
            <a:r>
              <a:rPr lang="en-US" altLang="ko-KR" sz="1200" dirty="0"/>
              <a:t>1914 ~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dirty="0" err="1"/>
              <a:t>전쟁중</a:t>
            </a:r>
            <a:r>
              <a:rPr lang="ko-KR" altLang="en-US" sz="1200" dirty="0"/>
              <a:t> 금태환 중지</a:t>
            </a:r>
            <a:r>
              <a:rPr lang="en-US" altLang="ko-KR" sz="1200" dirty="0"/>
              <a:t>, </a:t>
            </a:r>
            <a:r>
              <a:rPr lang="ko-KR" altLang="en-US" sz="1200" dirty="0"/>
              <a:t>재정지출 확대</a:t>
            </a:r>
            <a:endParaRPr lang="en-US" altLang="ko-KR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dirty="0"/>
              <a:t>통화량 증가 및 </a:t>
            </a:r>
            <a:r>
              <a:rPr lang="en-US" altLang="ko-KR" sz="1200" dirty="0"/>
              <a:t>(</a:t>
            </a:r>
            <a:r>
              <a:rPr lang="ko-KR" altLang="en-US" sz="1200" dirty="0"/>
              <a:t>민간</a:t>
            </a:r>
            <a:r>
              <a:rPr lang="en-US" altLang="ko-KR" sz="1200" dirty="0"/>
              <a:t>)</a:t>
            </a:r>
            <a:r>
              <a:rPr lang="ko-KR" altLang="en-US" sz="1200" dirty="0"/>
              <a:t>공급 하락 </a:t>
            </a:r>
            <a:r>
              <a:rPr lang="en-US" altLang="ko-KR" sz="1200" dirty="0"/>
              <a:t>-&gt; </a:t>
            </a:r>
            <a:r>
              <a:rPr lang="ko-KR" altLang="en-US" sz="1200" dirty="0"/>
              <a:t>전시 </a:t>
            </a:r>
            <a:r>
              <a:rPr lang="ko-KR" altLang="en-US" sz="1200" dirty="0" err="1"/>
              <a:t>초인플레</a:t>
            </a:r>
            <a:r>
              <a:rPr lang="ko-KR" altLang="en-US" sz="1200" dirty="0"/>
              <a:t> 발생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dirty="0"/>
              <a:t>1</a:t>
            </a:r>
            <a:r>
              <a:rPr lang="ko-KR" altLang="en-US" sz="1200" dirty="0"/>
              <a:t>차 대전 이후 </a:t>
            </a:r>
            <a:r>
              <a:rPr lang="en-US" altLang="ko-KR" sz="1200" dirty="0"/>
              <a:t>1920: </a:t>
            </a:r>
            <a:r>
              <a:rPr lang="ko-KR" altLang="en-US" sz="1200" dirty="0"/>
              <a:t>복귀하나</a:t>
            </a:r>
            <a:r>
              <a:rPr lang="en-US" altLang="ko-KR" sz="1200" dirty="0"/>
              <a:t>? </a:t>
            </a:r>
            <a:r>
              <a:rPr lang="ko-KR" altLang="en-US" sz="1200" dirty="0"/>
              <a:t>안하나</a:t>
            </a:r>
            <a:r>
              <a:rPr lang="en-US" altLang="ko-KR" sz="1200" dirty="0"/>
              <a:t>? </a:t>
            </a:r>
            <a:r>
              <a:rPr lang="ko-KR" altLang="en-US" sz="1200" dirty="0"/>
              <a:t>한다면 어떻게</a:t>
            </a:r>
            <a:r>
              <a:rPr lang="en-US" altLang="ko-KR" sz="1200" dirty="0"/>
              <a:t>?</a:t>
            </a:r>
          </a:p>
          <a:p>
            <a:r>
              <a:rPr lang="ko-KR" altLang="en-US" sz="1200" dirty="0"/>
              <a:t>복귀 </a:t>
            </a:r>
            <a:r>
              <a:rPr lang="en-US" altLang="ko-KR" sz="1200" dirty="0"/>
              <a:t>-&gt; </a:t>
            </a:r>
            <a:r>
              <a:rPr lang="ko-KR" altLang="en-US" sz="1200" dirty="0"/>
              <a:t>디플레이션</a:t>
            </a:r>
            <a:endParaRPr lang="en-US" altLang="ko-KR" sz="1200" dirty="0"/>
          </a:p>
          <a:p>
            <a:r>
              <a:rPr lang="ko-KR" altLang="en-US" sz="1200" dirty="0"/>
              <a:t>전쟁 전 금평가를 적용시</a:t>
            </a:r>
            <a:r>
              <a:rPr lang="en-US" altLang="ko-KR" sz="1200" dirty="0"/>
              <a:t>(</a:t>
            </a:r>
            <a:r>
              <a:rPr lang="ko-KR" altLang="en-US" sz="1200" dirty="0"/>
              <a:t>영국 파운드화 </a:t>
            </a:r>
            <a:r>
              <a:rPr lang="en-US" altLang="ko-KR" sz="1200" dirty="0"/>
              <a:t>vs </a:t>
            </a:r>
            <a:r>
              <a:rPr lang="ko-KR" altLang="en-US" sz="1200" dirty="0"/>
              <a:t>달러화</a:t>
            </a:r>
            <a:r>
              <a:rPr lang="en-US" altLang="ko-KR" sz="1200" dirty="0"/>
              <a:t>)</a:t>
            </a:r>
          </a:p>
          <a:p>
            <a:r>
              <a:rPr lang="ko-KR" altLang="en-US" sz="1200" dirty="0"/>
              <a:t>영국이 미국 대비 구매력 하락</a:t>
            </a:r>
            <a:endParaRPr lang="en-US" altLang="ko-KR" sz="1200" dirty="0"/>
          </a:p>
          <a:p>
            <a:r>
              <a:rPr lang="en-US" altLang="ko-KR" sz="1200" dirty="0"/>
              <a:t>Ex) </a:t>
            </a:r>
            <a:r>
              <a:rPr lang="ko-KR" altLang="en-US" sz="1200" dirty="0"/>
              <a:t>영국이 </a:t>
            </a:r>
            <a:r>
              <a:rPr lang="en-US" altLang="ko-KR" sz="1200" dirty="0"/>
              <a:t>100% </a:t>
            </a:r>
            <a:r>
              <a:rPr lang="ko-KR" altLang="en-US" sz="1200" dirty="0"/>
              <a:t>인플레</a:t>
            </a:r>
            <a:r>
              <a:rPr lang="en-US" altLang="ko-KR" sz="1200" dirty="0"/>
              <a:t>, </a:t>
            </a:r>
            <a:r>
              <a:rPr lang="ko-KR" altLang="en-US" sz="1200" dirty="0"/>
              <a:t>미국 </a:t>
            </a:r>
            <a:r>
              <a:rPr lang="en-US" altLang="ko-KR" sz="1200" dirty="0"/>
              <a:t>25% </a:t>
            </a:r>
            <a:r>
              <a:rPr lang="ko-KR" altLang="en-US" sz="1200" dirty="0"/>
              <a:t>상승</a:t>
            </a:r>
            <a:endParaRPr lang="en-US" altLang="ko-KR" sz="1200" dirty="0"/>
          </a:p>
          <a:p>
            <a:r>
              <a:rPr lang="ko-KR" altLang="en-US" sz="1200" dirty="0"/>
              <a:t>같은 물건</a:t>
            </a:r>
            <a:endParaRPr lang="en-US" altLang="ko-KR" sz="1200" dirty="0"/>
          </a:p>
          <a:p>
            <a:r>
              <a:rPr lang="ko-KR" altLang="en-US" sz="1200" dirty="0" err="1"/>
              <a:t>전쟁전</a:t>
            </a:r>
            <a:r>
              <a:rPr lang="ko-KR" altLang="en-US" sz="1200" dirty="0"/>
              <a:t> </a:t>
            </a:r>
            <a:r>
              <a:rPr lang="en-US" altLang="ko-KR" sz="1200" dirty="0"/>
              <a:t>1g</a:t>
            </a:r>
            <a:r>
              <a:rPr lang="ko-KR" altLang="en-US" sz="1200" dirty="0"/>
              <a:t>으로 살 수 있는 물건</a:t>
            </a:r>
            <a:endParaRPr lang="en-US" altLang="ko-KR" sz="1200" dirty="0"/>
          </a:p>
          <a:p>
            <a:r>
              <a:rPr lang="ko-KR" altLang="en-US" sz="1200" dirty="0"/>
              <a:t>전쟁 후 영은 </a:t>
            </a:r>
            <a:r>
              <a:rPr lang="en-US" altLang="ko-KR" sz="1200" dirty="0"/>
              <a:t>2g, </a:t>
            </a:r>
            <a:r>
              <a:rPr lang="ko-KR" altLang="en-US" sz="1200" dirty="0"/>
              <a:t>미는 </a:t>
            </a:r>
            <a:r>
              <a:rPr lang="en-US" altLang="ko-KR" sz="1200" dirty="0"/>
              <a:t>1.25g </a:t>
            </a:r>
            <a:r>
              <a:rPr lang="ko-KR" altLang="en-US" sz="1200" dirty="0"/>
              <a:t>필요 </a:t>
            </a:r>
            <a:r>
              <a:rPr lang="en-US" altLang="ko-KR" sz="1200" dirty="0"/>
              <a:t>-&gt; </a:t>
            </a:r>
            <a:r>
              <a:rPr lang="ko-KR" altLang="en-US" sz="1200" dirty="0"/>
              <a:t>상대적 구매력 변화</a:t>
            </a:r>
            <a:endParaRPr lang="en-US" altLang="ko-KR" sz="1200" dirty="0"/>
          </a:p>
          <a:p>
            <a:r>
              <a:rPr lang="en-US" altLang="ko-KR" sz="1200" dirty="0"/>
              <a:t>+ </a:t>
            </a:r>
            <a:r>
              <a:rPr lang="ko-KR" altLang="en-US" sz="1200" dirty="0"/>
              <a:t>영 국제수지 적자 </a:t>
            </a:r>
            <a:r>
              <a:rPr lang="en-US" altLang="ko-KR" sz="1200" dirty="0"/>
              <a:t>-&gt; </a:t>
            </a:r>
            <a:r>
              <a:rPr lang="ko-KR" altLang="en-US" sz="1200" dirty="0"/>
              <a:t>금이 미로 유출</a:t>
            </a:r>
            <a:endParaRPr lang="en-US" altLang="ko-KR" sz="1200" dirty="0"/>
          </a:p>
          <a:p>
            <a:r>
              <a:rPr lang="en-US" altLang="ko-KR" sz="1200" dirty="0"/>
              <a:t>+ </a:t>
            </a:r>
            <a:r>
              <a:rPr lang="ko-KR" altLang="en-US" sz="1200" dirty="0"/>
              <a:t>산업생산력 </a:t>
            </a:r>
            <a:r>
              <a:rPr lang="en-US" altLang="ko-KR" sz="1200" dirty="0"/>
              <a:t>: </a:t>
            </a:r>
            <a:r>
              <a:rPr lang="ko-KR" altLang="en-US" sz="1200" dirty="0"/>
              <a:t>영 </a:t>
            </a:r>
            <a:r>
              <a:rPr lang="en-US" altLang="ko-KR" sz="1200" dirty="0"/>
              <a:t>&lt; </a:t>
            </a:r>
            <a:r>
              <a:rPr lang="ko-KR" altLang="en-US" sz="1200" dirty="0"/>
              <a:t>미</a:t>
            </a:r>
            <a:endParaRPr lang="en-US" altLang="ko-KR" sz="1200" dirty="0"/>
          </a:p>
          <a:p>
            <a:r>
              <a:rPr lang="ko-KR" altLang="en-US" sz="1200" dirty="0"/>
              <a:t>따라서 파운드가 약해져야 한다</a:t>
            </a:r>
            <a:r>
              <a:rPr lang="en-US" altLang="ko-KR" sz="1200" dirty="0"/>
              <a:t>. </a:t>
            </a:r>
            <a:r>
              <a:rPr lang="ko-KR" altLang="en-US" sz="1200" dirty="0"/>
              <a:t>즉</a:t>
            </a:r>
            <a:r>
              <a:rPr lang="en-US" altLang="ko-KR" sz="1200" dirty="0"/>
              <a:t>, </a:t>
            </a:r>
            <a:r>
              <a:rPr lang="ko-KR" altLang="en-US" sz="1200" dirty="0"/>
              <a:t>통화가치 평가 절하</a:t>
            </a:r>
            <a:endParaRPr lang="en-US" altLang="ko-KR" sz="1200" dirty="0"/>
          </a:p>
          <a:p>
            <a:r>
              <a:rPr lang="ko-KR" altLang="en-US" sz="1200" dirty="0"/>
              <a:t>평가절하의 장점</a:t>
            </a:r>
            <a:r>
              <a:rPr lang="en-US" altLang="ko-KR" sz="1200" dirty="0"/>
              <a:t>: </a:t>
            </a:r>
            <a:r>
              <a:rPr lang="ko-KR" altLang="en-US" sz="1200" dirty="0"/>
              <a:t>산업경쟁력 높음</a:t>
            </a:r>
            <a:endParaRPr lang="en-US" altLang="ko-KR" sz="1200" dirty="0"/>
          </a:p>
          <a:p>
            <a:r>
              <a:rPr lang="ko-KR" altLang="en-US" sz="1200" dirty="0"/>
              <a:t>단점</a:t>
            </a:r>
            <a:r>
              <a:rPr lang="en-US" altLang="ko-KR" sz="1200" dirty="0"/>
              <a:t>: </a:t>
            </a:r>
            <a:r>
              <a:rPr lang="ko-KR" altLang="en-US" sz="1200" dirty="0"/>
              <a:t>화폐신뢰 낮아짐</a:t>
            </a:r>
            <a:r>
              <a:rPr lang="en-US" altLang="ko-KR" sz="1200" dirty="0"/>
              <a:t>(</a:t>
            </a:r>
            <a:r>
              <a:rPr lang="ko-KR" altLang="en-US" sz="1200" dirty="0"/>
              <a:t>정책당국의 개입</a:t>
            </a:r>
            <a:r>
              <a:rPr lang="en-US" altLang="ko-KR" sz="1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35492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39359" y="3992881"/>
            <a:ext cx="2363417" cy="364664"/>
          </a:xfrm>
          <a:prstGeom prst="rect">
            <a:avLst/>
          </a:prstGeom>
        </p:spPr>
        <p:txBody>
          <a:bodyPr vert="horz" wrap="square" lIns="0" tIns="8648" rIns="0" bIns="0" rtlCol="0">
            <a:spAutoFit/>
          </a:bodyPr>
          <a:lstStyle/>
          <a:p>
            <a:pPr marL="8641">
              <a:spcBef>
                <a:spcPts val="69"/>
              </a:spcBef>
            </a:pPr>
            <a:r>
              <a:rPr sz="2249" b="0" spc="35" dirty="0">
                <a:latin typeface="Calibri Light"/>
                <a:cs typeface="Calibri Light"/>
              </a:rPr>
              <a:t>1</a:t>
            </a:r>
            <a:r>
              <a:rPr sz="2313" dirty="0"/>
              <a:t>차</a:t>
            </a:r>
            <a:r>
              <a:rPr sz="2313" spc="-281" dirty="0"/>
              <a:t> </a:t>
            </a:r>
            <a:r>
              <a:rPr sz="2313" spc="5" dirty="0"/>
              <a:t>세계화</a:t>
            </a:r>
            <a:r>
              <a:rPr sz="2313" dirty="0"/>
              <a:t>의</a:t>
            </a:r>
            <a:r>
              <a:rPr sz="2313" spc="-281" dirty="0"/>
              <a:t> </a:t>
            </a:r>
            <a:r>
              <a:rPr sz="2313" spc="5" dirty="0"/>
              <a:t>결과</a:t>
            </a:r>
            <a:endParaRPr sz="2313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1490968" y="5177995"/>
            <a:ext cx="599496" cy="269021"/>
          </a:xfrm>
          <a:prstGeom prst="rect">
            <a:avLst/>
          </a:prstGeom>
        </p:spPr>
        <p:txBody>
          <a:bodyPr vert="horz" wrap="square" lIns="0" tIns="17721" rIns="0" bIns="0" rtlCol="0">
            <a:spAutoFit/>
          </a:bodyPr>
          <a:lstStyle/>
          <a:p>
            <a:pPr marL="8641">
              <a:spcBef>
                <a:spcPts val="140"/>
              </a:spcBef>
            </a:pPr>
            <a:r>
              <a:rPr spc="-9" dirty="0"/>
              <a:t>글로벌경제론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429856" y="5195474"/>
            <a:ext cx="107624" cy="904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641">
              <a:lnSpc>
                <a:spcPts val="712"/>
              </a:lnSpc>
            </a:pPr>
            <a:r>
              <a:rPr sz="681" b="1" i="1" spc="5" dirty="0">
                <a:solidFill>
                  <a:srgbClr val="0000FF"/>
                </a:solidFill>
                <a:latin typeface="Corbel"/>
                <a:cs typeface="Corbel"/>
              </a:rPr>
              <a:t>16</a:t>
            </a:r>
            <a:endParaRPr sz="681" dirty="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5191" y="1655365"/>
            <a:ext cx="2141684" cy="217973"/>
          </a:xfrm>
          <a:prstGeom prst="rect">
            <a:avLst/>
          </a:prstGeom>
        </p:spPr>
        <p:txBody>
          <a:bodyPr vert="horz" wrap="square" lIns="0" tIns="8648" rIns="0" bIns="0" rtlCol="0">
            <a:spAutoFit/>
          </a:bodyPr>
          <a:lstStyle/>
          <a:p>
            <a:pPr marL="8641">
              <a:spcBef>
                <a:spcPts val="69"/>
              </a:spcBef>
            </a:pPr>
            <a:r>
              <a:rPr spc="31" dirty="0"/>
              <a:t>세계화</a:t>
            </a:r>
            <a:r>
              <a:rPr dirty="0"/>
              <a:t>의</a:t>
            </a:r>
            <a:r>
              <a:rPr spc="-130" dirty="0"/>
              <a:t> </a:t>
            </a:r>
            <a:r>
              <a:rPr spc="31" dirty="0"/>
              <a:t>결</a:t>
            </a:r>
            <a:r>
              <a:rPr dirty="0"/>
              <a:t>과</a:t>
            </a:r>
            <a:r>
              <a:rPr spc="-130" dirty="0"/>
              <a:t> </a:t>
            </a:r>
            <a:r>
              <a:rPr sz="1991" b="0" spc="15" baseline="1424" dirty="0">
                <a:latin typeface="Calibri Light"/>
                <a:cs typeface="Calibri Light"/>
              </a:rPr>
              <a:t>(</a:t>
            </a:r>
            <a:r>
              <a:rPr sz="1991" b="0" spc="44" baseline="1424" dirty="0">
                <a:latin typeface="Calibri Light"/>
                <a:cs typeface="Calibri Light"/>
              </a:rPr>
              <a:t>1</a:t>
            </a:r>
            <a:r>
              <a:rPr sz="1991" b="0" spc="12" baseline="1424" dirty="0">
                <a:latin typeface="Calibri Light"/>
                <a:cs typeface="Calibri Light"/>
              </a:rPr>
              <a:t>)</a:t>
            </a:r>
            <a:r>
              <a:rPr sz="1991" b="0" spc="35" baseline="1424" dirty="0">
                <a:latin typeface="Calibri Light"/>
                <a:cs typeface="Calibri Light"/>
              </a:rPr>
              <a:t> </a:t>
            </a:r>
            <a:r>
              <a:rPr spc="31" dirty="0"/>
              <a:t>가</a:t>
            </a:r>
            <a:r>
              <a:rPr dirty="0"/>
              <a:t>격</a:t>
            </a:r>
            <a:r>
              <a:rPr spc="-130" dirty="0"/>
              <a:t> </a:t>
            </a:r>
            <a:r>
              <a:rPr spc="31" dirty="0"/>
              <a:t>수렴</a:t>
            </a:r>
            <a:endParaRPr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34340" y="4249757"/>
            <a:ext cx="3747260" cy="786959"/>
          </a:xfrm>
          <a:prstGeom prst="rect">
            <a:avLst/>
          </a:prstGeom>
        </p:spPr>
        <p:txBody>
          <a:bodyPr vert="horz" wrap="square" lIns="0" tIns="8648" rIns="0" bIns="0" rtlCol="0">
            <a:spAutoFit/>
          </a:bodyPr>
          <a:lstStyle/>
          <a:p>
            <a:pPr marL="218201" indent="-209991">
              <a:spcBef>
                <a:spcPts val="69"/>
              </a:spcBef>
              <a:buClr>
                <a:srgbClr val="4764B0"/>
              </a:buClr>
              <a:buFont typeface="Wingdings"/>
              <a:buChar char=""/>
              <a:tabLst>
                <a:tab pos="218633" algn="l"/>
              </a:tabLst>
            </a:pPr>
            <a:r>
              <a:rPr sz="1158" dirty="0">
                <a:highlight>
                  <a:srgbClr val="FFFF00"/>
                </a:highlight>
                <a:latin typeface="Malgun Gothic"/>
                <a:cs typeface="Malgun Gothic"/>
              </a:rPr>
              <a:t>영국</a:t>
            </a:r>
            <a:r>
              <a:rPr sz="1158" spc="-5" dirty="0">
                <a:highlight>
                  <a:srgbClr val="FFFF00"/>
                </a:highlight>
                <a:latin typeface="Corbel"/>
                <a:cs typeface="Corbel"/>
              </a:rPr>
              <a:t>-</a:t>
            </a:r>
            <a:r>
              <a:rPr sz="1158" dirty="0">
                <a:highlight>
                  <a:srgbClr val="FFFF00"/>
                </a:highlight>
                <a:latin typeface="Malgun Gothic"/>
                <a:cs typeface="Malgun Gothic"/>
              </a:rPr>
              <a:t>미국의</a:t>
            </a:r>
            <a:r>
              <a:rPr sz="1158" spc="-173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158" dirty="0">
                <a:highlight>
                  <a:srgbClr val="FFFF00"/>
                </a:highlight>
                <a:latin typeface="Malgun Gothic"/>
                <a:cs typeface="Malgun Gothic"/>
              </a:rPr>
              <a:t>항구</a:t>
            </a:r>
            <a:r>
              <a:rPr sz="1158" spc="-173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158" dirty="0">
                <a:highlight>
                  <a:srgbClr val="FFFF00"/>
                </a:highlight>
                <a:latin typeface="Malgun Gothic"/>
                <a:cs typeface="Malgun Gothic"/>
              </a:rPr>
              <a:t>간</a:t>
            </a:r>
            <a:r>
              <a:rPr sz="1158" spc="-173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158" dirty="0">
                <a:highlight>
                  <a:srgbClr val="FFFF00"/>
                </a:highlight>
                <a:latin typeface="Malgun Gothic"/>
                <a:cs typeface="Malgun Gothic"/>
              </a:rPr>
              <a:t>가격</a:t>
            </a:r>
            <a:r>
              <a:rPr sz="1158" spc="-173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158" dirty="0">
                <a:highlight>
                  <a:srgbClr val="FFFF00"/>
                </a:highlight>
                <a:latin typeface="Malgun Gothic"/>
                <a:cs typeface="Malgun Gothic"/>
              </a:rPr>
              <a:t>격차가</a:t>
            </a:r>
            <a:r>
              <a:rPr sz="1158" spc="-173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158" dirty="0">
                <a:highlight>
                  <a:srgbClr val="FFFF00"/>
                </a:highlight>
                <a:latin typeface="Malgun Gothic"/>
                <a:cs typeface="Malgun Gothic"/>
              </a:rPr>
              <a:t>지속적으로</a:t>
            </a:r>
            <a:r>
              <a:rPr sz="1158" spc="-173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158" dirty="0">
                <a:highlight>
                  <a:srgbClr val="FFFF00"/>
                </a:highlight>
                <a:latin typeface="Malgun Gothic"/>
                <a:cs typeface="Malgun Gothic"/>
              </a:rPr>
              <a:t>축소</a:t>
            </a:r>
          </a:p>
          <a:p>
            <a:pPr marL="218201" indent="-209991">
              <a:spcBef>
                <a:spcPts val="932"/>
              </a:spcBef>
              <a:buClr>
                <a:srgbClr val="4764B0"/>
              </a:buClr>
              <a:buFont typeface="Wingdings"/>
              <a:buChar char=""/>
              <a:tabLst>
                <a:tab pos="218633" algn="l"/>
              </a:tabLst>
            </a:pPr>
            <a:r>
              <a:rPr sz="1158" dirty="0">
                <a:highlight>
                  <a:srgbClr val="FFFF00"/>
                </a:highlight>
                <a:latin typeface="Malgun Gothic"/>
                <a:cs typeface="Malgun Gothic"/>
              </a:rPr>
              <a:t>유럽인들은</a:t>
            </a:r>
            <a:r>
              <a:rPr sz="1158" spc="-173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158" dirty="0">
                <a:highlight>
                  <a:srgbClr val="FFFF00"/>
                </a:highlight>
                <a:latin typeface="Malgun Gothic"/>
                <a:cs typeface="Malgun Gothic"/>
              </a:rPr>
              <a:t>저렴한</a:t>
            </a:r>
            <a:r>
              <a:rPr sz="1158" spc="-173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158" dirty="0">
                <a:highlight>
                  <a:srgbClr val="FFFF00"/>
                </a:highlight>
                <a:latin typeface="Malgun Gothic"/>
                <a:cs typeface="Malgun Gothic"/>
              </a:rPr>
              <a:t>가격에</a:t>
            </a:r>
            <a:r>
              <a:rPr sz="1158" spc="-173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158" dirty="0">
                <a:highlight>
                  <a:srgbClr val="FFFF00"/>
                </a:highlight>
                <a:latin typeface="Malgun Gothic"/>
                <a:cs typeface="Malgun Gothic"/>
              </a:rPr>
              <a:t>곡물을</a:t>
            </a:r>
            <a:r>
              <a:rPr sz="1158" spc="-173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158" dirty="0">
                <a:highlight>
                  <a:srgbClr val="FFFF00"/>
                </a:highlight>
                <a:latin typeface="Malgun Gothic"/>
                <a:cs typeface="Malgun Gothic"/>
              </a:rPr>
              <a:t>소비할</a:t>
            </a:r>
            <a:r>
              <a:rPr sz="1158" spc="-173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158" dirty="0">
                <a:highlight>
                  <a:srgbClr val="FFFF00"/>
                </a:highlight>
                <a:latin typeface="Malgun Gothic"/>
                <a:cs typeface="Malgun Gothic"/>
              </a:rPr>
              <a:t>수</a:t>
            </a:r>
            <a:r>
              <a:rPr sz="1158" spc="-173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158" dirty="0">
                <a:highlight>
                  <a:srgbClr val="FFFF00"/>
                </a:highlight>
                <a:latin typeface="Malgun Gothic"/>
                <a:cs typeface="Malgun Gothic"/>
              </a:rPr>
              <a:t>있게</a:t>
            </a:r>
            <a:r>
              <a:rPr sz="1158" spc="-173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158" dirty="0">
                <a:highlight>
                  <a:srgbClr val="FFFF00"/>
                </a:highlight>
                <a:latin typeface="Malgun Gothic"/>
                <a:cs typeface="Malgun Gothic"/>
              </a:rPr>
              <a:t>됨</a:t>
            </a:r>
          </a:p>
          <a:p>
            <a:pPr marL="218201" indent="-209991">
              <a:spcBef>
                <a:spcPts val="982"/>
              </a:spcBef>
              <a:buClr>
                <a:srgbClr val="4764B0"/>
              </a:buClr>
              <a:buFont typeface="Wingdings"/>
              <a:buChar char=""/>
              <a:tabLst>
                <a:tab pos="218633" algn="l"/>
              </a:tabLst>
            </a:pPr>
            <a:r>
              <a:rPr sz="1158" dirty="0">
                <a:latin typeface="Malgun Gothic"/>
                <a:cs typeface="Malgun Gothic"/>
              </a:rPr>
              <a:t>아메리카인들은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양질의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공산품을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저렴한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가격에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소비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51283" y="2156909"/>
            <a:ext cx="3220725" cy="191368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660399" y="2156926"/>
            <a:ext cx="3270444" cy="1828853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1490968" y="5177995"/>
            <a:ext cx="599496" cy="269021"/>
          </a:xfrm>
          <a:prstGeom prst="rect">
            <a:avLst/>
          </a:prstGeom>
        </p:spPr>
        <p:txBody>
          <a:bodyPr vert="horz" wrap="square" lIns="0" tIns="17721" rIns="0" bIns="0" rtlCol="0">
            <a:spAutoFit/>
          </a:bodyPr>
          <a:lstStyle/>
          <a:p>
            <a:pPr marL="8641">
              <a:spcBef>
                <a:spcPts val="140"/>
              </a:spcBef>
            </a:pPr>
            <a:r>
              <a:rPr spc="-9" dirty="0"/>
              <a:t>글로벌경제론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07802" y="1957807"/>
            <a:ext cx="6154479" cy="66563"/>
            <a:chOff x="844973" y="1616849"/>
            <a:chExt cx="9041765" cy="97790"/>
          </a:xfrm>
        </p:grpSpPr>
        <p:sp>
          <p:nvSpPr>
            <p:cNvPr id="3" name="object 3"/>
            <p:cNvSpPr/>
            <p:nvPr/>
          </p:nvSpPr>
          <p:spPr>
            <a:xfrm>
              <a:off x="844973" y="1620905"/>
              <a:ext cx="5289550" cy="93345"/>
            </a:xfrm>
            <a:custGeom>
              <a:avLst/>
              <a:gdLst/>
              <a:ahLst/>
              <a:cxnLst/>
              <a:rect l="l" t="t" r="r" b="b"/>
              <a:pathLst>
                <a:path w="5289550" h="93344">
                  <a:moveTo>
                    <a:pt x="5289177" y="0"/>
                  </a:moveTo>
                  <a:lnTo>
                    <a:pt x="0" y="0"/>
                  </a:lnTo>
                  <a:lnTo>
                    <a:pt x="0" y="93310"/>
                  </a:lnTo>
                  <a:lnTo>
                    <a:pt x="5289177" y="93310"/>
                  </a:lnTo>
                  <a:lnTo>
                    <a:pt x="5289177" y="0"/>
                  </a:lnTo>
                  <a:close/>
                </a:path>
              </a:pathLst>
            </a:custGeom>
            <a:solidFill>
              <a:srgbClr val="4764B0"/>
            </a:solidFill>
          </p:spPr>
          <p:txBody>
            <a:bodyPr wrap="square" lIns="0" tIns="0" rIns="0" bIns="0" rtlCol="0"/>
            <a:lstStyle/>
            <a:p>
              <a:endParaRPr sz="1225"/>
            </a:p>
          </p:txBody>
        </p:sp>
        <p:sp>
          <p:nvSpPr>
            <p:cNvPr id="4" name="object 4"/>
            <p:cNvSpPr/>
            <p:nvPr/>
          </p:nvSpPr>
          <p:spPr>
            <a:xfrm>
              <a:off x="844973" y="1620906"/>
              <a:ext cx="9041765" cy="0"/>
            </a:xfrm>
            <a:custGeom>
              <a:avLst/>
              <a:gdLst/>
              <a:ahLst/>
              <a:cxnLst/>
              <a:rect l="l" t="t" r="r" b="b"/>
              <a:pathLst>
                <a:path w="9041765">
                  <a:moveTo>
                    <a:pt x="0" y="0"/>
                  </a:moveTo>
                  <a:lnTo>
                    <a:pt x="9041328" y="0"/>
                  </a:lnTo>
                </a:path>
              </a:pathLst>
            </a:custGeom>
            <a:ln w="8113">
              <a:solidFill>
                <a:srgbClr val="4764B0"/>
              </a:solidFill>
            </a:ln>
          </p:spPr>
          <p:txBody>
            <a:bodyPr wrap="square" lIns="0" tIns="0" rIns="0" bIns="0" rtlCol="0"/>
            <a:lstStyle/>
            <a:p>
              <a:endParaRPr sz="1225"/>
            </a:p>
          </p:txBody>
        </p:sp>
      </p:grp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91109" y="5209542"/>
            <a:ext cx="619537" cy="15663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525186" y="1655365"/>
            <a:ext cx="3025589" cy="217973"/>
          </a:xfrm>
          <a:prstGeom prst="rect">
            <a:avLst/>
          </a:prstGeom>
        </p:spPr>
        <p:txBody>
          <a:bodyPr vert="horz" wrap="square" lIns="0" tIns="8648" rIns="0" bIns="0" rtlCol="0">
            <a:spAutoFit/>
          </a:bodyPr>
          <a:lstStyle/>
          <a:p>
            <a:pPr marL="8641">
              <a:spcBef>
                <a:spcPts val="69"/>
              </a:spcBef>
            </a:pPr>
            <a:r>
              <a:rPr spc="31" dirty="0"/>
              <a:t>세계화</a:t>
            </a:r>
            <a:r>
              <a:rPr dirty="0"/>
              <a:t>의</a:t>
            </a:r>
            <a:r>
              <a:rPr spc="-130" dirty="0"/>
              <a:t> </a:t>
            </a:r>
            <a:r>
              <a:rPr spc="31" dirty="0"/>
              <a:t>결</a:t>
            </a:r>
            <a:r>
              <a:rPr dirty="0"/>
              <a:t>과</a:t>
            </a:r>
            <a:r>
              <a:rPr spc="-130" dirty="0"/>
              <a:t> </a:t>
            </a:r>
            <a:r>
              <a:rPr sz="1991" b="0" spc="15" baseline="1424" dirty="0">
                <a:latin typeface="Calibri Light"/>
                <a:cs typeface="Calibri Light"/>
              </a:rPr>
              <a:t>(</a:t>
            </a:r>
            <a:r>
              <a:rPr sz="1991" b="0" spc="44" baseline="1424" dirty="0">
                <a:latin typeface="Calibri Light"/>
                <a:cs typeface="Calibri Light"/>
              </a:rPr>
              <a:t>2</a:t>
            </a:r>
            <a:r>
              <a:rPr sz="1991" b="0" spc="12" baseline="1424" dirty="0">
                <a:latin typeface="Calibri Light"/>
                <a:cs typeface="Calibri Light"/>
              </a:rPr>
              <a:t>)</a:t>
            </a:r>
            <a:r>
              <a:rPr sz="1991" b="0" spc="35" baseline="1424" dirty="0">
                <a:latin typeface="Calibri Light"/>
                <a:cs typeface="Calibri Light"/>
              </a:rPr>
              <a:t> </a:t>
            </a:r>
            <a:r>
              <a:rPr spc="31" dirty="0"/>
              <a:t>상대요소가격</a:t>
            </a:r>
            <a:r>
              <a:rPr dirty="0"/>
              <a:t>의</a:t>
            </a:r>
            <a:r>
              <a:rPr spc="-130" dirty="0"/>
              <a:t> </a:t>
            </a:r>
            <a:r>
              <a:rPr spc="31" dirty="0"/>
              <a:t>수렴</a:t>
            </a:r>
            <a:endParaRPr>
              <a:latin typeface="Calibri Light"/>
              <a:cs typeface="Calibri Light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97875" y="2085337"/>
            <a:ext cx="3037851" cy="202077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94380" y="2139835"/>
            <a:ext cx="3526573" cy="200235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434346" y="4075438"/>
            <a:ext cx="6210667" cy="1059344"/>
          </a:xfrm>
          <a:prstGeom prst="rect">
            <a:avLst/>
          </a:prstGeom>
        </p:spPr>
        <p:txBody>
          <a:bodyPr vert="horz" wrap="square" lIns="0" tIns="39766" rIns="0" bIns="0" rtlCol="0">
            <a:spAutoFit/>
          </a:bodyPr>
          <a:lstStyle/>
          <a:p>
            <a:pPr marL="207401" indent="-199191">
              <a:spcBef>
                <a:spcPts val="314"/>
              </a:spcBef>
              <a:buFont typeface="Arial MT"/>
              <a:buChar char="•"/>
              <a:tabLst>
                <a:tab pos="207401" algn="l"/>
                <a:tab pos="207830" algn="l"/>
              </a:tabLst>
            </a:pPr>
            <a:r>
              <a:rPr sz="1158" dirty="0">
                <a:highlight>
                  <a:srgbClr val="FFFF00"/>
                </a:highlight>
                <a:latin typeface="Malgun Gothic"/>
                <a:cs typeface="Malgun Gothic"/>
              </a:rPr>
              <a:t>무역이론의</a:t>
            </a:r>
            <a:r>
              <a:rPr sz="1158" spc="-146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158" dirty="0">
                <a:highlight>
                  <a:srgbClr val="FFFF00"/>
                </a:highlight>
                <a:latin typeface="Malgun Gothic"/>
                <a:cs typeface="Malgun Gothic"/>
              </a:rPr>
              <a:t>예측</a:t>
            </a:r>
            <a:r>
              <a:rPr sz="1158" dirty="0">
                <a:highlight>
                  <a:srgbClr val="FFFF00"/>
                </a:highlight>
                <a:latin typeface="Calibri"/>
                <a:cs typeface="Calibri"/>
              </a:rPr>
              <a:t>: </a:t>
            </a:r>
            <a:r>
              <a:rPr sz="1158" dirty="0">
                <a:highlight>
                  <a:srgbClr val="FFFF00"/>
                </a:highlight>
                <a:latin typeface="Malgun Gothic"/>
                <a:cs typeface="Malgun Gothic"/>
              </a:rPr>
              <a:t>풍부한</a:t>
            </a:r>
            <a:r>
              <a:rPr sz="1158" spc="-146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158" dirty="0">
                <a:highlight>
                  <a:srgbClr val="FFFF00"/>
                </a:highlight>
                <a:latin typeface="Malgun Gothic"/>
                <a:cs typeface="Malgun Gothic"/>
              </a:rPr>
              <a:t>요소의</a:t>
            </a:r>
            <a:r>
              <a:rPr sz="1158" spc="-146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158" dirty="0">
                <a:highlight>
                  <a:srgbClr val="FFFF00"/>
                </a:highlight>
                <a:latin typeface="Malgun Gothic"/>
                <a:cs typeface="Malgun Gothic"/>
              </a:rPr>
              <a:t>상대가격이</a:t>
            </a:r>
            <a:r>
              <a:rPr sz="1158" spc="-146" dirty="0"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158" dirty="0">
                <a:highlight>
                  <a:srgbClr val="FFFF00"/>
                </a:highlight>
                <a:latin typeface="Malgun Gothic"/>
                <a:cs typeface="Malgun Gothic"/>
              </a:rPr>
              <a:t>상승</a:t>
            </a:r>
          </a:p>
          <a:p>
            <a:pPr marL="207401" indent="-199191">
              <a:spcBef>
                <a:spcPts val="246"/>
              </a:spcBef>
              <a:buFont typeface="Arial MT"/>
              <a:buChar char="•"/>
              <a:tabLst>
                <a:tab pos="207401" algn="l"/>
                <a:tab pos="207830" algn="l"/>
              </a:tabLst>
            </a:pPr>
            <a:r>
              <a:rPr sz="1158" dirty="0">
                <a:latin typeface="Calibri"/>
                <a:cs typeface="Calibri"/>
              </a:rPr>
              <a:t>1</a:t>
            </a:r>
            <a:r>
              <a:rPr sz="1158" dirty="0">
                <a:latin typeface="Malgun Gothic"/>
                <a:cs typeface="Malgun Gothic"/>
              </a:rPr>
              <a:t>차</a:t>
            </a:r>
            <a:r>
              <a:rPr sz="1158" spc="-146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세계화의</a:t>
            </a:r>
            <a:r>
              <a:rPr sz="1158" spc="-146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패턴</a:t>
            </a:r>
          </a:p>
          <a:p>
            <a:pPr marL="438992" lvl="1" indent="-165916">
              <a:spcBef>
                <a:spcPts val="311"/>
              </a:spcBef>
              <a:buFont typeface="Arial MT"/>
              <a:buChar char="–"/>
              <a:tabLst>
                <a:tab pos="439426" algn="l"/>
              </a:tabLst>
            </a:pPr>
            <a:r>
              <a:rPr sz="1158" dirty="0">
                <a:solidFill>
                  <a:srgbClr val="003F4D"/>
                </a:solidFill>
                <a:latin typeface="Malgun Gothic"/>
                <a:cs typeface="Malgun Gothic"/>
              </a:rPr>
              <a:t>원래</a:t>
            </a:r>
            <a:r>
              <a:rPr sz="1158" spc="-146" dirty="0">
                <a:solidFill>
                  <a:srgbClr val="003F4D"/>
                </a:solidFill>
                <a:latin typeface="Malgun Gothic"/>
                <a:cs typeface="Malgun Gothic"/>
              </a:rPr>
              <a:t> </a:t>
            </a:r>
            <a:r>
              <a:rPr sz="1158" dirty="0">
                <a:solidFill>
                  <a:srgbClr val="003F4D"/>
                </a:solidFill>
                <a:latin typeface="Malgun Gothic"/>
                <a:cs typeface="Malgun Gothic"/>
              </a:rPr>
              <a:t>구세계</a:t>
            </a:r>
            <a:r>
              <a:rPr sz="1158" spc="5" dirty="0">
                <a:solidFill>
                  <a:srgbClr val="003F4D"/>
                </a:solidFill>
                <a:latin typeface="Calibri"/>
                <a:cs typeface="Calibri"/>
              </a:rPr>
              <a:t>(</a:t>
            </a:r>
            <a:r>
              <a:rPr sz="1158" dirty="0">
                <a:solidFill>
                  <a:srgbClr val="003F4D"/>
                </a:solidFill>
                <a:latin typeface="Malgun Gothic"/>
                <a:cs typeface="Malgun Gothic"/>
              </a:rPr>
              <a:t>유럽</a:t>
            </a:r>
            <a:r>
              <a:rPr sz="1158" spc="5" dirty="0">
                <a:solidFill>
                  <a:srgbClr val="003F4D"/>
                </a:solidFill>
                <a:latin typeface="Calibri"/>
                <a:cs typeface="Calibri"/>
              </a:rPr>
              <a:t>)</a:t>
            </a:r>
            <a:r>
              <a:rPr sz="1158" dirty="0">
                <a:solidFill>
                  <a:srgbClr val="003F4D"/>
                </a:solidFill>
                <a:latin typeface="Malgun Gothic"/>
                <a:cs typeface="Malgun Gothic"/>
              </a:rPr>
              <a:t>은</a:t>
            </a:r>
            <a:r>
              <a:rPr sz="1158" spc="-143" dirty="0">
                <a:solidFill>
                  <a:srgbClr val="003F4D"/>
                </a:solidFill>
                <a:latin typeface="Malgun Gothic"/>
                <a:cs typeface="Malgun Gothic"/>
              </a:rPr>
              <a:t> </a:t>
            </a:r>
            <a:r>
              <a:rPr sz="1158" dirty="0">
                <a:solidFill>
                  <a:srgbClr val="003F4D"/>
                </a:solidFill>
                <a:latin typeface="Malgun Gothic"/>
                <a:cs typeface="Malgun Gothic"/>
              </a:rPr>
              <a:t>토지</a:t>
            </a:r>
            <a:r>
              <a:rPr sz="1158" spc="-146" dirty="0">
                <a:solidFill>
                  <a:srgbClr val="003F4D"/>
                </a:solidFill>
                <a:latin typeface="Malgun Gothic"/>
                <a:cs typeface="Malgun Gothic"/>
              </a:rPr>
              <a:t> </a:t>
            </a:r>
            <a:r>
              <a:rPr sz="1158" dirty="0">
                <a:solidFill>
                  <a:srgbClr val="003F4D"/>
                </a:solidFill>
                <a:latin typeface="Malgun Gothic"/>
                <a:cs typeface="Malgun Gothic"/>
              </a:rPr>
              <a:t>대비</a:t>
            </a:r>
            <a:r>
              <a:rPr sz="1158" spc="-146" dirty="0">
                <a:solidFill>
                  <a:srgbClr val="003F4D"/>
                </a:solidFill>
                <a:latin typeface="Malgun Gothic"/>
                <a:cs typeface="Malgun Gothic"/>
              </a:rPr>
              <a:t> </a:t>
            </a:r>
            <a:r>
              <a:rPr sz="1158" dirty="0">
                <a:solidFill>
                  <a:srgbClr val="003F4D"/>
                </a:solidFill>
                <a:latin typeface="Malgun Gothic"/>
                <a:cs typeface="Malgun Gothic"/>
              </a:rPr>
              <a:t>노동이</a:t>
            </a:r>
            <a:r>
              <a:rPr sz="1158" spc="-146" dirty="0">
                <a:solidFill>
                  <a:srgbClr val="003F4D"/>
                </a:solidFill>
                <a:latin typeface="Malgun Gothic"/>
                <a:cs typeface="Malgun Gothic"/>
              </a:rPr>
              <a:t> </a:t>
            </a:r>
            <a:r>
              <a:rPr sz="1158" dirty="0">
                <a:solidFill>
                  <a:srgbClr val="003F4D"/>
                </a:solidFill>
                <a:latin typeface="Malgun Gothic"/>
                <a:cs typeface="Malgun Gothic"/>
              </a:rPr>
              <a:t>풍부</a:t>
            </a:r>
            <a:r>
              <a:rPr sz="1158" dirty="0">
                <a:solidFill>
                  <a:srgbClr val="003F4D"/>
                </a:solidFill>
                <a:latin typeface="Calibri"/>
                <a:cs typeface="Calibri"/>
              </a:rPr>
              <a:t>, </a:t>
            </a:r>
            <a:r>
              <a:rPr sz="1158" dirty="0">
                <a:solidFill>
                  <a:srgbClr val="003F4D"/>
                </a:solidFill>
                <a:latin typeface="Malgun Gothic"/>
                <a:cs typeface="Malgun Gothic"/>
              </a:rPr>
              <a:t>신세계</a:t>
            </a:r>
            <a:r>
              <a:rPr sz="1158" spc="5" dirty="0">
                <a:solidFill>
                  <a:srgbClr val="003F4D"/>
                </a:solidFill>
                <a:latin typeface="Calibri"/>
                <a:cs typeface="Calibri"/>
              </a:rPr>
              <a:t>(</a:t>
            </a:r>
            <a:r>
              <a:rPr sz="1158" dirty="0">
                <a:solidFill>
                  <a:srgbClr val="003F4D"/>
                </a:solidFill>
                <a:latin typeface="Malgun Gothic"/>
                <a:cs typeface="Malgun Gothic"/>
              </a:rPr>
              <a:t>아메리카</a:t>
            </a:r>
            <a:r>
              <a:rPr sz="1158" spc="5" dirty="0">
                <a:solidFill>
                  <a:srgbClr val="003F4D"/>
                </a:solidFill>
                <a:latin typeface="Calibri"/>
                <a:cs typeface="Calibri"/>
              </a:rPr>
              <a:t>)</a:t>
            </a:r>
            <a:r>
              <a:rPr sz="1158" dirty="0">
                <a:solidFill>
                  <a:srgbClr val="003F4D"/>
                </a:solidFill>
                <a:latin typeface="Malgun Gothic"/>
                <a:cs typeface="Malgun Gothic"/>
              </a:rPr>
              <a:t>는</a:t>
            </a:r>
            <a:r>
              <a:rPr sz="1158" spc="-146" dirty="0">
                <a:solidFill>
                  <a:srgbClr val="003F4D"/>
                </a:solidFill>
                <a:latin typeface="Malgun Gothic"/>
                <a:cs typeface="Malgun Gothic"/>
              </a:rPr>
              <a:t> </a:t>
            </a:r>
            <a:r>
              <a:rPr sz="1158" dirty="0">
                <a:solidFill>
                  <a:srgbClr val="003F4D"/>
                </a:solidFill>
                <a:latin typeface="Malgun Gothic"/>
                <a:cs typeface="Malgun Gothic"/>
              </a:rPr>
              <a:t>부족</a:t>
            </a:r>
            <a:endParaRPr sz="1158" dirty="0">
              <a:latin typeface="Malgun Gothic"/>
              <a:cs typeface="Malgun Gothic"/>
            </a:endParaRPr>
          </a:p>
          <a:p>
            <a:pPr marL="438992" lvl="1" indent="-165916">
              <a:spcBef>
                <a:spcPts val="246"/>
              </a:spcBef>
              <a:buFont typeface="Arial MT"/>
              <a:buChar char="–"/>
              <a:tabLst>
                <a:tab pos="439426" algn="l"/>
              </a:tabLst>
            </a:pPr>
            <a:r>
              <a:rPr sz="1158" dirty="0">
                <a:solidFill>
                  <a:srgbClr val="003F4D"/>
                </a:solidFill>
                <a:highlight>
                  <a:srgbClr val="FFFF00"/>
                </a:highlight>
                <a:latin typeface="Malgun Gothic"/>
                <a:cs typeface="Malgun Gothic"/>
              </a:rPr>
              <a:t>따라서</a:t>
            </a:r>
            <a:r>
              <a:rPr sz="1158" spc="-146" dirty="0">
                <a:solidFill>
                  <a:srgbClr val="003F4D"/>
                </a:solidFill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158" dirty="0">
                <a:solidFill>
                  <a:srgbClr val="003F4D"/>
                </a:solidFill>
                <a:highlight>
                  <a:srgbClr val="FFFF00"/>
                </a:highlight>
                <a:latin typeface="Malgun Gothic"/>
                <a:cs typeface="Malgun Gothic"/>
              </a:rPr>
              <a:t>임금</a:t>
            </a:r>
            <a:r>
              <a:rPr sz="1158" dirty="0">
                <a:solidFill>
                  <a:srgbClr val="003F4D"/>
                </a:solidFill>
                <a:highlight>
                  <a:srgbClr val="FFFF00"/>
                </a:highlight>
                <a:latin typeface="Calibri"/>
                <a:cs typeface="Calibri"/>
              </a:rPr>
              <a:t>/</a:t>
            </a:r>
            <a:r>
              <a:rPr sz="1158" dirty="0">
                <a:solidFill>
                  <a:srgbClr val="003F4D"/>
                </a:solidFill>
                <a:highlight>
                  <a:srgbClr val="FFFF00"/>
                </a:highlight>
                <a:latin typeface="Malgun Gothic"/>
                <a:cs typeface="Malgun Gothic"/>
              </a:rPr>
              <a:t>지대</a:t>
            </a:r>
            <a:r>
              <a:rPr sz="1158" spc="-146" dirty="0">
                <a:solidFill>
                  <a:srgbClr val="003F4D"/>
                </a:solidFill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158" dirty="0">
                <a:solidFill>
                  <a:srgbClr val="003F4D"/>
                </a:solidFill>
                <a:highlight>
                  <a:srgbClr val="FFFF00"/>
                </a:highlight>
                <a:latin typeface="Malgun Gothic"/>
                <a:cs typeface="Malgun Gothic"/>
              </a:rPr>
              <a:t>비중은</a:t>
            </a:r>
            <a:r>
              <a:rPr sz="1158" spc="-146" dirty="0">
                <a:solidFill>
                  <a:srgbClr val="003F4D"/>
                </a:solidFill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158" dirty="0">
                <a:solidFill>
                  <a:srgbClr val="003F4D"/>
                </a:solidFill>
                <a:highlight>
                  <a:srgbClr val="FFFF00"/>
                </a:highlight>
                <a:latin typeface="Malgun Gothic"/>
                <a:cs typeface="Malgun Gothic"/>
              </a:rPr>
              <a:t>구세계에서</a:t>
            </a:r>
            <a:r>
              <a:rPr sz="1158" spc="-146" dirty="0">
                <a:solidFill>
                  <a:srgbClr val="003F4D"/>
                </a:solidFill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158" dirty="0">
                <a:solidFill>
                  <a:srgbClr val="003F4D"/>
                </a:solidFill>
                <a:highlight>
                  <a:srgbClr val="FFFF00"/>
                </a:highlight>
                <a:latin typeface="Malgun Gothic"/>
                <a:cs typeface="Malgun Gothic"/>
              </a:rPr>
              <a:t>낮고</a:t>
            </a:r>
            <a:r>
              <a:rPr sz="1158" spc="-146" dirty="0">
                <a:solidFill>
                  <a:srgbClr val="003F4D"/>
                </a:solidFill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158" dirty="0">
                <a:solidFill>
                  <a:srgbClr val="003F4D"/>
                </a:solidFill>
                <a:highlight>
                  <a:srgbClr val="FFFF00"/>
                </a:highlight>
                <a:latin typeface="Malgun Gothic"/>
                <a:cs typeface="Malgun Gothic"/>
              </a:rPr>
              <a:t>신세계는</a:t>
            </a:r>
            <a:r>
              <a:rPr sz="1158" spc="-146" dirty="0">
                <a:solidFill>
                  <a:srgbClr val="003F4D"/>
                </a:solidFill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158" dirty="0">
                <a:solidFill>
                  <a:srgbClr val="003F4D"/>
                </a:solidFill>
                <a:highlight>
                  <a:srgbClr val="FFFF00"/>
                </a:highlight>
                <a:latin typeface="Malgun Gothic"/>
                <a:cs typeface="Malgun Gothic"/>
              </a:rPr>
              <a:t>높았으나</a:t>
            </a:r>
            <a:r>
              <a:rPr sz="1158" dirty="0">
                <a:solidFill>
                  <a:srgbClr val="003F4D"/>
                </a:solidFill>
                <a:highlight>
                  <a:srgbClr val="FFFF00"/>
                </a:highlight>
                <a:latin typeface="Calibri"/>
                <a:cs typeface="Calibri"/>
              </a:rPr>
              <a:t>, </a:t>
            </a:r>
            <a:r>
              <a:rPr sz="1158" dirty="0">
                <a:solidFill>
                  <a:srgbClr val="003F4D"/>
                </a:solidFill>
                <a:highlight>
                  <a:srgbClr val="FFFF00"/>
                </a:highlight>
                <a:latin typeface="Malgun Gothic"/>
                <a:cs typeface="Malgun Gothic"/>
              </a:rPr>
              <a:t>무역</a:t>
            </a:r>
            <a:r>
              <a:rPr sz="1158" spc="-146" dirty="0">
                <a:solidFill>
                  <a:srgbClr val="003F4D"/>
                </a:solidFill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158" dirty="0">
                <a:solidFill>
                  <a:srgbClr val="003F4D"/>
                </a:solidFill>
                <a:highlight>
                  <a:srgbClr val="FFFF00"/>
                </a:highlight>
                <a:latin typeface="Malgun Gothic"/>
                <a:cs typeface="Malgun Gothic"/>
              </a:rPr>
              <a:t>후</a:t>
            </a:r>
            <a:r>
              <a:rPr sz="1158" spc="-146" dirty="0">
                <a:solidFill>
                  <a:srgbClr val="003F4D"/>
                </a:solidFill>
                <a:highlight>
                  <a:srgbClr val="FFFF00"/>
                </a:highlight>
                <a:latin typeface="Malgun Gothic"/>
                <a:cs typeface="Malgun Gothic"/>
              </a:rPr>
              <a:t> </a:t>
            </a:r>
            <a:r>
              <a:rPr sz="1158" dirty="0">
                <a:solidFill>
                  <a:srgbClr val="003F4D"/>
                </a:solidFill>
                <a:highlight>
                  <a:srgbClr val="FFFF00"/>
                </a:highlight>
                <a:latin typeface="Malgun Gothic"/>
                <a:cs typeface="Malgun Gothic"/>
              </a:rPr>
              <a:t>수렴</a:t>
            </a:r>
            <a:endParaRPr sz="1158" dirty="0">
              <a:highlight>
                <a:srgbClr val="FFFF00"/>
              </a:highlight>
              <a:latin typeface="Malgun Gothic"/>
              <a:cs typeface="Malgun Gothic"/>
            </a:endParaRPr>
          </a:p>
          <a:p>
            <a:pPr marL="73021">
              <a:spcBef>
                <a:spcPts val="311"/>
              </a:spcBef>
              <a:tabLst>
                <a:tab pos="273507" algn="l"/>
                <a:tab pos="6199483" algn="l"/>
              </a:tabLst>
            </a:pPr>
            <a:r>
              <a:rPr sz="1158" u="sng" dirty="0">
                <a:solidFill>
                  <a:srgbClr val="003F4D"/>
                </a:solidFill>
                <a:uFill>
                  <a:solidFill>
                    <a:srgbClr val="4764B0"/>
                  </a:solidFill>
                </a:uFill>
                <a:latin typeface="Times New Roman"/>
                <a:cs typeface="Times New Roman"/>
              </a:rPr>
              <a:t> 	</a:t>
            </a:r>
            <a:r>
              <a:rPr sz="1158" u="sng" dirty="0">
                <a:solidFill>
                  <a:srgbClr val="003F4D"/>
                </a:solidFill>
                <a:uFill>
                  <a:solidFill>
                    <a:srgbClr val="4764B0"/>
                  </a:solidFill>
                </a:uFill>
                <a:latin typeface="Arial MT"/>
                <a:cs typeface="Arial MT"/>
              </a:rPr>
              <a:t>– </a:t>
            </a:r>
            <a:r>
              <a:rPr sz="1158" u="sng" spc="15" dirty="0">
                <a:solidFill>
                  <a:srgbClr val="003F4D"/>
                </a:solidFill>
                <a:uFill>
                  <a:solidFill>
                    <a:srgbClr val="4764B0"/>
                  </a:solidFill>
                </a:uFill>
                <a:latin typeface="Arial MT"/>
                <a:cs typeface="Arial MT"/>
              </a:rPr>
              <a:t> </a:t>
            </a:r>
            <a:r>
              <a:rPr sz="1158" u="sng" dirty="0">
                <a:solidFill>
                  <a:srgbClr val="003F4D"/>
                </a:solidFill>
                <a:uFill>
                  <a:solidFill>
                    <a:srgbClr val="4764B0"/>
                  </a:solidFill>
                </a:uFill>
                <a:latin typeface="Malgun Gothic"/>
                <a:cs typeface="Malgun Gothic"/>
              </a:rPr>
              <a:t>다수의</a:t>
            </a:r>
            <a:r>
              <a:rPr sz="1158" u="sng" spc="-146" dirty="0">
                <a:solidFill>
                  <a:srgbClr val="003F4D"/>
                </a:solidFill>
                <a:uFill>
                  <a:solidFill>
                    <a:srgbClr val="4764B0"/>
                  </a:solidFill>
                </a:uFill>
                <a:latin typeface="Malgun Gothic"/>
                <a:cs typeface="Malgun Gothic"/>
              </a:rPr>
              <a:t> </a:t>
            </a:r>
            <a:r>
              <a:rPr sz="1158" u="sng" dirty="0">
                <a:solidFill>
                  <a:srgbClr val="003F4D"/>
                </a:solidFill>
                <a:uFill>
                  <a:solidFill>
                    <a:srgbClr val="4764B0"/>
                  </a:solidFill>
                </a:uFill>
                <a:latin typeface="Malgun Gothic"/>
                <a:cs typeface="Malgun Gothic"/>
              </a:rPr>
              <a:t>유럽</a:t>
            </a:r>
            <a:r>
              <a:rPr sz="1158" u="sng" spc="-146" dirty="0">
                <a:solidFill>
                  <a:srgbClr val="003F4D"/>
                </a:solidFill>
                <a:uFill>
                  <a:solidFill>
                    <a:srgbClr val="4764B0"/>
                  </a:solidFill>
                </a:uFill>
                <a:latin typeface="Malgun Gothic"/>
                <a:cs typeface="Malgun Gothic"/>
              </a:rPr>
              <a:t> </a:t>
            </a:r>
            <a:r>
              <a:rPr sz="1158" u="sng" dirty="0">
                <a:solidFill>
                  <a:srgbClr val="003F4D"/>
                </a:solidFill>
                <a:uFill>
                  <a:solidFill>
                    <a:srgbClr val="4764B0"/>
                  </a:solidFill>
                </a:uFill>
                <a:latin typeface="Malgun Gothic"/>
                <a:cs typeface="Malgun Gothic"/>
              </a:rPr>
              <a:t>노동자들이</a:t>
            </a:r>
            <a:r>
              <a:rPr sz="1158" u="sng" spc="-146" dirty="0">
                <a:solidFill>
                  <a:srgbClr val="003F4D"/>
                </a:solidFill>
                <a:uFill>
                  <a:solidFill>
                    <a:srgbClr val="4764B0"/>
                  </a:solidFill>
                </a:uFill>
                <a:latin typeface="Malgun Gothic"/>
                <a:cs typeface="Malgun Gothic"/>
              </a:rPr>
              <a:t> </a:t>
            </a:r>
            <a:r>
              <a:rPr sz="1158" u="sng" dirty="0">
                <a:solidFill>
                  <a:srgbClr val="003F4D"/>
                </a:solidFill>
                <a:uFill>
                  <a:solidFill>
                    <a:srgbClr val="4764B0"/>
                  </a:solidFill>
                </a:uFill>
                <a:latin typeface="Malgun Gothic"/>
                <a:cs typeface="Malgun Gothic"/>
              </a:rPr>
              <a:t>무역으로부터</a:t>
            </a:r>
            <a:r>
              <a:rPr sz="1158" u="sng" spc="-146" dirty="0">
                <a:solidFill>
                  <a:srgbClr val="003F4D"/>
                </a:solidFill>
                <a:uFill>
                  <a:solidFill>
                    <a:srgbClr val="4764B0"/>
                  </a:solidFill>
                </a:uFill>
                <a:latin typeface="Malgun Gothic"/>
                <a:cs typeface="Malgun Gothic"/>
              </a:rPr>
              <a:t> </a:t>
            </a:r>
            <a:r>
              <a:rPr sz="1158" u="sng" dirty="0">
                <a:solidFill>
                  <a:srgbClr val="003F4D"/>
                </a:solidFill>
                <a:uFill>
                  <a:solidFill>
                    <a:srgbClr val="4764B0"/>
                  </a:solidFill>
                </a:uFill>
                <a:latin typeface="Malgun Gothic"/>
                <a:cs typeface="Malgun Gothic"/>
              </a:rPr>
              <a:t>수혜를</a:t>
            </a:r>
            <a:r>
              <a:rPr sz="1158" u="sng" spc="-146" dirty="0">
                <a:solidFill>
                  <a:srgbClr val="003F4D"/>
                </a:solidFill>
                <a:uFill>
                  <a:solidFill>
                    <a:srgbClr val="4764B0"/>
                  </a:solidFill>
                </a:uFill>
                <a:latin typeface="Malgun Gothic"/>
                <a:cs typeface="Malgun Gothic"/>
              </a:rPr>
              <a:t> </a:t>
            </a:r>
            <a:r>
              <a:rPr sz="1158" u="sng" dirty="0">
                <a:solidFill>
                  <a:srgbClr val="003F4D"/>
                </a:solidFill>
                <a:uFill>
                  <a:solidFill>
                    <a:srgbClr val="4764B0"/>
                  </a:solidFill>
                </a:uFill>
                <a:latin typeface="Malgun Gothic"/>
                <a:cs typeface="Malgun Gothic"/>
              </a:rPr>
              <a:t>보았다는</a:t>
            </a:r>
            <a:r>
              <a:rPr sz="1158" u="sng" spc="-146" dirty="0">
                <a:solidFill>
                  <a:srgbClr val="003F4D"/>
                </a:solidFill>
                <a:uFill>
                  <a:solidFill>
                    <a:srgbClr val="4764B0"/>
                  </a:solidFill>
                </a:uFill>
                <a:latin typeface="Malgun Gothic"/>
                <a:cs typeface="Malgun Gothic"/>
              </a:rPr>
              <a:t> </a:t>
            </a:r>
            <a:r>
              <a:rPr sz="1158" u="sng" dirty="0">
                <a:solidFill>
                  <a:srgbClr val="003F4D"/>
                </a:solidFill>
                <a:uFill>
                  <a:solidFill>
                    <a:srgbClr val="4764B0"/>
                  </a:solidFill>
                </a:uFill>
                <a:latin typeface="Malgun Gothic"/>
                <a:cs typeface="Malgun Gothic"/>
              </a:rPr>
              <a:t>뜻	</a:t>
            </a:r>
            <a:endParaRPr sz="1158" dirty="0">
              <a:latin typeface="Malgun Gothic"/>
              <a:cs typeface="Malgun Gothic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1490968" y="5177995"/>
            <a:ext cx="599496" cy="269021"/>
          </a:xfrm>
          <a:prstGeom prst="rect">
            <a:avLst/>
          </a:prstGeom>
        </p:spPr>
        <p:txBody>
          <a:bodyPr vert="horz" wrap="square" lIns="0" tIns="17721" rIns="0" bIns="0" rtlCol="0">
            <a:spAutoFit/>
          </a:bodyPr>
          <a:lstStyle/>
          <a:p>
            <a:pPr marL="8641">
              <a:spcBef>
                <a:spcPts val="140"/>
              </a:spcBef>
            </a:pPr>
            <a:r>
              <a:rPr spc="-9" dirty="0"/>
              <a:t>글로벌경제론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5190" y="1655365"/>
            <a:ext cx="1383126" cy="217973"/>
          </a:xfrm>
          <a:prstGeom prst="rect">
            <a:avLst/>
          </a:prstGeom>
        </p:spPr>
        <p:txBody>
          <a:bodyPr vert="horz" wrap="square" lIns="0" tIns="8648" rIns="0" bIns="0" rtlCol="0">
            <a:spAutoFit/>
          </a:bodyPr>
          <a:lstStyle/>
          <a:p>
            <a:pPr marL="8641">
              <a:spcBef>
                <a:spcPts val="69"/>
              </a:spcBef>
            </a:pPr>
            <a:r>
              <a:rPr spc="31" dirty="0"/>
              <a:t>이민</a:t>
            </a:r>
            <a:r>
              <a:rPr sz="1991" b="0" spc="12" baseline="1424" dirty="0">
                <a:latin typeface="Calibri Light"/>
                <a:cs typeface="Calibri Light"/>
              </a:rPr>
              <a:t>:</a:t>
            </a:r>
            <a:r>
              <a:rPr sz="1991" b="0" spc="45" baseline="1424" dirty="0">
                <a:latin typeface="Calibri Light"/>
                <a:cs typeface="Calibri Light"/>
              </a:rPr>
              <a:t> </a:t>
            </a:r>
            <a:r>
              <a:rPr spc="31" dirty="0"/>
              <a:t>노동</a:t>
            </a:r>
            <a:r>
              <a:rPr dirty="0"/>
              <a:t>의</a:t>
            </a:r>
            <a:r>
              <a:rPr spc="-130" dirty="0"/>
              <a:t> </a:t>
            </a:r>
            <a:r>
              <a:rPr spc="31" dirty="0"/>
              <a:t>이동</a:t>
            </a:r>
            <a:endParaRPr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34343" y="4509044"/>
            <a:ext cx="3880965" cy="600372"/>
          </a:xfrm>
          <a:prstGeom prst="rect">
            <a:avLst/>
          </a:prstGeom>
        </p:spPr>
        <p:txBody>
          <a:bodyPr vert="horz" wrap="square" lIns="0" tIns="39766" rIns="0" bIns="0" rtlCol="0">
            <a:spAutoFit/>
          </a:bodyPr>
          <a:lstStyle/>
          <a:p>
            <a:pPr marL="218201" indent="-209991">
              <a:spcBef>
                <a:spcPts val="314"/>
              </a:spcBef>
              <a:buClr>
                <a:srgbClr val="4764B0"/>
              </a:buClr>
              <a:buFont typeface="Wingdings"/>
              <a:buChar char=""/>
              <a:tabLst>
                <a:tab pos="218633" algn="l"/>
              </a:tabLst>
            </a:pPr>
            <a:r>
              <a:rPr sz="1158" dirty="0">
                <a:latin typeface="Malgun Gothic"/>
                <a:cs typeface="Malgun Gothic"/>
              </a:rPr>
              <a:t>이민자들은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현지에서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더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높은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임금수준을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향유</a:t>
            </a:r>
          </a:p>
          <a:p>
            <a:pPr marL="218201" indent="-209991">
              <a:spcBef>
                <a:spcPts val="246"/>
              </a:spcBef>
              <a:buClr>
                <a:srgbClr val="4764B0"/>
              </a:buClr>
              <a:buFont typeface="Wingdings"/>
              <a:buChar char=""/>
              <a:tabLst>
                <a:tab pos="218633" algn="l"/>
              </a:tabLst>
            </a:pPr>
            <a:r>
              <a:rPr sz="1158" dirty="0">
                <a:latin typeface="Malgun Gothic"/>
                <a:cs typeface="Malgun Gothic"/>
              </a:rPr>
              <a:t>유럽은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노동공급이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Corbel"/>
                <a:cs typeface="Corbel"/>
              </a:rPr>
              <a:t>(</a:t>
            </a:r>
            <a:r>
              <a:rPr sz="1158" dirty="0">
                <a:latin typeface="Malgun Gothic"/>
                <a:cs typeface="Malgun Gothic"/>
              </a:rPr>
              <a:t>일부</a:t>
            </a:r>
            <a:r>
              <a:rPr sz="1158" dirty="0">
                <a:latin typeface="Corbel"/>
                <a:cs typeface="Corbel"/>
              </a:rPr>
              <a:t>) </a:t>
            </a:r>
            <a:r>
              <a:rPr sz="1158" dirty="0">
                <a:latin typeface="Malgun Gothic"/>
                <a:cs typeface="Malgun Gothic"/>
              </a:rPr>
              <a:t>감소하여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임금의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하방압력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완화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50681" y="2202102"/>
            <a:ext cx="3541538" cy="227058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051057" y="2386693"/>
            <a:ext cx="2746368" cy="1014129"/>
          </a:xfrm>
          <a:prstGeom prst="rect">
            <a:avLst/>
          </a:prstGeom>
        </p:spPr>
        <p:txBody>
          <a:bodyPr vert="horz" wrap="square" lIns="0" tIns="17721" rIns="0" bIns="0" rtlCol="0">
            <a:spAutoFit/>
          </a:bodyPr>
          <a:lstStyle/>
          <a:p>
            <a:pPr marL="207401" marR="3456" indent="-199191">
              <a:lnSpc>
                <a:spcPts val="1355"/>
              </a:lnSpc>
              <a:spcBef>
                <a:spcPts val="140"/>
              </a:spcBef>
              <a:buFont typeface="Arial MT"/>
              <a:buChar char="•"/>
              <a:tabLst>
                <a:tab pos="207401" algn="l"/>
                <a:tab pos="207830" algn="l"/>
              </a:tabLst>
            </a:pPr>
            <a:r>
              <a:rPr sz="1158" dirty="0">
                <a:latin typeface="Calibri"/>
                <a:cs typeface="Calibri"/>
              </a:rPr>
              <a:t>1820</a:t>
            </a:r>
            <a:r>
              <a:rPr sz="1158" dirty="0">
                <a:latin typeface="Malgun Gothic"/>
                <a:cs typeface="Malgun Gothic"/>
              </a:rPr>
              <a:t>년</a:t>
            </a:r>
            <a:r>
              <a:rPr sz="1158" spc="-146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이후</a:t>
            </a:r>
            <a:r>
              <a:rPr sz="1158" spc="-146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약</a:t>
            </a:r>
            <a:r>
              <a:rPr sz="1158" spc="-143" dirty="0">
                <a:latin typeface="Malgun Gothic"/>
                <a:cs typeface="Malgun Gothic"/>
              </a:rPr>
              <a:t> </a:t>
            </a:r>
            <a:r>
              <a:rPr sz="1158" dirty="0">
                <a:latin typeface="Calibri"/>
                <a:cs typeface="Calibri"/>
              </a:rPr>
              <a:t>5500</a:t>
            </a:r>
            <a:r>
              <a:rPr sz="1158" dirty="0">
                <a:latin typeface="Malgun Gothic"/>
                <a:cs typeface="Malgun Gothic"/>
              </a:rPr>
              <a:t>만의</a:t>
            </a:r>
            <a:r>
              <a:rPr sz="1158" spc="-146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유럽인들이</a:t>
            </a:r>
            <a:r>
              <a:rPr sz="1158" spc="-146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신  대륙으로</a:t>
            </a:r>
            <a:r>
              <a:rPr sz="1158" spc="-146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이주</a:t>
            </a:r>
          </a:p>
          <a:p>
            <a:pPr marL="273507">
              <a:spcBef>
                <a:spcPts val="272"/>
              </a:spcBef>
            </a:pPr>
            <a:r>
              <a:rPr sz="1158" dirty="0">
                <a:solidFill>
                  <a:srgbClr val="003F4D"/>
                </a:solidFill>
                <a:latin typeface="Arial MT"/>
                <a:cs typeface="Arial MT"/>
              </a:rPr>
              <a:t>– </a:t>
            </a:r>
            <a:r>
              <a:rPr sz="1158" spc="15" dirty="0">
                <a:solidFill>
                  <a:srgbClr val="003F4D"/>
                </a:solidFill>
                <a:latin typeface="Arial MT"/>
                <a:cs typeface="Arial MT"/>
              </a:rPr>
              <a:t> </a:t>
            </a:r>
            <a:r>
              <a:rPr sz="1158" dirty="0">
                <a:solidFill>
                  <a:srgbClr val="003F4D"/>
                </a:solidFill>
                <a:latin typeface="Calibri"/>
                <a:cs typeface="Calibri"/>
              </a:rPr>
              <a:t>1846-1875: </a:t>
            </a:r>
            <a:r>
              <a:rPr sz="1158" dirty="0">
                <a:solidFill>
                  <a:srgbClr val="003F4D"/>
                </a:solidFill>
                <a:latin typeface="Malgun Gothic"/>
                <a:cs typeface="Malgun Gothic"/>
              </a:rPr>
              <a:t>연평균</a:t>
            </a:r>
            <a:r>
              <a:rPr sz="1158" spc="-146" dirty="0">
                <a:solidFill>
                  <a:srgbClr val="003F4D"/>
                </a:solidFill>
                <a:latin typeface="Malgun Gothic"/>
                <a:cs typeface="Malgun Gothic"/>
              </a:rPr>
              <a:t> </a:t>
            </a:r>
            <a:r>
              <a:rPr sz="1158" dirty="0">
                <a:solidFill>
                  <a:srgbClr val="003F4D"/>
                </a:solidFill>
                <a:latin typeface="Calibri"/>
                <a:cs typeface="Calibri"/>
              </a:rPr>
              <a:t>30</a:t>
            </a:r>
            <a:r>
              <a:rPr sz="1158" dirty="0">
                <a:solidFill>
                  <a:srgbClr val="003F4D"/>
                </a:solidFill>
                <a:latin typeface="Malgun Gothic"/>
                <a:cs typeface="Malgun Gothic"/>
              </a:rPr>
              <a:t>만</a:t>
            </a:r>
            <a:endParaRPr sz="1158" dirty="0">
              <a:latin typeface="Malgun Gothic"/>
              <a:cs typeface="Malgun Gothic"/>
            </a:endParaRPr>
          </a:p>
          <a:p>
            <a:pPr marL="273507">
              <a:spcBef>
                <a:spcPts val="246"/>
              </a:spcBef>
            </a:pPr>
            <a:r>
              <a:rPr sz="1158" dirty="0">
                <a:solidFill>
                  <a:srgbClr val="003F4D"/>
                </a:solidFill>
                <a:latin typeface="Arial MT"/>
                <a:cs typeface="Arial MT"/>
              </a:rPr>
              <a:t>– </a:t>
            </a:r>
            <a:r>
              <a:rPr sz="1158" spc="15" dirty="0">
                <a:solidFill>
                  <a:srgbClr val="003F4D"/>
                </a:solidFill>
                <a:latin typeface="Arial MT"/>
                <a:cs typeface="Arial MT"/>
              </a:rPr>
              <a:t> </a:t>
            </a:r>
            <a:r>
              <a:rPr sz="1158" dirty="0">
                <a:solidFill>
                  <a:srgbClr val="003F4D"/>
                </a:solidFill>
                <a:latin typeface="Calibri"/>
                <a:cs typeface="Calibri"/>
              </a:rPr>
              <a:t>1875-1900: </a:t>
            </a:r>
            <a:r>
              <a:rPr sz="1158" dirty="0">
                <a:solidFill>
                  <a:srgbClr val="003F4D"/>
                </a:solidFill>
                <a:latin typeface="Malgun Gothic"/>
                <a:cs typeface="Malgun Gothic"/>
              </a:rPr>
              <a:t>연평균</a:t>
            </a:r>
            <a:r>
              <a:rPr sz="1158" spc="-146" dirty="0">
                <a:solidFill>
                  <a:srgbClr val="003F4D"/>
                </a:solidFill>
                <a:latin typeface="Malgun Gothic"/>
                <a:cs typeface="Malgun Gothic"/>
              </a:rPr>
              <a:t> </a:t>
            </a:r>
            <a:r>
              <a:rPr sz="1158" dirty="0">
                <a:solidFill>
                  <a:srgbClr val="003F4D"/>
                </a:solidFill>
                <a:latin typeface="Calibri"/>
                <a:cs typeface="Calibri"/>
              </a:rPr>
              <a:t>60</a:t>
            </a:r>
            <a:r>
              <a:rPr sz="1158" dirty="0">
                <a:solidFill>
                  <a:srgbClr val="003F4D"/>
                </a:solidFill>
                <a:latin typeface="Malgun Gothic"/>
                <a:cs typeface="Malgun Gothic"/>
              </a:rPr>
              <a:t>만</a:t>
            </a:r>
            <a:r>
              <a:rPr sz="1158" dirty="0">
                <a:solidFill>
                  <a:srgbClr val="003F4D"/>
                </a:solidFill>
                <a:latin typeface="Calibri"/>
                <a:cs typeface="Calibri"/>
              </a:rPr>
              <a:t>+</a:t>
            </a:r>
            <a:endParaRPr sz="1158" dirty="0">
              <a:latin typeface="Calibri"/>
              <a:cs typeface="Calibri"/>
            </a:endParaRPr>
          </a:p>
          <a:p>
            <a:pPr marL="273507">
              <a:spcBef>
                <a:spcPts val="327"/>
              </a:spcBef>
            </a:pPr>
            <a:r>
              <a:rPr sz="1158" dirty="0">
                <a:solidFill>
                  <a:srgbClr val="003F4D"/>
                </a:solidFill>
                <a:latin typeface="Arial MT"/>
                <a:cs typeface="Arial MT"/>
              </a:rPr>
              <a:t>– </a:t>
            </a:r>
            <a:r>
              <a:rPr sz="1158" spc="15" dirty="0">
                <a:solidFill>
                  <a:srgbClr val="003F4D"/>
                </a:solidFill>
                <a:latin typeface="Arial MT"/>
                <a:cs typeface="Arial MT"/>
              </a:rPr>
              <a:t> </a:t>
            </a:r>
            <a:r>
              <a:rPr sz="1158" dirty="0">
                <a:solidFill>
                  <a:srgbClr val="003F4D"/>
                </a:solidFill>
                <a:latin typeface="Calibri"/>
                <a:cs typeface="Calibri"/>
              </a:rPr>
              <a:t>1900-1920: </a:t>
            </a:r>
            <a:r>
              <a:rPr sz="1158" dirty="0">
                <a:solidFill>
                  <a:srgbClr val="003F4D"/>
                </a:solidFill>
                <a:latin typeface="Malgun Gothic"/>
                <a:cs typeface="Malgun Gothic"/>
              </a:rPr>
              <a:t>연평균</a:t>
            </a:r>
            <a:r>
              <a:rPr sz="1158" spc="-146" dirty="0">
                <a:solidFill>
                  <a:srgbClr val="003F4D"/>
                </a:solidFill>
                <a:latin typeface="Malgun Gothic"/>
                <a:cs typeface="Malgun Gothic"/>
              </a:rPr>
              <a:t> </a:t>
            </a:r>
            <a:r>
              <a:rPr sz="1158" dirty="0">
                <a:solidFill>
                  <a:srgbClr val="003F4D"/>
                </a:solidFill>
                <a:latin typeface="Calibri"/>
                <a:cs typeface="Calibri"/>
              </a:rPr>
              <a:t>100</a:t>
            </a:r>
            <a:r>
              <a:rPr sz="1158" dirty="0">
                <a:solidFill>
                  <a:srgbClr val="003F4D"/>
                </a:solidFill>
                <a:latin typeface="Malgun Gothic"/>
                <a:cs typeface="Malgun Gothic"/>
              </a:rPr>
              <a:t>만</a:t>
            </a:r>
            <a:r>
              <a:rPr sz="1158" dirty="0">
                <a:solidFill>
                  <a:srgbClr val="003F4D"/>
                </a:solidFill>
                <a:latin typeface="Calibri"/>
                <a:cs typeface="Calibri"/>
              </a:rPr>
              <a:t>+</a:t>
            </a:r>
            <a:endParaRPr sz="1158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1490968" y="5177995"/>
            <a:ext cx="599496" cy="269021"/>
          </a:xfrm>
          <a:prstGeom prst="rect">
            <a:avLst/>
          </a:prstGeom>
        </p:spPr>
        <p:txBody>
          <a:bodyPr vert="horz" wrap="square" lIns="0" tIns="17721" rIns="0" bIns="0" rtlCol="0">
            <a:spAutoFit/>
          </a:bodyPr>
          <a:lstStyle/>
          <a:p>
            <a:pPr marL="8641">
              <a:spcBef>
                <a:spcPts val="140"/>
              </a:spcBef>
            </a:pPr>
            <a:r>
              <a:rPr spc="-9" dirty="0"/>
              <a:t>글로벌경제론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5192" y="1655367"/>
            <a:ext cx="941824" cy="224758"/>
          </a:xfrm>
          <a:prstGeom prst="rect">
            <a:avLst/>
          </a:prstGeom>
        </p:spPr>
        <p:txBody>
          <a:bodyPr vert="horz" wrap="square" lIns="0" tIns="8648" rIns="0" bIns="0" rtlCol="0">
            <a:spAutoFit/>
          </a:bodyPr>
          <a:lstStyle/>
          <a:p>
            <a:pPr marL="8641">
              <a:spcBef>
                <a:spcPts val="69"/>
              </a:spcBef>
            </a:pPr>
            <a:r>
              <a:rPr spc="31" dirty="0"/>
              <a:t>자본</a:t>
            </a:r>
            <a:r>
              <a:rPr dirty="0"/>
              <a:t>의</a:t>
            </a:r>
            <a:r>
              <a:rPr spc="-130" dirty="0"/>
              <a:t> </a:t>
            </a:r>
            <a:r>
              <a:rPr spc="31" dirty="0"/>
              <a:t>이동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21057" y="2111326"/>
            <a:ext cx="4690369" cy="223494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221057" y="4447801"/>
            <a:ext cx="4703060" cy="832040"/>
          </a:xfrm>
          <a:prstGeom prst="rect">
            <a:avLst/>
          </a:prstGeom>
        </p:spPr>
        <p:txBody>
          <a:bodyPr vert="horz" wrap="square" lIns="0" tIns="41927" rIns="0" bIns="0" rtlCol="0">
            <a:spAutoFit/>
          </a:bodyPr>
          <a:lstStyle/>
          <a:p>
            <a:pPr marL="207401" indent="-199191">
              <a:spcBef>
                <a:spcPts val="329"/>
              </a:spcBef>
              <a:buFont typeface="Arial MT"/>
              <a:buChar char="•"/>
              <a:tabLst>
                <a:tab pos="207401" algn="l"/>
                <a:tab pos="207830" algn="l"/>
              </a:tabLst>
            </a:pPr>
            <a:r>
              <a:rPr sz="1158" dirty="0">
                <a:latin typeface="Malgun Gothic"/>
                <a:cs typeface="Malgun Gothic"/>
              </a:rPr>
              <a:t>자본</a:t>
            </a:r>
            <a:r>
              <a:rPr sz="1158" spc="-146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역시</a:t>
            </a:r>
            <a:r>
              <a:rPr sz="1158" spc="-146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가격</a:t>
            </a:r>
            <a:r>
              <a:rPr sz="1158" spc="5" dirty="0">
                <a:latin typeface="Calibri"/>
                <a:cs typeface="Calibri"/>
              </a:rPr>
              <a:t>(</a:t>
            </a:r>
            <a:r>
              <a:rPr sz="1158" dirty="0">
                <a:latin typeface="Malgun Gothic"/>
                <a:cs typeface="Malgun Gothic"/>
              </a:rPr>
              <a:t>이자율</a:t>
            </a:r>
            <a:r>
              <a:rPr sz="1158" spc="5" dirty="0">
                <a:latin typeface="Calibri"/>
                <a:cs typeface="Calibri"/>
              </a:rPr>
              <a:t>)</a:t>
            </a:r>
            <a:r>
              <a:rPr sz="1158" dirty="0">
                <a:latin typeface="Malgun Gothic"/>
                <a:cs typeface="Malgun Gothic"/>
              </a:rPr>
              <a:t>이</a:t>
            </a:r>
            <a:r>
              <a:rPr sz="1158" spc="-14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더</a:t>
            </a:r>
            <a:r>
              <a:rPr sz="1158" spc="-146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높은</a:t>
            </a:r>
            <a:r>
              <a:rPr sz="1158" spc="-146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곳으로</a:t>
            </a:r>
            <a:r>
              <a:rPr sz="1158" spc="-146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이동</a:t>
            </a:r>
          </a:p>
          <a:p>
            <a:pPr marL="207401" indent="-199191">
              <a:spcBef>
                <a:spcPts val="261"/>
              </a:spcBef>
              <a:buFont typeface="Arial MT"/>
              <a:buChar char="•"/>
              <a:tabLst>
                <a:tab pos="207401" algn="l"/>
                <a:tab pos="207830" algn="l"/>
              </a:tabLst>
            </a:pPr>
            <a:r>
              <a:rPr sz="1158" dirty="0">
                <a:latin typeface="Malgun Gothic"/>
                <a:cs typeface="Malgun Gothic"/>
              </a:rPr>
              <a:t>자본은</a:t>
            </a:r>
            <a:r>
              <a:rPr sz="1158" spc="-146" dirty="0">
                <a:latin typeface="Malgun Gothic"/>
                <a:cs typeface="Malgun Gothic"/>
              </a:rPr>
              <a:t> </a:t>
            </a:r>
            <a:r>
              <a:rPr sz="1158" dirty="0">
                <a:latin typeface="Calibri"/>
                <a:cs typeface="Calibri"/>
              </a:rPr>
              <a:t>19C</a:t>
            </a:r>
            <a:r>
              <a:rPr sz="1158" spc="-5" dirty="0">
                <a:latin typeface="Calibri"/>
                <a:cs typeface="Calibri"/>
              </a:rPr>
              <a:t> </a:t>
            </a:r>
            <a:r>
              <a:rPr sz="1158" dirty="0">
                <a:latin typeface="Malgun Gothic"/>
                <a:cs typeface="Malgun Gothic"/>
              </a:rPr>
              <a:t>말</a:t>
            </a:r>
            <a:r>
              <a:rPr sz="1158" spc="-146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당시</a:t>
            </a:r>
            <a:r>
              <a:rPr sz="1158" spc="-146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구세계에서</a:t>
            </a:r>
            <a:r>
              <a:rPr sz="1158" spc="-146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신세계</a:t>
            </a:r>
            <a:r>
              <a:rPr sz="1158" spc="5" dirty="0">
                <a:latin typeface="Calibri"/>
                <a:cs typeface="Calibri"/>
              </a:rPr>
              <a:t>(</a:t>
            </a:r>
            <a:r>
              <a:rPr sz="1158" dirty="0">
                <a:latin typeface="Malgun Gothic"/>
                <a:cs typeface="Malgun Gothic"/>
              </a:rPr>
              <a:t>북미</a:t>
            </a:r>
            <a:r>
              <a:rPr sz="1158" dirty="0">
                <a:latin typeface="Calibri"/>
                <a:cs typeface="Calibri"/>
              </a:rPr>
              <a:t>, </a:t>
            </a:r>
            <a:r>
              <a:rPr sz="1158" dirty="0">
                <a:latin typeface="Malgun Gothic"/>
                <a:cs typeface="Malgun Gothic"/>
              </a:rPr>
              <a:t>아르헨티나</a:t>
            </a:r>
            <a:r>
              <a:rPr sz="1158" dirty="0">
                <a:latin typeface="Calibri"/>
                <a:cs typeface="Calibri"/>
              </a:rPr>
              <a:t>, </a:t>
            </a:r>
            <a:r>
              <a:rPr sz="1158" dirty="0">
                <a:latin typeface="Malgun Gothic"/>
                <a:cs typeface="Malgun Gothic"/>
              </a:rPr>
              <a:t>호주</a:t>
            </a:r>
            <a:r>
              <a:rPr sz="1158" spc="5" dirty="0">
                <a:latin typeface="Calibri"/>
                <a:cs typeface="Calibri"/>
              </a:rPr>
              <a:t>)</a:t>
            </a:r>
            <a:r>
              <a:rPr sz="1158" dirty="0">
                <a:latin typeface="Malgun Gothic"/>
                <a:cs typeface="Malgun Gothic"/>
              </a:rPr>
              <a:t>로</a:t>
            </a:r>
            <a:r>
              <a:rPr sz="1158" spc="-14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이동</a:t>
            </a:r>
          </a:p>
          <a:p>
            <a:pPr marL="207401" indent="-199191">
              <a:spcBef>
                <a:spcPts val="314"/>
              </a:spcBef>
              <a:buFont typeface="Arial MT"/>
              <a:buChar char="•"/>
              <a:tabLst>
                <a:tab pos="207401" algn="l"/>
                <a:tab pos="207830" algn="l"/>
              </a:tabLst>
            </a:pPr>
            <a:r>
              <a:rPr sz="1158" dirty="0">
                <a:latin typeface="Malgun Gothic"/>
                <a:cs typeface="Malgun Gothic"/>
              </a:rPr>
              <a:t>주로</a:t>
            </a:r>
            <a:r>
              <a:rPr sz="1158" spc="-146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철도</a:t>
            </a:r>
            <a:r>
              <a:rPr sz="1158" spc="-146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등의</a:t>
            </a:r>
            <a:r>
              <a:rPr sz="1158" spc="-146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인프라</a:t>
            </a:r>
            <a:r>
              <a:rPr sz="1158" spc="-146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건설에</a:t>
            </a:r>
            <a:r>
              <a:rPr sz="1158" spc="-146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사용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1490966" y="5177991"/>
            <a:ext cx="680738" cy="143458"/>
          </a:xfrm>
          <a:prstGeom prst="rect">
            <a:avLst/>
          </a:prstGeom>
        </p:spPr>
        <p:txBody>
          <a:bodyPr vert="horz" wrap="square" lIns="0" tIns="17721" rIns="0" bIns="0" rtlCol="0">
            <a:spAutoFit/>
          </a:bodyPr>
          <a:lstStyle/>
          <a:p>
            <a:pPr marL="8641">
              <a:spcBef>
                <a:spcPts val="140"/>
              </a:spcBef>
            </a:pPr>
            <a:r>
              <a:rPr spc="-9" dirty="0"/>
              <a:t>글로벌경제론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5182" y="1655365"/>
            <a:ext cx="1128113" cy="217973"/>
          </a:xfrm>
          <a:prstGeom prst="rect">
            <a:avLst/>
          </a:prstGeom>
        </p:spPr>
        <p:txBody>
          <a:bodyPr vert="horz" wrap="square" lIns="0" tIns="8648" rIns="0" bIns="0" rtlCol="0">
            <a:spAutoFit/>
          </a:bodyPr>
          <a:lstStyle/>
          <a:p>
            <a:pPr marL="8641">
              <a:spcBef>
                <a:spcPts val="69"/>
              </a:spcBef>
            </a:pPr>
            <a:r>
              <a:rPr spc="31" dirty="0"/>
              <a:t>국가</a:t>
            </a:r>
            <a:r>
              <a:rPr dirty="0"/>
              <a:t>간</a:t>
            </a:r>
            <a:r>
              <a:rPr spc="-130" dirty="0"/>
              <a:t> </a:t>
            </a:r>
            <a:r>
              <a:rPr spc="31" dirty="0"/>
              <a:t>분업</a:t>
            </a:r>
            <a:r>
              <a:rPr sz="1991" b="0" spc="15" baseline="1424" dirty="0">
                <a:latin typeface="Calibri Light"/>
                <a:cs typeface="Calibri Light"/>
              </a:rPr>
              <a:t>(</a:t>
            </a:r>
            <a:r>
              <a:rPr sz="1991" b="0" spc="44" baseline="1424" dirty="0">
                <a:latin typeface="Calibri Light"/>
                <a:cs typeface="Calibri Light"/>
              </a:rPr>
              <a:t>?</a:t>
            </a:r>
            <a:r>
              <a:rPr sz="1991" b="0" spc="12" baseline="1424" dirty="0">
                <a:latin typeface="Calibri Light"/>
                <a:cs typeface="Calibri Light"/>
              </a:rPr>
              <a:t>)</a:t>
            </a:r>
            <a:endParaRPr sz="1991" baseline="1424">
              <a:latin typeface="Calibri Light"/>
              <a:cs typeface="Calibr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90440" y="2131079"/>
            <a:ext cx="4377045" cy="288787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1490966" y="5177991"/>
            <a:ext cx="680738" cy="143458"/>
          </a:xfrm>
          <a:prstGeom prst="rect">
            <a:avLst/>
          </a:prstGeom>
        </p:spPr>
        <p:txBody>
          <a:bodyPr vert="horz" wrap="square" lIns="0" tIns="17721" rIns="0" bIns="0" rtlCol="0">
            <a:spAutoFit/>
          </a:bodyPr>
          <a:lstStyle/>
          <a:p>
            <a:pPr marL="8641">
              <a:spcBef>
                <a:spcPts val="140"/>
              </a:spcBef>
            </a:pPr>
            <a:r>
              <a:rPr spc="-9" dirty="0"/>
              <a:t>글로벌경제론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4304128" y="5226592"/>
            <a:ext cx="130733" cy="904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924">
              <a:lnSpc>
                <a:spcPts val="712"/>
              </a:lnSpc>
            </a:pPr>
            <a:fld id="{81D60167-4931-47E6-BA6A-407CBD079E47}" type="slidenum">
              <a:rPr dirty="0"/>
              <a:pPr marL="25924">
                <a:lnSpc>
                  <a:spcPts val="712"/>
                </a:lnSpc>
              </a:pPr>
              <a:t>23</a:t>
            </a:fld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E8E72E-1A22-DCED-442E-407361EF02AB}"/>
              </a:ext>
            </a:extLst>
          </p:cNvPr>
          <p:cNvSpPr txBox="1"/>
          <p:nvPr/>
        </p:nvSpPr>
        <p:spPr>
          <a:xfrm>
            <a:off x="2590800" y="5791200"/>
            <a:ext cx="1911101" cy="3811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선진국 </a:t>
            </a:r>
            <a:r>
              <a:rPr lang="en-US" altLang="ko-KR" dirty="0"/>
              <a:t>= </a:t>
            </a:r>
            <a:r>
              <a:rPr lang="ko-KR" altLang="en-US" dirty="0"/>
              <a:t>산업화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39355" y="3992881"/>
            <a:ext cx="1557747" cy="364664"/>
          </a:xfrm>
          <a:prstGeom prst="rect">
            <a:avLst/>
          </a:prstGeom>
        </p:spPr>
        <p:txBody>
          <a:bodyPr vert="horz" wrap="square" lIns="0" tIns="8648" rIns="0" bIns="0" rtlCol="0">
            <a:spAutoFit/>
          </a:bodyPr>
          <a:lstStyle/>
          <a:p>
            <a:pPr marL="8641">
              <a:spcBef>
                <a:spcPts val="69"/>
              </a:spcBef>
            </a:pPr>
            <a:r>
              <a:rPr sz="2313" spc="5" dirty="0"/>
              <a:t>미국</a:t>
            </a:r>
            <a:r>
              <a:rPr sz="2313" dirty="0"/>
              <a:t>의</a:t>
            </a:r>
            <a:r>
              <a:rPr sz="2313" spc="-281" dirty="0"/>
              <a:t> </a:t>
            </a:r>
            <a:r>
              <a:rPr sz="2313" spc="5" dirty="0"/>
              <a:t>부상</a:t>
            </a:r>
            <a:endParaRPr sz="2313"/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1490966" y="5177991"/>
            <a:ext cx="680738" cy="143458"/>
          </a:xfrm>
          <a:prstGeom prst="rect">
            <a:avLst/>
          </a:prstGeom>
        </p:spPr>
        <p:txBody>
          <a:bodyPr vert="horz" wrap="square" lIns="0" tIns="17721" rIns="0" bIns="0" rtlCol="0">
            <a:spAutoFit/>
          </a:bodyPr>
          <a:lstStyle/>
          <a:p>
            <a:pPr marL="8641">
              <a:spcBef>
                <a:spcPts val="140"/>
              </a:spcBef>
            </a:pPr>
            <a:r>
              <a:rPr spc="-9" dirty="0"/>
              <a:t>글로벌경제론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4304128" y="5226592"/>
            <a:ext cx="130733" cy="904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924">
              <a:lnSpc>
                <a:spcPts val="712"/>
              </a:lnSpc>
            </a:pPr>
            <a:fld id="{81D60167-4931-47E6-BA6A-407CBD079E47}" type="slidenum">
              <a:rPr dirty="0"/>
              <a:pPr marL="25924">
                <a:lnSpc>
                  <a:spcPts val="712"/>
                </a:lnSpc>
              </a:pPr>
              <a:t>24</a:t>
            </a:fld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5192" y="1655367"/>
            <a:ext cx="941824" cy="224758"/>
          </a:xfrm>
          <a:prstGeom prst="rect">
            <a:avLst/>
          </a:prstGeom>
        </p:spPr>
        <p:txBody>
          <a:bodyPr vert="horz" wrap="square" lIns="0" tIns="8648" rIns="0" bIns="0" rtlCol="0">
            <a:spAutoFit/>
          </a:bodyPr>
          <a:lstStyle/>
          <a:p>
            <a:pPr marL="8641">
              <a:spcBef>
                <a:spcPts val="69"/>
              </a:spcBef>
            </a:pPr>
            <a:r>
              <a:rPr spc="31" dirty="0"/>
              <a:t>패</a:t>
            </a:r>
            <a:r>
              <a:rPr dirty="0"/>
              <a:t>권</a:t>
            </a:r>
            <a:r>
              <a:rPr spc="-130" dirty="0"/>
              <a:t> </a:t>
            </a:r>
            <a:r>
              <a:rPr spc="31" dirty="0"/>
              <a:t>교체기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1490966" y="5177991"/>
            <a:ext cx="680738" cy="143458"/>
          </a:xfrm>
          <a:prstGeom prst="rect">
            <a:avLst/>
          </a:prstGeom>
        </p:spPr>
        <p:txBody>
          <a:bodyPr vert="horz" wrap="square" lIns="0" tIns="17721" rIns="0" bIns="0" rtlCol="0">
            <a:spAutoFit/>
          </a:bodyPr>
          <a:lstStyle/>
          <a:p>
            <a:pPr marL="8641">
              <a:spcBef>
                <a:spcPts val="140"/>
              </a:spcBef>
            </a:pPr>
            <a:r>
              <a:rPr spc="-9" dirty="0"/>
              <a:t>글로벌경제론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19043" y="2098304"/>
            <a:ext cx="2671957" cy="1202842"/>
          </a:xfrm>
          <a:prstGeom prst="rect">
            <a:avLst/>
          </a:prstGeom>
        </p:spPr>
        <p:txBody>
          <a:bodyPr vert="horz" wrap="square" lIns="0" tIns="8648" rIns="0" bIns="0" rtlCol="0">
            <a:spAutoFit/>
          </a:bodyPr>
          <a:lstStyle/>
          <a:p>
            <a:pPr marL="218201" indent="-209991">
              <a:spcBef>
                <a:spcPts val="69"/>
              </a:spcBef>
              <a:buClr>
                <a:srgbClr val="4764B0"/>
              </a:buClr>
              <a:buFont typeface="Wingdings"/>
              <a:buChar char=""/>
              <a:tabLst>
                <a:tab pos="218633" algn="l"/>
              </a:tabLst>
            </a:pPr>
            <a:r>
              <a:rPr sz="1158" dirty="0">
                <a:latin typeface="Corbel"/>
                <a:cs typeface="Corbel"/>
              </a:rPr>
              <a:t>19</a:t>
            </a:r>
            <a:r>
              <a:rPr sz="1158" dirty="0">
                <a:latin typeface="Malgun Gothic"/>
                <a:cs typeface="Malgun Gothic"/>
              </a:rPr>
              <a:t>세기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말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영국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산업경쟁력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하락</a:t>
            </a:r>
          </a:p>
          <a:p>
            <a:pPr>
              <a:spcBef>
                <a:spcPts val="26"/>
              </a:spcBef>
              <a:buClr>
                <a:srgbClr val="4764B0"/>
              </a:buClr>
              <a:buFont typeface="Wingdings"/>
              <a:buChar char=""/>
            </a:pPr>
            <a:endParaRPr sz="1053" dirty="0">
              <a:latin typeface="Malgun Gothic"/>
              <a:cs typeface="Malgun Gothic"/>
            </a:endParaRPr>
          </a:p>
          <a:p>
            <a:pPr marL="218201" indent="-209991">
              <a:spcBef>
                <a:spcPts val="5"/>
              </a:spcBef>
              <a:buClr>
                <a:srgbClr val="4764B0"/>
              </a:buClr>
              <a:buFont typeface="Wingdings"/>
              <a:buChar char=""/>
              <a:tabLst>
                <a:tab pos="218633" algn="l"/>
              </a:tabLst>
            </a:pPr>
            <a:r>
              <a:rPr sz="1158" spc="5" dirty="0">
                <a:latin typeface="Corbel"/>
                <a:cs typeface="Corbel"/>
              </a:rPr>
              <a:t>2</a:t>
            </a:r>
            <a:r>
              <a:rPr sz="1158" dirty="0">
                <a:latin typeface="Malgun Gothic"/>
                <a:cs typeface="Malgun Gothic"/>
              </a:rPr>
              <a:t>차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세계대전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이후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미국의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부상</a:t>
            </a:r>
          </a:p>
          <a:p>
            <a:pPr>
              <a:spcBef>
                <a:spcPts val="26"/>
              </a:spcBef>
              <a:buClr>
                <a:srgbClr val="4764B0"/>
              </a:buClr>
              <a:buFont typeface="Wingdings"/>
              <a:buChar char=""/>
            </a:pPr>
            <a:endParaRPr sz="1053" dirty="0">
              <a:latin typeface="Malgun Gothic"/>
              <a:cs typeface="Malgun Gothic"/>
            </a:endParaRPr>
          </a:p>
          <a:p>
            <a:pPr marL="218201" indent="-209991">
              <a:spcBef>
                <a:spcPts val="5"/>
              </a:spcBef>
              <a:buClr>
                <a:srgbClr val="4764B0"/>
              </a:buClr>
              <a:buFont typeface="Wingdings"/>
              <a:buChar char=""/>
              <a:tabLst>
                <a:tab pos="218633" algn="l"/>
              </a:tabLst>
            </a:pPr>
            <a:r>
              <a:rPr sz="1158" dirty="0">
                <a:latin typeface="Malgun Gothic"/>
                <a:cs typeface="Malgun Gothic"/>
              </a:rPr>
              <a:t>미국이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패권국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역할을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하지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않음</a:t>
            </a:r>
          </a:p>
          <a:p>
            <a:pPr>
              <a:spcBef>
                <a:spcPts val="24"/>
              </a:spcBef>
              <a:buClr>
                <a:srgbClr val="4764B0"/>
              </a:buClr>
              <a:buFont typeface="Wingdings"/>
              <a:buChar char=""/>
            </a:pPr>
            <a:endParaRPr sz="1022" dirty="0">
              <a:latin typeface="Malgun Gothic"/>
              <a:cs typeface="Malgun Gothic"/>
            </a:endParaRPr>
          </a:p>
          <a:p>
            <a:pPr marL="218201" indent="-209991">
              <a:spcBef>
                <a:spcPts val="5"/>
              </a:spcBef>
              <a:buClr>
                <a:srgbClr val="4764B0"/>
              </a:buClr>
              <a:buFont typeface="Wingdings"/>
              <a:buChar char=""/>
              <a:tabLst>
                <a:tab pos="218633" algn="l"/>
              </a:tabLst>
            </a:pPr>
            <a:r>
              <a:rPr sz="1158" spc="5" dirty="0">
                <a:latin typeface="Corbel"/>
                <a:cs typeface="Corbel"/>
              </a:rPr>
              <a:t>2</a:t>
            </a:r>
            <a:r>
              <a:rPr sz="1158" dirty="0">
                <a:latin typeface="Malgun Gothic"/>
                <a:cs typeface="Malgun Gothic"/>
              </a:rPr>
              <a:t>차</a:t>
            </a:r>
            <a:r>
              <a:rPr sz="1158" spc="-173" dirty="0">
                <a:latin typeface="Malgun Gothic"/>
                <a:cs typeface="Malgun Gothic"/>
              </a:rPr>
              <a:t> </a:t>
            </a:r>
            <a:r>
              <a:rPr sz="1158" dirty="0">
                <a:latin typeface="Malgun Gothic"/>
                <a:cs typeface="Malgun Gothic"/>
              </a:rPr>
              <a:t>세계대전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576EBE-A1B8-A9DE-33F4-EE8067676832}"/>
              </a:ext>
            </a:extLst>
          </p:cNvPr>
          <p:cNvSpPr txBox="1"/>
          <p:nvPr/>
        </p:nvSpPr>
        <p:spPr>
          <a:xfrm>
            <a:off x="4191000" y="1913653"/>
            <a:ext cx="32848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1920 </a:t>
            </a:r>
            <a:r>
              <a:rPr lang="ko-KR" altLang="en-US" sz="1200" dirty="0"/>
              <a:t>유럽</a:t>
            </a:r>
            <a:r>
              <a:rPr lang="en-US" altLang="ko-KR" sz="1200" dirty="0"/>
              <a:t> vs  </a:t>
            </a:r>
            <a:r>
              <a:rPr lang="ko-KR" altLang="en-US" sz="1200" dirty="0"/>
              <a:t>미국</a:t>
            </a:r>
            <a:endParaRPr lang="en-US" altLang="ko-KR" sz="1200" dirty="0"/>
          </a:p>
          <a:p>
            <a:r>
              <a:rPr lang="ko-KR" altLang="en-US" sz="1200" dirty="0"/>
              <a:t>미국이 유럽에 대한 공공재들을 공급하지 않음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1753</TotalTime>
  <Words>2502</Words>
  <Application>Microsoft Office PowerPoint</Application>
  <PresentationFormat>화면 슬라이드 쇼(4:3)</PresentationFormat>
  <Paragraphs>422</Paragraphs>
  <Slides>25</Slides>
  <Notes>23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6" baseType="lpstr">
      <vt:lpstr>Arial MT</vt:lpstr>
      <vt:lpstr>Malgun Gothic</vt:lpstr>
      <vt:lpstr>Malgun Gothic</vt:lpstr>
      <vt:lpstr>Arial</vt:lpstr>
      <vt:lpstr>Calibri</vt:lpstr>
      <vt:lpstr>Calibri Light</vt:lpstr>
      <vt:lpstr>Corbel</vt:lpstr>
      <vt:lpstr>Symbol</vt:lpstr>
      <vt:lpstr>Times New Roman</vt:lpstr>
      <vt:lpstr>Wingdings</vt:lpstr>
      <vt:lpstr>Office Theme</vt:lpstr>
      <vt:lpstr>PowerPoint 프레젠테이션</vt:lpstr>
      <vt:lpstr>PowerPoint 프레젠테이션</vt:lpstr>
      <vt:lpstr>PowerPoint 프레젠테이션</vt:lpstr>
      <vt:lpstr>근대국민국가의 출현</vt:lpstr>
      <vt:lpstr>고전적 중상주의의 이해</vt:lpstr>
      <vt:lpstr>PowerPoint 프레젠테이션</vt:lpstr>
      <vt:lpstr>중상주의 시대에서 자유무역 시대로</vt:lpstr>
      <vt:lpstr>PowerPoint 프레젠테이션</vt:lpstr>
      <vt:lpstr>제1차 세계화와 제국주의</vt:lpstr>
      <vt:lpstr>제1차 세계화 배경 (1)</vt:lpstr>
      <vt:lpstr>제1차 세계화 배경 (2)</vt:lpstr>
      <vt:lpstr>국제수지 조정 메커니즘</vt:lpstr>
      <vt:lpstr>제1차 세계화 배경 (3)</vt:lpstr>
      <vt:lpstr>금본위제의 역사</vt:lpstr>
      <vt:lpstr>금본위제와 금융세계화(1870-1914)</vt:lpstr>
      <vt:lpstr>20세기 초 금본위제의 몰락</vt:lpstr>
      <vt:lpstr>PowerPoint 프레젠테이션</vt:lpstr>
      <vt:lpstr>1차 세계화의 결과</vt:lpstr>
      <vt:lpstr>세계화의 결과 (1) 가격 수렴</vt:lpstr>
      <vt:lpstr>세계화의 결과 (2) 상대요소가격의 수렴</vt:lpstr>
      <vt:lpstr>이민: 노동의 이동</vt:lpstr>
      <vt:lpstr>자본의 이동</vt:lpstr>
      <vt:lpstr>국가간 분업(?)</vt:lpstr>
      <vt:lpstr>미국의 부상</vt:lpstr>
      <vt:lpstr>패권 교체기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1_20세기이전경제개관_1차 세계화</dc:title>
  <dc:creator>Bogang Jun</dc:creator>
  <cp:lastModifiedBy>노동주</cp:lastModifiedBy>
  <cp:revision>8</cp:revision>
  <cp:lastPrinted>2024-09-15T05:37:17Z</cp:lastPrinted>
  <dcterms:created xsi:type="dcterms:W3CDTF">2024-09-08T23:33:10Z</dcterms:created>
  <dcterms:modified xsi:type="dcterms:W3CDTF">2024-09-28T01:02:33Z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2021-09-13T00:00:00Z</vt:filetime>
  </property>
  <property fmtid="{D5CDD505-2E9C-101B-9397-08002B2CF9AE}" pid="3" name="Creator">
    <vt:lpwstr>PowerPoint</vt:lpwstr>
  </property>
  <property fmtid="{D5CDD505-2E9C-101B-9397-08002B2CF9AE}" pid="4" name="LastSaved">
    <vt:filetime>2024-09-08T00:00:00Z</vt:filetime>
  </property>
</Properties>
</file>