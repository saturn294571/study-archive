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79" r:id="rId2"/>
    <p:sldId id="285" r:id="rId3"/>
    <p:sldId id="281" r:id="rId4"/>
    <p:sldId id="272" r:id="rId5"/>
    <p:sldId id="273" r:id="rId6"/>
    <p:sldId id="276" r:id="rId7"/>
    <p:sldId id="277" r:id="rId8"/>
    <p:sldId id="278" r:id="rId9"/>
    <p:sldId id="280" r:id="rId10"/>
    <p:sldId id="282" r:id="rId11"/>
    <p:sldId id="283" r:id="rId12"/>
    <p:sldId id="284" r:id="rId13"/>
    <p:sldId id="286" r:id="rId1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10" autoAdjust="0"/>
    <p:restoredTop sz="96234" autoAdjust="0"/>
  </p:normalViewPr>
  <p:slideViewPr>
    <p:cSldViewPr>
      <p:cViewPr>
        <p:scale>
          <a:sx n="100" d="100"/>
          <a:sy n="100" d="100"/>
        </p:scale>
        <p:origin x="-370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34496A-2D66-D80A-73B4-3334FC4B3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31A64C7-0221-BACF-1F05-C51BA89E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중간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C4DA15-C396-0009-242D-120FF4AA07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E3C81F-D671-00F6-ECBE-73EEA22151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데이터 과학자의 역할</a:t>
            </a:r>
            <a:endParaRPr lang="en-US" altLang="ko-KR" dirty="0"/>
          </a:p>
          <a:p>
            <a:pPr lvl="1"/>
            <a:r>
              <a:rPr lang="ko-KR" altLang="en-US" dirty="0"/>
              <a:t>데이터과학자의 역할</a:t>
            </a:r>
            <a:endParaRPr lang="en-US" altLang="ko-KR" dirty="0"/>
          </a:p>
          <a:p>
            <a:pPr lvl="1"/>
            <a:r>
              <a:rPr lang="ko-KR" altLang="en-US" dirty="0" err="1"/>
              <a:t>데이터마이닝의</a:t>
            </a:r>
            <a:r>
              <a:rPr lang="ko-KR" altLang="en-US" dirty="0"/>
              <a:t> 주요 단계</a:t>
            </a:r>
            <a:endParaRPr lang="en-US" altLang="ko-KR" dirty="0"/>
          </a:p>
          <a:p>
            <a:r>
              <a:rPr lang="ko-KR" altLang="en-US" dirty="0"/>
              <a:t>데이터베이스 시스템 개요</a:t>
            </a:r>
            <a:endParaRPr lang="en-US" altLang="ko-KR" dirty="0"/>
          </a:p>
          <a:p>
            <a:pPr lvl="1"/>
            <a:r>
              <a:rPr lang="en-US" altLang="ko-KR" dirty="0"/>
              <a:t>1.1 </a:t>
            </a:r>
            <a:r>
              <a:rPr lang="ko-KR" altLang="en-US" dirty="0"/>
              <a:t>데이터베이스 시스템 개요</a:t>
            </a:r>
            <a:endParaRPr lang="en-US" altLang="ko-KR" dirty="0"/>
          </a:p>
          <a:p>
            <a:pPr lvl="1"/>
            <a:r>
              <a:rPr lang="en-US" altLang="ko-KR" dirty="0"/>
              <a:t>1.2 </a:t>
            </a:r>
            <a:r>
              <a:rPr lang="ko-KR" altLang="en-US" dirty="0"/>
              <a:t>화일시스템 </a:t>
            </a:r>
            <a:r>
              <a:rPr lang="en-US" altLang="ko-KR" dirty="0"/>
              <a:t>vs DBMS</a:t>
            </a:r>
          </a:p>
          <a:p>
            <a:pPr lvl="1"/>
            <a:r>
              <a:rPr lang="en-US" altLang="ko-KR" dirty="0"/>
              <a:t>1.3 DBMS</a:t>
            </a:r>
            <a:r>
              <a:rPr lang="ko-KR" altLang="en-US" dirty="0"/>
              <a:t> 발전과정</a:t>
            </a:r>
            <a:endParaRPr lang="en-US" altLang="ko-KR" dirty="0"/>
          </a:p>
          <a:p>
            <a:pPr lvl="1"/>
            <a:r>
              <a:rPr lang="en-US" altLang="ko-KR" dirty="0"/>
              <a:t>1.4 </a:t>
            </a:r>
            <a:r>
              <a:rPr lang="ko-KR" altLang="en-US" dirty="0"/>
              <a:t>데이터베이스 스키마</a:t>
            </a:r>
            <a:r>
              <a:rPr lang="en-US" altLang="ko-KR" dirty="0"/>
              <a:t>/</a:t>
            </a:r>
            <a:r>
              <a:rPr lang="ko-KR" altLang="en-US" dirty="0"/>
              <a:t>인스턴스</a:t>
            </a:r>
            <a:endParaRPr lang="en-US" altLang="ko-KR" dirty="0"/>
          </a:p>
          <a:p>
            <a:pPr lvl="1"/>
            <a:r>
              <a:rPr lang="en-US" altLang="ko-KR" dirty="0"/>
              <a:t>1.5 </a:t>
            </a:r>
            <a:r>
              <a:rPr lang="ko-KR" altLang="en-US" dirty="0"/>
              <a:t>데이터베이스 언어</a:t>
            </a:r>
            <a:endParaRPr lang="en-US" altLang="ko-KR" dirty="0"/>
          </a:p>
          <a:p>
            <a:pPr lvl="1"/>
            <a:r>
              <a:rPr lang="en-US" altLang="ko-KR" dirty="0"/>
              <a:t>1.6 </a:t>
            </a:r>
            <a:r>
              <a:rPr lang="ko-KR" altLang="en-US" dirty="0"/>
              <a:t>데이터베이스 사용자</a:t>
            </a:r>
            <a:endParaRPr lang="en-US" altLang="ko-KR" dirty="0"/>
          </a:p>
          <a:p>
            <a:pPr lvl="1"/>
            <a:r>
              <a:rPr lang="en-US" altLang="ko-KR" dirty="0"/>
              <a:t>1.7 ANSI/SPRC </a:t>
            </a:r>
            <a:r>
              <a:rPr lang="ko-KR" altLang="en-US" dirty="0"/>
              <a:t>아키텍처와 데이터 독립성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6A5375-E3AC-8459-14EA-81D3A0231C5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 err="1"/>
              <a:t>데이터사이언스의</a:t>
            </a:r>
            <a:r>
              <a:rPr lang="ko-KR" altLang="en-US" dirty="0"/>
              <a:t> 역할과 필요한 역량 서술</a:t>
            </a:r>
            <a:endParaRPr lang="en-US" altLang="ko-KR" dirty="0"/>
          </a:p>
          <a:p>
            <a:r>
              <a:rPr lang="ko-KR" altLang="en-US" dirty="0"/>
              <a:t>자기기술 특성 설명 및 어떤 구성을 하고 있는가</a:t>
            </a:r>
            <a:endParaRPr lang="en-US" altLang="ko-KR" dirty="0"/>
          </a:p>
          <a:p>
            <a:r>
              <a:rPr lang="ko-KR" altLang="en-US" dirty="0"/>
              <a:t>데이터베이스 사용자 유형 구분 후 데이터베이스 주요 기능하고 연계설명</a:t>
            </a:r>
            <a:endParaRPr lang="en-US" altLang="ko-KR" dirty="0"/>
          </a:p>
          <a:p>
            <a:r>
              <a:rPr lang="ko-KR" altLang="en-US" dirty="0"/>
              <a:t>릴레이션 정의 및 특성</a:t>
            </a:r>
            <a:endParaRPr lang="en-US" altLang="ko-KR" dirty="0"/>
          </a:p>
          <a:p>
            <a:r>
              <a:rPr lang="en-US" altLang="ko-KR" dirty="0"/>
              <a:t>SQL</a:t>
            </a:r>
            <a:r>
              <a:rPr lang="ko-KR" altLang="en-US" dirty="0"/>
              <a:t>에 대해 설명</a:t>
            </a:r>
            <a:endParaRPr lang="en-US" altLang="ko-KR" dirty="0"/>
          </a:p>
          <a:p>
            <a:r>
              <a:rPr lang="en-US" altLang="ko-KR" dirty="0"/>
              <a:t>ER</a:t>
            </a:r>
            <a:r>
              <a:rPr lang="ko-KR" altLang="en-US" dirty="0"/>
              <a:t>다이어그램 보고 해석</a:t>
            </a:r>
            <a:r>
              <a:rPr lang="en-US" altLang="ko-KR" dirty="0"/>
              <a:t> </a:t>
            </a:r>
            <a:r>
              <a:rPr lang="ko-KR" altLang="en-US" dirty="0"/>
              <a:t>및 관계데이터 만들기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77573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BD6F286-4002-F9F2-9D05-6F59C2A92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788F01B-1937-706E-92E3-65058A68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797909-C895-F51C-1F46-93315EF4CB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49BB0CD-4771-F8C5-4DDE-47AB3F5F01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데이터 과학자의 역할</a:t>
            </a:r>
            <a:endParaRPr lang="en-US" altLang="ko-KR" dirty="0"/>
          </a:p>
          <a:p>
            <a:pPr lvl="1"/>
            <a:r>
              <a:rPr lang="ko-KR" altLang="en-US" dirty="0"/>
              <a:t>빅데이터 기술을 사용해 데이터로부터 중요한 정보와 지식을 발굴하는 전문가</a:t>
            </a:r>
            <a:endParaRPr lang="en-US" altLang="ko-KR" dirty="0"/>
          </a:p>
          <a:p>
            <a:pPr lvl="2"/>
            <a:r>
              <a:rPr lang="ko-KR" altLang="en-US" dirty="0"/>
              <a:t>데이터를 이해하고</a:t>
            </a:r>
            <a:r>
              <a:rPr lang="en-US" altLang="ko-KR" dirty="0"/>
              <a:t>, </a:t>
            </a:r>
            <a:r>
              <a:rPr lang="ko-KR" altLang="en-US" dirty="0"/>
              <a:t>모델마다 성능이 다르므로 모델을 선택하고</a:t>
            </a:r>
            <a:r>
              <a:rPr lang="en-US" altLang="ko-KR" dirty="0"/>
              <a:t>, </a:t>
            </a:r>
            <a:r>
              <a:rPr lang="ko-KR" altLang="en-US" dirty="0"/>
              <a:t>추출한 패턴이 어떤 가치를 지니는지 설명하는 커뮤니케이션 능력</a:t>
            </a:r>
            <a:endParaRPr lang="en-US" altLang="ko-KR" dirty="0"/>
          </a:p>
          <a:p>
            <a:r>
              <a:rPr lang="ko-KR" altLang="en-US" dirty="0"/>
              <a:t>데이터 마이닝</a:t>
            </a:r>
            <a:endParaRPr lang="en-US" altLang="ko-KR" dirty="0"/>
          </a:p>
          <a:p>
            <a:pPr lvl="1"/>
            <a:r>
              <a:rPr lang="ko-KR" altLang="en-US" dirty="0"/>
              <a:t>데이터의 정의 </a:t>
            </a:r>
            <a:r>
              <a:rPr lang="en-US" altLang="ko-KR" dirty="0"/>
              <a:t>: </a:t>
            </a:r>
            <a:r>
              <a:rPr lang="ko-KR" altLang="en-US" dirty="0"/>
              <a:t>데이터로부터 알려지지 않은 정보를 추출하는 과정</a:t>
            </a:r>
            <a:endParaRPr lang="en-US" altLang="ko-KR" dirty="0"/>
          </a:p>
          <a:p>
            <a:pPr lvl="1"/>
            <a:r>
              <a:rPr lang="ko-KR" altLang="en-US" dirty="0"/>
              <a:t>데이터 마이닝의 절차</a:t>
            </a:r>
            <a:endParaRPr lang="en-US" altLang="ko-KR" dirty="0"/>
          </a:p>
          <a:p>
            <a:pPr lvl="2"/>
            <a:r>
              <a:rPr lang="ko-KR" altLang="en-US" dirty="0"/>
              <a:t>데이터에서 </a:t>
            </a:r>
            <a:r>
              <a:rPr lang="ko-KR" altLang="en-US" dirty="0" err="1"/>
              <a:t>타겟데이터를</a:t>
            </a:r>
            <a:r>
              <a:rPr lang="ko-KR" altLang="en-US" dirty="0"/>
              <a:t> 선정 </a:t>
            </a:r>
            <a:r>
              <a:rPr lang="en-US" altLang="ko-KR" dirty="0"/>
              <a:t>-&gt;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모델을 통해 변형 </a:t>
            </a:r>
            <a:r>
              <a:rPr lang="en-US" altLang="ko-KR" dirty="0"/>
              <a:t>-&gt; </a:t>
            </a:r>
            <a:r>
              <a:rPr lang="ko-KR" altLang="en-US" dirty="0"/>
              <a:t>변형한 데이터에서 패턴을 발견</a:t>
            </a:r>
            <a:r>
              <a:rPr lang="en-US" altLang="ko-KR" dirty="0"/>
              <a:t>(</a:t>
            </a:r>
            <a:r>
              <a:rPr lang="ko-KR" altLang="en-US" dirty="0" err="1"/>
              <a:t>데이터마이닝</a:t>
            </a:r>
            <a:r>
              <a:rPr lang="en-US" altLang="ko-KR" dirty="0"/>
              <a:t>-&gt; </a:t>
            </a:r>
            <a:r>
              <a:rPr lang="ko-KR" altLang="en-US" dirty="0"/>
              <a:t>발견한 패턴에서 지식과 가치를 부여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76FB3D-92C2-A94A-73C2-6FEE7C440ED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23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1BF22E9-8FD5-3B1F-08CF-535D4924B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751501C-6BCA-83C5-6B11-CE6A3B00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시스템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E7AA50-4EE2-B4E7-D0EF-3CD3054E49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FF3794C-6F4A-57BB-883E-0A879C1F09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1.1 </a:t>
            </a:r>
            <a:r>
              <a:rPr lang="ko-KR" altLang="en-US" dirty="0"/>
              <a:t>데이터베이스 시스템 개요</a:t>
            </a:r>
            <a:endParaRPr lang="en-US" altLang="ko-KR" dirty="0"/>
          </a:p>
          <a:p>
            <a:pPr lvl="1"/>
            <a:r>
              <a:rPr lang="ko-KR" altLang="en-US" dirty="0"/>
              <a:t>데이터베이스 시스템 구성요소</a:t>
            </a:r>
            <a:endParaRPr lang="en-US" altLang="ko-KR" dirty="0"/>
          </a:p>
          <a:p>
            <a:pPr lvl="1"/>
            <a:r>
              <a:rPr lang="ko-KR" altLang="en-US" dirty="0"/>
              <a:t>데이터베이스 정의</a:t>
            </a:r>
            <a:endParaRPr lang="en-US" altLang="ko-KR" dirty="0"/>
          </a:p>
          <a:p>
            <a:pPr lvl="1"/>
            <a:r>
              <a:rPr lang="ko-KR" altLang="en-US" dirty="0"/>
              <a:t>데이터베이스의 특징</a:t>
            </a:r>
            <a:endParaRPr lang="en-US" altLang="ko-KR" dirty="0"/>
          </a:p>
          <a:p>
            <a:pPr lvl="1"/>
            <a:r>
              <a:rPr lang="ko-KR" altLang="en-US" dirty="0"/>
              <a:t>데이터베이스 관리 시스템</a:t>
            </a:r>
            <a:endParaRPr lang="en-US" altLang="ko-KR" dirty="0"/>
          </a:p>
          <a:p>
            <a:pPr lvl="1"/>
            <a:r>
              <a:rPr lang="en-US" altLang="ko-KR" dirty="0"/>
              <a:t>DBMS</a:t>
            </a:r>
            <a:r>
              <a:rPr lang="ko-KR" altLang="en-US" dirty="0"/>
              <a:t>의 기능적 특성</a:t>
            </a:r>
            <a:r>
              <a:rPr lang="en-US" altLang="ko-KR" dirty="0"/>
              <a:t>(</a:t>
            </a:r>
            <a:r>
              <a:rPr lang="ko-KR" altLang="en-US" dirty="0"/>
              <a:t>필수적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DBMS</a:t>
            </a:r>
            <a:r>
              <a:rPr lang="ko-KR" altLang="en-US" dirty="0"/>
              <a:t>의 기능적 특성</a:t>
            </a:r>
            <a:r>
              <a:rPr lang="en-US" altLang="ko-KR" dirty="0"/>
              <a:t>(</a:t>
            </a:r>
            <a:r>
              <a:rPr lang="ko-KR" altLang="en-US" dirty="0"/>
              <a:t>부가적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-US" altLang="ko-KR" dirty="0"/>
              <a:t>1.2 </a:t>
            </a:r>
            <a:r>
              <a:rPr lang="ko-KR" altLang="en-US" dirty="0"/>
              <a:t>화일시스템 </a:t>
            </a:r>
            <a:r>
              <a:rPr lang="en-US" altLang="ko-KR" dirty="0"/>
              <a:t>vs DBMS</a:t>
            </a:r>
          </a:p>
          <a:p>
            <a:pPr lvl="1"/>
            <a:r>
              <a:rPr lang="ko-KR" altLang="en-US" dirty="0"/>
              <a:t>화일시스템을 이용한 관리</a:t>
            </a:r>
            <a:endParaRPr lang="en-US" altLang="ko-KR" dirty="0"/>
          </a:p>
          <a:p>
            <a:pPr lvl="1"/>
            <a:r>
              <a:rPr lang="en-US" altLang="ko-KR" dirty="0"/>
              <a:t>DBMS</a:t>
            </a:r>
            <a:r>
              <a:rPr lang="ko-KR" altLang="en-US" dirty="0"/>
              <a:t>를 사용한 </a:t>
            </a:r>
            <a:r>
              <a:rPr lang="en-US" altLang="ko-KR" dirty="0"/>
              <a:t>DB</a:t>
            </a:r>
            <a:r>
              <a:rPr lang="ko-KR" altLang="en-US" dirty="0"/>
              <a:t>관리</a:t>
            </a:r>
            <a:endParaRPr lang="en-US" altLang="ko-KR" dirty="0"/>
          </a:p>
          <a:p>
            <a:pPr lvl="1"/>
            <a:r>
              <a:rPr lang="en-US" altLang="ko-KR" dirty="0"/>
              <a:t>DBMS </a:t>
            </a:r>
            <a:r>
              <a:rPr lang="ko-KR" altLang="en-US" dirty="0"/>
              <a:t>장점</a:t>
            </a:r>
            <a:endParaRPr lang="en-US" altLang="ko-KR" dirty="0"/>
          </a:p>
          <a:p>
            <a:r>
              <a:rPr lang="en-US" altLang="ko-KR" dirty="0"/>
              <a:t>1.3 </a:t>
            </a:r>
            <a:r>
              <a:rPr lang="ko-KR" altLang="en-US" dirty="0"/>
              <a:t>데이터베이스 발전 과정</a:t>
            </a:r>
            <a:endParaRPr lang="en-US" altLang="ko-KR" dirty="0"/>
          </a:p>
          <a:p>
            <a:r>
              <a:rPr lang="en-US" altLang="ko-KR" dirty="0"/>
              <a:t>1.4 </a:t>
            </a:r>
            <a:r>
              <a:rPr lang="ko-KR" altLang="en-US" dirty="0"/>
              <a:t>데이터베이스 스키마</a:t>
            </a:r>
            <a:r>
              <a:rPr lang="en-US" altLang="ko-KR" dirty="0"/>
              <a:t>/</a:t>
            </a:r>
            <a:r>
              <a:rPr lang="ko-KR" altLang="en-US" dirty="0"/>
              <a:t>인스턴스</a:t>
            </a:r>
            <a:endParaRPr lang="en-US" altLang="ko-KR" dirty="0"/>
          </a:p>
          <a:p>
            <a:r>
              <a:rPr lang="en-US" altLang="ko-KR" dirty="0"/>
              <a:t>1.5 </a:t>
            </a:r>
            <a:r>
              <a:rPr lang="ko-KR" altLang="en-US" dirty="0"/>
              <a:t>데이터베이스 언어</a:t>
            </a:r>
            <a:endParaRPr lang="en-US" altLang="ko-KR" dirty="0"/>
          </a:p>
          <a:p>
            <a:r>
              <a:rPr lang="en-US" altLang="ko-KR" dirty="0"/>
              <a:t>1.6 </a:t>
            </a:r>
            <a:r>
              <a:rPr lang="ko-KR" altLang="en-US" dirty="0"/>
              <a:t>데이터베이스 사용자</a:t>
            </a:r>
            <a:endParaRPr lang="en-US" altLang="ko-KR" dirty="0"/>
          </a:p>
          <a:p>
            <a:r>
              <a:rPr lang="en-US" altLang="ko-KR" dirty="0"/>
              <a:t>1.7 ANSI/SPRC </a:t>
            </a:r>
            <a:r>
              <a:rPr lang="ko-KR" altLang="en-US" dirty="0"/>
              <a:t>아키텍처와 데이터 독립성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5BBCA7-AD94-67F4-9142-CA898A18FBA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04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1.1 </a:t>
            </a:r>
            <a:r>
              <a:rPr lang="ko-KR" altLang="en-US" dirty="0"/>
              <a:t>데이터베이스 시스템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데이터베이스 시스템 구성요소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데이터베이스 정의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데이터베이스의 특징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데이터베이스 관리 시스템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DBMS</a:t>
            </a:r>
            <a:r>
              <a:rPr lang="ko-KR" altLang="en-US" dirty="0"/>
              <a:t>의 기능적 특성</a:t>
            </a:r>
            <a:r>
              <a:rPr lang="en-US" altLang="ko-KR" dirty="0"/>
              <a:t>(</a:t>
            </a:r>
            <a:r>
              <a:rPr lang="ko-KR" altLang="en-US" dirty="0"/>
              <a:t>필수적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DBMS</a:t>
            </a:r>
            <a:r>
              <a:rPr lang="ko-KR" altLang="en-US" dirty="0"/>
              <a:t>의 기능적 특성</a:t>
            </a:r>
            <a:r>
              <a:rPr lang="en-US" altLang="ko-KR" dirty="0"/>
              <a:t>(</a:t>
            </a:r>
            <a:r>
              <a:rPr lang="ko-KR" altLang="en-US" dirty="0"/>
              <a:t>부가적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데이터베이스 시스템 구성요소</a:t>
            </a:r>
            <a:endParaRPr lang="en-US" altLang="ko-KR" dirty="0"/>
          </a:p>
          <a:p>
            <a:pPr lvl="1"/>
            <a:r>
              <a:rPr lang="en-US" altLang="ko-KR" dirty="0"/>
              <a:t>DBS =</a:t>
            </a:r>
            <a:br>
              <a:rPr lang="en-US" altLang="ko-KR" dirty="0"/>
            </a:br>
            <a:r>
              <a:rPr lang="en-US" altLang="ko-KR" dirty="0"/>
              <a:t>DB + (DBMS)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사용자 </a:t>
            </a:r>
            <a:r>
              <a:rPr lang="en-US" altLang="ko-KR" dirty="0"/>
              <a:t>+ </a:t>
            </a:r>
            <a:r>
              <a:rPr lang="ko-KR" altLang="en-US" dirty="0"/>
              <a:t>응용 프로그램</a:t>
            </a:r>
            <a:endParaRPr lang="en-US" altLang="ko-KR" dirty="0"/>
          </a:p>
          <a:p>
            <a:r>
              <a:rPr lang="ko-KR" altLang="en-US" dirty="0"/>
              <a:t>데이터베이스의 정의</a:t>
            </a:r>
            <a:endParaRPr lang="en-US" altLang="ko-KR" dirty="0"/>
          </a:p>
          <a:p>
            <a:pPr lvl="1"/>
            <a:r>
              <a:rPr lang="en-US" altLang="ko-KR" dirty="0"/>
              <a:t>DB</a:t>
            </a:r>
            <a:r>
              <a:rPr lang="ko-KR" altLang="en-US" dirty="0"/>
              <a:t>는 조직체에서 공유해서</a:t>
            </a:r>
            <a:br>
              <a:rPr lang="en-US" altLang="ko-KR" dirty="0"/>
            </a:br>
            <a:r>
              <a:rPr lang="ko-KR" altLang="en-US" dirty="0"/>
              <a:t>사용하는 운영데이터들을 구조적으로</a:t>
            </a:r>
            <a:br>
              <a:rPr lang="en-US" altLang="ko-KR" dirty="0"/>
            </a:br>
            <a:r>
              <a:rPr lang="ko-KR" altLang="en-US" dirty="0"/>
              <a:t>통합해 저장한 서로 관련된 데이터의</a:t>
            </a:r>
            <a:br>
              <a:rPr lang="en-US" altLang="ko-KR" dirty="0"/>
            </a:br>
            <a:r>
              <a:rPr lang="ko-KR" altLang="en-US" dirty="0"/>
              <a:t>모임이다</a:t>
            </a:r>
            <a:endParaRPr lang="en-US" altLang="ko-KR" dirty="0"/>
          </a:p>
          <a:p>
            <a:pPr lvl="1"/>
            <a:r>
              <a:rPr lang="en-US" altLang="ko-KR" dirty="0"/>
              <a:t>DB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시스템 카탈로그</a:t>
            </a:r>
            <a:r>
              <a:rPr lang="en-US" altLang="ko-KR" dirty="0"/>
              <a:t>(</a:t>
            </a:r>
            <a:r>
              <a:rPr lang="ko-KR" altLang="en-US" dirty="0"/>
              <a:t>데이터 사전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저장된 데이터베이스</a:t>
            </a:r>
            <a:endParaRPr lang="en-US" altLang="ko-KR" dirty="0"/>
          </a:p>
          <a:p>
            <a:r>
              <a:rPr lang="ko-KR" altLang="en-US" dirty="0"/>
              <a:t>데이터베이스의 특징</a:t>
            </a:r>
            <a:endParaRPr lang="en-US" altLang="ko-KR" dirty="0"/>
          </a:p>
          <a:p>
            <a:pPr lvl="1"/>
            <a:r>
              <a:rPr lang="ko-KR" altLang="en-US" dirty="0"/>
              <a:t>동시공유 </a:t>
            </a:r>
            <a:r>
              <a:rPr lang="en-US" altLang="ko-KR" dirty="0"/>
              <a:t>: </a:t>
            </a:r>
            <a:r>
              <a:rPr lang="ko-KR" altLang="en-US" dirty="0"/>
              <a:t>여러 목적으로 사용자에 의해 동시에 사용됨</a:t>
            </a:r>
            <a:endParaRPr lang="en-US" altLang="ko-KR" dirty="0"/>
          </a:p>
          <a:p>
            <a:pPr lvl="1"/>
            <a:r>
              <a:rPr lang="ko-KR" altLang="en-US" dirty="0"/>
              <a:t>중복 최소화</a:t>
            </a:r>
            <a:endParaRPr lang="en-US" altLang="ko-KR" dirty="0"/>
          </a:p>
          <a:p>
            <a:pPr lvl="1"/>
            <a:r>
              <a:rPr lang="ko-KR" altLang="en-US" dirty="0"/>
              <a:t>자기기술</a:t>
            </a:r>
            <a:r>
              <a:rPr lang="en-US" altLang="ko-KR" dirty="0"/>
              <a:t>: </a:t>
            </a:r>
            <a:r>
              <a:rPr lang="ko-KR" altLang="en-US" dirty="0"/>
              <a:t>운영데이터 </a:t>
            </a:r>
            <a:r>
              <a:rPr lang="en-US" altLang="ko-KR" dirty="0"/>
              <a:t>+ </a:t>
            </a:r>
            <a:r>
              <a:rPr lang="ko-KR" altLang="en-US" dirty="0"/>
              <a:t>메타데이터</a:t>
            </a:r>
            <a:endParaRPr lang="en-US" altLang="ko-KR" dirty="0"/>
          </a:p>
          <a:p>
            <a:r>
              <a:rPr lang="ko-KR" altLang="en-US" dirty="0"/>
              <a:t>데이터베이스 관리 시스템</a:t>
            </a:r>
            <a:r>
              <a:rPr lang="en-US" altLang="ko-KR" dirty="0"/>
              <a:t>(DBMS)</a:t>
            </a:r>
          </a:p>
          <a:p>
            <a:pPr lvl="1"/>
            <a:r>
              <a:rPr lang="en-US" altLang="ko-KR" dirty="0"/>
              <a:t>DB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사용자</a:t>
            </a:r>
            <a:r>
              <a:rPr lang="en-US" altLang="ko-KR" dirty="0"/>
              <a:t> </a:t>
            </a:r>
            <a:r>
              <a:rPr lang="ko-KR" altLang="en-US" dirty="0"/>
              <a:t>간 인터페이스기능</a:t>
            </a:r>
            <a:endParaRPr lang="en-US" altLang="ko-KR" dirty="0"/>
          </a:p>
          <a:p>
            <a:pPr lvl="1"/>
            <a:r>
              <a:rPr lang="ko-KR" altLang="en-US" dirty="0"/>
              <a:t>정의 기능</a:t>
            </a:r>
            <a:r>
              <a:rPr lang="en-US" altLang="ko-KR" dirty="0"/>
              <a:t>: DB</a:t>
            </a:r>
            <a:r>
              <a:rPr lang="ko-KR" altLang="en-US" dirty="0"/>
              <a:t>의 생성</a:t>
            </a:r>
            <a:r>
              <a:rPr lang="en-US" altLang="ko-KR" dirty="0"/>
              <a:t>, DB</a:t>
            </a:r>
            <a:r>
              <a:rPr lang="ko-KR" altLang="en-US" dirty="0"/>
              <a:t>의 구조 명세</a:t>
            </a:r>
            <a:endParaRPr lang="en-US" altLang="ko-KR" dirty="0"/>
          </a:p>
          <a:p>
            <a:pPr lvl="1"/>
            <a:r>
              <a:rPr lang="ko-KR" altLang="en-US" dirty="0"/>
              <a:t>조작 기능</a:t>
            </a:r>
            <a:r>
              <a:rPr lang="en-US" altLang="ko-KR" dirty="0"/>
              <a:t>: </a:t>
            </a:r>
            <a:r>
              <a:rPr lang="ko-KR" altLang="en-US" dirty="0"/>
              <a:t>데이터를 질의</a:t>
            </a:r>
            <a:r>
              <a:rPr lang="en-US" altLang="ko-KR" dirty="0"/>
              <a:t>,</a:t>
            </a:r>
            <a:r>
              <a:rPr lang="ko-KR" altLang="en-US" dirty="0"/>
              <a:t> 수정</a:t>
            </a:r>
            <a:endParaRPr lang="en-US" altLang="ko-KR" dirty="0"/>
          </a:p>
          <a:p>
            <a:pPr lvl="1"/>
            <a:r>
              <a:rPr lang="ko-KR" altLang="en-US" dirty="0"/>
              <a:t>보호</a:t>
            </a:r>
            <a:r>
              <a:rPr lang="en-US" altLang="ko-KR" dirty="0"/>
              <a:t> </a:t>
            </a:r>
            <a:r>
              <a:rPr lang="ko-KR" altLang="en-US" dirty="0"/>
              <a:t>기능</a:t>
            </a:r>
            <a:r>
              <a:rPr lang="en-US" altLang="ko-KR" dirty="0"/>
              <a:t>: </a:t>
            </a:r>
            <a:r>
              <a:rPr lang="ko-KR" altLang="en-US" dirty="0"/>
              <a:t>고장과 보안 위협에서 데이터를 보호</a:t>
            </a:r>
            <a:endParaRPr lang="en-US" altLang="ko-KR" dirty="0"/>
          </a:p>
          <a:p>
            <a:pPr lvl="1"/>
            <a:r>
              <a:rPr lang="ko-KR" altLang="en-US" dirty="0"/>
              <a:t>동시공유지원 기능</a:t>
            </a:r>
            <a:endParaRPr lang="en-US" altLang="ko-KR" dirty="0"/>
          </a:p>
          <a:p>
            <a:pPr lvl="1"/>
            <a:r>
              <a:rPr lang="en-US" altLang="ko-KR" dirty="0"/>
              <a:t>SQL = DBMS</a:t>
            </a:r>
            <a:r>
              <a:rPr lang="ko-KR" altLang="en-US" dirty="0"/>
              <a:t>의 표준 언어</a:t>
            </a:r>
            <a:endParaRPr lang="en-US" altLang="ko-KR" dirty="0"/>
          </a:p>
          <a:p>
            <a:r>
              <a:rPr lang="en-US" altLang="ko-KR" dirty="0"/>
              <a:t>DBMS</a:t>
            </a:r>
            <a:r>
              <a:rPr lang="ko-KR" altLang="en-US" dirty="0"/>
              <a:t>의 기능적 특성</a:t>
            </a:r>
            <a:r>
              <a:rPr lang="en-US" altLang="ko-KR" dirty="0"/>
              <a:t>(</a:t>
            </a:r>
            <a:r>
              <a:rPr lang="ko-KR" altLang="en-US" dirty="0"/>
              <a:t>필수적 기능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데이터 독립성</a:t>
            </a:r>
            <a:r>
              <a:rPr lang="en-US" altLang="ko-KR" dirty="0"/>
              <a:t>	</a:t>
            </a:r>
            <a:r>
              <a:rPr lang="ko-KR" altLang="en-US" dirty="0"/>
              <a:t>효율적 데이터 접근</a:t>
            </a:r>
            <a:br>
              <a:rPr lang="en-US" altLang="ko-KR" dirty="0"/>
            </a:br>
            <a:r>
              <a:rPr lang="ko-KR" altLang="en-US" dirty="0"/>
              <a:t>데이터에 대한 동시 접근</a:t>
            </a:r>
            <a:r>
              <a:rPr lang="en-US" altLang="ko-KR" dirty="0"/>
              <a:t>	</a:t>
            </a:r>
            <a:r>
              <a:rPr lang="ko-KR" altLang="en-US" dirty="0"/>
              <a:t>백업</a:t>
            </a:r>
            <a:r>
              <a:rPr lang="en-US" altLang="ko-KR" dirty="0"/>
              <a:t>/</a:t>
            </a:r>
            <a:r>
              <a:rPr lang="ko-KR" altLang="en-US" dirty="0"/>
              <a:t>회복</a:t>
            </a:r>
            <a:br>
              <a:rPr lang="en-US" altLang="ko-KR" dirty="0"/>
            </a:br>
            <a:r>
              <a:rPr lang="ko-KR" altLang="en-US" dirty="0"/>
              <a:t>쉬운 </a:t>
            </a:r>
            <a:r>
              <a:rPr lang="ko-KR" altLang="en-US" dirty="0" err="1"/>
              <a:t>질의어</a:t>
            </a:r>
            <a:r>
              <a:rPr lang="en-US" altLang="ko-KR" dirty="0"/>
              <a:t>	</a:t>
            </a:r>
            <a:r>
              <a:rPr lang="ko-KR" altLang="en-US" dirty="0"/>
              <a:t>다양한 사용자 인터페이스</a:t>
            </a:r>
            <a:endParaRPr lang="en-US" altLang="ko-KR" dirty="0"/>
          </a:p>
          <a:p>
            <a:r>
              <a:rPr lang="en-US" altLang="ko-KR" dirty="0"/>
              <a:t>DBMS</a:t>
            </a:r>
            <a:r>
              <a:rPr lang="ko-KR" altLang="en-US" dirty="0"/>
              <a:t>의 기능적 특성</a:t>
            </a:r>
            <a:r>
              <a:rPr lang="en-US" altLang="ko-KR" dirty="0"/>
              <a:t>(</a:t>
            </a:r>
            <a:r>
              <a:rPr lang="ko-KR" altLang="en-US" dirty="0"/>
              <a:t>부가적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중복을 줄이거나 제어</a:t>
            </a:r>
            <a:r>
              <a:rPr lang="en-US" altLang="ko-KR" dirty="0"/>
              <a:t>, </a:t>
            </a:r>
            <a:r>
              <a:rPr lang="ko-KR" altLang="en-US" dirty="0"/>
              <a:t>일관성 유지</a:t>
            </a:r>
            <a:r>
              <a:rPr lang="en-US" altLang="ko-KR" dirty="0"/>
              <a:t>	</a:t>
            </a:r>
            <a:r>
              <a:rPr lang="ko-KR" altLang="en-US" dirty="0"/>
              <a:t>데이터 무결성</a:t>
            </a:r>
            <a:br>
              <a:rPr lang="en-US" altLang="ko-KR" dirty="0"/>
            </a:br>
            <a:r>
              <a:rPr lang="ko-KR" altLang="en-US" dirty="0"/>
              <a:t>데이터 보안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 시스템 구성요소 </a:t>
            </a:r>
            <a:r>
              <a:rPr lang="en-US" altLang="ko-KR" dirty="0"/>
              <a:t>: DBS = DB + DBMS + </a:t>
            </a:r>
            <a:r>
              <a:rPr lang="ko-KR" altLang="en-US" dirty="0"/>
              <a:t>사용자 </a:t>
            </a:r>
            <a:r>
              <a:rPr lang="en-US" altLang="ko-KR" dirty="0"/>
              <a:t>+ </a:t>
            </a:r>
            <a:r>
              <a:rPr lang="ko-KR" altLang="en-US" dirty="0"/>
              <a:t>응용</a:t>
            </a:r>
            <a:r>
              <a:rPr lang="en-US" altLang="ko-KR" dirty="0"/>
              <a:t>SW</a:t>
            </a:r>
          </a:p>
          <a:p>
            <a:r>
              <a:rPr lang="en-US" altLang="ko-KR" dirty="0"/>
              <a:t>DB </a:t>
            </a:r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조직체 공유해서 사용</a:t>
            </a:r>
            <a:r>
              <a:rPr lang="en-US" altLang="ko-KR" dirty="0"/>
              <a:t>, </a:t>
            </a:r>
            <a:r>
              <a:rPr lang="ko-KR" altLang="en-US" dirty="0"/>
              <a:t>운영데이터를 구조적으로 통합해 저장한 서로 관련된 데이터의 모임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F6FDDDF1-27E6-DCCD-7E14-75F0721909A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0718" y="595155"/>
            <a:ext cx="2352546" cy="1699872"/>
          </a:xfrm>
          <a:prstGeom prst="rect">
            <a:avLst/>
          </a:prstGeom>
        </p:spPr>
      </p:pic>
      <p:grpSp>
        <p:nvGrpSpPr>
          <p:cNvPr id="8" name="object 3">
            <a:extLst>
              <a:ext uri="{FF2B5EF4-FFF2-40B4-BE49-F238E27FC236}">
                <a16:creationId xmlns:a16="http://schemas.microsoft.com/office/drawing/2014/main" id="{CCC9429F-C787-82A0-9E81-57E2E33EFAD1}"/>
              </a:ext>
            </a:extLst>
          </p:cNvPr>
          <p:cNvGrpSpPr/>
          <p:nvPr/>
        </p:nvGrpSpPr>
        <p:grpSpPr>
          <a:xfrm>
            <a:off x="4893064" y="3116850"/>
            <a:ext cx="1800200" cy="1204662"/>
            <a:chOff x="1856232" y="1999488"/>
            <a:chExt cx="6983095" cy="4672965"/>
          </a:xfrm>
        </p:grpSpPr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319C0A04-A2F1-E4AE-84F2-9065A2F7C59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6232" y="1999488"/>
              <a:ext cx="6982967" cy="4672583"/>
            </a:xfrm>
            <a:prstGeom prst="rect">
              <a:avLst/>
            </a:prstGeom>
          </p:spPr>
        </p:pic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9DC6D645-4D2E-1FA9-9D44-FD52C221EE76}"/>
                </a:ext>
              </a:extLst>
            </p:cNvPr>
            <p:cNvSpPr/>
            <p:nvPr/>
          </p:nvSpPr>
          <p:spPr>
            <a:xfrm>
              <a:off x="5169661" y="4884388"/>
              <a:ext cx="166370" cy="441959"/>
            </a:xfrm>
            <a:custGeom>
              <a:avLst/>
              <a:gdLst/>
              <a:ahLst/>
              <a:cxnLst/>
              <a:rect l="l" t="t" r="r" b="b"/>
              <a:pathLst>
                <a:path w="166370" h="441960">
                  <a:moveTo>
                    <a:pt x="166242" y="441864"/>
                  </a:moveTo>
                  <a:lnTo>
                    <a:pt x="161053" y="426243"/>
                  </a:lnTo>
                  <a:lnTo>
                    <a:pt x="156543" y="412718"/>
                  </a:lnTo>
                  <a:lnTo>
                    <a:pt x="152723" y="401288"/>
                  </a:lnTo>
                  <a:lnTo>
                    <a:pt x="149605" y="391953"/>
                  </a:lnTo>
                  <a:lnTo>
                    <a:pt x="143789" y="349700"/>
                  </a:lnTo>
                  <a:lnTo>
                    <a:pt x="142732" y="339328"/>
                  </a:lnTo>
                  <a:lnTo>
                    <a:pt x="140983" y="327550"/>
                  </a:lnTo>
                  <a:lnTo>
                    <a:pt x="138557" y="314356"/>
                  </a:lnTo>
                  <a:lnTo>
                    <a:pt x="136130" y="301234"/>
                  </a:lnTo>
                  <a:lnTo>
                    <a:pt x="134381" y="289480"/>
                  </a:lnTo>
                  <a:lnTo>
                    <a:pt x="133324" y="279084"/>
                  </a:lnTo>
                  <a:lnTo>
                    <a:pt x="132968" y="270033"/>
                  </a:lnTo>
                  <a:lnTo>
                    <a:pt x="132968" y="262082"/>
                  </a:lnTo>
                  <a:lnTo>
                    <a:pt x="132968" y="254809"/>
                  </a:lnTo>
                  <a:lnTo>
                    <a:pt x="132968" y="9683"/>
                  </a:lnTo>
                  <a:lnTo>
                    <a:pt x="130559" y="1734"/>
                  </a:lnTo>
                  <a:lnTo>
                    <a:pt x="94234" y="15271"/>
                  </a:lnTo>
                  <a:lnTo>
                    <a:pt x="62372" y="40195"/>
                  </a:lnTo>
                  <a:lnTo>
                    <a:pt x="38798" y="67190"/>
                  </a:lnTo>
                  <a:lnTo>
                    <a:pt x="33274" y="73405"/>
                  </a:lnTo>
                  <a:lnTo>
                    <a:pt x="27749" y="78239"/>
                  </a:lnTo>
                  <a:lnTo>
                    <a:pt x="22225" y="81692"/>
                  </a:lnTo>
                  <a:lnTo>
                    <a:pt x="14859" y="85375"/>
                  </a:lnTo>
                  <a:lnTo>
                    <a:pt x="7492" y="87280"/>
                  </a:lnTo>
                  <a:lnTo>
                    <a:pt x="0" y="8728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0D35F4E8-7FC4-204A-7111-5E78C8AF423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85232" y="4932045"/>
              <a:ext cx="112394" cy="79248"/>
            </a:xfrm>
            <a:prstGeom prst="rect">
              <a:avLst/>
            </a:prstGeom>
          </p:spPr>
        </p:pic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CD0EB02F-E6ED-CC1B-DE68-50ABB75EDFFA}"/>
                </a:ext>
              </a:extLst>
            </p:cNvPr>
            <p:cNvSpPr/>
            <p:nvPr/>
          </p:nvSpPr>
          <p:spPr>
            <a:xfrm>
              <a:off x="5291582" y="4196080"/>
              <a:ext cx="55880" cy="354965"/>
            </a:xfrm>
            <a:custGeom>
              <a:avLst/>
              <a:gdLst/>
              <a:ahLst/>
              <a:cxnLst/>
              <a:rect l="l" t="t" r="r" b="b"/>
              <a:pathLst>
                <a:path w="55879" h="354964">
                  <a:moveTo>
                    <a:pt x="55371" y="354584"/>
                  </a:moveTo>
                  <a:lnTo>
                    <a:pt x="55371" y="354584"/>
                  </a:lnTo>
                  <a:lnTo>
                    <a:pt x="55371" y="46100"/>
                  </a:lnTo>
                  <a:lnTo>
                    <a:pt x="51688" y="44323"/>
                  </a:lnTo>
                  <a:lnTo>
                    <a:pt x="44322" y="44323"/>
                  </a:lnTo>
                </a:path>
                <a:path w="55879" h="354964">
                  <a:moveTo>
                    <a:pt x="55371" y="0"/>
                  </a:moveTo>
                  <a:lnTo>
                    <a:pt x="16637" y="9144"/>
                  </a:lnTo>
                  <a:lnTo>
                    <a:pt x="9270" y="11049"/>
                  </a:lnTo>
                  <a:lnTo>
                    <a:pt x="5587" y="11049"/>
                  </a:lnTo>
                  <a:lnTo>
                    <a:pt x="1904" y="11049"/>
                  </a:lnTo>
                  <a:lnTo>
                    <a:pt x="0" y="12826"/>
                  </a:lnTo>
                  <a:lnTo>
                    <a:pt x="0" y="16637"/>
                  </a:lnTo>
                  <a:lnTo>
                    <a:pt x="0" y="20320"/>
                  </a:lnTo>
                  <a:lnTo>
                    <a:pt x="0" y="25781"/>
                  </a:lnTo>
                  <a:lnTo>
                    <a:pt x="0" y="33147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8">
              <a:extLst>
                <a:ext uri="{FF2B5EF4-FFF2-40B4-BE49-F238E27FC236}">
                  <a16:creationId xmlns:a16="http://schemas.microsoft.com/office/drawing/2014/main" id="{A4E33007-7E68-9C9F-860F-EE7810D6262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3878" y="4189730"/>
              <a:ext cx="112395" cy="68072"/>
            </a:xfrm>
            <a:prstGeom prst="rect">
              <a:avLst/>
            </a:prstGeom>
          </p:spPr>
        </p:pic>
        <p:sp>
          <p:nvSpPr>
            <p:cNvPr id="14" name="object 9">
              <a:extLst>
                <a:ext uri="{FF2B5EF4-FFF2-40B4-BE49-F238E27FC236}">
                  <a16:creationId xmlns:a16="http://schemas.microsoft.com/office/drawing/2014/main" id="{584CDB30-0E94-35CA-CD03-F3166373A161}"/>
                </a:ext>
              </a:extLst>
            </p:cNvPr>
            <p:cNvSpPr/>
            <p:nvPr/>
          </p:nvSpPr>
          <p:spPr>
            <a:xfrm>
              <a:off x="5213984" y="2700274"/>
              <a:ext cx="266065" cy="1562735"/>
            </a:xfrm>
            <a:custGeom>
              <a:avLst/>
              <a:gdLst/>
              <a:ahLst/>
              <a:cxnLst/>
              <a:rect l="l" t="t" r="r" b="b"/>
              <a:pathLst>
                <a:path w="266064" h="1562735">
                  <a:moveTo>
                    <a:pt x="99822" y="1473580"/>
                  </a:moveTo>
                  <a:lnTo>
                    <a:pt x="92328" y="1473580"/>
                  </a:lnTo>
                  <a:lnTo>
                    <a:pt x="88645" y="1475486"/>
                  </a:lnTo>
                  <a:lnTo>
                    <a:pt x="88645" y="1479168"/>
                  </a:lnTo>
                  <a:lnTo>
                    <a:pt x="88645" y="1482852"/>
                  </a:lnTo>
                  <a:lnTo>
                    <a:pt x="68629" y="1515540"/>
                  </a:lnTo>
                  <a:lnTo>
                    <a:pt x="53363" y="1531088"/>
                  </a:lnTo>
                  <a:lnTo>
                    <a:pt x="47148" y="1537303"/>
                  </a:lnTo>
                  <a:lnTo>
                    <a:pt x="42314" y="1542137"/>
                  </a:lnTo>
                  <a:lnTo>
                    <a:pt x="38862" y="1545589"/>
                  </a:lnTo>
                  <a:lnTo>
                    <a:pt x="35178" y="1549273"/>
                  </a:lnTo>
                  <a:lnTo>
                    <a:pt x="33274" y="1554861"/>
                  </a:lnTo>
                  <a:lnTo>
                    <a:pt x="33274" y="1562227"/>
                  </a:lnTo>
                </a:path>
                <a:path w="266064" h="1562735">
                  <a:moveTo>
                    <a:pt x="88645" y="1152270"/>
                  </a:moveTo>
                  <a:lnTo>
                    <a:pt x="88645" y="1152270"/>
                  </a:lnTo>
                  <a:lnTo>
                    <a:pt x="88645" y="1019301"/>
                  </a:lnTo>
                  <a:lnTo>
                    <a:pt x="89001" y="1008941"/>
                  </a:lnTo>
                  <a:lnTo>
                    <a:pt x="90058" y="999950"/>
                  </a:lnTo>
                  <a:lnTo>
                    <a:pt x="91807" y="992316"/>
                  </a:lnTo>
                  <a:lnTo>
                    <a:pt x="94234" y="986027"/>
                  </a:lnTo>
                  <a:lnTo>
                    <a:pt x="97916" y="978662"/>
                  </a:lnTo>
                  <a:lnTo>
                    <a:pt x="99822" y="973201"/>
                  </a:lnTo>
                  <a:lnTo>
                    <a:pt x="99822" y="777366"/>
                  </a:lnTo>
                  <a:lnTo>
                    <a:pt x="97916" y="775588"/>
                  </a:lnTo>
                  <a:lnTo>
                    <a:pt x="94234" y="775588"/>
                  </a:lnTo>
                  <a:lnTo>
                    <a:pt x="90550" y="775588"/>
                  </a:lnTo>
                  <a:lnTo>
                    <a:pt x="88645" y="777366"/>
                  </a:lnTo>
                  <a:lnTo>
                    <a:pt x="88645" y="781050"/>
                  </a:lnTo>
                  <a:lnTo>
                    <a:pt x="87620" y="784522"/>
                  </a:lnTo>
                  <a:lnTo>
                    <a:pt x="84534" y="789400"/>
                  </a:lnTo>
                  <a:lnTo>
                    <a:pt x="79376" y="795658"/>
                  </a:lnTo>
                  <a:lnTo>
                    <a:pt x="72136" y="803275"/>
                  </a:lnTo>
                  <a:lnTo>
                    <a:pt x="63420" y="812254"/>
                  </a:lnTo>
                  <a:lnTo>
                    <a:pt x="54038" y="822626"/>
                  </a:lnTo>
                  <a:lnTo>
                    <a:pt x="23250" y="860383"/>
                  </a:lnTo>
                  <a:lnTo>
                    <a:pt x="1904" y="893699"/>
                  </a:lnTo>
                  <a:lnTo>
                    <a:pt x="0" y="901191"/>
                  </a:lnTo>
                  <a:lnTo>
                    <a:pt x="0" y="908557"/>
                  </a:lnTo>
                </a:path>
                <a:path w="266064" h="1562735">
                  <a:moveTo>
                    <a:pt x="177291" y="775588"/>
                  </a:moveTo>
                  <a:lnTo>
                    <a:pt x="177291" y="775588"/>
                  </a:lnTo>
                </a:path>
                <a:path w="266064" h="1562735">
                  <a:moveTo>
                    <a:pt x="121919" y="775588"/>
                  </a:moveTo>
                  <a:lnTo>
                    <a:pt x="127109" y="785256"/>
                  </a:lnTo>
                  <a:lnTo>
                    <a:pt x="131619" y="792162"/>
                  </a:lnTo>
                  <a:lnTo>
                    <a:pt x="135439" y="796305"/>
                  </a:lnTo>
                  <a:lnTo>
                    <a:pt x="138556" y="797687"/>
                  </a:lnTo>
                  <a:lnTo>
                    <a:pt x="142239" y="797687"/>
                  </a:lnTo>
                  <a:lnTo>
                    <a:pt x="145923" y="799591"/>
                  </a:lnTo>
                  <a:lnTo>
                    <a:pt x="149605" y="803275"/>
                  </a:lnTo>
                  <a:lnTo>
                    <a:pt x="153288" y="806957"/>
                  </a:lnTo>
                  <a:lnTo>
                    <a:pt x="156972" y="810640"/>
                  </a:lnTo>
                  <a:lnTo>
                    <a:pt x="160654" y="814324"/>
                  </a:lnTo>
                  <a:lnTo>
                    <a:pt x="164464" y="818006"/>
                  </a:lnTo>
                  <a:lnTo>
                    <a:pt x="169925" y="823594"/>
                  </a:lnTo>
                  <a:lnTo>
                    <a:pt x="197044" y="853803"/>
                  </a:lnTo>
                  <a:lnTo>
                    <a:pt x="204977" y="864235"/>
                  </a:lnTo>
                  <a:lnTo>
                    <a:pt x="213338" y="874593"/>
                  </a:lnTo>
                  <a:lnTo>
                    <a:pt x="221662" y="883570"/>
                  </a:lnTo>
                  <a:lnTo>
                    <a:pt x="229963" y="891166"/>
                  </a:lnTo>
                  <a:lnTo>
                    <a:pt x="238251" y="897381"/>
                  </a:lnTo>
                  <a:lnTo>
                    <a:pt x="246203" y="903670"/>
                  </a:lnTo>
                  <a:lnTo>
                    <a:pt x="253476" y="911304"/>
                  </a:lnTo>
                  <a:lnTo>
                    <a:pt x="260058" y="920295"/>
                  </a:lnTo>
                  <a:lnTo>
                    <a:pt x="265938" y="930655"/>
                  </a:lnTo>
                </a:path>
                <a:path w="266064" h="1562735">
                  <a:moveTo>
                    <a:pt x="243839" y="465327"/>
                  </a:moveTo>
                  <a:lnTo>
                    <a:pt x="243839" y="465327"/>
                  </a:lnTo>
                  <a:lnTo>
                    <a:pt x="243839" y="356362"/>
                  </a:lnTo>
                  <a:lnTo>
                    <a:pt x="241935" y="348995"/>
                  </a:lnTo>
                  <a:lnTo>
                    <a:pt x="238251" y="337947"/>
                  </a:lnTo>
                  <a:lnTo>
                    <a:pt x="234568" y="326770"/>
                  </a:lnTo>
                  <a:lnTo>
                    <a:pt x="232790" y="319404"/>
                  </a:lnTo>
                  <a:lnTo>
                    <a:pt x="232790" y="315722"/>
                  </a:lnTo>
                  <a:lnTo>
                    <a:pt x="232790" y="312038"/>
                  </a:lnTo>
                  <a:lnTo>
                    <a:pt x="232790" y="308355"/>
                  </a:lnTo>
                  <a:lnTo>
                    <a:pt x="232790" y="304673"/>
                  </a:lnTo>
                  <a:lnTo>
                    <a:pt x="232435" y="300864"/>
                  </a:lnTo>
                  <a:lnTo>
                    <a:pt x="220265" y="250602"/>
                  </a:lnTo>
                  <a:lnTo>
                    <a:pt x="205376" y="198334"/>
                  </a:lnTo>
                  <a:lnTo>
                    <a:pt x="190245" y="158750"/>
                  </a:lnTo>
                  <a:lnTo>
                    <a:pt x="182879" y="149478"/>
                  </a:lnTo>
                  <a:lnTo>
                    <a:pt x="179197" y="145795"/>
                  </a:lnTo>
                  <a:lnTo>
                    <a:pt x="177291" y="142112"/>
                  </a:lnTo>
                  <a:lnTo>
                    <a:pt x="177291" y="138429"/>
                  </a:lnTo>
                  <a:lnTo>
                    <a:pt x="177291" y="134747"/>
                  </a:lnTo>
                  <a:lnTo>
                    <a:pt x="177291" y="103377"/>
                  </a:lnTo>
                  <a:lnTo>
                    <a:pt x="173609" y="96012"/>
                  </a:lnTo>
                  <a:lnTo>
                    <a:pt x="149605" y="60832"/>
                  </a:lnTo>
                  <a:lnTo>
                    <a:pt x="144144" y="42417"/>
                  </a:lnTo>
                  <a:lnTo>
                    <a:pt x="144144" y="38735"/>
                  </a:lnTo>
                  <a:lnTo>
                    <a:pt x="144144" y="35051"/>
                  </a:lnTo>
                  <a:lnTo>
                    <a:pt x="144144" y="27686"/>
                  </a:lnTo>
                  <a:lnTo>
                    <a:pt x="144144" y="16510"/>
                  </a:lnTo>
                  <a:lnTo>
                    <a:pt x="144144" y="5461"/>
                  </a:lnTo>
                  <a:lnTo>
                    <a:pt x="140462" y="0"/>
                  </a:lnTo>
                  <a:lnTo>
                    <a:pt x="132968" y="0"/>
                  </a:lnTo>
                  <a:lnTo>
                    <a:pt x="127107" y="335"/>
                  </a:lnTo>
                  <a:lnTo>
                    <a:pt x="88645" y="14731"/>
                  </a:lnTo>
                  <a:lnTo>
                    <a:pt x="88645" y="22098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0">
              <a:extLst>
                <a:ext uri="{FF2B5EF4-FFF2-40B4-BE49-F238E27FC236}">
                  <a16:creationId xmlns:a16="http://schemas.microsoft.com/office/drawing/2014/main" id="{3E7C256E-9E52-E276-6A14-27D3E0883E8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84927" y="2693924"/>
              <a:ext cx="112522" cy="791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1BBABFE-73D8-7A27-1E4C-00543AF65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231DA7-BA2B-0447-8A34-DC5FA11B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1.2 </a:t>
            </a:r>
            <a:r>
              <a:rPr lang="ko-KR" altLang="en-US" dirty="0"/>
              <a:t>화일시스템 </a:t>
            </a:r>
            <a:r>
              <a:rPr lang="en-US" altLang="ko-KR" dirty="0"/>
              <a:t>vs DBMS</a:t>
            </a:r>
            <a:br>
              <a:rPr lang="en-US" altLang="ko-KR" dirty="0"/>
            </a:br>
            <a:r>
              <a:rPr lang="en-US" altLang="ko-KR" dirty="0"/>
              <a:t>1.3 DBMS </a:t>
            </a:r>
            <a:r>
              <a:rPr lang="ko-KR" altLang="en-US" dirty="0"/>
              <a:t>발전 과정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080301-8080-AF76-70B9-64BE9DBDE6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화일시스템을 이용한 관리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DBMS</a:t>
            </a:r>
            <a:r>
              <a:rPr lang="ko-KR" altLang="en-US" dirty="0"/>
              <a:t>를 사용한 </a:t>
            </a:r>
            <a:r>
              <a:rPr lang="en-US" altLang="ko-KR" dirty="0"/>
              <a:t>DB</a:t>
            </a:r>
            <a:r>
              <a:rPr lang="ko-KR" altLang="en-US" dirty="0"/>
              <a:t>관리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DBMS </a:t>
            </a:r>
            <a:r>
              <a:rPr lang="ko-KR" altLang="en-US" dirty="0"/>
              <a:t>장점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모델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모델 분류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관계</a:t>
            </a:r>
            <a:r>
              <a:rPr lang="en-US" altLang="ko-KR" dirty="0"/>
              <a:t>DBMS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객체지향 </a:t>
            </a:r>
            <a:r>
              <a:rPr lang="en-US" altLang="ko-KR" dirty="0"/>
              <a:t>DBMS</a:t>
            </a:r>
          </a:p>
          <a:p>
            <a:r>
              <a:rPr lang="ko-KR" altLang="en-US" dirty="0"/>
              <a:t>객체 관계</a:t>
            </a:r>
            <a:r>
              <a:rPr lang="en-US" altLang="ko-KR" dirty="0"/>
              <a:t>DBMS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E39AB36-916F-5B1B-6CCB-97EDFF41AE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chemeClr val="tx1"/>
                </a:solidFill>
              </a:rPr>
              <a:t>&lt;</a:t>
            </a:r>
            <a:r>
              <a:rPr lang="ko-KR" altLang="en-US" b="1" dirty="0">
                <a:solidFill>
                  <a:schemeClr val="tx1"/>
                </a:solidFill>
              </a:rPr>
              <a:t>화일시스템 </a:t>
            </a:r>
            <a:r>
              <a:rPr lang="en-US" altLang="ko-KR" b="1" dirty="0">
                <a:solidFill>
                  <a:schemeClr val="tx1"/>
                </a:solidFill>
              </a:rPr>
              <a:t>vs DBMS&gt;</a:t>
            </a:r>
          </a:p>
          <a:p>
            <a:r>
              <a:rPr lang="ko-KR" altLang="en-US" dirty="0"/>
              <a:t>화일시스템을 이용한 관리</a:t>
            </a:r>
            <a:endParaRPr lang="en-US" altLang="ko-KR" dirty="0"/>
          </a:p>
          <a:p>
            <a:pPr lvl="1"/>
            <a:r>
              <a:rPr lang="ko-KR" altLang="en-US" dirty="0"/>
              <a:t>파일 </a:t>
            </a:r>
            <a:r>
              <a:rPr lang="en-US" altLang="ko-KR" dirty="0"/>
              <a:t>= </a:t>
            </a:r>
            <a:r>
              <a:rPr lang="ko-KR" altLang="en-US" dirty="0"/>
              <a:t>순차적 레코드들</a:t>
            </a:r>
            <a:endParaRPr lang="en-US" altLang="ko-KR" dirty="0"/>
          </a:p>
          <a:p>
            <a:pPr lvl="1"/>
            <a:r>
              <a:rPr lang="ko-KR" altLang="en-US" dirty="0"/>
              <a:t>파일에 접근하는 방식이 응용프로그램 내에 상세히 표현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데이터에 대한 응용프로그램 의존도가 높음</a:t>
            </a:r>
            <a:endParaRPr lang="en-US" altLang="ko-KR" dirty="0"/>
          </a:p>
          <a:p>
            <a:r>
              <a:rPr lang="en-US" altLang="ko-KR" dirty="0"/>
              <a:t>DBMS</a:t>
            </a:r>
            <a:r>
              <a:rPr lang="ko-KR" altLang="en-US" dirty="0"/>
              <a:t>를 사용한 </a:t>
            </a:r>
            <a:r>
              <a:rPr lang="en-US" altLang="ko-KR" dirty="0"/>
              <a:t>DB</a:t>
            </a:r>
            <a:r>
              <a:rPr lang="ko-KR" altLang="en-US" dirty="0"/>
              <a:t>관리</a:t>
            </a:r>
            <a:endParaRPr lang="en-US" altLang="ko-KR" dirty="0"/>
          </a:p>
          <a:p>
            <a:pPr lvl="1"/>
            <a:r>
              <a:rPr lang="ko-KR" altLang="en-US" dirty="0"/>
              <a:t>여러 사용자와 응용프로그램들이 </a:t>
            </a:r>
            <a:r>
              <a:rPr lang="en-US" altLang="ko-KR" dirty="0"/>
              <a:t>DB</a:t>
            </a:r>
            <a:r>
              <a:rPr lang="ko-KR" altLang="en-US" dirty="0"/>
              <a:t>를 공유</a:t>
            </a:r>
            <a:endParaRPr lang="en-US" altLang="ko-KR" dirty="0"/>
          </a:p>
          <a:p>
            <a:pPr lvl="1"/>
            <a:r>
              <a:rPr lang="ko-KR" altLang="en-US" dirty="0"/>
              <a:t>질의를 빠르게 수행할 수 있는 접근경로를 </a:t>
            </a:r>
            <a:r>
              <a:rPr lang="en-US" altLang="ko-KR" dirty="0"/>
              <a:t>DBMS</a:t>
            </a:r>
            <a:r>
              <a:rPr lang="ko-KR" altLang="en-US" dirty="0"/>
              <a:t>가 선택해 수행</a:t>
            </a:r>
            <a:endParaRPr lang="en-US" altLang="ko-KR" dirty="0"/>
          </a:p>
          <a:p>
            <a:pPr lvl="1"/>
            <a:r>
              <a:rPr lang="ko-KR" altLang="en-US" dirty="0"/>
              <a:t>권한이 없는 사용자로부터 보호</a:t>
            </a:r>
            <a:endParaRPr lang="en-US" altLang="ko-KR" dirty="0"/>
          </a:p>
          <a:p>
            <a:pPr lvl="1"/>
            <a:r>
              <a:rPr lang="ko-KR" altLang="en-US" dirty="0"/>
              <a:t>무결성 제약을 유지</a:t>
            </a:r>
            <a:endParaRPr lang="en-US" altLang="ko-KR" dirty="0"/>
          </a:p>
          <a:p>
            <a:pPr lvl="1"/>
            <a:r>
              <a:rPr lang="ko-KR" altLang="en-US" dirty="0"/>
              <a:t>프로그램 데이터 독립성</a:t>
            </a:r>
            <a:endParaRPr lang="en-US" altLang="ko-KR" dirty="0"/>
          </a:p>
          <a:p>
            <a:r>
              <a:rPr lang="en-US" altLang="ko-KR" dirty="0"/>
              <a:t>DBMS</a:t>
            </a:r>
            <a:r>
              <a:rPr lang="ko-KR" altLang="en-US" dirty="0"/>
              <a:t>의 장점</a:t>
            </a:r>
            <a:endParaRPr lang="en-US" altLang="ko-KR" dirty="0"/>
          </a:p>
          <a:p>
            <a:pPr lvl="1"/>
            <a:r>
              <a:rPr lang="ko-KR" altLang="en-US" dirty="0"/>
              <a:t>중복</a:t>
            </a:r>
            <a:r>
              <a:rPr lang="en-US" altLang="ko-KR" dirty="0"/>
              <a:t>, </a:t>
            </a:r>
            <a:r>
              <a:rPr lang="ko-KR" altLang="en-US" dirty="0"/>
              <a:t>불일치 감소</a:t>
            </a:r>
            <a:r>
              <a:rPr lang="en-US" altLang="ko-KR" dirty="0"/>
              <a:t>	</a:t>
            </a:r>
            <a:r>
              <a:rPr lang="ko-KR" altLang="en-US" dirty="0"/>
              <a:t>응용시스템 개발</a:t>
            </a:r>
            <a:r>
              <a:rPr lang="en-US" altLang="ko-KR" dirty="0"/>
              <a:t>/</a:t>
            </a:r>
            <a:r>
              <a:rPr lang="ko-KR" altLang="en-US" dirty="0"/>
              <a:t>유지 비용 감소</a:t>
            </a:r>
            <a:br>
              <a:rPr lang="en-US" altLang="ko-KR" dirty="0"/>
            </a:br>
            <a:r>
              <a:rPr lang="ko-KR" altLang="en-US" dirty="0"/>
              <a:t>표준화 용이</a:t>
            </a:r>
            <a:r>
              <a:rPr lang="en-US" altLang="ko-KR" dirty="0"/>
              <a:t>	</a:t>
            </a:r>
            <a:r>
              <a:rPr lang="ko-KR" altLang="en-US" dirty="0"/>
              <a:t>보안향상</a:t>
            </a:r>
            <a:br>
              <a:rPr lang="en-US" altLang="ko-KR" dirty="0"/>
            </a:br>
            <a:r>
              <a:rPr lang="ko-KR" altLang="en-US" dirty="0" err="1"/>
              <a:t>무셜성</a:t>
            </a:r>
            <a:r>
              <a:rPr lang="ko-KR" altLang="en-US" dirty="0"/>
              <a:t> 향상</a:t>
            </a:r>
            <a:r>
              <a:rPr lang="en-US" altLang="ko-KR" dirty="0"/>
              <a:t>	</a:t>
            </a:r>
            <a:r>
              <a:rPr lang="ko-KR" altLang="en-US" dirty="0" err="1"/>
              <a:t>조칙체</a:t>
            </a:r>
            <a:r>
              <a:rPr lang="ko-KR" altLang="en-US" dirty="0"/>
              <a:t> 요구사항을 종합적으로 파악</a:t>
            </a:r>
            <a:br>
              <a:rPr lang="en-US" altLang="ko-KR" dirty="0"/>
            </a:br>
            <a:r>
              <a:rPr lang="ko-KR" altLang="en-US" dirty="0"/>
              <a:t>고장으로부터 </a:t>
            </a:r>
            <a:r>
              <a:rPr lang="en-US" altLang="ko-KR" dirty="0"/>
              <a:t>DB</a:t>
            </a:r>
            <a:r>
              <a:rPr lang="ko-KR" altLang="en-US" dirty="0"/>
              <a:t>회복</a:t>
            </a:r>
            <a:r>
              <a:rPr lang="en-US" altLang="ko-KR" dirty="0"/>
              <a:t>	DB</a:t>
            </a:r>
            <a:r>
              <a:rPr lang="ko-KR" altLang="en-US" dirty="0"/>
              <a:t>의 공유와 동시접근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chemeClr val="tx1"/>
                </a:solidFill>
              </a:rPr>
              <a:t>&lt;DBMS </a:t>
            </a:r>
            <a:r>
              <a:rPr lang="ko-KR" altLang="en-US" b="1" dirty="0">
                <a:solidFill>
                  <a:schemeClr val="tx1"/>
                </a:solidFill>
              </a:rPr>
              <a:t>발전 과정</a:t>
            </a:r>
            <a:r>
              <a:rPr lang="en-US" altLang="ko-KR" b="1" dirty="0">
                <a:solidFill>
                  <a:schemeClr val="tx1"/>
                </a:solidFill>
              </a:rPr>
              <a:t>&gt;</a:t>
            </a:r>
          </a:p>
          <a:p>
            <a:r>
              <a:rPr lang="ko-KR" altLang="en-US" dirty="0"/>
              <a:t>데이터 모델</a:t>
            </a:r>
            <a:endParaRPr lang="en-US" altLang="ko-KR" dirty="0"/>
          </a:p>
          <a:p>
            <a:pPr lvl="1"/>
            <a:r>
              <a:rPr lang="en-US" altLang="ko-KR" dirty="0"/>
              <a:t>DB</a:t>
            </a:r>
            <a:r>
              <a:rPr lang="ko-KR" altLang="en-US" dirty="0"/>
              <a:t> 구조를 기술하는데 사용되는 개념의 집합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데이터구조</a:t>
            </a:r>
            <a:r>
              <a:rPr lang="en-US" altLang="ko-KR" dirty="0"/>
              <a:t>, </a:t>
            </a:r>
            <a:r>
              <a:rPr lang="ko-KR" altLang="en-US" dirty="0"/>
              <a:t>연산자</a:t>
            </a:r>
            <a:r>
              <a:rPr lang="en-US" altLang="ko-KR" dirty="0"/>
              <a:t>, </a:t>
            </a:r>
            <a:r>
              <a:rPr lang="ko-KR" altLang="en-US" dirty="0"/>
              <a:t>무결성 제약을 포함</a:t>
            </a:r>
            <a:endParaRPr lang="en-US" altLang="ko-KR" dirty="0"/>
          </a:p>
          <a:p>
            <a:pPr lvl="1"/>
            <a:r>
              <a:rPr lang="ko-KR" altLang="en-US" dirty="0"/>
              <a:t>데이터 추상화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저장방식의 세부사항은 숨김</a:t>
            </a:r>
            <a:r>
              <a:rPr lang="en-US" altLang="ko-KR" dirty="0"/>
              <a:t>, </a:t>
            </a:r>
            <a:r>
              <a:rPr lang="ko-KR" altLang="en-US" dirty="0"/>
              <a:t>데이터의 직관적 뷰 </a:t>
            </a:r>
            <a:r>
              <a:rPr lang="en-US" altLang="ko-KR" dirty="0"/>
              <a:t>+ </a:t>
            </a:r>
            <a:r>
              <a:rPr lang="ko-KR" altLang="en-US" dirty="0"/>
              <a:t>이들간 사상을 숨김</a:t>
            </a:r>
            <a:endParaRPr lang="en-US" altLang="ko-KR" dirty="0"/>
          </a:p>
          <a:p>
            <a:r>
              <a:rPr lang="ko-KR" altLang="en-US" dirty="0"/>
              <a:t>데이터 모델 분류</a:t>
            </a:r>
            <a:endParaRPr lang="en-US" altLang="ko-KR" dirty="0"/>
          </a:p>
          <a:p>
            <a:pPr lvl="1"/>
            <a:r>
              <a:rPr lang="ko-KR" altLang="en-US" dirty="0"/>
              <a:t>고수준</a:t>
            </a:r>
            <a:r>
              <a:rPr lang="en-US" altLang="ko-KR" dirty="0"/>
              <a:t>(</a:t>
            </a:r>
            <a:r>
              <a:rPr lang="ko-KR" altLang="en-US" dirty="0"/>
              <a:t>개념적</a:t>
            </a:r>
            <a:r>
              <a:rPr lang="en-US" altLang="ko-KR" dirty="0"/>
              <a:t>): </a:t>
            </a:r>
            <a:r>
              <a:rPr lang="ko-KR" altLang="en-US" dirty="0"/>
              <a:t>사람이 인식하는 것과 유사하게 </a:t>
            </a:r>
            <a:r>
              <a:rPr lang="en-US" altLang="ko-KR" dirty="0"/>
              <a:t>DB </a:t>
            </a:r>
            <a:r>
              <a:rPr lang="ko-KR" altLang="en-US" dirty="0"/>
              <a:t>구조 명시 </a:t>
            </a:r>
            <a:r>
              <a:rPr lang="en-US" altLang="ko-KR" dirty="0"/>
              <a:t>ex) </a:t>
            </a:r>
            <a:r>
              <a:rPr lang="ko-KR" altLang="en-US" dirty="0"/>
              <a:t>개체</a:t>
            </a:r>
            <a:r>
              <a:rPr lang="en-US" altLang="ko-KR" dirty="0"/>
              <a:t>-</a:t>
            </a:r>
            <a:r>
              <a:rPr lang="ko-KR" altLang="en-US" dirty="0"/>
              <a:t>관계 모델</a:t>
            </a:r>
            <a:r>
              <a:rPr lang="en-US" altLang="ko-KR" dirty="0"/>
              <a:t>, </a:t>
            </a:r>
            <a:r>
              <a:rPr lang="ko-KR" altLang="en-US" dirty="0"/>
              <a:t>객체지향 모델</a:t>
            </a:r>
            <a:endParaRPr lang="en-US" altLang="ko-KR" dirty="0"/>
          </a:p>
          <a:p>
            <a:pPr lvl="1"/>
            <a:r>
              <a:rPr lang="ko-KR" altLang="en-US" dirty="0"/>
              <a:t>표현</a:t>
            </a:r>
            <a:r>
              <a:rPr lang="en-US" altLang="ko-KR" dirty="0"/>
              <a:t>(</a:t>
            </a:r>
            <a:r>
              <a:rPr lang="ko-KR" altLang="en-US" dirty="0"/>
              <a:t>구현</a:t>
            </a:r>
            <a:r>
              <a:rPr lang="en-US" altLang="ko-KR" dirty="0"/>
              <a:t>) </a:t>
            </a:r>
            <a:r>
              <a:rPr lang="ko-KR" altLang="en-US" dirty="0"/>
              <a:t>데이터 모델 </a:t>
            </a:r>
            <a:r>
              <a:rPr lang="en-US" altLang="ko-KR" dirty="0"/>
              <a:t>: </a:t>
            </a:r>
            <a:r>
              <a:rPr lang="ko-KR" altLang="en-US" dirty="0"/>
              <a:t>사용자가 이해 </a:t>
            </a:r>
            <a:r>
              <a:rPr lang="en-US" altLang="ko-KR" dirty="0"/>
              <a:t>&amp; </a:t>
            </a:r>
            <a:r>
              <a:rPr lang="ko-KR" altLang="en-US" dirty="0"/>
              <a:t>컴퓨터 내 방식과 크게 다르지 않음</a:t>
            </a:r>
            <a:endParaRPr lang="en-US" altLang="ko-KR" dirty="0"/>
          </a:p>
          <a:p>
            <a:pPr lvl="2"/>
            <a:r>
              <a:rPr lang="ko-KR" altLang="en-US" dirty="0"/>
              <a:t>관계 데이터 모델</a:t>
            </a:r>
            <a:endParaRPr lang="en-US" altLang="ko-KR" dirty="0"/>
          </a:p>
          <a:p>
            <a:pPr lvl="1"/>
            <a:r>
              <a:rPr lang="ko-KR" altLang="en-US" dirty="0" err="1"/>
              <a:t>저수준</a:t>
            </a:r>
            <a:r>
              <a:rPr lang="en-US" altLang="ko-KR" dirty="0"/>
              <a:t>(</a:t>
            </a:r>
            <a:r>
              <a:rPr lang="ko-KR" altLang="en-US" dirty="0"/>
              <a:t>물리적</a:t>
            </a:r>
            <a:r>
              <a:rPr lang="en-US" altLang="ko-KR" dirty="0"/>
              <a:t>): DB</a:t>
            </a:r>
            <a:r>
              <a:rPr lang="ko-KR" altLang="en-US" dirty="0"/>
              <a:t>에 데이터가 어떻게 </a:t>
            </a:r>
            <a:br>
              <a:rPr lang="en-US" altLang="ko-KR" dirty="0"/>
            </a:br>
            <a:r>
              <a:rPr lang="ko-KR" altLang="en-US" dirty="0"/>
              <a:t>저장되었는가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관계</a:t>
            </a:r>
            <a:r>
              <a:rPr lang="en-US" altLang="ko-KR" dirty="0"/>
              <a:t>DBMS</a:t>
            </a:r>
          </a:p>
          <a:p>
            <a:pPr lvl="1"/>
            <a:r>
              <a:rPr lang="ko-KR" altLang="en-US" dirty="0"/>
              <a:t>모델 간단 </a:t>
            </a:r>
            <a:r>
              <a:rPr lang="en-US" altLang="ko-KR" dirty="0"/>
              <a:t>-&gt; </a:t>
            </a:r>
            <a:r>
              <a:rPr lang="ko-KR" altLang="en-US" dirty="0"/>
              <a:t>이해 쉬움</a:t>
            </a:r>
            <a:endParaRPr lang="en-US" altLang="ko-KR" dirty="0"/>
          </a:p>
          <a:p>
            <a:pPr lvl="1"/>
            <a:r>
              <a:rPr lang="ko-KR" altLang="en-US" dirty="0"/>
              <a:t>사용자는 원하는 것을 명시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데이터 위치</a:t>
            </a:r>
            <a:r>
              <a:rPr lang="en-US" altLang="ko-KR" dirty="0"/>
              <a:t>, </a:t>
            </a:r>
            <a:r>
              <a:rPr lang="ko-KR" altLang="en-US" dirty="0"/>
              <a:t>접근방법 </a:t>
            </a:r>
            <a:r>
              <a:rPr lang="en-US" altLang="ko-KR" dirty="0"/>
              <a:t>-&gt;DBMS</a:t>
            </a:r>
            <a:r>
              <a:rPr lang="ko-KR" altLang="en-US" dirty="0"/>
              <a:t>가 결정</a:t>
            </a:r>
            <a:endParaRPr lang="en-US" altLang="ko-KR" dirty="0"/>
          </a:p>
          <a:p>
            <a:r>
              <a:rPr lang="ko-KR" altLang="en-US" dirty="0"/>
              <a:t>객체지향 </a:t>
            </a:r>
            <a:r>
              <a:rPr lang="en-US" altLang="ko-KR" dirty="0"/>
              <a:t>DBMS</a:t>
            </a:r>
          </a:p>
          <a:p>
            <a:pPr lvl="1"/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프로그램을 그룹화</a:t>
            </a:r>
            <a:r>
              <a:rPr lang="en-US" altLang="ko-KR" dirty="0"/>
              <a:t>. </a:t>
            </a:r>
            <a:r>
              <a:rPr lang="ko-KR" altLang="en-US" dirty="0"/>
              <a:t>객체를 이해하기 쉬움</a:t>
            </a:r>
            <a:r>
              <a:rPr lang="en-US" altLang="ko-KR" dirty="0"/>
              <a:t>. </a:t>
            </a:r>
            <a:r>
              <a:rPr lang="ko-KR" altLang="en-US" dirty="0"/>
              <a:t>유지</a:t>
            </a:r>
            <a:r>
              <a:rPr lang="en-US" altLang="ko-KR" dirty="0"/>
              <a:t>, </a:t>
            </a:r>
            <a:r>
              <a:rPr lang="ko-KR" altLang="en-US" dirty="0"/>
              <a:t>변경 용이</a:t>
            </a:r>
            <a:endParaRPr lang="en-US" altLang="ko-KR" dirty="0"/>
          </a:p>
          <a:p>
            <a:r>
              <a:rPr lang="ko-KR" altLang="en-US" dirty="0"/>
              <a:t>객체 관계</a:t>
            </a:r>
            <a:r>
              <a:rPr lang="en-US" altLang="ko-KR" dirty="0"/>
              <a:t>DBMS</a:t>
            </a:r>
          </a:p>
          <a:p>
            <a:pPr lvl="1"/>
            <a:r>
              <a:rPr lang="ko-KR" altLang="en-US" dirty="0"/>
              <a:t>관계 </a:t>
            </a:r>
            <a:r>
              <a:rPr lang="en-US" altLang="ko-KR" dirty="0"/>
              <a:t>DBMS + </a:t>
            </a:r>
            <a:r>
              <a:rPr lang="ko-KR" altLang="en-US" dirty="0"/>
              <a:t>객체</a:t>
            </a:r>
            <a:r>
              <a:rPr lang="en-US" altLang="ko-KR" dirty="0"/>
              <a:t> </a:t>
            </a:r>
            <a:r>
              <a:rPr lang="ko-KR" altLang="en-US" dirty="0"/>
              <a:t>지향</a:t>
            </a:r>
            <a:r>
              <a:rPr lang="en-US" altLang="ko-KR" dirty="0"/>
              <a:t>; </a:t>
            </a:r>
            <a:r>
              <a:rPr lang="ko-KR" altLang="en-US" dirty="0"/>
              <a:t>오라클</a:t>
            </a:r>
            <a:r>
              <a:rPr lang="en-US" altLang="ko-KR" dirty="0"/>
              <a:t>, </a:t>
            </a:r>
            <a:r>
              <a:rPr lang="ko-KR" altLang="en-US" dirty="0" err="1"/>
              <a:t>인포믹스</a:t>
            </a:r>
            <a:r>
              <a:rPr lang="ko-KR" altLang="en-US" dirty="0"/>
              <a:t> </a:t>
            </a:r>
            <a:r>
              <a:rPr lang="ko-KR" altLang="en-US" dirty="0" err="1"/>
              <a:t>유니버셜</a:t>
            </a:r>
            <a:r>
              <a:rPr lang="ko-KR" altLang="en-US" dirty="0"/>
              <a:t> 서버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BB3B84-62C3-63DC-C011-86DC32D471A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783E01C0-13A0-1FA9-2587-DE40B2EE13B6}"/>
              </a:ext>
            </a:extLst>
          </p:cNvPr>
          <p:cNvGrpSpPr/>
          <p:nvPr/>
        </p:nvGrpSpPr>
        <p:grpSpPr>
          <a:xfrm>
            <a:off x="5301208" y="632520"/>
            <a:ext cx="1440160" cy="1224136"/>
            <a:chOff x="2051304" y="1825751"/>
            <a:chExt cx="6678295" cy="4802505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7C57DA5B-0BE6-DD1C-BEFD-D3D2D79732D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304" y="1825751"/>
              <a:ext cx="6678167" cy="4802123"/>
            </a:xfrm>
            <a:prstGeom prst="rect">
              <a:avLst/>
            </a:prstGeom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9CCCED65-74BE-189C-C64E-CB96C57408EE}"/>
                </a:ext>
              </a:extLst>
            </p:cNvPr>
            <p:cNvSpPr/>
            <p:nvPr/>
          </p:nvSpPr>
          <p:spPr>
            <a:xfrm>
              <a:off x="2477262" y="2256790"/>
              <a:ext cx="1673225" cy="2969895"/>
            </a:xfrm>
            <a:custGeom>
              <a:avLst/>
              <a:gdLst/>
              <a:ahLst/>
              <a:cxnLst/>
              <a:rect l="l" t="t" r="r" b="b"/>
              <a:pathLst>
                <a:path w="1673225" h="2969895">
                  <a:moveTo>
                    <a:pt x="0" y="44323"/>
                  </a:moveTo>
                  <a:lnTo>
                    <a:pt x="10713" y="44323"/>
                  </a:lnTo>
                  <a:lnTo>
                    <a:pt x="20748" y="44323"/>
                  </a:lnTo>
                  <a:lnTo>
                    <a:pt x="30093" y="44323"/>
                  </a:lnTo>
                  <a:lnTo>
                    <a:pt x="38735" y="44323"/>
                  </a:lnTo>
                  <a:lnTo>
                    <a:pt x="49450" y="43967"/>
                  </a:lnTo>
                  <a:lnTo>
                    <a:pt x="110743" y="38735"/>
                  </a:lnTo>
                  <a:lnTo>
                    <a:pt x="159242" y="33210"/>
                  </a:lnTo>
                  <a:lnTo>
                    <a:pt x="193929" y="27686"/>
                  </a:lnTo>
                  <a:lnTo>
                    <a:pt x="213641" y="24568"/>
                  </a:lnTo>
                  <a:lnTo>
                    <a:pt x="288405" y="16238"/>
                  </a:lnTo>
                  <a:lnTo>
                    <a:pt x="343407" y="11049"/>
                  </a:lnTo>
                  <a:lnTo>
                    <a:pt x="401248" y="6215"/>
                  </a:lnTo>
                  <a:lnTo>
                    <a:pt x="452850" y="2762"/>
                  </a:lnTo>
                  <a:lnTo>
                    <a:pt x="498213" y="690"/>
                  </a:lnTo>
                  <a:lnTo>
                    <a:pt x="537337" y="0"/>
                  </a:lnTo>
                  <a:lnTo>
                    <a:pt x="571623" y="0"/>
                  </a:lnTo>
                  <a:lnTo>
                    <a:pt x="602456" y="0"/>
                  </a:lnTo>
                  <a:lnTo>
                    <a:pt x="908558" y="0"/>
                  </a:lnTo>
                  <a:lnTo>
                    <a:pt x="925151" y="337"/>
                  </a:lnTo>
                  <a:lnTo>
                    <a:pt x="941768" y="1365"/>
                  </a:lnTo>
                  <a:lnTo>
                    <a:pt x="958385" y="3107"/>
                  </a:lnTo>
                  <a:lnTo>
                    <a:pt x="974978" y="5587"/>
                  </a:lnTo>
                  <a:lnTo>
                    <a:pt x="990937" y="7995"/>
                  </a:lnTo>
                  <a:lnTo>
                    <a:pt x="1005490" y="9699"/>
                  </a:lnTo>
                  <a:lnTo>
                    <a:pt x="1018663" y="10713"/>
                  </a:lnTo>
                  <a:lnTo>
                    <a:pt x="1030477" y="11049"/>
                  </a:lnTo>
                  <a:lnTo>
                    <a:pt x="1042572" y="11049"/>
                  </a:lnTo>
                  <a:lnTo>
                    <a:pt x="1056751" y="11049"/>
                  </a:lnTo>
                  <a:lnTo>
                    <a:pt x="1073001" y="11049"/>
                  </a:lnTo>
                  <a:lnTo>
                    <a:pt x="1091311" y="11049"/>
                  </a:lnTo>
                  <a:lnTo>
                    <a:pt x="1111430" y="11739"/>
                  </a:lnTo>
                  <a:lnTo>
                    <a:pt x="1132919" y="13811"/>
                  </a:lnTo>
                  <a:lnTo>
                    <a:pt x="1155765" y="17264"/>
                  </a:lnTo>
                  <a:lnTo>
                    <a:pt x="1179957" y="22098"/>
                  </a:lnTo>
                  <a:lnTo>
                    <a:pt x="1202838" y="27005"/>
                  </a:lnTo>
                  <a:lnTo>
                    <a:pt x="1221565" y="30495"/>
                  </a:lnTo>
                  <a:lnTo>
                    <a:pt x="1236124" y="32581"/>
                  </a:lnTo>
                  <a:lnTo>
                    <a:pt x="1246504" y="33274"/>
                  </a:lnTo>
                  <a:lnTo>
                    <a:pt x="1256883" y="33274"/>
                  </a:lnTo>
                  <a:lnTo>
                    <a:pt x="1271428" y="33274"/>
                  </a:lnTo>
                  <a:lnTo>
                    <a:pt x="1396111" y="33274"/>
                  </a:lnTo>
                  <a:lnTo>
                    <a:pt x="1412351" y="32918"/>
                  </a:lnTo>
                  <a:lnTo>
                    <a:pt x="1427924" y="31861"/>
                  </a:lnTo>
                  <a:lnTo>
                    <a:pt x="1442831" y="30112"/>
                  </a:lnTo>
                  <a:lnTo>
                    <a:pt x="1457071" y="27686"/>
                  </a:lnTo>
                  <a:lnTo>
                    <a:pt x="1469856" y="25259"/>
                  </a:lnTo>
                  <a:lnTo>
                    <a:pt x="1480581" y="23510"/>
                  </a:lnTo>
                  <a:lnTo>
                    <a:pt x="1489235" y="22453"/>
                  </a:lnTo>
                  <a:lnTo>
                    <a:pt x="1495805" y="22098"/>
                  </a:lnTo>
                  <a:lnTo>
                    <a:pt x="1501685" y="22098"/>
                  </a:lnTo>
                  <a:lnTo>
                    <a:pt x="1508267" y="22098"/>
                  </a:lnTo>
                  <a:lnTo>
                    <a:pt x="1577086" y="22098"/>
                  </a:lnTo>
                  <a:lnTo>
                    <a:pt x="1584452" y="22098"/>
                  </a:lnTo>
                </a:path>
                <a:path w="1673225" h="2969895">
                  <a:moveTo>
                    <a:pt x="155067" y="1440434"/>
                  </a:moveTo>
                  <a:lnTo>
                    <a:pt x="191803" y="1451838"/>
                  </a:lnTo>
                  <a:lnTo>
                    <a:pt x="202199" y="1452895"/>
                  </a:lnTo>
                  <a:lnTo>
                    <a:pt x="213953" y="1454644"/>
                  </a:lnTo>
                  <a:lnTo>
                    <a:pt x="227075" y="1457071"/>
                  </a:lnTo>
                  <a:lnTo>
                    <a:pt x="242006" y="1459478"/>
                  </a:lnTo>
                  <a:lnTo>
                    <a:pt x="258984" y="1461182"/>
                  </a:lnTo>
                  <a:lnTo>
                    <a:pt x="278010" y="1462196"/>
                  </a:lnTo>
                  <a:lnTo>
                    <a:pt x="299085" y="1462532"/>
                  </a:lnTo>
                  <a:lnTo>
                    <a:pt x="321276" y="1462532"/>
                  </a:lnTo>
                  <a:lnTo>
                    <a:pt x="343455" y="1462532"/>
                  </a:lnTo>
                  <a:lnTo>
                    <a:pt x="997203" y="1462532"/>
                  </a:lnTo>
                  <a:lnTo>
                    <a:pt x="1007917" y="1462887"/>
                  </a:lnTo>
                  <a:lnTo>
                    <a:pt x="1017952" y="1463944"/>
                  </a:lnTo>
                  <a:lnTo>
                    <a:pt x="1027297" y="1465693"/>
                  </a:lnTo>
                  <a:lnTo>
                    <a:pt x="1035938" y="1468120"/>
                  </a:lnTo>
                  <a:lnTo>
                    <a:pt x="1044582" y="1470546"/>
                  </a:lnTo>
                  <a:lnTo>
                    <a:pt x="1053941" y="1472295"/>
                  </a:lnTo>
                  <a:lnTo>
                    <a:pt x="1064013" y="1473352"/>
                  </a:lnTo>
                  <a:lnTo>
                    <a:pt x="1074801" y="1473708"/>
                  </a:lnTo>
                  <a:lnTo>
                    <a:pt x="1084824" y="1473708"/>
                  </a:lnTo>
                  <a:lnTo>
                    <a:pt x="1092787" y="1473708"/>
                  </a:lnTo>
                  <a:lnTo>
                    <a:pt x="1340612" y="1473708"/>
                  </a:lnTo>
                  <a:lnTo>
                    <a:pt x="1347591" y="1474043"/>
                  </a:lnTo>
                  <a:lnTo>
                    <a:pt x="1357296" y="1475057"/>
                  </a:lnTo>
                  <a:lnTo>
                    <a:pt x="1369740" y="1476761"/>
                  </a:lnTo>
                  <a:lnTo>
                    <a:pt x="1384935" y="1479169"/>
                  </a:lnTo>
                  <a:lnTo>
                    <a:pt x="1400893" y="1481595"/>
                  </a:lnTo>
                  <a:lnTo>
                    <a:pt x="1415446" y="1483344"/>
                  </a:lnTo>
                  <a:lnTo>
                    <a:pt x="1428619" y="1484401"/>
                  </a:lnTo>
                  <a:lnTo>
                    <a:pt x="1440434" y="1484757"/>
                  </a:lnTo>
                  <a:lnTo>
                    <a:pt x="1451484" y="1484757"/>
                  </a:lnTo>
                  <a:lnTo>
                    <a:pt x="1462547" y="1484757"/>
                  </a:lnTo>
                  <a:lnTo>
                    <a:pt x="1654555" y="1484757"/>
                  </a:lnTo>
                  <a:lnTo>
                    <a:pt x="1662049" y="1484757"/>
                  </a:lnTo>
                </a:path>
                <a:path w="1673225" h="2969895">
                  <a:moveTo>
                    <a:pt x="188340" y="2936240"/>
                  </a:moveTo>
                  <a:lnTo>
                    <a:pt x="243760" y="2937652"/>
                  </a:lnTo>
                  <a:lnTo>
                    <a:pt x="289083" y="2944590"/>
                  </a:lnTo>
                  <a:lnTo>
                    <a:pt x="303275" y="2947352"/>
                  </a:lnTo>
                  <a:lnTo>
                    <a:pt x="356612" y="2955303"/>
                  </a:lnTo>
                  <a:lnTo>
                    <a:pt x="404368" y="2958465"/>
                  </a:lnTo>
                  <a:lnTo>
                    <a:pt x="418252" y="2958465"/>
                  </a:lnTo>
                  <a:lnTo>
                    <a:pt x="432101" y="2958465"/>
                  </a:lnTo>
                  <a:lnTo>
                    <a:pt x="664844" y="2958465"/>
                  </a:lnTo>
                  <a:lnTo>
                    <a:pt x="686962" y="2958800"/>
                  </a:lnTo>
                  <a:lnTo>
                    <a:pt x="709104" y="2959814"/>
                  </a:lnTo>
                  <a:lnTo>
                    <a:pt x="731246" y="2961518"/>
                  </a:lnTo>
                  <a:lnTo>
                    <a:pt x="753363" y="2963926"/>
                  </a:lnTo>
                  <a:lnTo>
                    <a:pt x="775892" y="2966352"/>
                  </a:lnTo>
                  <a:lnTo>
                    <a:pt x="799099" y="2968101"/>
                  </a:lnTo>
                  <a:lnTo>
                    <a:pt x="822997" y="2969158"/>
                  </a:lnTo>
                  <a:lnTo>
                    <a:pt x="847598" y="2969514"/>
                  </a:lnTo>
                  <a:lnTo>
                    <a:pt x="871505" y="2969514"/>
                  </a:lnTo>
                  <a:lnTo>
                    <a:pt x="893317" y="2969514"/>
                  </a:lnTo>
                  <a:lnTo>
                    <a:pt x="1663074" y="2969514"/>
                  </a:lnTo>
                  <a:lnTo>
                    <a:pt x="1673098" y="2969514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3">
            <a:extLst>
              <a:ext uri="{FF2B5EF4-FFF2-40B4-BE49-F238E27FC236}">
                <a16:creationId xmlns:a16="http://schemas.microsoft.com/office/drawing/2014/main" id="{945760EE-D037-E740-CA0C-8465EBC7CF43}"/>
              </a:ext>
            </a:extLst>
          </p:cNvPr>
          <p:cNvGrpSpPr/>
          <p:nvPr/>
        </p:nvGrpSpPr>
        <p:grpSpPr>
          <a:xfrm>
            <a:off x="4863960" y="5817096"/>
            <a:ext cx="1861278" cy="1296144"/>
            <a:chOff x="1914144" y="1860804"/>
            <a:chExt cx="6868795" cy="4561840"/>
          </a:xfrm>
        </p:grpSpPr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E9AB75D5-95F0-56A5-28D0-A7EC27FBADB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4144" y="1860804"/>
              <a:ext cx="6868667" cy="4561331"/>
            </a:xfrm>
            <a:prstGeom prst="rect">
              <a:avLst/>
            </a:prstGeom>
          </p:spPr>
        </p:pic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5F2C9424-5B73-278E-644C-191D1DED625F}"/>
                </a:ext>
              </a:extLst>
            </p:cNvPr>
            <p:cNvSpPr/>
            <p:nvPr/>
          </p:nvSpPr>
          <p:spPr>
            <a:xfrm>
              <a:off x="4903850" y="2389759"/>
              <a:ext cx="1407160" cy="1008380"/>
            </a:xfrm>
            <a:custGeom>
              <a:avLst/>
              <a:gdLst/>
              <a:ahLst/>
              <a:cxnLst/>
              <a:rect l="l" t="t" r="r" b="b"/>
              <a:pathLst>
                <a:path w="1407160" h="1008379">
                  <a:moveTo>
                    <a:pt x="221487" y="22225"/>
                  </a:moveTo>
                  <a:lnTo>
                    <a:pt x="221487" y="22225"/>
                  </a:lnTo>
                  <a:lnTo>
                    <a:pt x="393319" y="22225"/>
                  </a:lnTo>
                  <a:lnTo>
                    <a:pt x="440392" y="21869"/>
                  </a:lnTo>
                  <a:lnTo>
                    <a:pt x="487489" y="20812"/>
                  </a:lnTo>
                  <a:lnTo>
                    <a:pt x="534586" y="19063"/>
                  </a:lnTo>
                  <a:lnTo>
                    <a:pt x="581660" y="16637"/>
                  </a:lnTo>
                  <a:lnTo>
                    <a:pt x="628042" y="14229"/>
                  </a:lnTo>
                  <a:lnTo>
                    <a:pt x="673068" y="12525"/>
                  </a:lnTo>
                  <a:lnTo>
                    <a:pt x="716712" y="11511"/>
                  </a:lnTo>
                  <a:lnTo>
                    <a:pt x="758951" y="11175"/>
                  </a:lnTo>
                  <a:lnTo>
                    <a:pt x="799455" y="11175"/>
                  </a:lnTo>
                  <a:lnTo>
                    <a:pt x="837898" y="11175"/>
                  </a:lnTo>
                  <a:lnTo>
                    <a:pt x="874269" y="11175"/>
                  </a:lnTo>
                  <a:lnTo>
                    <a:pt x="908558" y="11175"/>
                  </a:lnTo>
                  <a:lnTo>
                    <a:pt x="940399" y="10820"/>
                  </a:lnTo>
                  <a:lnTo>
                    <a:pt x="969454" y="9763"/>
                  </a:lnTo>
                  <a:lnTo>
                    <a:pt x="995747" y="8014"/>
                  </a:lnTo>
                  <a:lnTo>
                    <a:pt x="1019301" y="5587"/>
                  </a:lnTo>
                  <a:lnTo>
                    <a:pt x="1039066" y="3161"/>
                  </a:lnTo>
                  <a:lnTo>
                    <a:pt x="1053973" y="1412"/>
                  </a:lnTo>
                  <a:lnTo>
                    <a:pt x="1064021" y="355"/>
                  </a:lnTo>
                  <a:lnTo>
                    <a:pt x="1069213" y="0"/>
                  </a:lnTo>
                  <a:lnTo>
                    <a:pt x="1072896" y="0"/>
                  </a:lnTo>
                  <a:lnTo>
                    <a:pt x="1076578" y="0"/>
                  </a:lnTo>
                  <a:lnTo>
                    <a:pt x="1290073" y="0"/>
                  </a:lnTo>
                  <a:lnTo>
                    <a:pt x="1296289" y="0"/>
                  </a:lnTo>
                </a:path>
                <a:path w="1407160" h="1008379">
                  <a:moveTo>
                    <a:pt x="0" y="1008379"/>
                  </a:moveTo>
                  <a:lnTo>
                    <a:pt x="1777" y="1006475"/>
                  </a:lnTo>
                  <a:lnTo>
                    <a:pt x="5461" y="1002791"/>
                  </a:lnTo>
                  <a:lnTo>
                    <a:pt x="46343" y="996975"/>
                  </a:lnTo>
                  <a:lnTo>
                    <a:pt x="63658" y="995918"/>
                  </a:lnTo>
                  <a:lnTo>
                    <a:pt x="110744" y="991742"/>
                  </a:lnTo>
                  <a:lnTo>
                    <a:pt x="159226" y="986218"/>
                  </a:lnTo>
                  <a:lnTo>
                    <a:pt x="193801" y="980693"/>
                  </a:lnTo>
                  <a:lnTo>
                    <a:pt x="207688" y="978267"/>
                  </a:lnTo>
                  <a:lnTo>
                    <a:pt x="221551" y="976518"/>
                  </a:lnTo>
                  <a:lnTo>
                    <a:pt x="235414" y="975461"/>
                  </a:lnTo>
                  <a:lnTo>
                    <a:pt x="249300" y="975105"/>
                  </a:lnTo>
                  <a:lnTo>
                    <a:pt x="263804" y="975105"/>
                  </a:lnTo>
                  <a:lnTo>
                    <a:pt x="279701" y="975105"/>
                  </a:lnTo>
                  <a:lnTo>
                    <a:pt x="393319" y="975105"/>
                  </a:lnTo>
                  <a:lnTo>
                    <a:pt x="397127" y="974750"/>
                  </a:lnTo>
                  <a:lnTo>
                    <a:pt x="403018" y="973693"/>
                  </a:lnTo>
                  <a:lnTo>
                    <a:pt x="410981" y="971944"/>
                  </a:lnTo>
                  <a:lnTo>
                    <a:pt x="421004" y="969517"/>
                  </a:lnTo>
                  <a:lnTo>
                    <a:pt x="432409" y="967110"/>
                  </a:lnTo>
                  <a:lnTo>
                    <a:pt x="444515" y="965406"/>
                  </a:lnTo>
                  <a:lnTo>
                    <a:pt x="457313" y="964392"/>
                  </a:lnTo>
                  <a:lnTo>
                    <a:pt x="470788" y="964056"/>
                  </a:lnTo>
                  <a:lnTo>
                    <a:pt x="485721" y="964056"/>
                  </a:lnTo>
                  <a:lnTo>
                    <a:pt x="502713" y="964056"/>
                  </a:lnTo>
                  <a:lnTo>
                    <a:pt x="980566" y="964056"/>
                  </a:lnTo>
                  <a:lnTo>
                    <a:pt x="1031428" y="964747"/>
                  </a:lnTo>
                  <a:lnTo>
                    <a:pt x="1078849" y="966819"/>
                  </a:lnTo>
                  <a:lnTo>
                    <a:pt x="1122816" y="970272"/>
                  </a:lnTo>
                  <a:lnTo>
                    <a:pt x="1163320" y="975105"/>
                  </a:lnTo>
                  <a:lnTo>
                    <a:pt x="1231201" y="984805"/>
                  </a:lnTo>
                  <a:lnTo>
                    <a:pt x="1257867" y="988625"/>
                  </a:lnTo>
                  <a:lnTo>
                    <a:pt x="1279652" y="991742"/>
                  </a:lnTo>
                  <a:lnTo>
                    <a:pt x="1298727" y="994169"/>
                  </a:lnTo>
                  <a:lnTo>
                    <a:pt x="1317101" y="995918"/>
                  </a:lnTo>
                  <a:lnTo>
                    <a:pt x="1334783" y="996975"/>
                  </a:lnTo>
                  <a:lnTo>
                    <a:pt x="1351788" y="997330"/>
                  </a:lnTo>
                  <a:lnTo>
                    <a:pt x="1367672" y="997330"/>
                  </a:lnTo>
                  <a:lnTo>
                    <a:pt x="1382188" y="997330"/>
                  </a:lnTo>
                  <a:lnTo>
                    <a:pt x="1395347" y="997330"/>
                  </a:lnTo>
                  <a:lnTo>
                    <a:pt x="1407160" y="99733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7952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913752-DFEB-E9F0-6FC9-2C1861261B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50B8E4C-9B35-C80C-345F-DE44F533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1.4 </a:t>
            </a:r>
            <a:r>
              <a:rPr lang="ko-KR" altLang="en-US" dirty="0" err="1"/>
              <a:t>데티어베이스</a:t>
            </a:r>
            <a:r>
              <a:rPr lang="ko-KR" altLang="en-US" dirty="0"/>
              <a:t> 스키마</a:t>
            </a:r>
            <a:r>
              <a:rPr lang="en-US" altLang="ko-KR" dirty="0"/>
              <a:t>/</a:t>
            </a:r>
            <a:r>
              <a:rPr lang="ko-KR" altLang="en-US" dirty="0"/>
              <a:t>인스턴스</a:t>
            </a:r>
            <a:br>
              <a:rPr lang="en-US" altLang="ko-KR" dirty="0"/>
            </a:br>
            <a:r>
              <a:rPr lang="en-US" altLang="ko-KR" dirty="0"/>
              <a:t>1.5 </a:t>
            </a:r>
            <a:r>
              <a:rPr lang="ko-KR" altLang="en-US" dirty="0"/>
              <a:t>데이터베이스 언어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F1507A-77C9-2609-F75E-B3069EDEC5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스키마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인스턴스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정의어</a:t>
            </a:r>
            <a:r>
              <a:rPr lang="en-US" altLang="ko-KR" dirty="0"/>
              <a:t>(DDL)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en-US" altLang="ko-KR" dirty="0"/>
              <a:t>(DML)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</a:t>
            </a:r>
            <a:r>
              <a:rPr lang="ko-KR" altLang="en-US" dirty="0" err="1"/>
              <a:t>제어어</a:t>
            </a:r>
            <a:r>
              <a:rPr lang="en-US" altLang="ko-KR" dirty="0"/>
              <a:t>(DCL)</a:t>
            </a:r>
          </a:p>
          <a:p>
            <a:endParaRPr lang="en-US" altLang="ko-KR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A2F7E9B-8D2C-7DE8-B7D1-A6997703F7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>
                <a:solidFill>
                  <a:schemeClr val="tx1"/>
                </a:solidFill>
              </a:rPr>
              <a:t>&lt;</a:t>
            </a:r>
            <a:r>
              <a:rPr lang="ko-KR" altLang="en-US" b="1" dirty="0">
                <a:solidFill>
                  <a:schemeClr val="tx1"/>
                </a:solidFill>
              </a:rPr>
              <a:t>데이터베이스 스키마</a:t>
            </a:r>
            <a:r>
              <a:rPr lang="en-US" altLang="ko-KR" b="1" dirty="0">
                <a:solidFill>
                  <a:schemeClr val="tx1"/>
                </a:solidFill>
              </a:rPr>
              <a:t>/</a:t>
            </a:r>
            <a:r>
              <a:rPr lang="ko-KR" altLang="en-US" b="1" dirty="0">
                <a:solidFill>
                  <a:schemeClr val="tx1"/>
                </a:solidFill>
              </a:rPr>
              <a:t>인스턴스</a:t>
            </a:r>
            <a:r>
              <a:rPr lang="en-US" altLang="ko-KR" b="1" dirty="0">
                <a:solidFill>
                  <a:schemeClr val="tx1"/>
                </a:solidFill>
              </a:rPr>
              <a:t>&gt;</a:t>
            </a:r>
          </a:p>
          <a:p>
            <a:r>
              <a:rPr lang="ko-KR" altLang="en-US" dirty="0"/>
              <a:t>스키마</a:t>
            </a:r>
            <a:endParaRPr lang="en-US" altLang="ko-KR" dirty="0"/>
          </a:p>
          <a:p>
            <a:pPr lvl="1"/>
            <a:r>
              <a:rPr lang="ko-KR" altLang="en-US" dirty="0"/>
              <a:t>전체적인 </a:t>
            </a:r>
            <a:r>
              <a:rPr lang="en-US" altLang="ko-KR" dirty="0"/>
              <a:t>DB</a:t>
            </a:r>
            <a:r>
              <a:rPr lang="ko-KR" altLang="en-US" dirty="0"/>
              <a:t>구조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필요사항을 표현할 수 있게 설계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변화 </a:t>
            </a:r>
            <a:r>
              <a:rPr lang="en-US" altLang="ko-KR" dirty="0"/>
              <a:t>X)</a:t>
            </a:r>
          </a:p>
          <a:p>
            <a:r>
              <a:rPr lang="ko-KR" altLang="en-US" dirty="0"/>
              <a:t>인스턴스</a:t>
            </a:r>
            <a:endParaRPr lang="en-US" altLang="ko-KR" dirty="0"/>
          </a:p>
          <a:p>
            <a:pPr lvl="1"/>
            <a:r>
              <a:rPr lang="ko-KR" altLang="en-US" dirty="0"/>
              <a:t>특정 시점의 </a:t>
            </a:r>
            <a:r>
              <a:rPr lang="en-US" altLang="ko-KR" dirty="0"/>
              <a:t>DB </a:t>
            </a:r>
            <a:r>
              <a:rPr lang="ko-KR" altLang="en-US" dirty="0"/>
              <a:t>내용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변화 </a:t>
            </a:r>
            <a:r>
              <a:rPr lang="en-US" altLang="ko-KR" dirty="0"/>
              <a:t>O)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chemeClr val="tx1"/>
                </a:solidFill>
              </a:rPr>
              <a:t>&lt;</a:t>
            </a:r>
            <a:r>
              <a:rPr lang="ko-KR" altLang="en-US" b="1" dirty="0">
                <a:solidFill>
                  <a:schemeClr val="tx1"/>
                </a:solidFill>
              </a:rPr>
              <a:t>데이터베이스 언어</a:t>
            </a:r>
            <a:r>
              <a:rPr lang="en-US" altLang="ko-KR" b="1" dirty="0">
                <a:solidFill>
                  <a:schemeClr val="tx1"/>
                </a:solidFill>
              </a:rPr>
              <a:t>&gt;</a:t>
            </a:r>
          </a:p>
          <a:p>
            <a:r>
              <a:rPr lang="ko-KR" altLang="en-US" dirty="0"/>
              <a:t>데이터 </a:t>
            </a:r>
            <a:r>
              <a:rPr lang="ko-KR" altLang="en-US" dirty="0" err="1"/>
              <a:t>정의어</a:t>
            </a:r>
            <a:r>
              <a:rPr lang="en-US" altLang="ko-KR" dirty="0"/>
              <a:t>(DDL)</a:t>
            </a:r>
          </a:p>
          <a:p>
            <a:pPr lvl="1"/>
            <a:r>
              <a:rPr lang="ko-KR" altLang="en-US" dirty="0" err="1"/>
              <a:t>정의어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스키마 정의</a:t>
            </a:r>
            <a:endParaRPr lang="en-US" altLang="ko-KR" dirty="0"/>
          </a:p>
          <a:p>
            <a:pPr lvl="1"/>
            <a:r>
              <a:rPr lang="ko-KR" altLang="en-US" dirty="0"/>
              <a:t>정의어로 명시된 문장이 입력되면 </a:t>
            </a:r>
            <a:r>
              <a:rPr lang="en-US" altLang="ko-KR" dirty="0"/>
              <a:t>DBMS</a:t>
            </a:r>
            <a:r>
              <a:rPr lang="ko-KR" altLang="en-US" dirty="0"/>
              <a:t>는 정의한 스키마에 대한 명세를 시스템 카탈로그 </a:t>
            </a:r>
            <a:r>
              <a:rPr lang="en-US" altLang="ko-KR" dirty="0"/>
              <a:t>/ </a:t>
            </a:r>
            <a:r>
              <a:rPr lang="ko-KR" altLang="en-US" dirty="0"/>
              <a:t>데이터 사전에 저장</a:t>
            </a:r>
            <a:endParaRPr lang="en-US" altLang="ko-KR" dirty="0"/>
          </a:p>
          <a:p>
            <a:pPr lvl="1"/>
            <a:r>
              <a:rPr lang="en-US" altLang="ko-KR" dirty="0"/>
              <a:t>Ex)</a:t>
            </a:r>
            <a:r>
              <a:rPr lang="ko-KR" altLang="en-US" dirty="0"/>
              <a:t> 데이터 구조 생성</a:t>
            </a:r>
            <a:r>
              <a:rPr lang="en-US" altLang="ko-KR" dirty="0"/>
              <a:t>: CREATE TABLE, </a:t>
            </a:r>
            <a:r>
              <a:rPr lang="ko-KR" altLang="en-US" dirty="0"/>
              <a:t>구조 변경</a:t>
            </a:r>
            <a:r>
              <a:rPr lang="en-US" altLang="ko-KR" dirty="0"/>
              <a:t>: ALERT TABLE</a:t>
            </a:r>
          </a:p>
          <a:p>
            <a:r>
              <a:rPr lang="ko-KR" altLang="en-US" dirty="0"/>
              <a:t>데이터 </a:t>
            </a:r>
            <a:r>
              <a:rPr lang="ko-KR" altLang="en-US" dirty="0" err="1"/>
              <a:t>조작어</a:t>
            </a:r>
            <a:r>
              <a:rPr lang="en-US" altLang="ko-KR" dirty="0"/>
              <a:t>(DML)</a:t>
            </a:r>
          </a:p>
          <a:p>
            <a:pPr lvl="1"/>
            <a:r>
              <a:rPr lang="ko-KR" altLang="en-US" dirty="0"/>
              <a:t>데이터베이스 인스턴스 내의 원하는 데이터를 검색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삽입</a:t>
            </a:r>
            <a:r>
              <a:rPr lang="en-US" altLang="ko-KR" dirty="0"/>
              <a:t>/</a:t>
            </a:r>
            <a:r>
              <a:rPr lang="ko-KR" altLang="en-US" dirty="0"/>
              <a:t>삭제</a:t>
            </a:r>
            <a:endParaRPr lang="en-US" altLang="ko-KR" dirty="0"/>
          </a:p>
          <a:p>
            <a:pPr lvl="1"/>
            <a:r>
              <a:rPr lang="ko-KR" altLang="en-US" dirty="0"/>
              <a:t>절차적언어 </a:t>
            </a:r>
            <a:r>
              <a:rPr lang="en-US" altLang="ko-KR" dirty="0"/>
              <a:t>or </a:t>
            </a:r>
            <a:r>
              <a:rPr lang="ko-KR" altLang="en-US" dirty="0" err="1"/>
              <a:t>비절차적언어</a:t>
            </a:r>
            <a:r>
              <a:rPr lang="en-US" altLang="ko-KR" dirty="0"/>
              <a:t>(ex: SQL)</a:t>
            </a:r>
            <a:r>
              <a:rPr lang="ko-KR" altLang="en-US" dirty="0"/>
              <a:t>이 있음</a:t>
            </a:r>
            <a:endParaRPr lang="en-US" altLang="ko-KR" dirty="0"/>
          </a:p>
          <a:p>
            <a:pPr lvl="1"/>
            <a:r>
              <a:rPr lang="en-US" altLang="ko-KR" dirty="0"/>
              <a:t>DML</a:t>
            </a:r>
            <a:r>
              <a:rPr lang="ko-KR" altLang="en-US" dirty="0"/>
              <a:t>은 대화식 </a:t>
            </a:r>
            <a:r>
              <a:rPr lang="en-US" altLang="ko-KR" dirty="0"/>
              <a:t>or </a:t>
            </a:r>
            <a:r>
              <a:rPr lang="ko-KR" altLang="en-US" dirty="0"/>
              <a:t>프로그램 안에</a:t>
            </a:r>
            <a:br>
              <a:rPr lang="en-US" altLang="ko-KR" dirty="0"/>
            </a:br>
            <a:r>
              <a:rPr lang="ko-KR" altLang="en-US" dirty="0"/>
              <a:t>내장되어 사용됨</a:t>
            </a:r>
            <a:endParaRPr lang="en-US" altLang="ko-KR" dirty="0"/>
          </a:p>
          <a:p>
            <a:pPr lvl="1"/>
            <a:r>
              <a:rPr lang="en-US" altLang="ko-KR" dirty="0"/>
              <a:t>Ex) select, update, </a:t>
            </a:r>
            <a:br>
              <a:rPr lang="en-US" altLang="ko-KR" dirty="0"/>
            </a:br>
            <a:r>
              <a:rPr lang="en-US" altLang="ko-KR" dirty="0"/>
              <a:t>delete, insert</a:t>
            </a:r>
          </a:p>
          <a:p>
            <a:r>
              <a:rPr lang="ko-KR" altLang="en-US" dirty="0"/>
              <a:t>데이터 </a:t>
            </a:r>
            <a:r>
              <a:rPr lang="ko-KR" altLang="en-US" dirty="0" err="1"/>
              <a:t>제어어</a:t>
            </a:r>
            <a:r>
              <a:rPr lang="en-US" altLang="ko-KR" dirty="0"/>
              <a:t>(DCL)</a:t>
            </a:r>
          </a:p>
          <a:p>
            <a:pPr lvl="1"/>
            <a:r>
              <a:rPr lang="ko-KR" altLang="en-US" dirty="0"/>
              <a:t>트랜잭션 명시</a:t>
            </a:r>
            <a:r>
              <a:rPr lang="en-US" altLang="ko-KR" dirty="0"/>
              <a:t>, </a:t>
            </a:r>
            <a:r>
              <a:rPr lang="ko-KR" altLang="en-US" dirty="0"/>
              <a:t>권한부여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638E8B-B8B5-B1C4-1092-EA30D717484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B9988458-068C-95BF-FED4-CA39A796F3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75173" y="595076"/>
            <a:ext cx="2928841" cy="1909651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:a16="http://schemas.microsoft.com/office/drawing/2014/main" id="{F2F187AA-3EB5-D263-F471-99702BFF77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0" y="4804896"/>
            <a:ext cx="3168352" cy="101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4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9BD7E02-0085-97CB-6C81-AEBE50217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72A1862-274C-4E97-4EDB-EA91D027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1.6 </a:t>
            </a:r>
            <a:r>
              <a:rPr lang="ko-KR" altLang="en-US" dirty="0"/>
              <a:t>데이터베이스 사용자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F02DF0-BDD0-2544-FB3B-5ACEC148CF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516A7CF-BA2A-71FE-E5B2-978AE17293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DB </a:t>
            </a:r>
            <a:r>
              <a:rPr lang="ko-KR" altLang="en-US" dirty="0"/>
              <a:t>설계자</a:t>
            </a:r>
            <a:endParaRPr lang="en-US" altLang="ko-KR" dirty="0"/>
          </a:p>
          <a:p>
            <a:pPr lvl="1"/>
            <a:r>
              <a:rPr lang="ko-KR" altLang="en-US" dirty="0"/>
              <a:t>데이터베이스 설계 및 정규화 수행</a:t>
            </a:r>
            <a:endParaRPr lang="en-US" altLang="ko-KR" dirty="0"/>
          </a:p>
          <a:p>
            <a:r>
              <a:rPr lang="ko-KR" altLang="en-US" dirty="0"/>
              <a:t>응용 프로그래머</a:t>
            </a:r>
            <a:r>
              <a:rPr lang="en-US" altLang="ko-KR" dirty="0"/>
              <a:t>: </a:t>
            </a:r>
            <a:r>
              <a:rPr lang="ko-KR" altLang="en-US" dirty="0"/>
              <a:t>응용프로그램 개발</a:t>
            </a:r>
            <a:endParaRPr lang="en-US" altLang="ko-KR" dirty="0"/>
          </a:p>
          <a:p>
            <a:pPr lvl="1"/>
            <a:r>
              <a:rPr lang="en-US" altLang="ko-KR" dirty="0"/>
              <a:t>DB</a:t>
            </a:r>
            <a:r>
              <a:rPr lang="ko-KR" altLang="en-US" dirty="0"/>
              <a:t>에 접근하는 부분은 내포된 데이터 </a:t>
            </a:r>
            <a:r>
              <a:rPr lang="ko-KR" altLang="en-US" dirty="0" err="1"/>
              <a:t>조작어를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r>
              <a:rPr lang="ko-KR" altLang="en-US" dirty="0"/>
              <a:t>작성한 프로그램</a:t>
            </a:r>
            <a:r>
              <a:rPr lang="en-US" altLang="ko-KR" dirty="0"/>
              <a:t> = </a:t>
            </a:r>
            <a:r>
              <a:rPr lang="ko-KR" altLang="en-US" dirty="0" err="1"/>
              <a:t>기작성</a:t>
            </a:r>
            <a:r>
              <a:rPr lang="ko-KR" altLang="en-US" dirty="0"/>
              <a:t> 트랜잭션</a:t>
            </a:r>
            <a:endParaRPr lang="en-US" altLang="ko-KR" dirty="0"/>
          </a:p>
          <a:p>
            <a:r>
              <a:rPr lang="ko-KR" altLang="en-US" dirty="0"/>
              <a:t>데이터베이스 관리자</a:t>
            </a:r>
            <a:r>
              <a:rPr lang="en-US" altLang="ko-KR" dirty="0"/>
              <a:t>(DBA): </a:t>
            </a:r>
            <a:r>
              <a:rPr lang="ko-KR" altLang="en-US" dirty="0"/>
              <a:t>조직의 요구를 만족하기 위해 일관적인 스키마 생성</a:t>
            </a:r>
            <a:r>
              <a:rPr lang="en-US" altLang="ko-KR" dirty="0"/>
              <a:t>/</a:t>
            </a:r>
            <a:r>
              <a:rPr lang="ko-KR" altLang="en-US" dirty="0"/>
              <a:t>유지</a:t>
            </a:r>
            <a:endParaRPr lang="en-US" altLang="ko-KR" dirty="0"/>
          </a:p>
          <a:p>
            <a:pPr lvl="1"/>
            <a:r>
              <a:rPr lang="ko-KR" altLang="en-US" dirty="0"/>
              <a:t>스키마의 생성</a:t>
            </a:r>
            <a:r>
              <a:rPr lang="en-US" altLang="ko-KR" dirty="0"/>
              <a:t>/</a:t>
            </a:r>
            <a:r>
              <a:rPr lang="ko-KR" altLang="en-US" dirty="0"/>
              <a:t>변경</a:t>
            </a:r>
            <a:r>
              <a:rPr lang="en-US" altLang="ko-KR" dirty="0"/>
              <a:t>	</a:t>
            </a:r>
            <a:r>
              <a:rPr lang="ko-KR" altLang="en-US" dirty="0"/>
              <a:t>무결성 제약조건 명시</a:t>
            </a:r>
            <a:br>
              <a:rPr lang="en-US" altLang="ko-KR" dirty="0"/>
            </a:br>
            <a:r>
              <a:rPr lang="ko-KR" altLang="en-US" dirty="0"/>
              <a:t>유저 권한 관리</a:t>
            </a:r>
            <a:r>
              <a:rPr lang="en-US" altLang="ko-KR" dirty="0"/>
              <a:t>	</a:t>
            </a:r>
            <a:r>
              <a:rPr lang="ko-KR" altLang="en-US" dirty="0"/>
              <a:t>백업</a:t>
            </a:r>
            <a:r>
              <a:rPr lang="en-US" altLang="ko-KR" dirty="0"/>
              <a:t>/</a:t>
            </a:r>
            <a:r>
              <a:rPr lang="ko-KR" altLang="en-US" dirty="0"/>
              <a:t>회복</a:t>
            </a:r>
            <a:br>
              <a:rPr lang="en-US" altLang="ko-KR" dirty="0"/>
            </a:br>
            <a:r>
              <a:rPr lang="ko-KR" altLang="en-US" dirty="0"/>
              <a:t>표준화</a:t>
            </a:r>
            <a:endParaRPr lang="en-US" altLang="ko-KR" dirty="0"/>
          </a:p>
          <a:p>
            <a:r>
              <a:rPr lang="ko-KR" altLang="en-US" dirty="0"/>
              <a:t>최종사용자</a:t>
            </a:r>
            <a:r>
              <a:rPr lang="en-US" altLang="ko-KR" dirty="0"/>
              <a:t>(end user):</a:t>
            </a:r>
            <a:r>
              <a:rPr lang="ko-KR" altLang="en-US" dirty="0"/>
              <a:t> 목적을 위해 </a:t>
            </a:r>
            <a:r>
              <a:rPr lang="en-US" altLang="ko-KR" dirty="0"/>
              <a:t>DB</a:t>
            </a:r>
            <a:r>
              <a:rPr lang="ko-KR" altLang="en-US" dirty="0"/>
              <a:t>를 사용하는 사람</a:t>
            </a:r>
            <a:endParaRPr lang="en-US" altLang="ko-KR" dirty="0"/>
          </a:p>
          <a:p>
            <a:pPr lvl="1"/>
            <a:r>
              <a:rPr lang="ko-KR" altLang="en-US" dirty="0"/>
              <a:t>캐주얼 사용자 </a:t>
            </a:r>
            <a:r>
              <a:rPr lang="en-US" altLang="ko-KR" dirty="0"/>
              <a:t>: </a:t>
            </a:r>
            <a:r>
              <a:rPr lang="ko-KR" altLang="en-US" dirty="0" err="1"/>
              <a:t>질의어를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r>
              <a:rPr lang="ko-KR" altLang="en-US" dirty="0"/>
              <a:t>초보사용자</a:t>
            </a:r>
            <a:r>
              <a:rPr lang="en-US" altLang="ko-KR" dirty="0"/>
              <a:t>: </a:t>
            </a:r>
            <a:r>
              <a:rPr lang="ko-KR" altLang="en-US" dirty="0" err="1"/>
              <a:t>기작성</a:t>
            </a:r>
            <a:r>
              <a:rPr lang="ko-KR" altLang="en-US" dirty="0"/>
              <a:t> 트랜잭션을 수행</a:t>
            </a:r>
            <a:endParaRPr lang="en-US" altLang="ko-KR" dirty="0"/>
          </a:p>
          <a:p>
            <a:r>
              <a:rPr lang="ko-KR" altLang="en-US" dirty="0"/>
              <a:t>오퍼레이터</a:t>
            </a:r>
            <a:r>
              <a:rPr lang="en-US" altLang="ko-KR" dirty="0"/>
              <a:t>: </a:t>
            </a:r>
            <a:r>
              <a:rPr lang="ko-KR" altLang="en-US" dirty="0"/>
              <a:t>컴퓨터시스템</a:t>
            </a:r>
            <a:r>
              <a:rPr lang="en-US" altLang="ko-KR" dirty="0"/>
              <a:t>&amp; </a:t>
            </a:r>
            <a:r>
              <a:rPr lang="ko-KR" altLang="en-US" dirty="0"/>
              <a:t>전산실 관리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98BE1F-8905-A799-474A-40F0B2185501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B2CF77E-82DB-112D-DF89-68C136743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48" y="3944888"/>
            <a:ext cx="5354827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35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EB537C-3708-4F50-AD91-AEDBF4ECB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AF46ABD-5013-5AC8-2081-2FBEC771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1.7 ANSI/SPARC </a:t>
            </a:r>
            <a:r>
              <a:rPr lang="ko-KR" altLang="en-US" dirty="0"/>
              <a:t>아키텍처와 데이터 독립성</a:t>
            </a:r>
            <a:endParaRPr lang="en-US" altLang="ko-KR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441367-7964-9AB2-8FB0-21CA2EA74A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03C75E1-FB60-1683-C4E6-C61E496ACD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ANSI/SPARC </a:t>
            </a:r>
            <a:r>
              <a:rPr lang="ko-KR" altLang="en-US" dirty="0"/>
              <a:t>아키텍처</a:t>
            </a:r>
            <a:r>
              <a:rPr lang="en-US" altLang="ko-KR" dirty="0"/>
              <a:t>: </a:t>
            </a:r>
            <a:r>
              <a:rPr lang="ko-KR" altLang="en-US" dirty="0"/>
              <a:t>추상화를 위한 </a:t>
            </a:r>
            <a:r>
              <a:rPr lang="en-US" altLang="ko-KR" dirty="0"/>
              <a:t>3</a:t>
            </a:r>
            <a:r>
              <a:rPr lang="ko-KR" altLang="en-US" dirty="0"/>
              <a:t>단계 제공</a:t>
            </a:r>
          </a:p>
          <a:p>
            <a:pPr lvl="1"/>
            <a:r>
              <a:rPr lang="ko-KR" altLang="en-US" dirty="0"/>
              <a:t>외부 단계</a:t>
            </a:r>
            <a:r>
              <a:rPr lang="en-US" altLang="ko-KR" dirty="0"/>
              <a:t>: </a:t>
            </a:r>
            <a:r>
              <a:rPr lang="ko-KR" altLang="en-US" dirty="0"/>
              <a:t>각 사용자의 뷰</a:t>
            </a:r>
            <a:endParaRPr lang="en-US" altLang="ko-KR" dirty="0"/>
          </a:p>
          <a:p>
            <a:pPr lvl="2"/>
            <a:r>
              <a:rPr lang="ko-KR" altLang="en-US" dirty="0"/>
              <a:t>최종 사용자 </a:t>
            </a:r>
            <a:r>
              <a:rPr lang="en-US" altLang="ko-KR" dirty="0"/>
              <a:t>&amp; </a:t>
            </a:r>
            <a:r>
              <a:rPr lang="ko-KR" altLang="en-US" dirty="0" err="1"/>
              <a:t>응용프로그래머들은</a:t>
            </a:r>
            <a:r>
              <a:rPr lang="ko-KR" altLang="en-US" dirty="0"/>
              <a:t> </a:t>
            </a:r>
            <a:r>
              <a:rPr lang="en-US" altLang="ko-KR" dirty="0"/>
              <a:t>DB</a:t>
            </a:r>
            <a:r>
              <a:rPr lang="ko-KR" altLang="en-US" dirty="0"/>
              <a:t>의 일부만 관심</a:t>
            </a:r>
            <a:r>
              <a:rPr lang="en-US" altLang="ko-KR" dirty="0"/>
              <a:t>O</a:t>
            </a:r>
            <a:endParaRPr lang="ko-KR" altLang="en-US" dirty="0"/>
          </a:p>
          <a:p>
            <a:pPr lvl="1"/>
            <a:r>
              <a:rPr lang="ko-KR" altLang="en-US" dirty="0"/>
              <a:t>개념 단계</a:t>
            </a:r>
            <a:r>
              <a:rPr lang="en-US" altLang="ko-KR" dirty="0"/>
              <a:t>: </a:t>
            </a:r>
            <a:r>
              <a:rPr lang="ko-KR" altLang="en-US" dirty="0"/>
              <a:t>사용자 공동체의 뷰</a:t>
            </a:r>
            <a:endParaRPr lang="en-US" altLang="ko-KR" dirty="0"/>
          </a:p>
          <a:p>
            <a:pPr lvl="2"/>
            <a:r>
              <a:rPr lang="ko-KR" altLang="en-US" dirty="0"/>
              <a:t>조직체의 정보모델</a:t>
            </a:r>
            <a:r>
              <a:rPr lang="en-US" altLang="ko-KR" dirty="0"/>
              <a:t>, </a:t>
            </a:r>
            <a:r>
              <a:rPr lang="ko-KR" altLang="en-US" dirty="0"/>
              <a:t>물리적 구현 고려 </a:t>
            </a:r>
            <a:r>
              <a:rPr lang="en-US" altLang="ko-KR" dirty="0"/>
              <a:t>X, </a:t>
            </a:r>
            <a:r>
              <a:rPr lang="ko-KR" altLang="en-US" dirty="0" err="1"/>
              <a:t>조칙체</a:t>
            </a:r>
            <a:r>
              <a:rPr lang="ko-KR" altLang="en-US" dirty="0"/>
              <a:t> 전체에 대한 스키마 포함</a:t>
            </a:r>
            <a:endParaRPr lang="en-US" altLang="ko-KR" dirty="0"/>
          </a:p>
          <a:p>
            <a:pPr lvl="2"/>
            <a:r>
              <a:rPr lang="en-US" altLang="ko-KR" dirty="0"/>
              <a:t>DB</a:t>
            </a:r>
            <a:r>
              <a:rPr lang="ko-KR" altLang="en-US" dirty="0"/>
              <a:t>에 어떤 데이터가 저장</a:t>
            </a:r>
            <a:r>
              <a:rPr lang="en-US" altLang="ko-KR" dirty="0"/>
              <a:t>, </a:t>
            </a:r>
            <a:r>
              <a:rPr lang="ko-KR" altLang="en-US" dirty="0"/>
              <a:t>데이터간 관계</a:t>
            </a:r>
            <a:r>
              <a:rPr lang="en-US" altLang="ko-KR" dirty="0"/>
              <a:t>, </a:t>
            </a:r>
            <a:r>
              <a:rPr lang="ko-KR" altLang="en-US" dirty="0"/>
              <a:t>어떤 무결성 제약조건이 명시 됐는지 기술</a:t>
            </a:r>
          </a:p>
          <a:p>
            <a:pPr lvl="1"/>
            <a:r>
              <a:rPr lang="ko-KR" altLang="en-US" dirty="0"/>
              <a:t>내부 단계</a:t>
            </a:r>
            <a:r>
              <a:rPr lang="en-US" altLang="ko-KR" dirty="0"/>
              <a:t>: </a:t>
            </a:r>
            <a:r>
              <a:rPr lang="ko-KR" altLang="en-US" dirty="0"/>
              <a:t>물리적 또는 저장 뷰</a:t>
            </a:r>
            <a:r>
              <a:rPr lang="en-US" altLang="ko-KR" dirty="0"/>
              <a:t>, </a:t>
            </a:r>
            <a:r>
              <a:rPr lang="ko-KR" altLang="en-US" dirty="0"/>
              <a:t>어떻게 저장됐는가</a:t>
            </a:r>
            <a:r>
              <a:rPr lang="en-US" altLang="ko-KR" dirty="0"/>
              <a:t> or </a:t>
            </a:r>
            <a:r>
              <a:rPr lang="ko-KR" altLang="en-US" dirty="0"/>
              <a:t>접근 경로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58AE74-39ED-DD33-6231-76EB2BEE2AD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FF889BAE-B343-26CA-E2B5-5390DD9C79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6791" y="2360712"/>
            <a:ext cx="5256583" cy="2592288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A48F5BC8-B680-BADC-F2B2-C69AB32C7E2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652" y="4664968"/>
            <a:ext cx="5234162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174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BB50741-D8E8-D148-2970-6B35F1365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3C6B128-0649-6A23-BDFE-CACCAA9D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1.7 ANSI/SPARC </a:t>
            </a:r>
            <a:r>
              <a:rPr lang="ko-KR" altLang="en-US" dirty="0"/>
              <a:t>아키텍처와 데이터 독립성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A34AEC-A3C5-FE0D-FAD9-935CFF6305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FA15937-B520-8365-33ED-710A14B1B8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내</a:t>
            </a:r>
            <a:r>
              <a:rPr lang="en-US" altLang="ko-KR" dirty="0"/>
              <a:t>/</a:t>
            </a:r>
            <a:r>
              <a:rPr lang="ko-KR" altLang="en-US" dirty="0"/>
              <a:t>외부 스키마와 데이터 독립성</a:t>
            </a:r>
            <a:endParaRPr lang="en-US" altLang="ko-KR" dirty="0"/>
          </a:p>
          <a:p>
            <a:pPr lvl="1"/>
            <a:r>
              <a:rPr lang="ko-KR" altLang="en-US" dirty="0"/>
              <a:t>물리적 데이터 독립성</a:t>
            </a:r>
            <a:r>
              <a:rPr lang="en-US" altLang="ko-KR" dirty="0"/>
              <a:t>: </a:t>
            </a:r>
            <a:r>
              <a:rPr lang="ko-KR" altLang="en-US" dirty="0"/>
              <a:t>내부 스키마의 변화 </a:t>
            </a:r>
            <a:r>
              <a:rPr lang="en-US" altLang="ko-KR" dirty="0"/>
              <a:t>-&gt; </a:t>
            </a:r>
            <a:r>
              <a:rPr lang="ko-KR" altLang="en-US" dirty="0"/>
              <a:t>개념적 스키마에 영향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논리적 데이터 독립성</a:t>
            </a:r>
            <a:r>
              <a:rPr lang="en-US" altLang="ko-KR" dirty="0"/>
              <a:t>: </a:t>
            </a:r>
            <a:r>
              <a:rPr lang="ko-KR" altLang="en-US" dirty="0"/>
              <a:t>개념 스키마의 변화 </a:t>
            </a:r>
            <a:r>
              <a:rPr lang="en-US" altLang="ko-KR" dirty="0"/>
              <a:t>-&gt; </a:t>
            </a:r>
            <a:r>
              <a:rPr lang="ko-KR" altLang="en-US" dirty="0"/>
              <a:t>외부 스키마에 영향 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응용프로그램 </a:t>
            </a:r>
            <a:r>
              <a:rPr lang="ko-KR" altLang="en-US" dirty="0" err="1"/>
              <a:t>재작성할</a:t>
            </a:r>
            <a:r>
              <a:rPr lang="ko-KR" altLang="en-US" dirty="0"/>
              <a:t> 필요 없어야 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데이터베이스 시스템의 아키텍처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7C8FFF-E43F-0819-4971-B38EA923B03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CDBF3957-A91B-E019-0A86-8BE6D2134C35}"/>
              </a:ext>
            </a:extLst>
          </p:cNvPr>
          <p:cNvGrpSpPr/>
          <p:nvPr/>
        </p:nvGrpSpPr>
        <p:grpSpPr>
          <a:xfrm>
            <a:off x="3429000" y="1568624"/>
            <a:ext cx="2929013" cy="2304256"/>
            <a:chOff x="2333927" y="1904715"/>
            <a:chExt cx="6254750" cy="4920615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79016F1F-2820-0F17-654E-D6E708C0104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3927" y="1904715"/>
              <a:ext cx="5884876" cy="4920050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3FE22625-62C0-A1DA-B613-3BC9A4E407CA}"/>
                </a:ext>
              </a:extLst>
            </p:cNvPr>
            <p:cNvSpPr/>
            <p:nvPr/>
          </p:nvSpPr>
          <p:spPr>
            <a:xfrm>
              <a:off x="8011667" y="4867656"/>
              <a:ext cx="570230" cy="407034"/>
            </a:xfrm>
            <a:custGeom>
              <a:avLst/>
              <a:gdLst/>
              <a:ahLst/>
              <a:cxnLst/>
              <a:rect l="l" t="t" r="r" b="b"/>
              <a:pathLst>
                <a:path w="570229" h="407035">
                  <a:moveTo>
                    <a:pt x="222504" y="406908"/>
                  </a:moveTo>
                  <a:lnTo>
                    <a:pt x="202692" y="294131"/>
                  </a:lnTo>
                  <a:lnTo>
                    <a:pt x="124968" y="332231"/>
                  </a:lnTo>
                  <a:lnTo>
                    <a:pt x="149352" y="262127"/>
                  </a:lnTo>
                  <a:lnTo>
                    <a:pt x="3048" y="274320"/>
                  </a:lnTo>
                  <a:lnTo>
                    <a:pt x="97536" y="220979"/>
                  </a:lnTo>
                  <a:lnTo>
                    <a:pt x="0" y="161543"/>
                  </a:lnTo>
                  <a:lnTo>
                    <a:pt x="121919" y="143255"/>
                  </a:lnTo>
                  <a:lnTo>
                    <a:pt x="9144" y="42671"/>
                  </a:lnTo>
                  <a:lnTo>
                    <a:pt x="192024" y="118871"/>
                  </a:lnTo>
                  <a:lnTo>
                    <a:pt x="219456" y="42671"/>
                  </a:lnTo>
                  <a:lnTo>
                    <a:pt x="284988" y="108203"/>
                  </a:lnTo>
                  <a:lnTo>
                    <a:pt x="382524" y="0"/>
                  </a:lnTo>
                  <a:lnTo>
                    <a:pt x="373380" y="99059"/>
                  </a:lnTo>
                  <a:lnTo>
                    <a:pt x="484631" y="83819"/>
                  </a:lnTo>
                  <a:lnTo>
                    <a:pt x="440436" y="137159"/>
                  </a:lnTo>
                  <a:lnTo>
                    <a:pt x="556260" y="152399"/>
                  </a:lnTo>
                  <a:lnTo>
                    <a:pt x="463295" y="196595"/>
                  </a:lnTo>
                  <a:lnTo>
                    <a:pt x="569976" y="249935"/>
                  </a:lnTo>
                  <a:lnTo>
                    <a:pt x="443483" y="243839"/>
                  </a:lnTo>
                  <a:lnTo>
                    <a:pt x="478536" y="339851"/>
                  </a:lnTo>
                  <a:lnTo>
                    <a:pt x="368808" y="271272"/>
                  </a:lnTo>
                  <a:lnTo>
                    <a:pt x="348996" y="371855"/>
                  </a:lnTo>
                  <a:lnTo>
                    <a:pt x="277368" y="280415"/>
                  </a:lnTo>
                  <a:lnTo>
                    <a:pt x="222504" y="4069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79467119-A568-DE37-0C0D-AB0D51B7DFA7}"/>
                </a:ext>
              </a:extLst>
            </p:cNvPr>
            <p:cNvSpPr/>
            <p:nvPr/>
          </p:nvSpPr>
          <p:spPr>
            <a:xfrm>
              <a:off x="8011667" y="4867656"/>
              <a:ext cx="570230" cy="407034"/>
            </a:xfrm>
            <a:custGeom>
              <a:avLst/>
              <a:gdLst/>
              <a:ahLst/>
              <a:cxnLst/>
              <a:rect l="l" t="t" r="r" b="b"/>
              <a:pathLst>
                <a:path w="570229" h="407035">
                  <a:moveTo>
                    <a:pt x="284988" y="108203"/>
                  </a:moveTo>
                  <a:lnTo>
                    <a:pt x="382524" y="0"/>
                  </a:lnTo>
                  <a:lnTo>
                    <a:pt x="373380" y="99059"/>
                  </a:lnTo>
                  <a:lnTo>
                    <a:pt x="484631" y="83819"/>
                  </a:lnTo>
                  <a:lnTo>
                    <a:pt x="440436" y="137159"/>
                  </a:lnTo>
                  <a:lnTo>
                    <a:pt x="556260" y="152399"/>
                  </a:lnTo>
                  <a:lnTo>
                    <a:pt x="463295" y="196595"/>
                  </a:lnTo>
                  <a:lnTo>
                    <a:pt x="569976" y="249935"/>
                  </a:lnTo>
                  <a:lnTo>
                    <a:pt x="443483" y="243839"/>
                  </a:lnTo>
                  <a:lnTo>
                    <a:pt x="478536" y="339851"/>
                  </a:lnTo>
                  <a:lnTo>
                    <a:pt x="368808" y="271272"/>
                  </a:lnTo>
                  <a:lnTo>
                    <a:pt x="348996" y="371855"/>
                  </a:lnTo>
                  <a:lnTo>
                    <a:pt x="277368" y="280415"/>
                  </a:lnTo>
                  <a:lnTo>
                    <a:pt x="222504" y="406908"/>
                  </a:lnTo>
                  <a:lnTo>
                    <a:pt x="202692" y="294131"/>
                  </a:lnTo>
                  <a:lnTo>
                    <a:pt x="124968" y="332231"/>
                  </a:lnTo>
                  <a:lnTo>
                    <a:pt x="149352" y="262127"/>
                  </a:lnTo>
                  <a:lnTo>
                    <a:pt x="3048" y="274320"/>
                  </a:lnTo>
                  <a:lnTo>
                    <a:pt x="97536" y="220979"/>
                  </a:lnTo>
                  <a:lnTo>
                    <a:pt x="0" y="161543"/>
                  </a:lnTo>
                  <a:lnTo>
                    <a:pt x="121919" y="143255"/>
                  </a:lnTo>
                  <a:lnTo>
                    <a:pt x="9144" y="42671"/>
                  </a:lnTo>
                  <a:lnTo>
                    <a:pt x="192024" y="118871"/>
                  </a:lnTo>
                  <a:lnTo>
                    <a:pt x="219456" y="42671"/>
                  </a:lnTo>
                  <a:lnTo>
                    <a:pt x="284988" y="108203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7">
              <a:extLst>
                <a:ext uri="{FF2B5EF4-FFF2-40B4-BE49-F238E27FC236}">
                  <a16:creationId xmlns:a16="http://schemas.microsoft.com/office/drawing/2014/main" id="{9818126E-A77E-E763-AA76-7A967F0A342E}"/>
                </a:ext>
              </a:extLst>
            </p:cNvPr>
            <p:cNvSpPr/>
            <p:nvPr/>
          </p:nvSpPr>
          <p:spPr>
            <a:xfrm>
              <a:off x="8011667" y="3803904"/>
              <a:ext cx="570230" cy="407034"/>
            </a:xfrm>
            <a:custGeom>
              <a:avLst/>
              <a:gdLst/>
              <a:ahLst/>
              <a:cxnLst/>
              <a:rect l="l" t="t" r="r" b="b"/>
              <a:pathLst>
                <a:path w="570229" h="407035">
                  <a:moveTo>
                    <a:pt x="222504" y="406908"/>
                  </a:moveTo>
                  <a:lnTo>
                    <a:pt x="202692" y="294132"/>
                  </a:lnTo>
                  <a:lnTo>
                    <a:pt x="124968" y="332232"/>
                  </a:lnTo>
                  <a:lnTo>
                    <a:pt x="149352" y="262127"/>
                  </a:lnTo>
                  <a:lnTo>
                    <a:pt x="3048" y="274320"/>
                  </a:lnTo>
                  <a:lnTo>
                    <a:pt x="97536" y="222503"/>
                  </a:lnTo>
                  <a:lnTo>
                    <a:pt x="0" y="163067"/>
                  </a:lnTo>
                  <a:lnTo>
                    <a:pt x="121919" y="143255"/>
                  </a:lnTo>
                  <a:lnTo>
                    <a:pt x="9144" y="42671"/>
                  </a:lnTo>
                  <a:lnTo>
                    <a:pt x="192024" y="118871"/>
                  </a:lnTo>
                  <a:lnTo>
                    <a:pt x="219456" y="42671"/>
                  </a:lnTo>
                  <a:lnTo>
                    <a:pt x="284988" y="109727"/>
                  </a:lnTo>
                  <a:lnTo>
                    <a:pt x="382524" y="0"/>
                  </a:lnTo>
                  <a:lnTo>
                    <a:pt x="373380" y="100583"/>
                  </a:lnTo>
                  <a:lnTo>
                    <a:pt x="484631" y="83819"/>
                  </a:lnTo>
                  <a:lnTo>
                    <a:pt x="440436" y="138683"/>
                  </a:lnTo>
                  <a:lnTo>
                    <a:pt x="556260" y="153923"/>
                  </a:lnTo>
                  <a:lnTo>
                    <a:pt x="463295" y="198119"/>
                  </a:lnTo>
                  <a:lnTo>
                    <a:pt x="569976" y="249935"/>
                  </a:lnTo>
                  <a:lnTo>
                    <a:pt x="443483" y="243839"/>
                  </a:lnTo>
                  <a:lnTo>
                    <a:pt x="478536" y="341375"/>
                  </a:lnTo>
                  <a:lnTo>
                    <a:pt x="368808" y="272796"/>
                  </a:lnTo>
                  <a:lnTo>
                    <a:pt x="348996" y="371855"/>
                  </a:lnTo>
                  <a:lnTo>
                    <a:pt x="277368" y="281939"/>
                  </a:lnTo>
                  <a:lnTo>
                    <a:pt x="222504" y="40690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6C57A565-A451-A74E-EA91-8FB22E4667B1}"/>
                </a:ext>
              </a:extLst>
            </p:cNvPr>
            <p:cNvSpPr/>
            <p:nvPr/>
          </p:nvSpPr>
          <p:spPr>
            <a:xfrm>
              <a:off x="8011667" y="3803904"/>
              <a:ext cx="570230" cy="407034"/>
            </a:xfrm>
            <a:custGeom>
              <a:avLst/>
              <a:gdLst/>
              <a:ahLst/>
              <a:cxnLst/>
              <a:rect l="l" t="t" r="r" b="b"/>
              <a:pathLst>
                <a:path w="570229" h="407035">
                  <a:moveTo>
                    <a:pt x="284988" y="109727"/>
                  </a:moveTo>
                  <a:lnTo>
                    <a:pt x="382524" y="0"/>
                  </a:lnTo>
                  <a:lnTo>
                    <a:pt x="373380" y="100583"/>
                  </a:lnTo>
                  <a:lnTo>
                    <a:pt x="484631" y="83819"/>
                  </a:lnTo>
                  <a:lnTo>
                    <a:pt x="440436" y="138683"/>
                  </a:lnTo>
                  <a:lnTo>
                    <a:pt x="556260" y="153923"/>
                  </a:lnTo>
                  <a:lnTo>
                    <a:pt x="463295" y="198119"/>
                  </a:lnTo>
                  <a:lnTo>
                    <a:pt x="569976" y="249935"/>
                  </a:lnTo>
                  <a:lnTo>
                    <a:pt x="443483" y="243839"/>
                  </a:lnTo>
                  <a:lnTo>
                    <a:pt x="478536" y="341375"/>
                  </a:lnTo>
                  <a:lnTo>
                    <a:pt x="368808" y="272796"/>
                  </a:lnTo>
                  <a:lnTo>
                    <a:pt x="348996" y="371855"/>
                  </a:lnTo>
                  <a:lnTo>
                    <a:pt x="277368" y="281939"/>
                  </a:lnTo>
                  <a:lnTo>
                    <a:pt x="222504" y="406908"/>
                  </a:lnTo>
                  <a:lnTo>
                    <a:pt x="202692" y="294132"/>
                  </a:lnTo>
                  <a:lnTo>
                    <a:pt x="124968" y="332232"/>
                  </a:lnTo>
                  <a:lnTo>
                    <a:pt x="149352" y="262127"/>
                  </a:lnTo>
                  <a:lnTo>
                    <a:pt x="3048" y="274320"/>
                  </a:lnTo>
                  <a:lnTo>
                    <a:pt x="97536" y="222503"/>
                  </a:lnTo>
                  <a:lnTo>
                    <a:pt x="0" y="163067"/>
                  </a:lnTo>
                  <a:lnTo>
                    <a:pt x="121919" y="143255"/>
                  </a:lnTo>
                  <a:lnTo>
                    <a:pt x="9144" y="42671"/>
                  </a:lnTo>
                  <a:lnTo>
                    <a:pt x="192024" y="118871"/>
                  </a:lnTo>
                  <a:lnTo>
                    <a:pt x="219456" y="42671"/>
                  </a:lnTo>
                  <a:lnTo>
                    <a:pt x="284988" y="109727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AC85CB8E-E48F-37AA-D01B-F2BEE1447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816" y="4304928"/>
            <a:ext cx="4176464" cy="369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57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55CD508-4B93-4E44-4D81-F13839A85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8CDD39B-391B-F71D-6A62-89427098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구축 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4E3862-D7A8-DA06-55CA-5C707AB33A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73561B6-6C18-C35A-4195-323F09E54B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DB</a:t>
            </a:r>
            <a:r>
              <a:rPr lang="ko-KR" altLang="en-US" dirty="0"/>
              <a:t> 디자이너의 역할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현실세계를 표현하기 위해 데이터 모델링을 거쳐 </a:t>
            </a:r>
            <a:r>
              <a:rPr lang="en-US" altLang="ko-KR" dirty="0"/>
              <a:t>DB</a:t>
            </a:r>
            <a:r>
              <a:rPr lang="ko-KR" altLang="en-US" dirty="0"/>
              <a:t>로 구현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-&gt; 3</a:t>
            </a:r>
            <a:r>
              <a:rPr lang="ko-KR" altLang="en-US" dirty="0"/>
              <a:t>단계 아키텍처를 통해 </a:t>
            </a:r>
            <a:endParaRPr lang="en-US" altLang="ko-KR" dirty="0"/>
          </a:p>
          <a:p>
            <a:pPr lvl="2"/>
            <a:r>
              <a:rPr lang="en-US" altLang="ko-KR" dirty="0"/>
              <a:t>Conceptual data model (ERDM) : </a:t>
            </a:r>
            <a:r>
              <a:rPr lang="ko-KR" altLang="en-US" dirty="0"/>
              <a:t>사람의 인식과 비슷하게</a:t>
            </a:r>
            <a:endParaRPr lang="en-US" altLang="ko-KR" dirty="0"/>
          </a:p>
          <a:p>
            <a:pPr lvl="2"/>
            <a:r>
              <a:rPr lang="en-US" altLang="ko-KR" dirty="0"/>
              <a:t>Representation data model : </a:t>
            </a:r>
            <a:r>
              <a:rPr lang="ko-KR" altLang="en-US" dirty="0"/>
              <a:t>사람이 이해</a:t>
            </a:r>
            <a:r>
              <a:rPr lang="en-US" altLang="ko-KR" dirty="0"/>
              <a:t>O,</a:t>
            </a:r>
            <a:r>
              <a:rPr lang="ko-KR" altLang="en-US" dirty="0"/>
              <a:t> 컴퓨터의 방식과 떨어져 있지 않음 </a:t>
            </a:r>
            <a:endParaRPr lang="en-US" altLang="ko-KR" dirty="0"/>
          </a:p>
          <a:p>
            <a:pPr lvl="2"/>
            <a:r>
              <a:rPr lang="en-US" altLang="ko-KR" dirty="0"/>
              <a:t>Physical data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</a:p>
          <a:p>
            <a:r>
              <a:rPr lang="ko-KR" altLang="en-US" dirty="0"/>
              <a:t>데이터베이스 설계 </a:t>
            </a:r>
            <a:r>
              <a:rPr lang="en-US" altLang="ko-KR" dirty="0"/>
              <a:t>= </a:t>
            </a:r>
            <a:r>
              <a:rPr lang="ko-KR" altLang="en-US" dirty="0"/>
              <a:t>개념적 </a:t>
            </a:r>
            <a:r>
              <a:rPr lang="en-US" altLang="ko-KR" dirty="0"/>
              <a:t>DB </a:t>
            </a:r>
            <a:r>
              <a:rPr lang="ko-KR" altLang="en-US" dirty="0"/>
              <a:t>설계 </a:t>
            </a:r>
            <a:r>
              <a:rPr lang="en-US" altLang="ko-KR" dirty="0"/>
              <a:t>+ </a:t>
            </a:r>
            <a:r>
              <a:rPr lang="ko-KR" altLang="en-US" dirty="0"/>
              <a:t>물리적</a:t>
            </a:r>
            <a:r>
              <a:rPr lang="en-US" altLang="ko-KR" dirty="0"/>
              <a:t> DB </a:t>
            </a:r>
            <a:r>
              <a:rPr lang="ko-KR" altLang="en-US" dirty="0"/>
              <a:t>설계</a:t>
            </a:r>
            <a:endParaRPr lang="en-US" altLang="ko-KR" dirty="0"/>
          </a:p>
          <a:p>
            <a:pPr lvl="1"/>
            <a:r>
              <a:rPr lang="ko-KR" altLang="en-US" dirty="0"/>
              <a:t>개념적 데이터베이스 설계</a:t>
            </a:r>
            <a:r>
              <a:rPr lang="en-US" altLang="ko-KR" dirty="0"/>
              <a:t>: </a:t>
            </a:r>
            <a:r>
              <a:rPr lang="ko-KR" altLang="en-US" dirty="0"/>
              <a:t>실제 </a:t>
            </a:r>
            <a:r>
              <a:rPr lang="en-US" altLang="ko-KR" dirty="0"/>
              <a:t>DB</a:t>
            </a:r>
            <a:r>
              <a:rPr lang="ko-KR" altLang="en-US" dirty="0"/>
              <a:t>를 어떻게 </a:t>
            </a:r>
            <a:r>
              <a:rPr lang="ko-KR" altLang="en-US" dirty="0" err="1"/>
              <a:t>구현할건가</a:t>
            </a:r>
            <a:r>
              <a:rPr lang="en-US" altLang="ko-KR" dirty="0"/>
              <a:t>? </a:t>
            </a:r>
            <a:r>
              <a:rPr lang="ko-KR" altLang="en-US" dirty="0"/>
              <a:t>와는 별개로 모델을 개발</a:t>
            </a:r>
            <a:endParaRPr lang="en-US" altLang="ko-KR" dirty="0"/>
          </a:p>
          <a:p>
            <a:pPr lvl="2"/>
            <a:r>
              <a:rPr lang="en-US" altLang="ko-KR" dirty="0"/>
              <a:t>DB </a:t>
            </a:r>
            <a:r>
              <a:rPr lang="ko-KR" altLang="en-US" dirty="0"/>
              <a:t>설계 과정에서 엔티티</a:t>
            </a:r>
            <a:r>
              <a:rPr lang="en-US" altLang="ko-KR" dirty="0"/>
              <a:t>, </a:t>
            </a:r>
            <a:r>
              <a:rPr lang="ko-KR" altLang="en-US" dirty="0"/>
              <a:t>관계</a:t>
            </a:r>
            <a:r>
              <a:rPr lang="en-US" altLang="ko-KR" dirty="0"/>
              <a:t>, </a:t>
            </a:r>
            <a:r>
              <a:rPr lang="ko-KR" altLang="en-US" dirty="0"/>
              <a:t>프로세스</a:t>
            </a:r>
            <a:r>
              <a:rPr lang="en-US" altLang="ko-KR" dirty="0"/>
              <a:t>, </a:t>
            </a:r>
            <a:r>
              <a:rPr lang="ko-KR" altLang="en-US" dirty="0"/>
              <a:t>무결성 제약조건을 나타내는 추상화 모델 구축</a:t>
            </a:r>
            <a:endParaRPr lang="en-US" altLang="ko-KR" dirty="0"/>
          </a:p>
          <a:p>
            <a:pPr lvl="1"/>
            <a:r>
              <a:rPr lang="ko-KR" altLang="en-US" dirty="0"/>
              <a:t>데이터베이스 설계 개요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목적 </a:t>
            </a:r>
            <a:r>
              <a:rPr lang="en-US" altLang="ko-KR" dirty="0"/>
              <a:t>= </a:t>
            </a:r>
            <a:r>
              <a:rPr lang="ko-KR" altLang="en-US" dirty="0"/>
              <a:t>주요 응용</a:t>
            </a:r>
            <a:r>
              <a:rPr lang="en-US" altLang="ko-KR" dirty="0"/>
              <a:t>, </a:t>
            </a:r>
            <a:r>
              <a:rPr lang="ko-KR" altLang="en-US" dirty="0"/>
              <a:t>사용자가 요구하는</a:t>
            </a:r>
            <a:r>
              <a:rPr lang="en-US" altLang="ko-KR" dirty="0"/>
              <a:t> </a:t>
            </a:r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데이터간 관계를 표현</a:t>
            </a:r>
            <a:endParaRPr lang="en-US" altLang="ko-KR" dirty="0"/>
          </a:p>
          <a:p>
            <a:pPr lvl="2"/>
            <a:r>
              <a:rPr lang="ko-KR" altLang="en-US" dirty="0"/>
              <a:t>시간에 흐름에 따른 데이터의 모든 측면을 표시</a:t>
            </a:r>
            <a:endParaRPr lang="en-US" altLang="ko-KR" dirty="0"/>
          </a:p>
          <a:p>
            <a:pPr lvl="2"/>
            <a:r>
              <a:rPr lang="ko-KR" altLang="en-US" dirty="0"/>
              <a:t>데이터 항목의 중복 최소화</a:t>
            </a:r>
            <a:endParaRPr lang="en-US" altLang="ko-KR" dirty="0"/>
          </a:p>
          <a:p>
            <a:pPr lvl="2"/>
            <a:r>
              <a:rPr lang="ko-KR" altLang="en-US" dirty="0"/>
              <a:t>데이터의 효율적 접근</a:t>
            </a:r>
            <a:endParaRPr lang="en-US" altLang="ko-KR" dirty="0"/>
          </a:p>
          <a:p>
            <a:pPr lvl="2"/>
            <a:r>
              <a:rPr lang="ko-KR" altLang="en-US" dirty="0"/>
              <a:t>무결성 제공 및 이해하기 쉬워야 함</a:t>
            </a:r>
            <a:endParaRPr lang="en-US" altLang="ko-KR" dirty="0"/>
          </a:p>
          <a:p>
            <a:pPr lvl="1"/>
            <a:r>
              <a:rPr lang="en-US" altLang="ko-KR" dirty="0"/>
              <a:t>DB</a:t>
            </a:r>
            <a:r>
              <a:rPr lang="ko-KR" altLang="en-US" dirty="0"/>
              <a:t>설계의 주요 단계</a:t>
            </a:r>
            <a:endParaRPr lang="en-US" altLang="ko-KR" dirty="0"/>
          </a:p>
          <a:p>
            <a:pPr lvl="2"/>
            <a:r>
              <a:rPr lang="ko-KR" altLang="en-US" dirty="0"/>
              <a:t>요구사항 분석 </a:t>
            </a:r>
            <a:r>
              <a:rPr lang="en-US" altLang="ko-KR" dirty="0"/>
              <a:t>: </a:t>
            </a:r>
            <a:r>
              <a:rPr lang="ko-KR" altLang="en-US" dirty="0"/>
              <a:t>엔티티와 </a:t>
            </a:r>
            <a:r>
              <a:rPr lang="ko-KR" altLang="en-US" dirty="0" err="1"/>
              <a:t>애트리뷰트가</a:t>
            </a:r>
            <a:r>
              <a:rPr lang="ko-KR" altLang="en-US" dirty="0"/>
              <a:t> 무엇인가</a:t>
            </a:r>
            <a:r>
              <a:rPr lang="en-US" altLang="ko-KR" dirty="0"/>
              <a:t>? </a:t>
            </a:r>
            <a:r>
              <a:rPr lang="ko-KR" altLang="en-US" dirty="0"/>
              <a:t>엔티티간 관계는</a:t>
            </a:r>
            <a:r>
              <a:rPr lang="en-US" altLang="ko-KR" dirty="0"/>
              <a:t>? </a:t>
            </a:r>
            <a:r>
              <a:rPr lang="ko-KR" altLang="en-US" dirty="0"/>
              <a:t>연산에는 </a:t>
            </a:r>
            <a:r>
              <a:rPr lang="ko-KR" altLang="en-US" dirty="0" err="1"/>
              <a:t>어떤게</a:t>
            </a:r>
            <a:r>
              <a:rPr lang="ko-KR" altLang="en-US" dirty="0"/>
              <a:t> 있나</a:t>
            </a:r>
            <a:r>
              <a:rPr lang="en-US" altLang="ko-KR" dirty="0"/>
              <a:t>? </a:t>
            </a:r>
            <a:r>
              <a:rPr lang="ko-KR" altLang="en-US" dirty="0"/>
              <a:t>연산의 의미는 무엇인가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개념적 설계 </a:t>
            </a:r>
            <a:r>
              <a:rPr lang="en-US" altLang="ko-KR" dirty="0"/>
              <a:t>: </a:t>
            </a:r>
            <a:r>
              <a:rPr lang="ko-KR" altLang="en-US" dirty="0"/>
              <a:t>다이어그램을 통해 데이터 구조 명시</a:t>
            </a:r>
            <a:endParaRPr lang="en-US" altLang="ko-KR" dirty="0"/>
          </a:p>
          <a:p>
            <a:pPr lvl="2"/>
            <a:r>
              <a:rPr lang="en-US" altLang="ko-KR" dirty="0"/>
              <a:t>DBMS </a:t>
            </a:r>
            <a:r>
              <a:rPr lang="ko-KR" altLang="en-US" dirty="0"/>
              <a:t>선정</a:t>
            </a:r>
            <a:r>
              <a:rPr lang="en-US" altLang="ko-KR" dirty="0"/>
              <a:t>: </a:t>
            </a:r>
            <a:r>
              <a:rPr lang="ko-KR" altLang="en-US" dirty="0"/>
              <a:t>기술적</a:t>
            </a:r>
            <a:r>
              <a:rPr lang="en-US" altLang="ko-KR" dirty="0"/>
              <a:t>, </a:t>
            </a:r>
            <a:r>
              <a:rPr lang="ko-KR" altLang="en-US" dirty="0"/>
              <a:t>경제적 요인에 따라 </a:t>
            </a:r>
            <a:r>
              <a:rPr lang="en-US" altLang="ko-KR" dirty="0"/>
              <a:t>DB </a:t>
            </a:r>
            <a:r>
              <a:rPr lang="ko-KR" altLang="en-US" dirty="0"/>
              <a:t>선정</a:t>
            </a:r>
            <a:endParaRPr lang="en-US" altLang="ko-KR" dirty="0"/>
          </a:p>
          <a:p>
            <a:pPr lvl="2"/>
            <a:r>
              <a:rPr lang="ko-KR" altLang="en-US" dirty="0"/>
              <a:t>논리적 설계</a:t>
            </a:r>
            <a:r>
              <a:rPr lang="en-US" altLang="ko-KR" dirty="0"/>
              <a:t>: </a:t>
            </a:r>
            <a:r>
              <a:rPr lang="ko-KR" altLang="en-US" dirty="0"/>
              <a:t>논리적 스키마를 생성</a:t>
            </a:r>
            <a:r>
              <a:rPr lang="en-US" altLang="ko-KR" dirty="0"/>
              <a:t>, </a:t>
            </a:r>
            <a:r>
              <a:rPr lang="ko-KR" altLang="en-US" dirty="0"/>
              <a:t>관계 </a:t>
            </a:r>
            <a:r>
              <a:rPr lang="en-US" altLang="ko-KR" dirty="0"/>
              <a:t>DB </a:t>
            </a:r>
            <a:r>
              <a:rPr lang="ko-KR" altLang="en-US" dirty="0"/>
              <a:t>스키마를 변환하기 위해 정규화 수행</a:t>
            </a:r>
            <a:endParaRPr lang="en-US" altLang="ko-KR" dirty="0"/>
          </a:p>
          <a:p>
            <a:pPr lvl="2"/>
            <a:r>
              <a:rPr lang="ko-KR" altLang="en-US" dirty="0"/>
              <a:t>물리적 설계</a:t>
            </a:r>
            <a:r>
              <a:rPr lang="en-US" altLang="ko-KR" dirty="0"/>
              <a:t>: </a:t>
            </a:r>
            <a:r>
              <a:rPr lang="ko-KR" altLang="en-US" dirty="0"/>
              <a:t>요구사항 만족을 위해 저장구조</a:t>
            </a:r>
            <a:r>
              <a:rPr lang="en-US" altLang="ko-KR" dirty="0"/>
              <a:t>, </a:t>
            </a:r>
            <a:r>
              <a:rPr lang="ko-KR" altLang="en-US"/>
              <a:t>접근경로를 결정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950362D-7D77-6631-C8B5-F4E405E600B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456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33F8728-D766-6F71-C538-AB8A4B33C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22D16F-1715-5F7D-E6C0-ACB97711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F6BB62-BD3B-071D-3B8A-191F236AC5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674AE13-E27B-D225-F2E7-DEBE883247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엔티티 타입</a:t>
            </a:r>
            <a:r>
              <a:rPr lang="en-US" altLang="ko-KR" dirty="0"/>
              <a:t>(</a:t>
            </a:r>
            <a:r>
              <a:rPr lang="ko-KR" altLang="en-US" dirty="0"/>
              <a:t>집합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동일한 </a:t>
            </a:r>
            <a:r>
              <a:rPr lang="ko-KR" altLang="en-US" dirty="0" err="1"/>
              <a:t>애트리뷰트를</a:t>
            </a:r>
            <a:r>
              <a:rPr lang="ko-KR" altLang="en-US" dirty="0"/>
              <a:t> 가진 엔티티의 틀</a:t>
            </a:r>
            <a:r>
              <a:rPr lang="en-US" altLang="ko-KR" dirty="0"/>
              <a:t>(</a:t>
            </a:r>
            <a:r>
              <a:rPr lang="ko-KR" altLang="en-US" dirty="0"/>
              <a:t>모임</a:t>
            </a:r>
            <a:r>
              <a:rPr lang="en-US" altLang="ko-KR" dirty="0"/>
              <a:t>) ; </a:t>
            </a:r>
            <a:r>
              <a:rPr lang="ko-KR" altLang="en-US" dirty="0"/>
              <a:t>직사각형으로 표기</a:t>
            </a:r>
            <a:endParaRPr lang="en-US" altLang="ko-KR" dirty="0"/>
          </a:p>
          <a:p>
            <a:pPr lvl="2"/>
            <a:r>
              <a:rPr lang="ko-KR" altLang="en-US" dirty="0" err="1"/>
              <a:t>엔티티타입</a:t>
            </a:r>
            <a:r>
              <a:rPr lang="en-US" altLang="ko-KR" dirty="0"/>
              <a:t>: </a:t>
            </a:r>
            <a:r>
              <a:rPr lang="ko-KR" altLang="en-US" dirty="0"/>
              <a:t>독자적으로 존재</a:t>
            </a:r>
            <a:r>
              <a:rPr lang="en-US" altLang="ko-KR" dirty="0"/>
              <a:t>, </a:t>
            </a:r>
            <a:r>
              <a:rPr lang="ko-KR" altLang="en-US" dirty="0"/>
              <a:t>키 </a:t>
            </a:r>
            <a:r>
              <a:rPr lang="ko-KR" altLang="en-US" dirty="0" err="1"/>
              <a:t>애트리뷰트를</a:t>
            </a:r>
            <a:r>
              <a:rPr lang="ko-KR" altLang="en-US" dirty="0"/>
              <a:t> 사용해 엔티티를 식별</a:t>
            </a:r>
            <a:endParaRPr lang="en-US" altLang="ko-KR" dirty="0"/>
          </a:p>
          <a:p>
            <a:pPr lvl="2"/>
            <a:r>
              <a:rPr lang="ko-KR" altLang="en-US" dirty="0"/>
              <a:t>약한 </a:t>
            </a:r>
            <a:r>
              <a:rPr lang="ko-KR" altLang="en-US" dirty="0" err="1"/>
              <a:t>엔티티타입</a:t>
            </a:r>
            <a:r>
              <a:rPr lang="en-US" altLang="ko-KR" dirty="0"/>
              <a:t>: </a:t>
            </a:r>
            <a:r>
              <a:rPr lang="ko-KR" altLang="en-US" dirty="0"/>
              <a:t>키를 형성하는 </a:t>
            </a:r>
            <a:r>
              <a:rPr lang="ko-KR" altLang="en-US" dirty="0" err="1"/>
              <a:t>애트리뷰트를</a:t>
            </a:r>
            <a:r>
              <a:rPr lang="ko-KR" altLang="en-US" dirty="0"/>
              <a:t> 갖지 못한 </a:t>
            </a:r>
            <a:r>
              <a:rPr lang="ko-KR" altLang="en-US" dirty="0" err="1"/>
              <a:t>엔티티타입</a:t>
            </a:r>
            <a:endParaRPr lang="en-US" altLang="ko-KR" dirty="0"/>
          </a:p>
          <a:p>
            <a:pPr lvl="3"/>
            <a:r>
              <a:rPr lang="ko-KR" altLang="en-US" dirty="0"/>
              <a:t>다른 엔티티에 의존적임</a:t>
            </a:r>
            <a:r>
              <a:rPr lang="en-US" altLang="ko-KR" dirty="0"/>
              <a:t>. </a:t>
            </a:r>
            <a:r>
              <a:rPr lang="ko-KR" altLang="en-US" dirty="0"/>
              <a:t>엔티티 타입은 약한 </a:t>
            </a:r>
            <a:r>
              <a:rPr lang="ko-KR" altLang="en-US" dirty="0" err="1"/>
              <a:t>엔티티타입을</a:t>
            </a:r>
            <a:r>
              <a:rPr lang="ko-KR" altLang="en-US" dirty="0"/>
              <a:t> 소유할 수 있음</a:t>
            </a:r>
            <a:endParaRPr lang="en-US" altLang="ko-KR" dirty="0"/>
          </a:p>
          <a:p>
            <a:pPr lvl="3"/>
            <a:r>
              <a:rPr lang="ko-KR" altLang="en-US" dirty="0" err="1"/>
              <a:t>부분키</a:t>
            </a:r>
            <a:r>
              <a:rPr lang="en-US" altLang="ko-KR" dirty="0"/>
              <a:t>: </a:t>
            </a:r>
            <a:r>
              <a:rPr lang="ko-KR" altLang="en-US" dirty="0"/>
              <a:t>전체적으론 고유하지 않지만 엔티티의 기본키와 사용시 고유성 보장</a:t>
            </a:r>
            <a:br>
              <a:rPr lang="en-US" altLang="ko-KR" dirty="0"/>
            </a:br>
            <a:r>
              <a:rPr lang="en-US" altLang="ko-KR" dirty="0"/>
              <a:t>ex) </a:t>
            </a:r>
            <a:r>
              <a:rPr lang="ko-KR" altLang="en-US" dirty="0"/>
              <a:t>아파트</a:t>
            </a:r>
            <a:r>
              <a:rPr lang="en-US" altLang="ko-KR" dirty="0"/>
              <a:t>(</a:t>
            </a:r>
            <a:r>
              <a:rPr lang="ko-KR" altLang="en-US" dirty="0"/>
              <a:t>강 엔티티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거주자</a:t>
            </a:r>
            <a:r>
              <a:rPr lang="en-US" altLang="ko-KR" dirty="0"/>
              <a:t>(</a:t>
            </a:r>
            <a:r>
              <a:rPr lang="ko-KR" altLang="en-US" dirty="0"/>
              <a:t>약 엔티티</a:t>
            </a:r>
            <a:r>
              <a:rPr lang="en-US" altLang="ko-KR" dirty="0"/>
              <a:t>) – </a:t>
            </a:r>
            <a:r>
              <a:rPr lang="ko-KR" altLang="en-US" dirty="0"/>
              <a:t>거주자이름</a:t>
            </a:r>
            <a:r>
              <a:rPr lang="en-US" altLang="ko-KR" dirty="0"/>
              <a:t>(</a:t>
            </a:r>
            <a:r>
              <a:rPr lang="ko-KR" altLang="en-US" dirty="0" err="1"/>
              <a:t>부분키</a:t>
            </a:r>
            <a:r>
              <a:rPr lang="en-US" altLang="ko-KR" dirty="0"/>
              <a:t>), </a:t>
            </a:r>
            <a:r>
              <a:rPr lang="ko-KR" altLang="en-US" dirty="0"/>
              <a:t>거주 날짜</a:t>
            </a:r>
            <a:br>
              <a:rPr lang="en-US" altLang="ko-KR" dirty="0"/>
            </a:br>
            <a:r>
              <a:rPr lang="ko-KR" altLang="en-US" dirty="0"/>
              <a:t>동명이인이 있을 수 있으므로 고유성 </a:t>
            </a:r>
            <a:r>
              <a:rPr lang="en-US" altLang="ko-KR" dirty="0"/>
              <a:t>X, 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아파트 호수 번호와 같이 사용시 고유</a:t>
            </a:r>
            <a:r>
              <a:rPr lang="en-US" altLang="ko-KR" dirty="0"/>
              <a:t>O</a:t>
            </a:r>
          </a:p>
          <a:p>
            <a:pPr lvl="3"/>
            <a:r>
              <a:rPr lang="ko-KR" altLang="en-US" dirty="0"/>
              <a:t>이중 직사각형으로 표기</a:t>
            </a:r>
            <a:endParaRPr lang="en-US" altLang="ko-KR" dirty="0"/>
          </a:p>
          <a:p>
            <a:r>
              <a:rPr lang="ko-KR" altLang="en-US" dirty="0" err="1"/>
              <a:t>애트리뷰트</a:t>
            </a:r>
            <a:endParaRPr lang="en-US" altLang="ko-KR" dirty="0"/>
          </a:p>
          <a:p>
            <a:pPr lvl="1"/>
            <a:r>
              <a:rPr lang="ko-KR" altLang="en-US" dirty="0"/>
              <a:t>엔티티는 </a:t>
            </a:r>
            <a:r>
              <a:rPr lang="ko-KR" altLang="en-US" dirty="0" err="1"/>
              <a:t>애트리뷰트의</a:t>
            </a:r>
            <a:r>
              <a:rPr lang="ko-KR" altLang="en-US" dirty="0"/>
              <a:t> 집합</a:t>
            </a:r>
            <a:r>
              <a:rPr lang="en-US" altLang="ko-KR" dirty="0"/>
              <a:t>, </a:t>
            </a:r>
            <a:r>
              <a:rPr lang="ko-KR" altLang="en-US" dirty="0"/>
              <a:t>엔티티가 갖는 속성</a:t>
            </a:r>
            <a:r>
              <a:rPr lang="en-US" altLang="ko-KR" dirty="0"/>
              <a:t>. </a:t>
            </a:r>
            <a:r>
              <a:rPr lang="ko-KR" altLang="en-US" dirty="0"/>
              <a:t>타원으로 표시</a:t>
            </a:r>
            <a:endParaRPr lang="en-US" altLang="ko-KR" dirty="0"/>
          </a:p>
          <a:p>
            <a:pPr lvl="1"/>
            <a:r>
              <a:rPr lang="ko-KR" altLang="en-US" dirty="0"/>
              <a:t>키 </a:t>
            </a:r>
            <a:r>
              <a:rPr lang="ko-KR" altLang="en-US" dirty="0" err="1"/>
              <a:t>애트리뷰트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엔티티 타입 내에서 엔티티를 고유하게 식별</a:t>
            </a:r>
            <a:r>
              <a:rPr lang="en-US" altLang="ko-KR" dirty="0"/>
              <a:t>, </a:t>
            </a:r>
            <a:r>
              <a:rPr lang="ko-KR" altLang="en-US" dirty="0"/>
              <a:t>밑줄로 식별 </a:t>
            </a:r>
            <a:r>
              <a:rPr lang="en-US" altLang="ko-KR" dirty="0"/>
              <a:t>ex) </a:t>
            </a:r>
            <a:r>
              <a:rPr lang="ko-KR" altLang="en-US" dirty="0"/>
              <a:t>학번</a:t>
            </a:r>
            <a:endParaRPr lang="en-US" altLang="ko-KR" dirty="0"/>
          </a:p>
          <a:p>
            <a:pPr lvl="1"/>
            <a:r>
              <a:rPr lang="ko-KR" altLang="en-US" dirty="0"/>
              <a:t>복합 </a:t>
            </a:r>
            <a:r>
              <a:rPr lang="ko-KR" altLang="en-US" dirty="0" err="1"/>
              <a:t>에트리뷰트</a:t>
            </a:r>
            <a:r>
              <a:rPr lang="en-US" altLang="ko-KR" dirty="0"/>
              <a:t>: 2</a:t>
            </a:r>
            <a:r>
              <a:rPr lang="ko-KR" altLang="en-US" dirty="0"/>
              <a:t>개 이상으로 이루어진 </a:t>
            </a:r>
            <a:r>
              <a:rPr lang="ko-KR" altLang="en-US" dirty="0" err="1"/>
              <a:t>애트리뷰트</a:t>
            </a:r>
            <a:r>
              <a:rPr lang="ko-KR" altLang="en-US" dirty="0"/>
              <a:t> </a:t>
            </a:r>
            <a:r>
              <a:rPr lang="en-US" altLang="ko-KR" dirty="0"/>
              <a:t>ex) </a:t>
            </a:r>
            <a:r>
              <a:rPr lang="ko-KR" altLang="en-US" dirty="0"/>
              <a:t>주소</a:t>
            </a:r>
            <a:r>
              <a:rPr lang="en-US" altLang="ko-KR" dirty="0"/>
              <a:t>(</a:t>
            </a:r>
            <a:r>
              <a:rPr lang="ko-KR" altLang="en-US" dirty="0"/>
              <a:t>도시</a:t>
            </a:r>
            <a:r>
              <a:rPr lang="en-US" altLang="ko-KR" dirty="0"/>
              <a:t>,</a:t>
            </a:r>
            <a:r>
              <a:rPr lang="ko-KR" altLang="en-US" dirty="0"/>
              <a:t>구</a:t>
            </a:r>
            <a:r>
              <a:rPr lang="en-US" altLang="ko-KR" dirty="0"/>
              <a:t>,</a:t>
            </a:r>
            <a:r>
              <a:rPr lang="ko-KR" altLang="en-US" dirty="0"/>
              <a:t>동</a:t>
            </a:r>
            <a:r>
              <a:rPr lang="en-US" altLang="ko-KR" dirty="0"/>
              <a:t>,</a:t>
            </a:r>
            <a:r>
              <a:rPr lang="ko-KR" altLang="en-US" dirty="0"/>
              <a:t>우편번호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다치 </a:t>
            </a:r>
            <a:r>
              <a:rPr lang="ko-KR" altLang="en-US" dirty="0" err="1"/>
              <a:t>애트리뷰트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엔티티마다 여러 값을 가질 수 있는 </a:t>
            </a:r>
            <a:r>
              <a:rPr lang="ko-KR" altLang="en-US" dirty="0" err="1"/>
              <a:t>애트리뷰트</a:t>
            </a:r>
            <a:r>
              <a:rPr lang="ko-KR" altLang="en-US" dirty="0"/>
              <a:t> </a:t>
            </a:r>
            <a:r>
              <a:rPr lang="en-US" altLang="ko-KR" dirty="0"/>
              <a:t>ex) </a:t>
            </a:r>
            <a:r>
              <a:rPr lang="ko-KR" altLang="en-US" dirty="0"/>
              <a:t>취미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8F709F-0C87-6938-05EA-E3D0F29129B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997AB9-5233-DDE7-F97D-1B01C99B8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840" y="632520"/>
            <a:ext cx="3786109" cy="241382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E2DC3F5-7618-8511-F968-850D685C6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923" y="3056715"/>
            <a:ext cx="3951941" cy="205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9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6B7360C-D643-B06F-A4F9-A502F0B21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8B59455-D5F5-87BA-BA39-0C83F1B2E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1147B8-B9FD-4E72-B602-4E3866F779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61A0D8F-6F13-B843-9330-E6A2739EE0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관계와 관계타입</a:t>
            </a:r>
            <a:endParaRPr lang="en-US" altLang="ko-KR" dirty="0"/>
          </a:p>
          <a:p>
            <a:pPr lvl="1"/>
            <a:r>
              <a:rPr lang="ko-KR" altLang="en-US" dirty="0"/>
              <a:t>관계</a:t>
            </a:r>
            <a:r>
              <a:rPr lang="en-US" altLang="ko-KR" dirty="0"/>
              <a:t>: </a:t>
            </a:r>
            <a:r>
              <a:rPr lang="ko-KR" altLang="en-US" dirty="0" err="1"/>
              <a:t>엔티티간의</a:t>
            </a:r>
            <a:r>
              <a:rPr lang="ko-KR" altLang="en-US" dirty="0"/>
              <a:t> 연관이나 연결</a:t>
            </a:r>
            <a:r>
              <a:rPr lang="en-US" altLang="ko-KR" dirty="0"/>
              <a:t>, </a:t>
            </a:r>
            <a:r>
              <a:rPr lang="ko-KR" altLang="en-US" dirty="0"/>
              <a:t>엔티티 </a:t>
            </a:r>
            <a:r>
              <a:rPr lang="ko-KR" altLang="en-US" dirty="0" err="1"/>
              <a:t>타입간의</a:t>
            </a:r>
            <a:r>
              <a:rPr lang="ko-KR" altLang="en-US" dirty="0"/>
              <a:t> </a:t>
            </a:r>
            <a:r>
              <a:rPr lang="en-US" altLang="ko-KR" dirty="0"/>
              <a:t>mapping</a:t>
            </a:r>
          </a:p>
          <a:p>
            <a:pPr lvl="2"/>
            <a:r>
              <a:rPr lang="ko-KR" altLang="en-US" dirty="0"/>
              <a:t>키 </a:t>
            </a:r>
            <a:r>
              <a:rPr lang="ko-KR" altLang="en-US" dirty="0" err="1"/>
              <a:t>애트리뷰트를</a:t>
            </a:r>
            <a:r>
              <a:rPr lang="ko-KR" altLang="en-US" dirty="0"/>
              <a:t> 가지지 않음</a:t>
            </a:r>
            <a:endParaRPr lang="en-US" altLang="ko-KR" dirty="0"/>
          </a:p>
          <a:p>
            <a:pPr lvl="2"/>
            <a:r>
              <a:rPr lang="ko-KR" altLang="en-US" dirty="0"/>
              <a:t>마름모로 표기</a:t>
            </a:r>
            <a:endParaRPr lang="en-US" altLang="ko-KR" dirty="0"/>
          </a:p>
          <a:p>
            <a:pPr lvl="2"/>
            <a:r>
              <a:rPr lang="ko-KR" altLang="en-US" dirty="0"/>
              <a:t>차수</a:t>
            </a:r>
            <a:r>
              <a:rPr lang="en-US" altLang="ko-KR" dirty="0"/>
              <a:t>: </a:t>
            </a:r>
            <a:r>
              <a:rPr lang="ko-KR" altLang="en-US" dirty="0"/>
              <a:t>관계로 연결된 엔티티 타입의 개수</a:t>
            </a:r>
            <a:endParaRPr lang="en-US" altLang="ko-KR" dirty="0"/>
          </a:p>
          <a:p>
            <a:pPr lvl="2"/>
            <a:r>
              <a:rPr lang="ko-KR" altLang="en-US" dirty="0"/>
              <a:t>전체참여</a:t>
            </a:r>
            <a:r>
              <a:rPr lang="en-US" altLang="ko-KR" dirty="0"/>
              <a:t> : </a:t>
            </a:r>
            <a:r>
              <a:rPr lang="ko-KR" altLang="en-US" dirty="0"/>
              <a:t>모든 엔티티가 참여</a:t>
            </a:r>
            <a:r>
              <a:rPr lang="en-US" altLang="ko-KR" dirty="0"/>
              <a:t>, </a:t>
            </a:r>
            <a:r>
              <a:rPr lang="ko-KR" altLang="en-US" dirty="0" err="1"/>
              <a:t>이중실선</a:t>
            </a:r>
            <a:br>
              <a:rPr lang="en-US" altLang="ko-KR" dirty="0"/>
            </a:br>
            <a:r>
              <a:rPr lang="ko-KR" altLang="en-US" dirty="0"/>
              <a:t>부분참여</a:t>
            </a:r>
            <a:r>
              <a:rPr lang="en-US" altLang="ko-KR" dirty="0"/>
              <a:t> : </a:t>
            </a:r>
            <a:r>
              <a:rPr lang="ko-KR" altLang="en-US" dirty="0"/>
              <a:t>일부 엔티티 참여</a:t>
            </a:r>
            <a:r>
              <a:rPr lang="en-US" altLang="ko-KR" dirty="0"/>
              <a:t>, </a:t>
            </a:r>
            <a:r>
              <a:rPr lang="ko-KR" altLang="en-US" dirty="0"/>
              <a:t>실선</a:t>
            </a:r>
            <a:endParaRPr lang="en-US" altLang="ko-KR" dirty="0"/>
          </a:p>
          <a:p>
            <a:pPr lvl="2"/>
            <a:r>
              <a:rPr lang="ko-KR" altLang="en-US" dirty="0"/>
              <a:t>역할</a:t>
            </a:r>
            <a:r>
              <a:rPr lang="en-US" altLang="ko-KR" dirty="0"/>
              <a:t>(role)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관계타입의 의미를 명확히 하기 위해 사용</a:t>
            </a:r>
            <a:r>
              <a:rPr lang="en-US" altLang="ko-KR" dirty="0"/>
              <a:t>, </a:t>
            </a:r>
            <a:r>
              <a:rPr lang="ko-KR" altLang="en-US" dirty="0"/>
              <a:t>순환적 관계는 반드시 사용</a:t>
            </a:r>
            <a:endParaRPr lang="en-US" altLang="ko-KR" dirty="0"/>
          </a:p>
          <a:p>
            <a:r>
              <a:rPr lang="ko-KR" altLang="en-US" dirty="0" err="1"/>
              <a:t>카디날리티</a:t>
            </a:r>
            <a:r>
              <a:rPr lang="ko-KR" altLang="en-US" dirty="0"/>
              <a:t> 비율</a:t>
            </a:r>
            <a:endParaRPr lang="en-US" altLang="ko-KR" dirty="0"/>
          </a:p>
          <a:p>
            <a:pPr lvl="1"/>
            <a:r>
              <a:rPr lang="ko-KR" altLang="en-US" dirty="0"/>
              <a:t>한 엔티티가 관계 타입을 통해 </a:t>
            </a:r>
            <a:r>
              <a:rPr lang="ko-KR" altLang="en-US" dirty="0" err="1"/>
              <a:t>연관지을</a:t>
            </a:r>
            <a:r>
              <a:rPr lang="ko-KR" altLang="en-US" dirty="0"/>
              <a:t> 수 있는</a:t>
            </a:r>
            <a:br>
              <a:rPr lang="en-US" altLang="ko-KR" dirty="0"/>
            </a:br>
            <a:r>
              <a:rPr lang="ko-KR" altLang="en-US" dirty="0"/>
              <a:t> 상대 </a:t>
            </a:r>
            <a:r>
              <a:rPr lang="ko-KR" altLang="en-US" dirty="0" err="1"/>
              <a:t>엔티티타입의</a:t>
            </a:r>
            <a:r>
              <a:rPr lang="ko-KR" altLang="en-US" dirty="0"/>
              <a:t> 원소 수</a:t>
            </a:r>
            <a:endParaRPr lang="en-US" altLang="ko-KR" dirty="0"/>
          </a:p>
          <a:p>
            <a:pPr lvl="1"/>
            <a:r>
              <a:rPr lang="en-US" altLang="ko-KR" dirty="0"/>
              <a:t>1:1, 1:n, n:m</a:t>
            </a:r>
            <a:r>
              <a:rPr lang="ko-KR" altLang="en-US" dirty="0"/>
              <a:t>으로 구분</a:t>
            </a:r>
            <a:r>
              <a:rPr lang="en-US" altLang="ko-KR" dirty="0"/>
              <a:t>, </a:t>
            </a:r>
            <a:r>
              <a:rPr lang="ko-KR" altLang="en-US" dirty="0"/>
              <a:t>선 위에 표기</a:t>
            </a:r>
            <a:endParaRPr lang="en-US" altLang="ko-KR" dirty="0"/>
          </a:p>
          <a:p>
            <a:pPr lvl="1"/>
            <a:r>
              <a:rPr lang="ko-KR" altLang="en-US" dirty="0" err="1"/>
              <a:t>카디날리티</a:t>
            </a:r>
            <a:r>
              <a:rPr lang="ko-KR" altLang="en-US" dirty="0"/>
              <a:t> 비율과 함께 참여 제약조건은 </a:t>
            </a:r>
            <a:br>
              <a:rPr lang="en-US" altLang="ko-KR" dirty="0"/>
            </a:br>
            <a:r>
              <a:rPr lang="ko-KR" altLang="en-US" dirty="0"/>
              <a:t>관계에 대한 중요 제약조건</a:t>
            </a:r>
            <a:endParaRPr lang="en-US" altLang="ko-KR" dirty="0"/>
          </a:p>
          <a:p>
            <a:pPr lvl="1"/>
            <a:r>
              <a:rPr lang="en-US" altLang="ko-KR" dirty="0"/>
              <a:t>N:M</a:t>
            </a:r>
          </a:p>
          <a:p>
            <a:r>
              <a:rPr lang="ko-KR" altLang="en-US" dirty="0"/>
              <a:t>데이터베이스 설계과정 요약</a:t>
            </a:r>
            <a:endParaRPr lang="en-US" altLang="ko-KR" dirty="0"/>
          </a:p>
          <a:p>
            <a:pPr lvl="1"/>
            <a:r>
              <a:rPr lang="ko-KR" altLang="en-US" dirty="0"/>
              <a:t>요구사항 수집</a:t>
            </a:r>
            <a:endParaRPr lang="en-US" altLang="ko-KR" dirty="0"/>
          </a:p>
          <a:p>
            <a:pPr lvl="1"/>
            <a:r>
              <a:rPr lang="ko-KR" altLang="en-US" dirty="0"/>
              <a:t>엔티티 타입</a:t>
            </a:r>
            <a:r>
              <a:rPr lang="en-US" altLang="ko-KR" dirty="0"/>
              <a:t>, </a:t>
            </a:r>
            <a:r>
              <a:rPr lang="ko-KR" altLang="en-US" dirty="0"/>
              <a:t>관계 타입 식별</a:t>
            </a:r>
            <a:endParaRPr lang="en-US" altLang="ko-KR" dirty="0"/>
          </a:p>
          <a:p>
            <a:pPr lvl="1"/>
            <a:r>
              <a:rPr lang="ko-KR" altLang="en-US" dirty="0"/>
              <a:t>관계의 </a:t>
            </a:r>
            <a:r>
              <a:rPr lang="ko-KR" altLang="en-US" dirty="0" err="1"/>
              <a:t>카디널리티</a:t>
            </a:r>
            <a:r>
              <a:rPr lang="ko-KR" altLang="en-US" dirty="0"/>
              <a:t> 비율 결정</a:t>
            </a:r>
            <a:endParaRPr lang="en-US" altLang="ko-KR" dirty="0"/>
          </a:p>
          <a:p>
            <a:pPr lvl="1"/>
            <a:r>
              <a:rPr lang="ko-KR" altLang="en-US" dirty="0" err="1"/>
              <a:t>엔티티타입</a:t>
            </a:r>
            <a:r>
              <a:rPr lang="en-US" altLang="ko-KR" dirty="0"/>
              <a:t>, </a:t>
            </a:r>
            <a:r>
              <a:rPr lang="ko-KR" altLang="en-US" dirty="0"/>
              <a:t>관계타입의 </a:t>
            </a:r>
            <a:r>
              <a:rPr lang="ko-KR" altLang="en-US" dirty="0" err="1"/>
              <a:t>애트리뷰트</a:t>
            </a:r>
            <a:r>
              <a:rPr lang="ko-KR" altLang="en-US" dirty="0"/>
              <a:t> 식별</a:t>
            </a:r>
            <a:r>
              <a:rPr lang="en-US" altLang="ko-KR" dirty="0"/>
              <a:t>, </a:t>
            </a:r>
          </a:p>
          <a:p>
            <a:pPr lvl="1"/>
            <a:r>
              <a:rPr lang="ko-KR" altLang="en-US" dirty="0" err="1"/>
              <a:t>엔티티타입의</a:t>
            </a:r>
            <a:r>
              <a:rPr lang="ko-KR" altLang="en-US" dirty="0"/>
              <a:t> 기본 키 식별</a:t>
            </a:r>
            <a:endParaRPr lang="en-US" altLang="ko-KR" dirty="0"/>
          </a:p>
          <a:p>
            <a:pPr lvl="1"/>
            <a:r>
              <a:rPr lang="en-US" altLang="ko-KR" dirty="0"/>
              <a:t>ER </a:t>
            </a:r>
            <a:r>
              <a:rPr lang="ko-KR" altLang="en-US" dirty="0"/>
              <a:t>스키마 </a:t>
            </a:r>
            <a:r>
              <a:rPr lang="ko-KR" altLang="en-US" dirty="0" err="1"/>
              <a:t>다어어그램을</a:t>
            </a:r>
            <a:r>
              <a:rPr lang="en-US" altLang="ko-KR" dirty="0"/>
              <a:t> </a:t>
            </a:r>
            <a:r>
              <a:rPr lang="ko-KR" altLang="en-US" dirty="0"/>
              <a:t>작성</a:t>
            </a:r>
            <a:r>
              <a:rPr lang="en-US" altLang="ko-KR" dirty="0"/>
              <a:t>, </a:t>
            </a:r>
            <a:r>
              <a:rPr lang="ko-KR" altLang="en-US" dirty="0"/>
              <a:t>요구사항과 부합되는지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ER </a:t>
            </a:r>
            <a:r>
              <a:rPr lang="ko-KR" altLang="en-US" dirty="0"/>
              <a:t>다이어그램을 </a:t>
            </a:r>
            <a:r>
              <a:rPr lang="en-US" altLang="ko-KR" dirty="0"/>
              <a:t>DB</a:t>
            </a:r>
            <a:r>
              <a:rPr lang="ko-KR" altLang="en-US" dirty="0"/>
              <a:t>모델로 변환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FD82F6E-CFCF-C359-B210-B6EB0D99666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3EF980CA-1F2B-4FA1-EA93-1466FFA96DF4}"/>
              </a:ext>
            </a:extLst>
          </p:cNvPr>
          <p:cNvGrpSpPr/>
          <p:nvPr/>
        </p:nvGrpSpPr>
        <p:grpSpPr>
          <a:xfrm>
            <a:off x="4725143" y="2432720"/>
            <a:ext cx="2088232" cy="1177004"/>
            <a:chOff x="1203960" y="2234183"/>
            <a:chExt cx="8271509" cy="3590290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D9507099-CC67-BE58-8615-A3E57EEC36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3960" y="2234183"/>
              <a:ext cx="8270995" cy="3589787"/>
            </a:xfrm>
            <a:prstGeom prst="rect">
              <a:avLst/>
            </a:prstGeom>
          </p:spPr>
        </p:pic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50EA68CC-075C-E1B7-B9EA-27BE2BC07424}"/>
                </a:ext>
              </a:extLst>
            </p:cNvPr>
            <p:cNvSpPr/>
            <p:nvPr/>
          </p:nvSpPr>
          <p:spPr>
            <a:xfrm>
              <a:off x="1983359" y="5211445"/>
              <a:ext cx="4003040" cy="66040"/>
            </a:xfrm>
            <a:custGeom>
              <a:avLst/>
              <a:gdLst/>
              <a:ahLst/>
              <a:cxnLst/>
              <a:rect l="l" t="t" r="r" b="b"/>
              <a:pathLst>
                <a:path w="4003040" h="66039">
                  <a:moveTo>
                    <a:pt x="0" y="65913"/>
                  </a:moveTo>
                  <a:lnTo>
                    <a:pt x="0" y="60452"/>
                  </a:lnTo>
                  <a:lnTo>
                    <a:pt x="4191" y="57658"/>
                  </a:lnTo>
                  <a:lnTo>
                    <a:pt x="12318" y="57658"/>
                  </a:lnTo>
                  <a:lnTo>
                    <a:pt x="20574" y="57658"/>
                  </a:lnTo>
                  <a:lnTo>
                    <a:pt x="27432" y="56261"/>
                  </a:lnTo>
                  <a:lnTo>
                    <a:pt x="32893" y="53594"/>
                  </a:lnTo>
                  <a:lnTo>
                    <a:pt x="38481" y="50800"/>
                  </a:lnTo>
                  <a:lnTo>
                    <a:pt x="45339" y="49403"/>
                  </a:lnTo>
                  <a:lnTo>
                    <a:pt x="82423" y="49403"/>
                  </a:lnTo>
                  <a:lnTo>
                    <a:pt x="93206" y="49143"/>
                  </a:lnTo>
                  <a:lnTo>
                    <a:pt x="109156" y="48371"/>
                  </a:lnTo>
                  <a:lnTo>
                    <a:pt x="130250" y="47099"/>
                  </a:lnTo>
                  <a:lnTo>
                    <a:pt x="156464" y="45339"/>
                  </a:lnTo>
                  <a:lnTo>
                    <a:pt x="185566" y="43505"/>
                  </a:lnTo>
                  <a:lnTo>
                    <a:pt x="215169" y="42195"/>
                  </a:lnTo>
                  <a:lnTo>
                    <a:pt x="245296" y="41409"/>
                  </a:lnTo>
                  <a:lnTo>
                    <a:pt x="275971" y="41148"/>
                  </a:lnTo>
                  <a:lnTo>
                    <a:pt x="306310" y="41148"/>
                  </a:lnTo>
                  <a:lnTo>
                    <a:pt x="335613" y="41148"/>
                  </a:lnTo>
                  <a:lnTo>
                    <a:pt x="363892" y="41148"/>
                  </a:lnTo>
                  <a:lnTo>
                    <a:pt x="391160" y="41148"/>
                  </a:lnTo>
                  <a:lnTo>
                    <a:pt x="417161" y="40888"/>
                  </a:lnTo>
                  <a:lnTo>
                    <a:pt x="441626" y="40116"/>
                  </a:lnTo>
                  <a:lnTo>
                    <a:pt x="464544" y="38844"/>
                  </a:lnTo>
                  <a:lnTo>
                    <a:pt x="485902" y="37084"/>
                  </a:lnTo>
                  <a:lnTo>
                    <a:pt x="505712" y="35250"/>
                  </a:lnTo>
                  <a:lnTo>
                    <a:pt x="523986" y="33940"/>
                  </a:lnTo>
                  <a:lnTo>
                    <a:pt x="540712" y="33154"/>
                  </a:lnTo>
                  <a:lnTo>
                    <a:pt x="555879" y="32893"/>
                  </a:lnTo>
                  <a:lnTo>
                    <a:pt x="569311" y="32893"/>
                  </a:lnTo>
                  <a:lnTo>
                    <a:pt x="580659" y="32893"/>
                  </a:lnTo>
                  <a:lnTo>
                    <a:pt x="589936" y="32893"/>
                  </a:lnTo>
                  <a:lnTo>
                    <a:pt x="597154" y="32893"/>
                  </a:lnTo>
                  <a:lnTo>
                    <a:pt x="603587" y="32390"/>
                  </a:lnTo>
                  <a:lnTo>
                    <a:pt x="610520" y="30876"/>
                  </a:lnTo>
                  <a:lnTo>
                    <a:pt x="617978" y="28338"/>
                  </a:lnTo>
                  <a:lnTo>
                    <a:pt x="625983" y="24765"/>
                  </a:lnTo>
                </a:path>
                <a:path w="4003040" h="66039">
                  <a:moveTo>
                    <a:pt x="3137916" y="16510"/>
                  </a:moveTo>
                  <a:lnTo>
                    <a:pt x="3137916" y="16510"/>
                  </a:lnTo>
                  <a:lnTo>
                    <a:pt x="3718560" y="16510"/>
                  </a:lnTo>
                  <a:lnTo>
                    <a:pt x="3760515" y="16248"/>
                  </a:lnTo>
                  <a:lnTo>
                    <a:pt x="3799887" y="15462"/>
                  </a:lnTo>
                  <a:lnTo>
                    <a:pt x="3836664" y="14152"/>
                  </a:lnTo>
                  <a:lnTo>
                    <a:pt x="3870832" y="12319"/>
                  </a:lnTo>
                  <a:lnTo>
                    <a:pt x="3901217" y="10558"/>
                  </a:lnTo>
                  <a:lnTo>
                    <a:pt x="3926459" y="9286"/>
                  </a:lnTo>
                  <a:lnTo>
                    <a:pt x="3946556" y="8514"/>
                  </a:lnTo>
                  <a:lnTo>
                    <a:pt x="3961511" y="8255"/>
                  </a:lnTo>
                  <a:lnTo>
                    <a:pt x="3973316" y="7733"/>
                  </a:lnTo>
                  <a:lnTo>
                    <a:pt x="3984132" y="6175"/>
                  </a:lnTo>
                  <a:lnTo>
                    <a:pt x="3993925" y="3593"/>
                  </a:lnTo>
                  <a:lnTo>
                    <a:pt x="4002658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6">
            <a:extLst>
              <a:ext uri="{FF2B5EF4-FFF2-40B4-BE49-F238E27FC236}">
                <a16:creationId xmlns:a16="http://schemas.microsoft.com/office/drawing/2014/main" id="{DC11B970-A60B-559E-E48E-A6C5EF7323BA}"/>
              </a:ext>
            </a:extLst>
          </p:cNvPr>
          <p:cNvGrpSpPr/>
          <p:nvPr/>
        </p:nvGrpSpPr>
        <p:grpSpPr>
          <a:xfrm>
            <a:off x="4958308" y="1065909"/>
            <a:ext cx="1611612" cy="1006771"/>
            <a:chOff x="5131307" y="3791711"/>
            <a:chExt cx="4813300" cy="2886547"/>
          </a:xfrm>
        </p:grpSpPr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B342F1B7-4FC6-EA94-A4D5-56ECE2B964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4354" y="3992328"/>
              <a:ext cx="4794210" cy="2685930"/>
            </a:xfrm>
            <a:prstGeom prst="rect">
              <a:avLst/>
            </a:prstGeom>
          </p:spPr>
        </p:pic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53C9FA04-1483-5083-99A4-88762DC7360F}"/>
                </a:ext>
              </a:extLst>
            </p:cNvPr>
            <p:cNvSpPr/>
            <p:nvPr/>
          </p:nvSpPr>
          <p:spPr>
            <a:xfrm>
              <a:off x="5131307" y="3791711"/>
              <a:ext cx="4813300" cy="2792095"/>
            </a:xfrm>
            <a:custGeom>
              <a:avLst/>
              <a:gdLst/>
              <a:ahLst/>
              <a:cxnLst/>
              <a:rect l="l" t="t" r="r" b="b"/>
              <a:pathLst>
                <a:path w="4813300" h="2792095">
                  <a:moveTo>
                    <a:pt x="0" y="0"/>
                  </a:moveTo>
                  <a:lnTo>
                    <a:pt x="4812792" y="0"/>
                  </a:lnTo>
                  <a:lnTo>
                    <a:pt x="4812792" y="2791968"/>
                  </a:lnTo>
                  <a:lnTo>
                    <a:pt x="0" y="2791968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8">
            <a:extLst>
              <a:ext uri="{FF2B5EF4-FFF2-40B4-BE49-F238E27FC236}">
                <a16:creationId xmlns:a16="http://schemas.microsoft.com/office/drawing/2014/main" id="{94477274-7D41-866D-D650-94052D00FF2B}"/>
              </a:ext>
            </a:extLst>
          </p:cNvPr>
          <p:cNvGrpSpPr/>
          <p:nvPr/>
        </p:nvGrpSpPr>
        <p:grpSpPr>
          <a:xfrm>
            <a:off x="4599262" y="3692430"/>
            <a:ext cx="2213983" cy="504916"/>
            <a:chOff x="1863089" y="5531358"/>
            <a:chExt cx="6911340" cy="1270000"/>
          </a:xfrm>
        </p:grpSpPr>
        <p:pic>
          <p:nvPicPr>
            <p:cNvPr id="14" name="object 9">
              <a:extLst>
                <a:ext uri="{FF2B5EF4-FFF2-40B4-BE49-F238E27FC236}">
                  <a16:creationId xmlns:a16="http://schemas.microsoft.com/office/drawing/2014/main" id="{239EEE75-DAAC-E43D-33CD-78AA37978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9948" y="5538216"/>
              <a:ext cx="6896100" cy="1255775"/>
            </a:xfrm>
            <a:prstGeom prst="rect">
              <a:avLst/>
            </a:prstGeom>
          </p:spPr>
        </p:pic>
        <p:sp>
          <p:nvSpPr>
            <p:cNvPr id="15" name="object 10">
              <a:extLst>
                <a:ext uri="{FF2B5EF4-FFF2-40B4-BE49-F238E27FC236}">
                  <a16:creationId xmlns:a16="http://schemas.microsoft.com/office/drawing/2014/main" id="{EBC02B92-5007-5932-43B9-2A8A33D57BD9}"/>
                </a:ext>
              </a:extLst>
            </p:cNvPr>
            <p:cNvSpPr/>
            <p:nvPr/>
          </p:nvSpPr>
          <p:spPr>
            <a:xfrm>
              <a:off x="1866899" y="5535168"/>
              <a:ext cx="6903720" cy="1262380"/>
            </a:xfrm>
            <a:custGeom>
              <a:avLst/>
              <a:gdLst/>
              <a:ahLst/>
              <a:cxnLst/>
              <a:rect l="l" t="t" r="r" b="b"/>
              <a:pathLst>
                <a:path w="6903720" h="1262379">
                  <a:moveTo>
                    <a:pt x="0" y="0"/>
                  </a:moveTo>
                  <a:lnTo>
                    <a:pt x="6903719" y="0"/>
                  </a:lnTo>
                  <a:lnTo>
                    <a:pt x="6903719" y="1261871"/>
                  </a:lnTo>
                  <a:lnTo>
                    <a:pt x="0" y="1261871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47F530D9-C8EC-A24A-CC53-BBDE170C3D03}"/>
                </a:ext>
              </a:extLst>
            </p:cNvPr>
            <p:cNvSpPr/>
            <p:nvPr/>
          </p:nvSpPr>
          <p:spPr>
            <a:xfrm>
              <a:off x="6282436" y="5927979"/>
              <a:ext cx="791210" cy="57785"/>
            </a:xfrm>
            <a:custGeom>
              <a:avLst/>
              <a:gdLst/>
              <a:ahLst/>
              <a:cxnLst/>
              <a:rect l="l" t="t" r="r" b="b"/>
              <a:pathLst>
                <a:path w="791209" h="57785">
                  <a:moveTo>
                    <a:pt x="24764" y="57658"/>
                  </a:moveTo>
                  <a:lnTo>
                    <a:pt x="24764" y="57658"/>
                  </a:lnTo>
                  <a:lnTo>
                    <a:pt x="785113" y="57658"/>
                  </a:lnTo>
                  <a:lnTo>
                    <a:pt x="790702" y="57658"/>
                  </a:lnTo>
                </a:path>
                <a:path w="791209" h="57785">
                  <a:moveTo>
                    <a:pt x="0" y="0"/>
                  </a:moveTo>
                  <a:lnTo>
                    <a:pt x="0" y="0"/>
                  </a:lnTo>
                  <a:lnTo>
                    <a:pt x="242950" y="0"/>
                  </a:lnTo>
                  <a:lnTo>
                    <a:pt x="251206" y="1397"/>
                  </a:lnTo>
                  <a:lnTo>
                    <a:pt x="259461" y="4064"/>
                  </a:lnTo>
                  <a:lnTo>
                    <a:pt x="267715" y="6858"/>
                  </a:lnTo>
                  <a:lnTo>
                    <a:pt x="274573" y="8255"/>
                  </a:lnTo>
                  <a:lnTo>
                    <a:pt x="776986" y="8255"/>
                  </a:lnTo>
                  <a:lnTo>
                    <a:pt x="782446" y="825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544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6E618AD-A0C8-FABC-23C5-78FE3E8D4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1D0254A-1118-E020-400B-FEDCA545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</a:t>
            </a:r>
            <a:r>
              <a:rPr lang="en-US" altLang="ko-KR" dirty="0"/>
              <a:t>5</a:t>
            </a:r>
            <a:r>
              <a:rPr lang="ko-KR" altLang="en-US" dirty="0"/>
              <a:t>주차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570362-D7E1-0FAC-70B5-B247E487AD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B82DD4B-B2C7-7E2B-10A8-BB4D789DCA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Relationship type </a:t>
            </a:r>
            <a:r>
              <a:rPr lang="ko-KR" altLang="en-US" dirty="0"/>
              <a:t>유형의 이해</a:t>
            </a:r>
            <a:endParaRPr lang="en-US" altLang="ko-KR" dirty="0"/>
          </a:p>
          <a:p>
            <a:pPr lvl="1"/>
            <a:r>
              <a:rPr lang="en-US" altLang="ko-KR" dirty="0"/>
              <a:t>1:1 non-identifying </a:t>
            </a:r>
            <a:r>
              <a:rPr lang="ko-KR" altLang="en-US" dirty="0"/>
              <a:t>관계 </a:t>
            </a:r>
            <a:endParaRPr lang="en-US" altLang="ko-KR" dirty="0"/>
          </a:p>
          <a:p>
            <a:pPr lvl="2"/>
            <a:r>
              <a:rPr lang="ko-KR" altLang="en-US" dirty="0"/>
              <a:t>전체 참여 </a:t>
            </a:r>
            <a:r>
              <a:rPr lang="en-US" altLang="ko-KR" dirty="0"/>
              <a:t>: </a:t>
            </a:r>
            <a:r>
              <a:rPr lang="ko-KR" altLang="en-US" dirty="0"/>
              <a:t>최소 </a:t>
            </a:r>
            <a:r>
              <a:rPr lang="en-US" altLang="ko-KR" dirty="0"/>
              <a:t>1</a:t>
            </a:r>
            <a:r>
              <a:rPr lang="ko-KR" altLang="en-US" dirty="0"/>
              <a:t>개의 관계 참여가 보장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최대 </a:t>
            </a:r>
            <a:r>
              <a:rPr lang="en-US" altLang="ko-KR" dirty="0"/>
              <a:t>1</a:t>
            </a:r>
            <a:r>
              <a:rPr lang="ko-KR" altLang="en-US" dirty="0"/>
              <a:t>개의 관계 참여</a:t>
            </a:r>
            <a:endParaRPr lang="en-US" altLang="ko-KR" dirty="0"/>
          </a:p>
          <a:p>
            <a:pPr lvl="2"/>
            <a:r>
              <a:rPr lang="ko-KR" altLang="en-US" dirty="0"/>
              <a:t>부분참여 </a:t>
            </a:r>
            <a:r>
              <a:rPr lang="en-US" altLang="ko-KR" dirty="0"/>
              <a:t>: </a:t>
            </a:r>
            <a:r>
              <a:rPr lang="ko-KR" altLang="en-US" dirty="0"/>
              <a:t>최소 </a:t>
            </a:r>
            <a:r>
              <a:rPr lang="en-US" altLang="ko-KR" dirty="0"/>
              <a:t>0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최대 </a:t>
            </a:r>
            <a:r>
              <a:rPr lang="en-US" altLang="ko-KR" dirty="0"/>
              <a:t>1</a:t>
            </a:r>
            <a:r>
              <a:rPr lang="ko-KR" altLang="en-US" dirty="0"/>
              <a:t>개의 관계 참여</a:t>
            </a:r>
            <a:endParaRPr lang="en-US" altLang="ko-KR" dirty="0"/>
          </a:p>
          <a:p>
            <a:pPr lvl="2"/>
            <a:r>
              <a:rPr lang="en-US" altLang="ko-KR" dirty="0"/>
              <a:t>Null</a:t>
            </a:r>
            <a:r>
              <a:rPr lang="ko-KR" altLang="en-US" dirty="0"/>
              <a:t>값의 허용 </a:t>
            </a:r>
            <a:r>
              <a:rPr lang="en-US" altLang="ko-KR" dirty="0"/>
              <a:t>: </a:t>
            </a:r>
            <a:r>
              <a:rPr lang="ko-KR" altLang="en-US" dirty="0"/>
              <a:t>최소 </a:t>
            </a:r>
            <a:r>
              <a:rPr lang="en-US" altLang="ko-KR" dirty="0"/>
              <a:t>0</a:t>
            </a:r>
            <a:r>
              <a:rPr lang="ko-KR" altLang="en-US" dirty="0"/>
              <a:t>개의 참여일 경우 </a:t>
            </a:r>
            <a:br>
              <a:rPr lang="en-US" altLang="ko-KR" dirty="0"/>
            </a:br>
            <a:r>
              <a:rPr lang="en-US" altLang="ko-KR" dirty="0"/>
              <a:t>allowed, 1~N</a:t>
            </a:r>
            <a:r>
              <a:rPr lang="ko-KR" altLang="en-US" dirty="0"/>
              <a:t>의 경우 </a:t>
            </a:r>
            <a:r>
              <a:rPr lang="en-US" altLang="ko-KR" dirty="0"/>
              <a:t>no null</a:t>
            </a:r>
          </a:p>
          <a:p>
            <a:pPr lvl="1"/>
            <a:r>
              <a:rPr lang="en-US" altLang="ko-KR" dirty="0"/>
              <a:t>1:n non-identifying </a:t>
            </a:r>
            <a:r>
              <a:rPr lang="ko-KR" altLang="en-US" dirty="0"/>
              <a:t>관계</a:t>
            </a:r>
            <a:endParaRPr lang="en-US" altLang="ko-KR" dirty="0"/>
          </a:p>
          <a:p>
            <a:pPr lvl="2"/>
            <a:r>
              <a:rPr lang="ko-KR" altLang="en-US" dirty="0"/>
              <a:t>전체참여</a:t>
            </a:r>
            <a:endParaRPr lang="en-US" altLang="ko-KR" dirty="0"/>
          </a:p>
          <a:p>
            <a:pPr lvl="3"/>
            <a:r>
              <a:rPr lang="en-US" altLang="ko-KR" dirty="0"/>
              <a:t>1</a:t>
            </a:r>
            <a:r>
              <a:rPr lang="ko-KR" altLang="en-US" dirty="0"/>
              <a:t>의 경우 </a:t>
            </a:r>
            <a:r>
              <a:rPr lang="en-US" altLang="ko-KR" dirty="0"/>
              <a:t>: </a:t>
            </a:r>
            <a:r>
              <a:rPr lang="ko-KR" altLang="en-US" dirty="0"/>
              <a:t>최소 </a:t>
            </a:r>
            <a:r>
              <a:rPr lang="en-US" altLang="ko-KR" dirty="0"/>
              <a:t>1, </a:t>
            </a:r>
            <a:r>
              <a:rPr lang="ko-KR" altLang="en-US" dirty="0"/>
              <a:t>최대 </a:t>
            </a:r>
            <a:r>
              <a:rPr lang="en-US" altLang="ko-KR" dirty="0"/>
              <a:t>N</a:t>
            </a:r>
            <a:r>
              <a:rPr lang="ko-KR" altLang="en-US" dirty="0"/>
              <a:t>의 관계 보장</a:t>
            </a:r>
            <a:endParaRPr lang="en-US" altLang="ko-KR" dirty="0"/>
          </a:p>
          <a:p>
            <a:pPr lvl="3"/>
            <a:r>
              <a:rPr lang="en-US" altLang="ko-KR" dirty="0"/>
              <a:t>N</a:t>
            </a:r>
            <a:r>
              <a:rPr lang="ko-KR" altLang="en-US" dirty="0"/>
              <a:t>의 경우 최소 </a:t>
            </a:r>
            <a:r>
              <a:rPr lang="en-US" altLang="ko-KR" dirty="0"/>
              <a:t>1, </a:t>
            </a:r>
            <a:r>
              <a:rPr lang="ko-KR" altLang="en-US" dirty="0"/>
              <a:t>최대 </a:t>
            </a:r>
            <a:r>
              <a:rPr lang="en-US" altLang="ko-KR" dirty="0"/>
              <a:t>1</a:t>
            </a:r>
            <a:r>
              <a:rPr lang="ko-KR" altLang="en-US" dirty="0"/>
              <a:t>의 관계 보장</a:t>
            </a:r>
            <a:endParaRPr lang="en-US" altLang="ko-KR" dirty="0"/>
          </a:p>
          <a:p>
            <a:pPr lvl="2"/>
            <a:r>
              <a:rPr lang="ko-KR" altLang="en-US" dirty="0"/>
              <a:t>부분참여</a:t>
            </a:r>
            <a:endParaRPr lang="en-US" altLang="ko-KR" dirty="0"/>
          </a:p>
          <a:p>
            <a:pPr lvl="3"/>
            <a:r>
              <a:rPr lang="en-US" altLang="ko-KR" dirty="0"/>
              <a:t>1</a:t>
            </a:r>
            <a:r>
              <a:rPr lang="ko-KR" altLang="en-US" dirty="0"/>
              <a:t>의 경우 </a:t>
            </a:r>
            <a:r>
              <a:rPr lang="en-US" altLang="ko-KR" dirty="0"/>
              <a:t>: </a:t>
            </a:r>
            <a:r>
              <a:rPr lang="ko-KR" altLang="en-US" dirty="0"/>
              <a:t>최소 </a:t>
            </a:r>
            <a:r>
              <a:rPr lang="en-US" altLang="ko-KR" dirty="0"/>
              <a:t>0,</a:t>
            </a:r>
            <a:r>
              <a:rPr lang="ko-KR" altLang="en-US" dirty="0"/>
              <a:t> 최대 </a:t>
            </a:r>
            <a:r>
              <a:rPr lang="en-US" altLang="ko-KR" dirty="0"/>
              <a:t>N</a:t>
            </a:r>
            <a:r>
              <a:rPr lang="ko-KR" altLang="en-US" dirty="0"/>
              <a:t>의 관계</a:t>
            </a:r>
            <a:endParaRPr lang="en-US" altLang="ko-KR" dirty="0"/>
          </a:p>
          <a:p>
            <a:pPr lvl="3"/>
            <a:r>
              <a:rPr lang="en-US" altLang="ko-KR" dirty="0"/>
              <a:t>N</a:t>
            </a:r>
            <a:r>
              <a:rPr lang="ko-KR" altLang="en-US" dirty="0"/>
              <a:t>의 경우 최소 </a:t>
            </a:r>
            <a:r>
              <a:rPr lang="en-US" altLang="ko-KR" dirty="0"/>
              <a:t>0, </a:t>
            </a:r>
            <a:r>
              <a:rPr lang="ko-KR" altLang="en-US" dirty="0"/>
              <a:t>최대 </a:t>
            </a:r>
            <a:r>
              <a:rPr lang="en-US" altLang="ko-KR" dirty="0"/>
              <a:t>1</a:t>
            </a:r>
            <a:r>
              <a:rPr lang="ko-KR" altLang="en-US" dirty="0"/>
              <a:t>의 관계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1:n identifying </a:t>
            </a:r>
            <a:r>
              <a:rPr lang="ko-KR" altLang="en-US" dirty="0"/>
              <a:t>관계</a:t>
            </a:r>
            <a:endParaRPr lang="en-US" altLang="ko-KR" dirty="0"/>
          </a:p>
          <a:p>
            <a:pPr lvl="2"/>
            <a:r>
              <a:rPr lang="en-US" altLang="ko-KR" dirty="0"/>
              <a:t>N</a:t>
            </a:r>
            <a:r>
              <a:rPr lang="ko-KR" altLang="en-US" dirty="0"/>
              <a:t>으로 묶인 쪽이 보통 식별 관계타입과</a:t>
            </a:r>
            <a:br>
              <a:rPr lang="en-US" altLang="ko-KR" dirty="0"/>
            </a:br>
            <a:r>
              <a:rPr lang="ko-KR" altLang="en-US" dirty="0"/>
              <a:t> </a:t>
            </a:r>
            <a:r>
              <a:rPr lang="en-US" altLang="ko-KR" dirty="0"/>
              <a:t>weak entity type</a:t>
            </a:r>
            <a:r>
              <a:rPr lang="ko-KR" altLang="en-US" dirty="0"/>
              <a:t>으로 묶임</a:t>
            </a:r>
            <a:endParaRPr lang="en-US" altLang="ko-KR" dirty="0"/>
          </a:p>
          <a:p>
            <a:pPr lvl="1"/>
            <a:r>
              <a:rPr lang="en-US" altLang="ko-KR" dirty="0"/>
              <a:t>N:m</a:t>
            </a:r>
            <a:r>
              <a:rPr lang="ko-KR" altLang="en-US" dirty="0"/>
              <a:t>의 관계</a:t>
            </a:r>
            <a:endParaRPr lang="en-US" altLang="ko-KR" dirty="0"/>
          </a:p>
          <a:p>
            <a:pPr lvl="2"/>
            <a:r>
              <a:rPr lang="ko-KR" altLang="en-US" dirty="0"/>
              <a:t>두 </a:t>
            </a:r>
            <a:r>
              <a:rPr lang="ko-KR" altLang="en-US" dirty="0" err="1"/>
              <a:t>엔티티간의</a:t>
            </a:r>
            <a:r>
              <a:rPr lang="ko-KR" altLang="en-US" dirty="0"/>
              <a:t> 다대다의 관계를 세 엔티티간 다대 다 관계로 변환 가능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6D2209-90EF-9B3C-28C1-581BCD21EF17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EF9FE4D-CD91-F93D-E701-EE6928641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880" y="4594474"/>
            <a:ext cx="2952328" cy="71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39707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19404</TotalTime>
  <Words>1686</Words>
  <Application>Microsoft Office PowerPoint</Application>
  <PresentationFormat>A4 용지(210x297mm)</PresentationFormat>
  <Paragraphs>290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디자인 사용자 지정</vt:lpstr>
      <vt:lpstr>데이터베이스 중간</vt:lpstr>
      <vt:lpstr>PowerPoint 프레젠테이션</vt:lpstr>
      <vt:lpstr>데이터베이스 시스템 개요</vt:lpstr>
      <vt:lpstr>1.1 데이터베이스 시스템 개요</vt:lpstr>
      <vt:lpstr>1.2 화일시스템 vs DBMS 1.3 DBMS 발전 과정</vt:lpstr>
      <vt:lpstr>1.4 데티어베이스 스키마/인스턴스 1.5 데이터베이스 언어</vt:lpstr>
      <vt:lpstr>1.6 데이터베이스 사용자</vt:lpstr>
      <vt:lpstr>1.7 ANSI/SPARC 아키텍처와 데이터 독립성</vt:lpstr>
      <vt:lpstr>1.7 ANSI/SPARC 아키텍처와 데이터 독립성(계속)</vt:lpstr>
      <vt:lpstr>데이터베이스 구축 개요</vt:lpstr>
      <vt:lpstr>PowerPoint 프레젠테이션</vt:lpstr>
      <vt:lpstr>PowerPoint 프레젠테이션</vt:lpstr>
      <vt:lpstr>데이터베이스 5주차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547</cp:revision>
  <cp:lastPrinted>2024-10-01T14:10:11Z</cp:lastPrinted>
  <dcterms:created xsi:type="dcterms:W3CDTF">2021-05-24T07:27:04Z</dcterms:created>
  <dcterms:modified xsi:type="dcterms:W3CDTF">2024-10-07T08:42:54Z</dcterms:modified>
</cp:coreProperties>
</file>