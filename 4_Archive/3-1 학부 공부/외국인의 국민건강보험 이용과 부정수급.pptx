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2"/>
  </p:notesMasterIdLst>
  <p:handoutMasterIdLst>
    <p:handoutMasterId r:id="rId23"/>
  </p:handoutMasterIdLst>
  <p:sldIdLst>
    <p:sldId id="256" r:id="rId5"/>
    <p:sldId id="261" r:id="rId6"/>
    <p:sldId id="262" r:id="rId7"/>
    <p:sldId id="296" r:id="rId8"/>
    <p:sldId id="297" r:id="rId9"/>
    <p:sldId id="299" r:id="rId10"/>
    <p:sldId id="301" r:id="rId11"/>
    <p:sldId id="302" r:id="rId12"/>
    <p:sldId id="300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만든 이" initials="오전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46" d="100"/>
          <a:sy n="46" d="100"/>
        </p:scale>
        <p:origin x="43" y="1296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4056" y="4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14DC2F0-1494-4012-98C6-0C32B96C5883}" type="datetime1">
              <a:rPr lang="ko-KR" altLang="en-US" smtClean="0">
                <a:latin typeface="+mj-ea"/>
                <a:ea typeface="+mj-ea"/>
              </a:rPr>
              <a:t>2024-11-27</a:t>
            </a:fld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US" altLang="ko-KR" smtClean="0">
                <a:latin typeface="+mj-ea"/>
                <a:ea typeface="+mj-ea"/>
              </a:rPr>
              <a:t>‹#›</a:t>
            </a:fld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6B577933-6CF4-4A80-8F7D-D574BAC42BBA}" type="datetime1">
              <a:rPr lang="ko-KR" altLang="en-US" smtClean="0"/>
              <a:pPr/>
              <a:t>2024-11-27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D4B9A9E5-4F7F-4A7D-9DE1-89923232926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ko-KR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175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ko-KR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4723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ko-KR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291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336C0-5DD5-B575-2DEA-7E3B998F5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4B5B91-E071-7311-7EEC-0DA8AE5F8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1BCA3B-C305-0FD6-E04C-1B7ADB37D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D2ADA3-18B9-D4C1-1202-CC2DD3918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ko-KR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892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91CE6-42AA-E32D-E62A-CE7CB4B8E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49E90A-A228-D508-78DE-E50520B4B3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A8243D-17EE-FE53-E458-75995BB97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BCF228-AABC-8380-5B89-2BA37FC4A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ko-KR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2576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7E099-90CA-34CD-DC70-E79A7B807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1FADB4-8197-75AA-42A3-0AADA4951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5EEE39-10F3-6929-27F6-8D32C294C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E1C1A7-EA3E-2643-3392-D3A4E64E7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ko-KR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849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9454E-1EB5-8B59-28DA-CA9CD2078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72B14B-EEFA-F875-1782-BCA20CBD8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F21246-6576-37ED-5911-1E856217D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AA732-A3C6-A98C-B828-606A9D6C9A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ko-KR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8074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272CB-771A-D15E-7701-D0814AFA1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16889C-7F7C-66FD-77BD-8F59B50E7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3250F4-74E1-F416-92A5-9019F0652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5F99EC-83EA-ED5F-9A4D-F4D793A080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altLang="ko-KR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0534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안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래픽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시간 표시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래픽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제목을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텍스트 개체 틀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8" name="텍스트 개체 틀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9" name="텍스트 개체 틀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4" name="텍스트 개체 틀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5" name="텍스트 개체 틀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6" name="텍스트 개체 틀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7" name="텍스트 개체 틀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cxnSp>
        <p:nvCxnSpPr>
          <p:cNvPr id="3" name="직선 연결선(S)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직선 연결선(S)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직선 연결선(S)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3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5" name="텍스트 개체 틀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텍스트 개체 틀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1" name="텍스트 개체 틀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2" name="텍스트 개체 틀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3" name="텍스트 개체 틀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4" name="텍스트 개체 틀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2" name="텍스트 개체 틀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3" name="텍스트 개체 틀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" name="직선 연결선(S)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(S)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래픽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2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5" name="텍스트 개체 틀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텍스트 개체 틀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8" name="텍스트 개체 틀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9" name="텍스트 개체 틀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0" name="텍스트 개체 틀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3" name="텍스트 개체 틀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4" name="텍스트 개체 틀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20XX</a:t>
            </a:r>
            <a:r>
              <a:rPr lang="ko-KR" altLang="en-US"/>
              <a:t>년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설명 자료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smtClean="0"/>
              <a:pPr/>
              <a:t>‹#›</a:t>
            </a:fld>
            <a:endParaRPr lang="ko-KR" altLang="en-US"/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소개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cxnSp>
        <p:nvCxnSpPr>
          <p:cNvPr id="14" name="직선 연결선(S)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(S)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날짜 개체 틀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바닥글 개체 틀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슬라이드 번호 개체 틀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나누기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텍스트 개체 틀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2" name="텍스트 개체 틀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3" name="텍스트 개체 틀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4" name="텍스트 개체 틀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5" name="텍스트 개체 틀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6" name="텍스트 개체 틀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날짜 개체 틀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바닥글 개체 틀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슬라이드 번호 개체 틀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 3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텍스트를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마스터 텍스트를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텍스트를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2" name="내용 개체 틀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6" name="직선 연결선(S)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(S)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시장 비교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</a:p>
        </p:txBody>
      </p:sp>
      <p:sp>
        <p:nvSpPr>
          <p:cNvPr id="24" name="텍스트 개체 틀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2" name="내용 개체 틀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내용 개체 틀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6" name="내용 개체 틀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endParaRPr lang="ko-KR" altLang="en-US" noProof="0"/>
          </a:p>
        </p:txBody>
      </p:sp>
      <p:sp>
        <p:nvSpPr>
          <p:cNvPr id="27" name="내용 개체 틀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내용 2개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텍스트를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마스터 텍스트를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20XX</a:t>
            </a:r>
            <a:r>
              <a:rPr lang="ko-KR" altLang="en-US"/>
              <a:t>년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설명 자료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래픽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래픽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제목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0" name="텍스트 개체 틀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5" name="텍스트 개체 틀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6" name="텍스트 개체 틀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7" name="텍스트 개체 틀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8" name="텍스트 개체 틀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 rtl="0"/>
            <a:r>
              <a:rPr lang="ko-KR" altLang="en-US" noProof="0"/>
              <a:t>부제목을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9" name="텍스트 개체 틀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텍스트를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1" name="날짜 개체 틀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바닥글 개체 틀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슬라이드 번호 개체 틀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타임라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텍스트 개체 틀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연도</a:t>
            </a:r>
            <a:endParaRPr lang="ko-KR" altLang="en-ZA" noProof="0"/>
          </a:p>
        </p:txBody>
      </p:sp>
      <p:sp>
        <p:nvSpPr>
          <p:cNvPr id="7" name="텍스트 개체 틀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8" name="텍스트 개체 틀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9" name="텍스트 개체 틀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0" name="텍스트 개체 틀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연도</a:t>
            </a:r>
            <a:endParaRPr lang="ko-KR" altLang="en-ZA" noProof="0"/>
          </a:p>
        </p:txBody>
      </p:sp>
      <p:sp>
        <p:nvSpPr>
          <p:cNvPr id="12" name="텍스트 개체 틀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3" name="텍스트 개체 틀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4" name="텍스트 개체 틀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5" name="텍스트 개체 틀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6" name="텍스트 개체 틀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7" name="텍스트 개체 틀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8" name="텍스트 개체 틀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19" name="텍스트 개체 틀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0" name="텍스트 개체 틀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1" name="텍스트 개체 틀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2" name="텍스트 개체 틀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3" name="텍스트 개체 틀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4" name="텍스트 개체 틀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5" name="텍스트 개체 틀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6" name="텍스트 개체 틀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7" name="텍스트 개체 틀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8" name="텍스트 개체 틀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29" name="텍스트 개체 틀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30" name="텍스트 개체 틀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31" name="텍스트 개체 틀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/>
              <a:t>MM</a:t>
            </a:r>
            <a:endParaRPr lang="ko-KR" altLang="en-ZA" noProof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날짜 개체 틀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바닥글 개체 틀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슬라이드 번호 개체 틀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martArt 개체 틀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en-US" altLang="ko-KR" noProof="0"/>
              <a:t>SmartArt </a:t>
            </a:r>
            <a:r>
              <a:rPr lang="ko-KR" altLang="en-US" noProof="0"/>
              <a:t>그래픽을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20XX</a:t>
            </a:r>
            <a:r>
              <a:rPr lang="ko-KR" altLang="en-US"/>
              <a:t>년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설명 자료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" name="직선 연결선(S)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(S)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팀 슬라이드 4명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그림 개체 틀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18" name="그림 개체 틀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19" name="그림 개체 틀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4" name="텍스트 개체 틀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6" name="텍스트 개체 틀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7" name="텍스트 개체 틀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8" name="텍스트 개체 틀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9" name="텍스트 개체 틀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20XX</a:t>
            </a:r>
            <a:r>
              <a:rPr lang="ko-KR" altLang="en-US"/>
              <a:t>년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설명 자료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0" name="직선 연결선(S)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(S)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팀 슬라이드 8명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17" name="그림 개체 틀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18" name="그림 개체 틀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19" name="그림 개체 틀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6" name="텍스트 개체 틀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7" name="텍스트 개체 틀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4" name="텍스트 개체 틀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8" name="텍스트 개체 틀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9" name="텍스트 개체 틀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55" name="그림 개체 틀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56" name="그림 개체 틀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57" name="그림 개체 틀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58" name="그림 개체 틀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54" name="텍스트 개체 틀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2" name="텍스트 개체 틀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59" name="텍스트 개체 틀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3" name="텍스트 개체 틀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0" name="텍스트 개체 틀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4" name="텍스트 개체 틀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1" name="텍스트 개체 틀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5" name="텍스트 개체 틀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그래픽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3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마스터 제목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ko-KR" altLang="en-US" noProof="0"/>
              <a:t>내용을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</a:p>
        </p:txBody>
      </p:sp>
      <p:sp>
        <p:nvSpPr>
          <p:cNvPr id="17" name="텍스트 개체 틀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4" name="내용 개체 틀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ko-KR" altLang="en-US" noProof="0"/>
              <a:t>내용을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</a:p>
        </p:txBody>
      </p:sp>
      <p:sp>
        <p:nvSpPr>
          <p:cNvPr id="18" name="텍스트 개체 틀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5" name="내용 개체 틀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ko-KR" altLang="en-US" noProof="0"/>
              <a:t>내용을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1" name="텍스트 개체 틀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</a:p>
        </p:txBody>
      </p:sp>
      <p:sp>
        <p:nvSpPr>
          <p:cNvPr id="19" name="텍스트 개체 틀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2" name="내용 개체 틀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26" name="내용 개체 틀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ko-KR" altLang="en-US" noProof="0"/>
              <a:t>내용을 추가하려면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altLang="ko-KR" noProof="0"/>
              <a:t>#</a:t>
            </a:r>
          </a:p>
        </p:txBody>
      </p:sp>
      <p:sp>
        <p:nvSpPr>
          <p:cNvPr id="23" name="텍스트 개체 틀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편집하려면 클릭하세요</a:t>
            </a:r>
            <a:r>
              <a:rPr lang="en-US" altLang="ko-KR" noProof="0"/>
              <a:t>.</a:t>
            </a:r>
          </a:p>
        </p:txBody>
      </p:sp>
      <p:cxnSp>
        <p:nvCxnSpPr>
          <p:cNvPr id="16" name="직선 연결선(S)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(S)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내용 개체 틀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20XX</a:t>
            </a:r>
            <a:r>
              <a:rPr lang="ko-KR" altLang="en-US"/>
              <a:t>년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설명 자료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</p:txBody>
      </p:sp>
      <p:cxnSp>
        <p:nvCxnSpPr>
          <p:cNvPr id="23" name="직선 연결선(S)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(S)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날짜 개체 틀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20XX</a:t>
            </a:r>
            <a:r>
              <a:rPr lang="ko-KR" altLang="en-US"/>
              <a:t>년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바닥글 개체 틀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설명 자료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슬라이드 번호 개체 틀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마무리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클릭하여 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날짜 개체 틀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20XX</a:t>
            </a:r>
            <a:r>
              <a:rPr lang="ko-KR" altLang="en-US"/>
              <a:t>년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바닥글 개체 틀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설명 자료</a:t>
            </a: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슬라이드 번호 개체 틀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smtClean="0"/>
              <a:pPr/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/>
              <a:t>설명 자료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CEABB6-07DC-46E8-9B57-56EC44A396E5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hyperlink" Target="https://ehin.no/2023/sponsor/healthcare-denmark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5188527" cy="1122202"/>
          </a:xfrm>
        </p:spPr>
        <p:txBody>
          <a:bodyPr rtlCol="0"/>
          <a:lstStyle/>
          <a:p>
            <a:pPr rtl="0"/>
            <a:r>
              <a:rPr lang="ko-KR" altLang="en-US" dirty="0"/>
              <a:t>외국인의 국민건강보험 이용과 부정수급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/>
          <a:lstStyle/>
          <a:p>
            <a:pPr rt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09419"/>
            <a:ext cx="4082142" cy="585788"/>
          </a:xfrm>
        </p:spPr>
        <p:txBody>
          <a:bodyPr rtlCol="0"/>
          <a:lstStyle/>
          <a:p>
            <a:pPr rtl="0"/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6338" y="1585549"/>
            <a:ext cx="2141764" cy="514350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rtl="0"/>
            <a:r>
              <a:rPr lang="ko-KR" altLang="en-US" dirty="0"/>
              <a:t>외국인 건강보험</a:t>
            </a:r>
            <a:br>
              <a:rPr lang="en-US" altLang="ko-KR" dirty="0"/>
            </a:br>
            <a:r>
              <a:rPr lang="ko-KR" altLang="en-US" dirty="0"/>
              <a:t>이용 현황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375" y="2557463"/>
            <a:ext cx="2141764" cy="514350"/>
          </a:xfrm>
        </p:spPr>
        <p:txBody>
          <a:bodyPr rtlCol="0"/>
          <a:lstStyle/>
          <a:p>
            <a:pPr rtl="0"/>
            <a:r>
              <a:rPr lang="ko-KR" altLang="en-US" dirty="0"/>
              <a:t>정책 현황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84E21C-7534-4FB5-9709-F7D1A1103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94804" y="3755394"/>
            <a:ext cx="2386596" cy="356321"/>
          </a:xfrm>
        </p:spPr>
        <p:txBody>
          <a:bodyPr rtlCol="0"/>
          <a:lstStyle/>
          <a:p>
            <a:pPr rtl="0"/>
            <a:r>
              <a:rPr lang="ko-KR" altLang="en-US" dirty="0"/>
              <a:t>타국의 이용요건 비교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5C594564-4FC6-401A-8586-44735EE819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2545" y="4710114"/>
            <a:ext cx="2384219" cy="538162"/>
          </a:xfrm>
        </p:spPr>
        <p:txBody>
          <a:bodyPr rtlCol="0"/>
          <a:lstStyle/>
          <a:p>
            <a:pPr rtl="0"/>
            <a:r>
              <a:rPr lang="ko-KR" altLang="en-US" dirty="0"/>
              <a:t>해결</a:t>
            </a:r>
            <a:r>
              <a:rPr lang="en-US" altLang="ko-KR" dirty="0"/>
              <a:t>: </a:t>
            </a:r>
            <a:r>
              <a:rPr lang="ko-KR" altLang="en-US" dirty="0"/>
              <a:t>외국인의 </a:t>
            </a:r>
            <a:r>
              <a:rPr lang="ko-KR" altLang="en-US" dirty="0" err="1"/>
              <a:t>건보</a:t>
            </a:r>
            <a:r>
              <a:rPr lang="ko-KR" altLang="en-US" dirty="0"/>
              <a:t> 이용을 막아야 할까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D7EB25CA-DA83-483D-AF83-0001BDF2DE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5" y="1594478"/>
            <a:ext cx="5539095" cy="1010842"/>
          </a:xfrm>
        </p:spPr>
        <p:txBody>
          <a:bodyPr rtlCol="0"/>
          <a:lstStyle/>
          <a:p>
            <a:pPr rtl="0"/>
            <a:r>
              <a:rPr lang="ko-KR" altLang="en-US" dirty="0"/>
              <a:t>연도별 부과금액</a:t>
            </a:r>
            <a:r>
              <a:rPr lang="en-US" altLang="ko-KR" dirty="0"/>
              <a:t>, </a:t>
            </a:r>
            <a:r>
              <a:rPr lang="ko-KR" altLang="en-US" dirty="0"/>
              <a:t>건강보험</a:t>
            </a:r>
            <a:r>
              <a:rPr lang="en-US" altLang="ko-KR" dirty="0"/>
              <a:t> </a:t>
            </a:r>
            <a:r>
              <a:rPr lang="ko-KR" altLang="en-US" dirty="0" err="1"/>
              <a:t>급여비</a:t>
            </a:r>
            <a:r>
              <a:rPr lang="en-US" altLang="ko-KR" dirty="0"/>
              <a:t>, </a:t>
            </a:r>
            <a:r>
              <a:rPr lang="ko-KR" altLang="en-US" dirty="0"/>
              <a:t>부정수급 종류와 현황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8" y="2682564"/>
            <a:ext cx="5539095" cy="1010842"/>
          </a:xfrm>
        </p:spPr>
        <p:txBody>
          <a:bodyPr rtlCol="0"/>
          <a:lstStyle/>
          <a:p>
            <a:pPr rtl="0"/>
            <a:r>
              <a:rPr lang="en-US" altLang="ko-KR" dirty="0"/>
              <a:t>2024</a:t>
            </a:r>
            <a:r>
              <a:rPr lang="ko-KR" altLang="en-US" dirty="0"/>
              <a:t>년</a:t>
            </a:r>
            <a:r>
              <a:rPr lang="en-US" altLang="ko-KR" dirty="0"/>
              <a:t> 4</a:t>
            </a:r>
            <a:r>
              <a:rPr lang="ko-KR" altLang="en-US" dirty="0"/>
              <a:t>월 부터 시행 </a:t>
            </a:r>
            <a:r>
              <a:rPr lang="en-US" altLang="ko-KR" dirty="0"/>
              <a:t>- </a:t>
            </a:r>
            <a:r>
              <a:rPr lang="ko-KR" altLang="en-US" dirty="0"/>
              <a:t>피부양자 취득 요건 변경에 대해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7" y="3755394"/>
            <a:ext cx="5539095" cy="1010842"/>
          </a:xfrm>
        </p:spPr>
        <p:txBody>
          <a:bodyPr rtlCol="0"/>
          <a:lstStyle/>
          <a:p>
            <a:pPr rtl="0"/>
            <a:r>
              <a:rPr lang="ko-KR" altLang="en-US" dirty="0"/>
              <a:t>영국</a:t>
            </a:r>
            <a:r>
              <a:rPr lang="en-US" altLang="ko-KR" dirty="0"/>
              <a:t>, </a:t>
            </a:r>
            <a:r>
              <a:rPr lang="ko-KR" altLang="en-US" dirty="0"/>
              <a:t>독일</a:t>
            </a:r>
            <a:r>
              <a:rPr lang="en-US" altLang="ko-KR" dirty="0"/>
              <a:t>, </a:t>
            </a:r>
            <a:r>
              <a:rPr lang="ko-KR" altLang="en-US" dirty="0"/>
              <a:t>덴마크</a:t>
            </a:r>
            <a:r>
              <a:rPr lang="en-US" altLang="ko-KR" dirty="0"/>
              <a:t>, </a:t>
            </a:r>
            <a:r>
              <a:rPr lang="ko-KR" altLang="en-US" dirty="0"/>
              <a:t>노르웨이의 건강보험제도와 비교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02D305EF-9A88-496B-BFC1-D589A01EE3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79" y="4824430"/>
            <a:ext cx="5539095" cy="1010842"/>
          </a:xfrm>
        </p:spPr>
        <p:txBody>
          <a:bodyPr rtlCol="0"/>
          <a:lstStyle/>
          <a:p>
            <a:pPr rtl="0"/>
            <a:r>
              <a:rPr lang="ko-KR" altLang="en-US" dirty="0"/>
              <a:t>보험의 성격에 따른 관점</a:t>
            </a:r>
            <a:r>
              <a:rPr lang="en-US" altLang="ko-KR" dirty="0"/>
              <a:t>, </a:t>
            </a:r>
            <a:r>
              <a:rPr lang="ko-KR" altLang="en-US" dirty="0"/>
              <a:t>윤리적</a:t>
            </a:r>
            <a:r>
              <a:rPr lang="en-US" altLang="ko-KR" dirty="0"/>
              <a:t>/</a:t>
            </a:r>
            <a:r>
              <a:rPr lang="ko-KR" altLang="en-US" dirty="0"/>
              <a:t>정치적 관점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ko-KR"/>
              <a:t>20XX</a:t>
            </a:r>
            <a:r>
              <a:rPr lang="ko-KR" altLang="en-US"/>
              <a:t>년</a:t>
            </a:r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7312B71A-5E84-41DE-9754-5F6291F6D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/>
          <a:p>
            <a:pPr rtl="0"/>
            <a:r>
              <a:rPr lang="ko-KR" altLang="en-US" dirty="0"/>
              <a:t>설명 자료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ko-KR" smtClean="0"/>
              <a:pPr rtl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ko-KR" altLang="en-US" dirty="0"/>
              <a:t>외국인 건강보험 이용 현황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내외국인 연도별 건강보험료 부과금액</a:t>
            </a:r>
          </a:p>
        </p:txBody>
      </p:sp>
      <p:sp>
        <p:nvSpPr>
          <p:cNvPr id="80" name="날짜 개체 틀 79">
            <a:extLst>
              <a:ext uri="{FF2B5EF4-FFF2-40B4-BE49-F238E27FC236}">
                <a16:creationId xmlns:a16="http://schemas.microsoft.com/office/drawing/2014/main" id="{BC1F9D86-85D8-4FD0-B0D3-47D77872278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ko-KR"/>
              <a:t>20XX</a:t>
            </a:r>
            <a:r>
              <a:rPr lang="ko-KR" altLang="en-US"/>
              <a:t>년</a:t>
            </a:r>
          </a:p>
        </p:txBody>
      </p:sp>
      <p:sp>
        <p:nvSpPr>
          <p:cNvPr id="81" name="바닥글 개체 틀 80">
            <a:extLst>
              <a:ext uri="{FF2B5EF4-FFF2-40B4-BE49-F238E27FC236}">
                <a16:creationId xmlns:a16="http://schemas.microsoft.com/office/drawing/2014/main" id="{E94F1D24-E4A1-4B59-B57E-A28453963B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ko-KR" altLang="en-US"/>
              <a:t>설명 자료</a:t>
            </a:r>
          </a:p>
        </p:txBody>
      </p:sp>
      <p:sp>
        <p:nvSpPr>
          <p:cNvPr id="82" name="슬라이드 번호 개체 틀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ko-KR" smtClean="0"/>
              <a:pPr rtl="0"/>
              <a:t>3</a:t>
            </a:fld>
            <a:endParaRPr lang="ko-KR" altLang="en-US"/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71D67919-E577-19D9-2CF9-C7428D2B74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409830"/>
              </p:ext>
            </p:extLst>
          </p:nvPr>
        </p:nvGraphicFramePr>
        <p:xfrm>
          <a:off x="3206750" y="2065814"/>
          <a:ext cx="5778499" cy="3535680"/>
        </p:xfrm>
        <a:graphic>
          <a:graphicData uri="http://schemas.openxmlformats.org/drawingml/2006/table">
            <a:tbl>
              <a:tblPr/>
              <a:tblGrid>
                <a:gridCol w="2291035">
                  <a:extLst>
                    <a:ext uri="{9D8B030D-6E8A-4147-A177-3AD203B41FA5}">
                      <a16:colId xmlns:a16="http://schemas.microsoft.com/office/drawing/2014/main" val="2018558940"/>
                    </a:ext>
                  </a:extLst>
                </a:gridCol>
                <a:gridCol w="1629180">
                  <a:extLst>
                    <a:ext uri="{9D8B030D-6E8A-4147-A177-3AD203B41FA5}">
                      <a16:colId xmlns:a16="http://schemas.microsoft.com/office/drawing/2014/main" val="27812963"/>
                    </a:ext>
                  </a:extLst>
                </a:gridCol>
                <a:gridCol w="560031">
                  <a:extLst>
                    <a:ext uri="{9D8B030D-6E8A-4147-A177-3AD203B41FA5}">
                      <a16:colId xmlns:a16="http://schemas.microsoft.com/office/drawing/2014/main" val="3404694776"/>
                    </a:ext>
                  </a:extLst>
                </a:gridCol>
                <a:gridCol w="661855">
                  <a:extLst>
                    <a:ext uri="{9D8B030D-6E8A-4147-A177-3AD203B41FA5}">
                      <a16:colId xmlns:a16="http://schemas.microsoft.com/office/drawing/2014/main" val="3396213036"/>
                    </a:ext>
                  </a:extLst>
                </a:gridCol>
                <a:gridCol w="636398">
                  <a:extLst>
                    <a:ext uri="{9D8B030D-6E8A-4147-A177-3AD203B41FA5}">
                      <a16:colId xmlns:a16="http://schemas.microsoft.com/office/drawing/2014/main" val="2709234502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열 레이블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98310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행 레이블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내국인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외국인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재외국민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총합계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87263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합계 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직장보험료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억원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21335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2019</a:t>
                      </a:r>
                    </a:p>
                  </a:txBody>
                  <a:tcPr marL="13716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497451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9907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353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507711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856356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2020</a:t>
                      </a:r>
                    </a:p>
                  </a:txBody>
                  <a:tcPr marL="13716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529387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10424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540195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274292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</a:t>
                      </a:r>
                    </a:p>
                  </a:txBody>
                  <a:tcPr marL="13716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583102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11145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594667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34187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</a:t>
                      </a:r>
                    </a:p>
                  </a:txBody>
                  <a:tcPr marL="13716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653999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12373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666845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31217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</a:t>
                      </a:r>
                    </a:p>
                  </a:txBody>
                  <a:tcPr marL="13716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708655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14505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723670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9651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합계 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지역부과보험료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억원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707995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2019</a:t>
                      </a:r>
                    </a:p>
                  </a:txBody>
                  <a:tcPr marL="13716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80912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2623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83617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01871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2020</a:t>
                      </a:r>
                    </a:p>
                  </a:txBody>
                  <a:tcPr marL="13716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86311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4491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90920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31723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2021</a:t>
                      </a:r>
                    </a:p>
                  </a:txBody>
                  <a:tcPr marL="13716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95420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4648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100202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062573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</a:t>
                      </a:r>
                    </a:p>
                  </a:txBody>
                  <a:tcPr marL="13716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95812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4913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100858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26383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</a:t>
                      </a:r>
                    </a:p>
                  </a:txBody>
                  <a:tcPr marL="13716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91691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5538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137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97366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69103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 합계 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직장보험료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억원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2972594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58354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2140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3033088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03244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 합계 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지역부과보험료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억원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450146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22213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604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472963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1368296"/>
                  </a:ext>
                </a:extLst>
              </a:tr>
            </a:tbl>
          </a:graphicData>
        </a:graphic>
      </p:graphicFrame>
      <p:pic>
        <p:nvPicPr>
          <p:cNvPr id="31" name="그림 30">
            <a:extLst>
              <a:ext uri="{FF2B5EF4-FFF2-40B4-BE49-F238E27FC236}">
                <a16:creationId xmlns:a16="http://schemas.microsoft.com/office/drawing/2014/main" id="{683F1BC9-5FA7-D512-6FDE-47CA484E5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8702" y="2281054"/>
            <a:ext cx="6780138" cy="407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EF75B-D015-86CE-4F27-16B38E7A6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755399-6979-0DB6-B5BB-23FF8660A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ko-KR" altLang="en-US" dirty="0"/>
              <a:t>외국인 건강보험 이용 현황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외국인 국적별 건강보험료 부과금액</a:t>
            </a:r>
          </a:p>
        </p:txBody>
      </p:sp>
      <p:sp>
        <p:nvSpPr>
          <p:cNvPr id="80" name="날짜 개체 틀 79">
            <a:extLst>
              <a:ext uri="{FF2B5EF4-FFF2-40B4-BE49-F238E27FC236}">
                <a16:creationId xmlns:a16="http://schemas.microsoft.com/office/drawing/2014/main" id="{C9D8EB8A-314C-2E59-CD93-CF6C03E911D8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ko-KR"/>
              <a:t>20XX</a:t>
            </a:r>
            <a:r>
              <a:rPr lang="ko-KR" altLang="en-US"/>
              <a:t>년</a:t>
            </a:r>
          </a:p>
        </p:txBody>
      </p:sp>
      <p:sp>
        <p:nvSpPr>
          <p:cNvPr id="81" name="바닥글 개체 틀 80">
            <a:extLst>
              <a:ext uri="{FF2B5EF4-FFF2-40B4-BE49-F238E27FC236}">
                <a16:creationId xmlns:a16="http://schemas.microsoft.com/office/drawing/2014/main" id="{CFED84BE-F2AB-B3BB-C91E-C0EC26C053EA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ko-KR" altLang="en-US"/>
              <a:t>설명 자료</a:t>
            </a:r>
          </a:p>
        </p:txBody>
      </p:sp>
      <p:sp>
        <p:nvSpPr>
          <p:cNvPr id="82" name="슬라이드 번호 개체 틀 81">
            <a:extLst>
              <a:ext uri="{FF2B5EF4-FFF2-40B4-BE49-F238E27FC236}">
                <a16:creationId xmlns:a16="http://schemas.microsoft.com/office/drawing/2014/main" id="{A5295AC8-39D3-0FAA-0B5B-30E6FB35993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ko-KR" smtClean="0"/>
              <a:pPr rtl="0"/>
              <a:t>4</a:t>
            </a:fld>
            <a:endParaRPr lang="ko-KR" altLang="en-US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DB03FFF-DF97-BCC0-8E75-C93832A49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488107"/>
              </p:ext>
            </p:extLst>
          </p:nvPr>
        </p:nvGraphicFramePr>
        <p:xfrm>
          <a:off x="2545080" y="2217740"/>
          <a:ext cx="7559038" cy="2872740"/>
        </p:xfrm>
        <a:graphic>
          <a:graphicData uri="http://schemas.openxmlformats.org/drawingml/2006/table">
            <a:tbl>
              <a:tblPr firstRow="1" firstCol="1" bandRow="1"/>
              <a:tblGrid>
                <a:gridCol w="1870855">
                  <a:extLst>
                    <a:ext uri="{9D8B030D-6E8A-4147-A177-3AD203B41FA5}">
                      <a16:colId xmlns:a16="http://schemas.microsoft.com/office/drawing/2014/main" val="3476047180"/>
                    </a:ext>
                  </a:extLst>
                </a:gridCol>
                <a:gridCol w="1036002">
                  <a:extLst>
                    <a:ext uri="{9D8B030D-6E8A-4147-A177-3AD203B41FA5}">
                      <a16:colId xmlns:a16="http://schemas.microsoft.com/office/drawing/2014/main" val="73051593"/>
                    </a:ext>
                  </a:extLst>
                </a:gridCol>
                <a:gridCol w="645800">
                  <a:extLst>
                    <a:ext uri="{9D8B030D-6E8A-4147-A177-3AD203B41FA5}">
                      <a16:colId xmlns:a16="http://schemas.microsoft.com/office/drawing/2014/main" val="1757949278"/>
                    </a:ext>
                  </a:extLst>
                </a:gridCol>
                <a:gridCol w="645800">
                  <a:extLst>
                    <a:ext uri="{9D8B030D-6E8A-4147-A177-3AD203B41FA5}">
                      <a16:colId xmlns:a16="http://schemas.microsoft.com/office/drawing/2014/main" val="117829232"/>
                    </a:ext>
                  </a:extLst>
                </a:gridCol>
                <a:gridCol w="645800">
                  <a:extLst>
                    <a:ext uri="{9D8B030D-6E8A-4147-A177-3AD203B41FA5}">
                      <a16:colId xmlns:a16="http://schemas.microsoft.com/office/drawing/2014/main" val="1624687316"/>
                    </a:ext>
                  </a:extLst>
                </a:gridCol>
                <a:gridCol w="645800">
                  <a:extLst>
                    <a:ext uri="{9D8B030D-6E8A-4147-A177-3AD203B41FA5}">
                      <a16:colId xmlns:a16="http://schemas.microsoft.com/office/drawing/2014/main" val="3111463920"/>
                    </a:ext>
                  </a:extLst>
                </a:gridCol>
                <a:gridCol w="2068981">
                  <a:extLst>
                    <a:ext uri="{9D8B030D-6E8A-4147-A177-3AD203B41FA5}">
                      <a16:colId xmlns:a16="http://schemas.microsoft.com/office/drawing/2014/main" val="249104697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</a:pPr>
                      <a:r>
                        <a:rPr lang="ko-KR" sz="12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합계</a:t>
                      </a: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: </a:t>
                      </a:r>
                      <a:r>
                        <a:rPr lang="ko-KR" sz="12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부과금액</a:t>
                      </a: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</a:t>
                      </a:r>
                      <a:r>
                        <a:rPr lang="ko-KR" sz="12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억 원</a:t>
                      </a: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)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</a:pPr>
                      <a:r>
                        <a:rPr lang="ko-KR" sz="12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열 레이블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9003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</a:pPr>
                      <a:r>
                        <a:rPr lang="ko-KR" sz="12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행 레이블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2019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2020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2021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2022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2023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</a:pPr>
                      <a:r>
                        <a:rPr lang="ko-KR" sz="12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총합계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2182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</a:pPr>
                      <a:r>
                        <a:rPr lang="ko-KR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중국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5340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6238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7212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8083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8103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34976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26877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</a:pPr>
                      <a:r>
                        <a:rPr lang="ko-KR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미국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990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974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1192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1305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1270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5731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26199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</a:pPr>
                      <a:r>
                        <a:rPr lang="ko-KR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베트남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759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831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1061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1109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1324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5084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98366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</a:pPr>
                      <a:r>
                        <a:rPr lang="ko-KR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네팔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568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574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631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664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831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3268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59547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</a:pPr>
                      <a:r>
                        <a:rPr lang="ko-KR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우즈베키스탄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435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488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556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610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698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2787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48955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</a:pPr>
                      <a:r>
                        <a:rPr lang="ko-KR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캄보디아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471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493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529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547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617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2657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82966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</a:pPr>
                      <a:r>
                        <a:rPr lang="ko-KR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인도네시아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445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438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447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468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606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2404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236446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</a:pPr>
                      <a:r>
                        <a:rPr lang="ko-KR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필리핀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437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423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443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452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514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2269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23905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</a:pPr>
                      <a:r>
                        <a:rPr lang="ko-KR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미얀마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373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404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407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428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516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2128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00297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</a:pPr>
                      <a:r>
                        <a:rPr lang="ko-KR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러시아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186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254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293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321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357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1411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79380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</a:pPr>
                      <a:r>
                        <a:rPr lang="ko-KR" sz="12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총합계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10004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11117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12771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13987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14836</a:t>
                      </a:r>
                      <a:endParaRPr lang="ko-KR" sz="12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200" b="1" kern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62715</a:t>
                      </a:r>
                      <a:endParaRPr lang="ko-KR" sz="12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898507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F00D7558-64D7-8509-271E-CAF54D165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8343" y="2235766"/>
            <a:ext cx="6452511" cy="418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38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12AEE-51FD-9AC6-2163-82AE3E14A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09337A-C254-C08B-68EF-616F0590B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ko-KR" altLang="en-US" dirty="0"/>
              <a:t>외국인 건강보험 이용 현황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내외국인 연도별 건강보험 </a:t>
            </a:r>
            <a:r>
              <a:rPr lang="ko-KR" altLang="en-US" dirty="0" err="1"/>
              <a:t>급여비</a:t>
            </a:r>
            <a:endParaRPr lang="ko-KR" altLang="en-US" dirty="0"/>
          </a:p>
        </p:txBody>
      </p:sp>
      <p:sp>
        <p:nvSpPr>
          <p:cNvPr id="80" name="날짜 개체 틀 79">
            <a:extLst>
              <a:ext uri="{FF2B5EF4-FFF2-40B4-BE49-F238E27FC236}">
                <a16:creationId xmlns:a16="http://schemas.microsoft.com/office/drawing/2014/main" id="{76BB85C3-7490-1439-9B67-CB500D4DB96B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ko-KR"/>
              <a:t>20XX</a:t>
            </a:r>
            <a:r>
              <a:rPr lang="ko-KR" altLang="en-US"/>
              <a:t>년</a:t>
            </a:r>
          </a:p>
        </p:txBody>
      </p:sp>
      <p:sp>
        <p:nvSpPr>
          <p:cNvPr id="81" name="바닥글 개체 틀 80">
            <a:extLst>
              <a:ext uri="{FF2B5EF4-FFF2-40B4-BE49-F238E27FC236}">
                <a16:creationId xmlns:a16="http://schemas.microsoft.com/office/drawing/2014/main" id="{EA8982F0-2AD1-2403-CAC1-5A15BF7F77E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ko-KR" altLang="en-US" dirty="0"/>
              <a:t>설명 자료</a:t>
            </a:r>
          </a:p>
        </p:txBody>
      </p:sp>
      <p:sp>
        <p:nvSpPr>
          <p:cNvPr id="82" name="슬라이드 번호 개체 틀 81">
            <a:extLst>
              <a:ext uri="{FF2B5EF4-FFF2-40B4-BE49-F238E27FC236}">
                <a16:creationId xmlns:a16="http://schemas.microsoft.com/office/drawing/2014/main" id="{309BDF64-42AE-6596-2F72-62770447A14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ko-KR" smtClean="0"/>
              <a:pPr rtl="0"/>
              <a:t>5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C12B403-5C9F-D3AD-7ACB-830ACCDC2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156" y="2251710"/>
            <a:ext cx="9046890" cy="371411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092B9DE-F1A8-6EA7-9D86-7DF7EF3AF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3664" y="2037641"/>
            <a:ext cx="6549874" cy="392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413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14E72-7065-73C8-EFEE-685FC214F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456CEF-FCFF-2419-5456-636B67911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ko-KR" altLang="en-US" dirty="0"/>
              <a:t>외국인 건강보험 이용 현황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외국인 국적별 건강보험 </a:t>
            </a:r>
            <a:r>
              <a:rPr lang="ko-KR" altLang="en-US" dirty="0" err="1"/>
              <a:t>급여비</a:t>
            </a:r>
            <a:endParaRPr lang="ko-KR" altLang="en-US" dirty="0"/>
          </a:p>
        </p:txBody>
      </p:sp>
      <p:sp>
        <p:nvSpPr>
          <p:cNvPr id="80" name="날짜 개체 틀 79">
            <a:extLst>
              <a:ext uri="{FF2B5EF4-FFF2-40B4-BE49-F238E27FC236}">
                <a16:creationId xmlns:a16="http://schemas.microsoft.com/office/drawing/2014/main" id="{AF5D091E-D94D-5CF5-7674-38BCE6B90A6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ko-KR"/>
              <a:t>20XX</a:t>
            </a:r>
            <a:r>
              <a:rPr lang="ko-KR" altLang="en-US"/>
              <a:t>년</a:t>
            </a:r>
          </a:p>
        </p:txBody>
      </p:sp>
      <p:sp>
        <p:nvSpPr>
          <p:cNvPr id="81" name="바닥글 개체 틀 80">
            <a:extLst>
              <a:ext uri="{FF2B5EF4-FFF2-40B4-BE49-F238E27FC236}">
                <a16:creationId xmlns:a16="http://schemas.microsoft.com/office/drawing/2014/main" id="{6394AE61-6604-CFDE-6E1C-B3FC819FFEF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ko-KR" altLang="en-US" dirty="0"/>
              <a:t>설명 자료</a:t>
            </a:r>
          </a:p>
        </p:txBody>
      </p:sp>
      <p:sp>
        <p:nvSpPr>
          <p:cNvPr id="82" name="슬라이드 번호 개체 틀 81">
            <a:extLst>
              <a:ext uri="{FF2B5EF4-FFF2-40B4-BE49-F238E27FC236}">
                <a16:creationId xmlns:a16="http://schemas.microsoft.com/office/drawing/2014/main" id="{C03035D4-D5BF-F30F-2BD3-3F353F80130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ko-KR" smtClean="0"/>
              <a:pPr rtl="0"/>
              <a:t>6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81DBB8E-909D-FAE8-DB81-E828DFE27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988" y="2217740"/>
            <a:ext cx="7474024" cy="456120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F4976BC-8E62-4090-2C6D-4A567EE30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7996" y="2039201"/>
            <a:ext cx="6996008" cy="449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60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3605E-8F71-F806-7AF0-99A70C076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B0454F-3CE0-AB19-029D-1A70C6CDD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ko-KR" altLang="en-US" dirty="0"/>
              <a:t>외국인 건강보험 이용 현황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내외국인 연도별 건강보험 부당수급 현황</a:t>
            </a:r>
          </a:p>
        </p:txBody>
      </p:sp>
      <p:sp>
        <p:nvSpPr>
          <p:cNvPr id="80" name="날짜 개체 틀 79">
            <a:extLst>
              <a:ext uri="{FF2B5EF4-FFF2-40B4-BE49-F238E27FC236}">
                <a16:creationId xmlns:a16="http://schemas.microsoft.com/office/drawing/2014/main" id="{40C542C3-4976-A214-FB1A-294D1DF00D4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ko-KR"/>
              <a:t>20XX</a:t>
            </a:r>
            <a:r>
              <a:rPr lang="ko-KR" altLang="en-US"/>
              <a:t>년</a:t>
            </a:r>
          </a:p>
        </p:txBody>
      </p:sp>
      <p:sp>
        <p:nvSpPr>
          <p:cNvPr id="81" name="바닥글 개체 틀 80">
            <a:extLst>
              <a:ext uri="{FF2B5EF4-FFF2-40B4-BE49-F238E27FC236}">
                <a16:creationId xmlns:a16="http://schemas.microsoft.com/office/drawing/2014/main" id="{9036A743-4D67-7B7F-5DB8-EF6083A42DD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ko-KR" altLang="en-US" dirty="0"/>
              <a:t>설명 자료</a:t>
            </a:r>
          </a:p>
        </p:txBody>
      </p:sp>
      <p:sp>
        <p:nvSpPr>
          <p:cNvPr id="82" name="슬라이드 번호 개체 틀 81">
            <a:extLst>
              <a:ext uri="{FF2B5EF4-FFF2-40B4-BE49-F238E27FC236}">
                <a16:creationId xmlns:a16="http://schemas.microsoft.com/office/drawing/2014/main" id="{DA190D65-0276-CAA6-FEA8-5B14C659ED2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ko-KR" smtClean="0"/>
              <a:pPr rtl="0"/>
              <a:t>7</a:t>
            </a:fld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D94EBA4-ED08-BD81-F26B-D8F00956D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812859"/>
              </p:ext>
            </p:extLst>
          </p:nvPr>
        </p:nvGraphicFramePr>
        <p:xfrm>
          <a:off x="2819400" y="2217740"/>
          <a:ext cx="7162801" cy="2945606"/>
        </p:xfrm>
        <a:graphic>
          <a:graphicData uri="http://schemas.openxmlformats.org/drawingml/2006/table">
            <a:tbl>
              <a:tblPr firstRow="1" firstCol="1" bandRow="1"/>
              <a:tblGrid>
                <a:gridCol w="2401481">
                  <a:extLst>
                    <a:ext uri="{9D8B030D-6E8A-4147-A177-3AD203B41FA5}">
                      <a16:colId xmlns:a16="http://schemas.microsoft.com/office/drawing/2014/main" val="3887531476"/>
                    </a:ext>
                  </a:extLst>
                </a:gridCol>
                <a:gridCol w="1457547">
                  <a:extLst>
                    <a:ext uri="{9D8B030D-6E8A-4147-A177-3AD203B41FA5}">
                      <a16:colId xmlns:a16="http://schemas.microsoft.com/office/drawing/2014/main" val="2139346564"/>
                    </a:ext>
                  </a:extLst>
                </a:gridCol>
                <a:gridCol w="1457547">
                  <a:extLst>
                    <a:ext uri="{9D8B030D-6E8A-4147-A177-3AD203B41FA5}">
                      <a16:colId xmlns:a16="http://schemas.microsoft.com/office/drawing/2014/main" val="2770500017"/>
                    </a:ext>
                  </a:extLst>
                </a:gridCol>
                <a:gridCol w="1846226">
                  <a:extLst>
                    <a:ext uri="{9D8B030D-6E8A-4147-A177-3AD203B41FA5}">
                      <a16:colId xmlns:a16="http://schemas.microsoft.com/office/drawing/2014/main" val="1456458951"/>
                    </a:ext>
                  </a:extLst>
                </a:gridCol>
              </a:tblGrid>
              <a:tr h="424940"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</a:pPr>
                      <a:r>
                        <a:rPr lang="ko-KR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행 레이블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</a:pPr>
                      <a:r>
                        <a:rPr lang="ko-KR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합계</a:t>
                      </a:r>
                      <a:r>
                        <a:rPr lang="en-US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: </a:t>
                      </a:r>
                      <a:r>
                        <a:rPr lang="ko-KR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적발인원</a:t>
                      </a:r>
                      <a:r>
                        <a:rPr lang="en-US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</a:t>
                      </a:r>
                      <a:r>
                        <a:rPr lang="ko-KR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명</a:t>
                      </a:r>
                      <a:r>
                        <a:rPr lang="en-US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)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</a:pPr>
                      <a:r>
                        <a:rPr lang="ko-KR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합계</a:t>
                      </a:r>
                      <a:r>
                        <a:rPr lang="en-US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: </a:t>
                      </a:r>
                      <a:r>
                        <a:rPr lang="ko-KR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결정건수</a:t>
                      </a:r>
                      <a:r>
                        <a:rPr lang="en-US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</a:t>
                      </a:r>
                      <a:r>
                        <a:rPr lang="ko-KR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건</a:t>
                      </a:r>
                      <a:r>
                        <a:rPr lang="en-US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)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</a:pPr>
                      <a:r>
                        <a:rPr lang="ko-KR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합계</a:t>
                      </a:r>
                      <a:r>
                        <a:rPr lang="en-US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: </a:t>
                      </a:r>
                      <a:r>
                        <a:rPr lang="ko-KR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결정금액</a:t>
                      </a:r>
                      <a:r>
                        <a:rPr lang="en-US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(</a:t>
                      </a:r>
                      <a:r>
                        <a:rPr lang="ko-KR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백만 원</a:t>
                      </a:r>
                      <a:r>
                        <a:rPr lang="en-US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)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068979"/>
                  </a:ext>
                </a:extLst>
              </a:tr>
              <a:tr h="280074"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</a:pPr>
                      <a:r>
                        <a:rPr lang="ko-KR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내국인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7517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61519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1894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66501"/>
                  </a:ext>
                </a:extLst>
              </a:tr>
              <a:tr h="280074">
                <a:tc>
                  <a:txBody>
                    <a:bodyPr/>
                    <a:lstStyle/>
                    <a:p>
                      <a:pPr indent="139700" latinLnBrk="0">
                        <a:spcAft>
                          <a:spcPts val="800"/>
                        </a:spcAft>
                      </a:pPr>
                      <a:r>
                        <a:rPr lang="ko-KR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급여정지 기간 중 부당수급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5923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12359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611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81381"/>
                  </a:ext>
                </a:extLst>
              </a:tr>
              <a:tr h="280074">
                <a:tc>
                  <a:txBody>
                    <a:bodyPr/>
                    <a:lstStyle/>
                    <a:p>
                      <a:pPr indent="139700" latinLnBrk="0">
                        <a:spcAft>
                          <a:spcPts val="800"/>
                        </a:spcAft>
                      </a:pPr>
                      <a:r>
                        <a:rPr lang="ko-KR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자격상실 후 부정수급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981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11507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534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584431"/>
                  </a:ext>
                </a:extLst>
              </a:tr>
              <a:tr h="280074">
                <a:tc>
                  <a:txBody>
                    <a:bodyPr/>
                    <a:lstStyle/>
                    <a:p>
                      <a:pPr indent="139700" latinLnBrk="0">
                        <a:spcAft>
                          <a:spcPts val="800"/>
                        </a:spcAft>
                      </a:pPr>
                      <a:r>
                        <a:rPr lang="ko-KR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증 대여</a:t>
                      </a:r>
                      <a:r>
                        <a:rPr lang="ko-KR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MS Mincho" panose="02020609040205080304" pitchFamily="49" charset="-128"/>
                          <a:cs typeface="MS Mincho" panose="02020609040205080304" pitchFamily="49" charset="-128"/>
                        </a:rPr>
                        <a:t>･</a:t>
                      </a:r>
                      <a:r>
                        <a:rPr lang="ko-KR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도용</a:t>
                      </a:r>
                      <a:r>
                        <a:rPr lang="ko-KR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부정수급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613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37653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749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339625"/>
                  </a:ext>
                </a:extLst>
              </a:tr>
              <a:tr h="280074"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</a:pPr>
                      <a:r>
                        <a:rPr lang="ko-KR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외국인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14630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40020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1991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070616"/>
                  </a:ext>
                </a:extLst>
              </a:tr>
              <a:tr h="280074">
                <a:tc>
                  <a:txBody>
                    <a:bodyPr/>
                    <a:lstStyle/>
                    <a:p>
                      <a:pPr indent="139700" latinLnBrk="0">
                        <a:spcAft>
                          <a:spcPts val="800"/>
                        </a:spcAft>
                      </a:pPr>
                      <a:r>
                        <a:rPr lang="ko-KR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급여정지 기간 중 부당수급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51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108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7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343767"/>
                  </a:ext>
                </a:extLst>
              </a:tr>
              <a:tr h="280074">
                <a:tc>
                  <a:txBody>
                    <a:bodyPr/>
                    <a:lstStyle/>
                    <a:p>
                      <a:pPr indent="139700" latinLnBrk="0">
                        <a:spcAft>
                          <a:spcPts val="800"/>
                        </a:spcAft>
                      </a:pPr>
                      <a:r>
                        <a:rPr lang="ko-KR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자격상실 후 부정수급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14538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37147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1881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741855"/>
                  </a:ext>
                </a:extLst>
              </a:tr>
              <a:tr h="280074">
                <a:tc>
                  <a:txBody>
                    <a:bodyPr/>
                    <a:lstStyle/>
                    <a:p>
                      <a:pPr indent="139700" latinLnBrk="0">
                        <a:spcAft>
                          <a:spcPts val="800"/>
                        </a:spcAft>
                      </a:pPr>
                      <a:r>
                        <a:rPr lang="ko-KR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증 대여</a:t>
                      </a:r>
                      <a:r>
                        <a:rPr lang="ko-KR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MS Mincho" panose="02020609040205080304" pitchFamily="49" charset="-128"/>
                          <a:cs typeface="MS Mincho" panose="02020609040205080304" pitchFamily="49" charset="-128"/>
                        </a:rPr>
                        <a:t>･</a:t>
                      </a:r>
                      <a:r>
                        <a:rPr lang="ko-KR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맑은 고딕" panose="020B0503020000020004" pitchFamily="50" charset="-127"/>
                        </a:rPr>
                        <a:t>도용</a:t>
                      </a:r>
                      <a:r>
                        <a:rPr lang="ko-KR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 부정수급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41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2765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103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915985"/>
                  </a:ext>
                </a:extLst>
              </a:tr>
              <a:tr h="280074"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</a:pPr>
                      <a:r>
                        <a:rPr lang="ko-KR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총합계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22147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100" b="1" ker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101539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</a:pPr>
                      <a:r>
                        <a:rPr lang="en-US" sz="1100" b="1" kern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굴림" panose="020B0600000101010101" pitchFamily="50" charset="-127"/>
                        </a:rPr>
                        <a:t>3885</a:t>
                      </a: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9BC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148127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2DD8ABBB-F98F-7E60-1DF0-BD7F004A0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715" y="2328389"/>
            <a:ext cx="6700169" cy="416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738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0028B-1ED9-2057-F9EB-619E0C1C5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35946F-4467-5E79-4A8C-5757371DA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ko-KR" altLang="en-US" dirty="0"/>
              <a:t>외국인 건강보험 이용 현황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ko-KR" altLang="en-US" dirty="0"/>
              <a:t>외국인 국적별 자격상실후 부정수급 현황</a:t>
            </a:r>
          </a:p>
        </p:txBody>
      </p:sp>
      <p:sp>
        <p:nvSpPr>
          <p:cNvPr id="80" name="날짜 개체 틀 79">
            <a:extLst>
              <a:ext uri="{FF2B5EF4-FFF2-40B4-BE49-F238E27FC236}">
                <a16:creationId xmlns:a16="http://schemas.microsoft.com/office/drawing/2014/main" id="{0508FC5B-9076-E019-B6CA-29B821B615D5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n-US" altLang="ko-KR"/>
              <a:t>20XX</a:t>
            </a:r>
            <a:r>
              <a:rPr lang="ko-KR" altLang="en-US"/>
              <a:t>년</a:t>
            </a:r>
          </a:p>
        </p:txBody>
      </p:sp>
      <p:sp>
        <p:nvSpPr>
          <p:cNvPr id="81" name="바닥글 개체 틀 80">
            <a:extLst>
              <a:ext uri="{FF2B5EF4-FFF2-40B4-BE49-F238E27FC236}">
                <a16:creationId xmlns:a16="http://schemas.microsoft.com/office/drawing/2014/main" id="{AD837265-F22C-4AC9-9E69-686803A1756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ko-KR" altLang="en-US" dirty="0"/>
              <a:t>설명 자료</a:t>
            </a:r>
          </a:p>
        </p:txBody>
      </p:sp>
      <p:sp>
        <p:nvSpPr>
          <p:cNvPr id="82" name="슬라이드 번호 개체 틀 81">
            <a:extLst>
              <a:ext uri="{FF2B5EF4-FFF2-40B4-BE49-F238E27FC236}">
                <a16:creationId xmlns:a16="http://schemas.microsoft.com/office/drawing/2014/main" id="{7C5768C9-4EC1-A563-D879-A5EC337F035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n-US" altLang="ko-KR" smtClean="0"/>
              <a:pPr rtl="0"/>
              <a:t>8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FCFF2C0-8943-C287-C841-8E093484AA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598" b="4277"/>
          <a:stretch/>
        </p:blipFill>
        <p:spPr>
          <a:xfrm>
            <a:off x="3581400" y="2195192"/>
            <a:ext cx="5288280" cy="442028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D13DB45-29A1-DB10-0738-3237B90CB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156" y="2302166"/>
            <a:ext cx="8775717" cy="396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664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F78997-CE0A-73AC-CB6A-134BA7644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정책 현황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외국인 건강보험 피부양자 자격요건 변경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5610FFD3-C5D1-AEAD-FDCE-1693E43D618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0D62DDF8-83D4-B929-265E-9D2D244EAC7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086600" y="5480367"/>
            <a:ext cx="4114800" cy="365125"/>
          </a:xfrm>
        </p:spPr>
        <p:txBody>
          <a:bodyPr/>
          <a:lstStyle/>
          <a:p>
            <a:r>
              <a:rPr lang="ko-KR" altLang="en-US" dirty="0"/>
              <a:t>출처 </a:t>
            </a:r>
            <a:r>
              <a:rPr lang="en-US" altLang="ko-KR" dirty="0"/>
              <a:t>: https://news.kbs.co.kr/news/pc/view/view.do?ncd=7873778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650BF54E-BAED-A1B3-76AA-9B13F5782B2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altLang="ko-KR" noProof="0" smtClean="0"/>
              <a:pPr/>
              <a:t>9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6C861717-4E40-C571-8D54-0F1128A073AC}"/>
              </a:ext>
            </a:extLst>
          </p:cNvPr>
          <p:cNvSpPr txBox="1">
            <a:spLocks/>
          </p:cNvSpPr>
          <p:nvPr/>
        </p:nvSpPr>
        <p:spPr>
          <a:xfrm>
            <a:off x="2209800" y="1996440"/>
            <a:ext cx="8421688" cy="4359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endParaRPr lang="en-US" altLang="ko-KR" dirty="0"/>
          </a:p>
        </p:txBody>
      </p:sp>
      <p:sp>
        <p:nvSpPr>
          <p:cNvPr id="16" name="텍스트 개체 틀 3">
            <a:extLst>
              <a:ext uri="{FF2B5EF4-FFF2-40B4-BE49-F238E27FC236}">
                <a16:creationId xmlns:a16="http://schemas.microsoft.com/office/drawing/2014/main" id="{C8E7931C-B7E3-9A43-312B-14571C99E1E4}"/>
              </a:ext>
            </a:extLst>
          </p:cNvPr>
          <p:cNvSpPr txBox="1">
            <a:spLocks/>
          </p:cNvSpPr>
          <p:nvPr/>
        </p:nvSpPr>
        <p:spPr>
          <a:xfrm>
            <a:off x="1560512" y="2652835"/>
            <a:ext cx="9640888" cy="27459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/>
              <a:t>오는 </a:t>
            </a:r>
            <a:r>
              <a:rPr lang="en-US" altLang="ko-KR" sz="1600" dirty="0"/>
              <a:t>4</a:t>
            </a:r>
            <a:r>
              <a:rPr lang="ko-KR" altLang="en-US" sz="1600" dirty="0"/>
              <a:t>월부터 외국인과 재외국민 등은 </a:t>
            </a:r>
            <a:r>
              <a:rPr lang="en-US" altLang="ko-KR" sz="1600" dirty="0"/>
              <a:t>6</a:t>
            </a:r>
            <a:r>
              <a:rPr lang="ko-KR" altLang="en-US" sz="1600" dirty="0"/>
              <a:t>개월 이상 국내에 거주해야 건강보험 피부양자 자격을 얻을 수 있게 됩니다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국민건강보험공단은 이 같은 내용을 핵심으로 하는 </a:t>
            </a:r>
            <a:r>
              <a:rPr lang="en-US" altLang="ko-KR" sz="1600" dirty="0"/>
              <a:t>'</a:t>
            </a:r>
            <a:r>
              <a:rPr lang="ko-KR" altLang="en-US" sz="1600" dirty="0"/>
              <a:t>건강보험법</a:t>
            </a:r>
            <a:r>
              <a:rPr lang="en-US" altLang="ko-KR" sz="1600" dirty="0"/>
              <a:t>' </a:t>
            </a:r>
            <a:r>
              <a:rPr lang="ko-KR" altLang="en-US" sz="1600" dirty="0"/>
              <a:t>개정안이 </a:t>
            </a:r>
            <a:r>
              <a:rPr lang="en-US" altLang="ko-KR" sz="1600" dirty="0"/>
              <a:t>4</a:t>
            </a:r>
            <a:r>
              <a:rPr lang="ko-KR" altLang="en-US" sz="1600" dirty="0"/>
              <a:t>월 </a:t>
            </a:r>
            <a:r>
              <a:rPr lang="en-US" altLang="ko-KR" sz="1600" dirty="0"/>
              <a:t>3</a:t>
            </a:r>
            <a:r>
              <a:rPr lang="ko-KR" altLang="en-US" sz="1600" dirty="0"/>
              <a:t>일부터 시행된다고 오늘</a:t>
            </a:r>
            <a:r>
              <a:rPr lang="en-US" altLang="ko-KR" sz="1600" dirty="0"/>
              <a:t>(24</a:t>
            </a:r>
            <a:r>
              <a:rPr lang="ko-KR" altLang="en-US" sz="1600" dirty="0"/>
              <a:t>일</a:t>
            </a:r>
            <a:r>
              <a:rPr lang="en-US" altLang="ko-KR" sz="1600" dirty="0"/>
              <a:t>) </a:t>
            </a:r>
            <a:r>
              <a:rPr lang="ko-KR" altLang="en-US" sz="1600" dirty="0"/>
              <a:t>밝혔습니다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이번 개정안은 외국인과 재외국민이 피부양자가 되려면 직장가입자와의 관계나 소득</a:t>
            </a:r>
            <a:r>
              <a:rPr lang="en-US" altLang="ko-KR" sz="1600" dirty="0"/>
              <a:t>·</a:t>
            </a:r>
            <a:r>
              <a:rPr lang="ko-KR" altLang="en-US" sz="1600" dirty="0"/>
              <a:t>재산 </a:t>
            </a:r>
            <a:r>
              <a:rPr lang="ko-KR" altLang="en-US" sz="1600" dirty="0" err="1"/>
              <a:t>요건뿐</a:t>
            </a:r>
            <a:r>
              <a:rPr lang="ko-KR" altLang="en-US" sz="1600" dirty="0"/>
              <a:t> 아니라</a:t>
            </a:r>
            <a:r>
              <a:rPr lang="en-US" altLang="ko-KR" sz="1600" dirty="0"/>
              <a:t>, </a:t>
            </a:r>
            <a:r>
              <a:rPr lang="ko-KR" altLang="en-US" sz="1600" dirty="0"/>
              <a:t>국내 거주기간이 </a:t>
            </a:r>
            <a:r>
              <a:rPr lang="en-US" altLang="ko-KR" sz="1600" dirty="0"/>
              <a:t>6</a:t>
            </a:r>
            <a:r>
              <a:rPr lang="ko-KR" altLang="en-US" sz="1600" dirty="0"/>
              <a:t>개월 이상 이도록 하는 조건을 추가해 피부양자 취득 요건을 강화한 것입니다</a:t>
            </a:r>
            <a:r>
              <a:rPr lang="en-US" altLang="ko-KR" sz="1600" dirty="0"/>
              <a:t>.</a:t>
            </a:r>
          </a:p>
          <a:p>
            <a:r>
              <a:rPr lang="ko-KR" altLang="en-US" sz="1600" b="1" dirty="0"/>
              <a:t>이는 외국인의 친인척이 피부양자로 이름을 올려 필요할 때만 국내에 들어와 수술이나 치료를 받고 출국하는 일을 막겠다는 취지를 담고 있다고 공단은 설명했습니다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5696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B32B0-557E-8B5A-8026-258EC9200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45C46C-1EFE-3D73-6BE6-0A5AAC24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타국의 이용요건 비교 </a:t>
            </a:r>
            <a:r>
              <a:rPr lang="en-US" altLang="ko-KR" dirty="0"/>
              <a:t>: </a:t>
            </a:r>
            <a:r>
              <a:rPr lang="ko-KR" altLang="en-US" dirty="0"/>
              <a:t>영국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4C7D1C80-00F4-C5C2-4D70-9CF92F6F987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C52B4ABE-3A27-6E4F-FA04-DF63F79167E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086600" y="5480367"/>
            <a:ext cx="4114800" cy="365125"/>
          </a:xfrm>
        </p:spPr>
        <p:txBody>
          <a:bodyPr/>
          <a:lstStyle/>
          <a:p>
            <a:r>
              <a:rPr lang="ko-KR" altLang="en-US" dirty="0"/>
              <a:t>이미지 </a:t>
            </a:r>
            <a:r>
              <a:rPr lang="en-US" altLang="ko-KR" dirty="0"/>
              <a:t>: https://en.wikipedia.org/wiki/NHS_England</a:t>
            </a: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21D1642E-D3F4-8580-304E-3CDB98F836F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altLang="ko-KR" noProof="0" smtClean="0"/>
              <a:pPr/>
              <a:t>10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3F94281C-171C-4E82-28FA-DE3A72A1B67E}"/>
              </a:ext>
            </a:extLst>
          </p:cNvPr>
          <p:cNvSpPr txBox="1">
            <a:spLocks/>
          </p:cNvSpPr>
          <p:nvPr/>
        </p:nvSpPr>
        <p:spPr>
          <a:xfrm>
            <a:off x="2209800" y="1996440"/>
            <a:ext cx="8421688" cy="4359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endParaRPr lang="en-US" altLang="ko-KR" dirty="0"/>
          </a:p>
        </p:txBody>
      </p:sp>
      <p:sp>
        <p:nvSpPr>
          <p:cNvPr id="16" name="텍스트 개체 틀 3">
            <a:extLst>
              <a:ext uri="{FF2B5EF4-FFF2-40B4-BE49-F238E27FC236}">
                <a16:creationId xmlns:a16="http://schemas.microsoft.com/office/drawing/2014/main" id="{C7C96A05-304B-AA34-BA02-D68D4FAF80F3}"/>
              </a:ext>
            </a:extLst>
          </p:cNvPr>
          <p:cNvSpPr txBox="1">
            <a:spLocks/>
          </p:cNvSpPr>
          <p:nvPr/>
        </p:nvSpPr>
        <p:spPr>
          <a:xfrm>
            <a:off x="1560512" y="3688520"/>
            <a:ext cx="9640888" cy="1791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 latinLnBrk="1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6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개월 이상 영국에 체류하려는 경우 비자 신청 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IHS(Immigration Health Surcharge)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라는 추가 비용을 지불하여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NHS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서비스를 무료로 이용 가능 </a:t>
            </a:r>
            <a:endParaRPr lang="en-US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457200" lvl="1" indent="0" algn="ctr" latinLnBrk="1">
              <a:spcAft>
                <a:spcPts val="800"/>
              </a:spcAft>
              <a:buNone/>
            </a:pP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또한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유럽경제지역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(EEA)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및 스위스 국적자라면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영국에 거주하지 않더라도 유럽 건강 보험 카드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(EHIC)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소지하고 있을 경우 영국에서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NHS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서비스를 받을 수 있으나 영국의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EU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탈퇴 이후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EHIC </a:t>
            </a:r>
            <a:r>
              <a:rPr lang="ko-KR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혜택이 일부 축소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4" name="그림 3" descr="폰트, 스크린샷, 그래픽, 텍스트이(가) 표시된 사진&#10;&#10;자동 생성된 설명">
            <a:extLst>
              <a:ext uri="{FF2B5EF4-FFF2-40B4-BE49-F238E27FC236}">
                <a16:creationId xmlns:a16="http://schemas.microsoft.com/office/drawing/2014/main" id="{460E6C0E-6AED-551B-A2F0-5B357A77F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078" y="1900850"/>
            <a:ext cx="2041844" cy="159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754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92608-E1C3-B46E-3EA3-3DE67F585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D97EE2-B421-11E8-8D31-A80171DC3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타국의 이용요건 비교 </a:t>
            </a:r>
            <a:r>
              <a:rPr lang="en-US" altLang="ko-KR" dirty="0"/>
              <a:t>: </a:t>
            </a:r>
            <a:r>
              <a:rPr lang="ko-KR" altLang="en-US" dirty="0"/>
              <a:t>독일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E926080E-39B2-36D0-F4AB-8BE3B6126ADB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9119CACE-CE90-06C8-10FF-25BFDF8D7BE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6964680" y="5991225"/>
            <a:ext cx="4114800" cy="365125"/>
          </a:xfrm>
        </p:spPr>
        <p:txBody>
          <a:bodyPr/>
          <a:lstStyle/>
          <a:p>
            <a:r>
              <a:rPr lang="ko-KR" altLang="en-US" dirty="0"/>
              <a:t>이미지 </a:t>
            </a:r>
            <a:r>
              <a:rPr lang="en-US" altLang="ko-KR" dirty="0"/>
              <a:t>: https://www.pkv.de/wissen/private-krankenversicherung/</a:t>
            </a:r>
          </a:p>
          <a:p>
            <a:endParaRPr lang="en-US" altLang="ko-KR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CEE18B-13A3-D56C-880C-54E8FBB0CF2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altLang="ko-KR" noProof="0" smtClean="0"/>
              <a:pPr/>
              <a:t>11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04A137F7-60EC-A5E8-E895-74B15A89C4FB}"/>
              </a:ext>
            </a:extLst>
          </p:cNvPr>
          <p:cNvSpPr txBox="1">
            <a:spLocks/>
          </p:cNvSpPr>
          <p:nvPr/>
        </p:nvSpPr>
        <p:spPr>
          <a:xfrm>
            <a:off x="2209800" y="1996440"/>
            <a:ext cx="8421688" cy="4359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endParaRPr lang="en-US" altLang="ko-KR" dirty="0"/>
          </a:p>
        </p:txBody>
      </p:sp>
      <p:sp>
        <p:nvSpPr>
          <p:cNvPr id="16" name="텍스트 개체 틀 3">
            <a:extLst>
              <a:ext uri="{FF2B5EF4-FFF2-40B4-BE49-F238E27FC236}">
                <a16:creationId xmlns:a16="http://schemas.microsoft.com/office/drawing/2014/main" id="{736078B9-26C8-D0F9-0838-1F6DD919A177}"/>
              </a:ext>
            </a:extLst>
          </p:cNvPr>
          <p:cNvSpPr txBox="1">
            <a:spLocks/>
          </p:cNvSpPr>
          <p:nvPr/>
        </p:nvSpPr>
        <p:spPr>
          <a:xfrm>
            <a:off x="1438592" y="4199378"/>
            <a:ext cx="9640888" cy="1791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 latinLnBrk="1">
              <a:spcAft>
                <a:spcPts val="800"/>
              </a:spcAft>
              <a:buNone/>
            </a:pP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공공 건강보험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(GKV)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 사설 건강보험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(PKV)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체제로 이원화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marL="457200" lvl="1" indent="0" algn="ctr" latinLnBrk="1">
              <a:spcAft>
                <a:spcPts val="800"/>
              </a:spcAft>
              <a:buNone/>
            </a:pP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외국인 근로자의 경우 자동적으로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GKV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 의무가입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독일 대학 소재 외국인 학생의 경우 더 저렴하게 보험료를 내며 의무 가입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marL="457200" lvl="1" indent="0" algn="ctr" latinLnBrk="1">
              <a:spcAft>
                <a:spcPts val="800"/>
              </a:spcAft>
              <a:buNone/>
            </a:pP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EU/EEA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학생의 경우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EHIC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이용하면 별도의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GVK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가입 불필요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소득이 없는 배우자나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23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세 미만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학생인 경우엔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25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세 미만의 자녀는 피부양자로 등록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5" name="그림 4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077A6D64-E60F-9250-081F-2DF1ABAA3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195" y="1864654"/>
            <a:ext cx="3467610" cy="231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876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28A64-53FC-404A-6739-DB0BA45FE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DBC9F7-E1D0-BA88-9D37-B9D5A59E8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타국의 이용요건 비교 </a:t>
            </a:r>
            <a:r>
              <a:rPr lang="en-US" altLang="ko-KR" dirty="0"/>
              <a:t>: </a:t>
            </a:r>
            <a:r>
              <a:rPr lang="ko-KR" altLang="en-US" dirty="0"/>
              <a:t>덴마크</a:t>
            </a:r>
            <a:r>
              <a:rPr lang="en-US" altLang="ko-KR" dirty="0"/>
              <a:t>, </a:t>
            </a:r>
            <a:r>
              <a:rPr lang="ko-KR" altLang="en-US" dirty="0"/>
              <a:t>노르웨이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DDAB13C-3FEA-5439-3454-1FA02B9EB8D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6252F90E-02EC-0319-4AB5-38EA42FE020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086600" y="5991225"/>
            <a:ext cx="4114800" cy="365125"/>
          </a:xfrm>
        </p:spPr>
        <p:txBody>
          <a:bodyPr/>
          <a:lstStyle/>
          <a:p>
            <a:r>
              <a:rPr lang="ko-KR" altLang="en-US" dirty="0"/>
              <a:t>이미지 </a:t>
            </a:r>
            <a:r>
              <a:rPr lang="en-US" altLang="ko-KR" dirty="0"/>
              <a:t>: </a:t>
            </a:r>
            <a:br>
              <a:rPr lang="en-US" altLang="ko-KR" dirty="0"/>
            </a:br>
            <a:r>
              <a:rPr lang="en-US" altLang="ko-KR" dirty="0">
                <a:hlinkClick r:id="rId2"/>
              </a:rPr>
              <a:t>https://ehin.no/2023/sponsor/healthcare-denmark/</a:t>
            </a:r>
            <a:endParaRPr lang="en-US" altLang="ko-KR" dirty="0"/>
          </a:p>
          <a:p>
            <a:r>
              <a:rPr lang="en-US" altLang="ko-KR" dirty="0"/>
              <a:t>https://www.commonwealthfund.org/international-health-policy-center/countries/norway</a:t>
            </a:r>
          </a:p>
          <a:p>
            <a:endParaRPr lang="en-US" altLang="ko-KR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415CA0C6-9F66-1976-7A50-2D10799E3F8E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altLang="ko-KR" noProof="0" smtClean="0"/>
              <a:pPr/>
              <a:t>12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AE35456D-BAC0-3E8D-B9BD-1BE482D836A5}"/>
              </a:ext>
            </a:extLst>
          </p:cNvPr>
          <p:cNvSpPr txBox="1">
            <a:spLocks/>
          </p:cNvSpPr>
          <p:nvPr/>
        </p:nvSpPr>
        <p:spPr>
          <a:xfrm>
            <a:off x="2209800" y="1996440"/>
            <a:ext cx="8421688" cy="4359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endParaRPr lang="en-US" altLang="ko-KR" dirty="0"/>
          </a:p>
        </p:txBody>
      </p:sp>
      <p:pic>
        <p:nvPicPr>
          <p:cNvPr id="5" name="그림 4" descr="폰트, 로고, 텍스트, 그래픽이(가) 표시된 사진&#10;&#10;자동 생성된 설명">
            <a:extLst>
              <a:ext uri="{FF2B5EF4-FFF2-40B4-BE49-F238E27FC236}">
                <a16:creationId xmlns:a16="http://schemas.microsoft.com/office/drawing/2014/main" id="{991FDE87-7410-298D-F92C-39FE4FB6D0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87" t="32402" r="10169" b="27683"/>
          <a:stretch/>
        </p:blipFill>
        <p:spPr>
          <a:xfrm>
            <a:off x="2377440" y="2206906"/>
            <a:ext cx="4312920" cy="1211261"/>
          </a:xfrm>
          <a:prstGeom prst="rect">
            <a:avLst/>
          </a:prstGeom>
        </p:spPr>
      </p:pic>
      <p:pic>
        <p:nvPicPr>
          <p:cNvPr id="9" name="그림 8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40DB28CA-A781-310A-C28E-733D816F9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0360" y="1763610"/>
            <a:ext cx="2910680" cy="2459786"/>
          </a:xfrm>
          <a:prstGeom prst="rect">
            <a:avLst/>
          </a:prstGeom>
        </p:spPr>
      </p:pic>
      <p:sp>
        <p:nvSpPr>
          <p:cNvPr id="16" name="텍스트 개체 틀 3">
            <a:extLst>
              <a:ext uri="{FF2B5EF4-FFF2-40B4-BE49-F238E27FC236}">
                <a16:creationId xmlns:a16="http://schemas.microsoft.com/office/drawing/2014/main" id="{E56D3EB5-9350-B90E-2868-29E16C5A6B14}"/>
              </a:ext>
            </a:extLst>
          </p:cNvPr>
          <p:cNvSpPr txBox="1">
            <a:spLocks/>
          </p:cNvSpPr>
          <p:nvPr/>
        </p:nvSpPr>
        <p:spPr>
          <a:xfrm>
            <a:off x="1560512" y="4199378"/>
            <a:ext cx="9640888" cy="1791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 latinLnBrk="1">
              <a:spcAft>
                <a:spcPts val="800"/>
              </a:spcAft>
              <a:buNone/>
            </a:pP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덴마크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3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개월 이상 거주할 경우 덴마크 주민등록번호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(CPR)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와 함께 건강 카드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en-US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Sundhedskort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발급받아 공공 의료 서비스를 이용</a:t>
            </a:r>
          </a:p>
          <a:p>
            <a:pPr marL="457200" lvl="1" indent="0" algn="ctr" latinLnBrk="1">
              <a:spcAft>
                <a:spcPts val="800"/>
              </a:spcAft>
              <a:buNone/>
            </a:pP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노르웨이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12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개월 이상의 장기체류자는 공공 의료 시스템에 가입해야 하며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이는 대부분 자동으로 등록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등록 후 국가 건강보험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en-US" altLang="ko-KR" sz="18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Folketrygden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을 통해 공공 의료 서비스를 받을 수 있음</a:t>
            </a:r>
          </a:p>
        </p:txBody>
      </p:sp>
    </p:spTree>
    <p:extLst>
      <p:ext uri="{BB962C8B-B14F-4D97-AF65-F5344CB8AC3E}">
        <p14:creationId xmlns:p14="http://schemas.microsoft.com/office/powerpoint/2010/main" val="404470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93AC0-9D6F-359A-B894-A0C79186D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5B73F5-8EAA-A99B-742C-0843ED76C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해결방안 </a:t>
            </a:r>
            <a:r>
              <a:rPr lang="en-US" altLang="ko-KR" dirty="0"/>
              <a:t>: </a:t>
            </a:r>
            <a:r>
              <a:rPr lang="ko-KR" altLang="en-US" dirty="0"/>
              <a:t>외국인 가입을 막아야만 할까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 - </a:t>
            </a:r>
            <a:r>
              <a:rPr lang="ko-KR" altLang="en-US" dirty="0"/>
              <a:t>보험의 위험 분산 관점에서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30F583EA-F280-947C-95AB-AF0964341D5B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E7ABDB11-4124-18BC-F430-40DA402BDBA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086600" y="5991225"/>
            <a:ext cx="4114800" cy="365125"/>
          </a:xfrm>
        </p:spPr>
        <p:txBody>
          <a:bodyPr/>
          <a:lstStyle/>
          <a:p>
            <a:r>
              <a:rPr lang="ko-KR" altLang="en-US" dirty="0"/>
              <a:t>출처 </a:t>
            </a:r>
            <a:r>
              <a:rPr lang="en-US" altLang="ko-KR" dirty="0"/>
              <a:t>: </a:t>
            </a:r>
            <a:r>
              <a:rPr lang="ko-KR" altLang="en-US" dirty="0"/>
              <a:t>인하대학교 사회보장론</a:t>
            </a:r>
            <a:r>
              <a:rPr lang="en-US" altLang="ko-KR" dirty="0"/>
              <a:t> (</a:t>
            </a:r>
            <a:r>
              <a:rPr lang="ko-KR" altLang="en-US" dirty="0" err="1"/>
              <a:t>강병구</a:t>
            </a:r>
            <a:r>
              <a:rPr lang="en-US" altLang="ko-KR" dirty="0"/>
              <a:t>)  </a:t>
            </a:r>
            <a:r>
              <a:rPr lang="ko-KR" altLang="en-US" dirty="0"/>
              <a:t>중 제</a:t>
            </a:r>
            <a:r>
              <a:rPr lang="en-US" altLang="ko-KR" dirty="0"/>
              <a:t>7</a:t>
            </a:r>
            <a:r>
              <a:rPr lang="ko-KR" altLang="en-US" dirty="0"/>
              <a:t>강</a:t>
            </a:r>
            <a:r>
              <a:rPr lang="en-US" altLang="ko-KR" dirty="0"/>
              <a:t>. </a:t>
            </a:r>
            <a:r>
              <a:rPr lang="ko-KR" altLang="en-US" dirty="0"/>
              <a:t>보험의 경제학</a:t>
            </a:r>
            <a:endParaRPr lang="en-US" altLang="ko-KR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000F99BA-0252-7D10-F8DF-0D292E6236A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altLang="ko-KR" noProof="0" smtClean="0"/>
              <a:pPr/>
              <a:t>13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5DA1E7B2-5CF9-BC92-F715-E3CB5F2D5957}"/>
              </a:ext>
            </a:extLst>
          </p:cNvPr>
          <p:cNvSpPr txBox="1">
            <a:spLocks/>
          </p:cNvSpPr>
          <p:nvPr/>
        </p:nvSpPr>
        <p:spPr>
          <a:xfrm>
            <a:off x="2209800" y="1996440"/>
            <a:ext cx="8421688" cy="4359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endParaRPr lang="en-US" altLang="ko-KR" dirty="0"/>
          </a:p>
        </p:txBody>
      </p:sp>
      <p:sp>
        <p:nvSpPr>
          <p:cNvPr id="16" name="텍스트 개체 틀 3">
            <a:extLst>
              <a:ext uri="{FF2B5EF4-FFF2-40B4-BE49-F238E27FC236}">
                <a16:creationId xmlns:a16="http://schemas.microsoft.com/office/drawing/2014/main" id="{F9E31C3E-D2B4-53E0-C4B3-D4B8F7B25661}"/>
              </a:ext>
            </a:extLst>
          </p:cNvPr>
          <p:cNvSpPr txBox="1">
            <a:spLocks/>
          </p:cNvSpPr>
          <p:nvPr/>
        </p:nvSpPr>
        <p:spPr>
          <a:xfrm>
            <a:off x="1275556" y="2751323"/>
            <a:ext cx="9640888" cy="1791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 latinLnBrk="1">
              <a:spcAft>
                <a:spcPts val="800"/>
              </a:spcAft>
              <a:buNone/>
            </a:pPr>
            <a:endParaRPr lang="ko-KR" altLang="en-US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6" name="그림 5" descr="텍스트, 스크린샷, 폰트, 문서이(가) 표시된 사진&#10;&#10;자동 생성된 설명">
            <a:extLst>
              <a:ext uri="{FF2B5EF4-FFF2-40B4-BE49-F238E27FC236}">
                <a16:creationId xmlns:a16="http://schemas.microsoft.com/office/drawing/2014/main" id="{16F84F03-B4BA-D65F-F35A-E288CA2269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21" t="15978" r="9195" b="13356"/>
          <a:stretch/>
        </p:blipFill>
        <p:spPr>
          <a:xfrm>
            <a:off x="2662396" y="2027716"/>
            <a:ext cx="6542564" cy="400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590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E75FC-1B9C-43EC-69E7-97FBB63C5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0C8459-DFFC-E944-26CF-9E92AA00E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해결방안 </a:t>
            </a:r>
            <a:r>
              <a:rPr lang="en-US" altLang="ko-KR" dirty="0"/>
              <a:t>: </a:t>
            </a:r>
            <a:r>
              <a:rPr lang="ko-KR" altLang="en-US" dirty="0"/>
              <a:t>외국인 가입을 막아야만 할까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 - </a:t>
            </a:r>
            <a:r>
              <a:rPr lang="ko-KR" altLang="en-US" dirty="0"/>
              <a:t>보험의 위험 분산 관점에서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101E4218-A8DE-8ABC-67A5-F70B1546542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4ABF7B6F-647F-86DF-A80A-EDE652A413A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086600" y="5991225"/>
            <a:ext cx="4114800" cy="365125"/>
          </a:xfrm>
        </p:spPr>
        <p:txBody>
          <a:bodyPr/>
          <a:lstStyle/>
          <a:p>
            <a:r>
              <a:rPr lang="ko-KR" altLang="en-US" dirty="0"/>
              <a:t>출처 </a:t>
            </a:r>
            <a:r>
              <a:rPr lang="en-US" altLang="ko-KR" dirty="0"/>
              <a:t>: </a:t>
            </a:r>
            <a:r>
              <a:rPr lang="ko-KR" altLang="en-US" dirty="0"/>
              <a:t>인하대학교 사회보장론</a:t>
            </a:r>
            <a:r>
              <a:rPr lang="en-US" altLang="ko-KR" dirty="0"/>
              <a:t> (</a:t>
            </a:r>
            <a:r>
              <a:rPr lang="ko-KR" altLang="en-US" dirty="0" err="1"/>
              <a:t>강병구</a:t>
            </a:r>
            <a:r>
              <a:rPr lang="en-US" altLang="ko-KR" dirty="0"/>
              <a:t>)  </a:t>
            </a:r>
            <a:r>
              <a:rPr lang="ko-KR" altLang="en-US" dirty="0"/>
              <a:t>중 제</a:t>
            </a:r>
            <a:r>
              <a:rPr lang="en-US" altLang="ko-KR" dirty="0"/>
              <a:t>7</a:t>
            </a:r>
            <a:r>
              <a:rPr lang="ko-KR" altLang="en-US" dirty="0"/>
              <a:t>강</a:t>
            </a:r>
            <a:r>
              <a:rPr lang="en-US" altLang="ko-KR" dirty="0"/>
              <a:t>. </a:t>
            </a:r>
            <a:r>
              <a:rPr lang="ko-KR" altLang="en-US" dirty="0"/>
              <a:t>보험의 경제학</a:t>
            </a:r>
            <a:endParaRPr lang="en-US" altLang="ko-KR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2DC058B2-EC3F-13E0-69E6-C67F2FE5613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altLang="ko-KR" noProof="0" smtClean="0"/>
              <a:pPr/>
              <a:t>14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374DD515-01F2-2ACE-F500-6A82EF158C91}"/>
              </a:ext>
            </a:extLst>
          </p:cNvPr>
          <p:cNvSpPr txBox="1">
            <a:spLocks/>
          </p:cNvSpPr>
          <p:nvPr/>
        </p:nvSpPr>
        <p:spPr>
          <a:xfrm>
            <a:off x="2209800" y="1996440"/>
            <a:ext cx="8421688" cy="4359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endParaRPr lang="en-US" altLang="ko-KR" dirty="0"/>
          </a:p>
        </p:txBody>
      </p:sp>
      <p:sp>
        <p:nvSpPr>
          <p:cNvPr id="16" name="텍스트 개체 틀 3">
            <a:extLst>
              <a:ext uri="{FF2B5EF4-FFF2-40B4-BE49-F238E27FC236}">
                <a16:creationId xmlns:a16="http://schemas.microsoft.com/office/drawing/2014/main" id="{DDF7FC3D-02B6-C9AD-BC04-B9565A901539}"/>
              </a:ext>
            </a:extLst>
          </p:cNvPr>
          <p:cNvSpPr txBox="1">
            <a:spLocks/>
          </p:cNvSpPr>
          <p:nvPr/>
        </p:nvSpPr>
        <p:spPr>
          <a:xfrm>
            <a:off x="1275556" y="2751323"/>
            <a:ext cx="9640888" cy="1791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 latinLnBrk="1">
              <a:spcAft>
                <a:spcPts val="800"/>
              </a:spcAft>
              <a:buNone/>
            </a:pPr>
            <a:endParaRPr lang="ko-KR" altLang="en-US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8" name="그림 7" descr="텍스트, 폰트, 스크린샷, 친필이(가) 표시된 사진&#10;&#10;자동 생성된 설명">
            <a:extLst>
              <a:ext uri="{FF2B5EF4-FFF2-40B4-BE49-F238E27FC236}">
                <a16:creationId xmlns:a16="http://schemas.microsoft.com/office/drawing/2014/main" id="{D1CF5A85-E7A3-2D73-C2F1-EC5E80291C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82" t="14995" r="8849" b="19435"/>
          <a:stretch/>
        </p:blipFill>
        <p:spPr>
          <a:xfrm>
            <a:off x="2209800" y="1894820"/>
            <a:ext cx="7376160" cy="409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900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970F7-BA75-F45F-D3CE-CB5B7E532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481D86-76C7-3C0E-A6FC-10ED22B40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해결방안 </a:t>
            </a:r>
            <a:r>
              <a:rPr lang="en-US" altLang="ko-KR" dirty="0"/>
              <a:t>: </a:t>
            </a:r>
            <a:r>
              <a:rPr lang="ko-KR" altLang="en-US" dirty="0"/>
              <a:t>외국인 가입을 막아야만 할까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 - </a:t>
            </a:r>
            <a:r>
              <a:rPr lang="ko-KR" altLang="en-US" dirty="0"/>
              <a:t>보험의 위험 분산 관점에서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49C3517F-ED9F-F0CC-29DD-6864F604EB1D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3716975-98FB-CA57-6A82-EA2F894F7EA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086600" y="5991225"/>
            <a:ext cx="4114800" cy="365125"/>
          </a:xfrm>
        </p:spPr>
        <p:txBody>
          <a:bodyPr/>
          <a:lstStyle/>
          <a:p>
            <a:r>
              <a:rPr lang="ko-KR" altLang="en-US" dirty="0"/>
              <a:t>출처 </a:t>
            </a:r>
            <a:r>
              <a:rPr lang="en-US" altLang="ko-KR" dirty="0"/>
              <a:t>: </a:t>
            </a:r>
            <a:r>
              <a:rPr lang="ko-KR" altLang="en-US" dirty="0"/>
              <a:t>인하대학교 사회보장론</a:t>
            </a:r>
            <a:r>
              <a:rPr lang="en-US" altLang="ko-KR" dirty="0"/>
              <a:t> (</a:t>
            </a:r>
            <a:r>
              <a:rPr lang="ko-KR" altLang="en-US" dirty="0" err="1"/>
              <a:t>강병구</a:t>
            </a:r>
            <a:r>
              <a:rPr lang="en-US" altLang="ko-KR" dirty="0"/>
              <a:t>)  </a:t>
            </a:r>
            <a:r>
              <a:rPr lang="ko-KR" altLang="en-US" dirty="0"/>
              <a:t>중 제</a:t>
            </a:r>
            <a:r>
              <a:rPr lang="en-US" altLang="ko-KR" dirty="0"/>
              <a:t>7</a:t>
            </a:r>
            <a:r>
              <a:rPr lang="ko-KR" altLang="en-US" dirty="0"/>
              <a:t>강</a:t>
            </a:r>
            <a:r>
              <a:rPr lang="en-US" altLang="ko-KR" dirty="0"/>
              <a:t>. </a:t>
            </a:r>
            <a:r>
              <a:rPr lang="ko-KR" altLang="en-US" dirty="0"/>
              <a:t>보험의 경제학</a:t>
            </a:r>
            <a:endParaRPr lang="en-US" altLang="ko-KR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AF89192D-ECAD-59A8-D961-C9E076E3F2B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altLang="ko-KR" noProof="0" smtClean="0"/>
              <a:pPr/>
              <a:t>15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6A9AC066-532F-8D40-E2A5-F78EF1E37B28}"/>
              </a:ext>
            </a:extLst>
          </p:cNvPr>
          <p:cNvSpPr txBox="1">
            <a:spLocks/>
          </p:cNvSpPr>
          <p:nvPr/>
        </p:nvSpPr>
        <p:spPr>
          <a:xfrm>
            <a:off x="2209800" y="1996440"/>
            <a:ext cx="8421688" cy="4359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endParaRPr lang="en-US" altLang="ko-KR" dirty="0"/>
          </a:p>
        </p:txBody>
      </p:sp>
      <p:sp>
        <p:nvSpPr>
          <p:cNvPr id="16" name="텍스트 개체 틀 3">
            <a:extLst>
              <a:ext uri="{FF2B5EF4-FFF2-40B4-BE49-F238E27FC236}">
                <a16:creationId xmlns:a16="http://schemas.microsoft.com/office/drawing/2014/main" id="{B798F520-D331-9E2C-9A86-FA7BDFEA8CA1}"/>
              </a:ext>
            </a:extLst>
          </p:cNvPr>
          <p:cNvSpPr txBox="1">
            <a:spLocks/>
          </p:cNvSpPr>
          <p:nvPr/>
        </p:nvSpPr>
        <p:spPr>
          <a:xfrm>
            <a:off x="1275556" y="2751323"/>
            <a:ext cx="9640888" cy="1791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 latinLnBrk="1">
              <a:spcAft>
                <a:spcPts val="800"/>
              </a:spcAft>
              <a:buNone/>
            </a:pPr>
            <a:endParaRPr lang="ko-KR" altLang="en-US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5" name="그림 14" descr="라인, 도표, 경사이(가) 표시된 사진&#10;&#10;자동 생성된 설명">
            <a:extLst>
              <a:ext uri="{FF2B5EF4-FFF2-40B4-BE49-F238E27FC236}">
                <a16:creationId xmlns:a16="http://schemas.microsoft.com/office/drawing/2014/main" id="{35EDCB9E-CAA4-F95D-E63D-3F26A66DEE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85" t="16667" r="12452" b="24667"/>
          <a:stretch/>
        </p:blipFill>
        <p:spPr>
          <a:xfrm>
            <a:off x="2489163" y="1967865"/>
            <a:ext cx="7213673" cy="40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091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5F3C6-17A9-DB43-DB8A-A1037D51B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440CB7-0072-1C63-D27D-DA7DCC171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해결방안 </a:t>
            </a:r>
            <a:r>
              <a:rPr lang="en-US" altLang="ko-KR" dirty="0"/>
              <a:t>: </a:t>
            </a:r>
            <a:r>
              <a:rPr lang="ko-KR" altLang="en-US" dirty="0"/>
              <a:t>외국인 가입을 막아야만 할까</a:t>
            </a:r>
            <a:r>
              <a:rPr lang="en-US" altLang="ko-KR" dirty="0"/>
              <a:t>?</a:t>
            </a:r>
            <a:br>
              <a:rPr lang="en-US" altLang="ko-KR" dirty="0"/>
            </a:br>
            <a:r>
              <a:rPr lang="en-US" altLang="ko-KR" dirty="0"/>
              <a:t> - </a:t>
            </a:r>
            <a:r>
              <a:rPr lang="ko-KR" altLang="en-US" dirty="0"/>
              <a:t>윤리적</a:t>
            </a:r>
            <a:r>
              <a:rPr lang="en-US" altLang="ko-KR" dirty="0"/>
              <a:t>, </a:t>
            </a:r>
            <a:r>
              <a:rPr lang="ko-KR" altLang="en-US" dirty="0"/>
              <a:t>국제정치적 입장에서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59EC2AC-EA07-62F4-490B-B9C11A298AB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59AD6E5D-2171-3CED-BE3C-F4A0CDD7756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altLang="ko-KR" noProof="0" smtClean="0"/>
              <a:pPr/>
              <a:t>16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6C8AD93F-5FCF-7322-EC30-0C8FBBD80089}"/>
              </a:ext>
            </a:extLst>
          </p:cNvPr>
          <p:cNvSpPr txBox="1">
            <a:spLocks/>
          </p:cNvSpPr>
          <p:nvPr/>
        </p:nvSpPr>
        <p:spPr>
          <a:xfrm>
            <a:off x="2209800" y="1996440"/>
            <a:ext cx="8421688" cy="4359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endParaRPr lang="en-US" altLang="ko-KR" dirty="0"/>
          </a:p>
        </p:txBody>
      </p:sp>
      <p:sp>
        <p:nvSpPr>
          <p:cNvPr id="16" name="텍스트 개체 틀 3">
            <a:extLst>
              <a:ext uri="{FF2B5EF4-FFF2-40B4-BE49-F238E27FC236}">
                <a16:creationId xmlns:a16="http://schemas.microsoft.com/office/drawing/2014/main" id="{153572F6-3F4E-3AE2-E7BE-EF44B8B3277A}"/>
              </a:ext>
            </a:extLst>
          </p:cNvPr>
          <p:cNvSpPr txBox="1">
            <a:spLocks/>
          </p:cNvSpPr>
          <p:nvPr/>
        </p:nvSpPr>
        <p:spPr>
          <a:xfrm>
            <a:off x="1275556" y="2411259"/>
            <a:ext cx="9640888" cy="3434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 latinLnBrk="1">
              <a:spcAft>
                <a:spcPts val="800"/>
              </a:spcAft>
              <a:buNone/>
            </a:pPr>
            <a:r>
              <a:rPr lang="ko-KR" altLang="en-US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윤리적 관점 </a:t>
            </a:r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</a:t>
            </a:r>
          </a:p>
          <a:p>
            <a:pPr marL="457200" lvl="1" indent="0" algn="ctr" latinLnBrk="1">
              <a:spcAft>
                <a:spcPts val="800"/>
              </a:spcAft>
              <a:buNone/>
            </a:pPr>
            <a:r>
              <a:rPr lang="ko-KR" altLang="en-US" sz="1800" kern="100" dirty="0">
                <a:cs typeface="Times New Roman" panose="02020603050405020304" pitchFamily="18" charset="0"/>
              </a:rPr>
              <a:t>모든 사람은 기본적인 건강권을 보장받아야 한다는 원칙이 국제적으로 인정됨</a:t>
            </a:r>
            <a:endParaRPr lang="en-US" altLang="ko-KR" sz="1800" kern="100" dirty="0">
              <a:cs typeface="Times New Roman" panose="02020603050405020304" pitchFamily="18" charset="0"/>
            </a:endParaRPr>
          </a:p>
          <a:p>
            <a:pPr marL="457200" lvl="1" indent="0" algn="ctr" latinLnBrk="1">
              <a:spcAft>
                <a:spcPts val="800"/>
              </a:spcAft>
              <a:buNone/>
            </a:pPr>
            <a:r>
              <a:rPr lang="ko-KR" altLang="en-US" sz="1800" kern="100" dirty="0">
                <a:cs typeface="Times New Roman" panose="02020603050405020304" pitchFamily="18" charset="0"/>
              </a:rPr>
              <a:t>단순한 경제적 부담이 아닌</a:t>
            </a:r>
            <a:r>
              <a:rPr lang="en-US" altLang="ko-KR" sz="1800" kern="100" dirty="0">
                <a:cs typeface="Times New Roman" panose="02020603050405020304" pitchFamily="18" charset="0"/>
              </a:rPr>
              <a:t>, </a:t>
            </a:r>
            <a:r>
              <a:rPr lang="ko-KR" altLang="en-US" sz="1800" kern="100" dirty="0">
                <a:cs typeface="Times New Roman" panose="02020603050405020304" pitchFamily="18" charset="0"/>
              </a:rPr>
              <a:t>인간 존엄성을 보호하고 공공성을 증진하기 위한 제도</a:t>
            </a:r>
            <a:r>
              <a:rPr lang="en-US" altLang="ko-KR" sz="1800" kern="100" dirty="0">
                <a:cs typeface="Times New Roman" panose="02020603050405020304" pitchFamily="18" charset="0"/>
              </a:rPr>
              <a:t>.</a:t>
            </a:r>
          </a:p>
          <a:p>
            <a:pPr marL="457200" lvl="1" indent="0" algn="ctr" latinLnBrk="1">
              <a:spcAft>
                <a:spcPts val="800"/>
              </a:spcAft>
              <a:buNone/>
            </a:pPr>
            <a:endParaRPr lang="en-US" altLang="ko-KR" sz="1800" kern="100" dirty="0">
              <a:cs typeface="Times New Roman" panose="02020603050405020304" pitchFamily="18" charset="0"/>
            </a:endParaRPr>
          </a:p>
          <a:p>
            <a:pPr marL="457200" lvl="1" indent="0" algn="ctr" latinLnBrk="1">
              <a:spcAft>
                <a:spcPts val="800"/>
              </a:spcAft>
              <a:buNone/>
            </a:pPr>
            <a:r>
              <a:rPr lang="ko-KR" altLang="en-US" sz="1800" kern="100" dirty="0">
                <a:cs typeface="Times New Roman" panose="02020603050405020304" pitchFamily="18" charset="0"/>
              </a:rPr>
              <a:t>국제정치적 관점 </a:t>
            </a:r>
            <a:r>
              <a:rPr lang="en-US" altLang="ko-KR" sz="1800" kern="100" dirty="0">
                <a:cs typeface="Times New Roman" panose="02020603050405020304" pitchFamily="18" charset="0"/>
              </a:rPr>
              <a:t>:</a:t>
            </a:r>
          </a:p>
          <a:p>
            <a:pPr marL="457200" lvl="1" indent="0" algn="ctr" latinLnBrk="1">
              <a:spcAft>
                <a:spcPts val="800"/>
              </a:spcAft>
              <a:buNone/>
            </a:pPr>
            <a:r>
              <a:rPr lang="ko-KR" altLang="en-US" sz="1800" kern="100" dirty="0">
                <a:cs typeface="Times New Roman" panose="02020603050405020304" pitchFamily="18" charset="0"/>
              </a:rPr>
              <a:t>외국인은 경제 전체의 관점에서 노동력 제공</a:t>
            </a:r>
            <a:r>
              <a:rPr lang="en-US" altLang="ko-KR" sz="1800" kern="100" dirty="0">
                <a:cs typeface="Times New Roman" panose="02020603050405020304" pitchFamily="18" charset="0"/>
              </a:rPr>
              <a:t>, </a:t>
            </a:r>
            <a:r>
              <a:rPr lang="ko-KR" altLang="en-US" sz="1800" kern="100" dirty="0">
                <a:cs typeface="Times New Roman" panose="02020603050405020304" pitchFamily="18" charset="0"/>
              </a:rPr>
              <a:t>경제 활성화와 같은 재정에 긍정적인 영향을 미칠 수 있음</a:t>
            </a:r>
            <a:r>
              <a:rPr lang="en-US" altLang="ko-KR" sz="1800" kern="100" dirty="0">
                <a:cs typeface="Times New Roman" panose="02020603050405020304" pitchFamily="18" charset="0"/>
              </a:rPr>
              <a:t>.</a:t>
            </a:r>
          </a:p>
          <a:p>
            <a:pPr marL="457200" lvl="1" indent="0" algn="ctr" latinLnBrk="1">
              <a:spcAft>
                <a:spcPts val="800"/>
              </a:spcAft>
              <a:buNone/>
            </a:pPr>
            <a:r>
              <a:rPr lang="ko-KR" altLang="en-US" sz="1800" kern="100" dirty="0">
                <a:cs typeface="Times New Roman" panose="02020603050405020304" pitchFamily="18" charset="0"/>
              </a:rPr>
              <a:t>외국인을 배제하는 정책은 국제사회에서 배타주의로 보일 수 있으며</a:t>
            </a:r>
            <a:r>
              <a:rPr lang="en-US" altLang="ko-KR" sz="1800" kern="100" dirty="0">
                <a:cs typeface="Times New Roman" panose="02020603050405020304" pitchFamily="18" charset="0"/>
              </a:rPr>
              <a:t>, </a:t>
            </a:r>
            <a:r>
              <a:rPr lang="ko-KR" altLang="en-US" sz="1800" kern="100" dirty="0">
                <a:cs typeface="Times New Roman" panose="02020603050405020304" pitchFamily="18" charset="0"/>
              </a:rPr>
              <a:t>다른 국가들의 자국민에 대한 정책에 악영향을 줄 수 있음</a:t>
            </a:r>
            <a:r>
              <a:rPr lang="en-US" altLang="ko-KR" sz="1800" kern="100" dirty="0"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0696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E2076-AA06-77B3-E23B-D7D6DDBB7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63D93B-E113-FF7F-CE2F-3A526BEC6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 및 요약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B82004A7-F241-CDD5-B2AD-8EA939E2C5F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ko-KR" noProof="0"/>
              <a:t>20XX</a:t>
            </a:r>
            <a:r>
              <a:rPr lang="ko-KR" altLang="en-US" noProof="0"/>
              <a:t>년</a:t>
            </a:r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6271DCC2-6977-D897-6296-FA4A2D6B6DC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altLang="ko-KR" noProof="0" smtClean="0"/>
              <a:pPr/>
              <a:t>17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411D08DF-3870-ACAB-EB22-14CB0343D15D}"/>
              </a:ext>
            </a:extLst>
          </p:cNvPr>
          <p:cNvSpPr txBox="1">
            <a:spLocks/>
          </p:cNvSpPr>
          <p:nvPr/>
        </p:nvSpPr>
        <p:spPr>
          <a:xfrm>
            <a:off x="2209800" y="1996440"/>
            <a:ext cx="8421688" cy="4359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endParaRPr lang="en-US" altLang="ko-KR" dirty="0"/>
          </a:p>
        </p:txBody>
      </p:sp>
      <p:sp>
        <p:nvSpPr>
          <p:cNvPr id="16" name="텍스트 개체 틀 3">
            <a:extLst>
              <a:ext uri="{FF2B5EF4-FFF2-40B4-BE49-F238E27FC236}">
                <a16:creationId xmlns:a16="http://schemas.microsoft.com/office/drawing/2014/main" id="{F3C72572-B7BE-6463-A4BF-4CB0AA62627C}"/>
              </a:ext>
            </a:extLst>
          </p:cNvPr>
          <p:cNvSpPr txBox="1">
            <a:spLocks/>
          </p:cNvSpPr>
          <p:nvPr/>
        </p:nvSpPr>
        <p:spPr>
          <a:xfrm>
            <a:off x="1275556" y="2411258"/>
            <a:ext cx="9640888" cy="3242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 latinLnBrk="1">
              <a:spcAft>
                <a:spcPts val="800"/>
              </a:spcAft>
              <a:buNone/>
            </a:pPr>
            <a:endParaRPr lang="en-US" altLang="ko-KR" sz="1800" kern="100" dirty="0">
              <a:cs typeface="Times New Roman" panose="02020603050405020304" pitchFamily="18" charset="0"/>
            </a:endParaRPr>
          </a:p>
        </p:txBody>
      </p:sp>
      <p:sp>
        <p:nvSpPr>
          <p:cNvPr id="3" name="텍스트 개체 틀 3">
            <a:extLst>
              <a:ext uri="{FF2B5EF4-FFF2-40B4-BE49-F238E27FC236}">
                <a16:creationId xmlns:a16="http://schemas.microsoft.com/office/drawing/2014/main" id="{905A1748-D270-5147-3A4D-78B7AA043D70}"/>
              </a:ext>
            </a:extLst>
          </p:cNvPr>
          <p:cNvSpPr txBox="1">
            <a:spLocks/>
          </p:cNvSpPr>
          <p:nvPr/>
        </p:nvSpPr>
        <p:spPr>
          <a:xfrm>
            <a:off x="1275556" y="2920051"/>
            <a:ext cx="9640888" cy="3434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ctr" latinLnBrk="1">
              <a:spcAft>
                <a:spcPts val="800"/>
              </a:spcAft>
              <a:buNone/>
            </a:pPr>
            <a:r>
              <a:rPr lang="ko-KR" altLang="en-US" sz="1800" dirty="0"/>
              <a:t> 외국인의 국민건강보험 가입 제한보다는 부정수급에 대한 단속이 더 효과적인 해결책으로 생각</a:t>
            </a:r>
            <a:r>
              <a:rPr lang="en-US" altLang="ko-KR" sz="1800" dirty="0"/>
              <a:t>. </a:t>
            </a:r>
            <a:r>
              <a:rPr lang="ko-KR" altLang="en-US" sz="1800" dirty="0"/>
              <a:t>수급요건에 대한 조사를 강화해 보험 남용을 방지하고</a:t>
            </a:r>
            <a:r>
              <a:rPr lang="en-US" altLang="ko-KR" sz="1800" dirty="0"/>
              <a:t>, </a:t>
            </a:r>
            <a:r>
              <a:rPr lang="ko-KR" altLang="en-US" sz="1800" dirty="0"/>
              <a:t>보험의 모든 가입자가 공정한 혜택을 누릴 수 있도록 해야 한다</a:t>
            </a:r>
            <a:r>
              <a:rPr lang="en-US" altLang="ko-KR" sz="1800" dirty="0"/>
              <a:t>. </a:t>
            </a:r>
            <a:r>
              <a:rPr lang="ko-KR" altLang="en-US" sz="1800" dirty="0"/>
              <a:t>이러한 태도는 과거 개정된 건강보험공단의 정책변화에도 드러난다</a:t>
            </a:r>
            <a:r>
              <a:rPr lang="en-US" altLang="ko-KR" sz="1800" dirty="0"/>
              <a:t>.</a:t>
            </a:r>
          </a:p>
          <a:p>
            <a:pPr marL="457200" lvl="1" indent="0" algn="ctr" latinLnBrk="1">
              <a:spcAft>
                <a:spcPts val="800"/>
              </a:spcAft>
              <a:buNone/>
            </a:pPr>
            <a:r>
              <a:rPr lang="ko-KR" altLang="en-US" sz="1800" dirty="0"/>
              <a:t>그러나</a:t>
            </a:r>
            <a:r>
              <a:rPr lang="en-US" altLang="ko-KR" sz="1800" dirty="0"/>
              <a:t>, </a:t>
            </a:r>
            <a:r>
              <a:rPr lang="ko-KR" altLang="en-US" sz="1800" dirty="0"/>
              <a:t>외국인 가입자를 제한해야 한다는 주장에 대해선 다수의 가입자가 참여할수록 보험의 효용이 증대된다는 점에서</a:t>
            </a:r>
            <a:r>
              <a:rPr lang="en-US" altLang="ko-KR" sz="1800" dirty="0"/>
              <a:t>, </a:t>
            </a:r>
            <a:r>
              <a:rPr lang="ko-KR" altLang="en-US" sz="1800" dirty="0"/>
              <a:t>외국인의 국민건강보험 가입을 배제하기보다는 합리적인 관리와 규제가 중요하다</a:t>
            </a:r>
            <a:r>
              <a:rPr lang="en-US" altLang="ko-KR" sz="1800" dirty="0"/>
              <a:t>. </a:t>
            </a:r>
            <a:r>
              <a:rPr lang="ko-KR" altLang="en-US" sz="1800" dirty="0"/>
              <a:t>이를 통해 배타주의가 아닌 국제적으로 협력할 수 있는 관점이 필요하다</a:t>
            </a:r>
            <a:r>
              <a:rPr lang="en-US" altLang="ko-KR" sz="1800" dirty="0"/>
              <a:t>. </a:t>
            </a:r>
            <a:r>
              <a:rPr lang="ko-KR" altLang="en-US" sz="1800" dirty="0"/>
              <a:t>외국인이 낸 보험료가 우리에게 되돌아 올 수 있음을 인지해야 한다</a:t>
            </a:r>
            <a:r>
              <a:rPr lang="en-US" altLang="ko-KR" sz="1800" dirty="0"/>
              <a:t>.</a:t>
            </a:r>
            <a:endParaRPr lang="en-US" altLang="ko-KR" sz="2400" kern="1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792793"/>
      </p:ext>
    </p:extLst>
  </p:cSld>
  <p:clrMapOvr>
    <a:masterClrMapping/>
  </p:clrMapOvr>
</p:sld>
</file>

<file path=ppt/theme/theme1.xml><?xml version="1.0" encoding="utf-8"?>
<a:theme xmlns:a="http://schemas.openxmlformats.org/drawingml/2006/main" name="모노라인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39_TF56180624_Win32" id="{6015578C-7D5D-4D9F-B4C9-62F8FE79A225}" vid="{1D77FD14-6D0D-4F01-A4B4-6681689BE31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D152BDBDD18D614882E0F789DC8A984F" ma:contentTypeVersion="4" ma:contentTypeDescription="새 문서를 만듭니다." ma:contentTypeScope="" ma:versionID="3550df2ad727bf5eb64caed0189bc677">
  <xsd:schema xmlns:xsd="http://www.w3.org/2001/XMLSchema" xmlns:xs="http://www.w3.org/2001/XMLSchema" xmlns:p="http://schemas.microsoft.com/office/2006/metadata/properties" xmlns:ns3="f59bb674-886c-46fd-a4ee-18f6378d2b96" targetNamespace="http://schemas.microsoft.com/office/2006/metadata/properties" ma:root="true" ma:fieldsID="1a6cda7df0b28a4f1d281f47268475a8" ns3:_="">
    <xsd:import namespace="f59bb674-886c-46fd-a4ee-18f6378d2b9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9bb674-886c-46fd-a4ee-18f6378d2b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2CC6608-A9C8-47C7-B358-7A54831590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9bb674-886c-46fd-a4ee-18f6378d2b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schemas.openxmlformats.org/package/2006/metadata/core-properties"/>
    <ds:schemaRef ds:uri="http://purl.org/dc/elements/1.1/"/>
    <ds:schemaRef ds:uri="f59bb674-886c-46fd-a4ee-18f6378d2b96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영업을 위한 간단한 미니멀리스트 제안 발표</Template>
  <TotalTime>181</TotalTime>
  <Words>1090</Words>
  <Application>Microsoft Office PowerPoint</Application>
  <PresentationFormat>와이드스크린</PresentationFormat>
  <Paragraphs>294</Paragraphs>
  <Slides>17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맑은 고딕</vt:lpstr>
      <vt:lpstr>Arial</vt:lpstr>
      <vt:lpstr>Times New Roman</vt:lpstr>
      <vt:lpstr>모노라인</vt:lpstr>
      <vt:lpstr>외국인의 국민건강보험 이용과 부정수급</vt:lpstr>
      <vt:lpstr>목차</vt:lpstr>
      <vt:lpstr>외국인 건강보험 이용 현황:  내외국인 연도별 건강보험료 부과금액</vt:lpstr>
      <vt:lpstr>외국인 건강보험 이용 현황:  외국인 국적별 건강보험료 부과금액</vt:lpstr>
      <vt:lpstr>외국인 건강보험 이용 현황:  내외국인 연도별 건강보험 급여비</vt:lpstr>
      <vt:lpstr>외국인 건강보험 이용 현황:  외국인 국적별 건강보험 급여비</vt:lpstr>
      <vt:lpstr>외국인 건강보험 이용 현황:  내외국인 연도별 건강보험 부당수급 현황</vt:lpstr>
      <vt:lpstr>외국인 건강보험 이용 현황:  외국인 국적별 자격상실후 부정수급 현황</vt:lpstr>
      <vt:lpstr>정책 현황 : 외국인 건강보험 피부양자 자격요건 변경</vt:lpstr>
      <vt:lpstr>타국의 이용요건 비교 : 영국</vt:lpstr>
      <vt:lpstr>타국의 이용요건 비교 : 독일</vt:lpstr>
      <vt:lpstr>타국의 이용요건 비교 : 덴마크, 노르웨이</vt:lpstr>
      <vt:lpstr>해결방안 : 외국인 가입을 막아야만 할까?  - 보험의 위험 분산 관점에서</vt:lpstr>
      <vt:lpstr>해결방안 : 외국인 가입을 막아야만 할까?  - 보험의 위험 분산 관점에서</vt:lpstr>
      <vt:lpstr>해결방안 : 외국인 가입을 막아야만 할까?  - 보험의 위험 분산 관점에서</vt:lpstr>
      <vt:lpstr>해결방안 : 외국인 가입을 막아야만 할까?  - 윤리적, 국제정치적 입장에서</vt:lpstr>
      <vt:lpstr>결론 및 요약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노동주</dc:creator>
  <cp:lastModifiedBy>노동주</cp:lastModifiedBy>
  <cp:revision>3</cp:revision>
  <dcterms:created xsi:type="dcterms:W3CDTF">2024-11-26T19:32:20Z</dcterms:created>
  <dcterms:modified xsi:type="dcterms:W3CDTF">2024-11-26T22:40:57Z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0x010100D152BDBDD18D614882E0F789DC8A984F</vt:lpwstr>
  </property>
</Properties>
</file>