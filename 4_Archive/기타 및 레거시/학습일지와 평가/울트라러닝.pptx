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93" r:id="rId2"/>
    <p:sldId id="294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5" r:id="rId13"/>
    <p:sldId id="296" r:id="rId14"/>
    <p:sldId id="298" r:id="rId15"/>
    <p:sldId id="300" r:id="rId16"/>
    <p:sldId id="299" r:id="rId1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4" autoAdjust="0"/>
    <p:restoredTop sz="95842" autoAdjust="0"/>
  </p:normalViewPr>
  <p:slideViewPr>
    <p:cSldViewPr>
      <p:cViewPr varScale="1">
        <p:scale>
          <a:sx n="72" d="100"/>
          <a:sy n="72" d="100"/>
        </p:scale>
        <p:origin x="442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EB649-B1DB-48B2-96AD-31D5AB3F7FC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44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77FB6-E89F-4922-BA00-FF8EAC57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BB3796-16A0-4473-873D-078BB5747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205348-9D70-4BE7-B02B-0C339D1B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CF870-D45C-4807-89E2-5E6854D6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392D2F-38C3-4CF3-8565-10C45FB6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828FDC-BBB9-4BD0-B6B2-80EF6EC0E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14356EC-C735-4AAB-B165-5751D69B7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울트라 러닝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19B3FC-6852-41B3-9145-5BD2DD9072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E606654-C536-477E-A5E1-2A234E4681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메타학습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메타학습을 위한 세가지 질문</a:t>
            </a:r>
            <a:r>
              <a:rPr lang="en-US" altLang="ko-KR" dirty="0"/>
              <a:t>	</a:t>
            </a:r>
            <a:r>
              <a:rPr lang="ko-KR" altLang="en-US" dirty="0"/>
              <a:t>어떻게 학습할 것인가</a:t>
            </a:r>
          </a:p>
          <a:p>
            <a:pPr lvl="1"/>
            <a:r>
              <a:rPr lang="ko-KR" altLang="en-US" dirty="0"/>
              <a:t>왜 그것을 배우려 하는가</a:t>
            </a:r>
            <a:r>
              <a:rPr lang="en-US" altLang="ko-KR" dirty="0"/>
              <a:t>		</a:t>
            </a:r>
            <a:r>
              <a:rPr lang="ko-KR" altLang="en-US" dirty="0"/>
              <a:t>계획을 얼마나 세워야 할까</a:t>
            </a:r>
          </a:p>
          <a:p>
            <a:pPr lvl="1"/>
            <a:r>
              <a:rPr lang="ko-KR" altLang="en-US" dirty="0"/>
              <a:t>무엇을 획득하려 하는가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집중하기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우리는 왜 시작하지 못하는가</a:t>
            </a:r>
            <a:r>
              <a:rPr lang="en-US" altLang="ko-KR" dirty="0"/>
              <a:t>	</a:t>
            </a:r>
            <a:r>
              <a:rPr lang="ko-KR" altLang="en-US" dirty="0"/>
              <a:t>집중하기에 좋은 최상의 상태를 찾아라</a:t>
            </a:r>
            <a:endParaRPr lang="en-US" altLang="ko-KR" dirty="0"/>
          </a:p>
          <a:p>
            <a:pPr lvl="1"/>
            <a:r>
              <a:rPr lang="ko-KR" altLang="en-US" dirty="0"/>
              <a:t>집중력을 유지하는 데 실패하는 이유</a:t>
            </a:r>
            <a:r>
              <a:rPr lang="en-US" altLang="ko-KR" dirty="0"/>
              <a:t>	30</a:t>
            </a:r>
            <a:r>
              <a:rPr lang="ko-KR" altLang="en-US" dirty="0"/>
              <a:t>초에서 시작하는 집중력 훈련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직접 하기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잘하고 싶은 바로 그 일을 하라</a:t>
            </a:r>
            <a:r>
              <a:rPr lang="en-US" altLang="ko-KR" dirty="0"/>
              <a:t>	</a:t>
            </a:r>
            <a:r>
              <a:rPr lang="ko-KR" altLang="en-US" dirty="0"/>
              <a:t>울트라 러닝의 직접 학습 전략</a:t>
            </a:r>
            <a:endParaRPr lang="en-US" altLang="ko-KR" dirty="0"/>
          </a:p>
          <a:p>
            <a:pPr lvl="1"/>
            <a:r>
              <a:rPr lang="ko-KR" altLang="en-US" dirty="0"/>
              <a:t>현장에 딱 달라붙어 배워라</a:t>
            </a:r>
            <a:r>
              <a:rPr lang="en-US" altLang="ko-KR" dirty="0"/>
              <a:t>	</a:t>
            </a:r>
            <a:r>
              <a:rPr lang="ko-KR" altLang="en-US" dirty="0"/>
              <a:t>배움</a:t>
            </a:r>
            <a:r>
              <a:rPr lang="en-US" altLang="ko-KR" dirty="0"/>
              <a:t>, </a:t>
            </a:r>
            <a:r>
              <a:rPr lang="ko-KR" altLang="en-US" dirty="0"/>
              <a:t>스스로 묻고 답하라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특화 학습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학습에 불 붙이는 트리거를 파악하라</a:t>
            </a:r>
            <a:r>
              <a:rPr lang="en-US" altLang="ko-KR" dirty="0"/>
              <a:t>	</a:t>
            </a:r>
            <a:r>
              <a:rPr lang="ko-KR" altLang="en-US" dirty="0"/>
              <a:t>직접 학습 다음에 특화 학습 전략</a:t>
            </a:r>
            <a:endParaRPr lang="en-US" altLang="ko-KR" dirty="0"/>
          </a:p>
          <a:p>
            <a:pPr lvl="1"/>
            <a:r>
              <a:rPr lang="ko-KR" altLang="en-US" dirty="0"/>
              <a:t>인지 부하를 예방하는 특화 학습</a:t>
            </a:r>
            <a:r>
              <a:rPr lang="en-US" altLang="ko-KR" dirty="0"/>
              <a:t>	</a:t>
            </a:r>
            <a:r>
              <a:rPr lang="ko-KR" altLang="en-US" dirty="0"/>
              <a:t>특화 학습을 하는 가장 쉬운 방법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인출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무엇을 인출해야 하는가</a:t>
            </a:r>
            <a:r>
              <a:rPr lang="en-US" altLang="ko-KR" dirty="0"/>
              <a:t>		</a:t>
            </a:r>
            <a:r>
              <a:rPr lang="ko-KR" altLang="en-US" dirty="0"/>
              <a:t>효율적인 인출을 위한 팁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피드백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어떤 종류의 피드백이 필요한가</a:t>
            </a:r>
            <a:r>
              <a:rPr lang="en-US" altLang="ko-KR" dirty="0"/>
              <a:t>?	</a:t>
            </a:r>
            <a:r>
              <a:rPr lang="ko-KR" altLang="en-US" dirty="0"/>
              <a:t>언제 피드백을 받아야 하는가</a:t>
            </a:r>
            <a:endParaRPr lang="en-US" altLang="ko-KR" dirty="0"/>
          </a:p>
          <a:p>
            <a:pPr lvl="1"/>
            <a:r>
              <a:rPr lang="ko-KR" altLang="en-US" dirty="0"/>
              <a:t>피드백 업그레이드의 유의점</a:t>
            </a:r>
            <a:r>
              <a:rPr lang="en-US" altLang="ko-KR" dirty="0"/>
              <a:t>	</a:t>
            </a:r>
            <a:r>
              <a:rPr lang="ko-KR" altLang="en-US" dirty="0"/>
              <a:t>더 나은 피드백을 얻는 </a:t>
            </a:r>
            <a:r>
              <a:rPr lang="en-US" altLang="ko-KR" dirty="0"/>
              <a:t>4</a:t>
            </a:r>
            <a:r>
              <a:rPr lang="ko-KR" altLang="en-US" dirty="0"/>
              <a:t>가지 전략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유지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뇌는 처음에 배운 것부터 망각한다</a:t>
            </a:r>
            <a:r>
              <a:rPr lang="en-US" altLang="ko-KR" dirty="0"/>
              <a:t>	</a:t>
            </a:r>
            <a:r>
              <a:rPr lang="ko-KR" altLang="en-US" dirty="0"/>
              <a:t>망각을 이기는 </a:t>
            </a:r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ko-KR" altLang="en-US" dirty="0" err="1"/>
              <a:t>암기법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직관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깊이 있는 직관을 기르는 법</a:t>
            </a:r>
            <a:r>
              <a:rPr lang="en-US" altLang="ko-KR" dirty="0"/>
              <a:t>	‘</a:t>
            </a:r>
            <a:r>
              <a:rPr lang="ko-KR" altLang="en-US" dirty="0" err="1"/>
              <a:t>파인만</a:t>
            </a:r>
            <a:r>
              <a:rPr lang="ko-KR" altLang="en-US" dirty="0"/>
              <a:t> 기법</a:t>
            </a:r>
            <a:r>
              <a:rPr lang="en-US" altLang="ko-KR" dirty="0"/>
              <a:t>’ </a:t>
            </a:r>
            <a:r>
              <a:rPr lang="ko-KR" altLang="en-US" dirty="0"/>
              <a:t>활용하기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실험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실험의 </a:t>
            </a:r>
            <a:r>
              <a:rPr lang="en-US" altLang="ko-KR" dirty="0"/>
              <a:t>3</a:t>
            </a:r>
            <a:r>
              <a:rPr lang="ko-KR" altLang="en-US" dirty="0"/>
              <a:t>가지 단계</a:t>
            </a:r>
            <a:r>
              <a:rPr lang="en-US" altLang="ko-KR" dirty="0"/>
              <a:t>		</a:t>
            </a:r>
            <a:r>
              <a:rPr lang="ko-KR" altLang="en-US" dirty="0"/>
              <a:t>울트라 러닝을 위한 실험 전략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나의 첫 울트라 러닝 프로젝트 시작하기</a:t>
            </a:r>
            <a:r>
              <a:rPr lang="en-US" altLang="ko-KR" dirty="0"/>
              <a:t>&gt;</a:t>
            </a:r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  <a:r>
              <a:rPr lang="en-US" altLang="ko-KR" dirty="0"/>
              <a:t>	4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결과를 검토하라 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  <a:r>
              <a:rPr lang="en-US" altLang="ko-KR" dirty="0"/>
              <a:t>		5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배운 것을 유지할 것인가</a:t>
            </a:r>
            <a:r>
              <a:rPr lang="en-US" altLang="ko-KR" dirty="0"/>
              <a:t>, </a:t>
            </a:r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계획을 실행하라 </a:t>
            </a:r>
            <a:r>
              <a:rPr lang="en-US" altLang="ko-KR" dirty="0"/>
              <a:t>		</a:t>
            </a:r>
            <a:r>
              <a:rPr lang="ko-KR" altLang="en-US" dirty="0"/>
              <a:t>완전히 익힐 것인가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361C52-49EF-4923-A5A4-47F96076F1B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이 요약문에선 특정 주제에 대해 </a:t>
            </a:r>
            <a:r>
              <a:rPr lang="en-US" altLang="ko-KR" dirty="0"/>
              <a:t>‘</a:t>
            </a:r>
            <a:r>
              <a:rPr lang="ko-KR" altLang="en-US" dirty="0"/>
              <a:t>무엇을</a:t>
            </a:r>
            <a:r>
              <a:rPr lang="en-US" altLang="ko-KR" dirty="0"/>
              <a:t>’, ‘</a:t>
            </a:r>
            <a:r>
              <a:rPr lang="ko-KR" altLang="en-US" dirty="0"/>
              <a:t>어떻게</a:t>
            </a:r>
            <a:r>
              <a:rPr lang="en-US" altLang="ko-KR" dirty="0"/>
              <a:t>’</a:t>
            </a:r>
            <a:r>
              <a:rPr lang="ko-KR" altLang="en-US" dirty="0"/>
              <a:t>와 같은 실천적인 문제에 집중하고 </a:t>
            </a:r>
            <a:r>
              <a:rPr lang="en-US" altLang="ko-KR" dirty="0"/>
              <a:t>‘</a:t>
            </a:r>
            <a:r>
              <a:rPr lang="ko-KR" altLang="en-US" dirty="0"/>
              <a:t>왜</a:t>
            </a:r>
            <a:r>
              <a:rPr lang="en-US" altLang="ko-KR" dirty="0"/>
              <a:t>’ </a:t>
            </a:r>
            <a:r>
              <a:rPr lang="ko-KR" altLang="en-US" dirty="0"/>
              <a:t>와 같은 설명적인 요소들은 무시하기로 함 </a:t>
            </a:r>
            <a:r>
              <a:rPr lang="en-US" altLang="ko-KR" dirty="0"/>
              <a:t>(~</a:t>
            </a:r>
            <a:r>
              <a:rPr lang="ko-KR" altLang="en-US" dirty="0"/>
              <a:t>에 대해 </a:t>
            </a:r>
            <a:r>
              <a:rPr lang="en-US" altLang="ko-KR" dirty="0"/>
              <a:t>~</a:t>
            </a:r>
            <a:r>
              <a:rPr lang="ko-KR" altLang="en-US" dirty="0"/>
              <a:t>한 방법으로 </a:t>
            </a:r>
            <a:r>
              <a:rPr lang="en-US" altLang="ko-KR" dirty="0"/>
              <a:t>~</a:t>
            </a:r>
            <a:r>
              <a:rPr lang="ko-KR" altLang="en-US" dirty="0"/>
              <a:t>해라</a:t>
            </a:r>
            <a:r>
              <a:rPr lang="en-US" altLang="ko-KR" dirty="0"/>
              <a:t>: O    ~</a:t>
            </a:r>
            <a:r>
              <a:rPr lang="ko-KR" altLang="en-US" dirty="0"/>
              <a:t>는 이러한 이점을 가지고 있다</a:t>
            </a:r>
            <a:r>
              <a:rPr lang="en-US" altLang="ko-KR" dirty="0"/>
              <a:t>: X)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6949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6BAFAD3-08FB-49B2-AD35-6285AC028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588AE2-7AC0-4201-BFD6-3FAD05AE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메타학습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20EC7-F59A-474D-A1D4-B4D5CB1A31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메타학습을 위한 세가지 질문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왜 그것을 배우려 하는가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무엇을 획득하려 하는가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어떻게 학습할 것인가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계획을 얼마나 세워야 할까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247056A-75AA-4F66-A791-FA9E33757B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메타학습을 위한 세가지 질문</a:t>
            </a:r>
          </a:p>
          <a:p>
            <a:pPr lvl="1"/>
            <a:r>
              <a:rPr lang="ko-KR" altLang="en-US" dirty="0"/>
              <a:t>단기적인 방법</a:t>
            </a:r>
            <a:r>
              <a:rPr lang="en-US" altLang="ko-KR" dirty="0"/>
              <a:t>: </a:t>
            </a:r>
            <a:r>
              <a:rPr lang="ko-KR" altLang="en-US" dirty="0"/>
              <a:t>프로젝트 시작 전 일정 기간동안 메타 학습은 증진시키는 데 초점을 두고 탐색 할 수 있음</a:t>
            </a:r>
          </a:p>
          <a:p>
            <a:pPr lvl="1"/>
            <a:r>
              <a:rPr lang="ko-KR" altLang="en-US" dirty="0"/>
              <a:t>장기적인 방법</a:t>
            </a:r>
            <a:r>
              <a:rPr lang="en-US" altLang="ko-KR" dirty="0"/>
              <a:t>: </a:t>
            </a:r>
            <a:r>
              <a:rPr lang="ko-KR" altLang="en-US" dirty="0"/>
              <a:t>프로젝트를 진행해 가며 일반적인 </a:t>
            </a:r>
            <a:r>
              <a:rPr lang="ko-KR" altLang="en-US" dirty="0" err="1"/>
              <a:t>메타학습력을</a:t>
            </a:r>
            <a:r>
              <a:rPr lang="ko-KR" altLang="en-US" dirty="0"/>
              <a:t> 키울 수 있음 </a:t>
            </a:r>
            <a:r>
              <a:rPr lang="en-US" altLang="ko-KR" dirty="0"/>
              <a:t>(</a:t>
            </a:r>
            <a:r>
              <a:rPr lang="ko-KR" altLang="en-US" dirty="0"/>
              <a:t>학습역량</a:t>
            </a:r>
            <a:r>
              <a:rPr lang="en-US" altLang="ko-KR" dirty="0"/>
              <a:t>, </a:t>
            </a:r>
            <a:r>
              <a:rPr lang="ko-KR" altLang="en-US" dirty="0"/>
              <a:t>시간관리</a:t>
            </a:r>
            <a:r>
              <a:rPr lang="en-US" altLang="ko-KR" dirty="0"/>
              <a:t>, </a:t>
            </a:r>
            <a:r>
              <a:rPr lang="ko-KR" altLang="en-US" dirty="0"/>
              <a:t>동기관리법 등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왜 그것을 배우려 하는가</a:t>
            </a:r>
          </a:p>
          <a:p>
            <a:pPr lvl="1"/>
            <a:r>
              <a:rPr lang="ko-KR" altLang="en-US" dirty="0"/>
              <a:t>도구적 동기</a:t>
            </a:r>
            <a:r>
              <a:rPr lang="en-US" altLang="ko-KR" dirty="0"/>
              <a:t>: </a:t>
            </a:r>
            <a:r>
              <a:rPr lang="ko-KR" altLang="en-US" dirty="0"/>
              <a:t>학습하지 않는 대상</a:t>
            </a:r>
            <a:r>
              <a:rPr lang="en-US" altLang="ko-KR" dirty="0"/>
              <a:t>, </a:t>
            </a:r>
            <a:r>
              <a:rPr lang="ko-KR" altLang="en-US" dirty="0"/>
              <a:t>다른 결과를 주는 대상을 공부 </a:t>
            </a:r>
            <a:r>
              <a:rPr lang="en-US" altLang="ko-KR" dirty="0"/>
              <a:t>; </a:t>
            </a:r>
            <a:r>
              <a:rPr lang="ko-KR" altLang="en-US" dirty="0"/>
              <a:t>직업적 의미</a:t>
            </a:r>
          </a:p>
          <a:p>
            <a:pPr lvl="2"/>
            <a:r>
              <a:rPr lang="ko-KR" altLang="en-US" dirty="0"/>
              <a:t>이 기술을 배우는 것이 실제 목표 달성에 도움이 되는지 추가적인 탐색을 해봐라</a:t>
            </a:r>
          </a:p>
          <a:p>
            <a:pPr lvl="1"/>
            <a:r>
              <a:rPr lang="ko-KR" altLang="en-US" dirty="0"/>
              <a:t>본질적인 동기</a:t>
            </a:r>
            <a:r>
              <a:rPr lang="en-US" altLang="ko-KR" dirty="0"/>
              <a:t>: </a:t>
            </a:r>
            <a:r>
              <a:rPr lang="ko-KR" altLang="en-US" dirty="0"/>
              <a:t>자기만의 목적으로 공부 </a:t>
            </a:r>
            <a:r>
              <a:rPr lang="en-US" altLang="ko-KR" dirty="0"/>
              <a:t>; </a:t>
            </a:r>
            <a:r>
              <a:rPr lang="ko-KR" altLang="en-US" dirty="0" err="1"/>
              <a:t>취미적</a:t>
            </a:r>
            <a:r>
              <a:rPr lang="ko-KR" altLang="en-US" dirty="0"/>
              <a:t> 의미</a:t>
            </a:r>
          </a:p>
          <a:p>
            <a:pPr lvl="1"/>
            <a:r>
              <a:rPr lang="ko-KR" altLang="en-US" dirty="0"/>
              <a:t>전문가 면담 전략</a:t>
            </a:r>
            <a:r>
              <a:rPr lang="en-US" altLang="ko-KR" dirty="0"/>
              <a:t>: </a:t>
            </a:r>
            <a:r>
              <a:rPr lang="ko-KR" altLang="en-US" dirty="0"/>
              <a:t>얻어내려는 걸 이미 얻어낸 사람과 대화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무엇을 획득하려 하는가</a:t>
            </a:r>
          </a:p>
          <a:p>
            <a:pPr lvl="1"/>
            <a:r>
              <a:rPr lang="ko-KR" altLang="en-US" dirty="0"/>
              <a:t>개념</a:t>
            </a:r>
            <a:r>
              <a:rPr lang="en-US" altLang="ko-KR" dirty="0"/>
              <a:t>: </a:t>
            </a:r>
            <a:r>
              <a:rPr lang="ko-KR" altLang="en-US" dirty="0"/>
              <a:t>이해해야 할 내용 </a:t>
            </a:r>
            <a:r>
              <a:rPr lang="en-US" altLang="ko-KR" dirty="0"/>
              <a:t>; </a:t>
            </a:r>
            <a:r>
              <a:rPr lang="ko-KR" altLang="en-US" dirty="0"/>
              <a:t>개념이란 그것을 유용하게 사용하기 위해 융통성 있게 이해해야 할 어떤 생각</a:t>
            </a:r>
          </a:p>
          <a:p>
            <a:pPr lvl="1"/>
            <a:r>
              <a:rPr lang="ko-KR" altLang="en-US" dirty="0"/>
              <a:t>사실 정보</a:t>
            </a:r>
            <a:r>
              <a:rPr lang="en-US" altLang="ko-KR" dirty="0"/>
              <a:t>: </a:t>
            </a:r>
            <a:r>
              <a:rPr lang="ko-KR" altLang="en-US" dirty="0"/>
              <a:t>암기해야 할 것 </a:t>
            </a:r>
            <a:r>
              <a:rPr lang="en-US" altLang="ko-KR" dirty="0"/>
              <a:t>; </a:t>
            </a:r>
            <a:r>
              <a:rPr lang="ko-KR" altLang="en-US" dirty="0"/>
              <a:t>올바른 상황에서 제대로 끄집어 낼 수만 있다면 깊이 이해할 필요가 없음</a:t>
            </a:r>
          </a:p>
          <a:p>
            <a:pPr lvl="1"/>
            <a:r>
              <a:rPr lang="ko-KR" altLang="en-US" dirty="0"/>
              <a:t>절차</a:t>
            </a:r>
            <a:r>
              <a:rPr lang="en-US" altLang="ko-KR" dirty="0"/>
              <a:t>: </a:t>
            </a:r>
            <a:r>
              <a:rPr lang="ko-KR" altLang="en-US" dirty="0"/>
              <a:t>연습해야 할 것 </a:t>
            </a:r>
            <a:r>
              <a:rPr lang="en-US" altLang="ko-KR" dirty="0"/>
              <a:t>; </a:t>
            </a:r>
            <a:r>
              <a:rPr lang="ko-KR" altLang="en-US" dirty="0"/>
              <a:t>수행해야 하는 행동들로 의식적이지 않음</a:t>
            </a:r>
          </a:p>
          <a:p>
            <a:pPr lvl="1"/>
            <a:r>
              <a:rPr lang="ko-KR" altLang="en-US" dirty="0"/>
              <a:t>이 세 개념을 바탕으로 어떤 것을 배워야 하는지 브레인 </a:t>
            </a:r>
            <a:r>
              <a:rPr lang="ko-KR" altLang="en-US" dirty="0" err="1"/>
              <a:t>스토밍을</a:t>
            </a:r>
            <a:r>
              <a:rPr lang="ko-KR" altLang="en-US" dirty="0"/>
              <a:t> 하고</a:t>
            </a:r>
            <a:r>
              <a:rPr lang="en-US" altLang="ko-KR" dirty="0"/>
              <a:t>, </a:t>
            </a:r>
            <a:r>
              <a:rPr lang="ko-KR" altLang="en-US" dirty="0"/>
              <a:t>가장 어려울 것 같은 것에 밑줄을 </a:t>
            </a:r>
            <a:r>
              <a:rPr lang="ko-KR" altLang="en-US" dirty="0" err="1"/>
              <a:t>그음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어떻게 학습할 것인가</a:t>
            </a:r>
          </a:p>
          <a:p>
            <a:pPr lvl="1"/>
            <a:r>
              <a:rPr lang="ko-KR" altLang="en-US" dirty="0"/>
              <a:t>벤치마킹</a:t>
            </a:r>
            <a:r>
              <a:rPr lang="en-US" altLang="ko-KR" dirty="0"/>
              <a:t>: </a:t>
            </a:r>
            <a:r>
              <a:rPr lang="ko-KR" altLang="en-US" dirty="0"/>
              <a:t>대부분의 사람이 그 기술을 배운 공통적인 방식을 찾는 것 </a:t>
            </a:r>
            <a:r>
              <a:rPr lang="en-US" altLang="ko-KR" dirty="0"/>
              <a:t>(</a:t>
            </a:r>
            <a:r>
              <a:rPr lang="ko-KR" altLang="en-US" dirty="0"/>
              <a:t>비학과적</a:t>
            </a:r>
            <a:r>
              <a:rPr lang="en-US" altLang="ko-KR" dirty="0"/>
              <a:t>, </a:t>
            </a:r>
            <a:r>
              <a:rPr lang="ko-KR" altLang="en-US" dirty="0"/>
              <a:t>전문적 기술은 전문가 면담 전략 사용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강조</a:t>
            </a:r>
            <a:r>
              <a:rPr lang="en-US" altLang="ko-KR" dirty="0"/>
              <a:t>-</a:t>
            </a:r>
            <a:r>
              <a:rPr lang="ko-KR" altLang="en-US" dirty="0"/>
              <a:t>제거</a:t>
            </a:r>
            <a:r>
              <a:rPr lang="en-US" altLang="ko-KR" dirty="0"/>
              <a:t>: </a:t>
            </a:r>
            <a:r>
              <a:rPr lang="ko-KR" altLang="en-US" dirty="0"/>
              <a:t>벤치마킹을 통해 얻은 커리큘럼을 수정할 수 있음</a:t>
            </a:r>
          </a:p>
          <a:p>
            <a:pPr lvl="2"/>
            <a:r>
              <a:rPr lang="ko-KR" altLang="en-US" dirty="0"/>
              <a:t>강조</a:t>
            </a:r>
            <a:r>
              <a:rPr lang="en-US" altLang="ko-KR" dirty="0"/>
              <a:t>: </a:t>
            </a:r>
            <a:r>
              <a:rPr lang="ko-KR" altLang="en-US" dirty="0"/>
              <a:t>프로젝트의 목표와 부합하는 학습 부분을 찾아 집중</a:t>
            </a:r>
          </a:p>
          <a:p>
            <a:pPr lvl="2"/>
            <a:r>
              <a:rPr lang="ko-KR" altLang="en-US" dirty="0"/>
              <a:t>제거</a:t>
            </a:r>
            <a:r>
              <a:rPr lang="en-US" altLang="ko-KR" dirty="0"/>
              <a:t>: </a:t>
            </a:r>
            <a:r>
              <a:rPr lang="ko-KR" altLang="en-US" dirty="0"/>
              <a:t>목표와 부합하지 않은 요소들을 제외 또는 나중으로 미룸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계획을 얼마나 세워야 할까</a:t>
            </a:r>
          </a:p>
          <a:p>
            <a:pPr lvl="1"/>
            <a:r>
              <a:rPr lang="en-US" altLang="ko-KR" dirty="0"/>
              <a:t>10% </a:t>
            </a:r>
            <a:r>
              <a:rPr lang="ko-KR" altLang="en-US" dirty="0"/>
              <a:t>규칙</a:t>
            </a:r>
            <a:r>
              <a:rPr lang="en-US" altLang="ko-KR" dirty="0"/>
              <a:t>: </a:t>
            </a:r>
            <a:r>
              <a:rPr lang="ko-KR" altLang="en-US" dirty="0"/>
              <a:t>예정된 시간의 </a:t>
            </a:r>
            <a:r>
              <a:rPr lang="en-US" altLang="ko-KR" dirty="0"/>
              <a:t>10%</a:t>
            </a:r>
            <a:r>
              <a:rPr lang="ko-KR" altLang="en-US" dirty="0"/>
              <a:t>를 계획에 할당 </a:t>
            </a:r>
            <a:r>
              <a:rPr lang="en-US" altLang="ko-KR" dirty="0"/>
              <a:t>; </a:t>
            </a:r>
            <a:r>
              <a:rPr lang="ko-KR" altLang="en-US" dirty="0"/>
              <a:t>장기적인 프로젝트는 </a:t>
            </a:r>
            <a:r>
              <a:rPr lang="en-US" altLang="ko-KR" dirty="0"/>
              <a:t>5%</a:t>
            </a:r>
            <a:r>
              <a:rPr lang="ko-KR" altLang="en-US" dirty="0"/>
              <a:t>정도</a:t>
            </a:r>
          </a:p>
          <a:p>
            <a:pPr lvl="2"/>
            <a:r>
              <a:rPr lang="ko-KR" altLang="en-US" dirty="0"/>
              <a:t>주의점</a:t>
            </a:r>
            <a:r>
              <a:rPr lang="en-US" altLang="ko-KR" dirty="0"/>
              <a:t>: </a:t>
            </a:r>
            <a:r>
              <a:rPr lang="ko-KR" altLang="en-US" dirty="0"/>
              <a:t>수많은 학습자원에 지치지 말 것</a:t>
            </a:r>
            <a:r>
              <a:rPr lang="en-US" altLang="ko-KR" dirty="0"/>
              <a:t>, </a:t>
            </a:r>
            <a:r>
              <a:rPr lang="ko-KR" altLang="en-US" dirty="0"/>
              <a:t>대안에 대해 생각하지 않고 처음에 찾은 자원이나 학습법에 의존하지 말 것</a:t>
            </a:r>
          </a:p>
          <a:p>
            <a:pPr lvl="1"/>
            <a:r>
              <a:rPr lang="ko-KR" altLang="en-US" dirty="0"/>
              <a:t>수확체감과 한계비용 계산</a:t>
            </a:r>
            <a:r>
              <a:rPr lang="en-US" altLang="ko-KR" dirty="0"/>
              <a:t>: </a:t>
            </a:r>
            <a:r>
              <a:rPr lang="ko-KR" altLang="en-US" dirty="0"/>
              <a:t>프로젝트 중 하는 메타학습 </a:t>
            </a:r>
            <a:r>
              <a:rPr lang="en-US" altLang="ko-KR" dirty="0"/>
              <a:t>; </a:t>
            </a:r>
            <a:r>
              <a:rPr lang="ko-KR" altLang="en-US" dirty="0"/>
              <a:t>규칙적인 학습과 메타 학습의 한계비용을 서로 비교 </a:t>
            </a:r>
            <a:r>
              <a:rPr lang="en-US" altLang="ko-KR" dirty="0"/>
              <a:t>; </a:t>
            </a:r>
            <a:r>
              <a:rPr lang="ko-KR" altLang="en-US" dirty="0"/>
              <a:t>메타학습 탐색이 공부를 하는 것보다 도움이 된 것 같다면 그때 탐색을 시작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3E994F-0368-423A-AAB9-5D3464451BF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왜 그것을 </a:t>
            </a:r>
            <a:r>
              <a:rPr lang="ko-KR" altLang="en-US" dirty="0" err="1"/>
              <a:t>배우려는가</a:t>
            </a:r>
            <a:r>
              <a:rPr lang="en-US" altLang="ko-KR" dirty="0"/>
              <a:t>: </a:t>
            </a:r>
            <a:r>
              <a:rPr lang="ko-KR" altLang="en-US" dirty="0"/>
              <a:t>도구적</a:t>
            </a:r>
            <a:r>
              <a:rPr lang="en-US" altLang="ko-KR" dirty="0"/>
              <a:t>, </a:t>
            </a:r>
            <a:r>
              <a:rPr lang="ko-KR" altLang="en-US" dirty="0"/>
              <a:t>본질적 동기가 있고 전문가 면담 전략을 통해 목표와 계획이 맞나 확인하라</a:t>
            </a:r>
            <a:endParaRPr lang="en-US" altLang="ko-KR" dirty="0"/>
          </a:p>
          <a:p>
            <a:r>
              <a:rPr lang="ko-KR" altLang="en-US" dirty="0"/>
              <a:t>무엇을 획득하려 하는가</a:t>
            </a:r>
            <a:r>
              <a:rPr lang="en-US" altLang="ko-KR" dirty="0"/>
              <a:t>: </a:t>
            </a:r>
            <a:r>
              <a:rPr lang="ko-KR" altLang="en-US" dirty="0"/>
              <a:t>알아야 하는 개념</a:t>
            </a:r>
            <a:r>
              <a:rPr lang="en-US" altLang="ko-KR" dirty="0"/>
              <a:t>/</a:t>
            </a:r>
            <a:r>
              <a:rPr lang="ko-KR" altLang="en-US" dirty="0"/>
              <a:t>사실정보</a:t>
            </a:r>
            <a:r>
              <a:rPr lang="en-US" altLang="ko-KR" dirty="0"/>
              <a:t>/</a:t>
            </a:r>
            <a:r>
              <a:rPr lang="ko-KR" altLang="en-US" dirty="0"/>
              <a:t>절차 들을 브레인 </a:t>
            </a:r>
            <a:r>
              <a:rPr lang="ko-KR" altLang="en-US" dirty="0" err="1"/>
              <a:t>스토밍을</a:t>
            </a:r>
            <a:r>
              <a:rPr lang="ko-KR" altLang="en-US" dirty="0"/>
              <a:t> 통해 도출하고 가장 어려울 것 같은 개념에 밑줄을 그러라</a:t>
            </a:r>
            <a:endParaRPr lang="en-US" altLang="ko-KR" dirty="0"/>
          </a:p>
          <a:p>
            <a:r>
              <a:rPr lang="ko-KR" altLang="en-US" dirty="0"/>
              <a:t>어떻게 학습할 것인가</a:t>
            </a:r>
            <a:r>
              <a:rPr lang="en-US" altLang="ko-KR" dirty="0"/>
              <a:t>: </a:t>
            </a:r>
            <a:r>
              <a:rPr lang="ko-KR" altLang="en-US" dirty="0"/>
              <a:t>벤치마킹 전략을 통해 일반적으로 알려진 학습 전략을 가져와 강조</a:t>
            </a:r>
            <a:r>
              <a:rPr lang="en-US" altLang="ko-KR" dirty="0"/>
              <a:t>-</a:t>
            </a:r>
            <a:r>
              <a:rPr lang="ko-KR" altLang="en-US" dirty="0"/>
              <a:t>제거 방식을 통해 자신에게 맞는 커리큘럼으로 수정하라</a:t>
            </a:r>
            <a:endParaRPr lang="en-US" altLang="ko-KR" dirty="0"/>
          </a:p>
          <a:p>
            <a:r>
              <a:rPr lang="ko-KR" altLang="en-US" dirty="0"/>
              <a:t>계획을 얼마나 세워야 할까</a:t>
            </a:r>
            <a:r>
              <a:rPr lang="en-US" altLang="ko-KR" dirty="0"/>
              <a:t>: 10% </a:t>
            </a:r>
            <a:r>
              <a:rPr lang="ko-KR" altLang="en-US" dirty="0"/>
              <a:t>규칙을 통해 계획을 세우고 프로젝트 중간에 수확체감과 한계비용 법칙을 통해 중간중간 자신의 계획을 점검하라</a:t>
            </a:r>
          </a:p>
        </p:txBody>
      </p:sp>
    </p:spTree>
    <p:extLst>
      <p:ext uri="{BB962C8B-B14F-4D97-AF65-F5344CB8AC3E}">
        <p14:creationId xmlns:p14="http://schemas.microsoft.com/office/powerpoint/2010/main" val="3763563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F14904C-89BD-4F6A-98E1-A3F0887AB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5B6E86A-2C91-402C-BAF2-05558C6F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집중하기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B040DC-CD10-4A21-AA08-8DEB95F308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우리는 왜 시작하지 못하고 꾸물거리는가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집중력을 유지하는 데 실패하는 이유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집중하기에 좋은 최상의 상태를 찾아라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30</a:t>
            </a:r>
            <a:r>
              <a:rPr lang="ko-KR" altLang="en-US" dirty="0"/>
              <a:t>초에서 시작하는 집중력 훈련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444AFAA-2894-440F-9B98-2AA7805EB6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우리는 왜 시작하지 못하고 꾸물거리는가</a:t>
            </a:r>
            <a:endParaRPr lang="en-US" altLang="ko-KR" dirty="0"/>
          </a:p>
          <a:p>
            <a:pPr lvl="1"/>
            <a:r>
              <a:rPr lang="ko-KR" altLang="en-US" dirty="0"/>
              <a:t>다른 일에 대한 갈망이 더 크거나 그 일 자체가 하기 싫은 것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어떤 일이 하기 싫은 지</a:t>
            </a:r>
            <a:r>
              <a:rPr lang="en-US" altLang="ko-KR" dirty="0"/>
              <a:t>, </a:t>
            </a:r>
            <a:r>
              <a:rPr lang="ko-KR" altLang="en-US" dirty="0"/>
              <a:t>어떤 일을 하고싶은 충동이 드는지 인지하라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휴식을 취하지 않고 딱 </a:t>
            </a:r>
            <a:r>
              <a:rPr lang="en-US" altLang="ko-KR" dirty="0"/>
              <a:t>5</a:t>
            </a:r>
            <a:r>
              <a:rPr lang="ko-KR" altLang="en-US" dirty="0"/>
              <a:t>분만 그 일을 한다면 미루던 일을 할 수 있다고 확신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 err="1"/>
              <a:t>포모도로</a:t>
            </a:r>
            <a:r>
              <a:rPr lang="ko-KR" altLang="en-US" dirty="0"/>
              <a:t> 기법</a:t>
            </a:r>
            <a:r>
              <a:rPr lang="en-US" altLang="ko-KR" dirty="0"/>
              <a:t>: 25</a:t>
            </a:r>
            <a:r>
              <a:rPr lang="ko-KR" altLang="en-US" dirty="0"/>
              <a:t>분 집중하고 </a:t>
            </a:r>
            <a:r>
              <a:rPr lang="en-US" altLang="ko-KR" dirty="0"/>
              <a:t>5</a:t>
            </a:r>
            <a:r>
              <a:rPr lang="ko-KR" altLang="en-US" dirty="0"/>
              <a:t>분 휴식</a:t>
            </a:r>
            <a:endParaRPr lang="en-US" altLang="ko-KR" dirty="0"/>
          </a:p>
          <a:p>
            <a:pPr lvl="1"/>
            <a:r>
              <a:rPr lang="en-US" altLang="ko-KR" dirty="0"/>
              <a:t>4) </a:t>
            </a:r>
            <a:r>
              <a:rPr lang="ko-KR" altLang="en-US" dirty="0"/>
              <a:t>꾸물거림이 문제가 없다면 달력을 통해 하루 중 특정한 시간을 그 프로젝트에 할애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집중력을 유지하는 데 실패하는 이유</a:t>
            </a:r>
            <a:endParaRPr lang="en-US" altLang="ko-KR" dirty="0"/>
          </a:p>
          <a:p>
            <a:pPr lvl="1"/>
            <a:r>
              <a:rPr lang="ko-KR" altLang="en-US" dirty="0"/>
              <a:t>유지하기 좋은 집중력</a:t>
            </a:r>
            <a:r>
              <a:rPr lang="en-US" altLang="ko-KR" dirty="0"/>
              <a:t> : </a:t>
            </a:r>
            <a:r>
              <a:rPr lang="ko-KR" altLang="en-US" dirty="0"/>
              <a:t>온 정신이 집중된 몰입의 상태보단 실수를 보정할 수 있는 의도적 훈련이 적합</a:t>
            </a:r>
            <a:endParaRPr lang="en-US" altLang="ko-KR" dirty="0"/>
          </a:p>
          <a:p>
            <a:pPr lvl="1"/>
            <a:r>
              <a:rPr lang="ko-KR" altLang="en-US" dirty="0"/>
              <a:t>집중의 지속 시간 </a:t>
            </a:r>
            <a:r>
              <a:rPr lang="en-US" altLang="ko-KR" dirty="0"/>
              <a:t>: </a:t>
            </a:r>
            <a:r>
              <a:rPr lang="ko-KR" altLang="en-US" dirty="0"/>
              <a:t>일반적으로 </a:t>
            </a:r>
            <a:r>
              <a:rPr lang="en-US" altLang="ko-KR" dirty="0"/>
              <a:t>1</a:t>
            </a:r>
            <a:r>
              <a:rPr lang="ko-KR" altLang="en-US" dirty="0"/>
              <a:t>시간에 </a:t>
            </a:r>
            <a:r>
              <a:rPr lang="en-US" altLang="ko-KR" dirty="0"/>
              <a:t>50</a:t>
            </a:r>
            <a:r>
              <a:rPr lang="ko-KR" altLang="en-US" dirty="0"/>
              <a:t>분 정도가 이상적임</a:t>
            </a:r>
            <a:endParaRPr lang="en-US" altLang="ko-KR" dirty="0"/>
          </a:p>
          <a:p>
            <a:pPr lvl="1"/>
            <a:r>
              <a:rPr lang="ko-KR" altLang="en-US" dirty="0"/>
              <a:t>집중력을 흐트러뜨리는 원인</a:t>
            </a:r>
            <a:r>
              <a:rPr lang="en-US" altLang="ko-KR" dirty="0"/>
              <a:t>: </a:t>
            </a:r>
            <a:r>
              <a:rPr lang="ko-KR" altLang="en-US" dirty="0"/>
              <a:t>환경</a:t>
            </a:r>
            <a:endParaRPr lang="en-US" altLang="ko-KR" dirty="0"/>
          </a:p>
          <a:p>
            <a:pPr lvl="2"/>
            <a:r>
              <a:rPr lang="ko-KR" altLang="en-US" dirty="0"/>
              <a:t>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TV, </a:t>
            </a:r>
            <a:r>
              <a:rPr lang="ko-KR" altLang="en-US" dirty="0"/>
              <a:t>게임</a:t>
            </a:r>
            <a:r>
              <a:rPr lang="en-US" altLang="ko-KR" dirty="0"/>
              <a:t>, </a:t>
            </a:r>
            <a:r>
              <a:rPr lang="ko-KR" altLang="en-US" dirty="0"/>
              <a:t>잡음이 있는 환경은 아닌가</a:t>
            </a:r>
            <a:r>
              <a:rPr lang="en-US" altLang="ko-KR" dirty="0"/>
              <a:t>? </a:t>
            </a:r>
            <a:r>
              <a:rPr lang="ko-KR" altLang="en-US" dirty="0"/>
              <a:t>공부 준비물을 모두 갖췄나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공부할 때 음악을 듣는 등의 행위는 집중력을 떨어트림</a:t>
            </a:r>
            <a:endParaRPr lang="en-US" altLang="ko-KR" dirty="0"/>
          </a:p>
          <a:p>
            <a:pPr lvl="1"/>
            <a:r>
              <a:rPr lang="ko-KR" altLang="en-US" dirty="0"/>
              <a:t>집중력을 흐트러뜨리는 원인</a:t>
            </a:r>
            <a:r>
              <a:rPr lang="en-US" altLang="ko-KR" dirty="0"/>
              <a:t>: </a:t>
            </a:r>
            <a:r>
              <a:rPr lang="ko-KR" altLang="en-US" dirty="0"/>
              <a:t>과제</a:t>
            </a:r>
            <a:endParaRPr lang="en-US" altLang="ko-KR" dirty="0"/>
          </a:p>
          <a:p>
            <a:pPr lvl="2"/>
            <a:r>
              <a:rPr lang="ko-KR" altLang="en-US" dirty="0"/>
              <a:t>공부할 때 집중력을 끌어올릴 수 있는 수단을 선택해라</a:t>
            </a:r>
            <a:endParaRPr lang="en-US" altLang="ko-KR" dirty="0"/>
          </a:p>
          <a:p>
            <a:pPr lvl="3"/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직접하기</a:t>
            </a:r>
            <a:r>
              <a:rPr lang="en-US" altLang="ko-KR" dirty="0"/>
              <a:t>, </a:t>
            </a:r>
            <a:r>
              <a:rPr lang="ko-KR" altLang="en-US" dirty="0"/>
              <a:t>피드백이 없으면 하지 택하지 않음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집중력을 흐트러뜨리는 원인</a:t>
            </a:r>
            <a:r>
              <a:rPr lang="en-US" altLang="ko-KR" dirty="0"/>
              <a:t>: </a:t>
            </a:r>
            <a:r>
              <a:rPr lang="ko-KR" altLang="en-US" dirty="0"/>
              <a:t>정신</a:t>
            </a:r>
            <a:endParaRPr lang="en-US" altLang="ko-KR" dirty="0"/>
          </a:p>
          <a:p>
            <a:pPr lvl="2"/>
            <a:r>
              <a:rPr lang="ko-KR" altLang="en-US" dirty="0"/>
              <a:t>공부를 방해하는 부정적인 감정들에 대해 짧은 시간동안 그 감정에 대해 돌아보고 그것이 지나가면 다시 집중하라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집중하기에 좋은 최상의 상태를 찾아라</a:t>
            </a:r>
            <a:r>
              <a:rPr lang="en-US" altLang="ko-KR" dirty="0"/>
              <a:t>: </a:t>
            </a:r>
            <a:r>
              <a:rPr lang="ko-KR" altLang="en-US" dirty="0"/>
              <a:t>각성과 업무 복잡성</a:t>
            </a:r>
            <a:endParaRPr lang="en-US" altLang="ko-KR" dirty="0"/>
          </a:p>
          <a:p>
            <a:pPr lvl="1"/>
            <a:r>
              <a:rPr lang="ko-KR" altLang="en-US" dirty="0"/>
              <a:t>각성</a:t>
            </a:r>
            <a:r>
              <a:rPr lang="en-US" altLang="ko-KR" dirty="0"/>
              <a:t>: </a:t>
            </a:r>
            <a:r>
              <a:rPr lang="ko-KR" altLang="en-US" dirty="0"/>
              <a:t>전반적으로 에너지가 넘치는</a:t>
            </a:r>
            <a:r>
              <a:rPr lang="en-US" altLang="ko-KR" dirty="0"/>
              <a:t>, </a:t>
            </a:r>
            <a:r>
              <a:rPr lang="ko-KR" altLang="en-US" dirty="0"/>
              <a:t>눈빛이 초롱초롱한 느낌</a:t>
            </a:r>
            <a:br>
              <a:rPr lang="en-US" altLang="ko-KR" dirty="0"/>
            </a:br>
            <a:r>
              <a:rPr lang="ko-KR" altLang="en-US" dirty="0"/>
              <a:t>지나친 각성수준은 집중을 흐트러뜨리므로 중간 수준의 각성이 적당</a:t>
            </a:r>
            <a:br>
              <a:rPr lang="en-US" altLang="ko-KR" dirty="0"/>
            </a:br>
            <a:r>
              <a:rPr lang="ko-KR" altLang="en-US" dirty="0"/>
              <a:t>창조적인 일을 할 땐 각성의 수준을 낮춰 한발짝 떨어져 생각 하는게 좋음</a:t>
            </a:r>
            <a:endParaRPr lang="en-US" altLang="ko-KR" dirty="0"/>
          </a:p>
          <a:p>
            <a:pPr lvl="1"/>
            <a:r>
              <a:rPr lang="ko-KR" altLang="en-US" dirty="0"/>
              <a:t>업무 복잡성</a:t>
            </a:r>
            <a:r>
              <a:rPr lang="en-US" altLang="ko-KR" dirty="0"/>
              <a:t>: </a:t>
            </a:r>
            <a:r>
              <a:rPr lang="ko-KR" altLang="en-US" dirty="0"/>
              <a:t>높은 복잡성에선 차분한 마음가짐이</a:t>
            </a:r>
            <a:r>
              <a:rPr lang="en-US" altLang="ko-KR" dirty="0"/>
              <a:t>, </a:t>
            </a:r>
            <a:r>
              <a:rPr lang="ko-KR" altLang="en-US" dirty="0"/>
              <a:t>낮은 수준의 복잡도에선 높은 각성도가 적합함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30</a:t>
            </a:r>
            <a:r>
              <a:rPr lang="ko-KR" altLang="en-US" dirty="0"/>
              <a:t>초에서 시작하는 집중력 훈련</a:t>
            </a:r>
            <a:endParaRPr lang="en-US" altLang="ko-KR" dirty="0"/>
          </a:p>
          <a:p>
            <a:pPr lvl="1"/>
            <a:r>
              <a:rPr lang="ko-KR" altLang="en-US" dirty="0"/>
              <a:t>자신이 어디에 있는지 인식하고 작은 일에서 시작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분도 가만히 있지 못한다면 </a:t>
            </a:r>
            <a:r>
              <a:rPr lang="en-US" altLang="ko-KR" dirty="0"/>
              <a:t>30</a:t>
            </a:r>
            <a:r>
              <a:rPr lang="ko-KR" altLang="en-US" dirty="0"/>
              <a:t>초부터</a:t>
            </a:r>
            <a:r>
              <a:rPr lang="en-US" altLang="ko-KR" dirty="0"/>
              <a:t>, </a:t>
            </a:r>
            <a:r>
              <a:rPr lang="ko-KR" altLang="en-US" dirty="0"/>
              <a:t>그 후 </a:t>
            </a:r>
            <a:r>
              <a:rPr lang="en-US" altLang="ko-KR" dirty="0"/>
              <a:t>1</a:t>
            </a:r>
            <a:r>
              <a:rPr lang="ko-KR" altLang="en-US" dirty="0"/>
              <a:t>분</a:t>
            </a:r>
            <a:r>
              <a:rPr lang="en-US" altLang="ko-KR" dirty="0"/>
              <a:t>. 2</a:t>
            </a:r>
            <a:r>
              <a:rPr lang="ko-KR" altLang="en-US" dirty="0"/>
              <a:t>분 씩 늘려라</a:t>
            </a:r>
            <a:endParaRPr lang="en-US" altLang="ko-KR" dirty="0"/>
          </a:p>
          <a:p>
            <a:pPr lvl="1"/>
            <a:r>
              <a:rPr lang="ko-KR" altLang="en-US" dirty="0"/>
              <a:t>다른 곳에 정신이 팔리는 충동은 그것에 저항하는 순간마다 약해진다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B3720E-175B-4CC7-918F-A679B91C708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우리는 왜 시작하지 못하는가</a:t>
            </a:r>
            <a:r>
              <a:rPr lang="en-US" altLang="ko-KR" dirty="0"/>
              <a:t>: </a:t>
            </a:r>
            <a:r>
              <a:rPr lang="ko-KR" altLang="en-US" dirty="0"/>
              <a:t>하기 싫을 때 어떤 일이 하고 </a:t>
            </a:r>
            <a:r>
              <a:rPr lang="ko-KR" altLang="en-US" dirty="0" err="1"/>
              <a:t>싶은지</a:t>
            </a:r>
            <a:r>
              <a:rPr lang="ko-KR" altLang="en-US" dirty="0"/>
              <a:t> 인지하라</a:t>
            </a:r>
            <a:r>
              <a:rPr lang="en-US" altLang="ko-KR" dirty="0"/>
              <a:t>. 5</a:t>
            </a:r>
            <a:r>
              <a:rPr lang="ko-KR" altLang="en-US" dirty="0"/>
              <a:t>분만 참고 하던 일을 하라</a:t>
            </a:r>
            <a:r>
              <a:rPr lang="en-US" altLang="ko-KR" dirty="0"/>
              <a:t>., </a:t>
            </a:r>
            <a:r>
              <a:rPr lang="ko-KR" altLang="en-US" dirty="0" err="1"/>
              <a:t>포모도르</a:t>
            </a:r>
            <a:r>
              <a:rPr lang="ko-KR" altLang="en-US" dirty="0"/>
              <a:t> 기법을 이용하라</a:t>
            </a:r>
            <a:r>
              <a:rPr lang="en-US" altLang="ko-KR" dirty="0"/>
              <a:t>. </a:t>
            </a:r>
            <a:r>
              <a:rPr lang="ko-KR" altLang="en-US" dirty="0"/>
              <a:t>더 이상 작업을 시작하는데 문제가 없다면 일정을 만들어 꾸준한 시간을 내어라</a:t>
            </a:r>
            <a:endParaRPr lang="en-US" altLang="ko-KR" dirty="0"/>
          </a:p>
          <a:p>
            <a:r>
              <a:rPr lang="ko-KR" altLang="en-US" dirty="0"/>
              <a:t>집중력을 </a:t>
            </a:r>
            <a:r>
              <a:rPr lang="ko-KR" altLang="en-US" dirty="0" err="1"/>
              <a:t>흐트리는</a:t>
            </a:r>
            <a:r>
              <a:rPr lang="ko-KR" altLang="en-US" dirty="0"/>
              <a:t> 원인</a:t>
            </a:r>
            <a:r>
              <a:rPr lang="en-US" altLang="ko-KR" dirty="0"/>
              <a:t>: 1</a:t>
            </a:r>
            <a:r>
              <a:rPr lang="ko-KR" altLang="en-US" dirty="0"/>
              <a:t>시간에 </a:t>
            </a:r>
            <a:r>
              <a:rPr lang="en-US" altLang="ko-KR" dirty="0"/>
              <a:t>50</a:t>
            </a:r>
            <a:r>
              <a:rPr lang="ko-KR" altLang="en-US" dirty="0"/>
              <a:t>분 정도의 집중이 좋다</a:t>
            </a:r>
            <a:r>
              <a:rPr lang="en-US" altLang="ko-KR" dirty="0"/>
              <a:t>. </a:t>
            </a:r>
            <a:r>
              <a:rPr lang="ko-KR" altLang="en-US" dirty="0"/>
              <a:t>산만한 환경</a:t>
            </a:r>
            <a:r>
              <a:rPr lang="en-US" altLang="ko-KR" dirty="0"/>
              <a:t>, </a:t>
            </a:r>
            <a:r>
              <a:rPr lang="ko-KR" altLang="en-US" dirty="0"/>
              <a:t>집중력을 끌어올릴 수 없는 과제</a:t>
            </a:r>
            <a:r>
              <a:rPr lang="en-US" altLang="ko-KR" dirty="0"/>
              <a:t>, </a:t>
            </a:r>
            <a:r>
              <a:rPr lang="ko-KR" altLang="en-US" dirty="0"/>
              <a:t>집중을 방해하는 정신상태 문제들을 체크하라</a:t>
            </a:r>
            <a:endParaRPr lang="en-US" altLang="ko-KR" dirty="0"/>
          </a:p>
          <a:p>
            <a:r>
              <a:rPr lang="ko-KR" altLang="en-US" dirty="0"/>
              <a:t>집중하기에 좋은 최상의 상태를 찾아라</a:t>
            </a:r>
            <a:r>
              <a:rPr lang="en-US" altLang="ko-KR" dirty="0"/>
              <a:t>: </a:t>
            </a:r>
            <a:r>
              <a:rPr lang="ko-KR" altLang="en-US" dirty="0"/>
              <a:t>복잡하지 않다면 높은 각성도가</a:t>
            </a:r>
            <a:r>
              <a:rPr lang="en-US" altLang="ko-KR" dirty="0"/>
              <a:t>, </a:t>
            </a:r>
            <a:r>
              <a:rPr lang="ko-KR" altLang="en-US" dirty="0"/>
              <a:t>복잡한 일을 처리한다면 차분하게 접근해라</a:t>
            </a:r>
            <a:r>
              <a:rPr lang="en-US" altLang="ko-KR" dirty="0"/>
              <a:t>. </a:t>
            </a:r>
            <a:r>
              <a:rPr lang="ko-KR" altLang="en-US" dirty="0"/>
              <a:t>극도의 각성상태는 오히려 좋지 않고 중간 수준이 적당하다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6379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BE62B8A6-C6D5-43DD-8CD1-C387F8012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4EDE8AD6-A559-4A6D-8EBA-6E9E65268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430EF7-1FA0-40EB-A382-1C1A45607E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sz="1050" dirty="0"/>
              <a:t>잘하고 싶은 바로 그 일을 하라</a:t>
            </a:r>
            <a:endParaRPr lang="en-US" altLang="ko-KR" sz="1050" dirty="0"/>
          </a:p>
          <a:p>
            <a:endParaRPr lang="en-US" altLang="ko-KR" dirty="0"/>
          </a:p>
          <a:p>
            <a:endParaRPr lang="en-US" altLang="ko-KR" sz="1050" dirty="0"/>
          </a:p>
          <a:p>
            <a:r>
              <a:rPr lang="ko-KR" altLang="en-US" sz="1050" dirty="0"/>
              <a:t>현장에 딱 달라붙어 배워라</a:t>
            </a:r>
            <a:endParaRPr lang="en-US" altLang="ko-KR" sz="1050" dirty="0"/>
          </a:p>
          <a:p>
            <a:endParaRPr lang="en-US" altLang="ko-KR" dirty="0"/>
          </a:p>
          <a:p>
            <a:endParaRPr lang="en-US" altLang="ko-KR" sz="1050" dirty="0"/>
          </a:p>
          <a:p>
            <a:endParaRPr lang="en-US" altLang="ko-KR" dirty="0"/>
          </a:p>
          <a:p>
            <a:endParaRPr lang="en-US" altLang="ko-KR" sz="1050" dirty="0"/>
          </a:p>
          <a:p>
            <a:endParaRPr lang="en-US" altLang="ko-KR" sz="1050" dirty="0"/>
          </a:p>
          <a:p>
            <a:r>
              <a:rPr lang="ko-KR" altLang="en-US" sz="1050" dirty="0"/>
              <a:t>울트라 러닝의 직접 학습 전략</a:t>
            </a:r>
            <a:endParaRPr lang="en-US" altLang="ko-KR" sz="1050" dirty="0"/>
          </a:p>
          <a:p>
            <a:endParaRPr lang="en-US" altLang="ko-KR" dirty="0"/>
          </a:p>
          <a:p>
            <a:endParaRPr lang="en-US" altLang="ko-KR" sz="1050" dirty="0"/>
          </a:p>
          <a:p>
            <a:endParaRPr lang="en-US" altLang="ko-KR" dirty="0"/>
          </a:p>
          <a:p>
            <a:endParaRPr lang="en-US" altLang="ko-KR" sz="1050" dirty="0"/>
          </a:p>
          <a:p>
            <a:endParaRPr lang="en-US" altLang="ko-KR" dirty="0"/>
          </a:p>
          <a:p>
            <a:endParaRPr lang="en-US" altLang="ko-KR" sz="1050" dirty="0"/>
          </a:p>
          <a:p>
            <a:r>
              <a:rPr lang="ko-KR" altLang="en-US" sz="1050" dirty="0"/>
              <a:t>배움</a:t>
            </a:r>
            <a:r>
              <a:rPr lang="en-US" altLang="ko-KR" sz="1050" dirty="0"/>
              <a:t>, </a:t>
            </a:r>
            <a:r>
              <a:rPr lang="ko-KR" altLang="en-US" sz="1050" dirty="0"/>
              <a:t>스스로 묻고 답하라</a:t>
            </a:r>
            <a:endParaRPr lang="en-US" altLang="ko-KR" sz="105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506CBCE-6689-4E47-9C99-E7C46B6C23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1000" dirty="0"/>
              <a:t>잘하고 싶은 바로 그 일을 하라</a:t>
            </a:r>
            <a:endParaRPr lang="en-US" altLang="ko-KR" sz="1000" dirty="0"/>
          </a:p>
          <a:p>
            <a:pPr lvl="1"/>
            <a:r>
              <a:rPr lang="ko-KR" altLang="en-US" sz="1000" dirty="0"/>
              <a:t>직접하기는 배우려는 기술을 실제로 사용할 환경과 상황에 가장 가까운 상태에서 학습하는 방법</a:t>
            </a:r>
            <a:endParaRPr lang="en-US" altLang="ko-KR" sz="1000" dirty="0"/>
          </a:p>
          <a:p>
            <a:pPr lvl="1"/>
            <a:r>
              <a:rPr lang="ko-KR" altLang="en-US" sz="1000" dirty="0"/>
              <a:t>직접하기가 불가능한 상황에선 그 상황을 모방하여 연습하라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현장에 딱 달라붙어 배워라</a:t>
            </a:r>
            <a:endParaRPr lang="en-US" altLang="ko-KR" sz="1000" dirty="0"/>
          </a:p>
          <a:p>
            <a:pPr lvl="1"/>
            <a:r>
              <a:rPr lang="ko-KR" altLang="en-US" sz="1000" dirty="0"/>
              <a:t>직접 배우는 것</a:t>
            </a:r>
            <a:r>
              <a:rPr lang="en-US" altLang="ko-KR" sz="1000" dirty="0"/>
              <a:t>: </a:t>
            </a:r>
            <a:r>
              <a:rPr lang="ko-KR" altLang="en-US" sz="1000" dirty="0"/>
              <a:t>가장 공부가 잘 되는 시간에 하고싶은 공부를 할 수 있다면 직접하기의 문제는 없음</a:t>
            </a:r>
            <a:endParaRPr lang="en-US" altLang="ko-KR" sz="1000" dirty="0"/>
          </a:p>
          <a:p>
            <a:pPr lvl="2"/>
            <a:r>
              <a:rPr lang="ko-KR" altLang="en-US" sz="1000" dirty="0"/>
              <a:t>그러나</a:t>
            </a:r>
            <a:r>
              <a:rPr lang="en-US" altLang="ko-KR" sz="1000" dirty="0"/>
              <a:t>, </a:t>
            </a:r>
            <a:r>
              <a:rPr lang="ko-KR" altLang="en-US" sz="1000" dirty="0"/>
              <a:t>그렇게 할 수 없는 환경에 있다면 자신의 기술을 시험하는 프로젝트를 만들거나 환경을 조성하는 것이다</a:t>
            </a:r>
            <a:r>
              <a:rPr lang="en-US" altLang="ko-KR" sz="1000" dirty="0"/>
              <a:t>.</a:t>
            </a:r>
          </a:p>
          <a:p>
            <a:pPr lvl="3"/>
            <a:r>
              <a:rPr lang="ko-KR" altLang="en-US" sz="1000" dirty="0"/>
              <a:t>우리가 습득하려는 기술의 인지적 특성과 그것을 실행하는 방식이 상당히 유사함</a:t>
            </a:r>
            <a:endParaRPr lang="en-US" altLang="ko-KR" sz="1000" dirty="0"/>
          </a:p>
          <a:p>
            <a:pPr lvl="1"/>
            <a:r>
              <a:rPr lang="ko-KR" altLang="en-US" sz="1000" dirty="0"/>
              <a:t>비 실용적인 지식</a:t>
            </a:r>
            <a:r>
              <a:rPr lang="en-US" altLang="ko-KR" sz="1000" dirty="0"/>
              <a:t>(</a:t>
            </a:r>
            <a:r>
              <a:rPr lang="ko-KR" altLang="en-US" sz="1000" dirty="0"/>
              <a:t>특정 주제의 이해</a:t>
            </a:r>
            <a:r>
              <a:rPr lang="en-US" altLang="ko-KR" sz="1000" dirty="0"/>
              <a:t>) </a:t>
            </a:r>
            <a:r>
              <a:rPr lang="ko-KR" altLang="en-US" sz="1000" dirty="0"/>
              <a:t>와 같은 것에도 직접하기는 유용함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울트라 러닝의 직접 학습 전략</a:t>
            </a:r>
            <a:endParaRPr lang="en-US" altLang="ko-KR" sz="1000" dirty="0"/>
          </a:p>
          <a:p>
            <a:pPr lvl="1"/>
            <a:r>
              <a:rPr lang="ko-KR" altLang="en-US" sz="1000" dirty="0"/>
              <a:t>프로젝트 기반 학습</a:t>
            </a:r>
            <a:r>
              <a:rPr lang="en-US" altLang="ko-KR" sz="1000" dirty="0"/>
              <a:t>: </a:t>
            </a:r>
            <a:r>
              <a:rPr lang="ko-KR" altLang="en-US" sz="1000" dirty="0"/>
              <a:t>강좌를 듣는 것 보단 무언가 만들어 내기 위한 프로젝트를 선택 </a:t>
            </a:r>
            <a:r>
              <a:rPr lang="en-US" altLang="ko-KR" sz="1000" dirty="0"/>
              <a:t>; </a:t>
            </a:r>
            <a:r>
              <a:rPr lang="ko-KR" altLang="en-US" sz="1000" dirty="0"/>
              <a:t>만들어 내기 위한 공부는 최소한 그것을 만들 줄 알아야 하기 때문 </a:t>
            </a:r>
            <a:endParaRPr lang="en-US" altLang="ko-KR" sz="1000" dirty="0"/>
          </a:p>
          <a:p>
            <a:pPr lvl="1"/>
            <a:r>
              <a:rPr lang="ko-KR" altLang="en-US" sz="1000" dirty="0"/>
              <a:t>담금형 학습</a:t>
            </a:r>
            <a:r>
              <a:rPr lang="en-US" altLang="ko-KR" sz="1000" dirty="0"/>
              <a:t>: </a:t>
            </a:r>
            <a:r>
              <a:rPr lang="ko-KR" altLang="en-US" sz="1000" dirty="0"/>
              <a:t>자신이 목표로 한 기술을 실행할 환경에 뛰어드는 것 </a:t>
            </a:r>
            <a:r>
              <a:rPr lang="en-US" altLang="ko-KR" sz="1000" dirty="0"/>
              <a:t>; </a:t>
            </a:r>
            <a:r>
              <a:rPr lang="ko-KR" altLang="en-US" sz="1000" dirty="0"/>
              <a:t>그 기술을 이용한 상황에 자신을 노출시켜 일반적인 학습법보다 더 많은 연습을 하게 됨</a:t>
            </a:r>
            <a:endParaRPr lang="en-US" altLang="ko-KR" sz="1000" dirty="0"/>
          </a:p>
          <a:p>
            <a:pPr lvl="1"/>
            <a:r>
              <a:rPr lang="ko-KR" altLang="en-US" sz="1000" dirty="0"/>
              <a:t>모의 비행 방식</a:t>
            </a:r>
            <a:r>
              <a:rPr lang="en-US" altLang="ko-KR" sz="1000" dirty="0"/>
              <a:t>: </a:t>
            </a:r>
            <a:r>
              <a:rPr lang="ko-KR" altLang="en-US" sz="1000" dirty="0"/>
              <a:t>직접 연습이 불가능 해</a:t>
            </a:r>
            <a:r>
              <a:rPr lang="en-US" altLang="ko-KR" sz="1000" dirty="0"/>
              <a:t>, </a:t>
            </a:r>
            <a:r>
              <a:rPr lang="ko-KR" altLang="en-US" sz="1000" dirty="0"/>
              <a:t>가상으로 시뮬레이션을 할 경우</a:t>
            </a:r>
            <a:r>
              <a:rPr lang="en-US" altLang="ko-KR" sz="1000" dirty="0"/>
              <a:t>, </a:t>
            </a:r>
            <a:r>
              <a:rPr lang="ko-KR" altLang="en-US" sz="1000" dirty="0"/>
              <a:t>문제가 되는 작업의 인지적 요소를 중심으로 연습 해야함</a:t>
            </a:r>
            <a:endParaRPr lang="en-US" altLang="ko-KR" sz="1000" dirty="0"/>
          </a:p>
          <a:p>
            <a:pPr lvl="1"/>
            <a:r>
              <a:rPr lang="ko-KR" altLang="en-US" sz="1000" dirty="0"/>
              <a:t>과다 학습법</a:t>
            </a:r>
            <a:r>
              <a:rPr lang="en-US" altLang="ko-KR" sz="1000" dirty="0"/>
              <a:t>: </a:t>
            </a:r>
            <a:r>
              <a:rPr lang="ko-KR" altLang="en-US" sz="1000" dirty="0"/>
              <a:t>도전을 늘려 목표를 달성하는 데 필요한 기술 수준에 도달 </a:t>
            </a:r>
            <a:r>
              <a:rPr lang="en-US" altLang="ko-KR" sz="1000" dirty="0"/>
              <a:t>; </a:t>
            </a:r>
            <a:r>
              <a:rPr lang="ko-KR" altLang="en-US" sz="1000" dirty="0"/>
              <a:t>내게 필요한 수준 이상의 시험이나 과제에 도전하는 걸 목표로 삼아라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배움</a:t>
            </a:r>
            <a:r>
              <a:rPr lang="en-US" altLang="ko-KR" sz="1000" dirty="0"/>
              <a:t>, </a:t>
            </a:r>
            <a:r>
              <a:rPr lang="ko-KR" altLang="en-US" sz="1000" dirty="0"/>
              <a:t>스스로 묻고 답하라</a:t>
            </a:r>
            <a:endParaRPr lang="en-US" altLang="ko-KR" sz="1000" dirty="0"/>
          </a:p>
          <a:p>
            <a:pPr lvl="1"/>
            <a:r>
              <a:rPr lang="ko-KR" altLang="en-US" sz="1000" dirty="0"/>
              <a:t>새로운 걸 배우려고 한다면 그 지식이 어디서 어떻게 나타나야 하는지 스스로 물어보라</a:t>
            </a:r>
            <a:r>
              <a:rPr lang="en-US" altLang="ko-KR" sz="1000" dirty="0"/>
              <a:t>.</a:t>
            </a:r>
          </a:p>
          <a:p>
            <a:pPr lvl="2"/>
            <a:r>
              <a:rPr lang="ko-KR" altLang="en-US" sz="1000" dirty="0"/>
              <a:t>거기에 답할 수 있으면 그 다음으로 그 맥락에서 자신이 학습중인 것과 연관된 일을 하고 있는지 물어라</a:t>
            </a:r>
            <a:endParaRPr lang="en-US" altLang="ko-KR" sz="1000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D8A5538-3F3D-4EA5-8379-F1C45CCDF20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울트라 러닝의 직접 학습 전략</a:t>
            </a:r>
            <a:r>
              <a:rPr lang="en-US" altLang="ko-KR" dirty="0"/>
              <a:t>: </a:t>
            </a:r>
            <a:r>
              <a:rPr lang="ko-KR" altLang="en-US" dirty="0"/>
              <a:t>결과물을 도출하는 프로젝트 기반 학습</a:t>
            </a:r>
            <a:r>
              <a:rPr lang="en-US" altLang="ko-KR" dirty="0"/>
              <a:t>, </a:t>
            </a:r>
            <a:r>
              <a:rPr lang="ko-KR" altLang="en-US" dirty="0"/>
              <a:t>기술을 실행하는 환경에 뛰어드는 담금형 학습</a:t>
            </a:r>
            <a:r>
              <a:rPr lang="en-US" altLang="ko-KR" dirty="0"/>
              <a:t>, </a:t>
            </a:r>
            <a:r>
              <a:rPr lang="ko-KR" altLang="en-US" dirty="0"/>
              <a:t>직접 연습이 불가능한 경우의 모의 비행 방식</a:t>
            </a:r>
            <a:r>
              <a:rPr lang="en-US" altLang="ko-KR" dirty="0"/>
              <a:t>, </a:t>
            </a:r>
            <a:r>
              <a:rPr lang="ko-KR" altLang="en-US" dirty="0"/>
              <a:t>도전을 늘리는 과다 학습법</a:t>
            </a:r>
            <a:endParaRPr lang="en-US" altLang="ko-KR" dirty="0"/>
          </a:p>
          <a:p>
            <a:r>
              <a:rPr lang="ko-KR" altLang="en-US" dirty="0"/>
              <a:t>배움</a:t>
            </a:r>
            <a:r>
              <a:rPr lang="en-US" altLang="ko-KR" dirty="0"/>
              <a:t>, </a:t>
            </a:r>
            <a:r>
              <a:rPr lang="ko-KR" altLang="en-US" dirty="0"/>
              <a:t>스스로 묻고 답하라</a:t>
            </a:r>
            <a:r>
              <a:rPr lang="en-US" altLang="ko-KR" dirty="0"/>
              <a:t>: </a:t>
            </a:r>
            <a:r>
              <a:rPr lang="ko-KR" altLang="en-US" dirty="0"/>
              <a:t>지식을 배울 때 언제</a:t>
            </a:r>
            <a:r>
              <a:rPr lang="en-US" altLang="ko-KR" dirty="0"/>
              <a:t>, </a:t>
            </a:r>
            <a:r>
              <a:rPr lang="ko-KR" altLang="en-US" dirty="0"/>
              <a:t>어떻게 그 지식이 나타나야 하는지 물어보라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6295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E4D8748-183F-442E-8EE2-4B1D287CF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72A20F7-5722-4AA6-9BB3-C209C2A7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특화 학습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6AE2E1-B34B-4C6F-B625-7A99C1A540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학습 속도에 불 붙이는 트리거를 파악하라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인지 부하를 예방하는 특화 학습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직접 학습 다음에 특화 학습 전략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특화 학습을 하는 가장 쉬운 방법</a:t>
            </a:r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D452B19-F52C-4DE8-BFF6-526F901739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학습 속도에 불 붙이는 트리거를 파악하라</a:t>
            </a:r>
            <a:endParaRPr lang="en-US" altLang="ko-KR" dirty="0"/>
          </a:p>
          <a:p>
            <a:pPr lvl="1"/>
            <a:r>
              <a:rPr lang="ko-KR" altLang="en-US" dirty="0"/>
              <a:t>자신의 학습 반응 속도에서 </a:t>
            </a:r>
            <a:r>
              <a:rPr lang="ko-KR" altLang="en-US" dirty="0" err="1"/>
              <a:t>율속</a:t>
            </a:r>
            <a:r>
              <a:rPr lang="ko-KR" altLang="en-US" dirty="0"/>
              <a:t> 단계가 어디인지 확인함으로써 그 부분을 따로 떼어내 집중적으로 학습하는 것</a:t>
            </a:r>
            <a:endParaRPr lang="en-US" altLang="ko-KR" dirty="0"/>
          </a:p>
          <a:p>
            <a:pPr lvl="2"/>
            <a:r>
              <a:rPr lang="ko-KR" altLang="en-US" dirty="0"/>
              <a:t>기술의 전체적인 숙련도를 지배하는 그 부분을 증진시키면 해당 기술의 모든 측면을 동시에 연습하는 것보다 훨씬 빠르게 발전할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인지 부하를 예방하는 특화 학습</a:t>
            </a:r>
            <a:endParaRPr lang="en-US" altLang="ko-KR" dirty="0"/>
          </a:p>
          <a:p>
            <a:pPr lvl="1"/>
            <a:r>
              <a:rPr lang="ko-KR" altLang="en-US" dirty="0"/>
              <a:t>성과를 방해하는 측면이 따로 존재하지 않더라도 주의력</a:t>
            </a:r>
            <a:r>
              <a:rPr lang="en-US" altLang="ko-KR" dirty="0"/>
              <a:t>, </a:t>
            </a:r>
            <a:r>
              <a:rPr lang="ko-KR" altLang="en-US" dirty="0"/>
              <a:t>기억</a:t>
            </a:r>
            <a:r>
              <a:rPr lang="en-US" altLang="ko-KR" dirty="0"/>
              <a:t>, </a:t>
            </a:r>
            <a:r>
              <a:rPr lang="ko-KR" altLang="en-US" dirty="0"/>
              <a:t>노력 등의 수고를 특화학습을 통해 줄일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직접 학습 다음에 특화 학습 전략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그 기술을 사용할 환경과 최대한 비슷하게 만들고 직접적으로 연습하는 것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그 직접 하기 기술을 분석하고 집중해야 할 요소가 너무 많아 진도가 안 나가는 하위 기술 속에서 </a:t>
            </a:r>
            <a:r>
              <a:rPr lang="ko-KR" altLang="en-US" dirty="0" err="1"/>
              <a:t>율속</a:t>
            </a:r>
            <a:r>
              <a:rPr lang="ko-KR" altLang="en-US" dirty="0"/>
              <a:t> 단계인 요소를 분리하고 그것을 잘할 때 까지 특화 학습을 진행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직접 학습으로 되돌아가 지금까지 배운 것을 통합</a:t>
            </a:r>
            <a:endParaRPr lang="en-US" altLang="ko-KR" dirty="0"/>
          </a:p>
          <a:p>
            <a:pPr lvl="2"/>
            <a:r>
              <a:rPr lang="ko-KR" altLang="en-US" dirty="0"/>
              <a:t>학습전이 문제를 해결하기 위한 목적을 지님</a:t>
            </a:r>
            <a:endParaRPr lang="en-US" altLang="ko-KR" dirty="0"/>
          </a:p>
          <a:p>
            <a:pPr lvl="2"/>
            <a:r>
              <a:rPr lang="ko-KR" altLang="en-US" dirty="0"/>
              <a:t>특화 학습이 잘 진행되었나 검토하는 목적을 지님</a:t>
            </a:r>
            <a:endParaRPr lang="en-US" altLang="ko-KR" dirty="0"/>
          </a:p>
          <a:p>
            <a:pPr lvl="1"/>
            <a:r>
              <a:rPr lang="ko-KR" altLang="en-US" dirty="0"/>
              <a:t>이 사이클은 학습 과정 초기일수록 더 빈번하고</a:t>
            </a:r>
            <a:r>
              <a:rPr lang="en-US" altLang="ko-KR" dirty="0"/>
              <a:t>,</a:t>
            </a:r>
            <a:r>
              <a:rPr lang="ko-KR" altLang="en-US" dirty="0"/>
              <a:t> 같은 단계 내에서도 최대한 빨리 진행해라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특화 학습을 하는 가장 쉬운 방법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시간 쪼개기</a:t>
            </a:r>
            <a:r>
              <a:rPr lang="en-US" altLang="ko-KR" dirty="0"/>
              <a:t>: </a:t>
            </a:r>
            <a:r>
              <a:rPr lang="ko-KR" altLang="en-US" dirty="0"/>
              <a:t>행위 시퀀스에서 한 조각을 떼어내 연습 </a:t>
            </a:r>
            <a:r>
              <a:rPr lang="en-US" altLang="ko-KR" dirty="0"/>
              <a:t>; </a:t>
            </a:r>
            <a:r>
              <a:rPr lang="ko-KR" altLang="en-US" dirty="0"/>
              <a:t>점점 어려워지거나 중요해지는 요소</a:t>
            </a:r>
            <a:r>
              <a:rPr lang="en-US" altLang="ko-KR" dirty="0"/>
              <a:t>, </a:t>
            </a:r>
            <a:r>
              <a:rPr lang="ko-KR" altLang="en-US" dirty="0"/>
              <a:t>시간별로 쪼개서 연습할 수 있는 요소들을 찾아라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인지요소 거르기</a:t>
            </a:r>
            <a:r>
              <a:rPr lang="en-US" altLang="ko-KR" dirty="0"/>
              <a:t>: </a:t>
            </a:r>
            <a:r>
              <a:rPr lang="ko-KR" altLang="en-US" dirty="0"/>
              <a:t>특정한 인지요소라 따로 떼어낼 수 없는 경우</a:t>
            </a:r>
            <a:r>
              <a:rPr lang="en-US" altLang="ko-KR" dirty="0"/>
              <a:t>, </a:t>
            </a:r>
            <a:r>
              <a:rPr lang="ko-KR" altLang="en-US" dirty="0"/>
              <a:t>다른 요소들이 동시에 일어날 때 한 가지 요소만 파고드는 방법을 채택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흉내내기</a:t>
            </a:r>
            <a:r>
              <a:rPr lang="en-US" altLang="ko-KR" dirty="0"/>
              <a:t>: </a:t>
            </a:r>
            <a:r>
              <a:rPr lang="ko-KR" altLang="en-US" dirty="0"/>
              <a:t>어떤 다른 걸 공부하지 않은 상태에서 한 측면만 연습하기 불가능한 경우에</a:t>
            </a:r>
            <a:r>
              <a:rPr lang="en-US" altLang="ko-KR" dirty="0"/>
              <a:t>, </a:t>
            </a:r>
            <a:r>
              <a:rPr lang="ko-KR" altLang="en-US" dirty="0"/>
              <a:t>파고들고 싶지 않은 부분은 모방을 하고 집중하고 싶은 요소에만 집중</a:t>
            </a:r>
            <a:endParaRPr lang="en-US" altLang="ko-KR" dirty="0"/>
          </a:p>
          <a:p>
            <a:pPr lvl="1"/>
            <a:r>
              <a:rPr lang="en-US" altLang="ko-KR" dirty="0"/>
              <a:t>4) </a:t>
            </a:r>
            <a:r>
              <a:rPr lang="ko-KR" altLang="en-US" dirty="0"/>
              <a:t>돋보기 방식</a:t>
            </a:r>
            <a:r>
              <a:rPr lang="en-US" altLang="ko-KR" dirty="0"/>
              <a:t>: </a:t>
            </a:r>
            <a:r>
              <a:rPr lang="ko-KR" altLang="en-US" dirty="0"/>
              <a:t>편집을 하거나 연습할 부분을 따로 떼어낼 수 없을 때</a:t>
            </a:r>
            <a:r>
              <a:rPr lang="en-US" altLang="ko-KR" dirty="0"/>
              <a:t>,</a:t>
            </a:r>
            <a:r>
              <a:rPr lang="ko-KR" altLang="en-US" dirty="0"/>
              <a:t> 기술의 한 가지 요소에 훨씬 더 많은 시간을 쏟음</a:t>
            </a:r>
            <a:endParaRPr lang="en-US" altLang="ko-KR" dirty="0"/>
          </a:p>
          <a:p>
            <a:pPr lvl="1"/>
            <a:r>
              <a:rPr lang="en-US" altLang="ko-KR" dirty="0"/>
              <a:t>5) </a:t>
            </a:r>
            <a:r>
              <a:rPr lang="ko-KR" altLang="en-US" dirty="0"/>
              <a:t>되돌아가기</a:t>
            </a:r>
            <a:r>
              <a:rPr lang="en-US" altLang="ko-KR" dirty="0"/>
              <a:t>: </a:t>
            </a:r>
            <a:r>
              <a:rPr lang="ko-KR" altLang="en-US" dirty="0"/>
              <a:t>어려움을 겪을 경우 특정 단계로 되돌아가 기초적인 내용을 하나 배우고 다시 연습하기를 반복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D54512-F605-47B4-A9BA-74D4469F8F1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학습에 불을 붙이는 트리거를 파악하라</a:t>
            </a:r>
            <a:r>
              <a:rPr lang="en-US" altLang="ko-KR" dirty="0"/>
              <a:t>: </a:t>
            </a:r>
            <a:r>
              <a:rPr lang="ko-KR" altLang="en-US" dirty="0"/>
              <a:t>자신의 </a:t>
            </a:r>
            <a:r>
              <a:rPr lang="ko-KR" altLang="en-US" dirty="0" err="1"/>
              <a:t>율속</a:t>
            </a:r>
            <a:r>
              <a:rPr lang="ko-KR" altLang="en-US" dirty="0"/>
              <a:t> 단계를 확인하고 그 부분을 떼어내 학습하라</a:t>
            </a:r>
            <a:endParaRPr lang="en-US" altLang="ko-KR" dirty="0"/>
          </a:p>
          <a:p>
            <a:r>
              <a:rPr lang="ko-KR" altLang="en-US" dirty="0"/>
              <a:t>직접 학습 다음에 특화 학습 전략</a:t>
            </a:r>
            <a:r>
              <a:rPr lang="en-US" altLang="ko-KR" dirty="0"/>
              <a:t>: </a:t>
            </a:r>
            <a:r>
              <a:rPr lang="ko-KR" altLang="en-US" dirty="0"/>
              <a:t>우선 직접하기를 하고 그것을 분석하여 </a:t>
            </a:r>
            <a:r>
              <a:rPr lang="ko-KR" altLang="en-US" dirty="0" err="1"/>
              <a:t>율속</a:t>
            </a:r>
            <a:r>
              <a:rPr lang="ko-KR" altLang="en-US" dirty="0"/>
              <a:t> 단계를 특화학습을 통해 연습하라</a:t>
            </a:r>
            <a:r>
              <a:rPr lang="en-US" altLang="ko-KR" dirty="0"/>
              <a:t> </a:t>
            </a:r>
            <a:r>
              <a:rPr lang="ko-KR" altLang="en-US" dirty="0"/>
              <a:t>그리고 그것이 끝나면 직접하기로 돌아와 통합해 보라</a:t>
            </a:r>
            <a:endParaRPr lang="en-US" altLang="ko-KR" dirty="0"/>
          </a:p>
          <a:p>
            <a:r>
              <a:rPr lang="ko-KR" altLang="en-US" dirty="0"/>
              <a:t>특화학습을 하는 가장 쉬운 방법</a:t>
            </a:r>
            <a:r>
              <a:rPr lang="en-US" altLang="ko-KR" dirty="0"/>
              <a:t>: </a:t>
            </a:r>
            <a:r>
              <a:rPr lang="ko-KR" altLang="en-US" dirty="0"/>
              <a:t>과정의 일부분을 떼어내는 시간 쪼개기</a:t>
            </a:r>
            <a:r>
              <a:rPr lang="en-US" altLang="ko-KR" dirty="0"/>
              <a:t>, </a:t>
            </a:r>
            <a:r>
              <a:rPr lang="ko-KR" altLang="en-US" dirty="0"/>
              <a:t>특정한 인지요소에 대해서 인지요소 거르기</a:t>
            </a:r>
            <a:r>
              <a:rPr lang="en-US" altLang="ko-KR" dirty="0"/>
              <a:t>, </a:t>
            </a:r>
            <a:r>
              <a:rPr lang="ko-KR" altLang="en-US" dirty="0"/>
              <a:t>따로 한 측면만 다룰 수 없다면 모방을 하는 흉내내기</a:t>
            </a:r>
            <a:r>
              <a:rPr lang="en-US" altLang="ko-KR" dirty="0"/>
              <a:t>, </a:t>
            </a:r>
            <a:r>
              <a:rPr lang="ko-KR" altLang="en-US" dirty="0"/>
              <a:t>편집</a:t>
            </a:r>
            <a:r>
              <a:rPr lang="en-US" altLang="ko-KR" dirty="0"/>
              <a:t>/</a:t>
            </a:r>
            <a:r>
              <a:rPr lang="ko-KR" altLang="en-US" dirty="0" err="1"/>
              <a:t>떼어내기가</a:t>
            </a:r>
            <a:r>
              <a:rPr lang="ko-KR" altLang="en-US" dirty="0"/>
              <a:t> 불가능 할 때 돋보기 방식</a:t>
            </a:r>
            <a:r>
              <a:rPr lang="en-US" altLang="ko-KR" dirty="0"/>
              <a:t>, </a:t>
            </a:r>
            <a:r>
              <a:rPr lang="ko-KR" altLang="en-US" dirty="0"/>
              <a:t>어려움을 겪을 때 다시 돌아가는 되돌아가기 방식</a:t>
            </a:r>
          </a:p>
        </p:txBody>
      </p:sp>
    </p:spTree>
    <p:extLst>
      <p:ext uri="{BB962C8B-B14F-4D97-AF65-F5344CB8AC3E}">
        <p14:creationId xmlns:p14="http://schemas.microsoft.com/office/powerpoint/2010/main" val="1492392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76CCBC2-7A8D-499D-9CF2-8E1123FEB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4961085-55B6-4417-9212-8182342FE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F83D10-23A2-4BC7-B1BF-5DF6557DAA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무엇을 인출해야 하는가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효율적인 인출을 위한 팁</a:t>
            </a:r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8A2AAB1-FEB0-4150-B957-EEF5688EC4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무엇을 인출해야 하는가</a:t>
            </a:r>
            <a:endParaRPr lang="en-US" altLang="ko-KR" dirty="0"/>
          </a:p>
          <a:p>
            <a:pPr lvl="1"/>
            <a:r>
              <a:rPr lang="ko-KR" altLang="en-US" dirty="0"/>
              <a:t>직접 연습을 통해 그 기술을 사용하는 도중 나타날 내용을 인출함</a:t>
            </a:r>
            <a:endParaRPr lang="en-US" altLang="ko-KR" dirty="0"/>
          </a:p>
          <a:p>
            <a:pPr lvl="2"/>
            <a:r>
              <a:rPr lang="ko-KR" altLang="en-US" dirty="0"/>
              <a:t>그러나 머릿속에 없는 지식에 대해 문제를 푸는데 사용할 수 없다는 단점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효율적인 인출을 위한 팁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낱말 카드</a:t>
            </a:r>
            <a:r>
              <a:rPr lang="en-US" altLang="ko-KR" dirty="0"/>
              <a:t>: </a:t>
            </a:r>
            <a:r>
              <a:rPr lang="ko-KR" altLang="en-US" dirty="0"/>
              <a:t>종이에 낱말을 적어 카드를 만듦 </a:t>
            </a:r>
            <a:r>
              <a:rPr lang="en-US" altLang="ko-KR" dirty="0"/>
              <a:t>(SRS </a:t>
            </a:r>
            <a:r>
              <a:rPr lang="ko-KR" altLang="en-US" dirty="0"/>
              <a:t>서비스로 대체가능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그러나 이 방법은 특정한 단서와 구체적인 대답이 있는 지식에만 적합함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자유 회상</a:t>
            </a:r>
            <a:r>
              <a:rPr lang="en-US" altLang="ko-KR" dirty="0"/>
              <a:t>: </a:t>
            </a:r>
            <a:r>
              <a:rPr lang="ko-KR" altLang="en-US" dirty="0"/>
              <a:t>책을 읽거나 강의를 끝까지 들은 후</a:t>
            </a:r>
            <a:r>
              <a:rPr lang="en-US" altLang="ko-KR" dirty="0"/>
              <a:t>, </a:t>
            </a:r>
            <a:r>
              <a:rPr lang="ko-KR" altLang="en-US" dirty="0"/>
              <a:t>빈 종이에 기억나는 것을 모조리 적는 것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문제집 방식</a:t>
            </a:r>
            <a:r>
              <a:rPr lang="en-US" altLang="ko-KR" dirty="0"/>
              <a:t>: </a:t>
            </a:r>
            <a:r>
              <a:rPr lang="ko-KR" altLang="en-US" dirty="0"/>
              <a:t>필기를 할 경우 기록할 내용을 문제로 바꿔서 적고 나중에 대답</a:t>
            </a:r>
            <a:endParaRPr lang="en-US" altLang="ko-KR" dirty="0"/>
          </a:p>
          <a:p>
            <a:pPr lvl="2"/>
            <a:r>
              <a:rPr lang="ko-KR" altLang="en-US" dirty="0"/>
              <a:t>너무 소소한 질문까지 하지 않도록 유의</a:t>
            </a:r>
            <a:endParaRPr lang="en-US" altLang="ko-KR" dirty="0"/>
          </a:p>
          <a:p>
            <a:pPr lvl="2"/>
            <a:r>
              <a:rPr lang="ko-KR" altLang="en-US" dirty="0"/>
              <a:t>발전된 방법으로 그 장이나 부분에 관한 큰 개념들을 질문 형태로 재작성</a:t>
            </a:r>
            <a:endParaRPr lang="en-US" altLang="ko-KR" dirty="0"/>
          </a:p>
          <a:p>
            <a:pPr lvl="3"/>
            <a:r>
              <a:rPr lang="ko-KR" altLang="en-US" dirty="0"/>
              <a:t>각 장 별로 질문을 한가지로 제한하라</a:t>
            </a:r>
            <a:endParaRPr lang="en-US" altLang="ko-KR" dirty="0"/>
          </a:p>
          <a:p>
            <a:pPr lvl="1"/>
            <a:r>
              <a:rPr lang="en-US" altLang="ko-KR" dirty="0"/>
              <a:t>4) </a:t>
            </a:r>
            <a:r>
              <a:rPr lang="ko-KR" altLang="en-US" dirty="0"/>
              <a:t>도전 만들기</a:t>
            </a:r>
            <a:r>
              <a:rPr lang="en-US" altLang="ko-KR" dirty="0"/>
              <a:t>: </a:t>
            </a:r>
            <a:r>
              <a:rPr lang="ko-KR" altLang="en-US" dirty="0"/>
              <a:t>정보를 기억하는 것이 아닌 기술을 실행하는 경우</a:t>
            </a:r>
            <a:r>
              <a:rPr lang="en-US" altLang="ko-KR" dirty="0"/>
              <a:t>, </a:t>
            </a:r>
            <a:r>
              <a:rPr lang="ko-KR" altLang="en-US" dirty="0"/>
              <a:t>책이나 강의를 볼 때 새로운 기술이 나오면 그 기술을 실제 예시로 표현해 기록 </a:t>
            </a:r>
            <a:r>
              <a:rPr lang="en-US" altLang="ko-KR" dirty="0"/>
              <a:t>; </a:t>
            </a:r>
            <a:r>
              <a:rPr lang="ko-KR" altLang="en-US" dirty="0"/>
              <a:t>자료들을 살펴볼 때 나중에 스스로 해결해볼 도전 과제를 만들 수 있음</a:t>
            </a:r>
            <a:endParaRPr lang="en-US" altLang="ko-KR" dirty="0"/>
          </a:p>
          <a:p>
            <a:pPr lvl="1"/>
            <a:r>
              <a:rPr lang="en-US" altLang="ko-KR" dirty="0"/>
              <a:t>5) </a:t>
            </a:r>
            <a:r>
              <a:rPr lang="ko-KR" altLang="en-US" dirty="0" err="1"/>
              <a:t>클로즈</a:t>
            </a:r>
            <a:r>
              <a:rPr lang="ko-KR" altLang="en-US" dirty="0"/>
              <a:t> 북 학습방법</a:t>
            </a:r>
            <a:r>
              <a:rPr lang="en-US" altLang="ko-KR" dirty="0"/>
              <a:t>: </a:t>
            </a:r>
            <a:r>
              <a:rPr lang="ko-KR" altLang="en-US" dirty="0"/>
              <a:t>단서를 검색하는 능력을 차단한다면 대부분 어떤 활동이든 인출 연습을 할 수 있음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140F85-679B-4C75-B518-D18AF4B6D3D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무엇을 인출해야 하는가</a:t>
            </a:r>
            <a:r>
              <a:rPr lang="en-US" altLang="ko-KR" dirty="0"/>
              <a:t>: </a:t>
            </a:r>
            <a:r>
              <a:rPr lang="ko-KR" altLang="en-US" dirty="0"/>
              <a:t>직접 연습을 통해 기술을 사용하는 도중 나타날 내용을 인출하라</a:t>
            </a:r>
            <a:endParaRPr lang="en-US" altLang="ko-KR" dirty="0"/>
          </a:p>
          <a:p>
            <a:r>
              <a:rPr lang="ko-KR" altLang="en-US" dirty="0"/>
              <a:t>효율적인 인출을 위한 팁</a:t>
            </a:r>
            <a:r>
              <a:rPr lang="en-US" altLang="ko-KR" dirty="0"/>
              <a:t>: </a:t>
            </a:r>
            <a:r>
              <a:rPr lang="ko-KR" altLang="en-US" dirty="0"/>
              <a:t>구체적인 지식을 위한 낱말 카드</a:t>
            </a:r>
            <a:r>
              <a:rPr lang="en-US" altLang="ko-KR" dirty="0"/>
              <a:t>, </a:t>
            </a:r>
            <a:r>
              <a:rPr lang="ko-KR" altLang="en-US" dirty="0"/>
              <a:t>책</a:t>
            </a:r>
            <a:r>
              <a:rPr lang="en-US" altLang="ko-KR" dirty="0"/>
              <a:t>/</a:t>
            </a:r>
            <a:r>
              <a:rPr lang="ko-KR" altLang="en-US" dirty="0"/>
              <a:t>강의를 읽은 후엔 자유 회상</a:t>
            </a:r>
            <a:r>
              <a:rPr lang="en-US" altLang="ko-KR" dirty="0"/>
              <a:t>, </a:t>
            </a:r>
            <a:r>
              <a:rPr lang="ko-KR" altLang="en-US" dirty="0"/>
              <a:t>필기를 물음 방식으로 저장하는 문제집 방식</a:t>
            </a:r>
            <a:r>
              <a:rPr lang="en-US" altLang="ko-KR" dirty="0"/>
              <a:t>, </a:t>
            </a:r>
            <a:r>
              <a:rPr lang="ko-KR" altLang="en-US" dirty="0"/>
              <a:t>실천적인 기술의 경우 도전 만들기 방식</a:t>
            </a:r>
            <a:r>
              <a:rPr lang="en-US" altLang="ko-KR" dirty="0"/>
              <a:t>, </a:t>
            </a:r>
            <a:r>
              <a:rPr lang="ko-KR" altLang="en-US" dirty="0"/>
              <a:t>검색 능력을 차단하여 광범위한 인출을 시험하는 </a:t>
            </a:r>
            <a:r>
              <a:rPr lang="ko-KR" altLang="en-US" dirty="0" err="1"/>
              <a:t>클로즈</a:t>
            </a:r>
            <a:r>
              <a:rPr lang="ko-KR" altLang="en-US" dirty="0"/>
              <a:t> 북 방식이 있다</a:t>
            </a:r>
          </a:p>
        </p:txBody>
      </p:sp>
    </p:spTree>
    <p:extLst>
      <p:ext uri="{BB962C8B-B14F-4D97-AF65-F5344CB8AC3E}">
        <p14:creationId xmlns:p14="http://schemas.microsoft.com/office/powerpoint/2010/main" val="557473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F73B6B8-17DC-42D8-9553-4070A5C17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A8407DA-B708-453F-BB5A-8C2166F8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피드백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C18B1E-D959-41BB-88BB-BFE7C39C41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어떤 종류의 피드백이 필요한가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피드백 업그레이드의 유의점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언제 피드백을 받아야 하는가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더 나은 피드백을 얻는 </a:t>
            </a:r>
            <a:r>
              <a:rPr lang="en-US" altLang="ko-KR" dirty="0"/>
              <a:t>4</a:t>
            </a:r>
            <a:r>
              <a:rPr lang="ko-KR" altLang="en-US" dirty="0"/>
              <a:t>가지 전략</a:t>
            </a:r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CF348FA-CDB3-49FC-9F61-75D910215C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어떤 종류의 피드백이 필요한가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결과 피드백</a:t>
            </a:r>
            <a:r>
              <a:rPr lang="en-US" altLang="ko-KR" dirty="0"/>
              <a:t>: “</a:t>
            </a:r>
            <a:r>
              <a:rPr lang="ko-KR" altLang="en-US" dirty="0"/>
              <a:t>너</a:t>
            </a:r>
            <a:r>
              <a:rPr lang="en-US" altLang="ko-KR" dirty="0"/>
              <a:t>, </a:t>
            </a:r>
            <a:r>
              <a:rPr lang="ko-KR" altLang="en-US" dirty="0"/>
              <a:t>그거 잘못하고 있는 것 같은데</a:t>
            </a:r>
            <a:r>
              <a:rPr lang="en-US" altLang="ko-KR" dirty="0"/>
              <a:t>?”</a:t>
            </a:r>
          </a:p>
          <a:p>
            <a:pPr lvl="2"/>
            <a:r>
              <a:rPr lang="ko-KR" altLang="en-US" dirty="0"/>
              <a:t>전반적으로 얼마나 잘하는지 알려주지만</a:t>
            </a:r>
            <a:r>
              <a:rPr lang="en-US" altLang="ko-KR" dirty="0"/>
              <a:t>, </a:t>
            </a:r>
            <a:r>
              <a:rPr lang="ko-KR" altLang="en-US" dirty="0"/>
              <a:t>더 나아지는지</a:t>
            </a:r>
            <a:r>
              <a:rPr lang="en-US" altLang="ko-KR" dirty="0"/>
              <a:t>, </a:t>
            </a:r>
            <a:r>
              <a:rPr lang="ko-KR" altLang="en-US" dirty="0"/>
              <a:t>나빠지는지는 알려주지 않는다</a:t>
            </a:r>
            <a:endParaRPr lang="en-US" altLang="ko-KR" dirty="0"/>
          </a:p>
          <a:p>
            <a:pPr lvl="1"/>
            <a:r>
              <a:rPr lang="ko-KR" altLang="en-US" dirty="0"/>
              <a:t>정보 피드백</a:t>
            </a:r>
            <a:r>
              <a:rPr lang="en-US" altLang="ko-KR" dirty="0"/>
              <a:t>: “</a:t>
            </a:r>
            <a:r>
              <a:rPr lang="ko-KR" altLang="en-US" dirty="0"/>
              <a:t>너</a:t>
            </a:r>
            <a:r>
              <a:rPr lang="en-US" altLang="ko-KR" dirty="0"/>
              <a:t>, </a:t>
            </a:r>
            <a:r>
              <a:rPr lang="ko-KR" altLang="en-US" dirty="0"/>
              <a:t>뭔가 잘못하고 있는 것 같은데</a:t>
            </a:r>
            <a:r>
              <a:rPr lang="en-US" altLang="ko-KR" dirty="0"/>
              <a:t>?”</a:t>
            </a:r>
          </a:p>
          <a:p>
            <a:pPr lvl="2"/>
            <a:r>
              <a:rPr lang="ko-KR" altLang="en-US" dirty="0"/>
              <a:t>우리가 무엇을 잘못하는지는 얘기해주나</a:t>
            </a:r>
            <a:r>
              <a:rPr lang="en-US" altLang="ko-KR" dirty="0"/>
              <a:t>, </a:t>
            </a:r>
            <a:r>
              <a:rPr lang="ko-KR" altLang="en-US" dirty="0"/>
              <a:t>그것을 어떻게 고쳐야 할지는 알려주지 않음</a:t>
            </a:r>
            <a:endParaRPr lang="en-US" altLang="ko-KR" dirty="0"/>
          </a:p>
          <a:p>
            <a:pPr lvl="1"/>
            <a:r>
              <a:rPr lang="ko-KR" altLang="en-US" dirty="0"/>
              <a:t>수정 피드백</a:t>
            </a:r>
            <a:r>
              <a:rPr lang="en-US" altLang="ko-KR" dirty="0"/>
              <a:t>: “</a:t>
            </a:r>
            <a:r>
              <a:rPr lang="ko-KR" altLang="en-US" dirty="0"/>
              <a:t>네가 잘못하고 있는 것을 어떻게 고칠 수 있을까</a:t>
            </a:r>
            <a:r>
              <a:rPr lang="en-US" altLang="ko-KR" dirty="0"/>
              <a:t>?”</a:t>
            </a:r>
          </a:p>
          <a:p>
            <a:pPr lvl="2"/>
            <a:r>
              <a:rPr lang="ko-KR" altLang="en-US" dirty="0"/>
              <a:t>우리가 무엇을 잘못하고</a:t>
            </a:r>
            <a:r>
              <a:rPr lang="en-US" altLang="ko-KR" dirty="0"/>
              <a:t>, </a:t>
            </a:r>
            <a:r>
              <a:rPr lang="ko-KR" altLang="en-US" dirty="0"/>
              <a:t>그것을 어떻게 수정해야 할지 알려줌</a:t>
            </a:r>
            <a:endParaRPr lang="en-US" altLang="ko-KR" dirty="0"/>
          </a:p>
          <a:p>
            <a:pPr lvl="2"/>
            <a:r>
              <a:rPr lang="ko-KR" altLang="en-US" dirty="0"/>
              <a:t>가장 좋은 피드백이자</a:t>
            </a:r>
            <a:r>
              <a:rPr lang="en-US" altLang="ko-KR" dirty="0"/>
              <a:t>, </a:t>
            </a:r>
            <a:r>
              <a:rPr lang="ko-KR" altLang="en-US" dirty="0"/>
              <a:t>올바른 학습 자원을 선택했다면 자동적으로 받을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피드백 업그레이드의 유의점</a:t>
            </a:r>
            <a:endParaRPr lang="en-US" altLang="ko-KR" dirty="0"/>
          </a:p>
          <a:p>
            <a:pPr lvl="1"/>
            <a:r>
              <a:rPr lang="ko-KR" altLang="en-US" dirty="0"/>
              <a:t>결과 </a:t>
            </a:r>
            <a:r>
              <a:rPr lang="en-US" altLang="ko-KR" dirty="0"/>
              <a:t>-&gt; </a:t>
            </a:r>
            <a:r>
              <a:rPr lang="ko-KR" altLang="en-US" dirty="0"/>
              <a:t>정보의 경우</a:t>
            </a:r>
            <a:r>
              <a:rPr lang="en-US" altLang="ko-KR" dirty="0"/>
              <a:t>: </a:t>
            </a:r>
            <a:r>
              <a:rPr lang="ko-KR" altLang="en-US" dirty="0"/>
              <a:t>결과 </a:t>
            </a:r>
            <a:r>
              <a:rPr lang="en-US" altLang="ko-KR" dirty="0"/>
              <a:t>-&gt; </a:t>
            </a:r>
            <a:r>
              <a:rPr lang="ko-KR" altLang="en-US" dirty="0"/>
              <a:t>정보 피드백은 그 동안 행한 것들의 각 요소들에 대한 피드백을 이끌어 냄 </a:t>
            </a:r>
            <a:r>
              <a:rPr lang="en-US" altLang="ko-KR" dirty="0"/>
              <a:t>; </a:t>
            </a:r>
            <a:r>
              <a:rPr lang="ko-KR" altLang="en-US" dirty="0"/>
              <a:t>그러나 우리가 행한 일 전반에 관한 평가라면 역효과 발생</a:t>
            </a:r>
            <a:endParaRPr lang="en-US" altLang="ko-KR" dirty="0"/>
          </a:p>
          <a:p>
            <a:pPr lvl="1"/>
            <a:r>
              <a:rPr lang="ko-KR" altLang="en-US" dirty="0"/>
              <a:t>수정 피드백의 경우</a:t>
            </a:r>
            <a:r>
              <a:rPr lang="en-US" altLang="ko-KR" dirty="0"/>
              <a:t>: </a:t>
            </a:r>
            <a:r>
              <a:rPr lang="ko-KR" altLang="en-US" dirty="0"/>
              <a:t>올바른 대답</a:t>
            </a:r>
            <a:r>
              <a:rPr lang="en-US" altLang="ko-KR" dirty="0"/>
              <a:t>/ </a:t>
            </a:r>
            <a:r>
              <a:rPr lang="ko-KR" altLang="en-US" dirty="0"/>
              <a:t>인정받는 전문가가 필요함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언제 피드백을 받아야 하는가</a:t>
            </a:r>
            <a:endParaRPr lang="en-US" altLang="ko-KR" dirty="0"/>
          </a:p>
          <a:p>
            <a:pPr lvl="1"/>
            <a:r>
              <a:rPr lang="ko-KR" altLang="en-US" dirty="0"/>
              <a:t>대부분의 경우 즉각적인 피드백이 도움이 되나 너무 이른 피드백은 인출 작업을 수동적인 복습 상태로 넘어가게 함</a:t>
            </a:r>
            <a:endParaRPr lang="en-US" altLang="ko-KR" dirty="0"/>
          </a:p>
          <a:p>
            <a:pPr lvl="1"/>
            <a:r>
              <a:rPr lang="ko-KR" altLang="en-US" dirty="0"/>
              <a:t>어려운 문제를 접할 때 정답을 찾는 걸 포기하기 전까지 그 문제를 고민해보라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더 나은 피드백을 얻는 </a:t>
            </a:r>
            <a:r>
              <a:rPr lang="en-US" altLang="ko-KR" dirty="0"/>
              <a:t>4</a:t>
            </a:r>
            <a:r>
              <a:rPr lang="ko-KR" altLang="en-US" dirty="0"/>
              <a:t>가지 전략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소음을 제거하라</a:t>
            </a:r>
            <a:r>
              <a:rPr lang="en-US" altLang="ko-KR" dirty="0"/>
              <a:t>: </a:t>
            </a:r>
            <a:r>
              <a:rPr lang="ko-KR" altLang="en-US" dirty="0"/>
              <a:t>유용한 정보가 담기지 않은 신호들에 대해 </a:t>
            </a:r>
            <a:r>
              <a:rPr lang="en-US" altLang="ko-KR" dirty="0"/>
              <a:t>(</a:t>
            </a:r>
            <a:r>
              <a:rPr lang="ko-KR" altLang="en-US" dirty="0"/>
              <a:t>감정적인 것 들</a:t>
            </a:r>
            <a:r>
              <a:rPr lang="en-US" altLang="ko-KR" dirty="0"/>
              <a:t>) </a:t>
            </a:r>
            <a:r>
              <a:rPr lang="ko-KR" altLang="en-US" dirty="0"/>
              <a:t>과도하게 반응하지 마라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바람직한 어려움의 적정선 찾기</a:t>
            </a:r>
            <a:r>
              <a:rPr lang="en-US" altLang="ko-KR" dirty="0"/>
              <a:t>: </a:t>
            </a:r>
            <a:r>
              <a:rPr lang="ko-KR" altLang="en-US" dirty="0"/>
              <a:t>실패가 너무 잦으면 문제를 단순화해 그 일을 잘하고 있나 알아챌 수 있음 </a:t>
            </a:r>
            <a:r>
              <a:rPr lang="en-US" altLang="ko-KR" dirty="0"/>
              <a:t>; </a:t>
            </a:r>
            <a:r>
              <a:rPr lang="ko-KR" altLang="en-US" dirty="0"/>
              <a:t>실패가 거의 없다면 과제를 더 어렵게 하거나 기준을 더 엄격하게 하는 방법을 적용 가능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메타 피드백</a:t>
            </a:r>
            <a:r>
              <a:rPr lang="en-US" altLang="ko-KR" dirty="0"/>
              <a:t>: </a:t>
            </a:r>
            <a:r>
              <a:rPr lang="ko-KR" altLang="en-US" dirty="0"/>
              <a:t>과제에 대한 성과가 아닌 우리가 사용하는 학습 전략의 전반적 성공을 평가</a:t>
            </a:r>
            <a:endParaRPr lang="en-US" altLang="ko-KR" dirty="0"/>
          </a:p>
          <a:p>
            <a:pPr lvl="2"/>
            <a:r>
              <a:rPr lang="en-US" altLang="ko-KR" dirty="0"/>
              <a:t>3-1) </a:t>
            </a:r>
            <a:r>
              <a:rPr lang="ko-KR" altLang="en-US" dirty="0"/>
              <a:t>학습이 느려질 때 기존의 방식에서 벗어나 다른 학습 방식을 찾아라</a:t>
            </a:r>
            <a:endParaRPr lang="en-US" altLang="ko-KR" dirty="0"/>
          </a:p>
          <a:p>
            <a:pPr lvl="2"/>
            <a:r>
              <a:rPr lang="en-US" altLang="ko-KR" dirty="0"/>
              <a:t>3-2) </a:t>
            </a:r>
            <a:r>
              <a:rPr lang="ko-KR" altLang="en-US" dirty="0"/>
              <a:t>어느 학습 자원이 더 잘 작동하는지 보아라</a:t>
            </a:r>
            <a:endParaRPr lang="en-US" altLang="ko-KR" dirty="0"/>
          </a:p>
          <a:p>
            <a:pPr lvl="1"/>
            <a:r>
              <a:rPr lang="en-US" altLang="ko-KR" dirty="0"/>
              <a:t>4) </a:t>
            </a:r>
            <a:r>
              <a:rPr lang="ko-KR" altLang="en-US" dirty="0"/>
              <a:t>빠르고 강도높은 피드백을 받아라</a:t>
            </a:r>
            <a:r>
              <a:rPr lang="en-US" altLang="ko-KR" dirty="0"/>
              <a:t>: </a:t>
            </a:r>
            <a:r>
              <a:rPr lang="ko-KR" altLang="en-US" dirty="0"/>
              <a:t>피드백을 많이</a:t>
            </a:r>
            <a:r>
              <a:rPr lang="en-US" altLang="ko-KR" dirty="0"/>
              <a:t>,</a:t>
            </a:r>
            <a:r>
              <a:rPr lang="ko-KR" altLang="en-US" dirty="0"/>
              <a:t> 자주 받음으로써 감정적</a:t>
            </a:r>
            <a:r>
              <a:rPr lang="en-US" altLang="ko-KR" dirty="0"/>
              <a:t>/</a:t>
            </a:r>
            <a:r>
              <a:rPr lang="ko-KR" altLang="en-US" dirty="0"/>
              <a:t>정보적인 이점을 취해라 </a:t>
            </a:r>
            <a:r>
              <a:rPr lang="en-US" altLang="ko-KR" dirty="0"/>
              <a:t>; </a:t>
            </a:r>
            <a:r>
              <a:rPr lang="ko-KR" altLang="en-US" dirty="0"/>
              <a:t>피드백 빈도 낮거나 피드백 자체가 많이 없을 때 유용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CBE039-194E-4C00-A14B-73EFE18FBF0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언제 피드백을 받아야 하는가</a:t>
            </a:r>
            <a:r>
              <a:rPr lang="en-US" altLang="ko-KR" dirty="0"/>
              <a:t>: </a:t>
            </a:r>
            <a:r>
              <a:rPr lang="ko-KR" altLang="en-US" dirty="0"/>
              <a:t>피드백을 받기 전 포기할 마음이 들 때 </a:t>
            </a:r>
            <a:r>
              <a:rPr lang="en-US" altLang="ko-KR" dirty="0"/>
              <a:t>10</a:t>
            </a:r>
            <a:r>
              <a:rPr lang="ko-KR" altLang="en-US" dirty="0"/>
              <a:t>분간 더 고민해보라</a:t>
            </a:r>
            <a:endParaRPr lang="en-US" altLang="ko-KR" dirty="0"/>
          </a:p>
          <a:p>
            <a:r>
              <a:rPr lang="ko-KR" altLang="en-US" dirty="0"/>
              <a:t>더 나은 피드백을 얻는 </a:t>
            </a:r>
            <a:r>
              <a:rPr lang="en-US" altLang="ko-KR" dirty="0"/>
              <a:t>4</a:t>
            </a:r>
            <a:r>
              <a:rPr lang="ko-KR" altLang="en-US" dirty="0"/>
              <a:t>가지 전략</a:t>
            </a:r>
            <a:r>
              <a:rPr lang="en-US" altLang="ko-KR" dirty="0"/>
              <a:t>: </a:t>
            </a:r>
            <a:r>
              <a:rPr lang="ko-KR" altLang="en-US" dirty="0"/>
              <a:t>필요한 정보만 추출하여 소음을 제거하라</a:t>
            </a:r>
            <a:r>
              <a:rPr lang="en-US" altLang="ko-KR" dirty="0"/>
              <a:t>, </a:t>
            </a:r>
            <a:r>
              <a:rPr lang="ko-KR" altLang="en-US" dirty="0"/>
              <a:t>학습의 효율을 위해 바람직한 어려움의 적정선을 찾아라</a:t>
            </a:r>
            <a:r>
              <a:rPr lang="en-US" altLang="ko-KR" dirty="0"/>
              <a:t>, </a:t>
            </a:r>
            <a:r>
              <a:rPr lang="ko-KR" altLang="en-US" dirty="0"/>
              <a:t>학습 전략에 대한 평가를 받는 메타 피드백을 받아라</a:t>
            </a:r>
            <a:r>
              <a:rPr lang="en-US" altLang="ko-KR" dirty="0"/>
              <a:t>, </a:t>
            </a:r>
            <a:r>
              <a:rPr lang="ko-KR" altLang="en-US" dirty="0"/>
              <a:t>빠르고 강도높은 피드백을 </a:t>
            </a:r>
            <a:r>
              <a:rPr lang="ko-KR" altLang="en-US" dirty="0" err="1"/>
              <a:t>받아감정적</a:t>
            </a:r>
            <a:r>
              <a:rPr lang="en-US" altLang="ko-KR" dirty="0"/>
              <a:t>/</a:t>
            </a:r>
            <a:r>
              <a:rPr lang="ko-KR" altLang="en-US" dirty="0"/>
              <a:t>정보적 이점을 취하라</a:t>
            </a:r>
          </a:p>
        </p:txBody>
      </p:sp>
    </p:spTree>
    <p:extLst>
      <p:ext uri="{BB962C8B-B14F-4D97-AF65-F5344CB8AC3E}">
        <p14:creationId xmlns:p14="http://schemas.microsoft.com/office/powerpoint/2010/main" val="3167144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2C49B3D-E0E5-465D-90F1-00D4AE4F2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5151775-0491-4725-A0AF-563FAA7B0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B56D4D-1829-4252-B9F2-20484FB3D6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뇌는 처음에 배운 것부터 망각한다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망각을 이기는 </a:t>
            </a:r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ko-KR" altLang="en-US" dirty="0" err="1"/>
              <a:t>암기법</a:t>
            </a:r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ADEBAA-8218-4350-A077-B17C977A23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뇌는 처음에 배운 것부터 망각한다</a:t>
            </a:r>
            <a:r>
              <a:rPr lang="en-US" altLang="ko-KR" dirty="0"/>
              <a:t>: </a:t>
            </a:r>
            <a:r>
              <a:rPr lang="ko-KR" altLang="en-US" dirty="0"/>
              <a:t>망각에 대한 </a:t>
            </a:r>
            <a:r>
              <a:rPr lang="en-US" altLang="ko-KR" dirty="0"/>
              <a:t>3</a:t>
            </a:r>
            <a:r>
              <a:rPr lang="ko-KR" altLang="en-US" dirty="0"/>
              <a:t>가지 이론</a:t>
            </a:r>
            <a:endParaRPr lang="en-US" altLang="ko-KR" dirty="0"/>
          </a:p>
          <a:p>
            <a:pPr lvl="1"/>
            <a:r>
              <a:rPr lang="ko-KR" altLang="en-US" dirty="0"/>
              <a:t>쇠퇴</a:t>
            </a:r>
            <a:r>
              <a:rPr lang="en-US" altLang="ko-KR" dirty="0"/>
              <a:t>: </a:t>
            </a:r>
            <a:r>
              <a:rPr lang="ko-KR" altLang="en-US" dirty="0"/>
              <a:t>시간의 흐름에 따라 망각한다</a:t>
            </a:r>
            <a:endParaRPr lang="en-US" altLang="ko-KR" dirty="0"/>
          </a:p>
          <a:p>
            <a:pPr lvl="1"/>
            <a:r>
              <a:rPr lang="ko-KR" altLang="en-US" dirty="0"/>
              <a:t>간섭</a:t>
            </a:r>
            <a:r>
              <a:rPr lang="en-US" altLang="ko-KR" dirty="0"/>
              <a:t>: </a:t>
            </a:r>
            <a:r>
              <a:rPr lang="ko-KR" altLang="en-US" dirty="0"/>
              <a:t>새로운 기억으로 과거의 기억을 덮어쓴다</a:t>
            </a:r>
            <a:endParaRPr lang="en-US" altLang="ko-KR" dirty="0"/>
          </a:p>
          <a:p>
            <a:pPr lvl="1"/>
            <a:r>
              <a:rPr lang="ko-KR" altLang="en-US" dirty="0"/>
              <a:t>망각된 신호</a:t>
            </a:r>
            <a:r>
              <a:rPr lang="en-US" altLang="ko-KR" dirty="0"/>
              <a:t>: </a:t>
            </a:r>
            <a:r>
              <a:rPr lang="ko-KR" altLang="en-US" dirty="0"/>
              <a:t>열쇠 없이 잠긴 상자</a:t>
            </a:r>
            <a:endParaRPr lang="en-US" altLang="ko-KR" dirty="0"/>
          </a:p>
          <a:p>
            <a:pPr lvl="2"/>
            <a:r>
              <a:rPr lang="ko-KR" altLang="en-US" dirty="0"/>
              <a:t>기억이 실제로 잊히는 게 아닌 단지 꺼낼 수 없을 뿐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망각을 이기는 </a:t>
            </a:r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ko-KR" altLang="en-US" dirty="0" err="1"/>
              <a:t>암기법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공백</a:t>
            </a:r>
            <a:r>
              <a:rPr lang="en-US" altLang="ko-KR" dirty="0"/>
              <a:t>: </a:t>
            </a:r>
            <a:r>
              <a:rPr lang="ko-KR" altLang="en-US" dirty="0"/>
              <a:t>기억하기 위해 반복하라</a:t>
            </a:r>
            <a:endParaRPr lang="en-US" altLang="ko-KR" dirty="0"/>
          </a:p>
          <a:p>
            <a:pPr lvl="2"/>
            <a:r>
              <a:rPr lang="ko-KR" altLang="en-US" dirty="0"/>
              <a:t>공백 기간이 잦고 더 오랜 기간 공부하는 것은 장기적으론 더 좋다</a:t>
            </a:r>
            <a:endParaRPr lang="en-US" altLang="ko-KR" dirty="0"/>
          </a:p>
          <a:p>
            <a:pPr lvl="3"/>
            <a:r>
              <a:rPr lang="en-US" altLang="ko-KR" dirty="0"/>
              <a:t>(Anki </a:t>
            </a:r>
            <a:r>
              <a:rPr lang="ko-KR" altLang="en-US" dirty="0"/>
              <a:t>같은 </a:t>
            </a:r>
            <a:r>
              <a:rPr lang="en-US" altLang="ko-KR" dirty="0"/>
              <a:t>SRS</a:t>
            </a:r>
            <a:r>
              <a:rPr lang="ko-KR" altLang="en-US" dirty="0"/>
              <a:t>서비스나 반 정기적인 </a:t>
            </a:r>
            <a:r>
              <a:rPr lang="ko-KR" altLang="en-US" dirty="0" err="1"/>
              <a:t>재환기</a:t>
            </a:r>
            <a:r>
              <a:rPr lang="ko-KR" altLang="en-US" dirty="0"/>
              <a:t> 프로젝트를 하라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절차화</a:t>
            </a:r>
            <a:r>
              <a:rPr lang="en-US" altLang="ko-KR" dirty="0"/>
              <a:t>: </a:t>
            </a:r>
            <a:r>
              <a:rPr lang="ko-KR" altLang="en-US" dirty="0"/>
              <a:t>자동화될수록 더 오래 기억한다</a:t>
            </a:r>
            <a:endParaRPr lang="en-US" altLang="ko-KR" dirty="0"/>
          </a:p>
          <a:p>
            <a:pPr lvl="2"/>
            <a:r>
              <a:rPr lang="ko-KR" altLang="en-US" dirty="0"/>
              <a:t>대량의 지식이나 기술을 균등하게 공부하기보단 일부 핵심 정보에</a:t>
            </a:r>
            <a:r>
              <a:rPr lang="en-US" altLang="ko-KR" dirty="0"/>
              <a:t> </a:t>
            </a:r>
            <a:r>
              <a:rPr lang="ko-KR" altLang="en-US" dirty="0"/>
              <a:t>훨씬 자주 초점을 맞춰 공부하는 것</a:t>
            </a:r>
            <a:endParaRPr lang="en-US" altLang="ko-KR" dirty="0"/>
          </a:p>
          <a:p>
            <a:pPr lvl="2"/>
            <a:r>
              <a:rPr lang="ko-KR" altLang="en-US" dirty="0"/>
              <a:t>기술을 절차화 하는데 추가적인 노력을 들임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초과 학습</a:t>
            </a:r>
            <a:r>
              <a:rPr lang="en-US" altLang="ko-KR" dirty="0"/>
              <a:t>: </a:t>
            </a:r>
            <a:r>
              <a:rPr lang="ko-KR" altLang="en-US" dirty="0"/>
              <a:t>더 연습할수록 </a:t>
            </a:r>
            <a:r>
              <a:rPr lang="ko-KR" altLang="en-US" dirty="0" err="1"/>
              <a:t>완벽해진다</a:t>
            </a:r>
            <a:endParaRPr lang="en-US" altLang="ko-KR" dirty="0"/>
          </a:p>
          <a:p>
            <a:pPr lvl="2"/>
            <a:r>
              <a:rPr lang="ko-KR" altLang="en-US" dirty="0"/>
              <a:t>어떤 내용을 충분히 익히는 데 필요한 것 이상으로 연습을 더하면 기억이 더 오래 저장될 수 있음</a:t>
            </a:r>
            <a:endParaRPr lang="en-US" altLang="ko-KR" dirty="0"/>
          </a:p>
          <a:p>
            <a:pPr lvl="2"/>
            <a:r>
              <a:rPr lang="ko-KR" altLang="en-US" dirty="0"/>
              <a:t>핵심연습</a:t>
            </a:r>
            <a:r>
              <a:rPr lang="en-US" altLang="ko-KR" dirty="0"/>
              <a:t>: </a:t>
            </a:r>
            <a:r>
              <a:rPr lang="ko-KR" altLang="en-US" dirty="0"/>
              <a:t>어떤 기술의 핵심 요소들을 꾸준히 연습하고 제련</a:t>
            </a:r>
            <a:endParaRPr lang="en-US" altLang="ko-KR" dirty="0"/>
          </a:p>
          <a:p>
            <a:pPr lvl="2"/>
            <a:r>
              <a:rPr lang="ko-KR" altLang="en-US" dirty="0"/>
              <a:t>고급 과정의 연습</a:t>
            </a:r>
            <a:r>
              <a:rPr lang="en-US" altLang="ko-KR" dirty="0"/>
              <a:t>: </a:t>
            </a:r>
            <a:r>
              <a:rPr lang="ko-KR" altLang="en-US" dirty="0"/>
              <a:t>상위 수준에서 하위 기술의 핵심 부분을 연습</a:t>
            </a:r>
            <a:endParaRPr lang="en-US" altLang="ko-KR" dirty="0"/>
          </a:p>
          <a:p>
            <a:pPr lvl="1"/>
            <a:r>
              <a:rPr lang="en-US" altLang="ko-KR" dirty="0"/>
              <a:t>4) </a:t>
            </a:r>
            <a:r>
              <a:rPr lang="ko-KR" altLang="en-US" dirty="0"/>
              <a:t>연상기호</a:t>
            </a:r>
            <a:r>
              <a:rPr lang="en-US" altLang="ko-KR" dirty="0"/>
              <a:t>: </a:t>
            </a:r>
            <a:r>
              <a:rPr lang="ko-KR" altLang="en-US" dirty="0"/>
              <a:t>그림 하나로 수천 개의 단어를 기억하기</a:t>
            </a:r>
            <a:endParaRPr lang="en-US" altLang="ko-KR" dirty="0"/>
          </a:p>
          <a:p>
            <a:pPr lvl="2"/>
            <a:r>
              <a:rPr lang="ko-KR" altLang="en-US" dirty="0"/>
              <a:t>키워드 방법</a:t>
            </a:r>
            <a:r>
              <a:rPr lang="en-US" altLang="ko-KR" dirty="0"/>
              <a:t>: </a:t>
            </a:r>
            <a:r>
              <a:rPr lang="ko-KR" altLang="en-US" dirty="0"/>
              <a:t>외국어 단어를 자신의 모국어에서 소리가 비슷한 단어로 변환</a:t>
            </a:r>
            <a:endParaRPr lang="en-US" altLang="ko-KR" dirty="0"/>
          </a:p>
          <a:p>
            <a:pPr lvl="3"/>
            <a:r>
              <a:rPr lang="ko-KR" altLang="en-US" dirty="0"/>
              <a:t>그 다음 익히고자 하는 단어를 독특한 이미지를 상상하여 결합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18F15D-FBA5-41B1-877F-3E39191D7E3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망각을 잊는 </a:t>
            </a:r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ko-KR" altLang="en-US" dirty="0" err="1"/>
              <a:t>암기법</a:t>
            </a:r>
            <a:r>
              <a:rPr lang="en-US" altLang="ko-KR" dirty="0"/>
              <a:t>:</a:t>
            </a:r>
            <a:r>
              <a:rPr lang="ko-KR" altLang="en-US" dirty="0"/>
              <a:t> 공백</a:t>
            </a:r>
            <a:r>
              <a:rPr lang="en-US" altLang="ko-KR" dirty="0"/>
              <a:t> – </a:t>
            </a:r>
            <a:r>
              <a:rPr lang="ko-KR" altLang="en-US" dirty="0"/>
              <a:t>기억하기 위해 반복하라 </a:t>
            </a:r>
            <a:r>
              <a:rPr lang="en-US" altLang="ko-KR" dirty="0"/>
              <a:t>; </a:t>
            </a:r>
            <a:r>
              <a:rPr lang="ko-KR" altLang="en-US" dirty="0"/>
              <a:t>절차화 </a:t>
            </a:r>
            <a:r>
              <a:rPr lang="en-US" altLang="ko-KR" dirty="0"/>
              <a:t>– </a:t>
            </a:r>
            <a:r>
              <a:rPr lang="ko-KR" altLang="en-US" dirty="0"/>
              <a:t>자동화할 수록 더 오래 기억한다 </a:t>
            </a:r>
            <a:r>
              <a:rPr lang="en-US" altLang="ko-KR" dirty="0"/>
              <a:t>; </a:t>
            </a:r>
            <a:r>
              <a:rPr lang="ko-KR" altLang="en-US" dirty="0"/>
              <a:t>초과학습</a:t>
            </a:r>
            <a:r>
              <a:rPr lang="en-US" altLang="ko-KR" dirty="0"/>
              <a:t> – </a:t>
            </a:r>
            <a:r>
              <a:rPr lang="ko-KR" altLang="en-US" dirty="0"/>
              <a:t>더 연습할 수록 </a:t>
            </a:r>
            <a:r>
              <a:rPr lang="ko-KR" altLang="en-US" dirty="0" err="1"/>
              <a:t>완벽해진다</a:t>
            </a:r>
            <a:r>
              <a:rPr lang="ko-KR" altLang="en-US" dirty="0"/>
              <a:t> </a:t>
            </a:r>
            <a:r>
              <a:rPr lang="en-US" altLang="ko-KR" dirty="0"/>
              <a:t>; </a:t>
            </a:r>
            <a:r>
              <a:rPr lang="ko-KR" altLang="en-US" dirty="0"/>
              <a:t>연상기호</a:t>
            </a:r>
            <a:r>
              <a:rPr lang="en-US" altLang="ko-KR" dirty="0"/>
              <a:t> – </a:t>
            </a:r>
            <a:r>
              <a:rPr lang="ko-KR" altLang="en-US" dirty="0"/>
              <a:t>유사한 특징을 가진 것끼리 연상을 통해 기억하라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751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F68C761-9557-42A7-80D8-76F3CFF5D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961866A-31F0-473F-9EA8-1F26C9E2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0FBF5-4EF6-44A9-A3EA-2E3FC2FC4A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깊이 있는 직관을 기르는 법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 err="1"/>
              <a:t>파인만</a:t>
            </a:r>
            <a:r>
              <a:rPr lang="ko-KR" altLang="en-US" dirty="0"/>
              <a:t> 기법</a:t>
            </a:r>
            <a:r>
              <a:rPr lang="en-US" altLang="ko-KR" dirty="0"/>
              <a:t>’ </a:t>
            </a:r>
            <a:r>
              <a:rPr lang="ko-KR" altLang="en-US" dirty="0"/>
              <a:t>활용하기</a:t>
            </a:r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2C1631A-7862-4E50-A786-9F9EC97E3F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깊이 있는 직관을 기르는 법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어려운 문제라고 쉽게 포기하지 마라</a:t>
            </a:r>
            <a:endParaRPr lang="en-US" altLang="ko-KR" dirty="0"/>
          </a:p>
          <a:p>
            <a:pPr lvl="2"/>
            <a:r>
              <a:rPr lang="ko-KR" altLang="en-US" dirty="0"/>
              <a:t>고통타이머</a:t>
            </a:r>
            <a:r>
              <a:rPr lang="en-US" altLang="ko-KR" dirty="0"/>
              <a:t>: </a:t>
            </a:r>
            <a:r>
              <a:rPr lang="ko-KR" altLang="en-US" dirty="0"/>
              <a:t>문제를 포기하고 싶을 때 </a:t>
            </a:r>
            <a:r>
              <a:rPr lang="en-US" altLang="ko-KR" dirty="0"/>
              <a:t>10</a:t>
            </a:r>
            <a:r>
              <a:rPr lang="ko-KR" altLang="en-US" dirty="0"/>
              <a:t>분만 더 고민하라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대상을 증명하는 방식으로 이해하라</a:t>
            </a:r>
            <a:endParaRPr lang="en-US" altLang="ko-KR" dirty="0"/>
          </a:p>
          <a:p>
            <a:pPr lvl="2"/>
            <a:r>
              <a:rPr lang="ko-KR" altLang="en-US" dirty="0"/>
              <a:t>알려진 결과를 그대로 </a:t>
            </a:r>
            <a:r>
              <a:rPr lang="ko-KR" altLang="en-US" dirty="0" err="1"/>
              <a:t>따르기보다는</a:t>
            </a:r>
            <a:r>
              <a:rPr lang="ko-KR" altLang="en-US" dirty="0"/>
              <a:t> 그 결과들을 머릿속에서 재구성하라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늘 구체적인 사례를 가지고 시작하라</a:t>
            </a:r>
            <a:endParaRPr lang="en-US" altLang="ko-KR" dirty="0"/>
          </a:p>
          <a:p>
            <a:pPr lvl="2"/>
            <a:r>
              <a:rPr lang="ko-KR" altLang="en-US" dirty="0"/>
              <a:t>일반적인 규칙을 제시라고 이를 구체적인 상황에 적용할 수 있는지 기대하는 건 불가능 하다</a:t>
            </a:r>
            <a:endParaRPr lang="en-US" altLang="ko-KR" dirty="0"/>
          </a:p>
          <a:p>
            <a:pPr lvl="2"/>
            <a:r>
              <a:rPr lang="ko-KR" altLang="en-US" dirty="0"/>
              <a:t>처리 수준 모형</a:t>
            </a:r>
            <a:r>
              <a:rPr lang="en-US" altLang="ko-KR" dirty="0"/>
              <a:t>: </a:t>
            </a:r>
            <a:r>
              <a:rPr lang="ko-KR" altLang="en-US" dirty="0"/>
              <a:t>기억의 지속성은 어떤 정보에 얼마나 오래 주의를 기울였느냐가 아니라</a:t>
            </a:r>
            <a:r>
              <a:rPr lang="en-US" altLang="ko-KR" dirty="0"/>
              <a:t>, </a:t>
            </a:r>
            <a:r>
              <a:rPr lang="ko-KR" altLang="en-US" dirty="0"/>
              <a:t>그 정보에 주의를 기울이는 동안 어떻게 </a:t>
            </a:r>
            <a:r>
              <a:rPr lang="ko-KR" altLang="en-US" dirty="0" err="1"/>
              <a:t>생각했느냐에</a:t>
            </a:r>
            <a:r>
              <a:rPr lang="ko-KR" altLang="en-US" dirty="0"/>
              <a:t> 따라 결정됨</a:t>
            </a:r>
            <a:endParaRPr lang="en-US" altLang="ko-KR" dirty="0"/>
          </a:p>
          <a:p>
            <a:pPr lvl="1"/>
            <a:r>
              <a:rPr lang="en-US" altLang="ko-KR" dirty="0"/>
              <a:t>4) </a:t>
            </a:r>
            <a:r>
              <a:rPr lang="ko-KR" altLang="en-US" dirty="0"/>
              <a:t>자신을 속이지 마라</a:t>
            </a:r>
            <a:endParaRPr lang="en-US" altLang="ko-KR" dirty="0"/>
          </a:p>
          <a:p>
            <a:pPr lvl="2"/>
            <a:r>
              <a:rPr lang="ko-KR" altLang="en-US" dirty="0"/>
              <a:t>재현성 위기</a:t>
            </a:r>
            <a:r>
              <a:rPr lang="en-US" altLang="ko-KR" dirty="0"/>
              <a:t>: </a:t>
            </a:r>
            <a:r>
              <a:rPr lang="ko-KR" altLang="en-US" dirty="0"/>
              <a:t>자신이 발견하지 못한 걸 발견 했다는 믿음</a:t>
            </a:r>
            <a:endParaRPr lang="en-US" altLang="ko-KR" dirty="0"/>
          </a:p>
          <a:p>
            <a:pPr lvl="2"/>
            <a:r>
              <a:rPr lang="ko-KR" altLang="en-US" dirty="0" err="1"/>
              <a:t>더닝</a:t>
            </a:r>
            <a:r>
              <a:rPr lang="en-US" altLang="ko-KR" dirty="0"/>
              <a:t>-</a:t>
            </a:r>
            <a:r>
              <a:rPr lang="ko-KR" altLang="en-US" dirty="0" err="1"/>
              <a:t>크루거</a:t>
            </a:r>
            <a:r>
              <a:rPr lang="ko-KR" altLang="en-US" dirty="0"/>
              <a:t> 효과</a:t>
            </a:r>
            <a:r>
              <a:rPr lang="en-US" altLang="ko-KR" dirty="0"/>
              <a:t>: </a:t>
            </a:r>
            <a:r>
              <a:rPr lang="ko-KR" altLang="en-US" dirty="0"/>
              <a:t>어떤 주제에 대해 제대로 이해하지 못하면서 실제로는 더 많이 알고 있다고 착각</a:t>
            </a:r>
            <a:endParaRPr lang="en-US" altLang="ko-KR" dirty="0"/>
          </a:p>
          <a:p>
            <a:pPr lvl="2"/>
            <a:r>
              <a:rPr lang="ko-KR" altLang="en-US" dirty="0"/>
              <a:t>바보 같은 질문</a:t>
            </a:r>
            <a:r>
              <a:rPr lang="en-US" altLang="ko-KR" dirty="0"/>
              <a:t>(</a:t>
            </a:r>
            <a:r>
              <a:rPr lang="ko-KR" altLang="en-US" dirty="0"/>
              <a:t>잘 알고 있는 듯 보이는 대상들에 관한 질문</a:t>
            </a:r>
            <a:r>
              <a:rPr lang="en-US" altLang="ko-KR" dirty="0"/>
              <a:t>)</a:t>
            </a:r>
            <a:r>
              <a:rPr lang="ko-KR" altLang="en-US" dirty="0"/>
              <a:t>들을 많이 던짐으로써 이 문제를 피하라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 err="1"/>
              <a:t>파인만</a:t>
            </a:r>
            <a:r>
              <a:rPr lang="ko-KR" altLang="en-US" dirty="0"/>
              <a:t> 기법</a:t>
            </a:r>
            <a:r>
              <a:rPr lang="en-US" altLang="ko-KR" dirty="0"/>
              <a:t>’ </a:t>
            </a:r>
            <a:r>
              <a:rPr lang="ko-KR" altLang="en-US" dirty="0"/>
              <a:t>활용하기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종이 한 장을 꺼내 이해하려는 개념이나 문제를 위에서부터 쭉 써 내려간다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그 공간에 누군가에게 가르치듯이 설명을 해본다</a:t>
            </a:r>
            <a:endParaRPr lang="en-US" altLang="ko-KR" dirty="0"/>
          </a:p>
          <a:p>
            <a:pPr lvl="2"/>
            <a:r>
              <a:rPr lang="en-US" altLang="ko-KR" dirty="0"/>
              <a:t>a.</a:t>
            </a:r>
            <a:r>
              <a:rPr lang="ko-KR" altLang="en-US" dirty="0"/>
              <a:t> 개념이라면 그 개념에 대해 한번도 들어보지 못한 사람에게 어떻게 전달할 수 있는지 스스로 물어본다</a:t>
            </a:r>
            <a:endParaRPr lang="en-US" altLang="ko-KR" dirty="0"/>
          </a:p>
          <a:p>
            <a:pPr lvl="2"/>
            <a:r>
              <a:rPr lang="en-US" altLang="ko-KR" dirty="0"/>
              <a:t>b. </a:t>
            </a:r>
            <a:r>
              <a:rPr lang="ko-KR" altLang="en-US" dirty="0"/>
              <a:t>문제라면 어떻게 풀지</a:t>
            </a:r>
            <a:r>
              <a:rPr lang="en-US" altLang="ko-KR" dirty="0"/>
              <a:t>, </a:t>
            </a:r>
            <a:r>
              <a:rPr lang="ko-KR" altLang="en-US" dirty="0"/>
              <a:t>그리고 그 풀이가 왜 정당한지 설명하라</a:t>
            </a:r>
            <a:endParaRPr lang="en-US" altLang="ko-KR" dirty="0"/>
          </a:p>
          <a:p>
            <a:pPr lvl="1"/>
            <a:r>
              <a:rPr lang="en-US" altLang="ko-KR" dirty="0"/>
              <a:t>3.</a:t>
            </a:r>
            <a:r>
              <a:rPr lang="ko-KR" altLang="en-US" dirty="0"/>
              <a:t> 벽에 부딪혔을 때 참고자료로 돌아간다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대상을 전혀 이해하지 못할 때</a:t>
            </a:r>
            <a:endParaRPr lang="en-US" altLang="ko-KR" dirty="0"/>
          </a:p>
          <a:p>
            <a:pPr lvl="2"/>
            <a:r>
              <a:rPr lang="ko-KR" altLang="en-US" dirty="0"/>
              <a:t>책을 보며 설명하고 설명하는 사이사이 책 앞뒤를 살펴보고 그 책 안에서 설명</a:t>
            </a:r>
            <a:endParaRPr lang="en-US" altLang="ko-KR" dirty="0"/>
          </a:p>
          <a:p>
            <a:pPr lvl="1"/>
            <a:r>
              <a:rPr lang="en-US" altLang="ko-KR" dirty="0"/>
              <a:t>2)</a:t>
            </a:r>
            <a:r>
              <a:rPr lang="ko-KR" altLang="en-US" dirty="0"/>
              <a:t> 문제를 풀지 못할 것 같을 때 </a:t>
            </a:r>
            <a:r>
              <a:rPr lang="en-US" altLang="ko-KR" dirty="0"/>
              <a:t>(</a:t>
            </a:r>
            <a:r>
              <a:rPr lang="ko-KR" altLang="en-US" dirty="0"/>
              <a:t>어떤 기술을 숙련할 때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자신이 만든 설명을 따라 한 단계씩 차근차근 문제를 풀어나감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단순한 요약이 아님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직관을 확장할 때</a:t>
            </a:r>
            <a:endParaRPr lang="en-US" altLang="ko-KR" dirty="0"/>
          </a:p>
          <a:p>
            <a:pPr lvl="2"/>
            <a:r>
              <a:rPr lang="ko-KR" altLang="en-US" dirty="0"/>
              <a:t>그 개념에 관해 자신보다 잘 알지 못하는 누군가를 이해시키기 위해 구체적인 사례를 만들거나 비유나 시각화를 하는데 초점을 둬라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925174-1384-4101-8E18-060F4B575A1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깊이 있는 직관을 기르는 법</a:t>
            </a:r>
            <a:r>
              <a:rPr lang="en-US" altLang="ko-KR" dirty="0"/>
              <a:t>: </a:t>
            </a:r>
            <a:r>
              <a:rPr lang="ko-KR" altLang="en-US" dirty="0"/>
              <a:t>어렵다고 쉽게 포기하지 마라 </a:t>
            </a:r>
            <a:r>
              <a:rPr lang="en-US" altLang="ko-KR" dirty="0"/>
              <a:t>; </a:t>
            </a:r>
            <a:r>
              <a:rPr lang="ko-KR" altLang="en-US" dirty="0"/>
              <a:t>증명을 통해 이해하라 </a:t>
            </a:r>
            <a:r>
              <a:rPr lang="en-US" altLang="ko-KR" dirty="0"/>
              <a:t>; </a:t>
            </a:r>
            <a:r>
              <a:rPr lang="ko-KR" altLang="en-US" dirty="0"/>
              <a:t>구체적인 사례를 생각해라 </a:t>
            </a:r>
            <a:r>
              <a:rPr lang="en-US" altLang="ko-KR" dirty="0"/>
              <a:t>; </a:t>
            </a:r>
            <a:r>
              <a:rPr lang="ko-KR" altLang="en-US" dirty="0"/>
              <a:t>자신을 속이지 마라 </a:t>
            </a:r>
            <a:r>
              <a:rPr lang="en-US" altLang="ko-KR" dirty="0"/>
              <a:t>– </a:t>
            </a:r>
            <a:r>
              <a:rPr lang="ko-KR" altLang="en-US" dirty="0"/>
              <a:t>알고 있다고 생각하는 대상에 대한 질문을 하라</a:t>
            </a:r>
            <a:endParaRPr lang="en-US" altLang="ko-KR" dirty="0"/>
          </a:p>
          <a:p>
            <a:r>
              <a:rPr lang="ko-KR" altLang="en-US" dirty="0" err="1"/>
              <a:t>파인만</a:t>
            </a:r>
            <a:r>
              <a:rPr lang="ko-KR" altLang="en-US" dirty="0"/>
              <a:t> 기법 활용하기</a:t>
            </a:r>
            <a:r>
              <a:rPr lang="en-US" altLang="ko-KR" dirty="0"/>
              <a:t>: </a:t>
            </a:r>
            <a:r>
              <a:rPr lang="ko-KR" altLang="en-US" dirty="0"/>
              <a:t>개념</a:t>
            </a:r>
            <a:r>
              <a:rPr lang="en-US" altLang="ko-KR" dirty="0"/>
              <a:t>/</a:t>
            </a:r>
            <a:r>
              <a:rPr lang="ko-KR" altLang="en-US" dirty="0"/>
              <a:t>문제에 대해 가르치듯 설명해보라</a:t>
            </a:r>
            <a:r>
              <a:rPr lang="en-US" altLang="ko-KR" dirty="0"/>
              <a:t>, </a:t>
            </a:r>
            <a:r>
              <a:rPr lang="ko-KR" altLang="en-US" dirty="0"/>
              <a:t>또는 이 풀이가 왜 맞는지 설명하라 </a:t>
            </a:r>
            <a:r>
              <a:rPr lang="en-US" altLang="ko-KR" dirty="0"/>
              <a:t>; </a:t>
            </a:r>
            <a:r>
              <a:rPr lang="ko-KR" altLang="en-US" dirty="0"/>
              <a:t>이 방법은 전혀 이해할 수 없을 때</a:t>
            </a:r>
            <a:r>
              <a:rPr lang="en-US" altLang="ko-KR" dirty="0"/>
              <a:t>, </a:t>
            </a:r>
            <a:r>
              <a:rPr lang="ko-KR" altLang="en-US" dirty="0"/>
              <a:t>풀지 못한 문제가 있을 때</a:t>
            </a:r>
            <a:r>
              <a:rPr lang="en-US" altLang="ko-KR" dirty="0"/>
              <a:t>, </a:t>
            </a:r>
            <a:r>
              <a:rPr lang="ko-KR" altLang="en-US" dirty="0"/>
              <a:t>직관을 확장할 때 사용 가능하다</a:t>
            </a:r>
          </a:p>
        </p:txBody>
      </p:sp>
    </p:spTree>
    <p:extLst>
      <p:ext uri="{BB962C8B-B14F-4D97-AF65-F5344CB8AC3E}">
        <p14:creationId xmlns:p14="http://schemas.microsoft.com/office/powerpoint/2010/main" val="409830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4A38236-1C35-4D46-BDFE-08AAACC63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F26B6C9-3E0A-4210-B717-4A802ACE9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C16C29-1FDC-49F8-B5BC-71BC8EA030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실험의 </a:t>
            </a:r>
            <a:r>
              <a:rPr lang="en-US" altLang="ko-KR" dirty="0"/>
              <a:t>3</a:t>
            </a:r>
            <a:r>
              <a:rPr lang="ko-KR" altLang="en-US" dirty="0"/>
              <a:t>가지 단계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울트라 러닝을 위한 실험 전략</a:t>
            </a:r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F185B4-9D64-40B9-B5A9-60B8626FEC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실험의 </a:t>
            </a:r>
            <a:r>
              <a:rPr lang="en-US" altLang="ko-KR" dirty="0"/>
              <a:t>3</a:t>
            </a:r>
            <a:r>
              <a:rPr lang="ko-KR" altLang="en-US" dirty="0"/>
              <a:t>가지 단계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학습 자원들을 실험해 보기</a:t>
            </a:r>
            <a:endParaRPr lang="en-US" altLang="ko-KR" dirty="0"/>
          </a:p>
          <a:p>
            <a:pPr lvl="2"/>
            <a:r>
              <a:rPr lang="ko-KR" altLang="en-US" dirty="0"/>
              <a:t>어떤 자원을 선정하여 어느 정도 시간을 정해두고 엄밀하게 적용해 보는 것</a:t>
            </a:r>
            <a:endParaRPr lang="en-US" altLang="ko-KR" dirty="0"/>
          </a:p>
          <a:p>
            <a:pPr lvl="2"/>
            <a:r>
              <a:rPr lang="ko-KR" altLang="en-US" dirty="0"/>
              <a:t>그 방법을 공격적으로 적용한 뒤 그 단계를 돌이켜 보고 잘 작동했는지</a:t>
            </a:r>
            <a:r>
              <a:rPr lang="en-US" altLang="ko-KR" dirty="0"/>
              <a:t>, </a:t>
            </a:r>
            <a:r>
              <a:rPr lang="ko-KR" altLang="en-US" dirty="0"/>
              <a:t>계속하는 게 나은지</a:t>
            </a:r>
            <a:r>
              <a:rPr lang="en-US" altLang="ko-KR" dirty="0"/>
              <a:t>, </a:t>
            </a:r>
            <a:r>
              <a:rPr lang="ko-KR" altLang="en-US" dirty="0"/>
              <a:t>다른 방법을 시도하는 게 나은지 보라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기술을 실험하기</a:t>
            </a:r>
            <a:endParaRPr lang="en-US" altLang="ko-KR" dirty="0"/>
          </a:p>
          <a:p>
            <a:pPr lvl="2"/>
            <a:r>
              <a:rPr lang="ko-KR" altLang="en-US" dirty="0"/>
              <a:t>지금까지 배워온 기술 속에서 하위 주제를 하나 선택하고 시간을 들여 공격적으로 배우고 자신의 발전 정도를 측정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양식을 실험하기</a:t>
            </a:r>
            <a:endParaRPr lang="en-US" altLang="ko-KR" dirty="0"/>
          </a:p>
          <a:p>
            <a:pPr lvl="2"/>
            <a:r>
              <a:rPr lang="ko-KR" altLang="en-US" dirty="0"/>
              <a:t>기초를 다 배웠다면 더 이상의 올바른 방법은 없고 수많은 가능성이 존재한다</a:t>
            </a:r>
            <a:endParaRPr lang="en-US" altLang="ko-KR" dirty="0"/>
          </a:p>
          <a:p>
            <a:pPr lvl="3"/>
            <a:r>
              <a:rPr lang="ko-KR" altLang="en-US" dirty="0"/>
              <a:t>핵심은 존재하는 모든 양식을 다 알고 있다는 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울트라 러닝을 위한 실험 전략</a:t>
            </a:r>
            <a:endParaRPr lang="en-US" altLang="ko-KR" dirty="0"/>
          </a:p>
          <a:p>
            <a:pPr lvl="1"/>
            <a:r>
              <a:rPr lang="ko-KR" altLang="en-US" dirty="0"/>
              <a:t>자신이 직면한 학습 문제가 무엇인지 이해하고</a:t>
            </a:r>
            <a:r>
              <a:rPr lang="en-US" altLang="ko-KR" dirty="0"/>
              <a:t>, </a:t>
            </a:r>
            <a:r>
              <a:rPr lang="ko-KR" altLang="en-US" dirty="0"/>
              <a:t>이를 해결할 가능성이 있는 방법을 도출하는 실험을 하라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따라 하라 그리고 창조하라</a:t>
            </a:r>
            <a:endParaRPr lang="en-US" altLang="ko-KR" dirty="0"/>
          </a:p>
          <a:p>
            <a:pPr lvl="2"/>
            <a:r>
              <a:rPr lang="ko-KR" altLang="en-US" dirty="0"/>
              <a:t>무엇을 할 지에 관한 선택지들을 간추리고</a:t>
            </a:r>
            <a:r>
              <a:rPr lang="en-US" altLang="ko-KR" dirty="0"/>
              <a:t>, </a:t>
            </a:r>
            <a:r>
              <a:rPr lang="ko-KR" altLang="en-US" dirty="0"/>
              <a:t>모방을 하는 과정에서 따라하려는 그 작업물을 분석할 수 있게 해준다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방법들을 나란히 놓고 비교하라</a:t>
            </a:r>
            <a:endParaRPr lang="en-US" altLang="ko-KR" dirty="0"/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가지 다른 방법들을 시도하고 그 영향이 </a:t>
            </a:r>
            <a:r>
              <a:rPr lang="ko-KR" altLang="en-US" dirty="0" err="1"/>
              <a:t>어떤지</a:t>
            </a:r>
            <a:r>
              <a:rPr lang="ko-KR" altLang="en-US" dirty="0"/>
              <a:t> 보기 위해 하나의 조건을 변화시켜 보는 것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새로운 제약을 도입하라</a:t>
            </a:r>
            <a:endParaRPr lang="en-US" altLang="ko-KR" dirty="0"/>
          </a:p>
          <a:p>
            <a:pPr lvl="2"/>
            <a:r>
              <a:rPr lang="ko-KR" altLang="en-US" dirty="0"/>
              <a:t>기술에 숙련될수록 발전하지 못하고 익숙한 일만 반복할 수 있기에 그러한 행위들을 몰아내기 위해선 낡은 방법들을 사용할 수 없도록 새로운 제약을 도입</a:t>
            </a:r>
            <a:endParaRPr lang="en-US" altLang="ko-KR" dirty="0"/>
          </a:p>
          <a:p>
            <a:pPr lvl="1"/>
            <a:r>
              <a:rPr lang="en-US" altLang="ko-KR" dirty="0"/>
              <a:t>4) </a:t>
            </a:r>
            <a:r>
              <a:rPr lang="ko-KR" altLang="en-US" dirty="0"/>
              <a:t>관련 없는 기술들을 결합해 자신의 가장 강력한 힘을 찾아라</a:t>
            </a:r>
            <a:endParaRPr lang="en-US" altLang="ko-KR" dirty="0"/>
          </a:p>
          <a:p>
            <a:pPr lvl="2"/>
            <a:r>
              <a:rPr lang="ko-KR" altLang="en-US" dirty="0"/>
              <a:t>서로 겹치지 않는 </a:t>
            </a:r>
            <a:r>
              <a:rPr lang="en-US" altLang="ko-KR" dirty="0"/>
              <a:t>2</a:t>
            </a:r>
            <a:r>
              <a:rPr lang="ko-KR" altLang="en-US" dirty="0"/>
              <a:t>가지의 기술에 대해 한 가지의 기술만 가진 사람이 가지지 못한 차별화된 이점을 만들어라</a:t>
            </a:r>
            <a:endParaRPr lang="en-US" altLang="ko-KR" dirty="0"/>
          </a:p>
          <a:p>
            <a:pPr lvl="1"/>
            <a:r>
              <a:rPr lang="en-US" altLang="ko-KR" dirty="0"/>
              <a:t>5) </a:t>
            </a:r>
            <a:r>
              <a:rPr lang="ko-KR" altLang="en-US" dirty="0"/>
              <a:t>극단을 탐험하라</a:t>
            </a:r>
            <a:endParaRPr lang="en-US" altLang="ko-KR" dirty="0"/>
          </a:p>
          <a:p>
            <a:pPr lvl="2"/>
            <a:r>
              <a:rPr lang="ko-KR" altLang="en-US" dirty="0"/>
              <a:t>기술을 통해 실현해낼 수 있는 여러 가능성 자체가 극단에 존재하기 때문에 대부분의 기술에서 가장 좋은 선택지는 어떤 </a:t>
            </a:r>
            <a:r>
              <a:rPr lang="ko-KR" altLang="en-US" dirty="0" err="1"/>
              <a:t>점에서든</a:t>
            </a:r>
            <a:r>
              <a:rPr lang="ko-KR" altLang="en-US" dirty="0"/>
              <a:t> 극단적이게 되어라</a:t>
            </a:r>
            <a:endParaRPr lang="en-US" altLang="ko-KR" dirty="0"/>
          </a:p>
          <a:p>
            <a:pPr lvl="3"/>
            <a:r>
              <a:rPr lang="ko-KR" altLang="en-US" dirty="0"/>
              <a:t>중간 부분에 달라붙어 안전하게 움직이는 건 올바른 접근법이 아니다</a:t>
            </a:r>
            <a:r>
              <a:rPr lang="en-US" altLang="ko-KR" dirty="0"/>
              <a:t>. </a:t>
            </a:r>
            <a:r>
              <a:rPr lang="ko-KR" altLang="en-US" dirty="0"/>
              <a:t>우리의 작업이 가지고 있는 가능성 중 일부분만을 탐색하기 때문이다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57938B-67F1-420E-9693-9FE4B3F89D2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실험의 </a:t>
            </a:r>
            <a:r>
              <a:rPr lang="en-US" altLang="ko-KR" dirty="0"/>
              <a:t>3</a:t>
            </a:r>
            <a:r>
              <a:rPr lang="ko-KR" altLang="en-US" dirty="0"/>
              <a:t>가지 단계</a:t>
            </a:r>
            <a:r>
              <a:rPr lang="en-US" altLang="ko-KR" dirty="0"/>
              <a:t>: </a:t>
            </a:r>
            <a:r>
              <a:rPr lang="ko-KR" altLang="en-US" dirty="0"/>
              <a:t>학습 자원을 실험한다 </a:t>
            </a:r>
            <a:r>
              <a:rPr lang="en-US" altLang="ko-KR" dirty="0"/>
              <a:t>– </a:t>
            </a:r>
            <a:r>
              <a:rPr lang="ko-KR" altLang="en-US" dirty="0"/>
              <a:t>기술들을 시험한다 </a:t>
            </a:r>
            <a:r>
              <a:rPr lang="en-US" altLang="ko-KR" dirty="0"/>
              <a:t>– </a:t>
            </a:r>
            <a:r>
              <a:rPr lang="ko-KR" altLang="en-US" dirty="0"/>
              <a:t>양식을 실험한다</a:t>
            </a:r>
            <a:endParaRPr lang="en-US" altLang="ko-KR" dirty="0"/>
          </a:p>
          <a:p>
            <a:r>
              <a:rPr lang="ko-KR" altLang="en-US" dirty="0"/>
              <a:t>울트라 러닝을 위한 실험 전략</a:t>
            </a:r>
            <a:r>
              <a:rPr lang="en-US" altLang="ko-KR" dirty="0"/>
              <a:t>: </a:t>
            </a:r>
            <a:r>
              <a:rPr lang="ko-KR" altLang="en-US" dirty="0"/>
              <a:t>따라하고 창조하라 </a:t>
            </a:r>
            <a:r>
              <a:rPr lang="en-US" altLang="ko-KR" dirty="0"/>
              <a:t>; </a:t>
            </a:r>
            <a:r>
              <a:rPr lang="ko-KR" altLang="en-US" dirty="0"/>
              <a:t>방법들을 놓고 비교하라 </a:t>
            </a:r>
            <a:r>
              <a:rPr lang="en-US" altLang="ko-KR" dirty="0"/>
              <a:t>; </a:t>
            </a:r>
            <a:r>
              <a:rPr lang="ko-KR" altLang="en-US" dirty="0"/>
              <a:t>매너리즘에서 탈피하기 위해 새로운 제약을 도입하라</a:t>
            </a:r>
            <a:r>
              <a:rPr lang="en-US" altLang="ko-KR" dirty="0"/>
              <a:t> ; </a:t>
            </a:r>
            <a:r>
              <a:rPr lang="ko-KR" altLang="en-US" dirty="0"/>
              <a:t>서로 다른 분야를 결합해 강점으로 만들어라 </a:t>
            </a:r>
            <a:r>
              <a:rPr lang="en-US" altLang="ko-KR" dirty="0"/>
              <a:t>; </a:t>
            </a:r>
            <a:r>
              <a:rPr lang="ko-KR" altLang="en-US" dirty="0"/>
              <a:t>기술의 극단을 탐험하라</a:t>
            </a:r>
          </a:p>
        </p:txBody>
      </p:sp>
    </p:spTree>
    <p:extLst>
      <p:ext uri="{BB962C8B-B14F-4D97-AF65-F5344CB8AC3E}">
        <p14:creationId xmlns:p14="http://schemas.microsoft.com/office/powerpoint/2010/main" val="607134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23FAC43-9A93-4EB6-9F93-3C61B126B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0EA886C-FD04-4FDA-BEC7-7314E4FB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나의 첫 </a:t>
            </a:r>
            <a:r>
              <a:rPr lang="ko-KR" altLang="en-US" dirty="0" err="1"/>
              <a:t>울트라러닝</a:t>
            </a:r>
            <a:r>
              <a:rPr lang="ko-KR" altLang="en-US" dirty="0"/>
              <a:t> 프로젝트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06B66D-BF22-46F1-9611-10940F7756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계획을 실행하라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D7D3D8D-3D95-4D15-AA87-89D7269AE5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어떤 주제를 공부할지 대략적인 범위를 정하라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사용하게 될 주요 자원들을 결정하라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벤치마킹할 다른 사람들의 방법을 찾아라</a:t>
            </a:r>
            <a:endParaRPr lang="en-US" altLang="ko-KR" dirty="0"/>
          </a:p>
          <a:p>
            <a:pPr lvl="1"/>
            <a:r>
              <a:rPr lang="en-US" altLang="ko-KR" dirty="0"/>
              <a:t>4) </a:t>
            </a:r>
            <a:r>
              <a:rPr lang="ko-KR" altLang="en-US" dirty="0"/>
              <a:t>직접 연습 기회를 찾아라</a:t>
            </a:r>
            <a:endParaRPr lang="en-US" altLang="ko-KR" dirty="0"/>
          </a:p>
          <a:p>
            <a:pPr lvl="1"/>
            <a:r>
              <a:rPr lang="en-US" altLang="ko-KR" dirty="0"/>
              <a:t>5) </a:t>
            </a:r>
            <a:r>
              <a:rPr lang="ko-KR" altLang="en-US" dirty="0"/>
              <a:t>예비 재료와 수단을 구하라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  <a:endParaRPr lang="en-US" altLang="ko-KR" dirty="0"/>
          </a:p>
          <a:p>
            <a:pPr lvl="1"/>
            <a:r>
              <a:rPr lang="ko-KR" altLang="en-US" dirty="0"/>
              <a:t>공부를 얼마동안 할 것인가</a:t>
            </a:r>
            <a:r>
              <a:rPr lang="en-US" altLang="ko-KR" dirty="0"/>
              <a:t>?: </a:t>
            </a:r>
            <a:r>
              <a:rPr lang="ko-KR" altLang="en-US" dirty="0"/>
              <a:t>허용할 수 있는 시간이 얼마나 되는지 따져라</a:t>
            </a:r>
            <a:endParaRPr lang="en-US" altLang="ko-KR" dirty="0"/>
          </a:p>
          <a:p>
            <a:pPr lvl="1"/>
            <a:r>
              <a:rPr lang="ko-KR" altLang="en-US" dirty="0"/>
              <a:t>언제 공부를 할 것인가</a:t>
            </a:r>
            <a:r>
              <a:rPr lang="en-US" altLang="ko-KR" dirty="0"/>
              <a:t>?: </a:t>
            </a:r>
            <a:r>
              <a:rPr lang="ko-KR" altLang="en-US" dirty="0"/>
              <a:t>자신의 일정에서 가장 손쉬운 시간을 내라</a:t>
            </a:r>
            <a:endParaRPr lang="en-US" altLang="ko-KR" dirty="0"/>
          </a:p>
          <a:p>
            <a:pPr lvl="1"/>
            <a:r>
              <a:rPr lang="ko-KR" altLang="en-US" dirty="0"/>
              <a:t>프로젝트 기간</a:t>
            </a:r>
            <a:r>
              <a:rPr lang="en-US" altLang="ko-KR" dirty="0"/>
              <a:t>: </a:t>
            </a:r>
            <a:r>
              <a:rPr lang="ko-KR" altLang="en-US" dirty="0"/>
              <a:t>총 기간은 길고 연습 시간은 짧게 하라</a:t>
            </a:r>
            <a:endParaRPr lang="en-US" altLang="ko-KR" dirty="0"/>
          </a:p>
          <a:p>
            <a:pPr lvl="1"/>
            <a:r>
              <a:rPr lang="ko-KR" altLang="en-US" dirty="0"/>
              <a:t>위의 모든 정보를 캘린더에 기록하라 </a:t>
            </a:r>
            <a:r>
              <a:rPr lang="en-US" altLang="ko-KR" dirty="0"/>
              <a:t>(</a:t>
            </a:r>
            <a:r>
              <a:rPr lang="ko-KR" altLang="en-US" dirty="0"/>
              <a:t>긴 프로젝트의 경우 사전 체험 기간을 가져라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계획을 실행하라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메타학습</a:t>
            </a:r>
            <a:endParaRPr lang="en-US" altLang="ko-KR" dirty="0"/>
          </a:p>
          <a:p>
            <a:pPr lvl="2"/>
            <a:r>
              <a:rPr lang="ko-KR" altLang="en-US" dirty="0"/>
              <a:t>이 주제를 배우는 일반적인 방법이 무엇인지 조사를 끝마쳤나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이것의 전문가들에게 추천해줄 자원이나 재료가 무엇인지 물어보았나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프로젝트에 들어가는 총 시간의 </a:t>
            </a:r>
            <a:r>
              <a:rPr lang="en-US" altLang="ko-KR" dirty="0"/>
              <a:t>10%</a:t>
            </a:r>
            <a:r>
              <a:rPr lang="ko-KR" altLang="en-US" dirty="0"/>
              <a:t>를 사전 준비에 들였는가</a:t>
            </a:r>
            <a:r>
              <a:rPr lang="en-US" altLang="ko-KR" dirty="0"/>
              <a:t>?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집중하기</a:t>
            </a:r>
            <a:endParaRPr lang="en-US" altLang="ko-KR" dirty="0"/>
          </a:p>
          <a:p>
            <a:pPr lvl="2"/>
            <a:r>
              <a:rPr lang="ko-KR" altLang="en-US" dirty="0"/>
              <a:t>학습할 때 집중하고 있는가</a:t>
            </a:r>
            <a:r>
              <a:rPr lang="en-US" altLang="ko-KR" dirty="0"/>
              <a:t>, </a:t>
            </a:r>
            <a:r>
              <a:rPr lang="ko-KR" altLang="en-US" dirty="0"/>
              <a:t>아님 </a:t>
            </a:r>
            <a:r>
              <a:rPr lang="ko-KR" altLang="en-US" dirty="0" err="1"/>
              <a:t>멀티태스킹을</a:t>
            </a:r>
            <a:r>
              <a:rPr lang="ko-KR" altLang="en-US" dirty="0"/>
              <a:t> 하거나 주의가 산만한가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학습일정을 건너뛰거나 꾸물거리지는 않는가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공부를 시작 할 때 몰입하기까지 시간이 얼마나 걸리는가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집중력이 얼마나 유지되는가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어떻게 주의를 날카롭게 세우는가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더 강도를 높이기 위해 집중해야 하는가</a:t>
            </a:r>
            <a:r>
              <a:rPr lang="en-US" altLang="ko-KR" dirty="0"/>
              <a:t>? </a:t>
            </a:r>
            <a:r>
              <a:rPr lang="ko-KR" altLang="en-US" dirty="0"/>
              <a:t>록은 창조력을 위해 </a:t>
            </a:r>
            <a:r>
              <a:rPr lang="ko-KR" altLang="en-US" dirty="0" err="1"/>
              <a:t>느슨해져야</a:t>
            </a:r>
            <a:r>
              <a:rPr lang="ko-KR" altLang="en-US" dirty="0"/>
              <a:t> 하는가</a:t>
            </a:r>
            <a:r>
              <a:rPr lang="en-US" altLang="ko-KR" dirty="0"/>
              <a:t>?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직접하기</a:t>
            </a:r>
            <a:endParaRPr lang="en-US" altLang="ko-KR" dirty="0"/>
          </a:p>
          <a:p>
            <a:pPr lvl="2"/>
            <a:r>
              <a:rPr lang="ko-KR" altLang="en-US" dirty="0"/>
              <a:t>나중에 그 기술을 사용할 방식으로 학습 중인가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그렇지 않다면 현실에서 실행하게 될 일에서 어떤 과정을 놓치고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책</a:t>
            </a:r>
            <a:r>
              <a:rPr lang="en-US" altLang="ko-KR" dirty="0"/>
              <a:t>/</a:t>
            </a:r>
            <a:r>
              <a:rPr lang="ko-KR" altLang="en-US" dirty="0"/>
              <a:t>수업</a:t>
            </a:r>
            <a:r>
              <a:rPr lang="en-US" altLang="ko-KR" dirty="0"/>
              <a:t>/</a:t>
            </a:r>
            <a:r>
              <a:rPr lang="ko-KR" altLang="en-US" dirty="0"/>
              <a:t>동영상에서 배웠던 지식을 현실에 적용하기 위해 어떻게 연습해야 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F7CB4E-E788-4DD1-B552-A26962C3DE2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계획을 실행하라 </a:t>
            </a:r>
          </a:p>
        </p:txBody>
      </p:sp>
    </p:spTree>
    <p:extLst>
      <p:ext uri="{BB962C8B-B14F-4D97-AF65-F5344CB8AC3E}">
        <p14:creationId xmlns:p14="http://schemas.microsoft.com/office/powerpoint/2010/main" val="846848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C65BA6D-D562-4FC4-9706-0EC26D404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F41661D-21DA-4639-A3F3-085993EB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나의 첫 </a:t>
            </a:r>
            <a:r>
              <a:rPr lang="ko-KR" altLang="en-US" dirty="0" err="1"/>
              <a:t>울트라러닝</a:t>
            </a:r>
            <a:r>
              <a:rPr lang="ko-KR" altLang="en-US" dirty="0"/>
              <a:t> 프로젝트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879FF0-2E71-4AC6-87AC-77611BA9DF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계획을 실행하라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4721840-934F-4B13-BDC5-347D2B84A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2777" y="560512"/>
            <a:ext cx="5445224" cy="7560840"/>
          </a:xfrm>
        </p:spPr>
        <p:txBody>
          <a:bodyPr/>
          <a:lstStyle/>
          <a:p>
            <a:pPr lvl="1"/>
            <a:r>
              <a:rPr lang="en-US" altLang="ko-KR" dirty="0"/>
              <a:t>4) </a:t>
            </a:r>
            <a:r>
              <a:rPr lang="ko-KR" altLang="en-US" dirty="0"/>
              <a:t>특화학습</a:t>
            </a:r>
            <a:endParaRPr lang="en-US" altLang="ko-KR" dirty="0"/>
          </a:p>
          <a:p>
            <a:pPr lvl="2"/>
            <a:r>
              <a:rPr lang="ko-KR" altLang="en-US" dirty="0"/>
              <a:t>취약한 부분에 집중적으로 시간을 들이고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나를 </a:t>
            </a:r>
            <a:r>
              <a:rPr lang="ko-KR" altLang="en-US" dirty="0" err="1"/>
              <a:t>지체시키는</a:t>
            </a:r>
            <a:r>
              <a:rPr lang="ko-KR" altLang="en-US" dirty="0"/>
              <a:t> </a:t>
            </a:r>
            <a:r>
              <a:rPr lang="ko-KR" altLang="en-US" dirty="0" err="1"/>
              <a:t>율속</a:t>
            </a:r>
            <a:r>
              <a:rPr lang="ko-KR" altLang="en-US" dirty="0"/>
              <a:t> 단계는 무엇인가</a:t>
            </a:r>
            <a:r>
              <a:rPr lang="en-US" altLang="ko-KR" dirty="0"/>
              <a:t>?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5) </a:t>
            </a:r>
            <a:r>
              <a:rPr lang="ko-KR" altLang="en-US" dirty="0"/>
              <a:t>인출</a:t>
            </a:r>
            <a:endParaRPr lang="en-US" altLang="ko-KR" dirty="0"/>
          </a:p>
          <a:p>
            <a:pPr lvl="2"/>
            <a:r>
              <a:rPr lang="ko-KR" altLang="en-US" dirty="0"/>
              <a:t>대부분의 공부시간을 읽기</a:t>
            </a:r>
            <a:r>
              <a:rPr lang="en-US" altLang="ko-KR" dirty="0"/>
              <a:t>/</a:t>
            </a:r>
            <a:r>
              <a:rPr lang="ko-KR" altLang="en-US" dirty="0"/>
              <a:t>복습에 쓰는가</a:t>
            </a:r>
            <a:r>
              <a:rPr lang="en-US" altLang="ko-KR" dirty="0"/>
              <a:t>? </a:t>
            </a:r>
            <a:r>
              <a:rPr lang="ko-KR" altLang="en-US" dirty="0"/>
              <a:t>아님 문제 풀이 및 노트를 보지 않고 기억을 끌어올리는 데 쓰고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자체시험 방식이 있는가</a:t>
            </a:r>
            <a:r>
              <a:rPr lang="en-US" altLang="ko-KR" dirty="0"/>
              <a:t>? </a:t>
            </a:r>
            <a:r>
              <a:rPr lang="ko-KR" altLang="en-US" dirty="0"/>
              <a:t>혹은 단순히 내용을 기억하고 있으려 하는가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어제</a:t>
            </a:r>
            <a:r>
              <a:rPr lang="en-US" altLang="ko-KR" dirty="0"/>
              <a:t>,</a:t>
            </a:r>
            <a:r>
              <a:rPr lang="ko-KR" altLang="en-US" dirty="0"/>
              <a:t>지난주</a:t>
            </a:r>
            <a:r>
              <a:rPr lang="en-US" altLang="ko-KR" dirty="0"/>
              <a:t>,</a:t>
            </a:r>
            <a:r>
              <a:rPr lang="ko-KR" altLang="en-US" dirty="0"/>
              <a:t>작년에 배웠던 것을 지금 잘 설명할 수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그렇게 할 수 있는지 어떻게 알 수 있는가</a:t>
            </a:r>
            <a:r>
              <a:rPr lang="en-US" altLang="ko-KR" dirty="0"/>
              <a:t>?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6) </a:t>
            </a:r>
            <a:r>
              <a:rPr lang="ko-KR" altLang="en-US" dirty="0"/>
              <a:t>피드백</a:t>
            </a:r>
            <a:endParaRPr lang="en-US" altLang="ko-KR" dirty="0"/>
          </a:p>
          <a:p>
            <a:pPr lvl="2"/>
            <a:r>
              <a:rPr lang="ko-KR" altLang="en-US" dirty="0"/>
              <a:t>일찍부터 자신의 성과에 관한 정직한 피드백을 받고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비판적인 피드백을 피하려고 애쓰고 있진 않은가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내가 무엇을 잘 습득했고</a:t>
            </a:r>
            <a:r>
              <a:rPr lang="en-US" altLang="ko-KR" dirty="0"/>
              <a:t>, </a:t>
            </a:r>
            <a:r>
              <a:rPr lang="ko-KR" altLang="en-US" dirty="0"/>
              <a:t>무엇을 잘 습득하지 못했는지 알고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피드백을 올바르게 사용하는가</a:t>
            </a:r>
            <a:r>
              <a:rPr lang="en-US" altLang="ko-KR" dirty="0"/>
              <a:t>? </a:t>
            </a:r>
            <a:r>
              <a:rPr lang="ko-KR" altLang="en-US" dirty="0"/>
              <a:t>혹은 소음에 과잉 반응하는가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7) </a:t>
            </a:r>
            <a:r>
              <a:rPr lang="ko-KR" altLang="en-US" dirty="0"/>
              <a:t>유지</a:t>
            </a:r>
            <a:endParaRPr lang="en-US" altLang="ko-KR" dirty="0"/>
          </a:p>
          <a:p>
            <a:pPr lvl="2"/>
            <a:r>
              <a:rPr lang="ko-KR" altLang="en-US" dirty="0"/>
              <a:t>장기간 배웠던 것을 기억할 계획이 마련되어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정보를 충분히 접함으로써 오래 기억할 수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사실적 지식을 내게 필요한 절차적 지식으로 </a:t>
            </a:r>
            <a:r>
              <a:rPr lang="ko-KR" altLang="en-US" dirty="0" err="1"/>
              <a:t>바꿔나가고</a:t>
            </a:r>
            <a:r>
              <a:rPr lang="ko-KR" altLang="en-US" dirty="0"/>
              <a:t>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기술에 숙련된 뒤에도 중요한 부분들을 계속 공부하고 있는가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8) </a:t>
            </a:r>
            <a:r>
              <a:rPr lang="ko-KR" altLang="en-US" dirty="0"/>
              <a:t>직관</a:t>
            </a:r>
            <a:endParaRPr lang="en-US" altLang="ko-KR" dirty="0"/>
          </a:p>
          <a:p>
            <a:pPr lvl="2"/>
            <a:r>
              <a:rPr lang="ko-KR" altLang="en-US" dirty="0"/>
              <a:t>배운 것을 깊이 있게 이해하고 있는가</a:t>
            </a:r>
            <a:r>
              <a:rPr lang="en-US" altLang="ko-KR" dirty="0"/>
              <a:t>? </a:t>
            </a:r>
            <a:r>
              <a:rPr lang="ko-KR" altLang="en-US" dirty="0"/>
              <a:t>혹은 그저 암기만 하고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공부한 개념이나 절차를 타인에게 가르칠 수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내가 배운 것이 왜 참인지 아는가</a:t>
            </a:r>
            <a:r>
              <a:rPr lang="en-US" altLang="ko-KR" dirty="0"/>
              <a:t>? </a:t>
            </a:r>
            <a:r>
              <a:rPr lang="ko-KR" altLang="en-US" dirty="0"/>
              <a:t>혹은 모두 임의적이고 관련성 없어 보이는가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9) </a:t>
            </a:r>
            <a:r>
              <a:rPr lang="ko-KR" altLang="en-US" dirty="0"/>
              <a:t>실험</a:t>
            </a:r>
            <a:endParaRPr lang="en-US" altLang="ko-KR" dirty="0"/>
          </a:p>
          <a:p>
            <a:pPr lvl="2"/>
            <a:r>
              <a:rPr lang="ko-KR" altLang="en-US" dirty="0"/>
              <a:t>가지고 있는 자원이나 기술에 갇혀 있는가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목표를 달성하기 위해 새로운 방법들을 시도해야 하는가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기본적인 사항을 배우는 걸 넘어 문제를 해결하는 독자적인 양식을 만들고 타인이 탐색하지 못한 일을 하려면 어떻게 해야 하는가</a:t>
            </a:r>
            <a:r>
              <a:rPr lang="en-US" altLang="ko-KR" dirty="0"/>
              <a:t>?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4C3FA3-B31E-42B3-8367-75D625CC043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계획을 실행하라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6941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6DAEC3D-938F-4B08-9C2A-F6C3E5C5B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50334C-282B-4639-A406-7F9A4049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나의 첫 </a:t>
            </a:r>
            <a:r>
              <a:rPr lang="ko-KR" altLang="en-US" dirty="0" err="1"/>
              <a:t>울트라러닝</a:t>
            </a:r>
            <a:r>
              <a:rPr lang="ko-KR" altLang="en-US" dirty="0"/>
              <a:t> 프로젝트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CA373-A298-4C04-ACE4-8066440326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결과를 검토하라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5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배운 것을 유지할 것인가</a:t>
            </a:r>
            <a:r>
              <a:rPr lang="en-US" altLang="ko-KR" dirty="0"/>
              <a:t>, </a:t>
            </a:r>
            <a:r>
              <a:rPr lang="ko-KR" altLang="en-US" dirty="0"/>
              <a:t>완전히 익힐 것인가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3897B9E-E24F-46CB-A275-4CBBEBF4D7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결과를 검토하라</a:t>
            </a:r>
            <a:endParaRPr lang="en-US" altLang="ko-KR" dirty="0"/>
          </a:p>
          <a:p>
            <a:pPr lvl="1"/>
            <a:r>
              <a:rPr lang="ko-KR" altLang="en-US" dirty="0"/>
              <a:t>프로젝트 후 무엇이 잘되었는가</a:t>
            </a:r>
            <a:r>
              <a:rPr lang="en-US" altLang="ko-KR" dirty="0"/>
              <a:t>? </a:t>
            </a:r>
            <a:r>
              <a:rPr lang="ko-KR" altLang="en-US" dirty="0"/>
              <a:t>무엇이 잘못되었는가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같은 실수를 반복하지 않으려면 어떻게 해야 하는가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프로젝트의 문제를 살펴 보면 보통 의지</a:t>
            </a:r>
            <a:r>
              <a:rPr lang="en-US" altLang="ko-KR" dirty="0"/>
              <a:t>/</a:t>
            </a:r>
            <a:r>
              <a:rPr lang="ko-KR" altLang="en-US" dirty="0"/>
              <a:t>동기 보다도 구상의 문제가 많다</a:t>
            </a:r>
            <a:endParaRPr lang="en-US" altLang="ko-KR" dirty="0"/>
          </a:p>
          <a:p>
            <a:pPr lvl="1"/>
            <a:r>
              <a:rPr lang="ko-KR" altLang="en-US" dirty="0"/>
              <a:t>성공적인 프로젝트 또한 분석할 가치가 많다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5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배운 것을 유지할 것인가</a:t>
            </a:r>
            <a:r>
              <a:rPr lang="en-US" altLang="ko-KR" dirty="0"/>
              <a:t>, </a:t>
            </a:r>
            <a:r>
              <a:rPr lang="ko-KR" altLang="en-US" dirty="0"/>
              <a:t>완전히 익힐 것인가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유지</a:t>
            </a:r>
            <a:endParaRPr lang="en-US" altLang="ko-KR" dirty="0"/>
          </a:p>
          <a:p>
            <a:pPr lvl="2"/>
            <a:r>
              <a:rPr lang="ko-KR" altLang="en-US" dirty="0"/>
              <a:t>새로운 발전보단 현상유지 목표로 함</a:t>
            </a:r>
            <a:endParaRPr lang="en-US" altLang="ko-KR" dirty="0"/>
          </a:p>
          <a:p>
            <a:pPr lvl="2"/>
            <a:r>
              <a:rPr lang="ko-KR" altLang="en-US" dirty="0"/>
              <a:t>최소한 규칙적으로 연습하는 습관</a:t>
            </a:r>
            <a:endParaRPr lang="en-US" altLang="ko-KR" dirty="0"/>
          </a:p>
          <a:p>
            <a:pPr lvl="2"/>
            <a:r>
              <a:rPr lang="ko-KR" altLang="en-US" dirty="0"/>
              <a:t>기술을 일상생활에 적용하여 유지하는 방법도 있음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 err="1"/>
              <a:t>재학습</a:t>
            </a:r>
            <a:endParaRPr lang="en-US" altLang="ko-KR" dirty="0"/>
          </a:p>
          <a:p>
            <a:pPr lvl="2"/>
            <a:r>
              <a:rPr lang="ko-KR" altLang="en-US" dirty="0"/>
              <a:t>재학습은 처음 배우는 것보다 훨씬 더 빠르게 접근 가능</a:t>
            </a:r>
            <a:endParaRPr lang="en-US" altLang="ko-KR" dirty="0"/>
          </a:p>
          <a:p>
            <a:pPr lvl="2"/>
            <a:r>
              <a:rPr lang="ko-KR" altLang="en-US" dirty="0"/>
              <a:t>일부 지식은 어디에 어떻게 써야 하는지 알고 있는 것 만으로 충분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숙련</a:t>
            </a:r>
            <a:endParaRPr lang="en-US" altLang="ko-KR" dirty="0"/>
          </a:p>
          <a:p>
            <a:pPr lvl="2"/>
            <a:r>
              <a:rPr lang="ko-KR" altLang="en-US" dirty="0"/>
              <a:t>조금 가벼운 속도로 연습을 계속 하거나 또 다른 울트라 러닝을 통해 할 수 있음</a:t>
            </a:r>
            <a:endParaRPr lang="en-US" altLang="ko-KR" dirty="0"/>
          </a:p>
          <a:p>
            <a:pPr lvl="2"/>
            <a:r>
              <a:rPr lang="ko-KR" altLang="en-US" dirty="0"/>
              <a:t>숙련은 하나의 프로젝트 밖으로 넘어서는 기나긴 여정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10DA5C-2143-4128-B797-86E680A37E6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결과를 검토하라 </a:t>
            </a:r>
          </a:p>
          <a:p>
            <a:r>
              <a:rPr lang="en-US" altLang="ko-KR" dirty="0"/>
              <a:t>5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배운 것을 유지할 것인가</a:t>
            </a:r>
            <a:r>
              <a:rPr lang="en-US" altLang="ko-KR" dirty="0"/>
              <a:t>, </a:t>
            </a:r>
            <a:r>
              <a:rPr lang="ko-KR" altLang="en-US" dirty="0"/>
              <a:t>완전히 익힐 것인가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4716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840589F-BF59-4096-82DB-DDC801B4B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7145008-AAFE-4FBE-925C-6432921E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E138B7-54EE-4907-B252-ABB3DE8FA3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600" u="sng" dirty="0"/>
              <a:t>____________________________________________________________________________________________________________________________________________________________________________________</a:t>
            </a:r>
            <a:endParaRPr lang="ko-KR" altLang="en-US" sz="16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CD3BC94-A293-49E8-BBBB-D46218D91D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600" u="sng" dirty="0"/>
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BAF25C-A871-4D03-9415-062BEE5ED1A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600" u="sng" dirty="0"/>
              <a:t>________________________________________________________________________________________________________________________________________________________________________________________________________________________________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12901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840589F-BF59-4096-82DB-DDC801B4B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7145008-AAFE-4FBE-925C-6432921E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E138B7-54EE-4907-B252-ABB3DE8FA3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600" u="sng" dirty="0"/>
              <a:t>____________________________________________________________________________________________________________________________________________________________________________________</a:t>
            </a:r>
            <a:endParaRPr lang="ko-KR" altLang="en-US" sz="16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CD3BC94-A293-49E8-BBBB-D46218D91D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600" u="sng" dirty="0"/>
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BAF25C-A871-4D03-9415-062BEE5ED1A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600" u="sng" dirty="0"/>
              <a:t>________________________________________________________________________________________________________________________________________________________________________________________________________________________________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31281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840589F-BF59-4096-82DB-DDC801B4B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7145008-AAFE-4FBE-925C-6432921E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E138B7-54EE-4907-B252-ABB3DE8FA3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600" u="sng" dirty="0"/>
              <a:t>____________________________________________________________________________________________________________________________________________________________________________________</a:t>
            </a:r>
            <a:endParaRPr lang="ko-KR" altLang="en-US" sz="16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CD3BC94-A293-49E8-BBBB-D46218D91D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600" u="sng" dirty="0"/>
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BAF25C-A871-4D03-9415-062BEE5ED1A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600" u="sng" dirty="0"/>
              <a:t>________________________________________________________________________________________________________________________________________________________________________________________________________________________________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4151225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3140</TotalTime>
  <Words>3812</Words>
  <Application>Microsoft Office PowerPoint</Application>
  <PresentationFormat>A4 용지(210x297mm)</PresentationFormat>
  <Paragraphs>498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Wingdings</vt:lpstr>
      <vt:lpstr>디자인 사용자 지정</vt:lpstr>
      <vt:lpstr>울트라 러닝</vt:lpstr>
      <vt:lpstr>메타학습</vt:lpstr>
      <vt:lpstr>집중하기</vt:lpstr>
      <vt:lpstr>직접하기</vt:lpstr>
      <vt:lpstr>특화 학습</vt:lpstr>
      <vt:lpstr>인출</vt:lpstr>
      <vt:lpstr>피드백</vt:lpstr>
      <vt:lpstr>유지</vt:lpstr>
      <vt:lpstr>직관</vt:lpstr>
      <vt:lpstr>실험</vt:lpstr>
      <vt:lpstr>나의 첫 울트라러닝 프로젝트</vt:lpstr>
      <vt:lpstr>나의 첫 울트라러닝 프로젝트</vt:lpstr>
      <vt:lpstr>나의 첫 울트라러닝 프로젝트</vt:lpstr>
      <vt:lpstr>MEMO</vt:lpstr>
      <vt:lpstr>MEMO</vt:lpstr>
      <vt:lpstr>MEMO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Dong ju No</cp:lastModifiedBy>
  <cp:revision>52</cp:revision>
  <dcterms:created xsi:type="dcterms:W3CDTF">2021-05-24T07:27:04Z</dcterms:created>
  <dcterms:modified xsi:type="dcterms:W3CDTF">2022-09-20T02:57:12Z</dcterms:modified>
</cp:coreProperties>
</file>