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5"/>
  </p:notesMasterIdLst>
  <p:sldIdLst>
    <p:sldId id="270" r:id="rId2"/>
    <p:sldId id="271" r:id="rId3"/>
    <p:sldId id="272" r:id="rId4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09" autoAdjust="0"/>
    <p:restoredTop sz="96234" autoAdjust="0"/>
  </p:normalViewPr>
  <p:slideViewPr>
    <p:cSldViewPr>
      <p:cViewPr varScale="1">
        <p:scale>
          <a:sx n="76" d="100"/>
          <a:sy n="76" d="100"/>
        </p:scale>
        <p:origin x="2419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75" d="100"/>
          <a:sy n="75" d="100"/>
        </p:scale>
        <p:origin x="2938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83B312-57A8-47C3-BA4B-2C813ABC4C9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BEB649-B1DB-48B2-96AD-31D5AB3F7FC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706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E9D012-466D-4393-B88A-B81ADB903C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1620838"/>
            <a:ext cx="5143500" cy="3449637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2293A83-36FC-4C7D-BDF4-1CC359894F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7250" y="5202238"/>
            <a:ext cx="5143500" cy="23923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1C4600-5751-48C6-AC23-B11FF48523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29CF582-2BBE-4520-9136-344340752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29244F-145C-4D20-83D4-E8FDC9859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3349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코넬식 노트 기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45A52A8-2805-42DC-9A4A-36BF99DF2F70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35C1085-EC86-4500-A95F-EC02D30EB5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43204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9B82232-86F7-46BF-B25E-C1E6ACEBBC6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560512"/>
            <a:ext cx="1296144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9D62C66A-A8F3-42B7-A09D-E7FA729E26C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560512"/>
            <a:ext cx="5400599" cy="756084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>
                <a:solidFill>
                  <a:srgbClr val="0070C0"/>
                </a:solidFill>
              </a:defRPr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A46D795C-2771-4725-82A8-B114B1B4190A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14" name="날짜 개체 틀 4">
            <a:extLst>
              <a:ext uri="{FF2B5EF4-FFF2-40B4-BE49-F238E27FC236}">
                <a16:creationId xmlns:a16="http://schemas.microsoft.com/office/drawing/2014/main" id="{91ABAAB3-A3F0-4DFF-BF41-441F35F9C4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 dirty="0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E1FB95C-C14A-4C28-A50A-344976658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4493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텍스트 개체 틀 4">
            <a:extLst>
              <a:ext uri="{FF2B5EF4-FFF2-40B4-BE49-F238E27FC236}">
                <a16:creationId xmlns:a16="http://schemas.microsoft.com/office/drawing/2014/main" id="{5FBEC3BA-1878-4EC1-9EE4-BB3AA272808E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437113" y="56456"/>
            <a:ext cx="2376264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dirty="0"/>
              <a:t>##</a:t>
            </a:r>
            <a:r>
              <a:rPr lang="ko-KR" altLang="en-US" dirty="0"/>
              <a:t>학과 </a:t>
            </a:r>
            <a:r>
              <a:rPr lang="en-US" altLang="ko-KR" dirty="0"/>
              <a:t>#</a:t>
            </a:r>
            <a:r>
              <a:rPr lang="ko-KR" altLang="en-US" dirty="0"/>
              <a:t>학년 </a:t>
            </a:r>
            <a:r>
              <a:rPr lang="en-US" altLang="ko-KR" dirty="0"/>
              <a:t>#</a:t>
            </a:r>
            <a:r>
              <a:rPr lang="ko-KR" altLang="en-US" dirty="0"/>
              <a:t>학기 </a:t>
            </a:r>
            <a:r>
              <a:rPr lang="en-US" altLang="ko-KR" dirty="0"/>
              <a:t>#</a:t>
            </a:r>
            <a:r>
              <a:rPr lang="ko-KR" altLang="en-US" dirty="0"/>
              <a:t>주차 </a:t>
            </a:r>
          </a:p>
        </p:txBody>
      </p:sp>
      <p:sp>
        <p:nvSpPr>
          <p:cNvPr id="26" name="제목 1">
            <a:extLst>
              <a:ext uri="{FF2B5EF4-FFF2-40B4-BE49-F238E27FC236}">
                <a16:creationId xmlns:a16="http://schemas.microsoft.com/office/drawing/2014/main" id="{740C1CF8-2810-4B8B-9E67-840108284B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625" y="56456"/>
            <a:ext cx="4320480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>
              <a:defRPr sz="1500" b="0"/>
            </a:lvl1pPr>
          </a:lstStyle>
          <a:p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C944F807-3964-4082-822B-5E53CDCD8B3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4624" y="344488"/>
            <a:ext cx="1296144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주요생각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주요포인트를 연결하는 질문들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그림</a:t>
            </a:r>
            <a:r>
              <a:rPr lang="en-US" altLang="ko-KR" dirty="0"/>
              <a:t>(</a:t>
            </a:r>
            <a:r>
              <a:rPr lang="ko-KR" altLang="en-US" dirty="0"/>
              <a:t>도식</a:t>
            </a:r>
            <a:r>
              <a:rPr lang="en-US" altLang="ko-KR" dirty="0"/>
              <a:t>)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 err="1"/>
              <a:t>학습시</a:t>
            </a:r>
            <a:r>
              <a:rPr lang="ko-KR" altLang="en-US" dirty="0"/>
              <a:t> 주요사항을</a:t>
            </a:r>
            <a:br>
              <a:rPr lang="en-US" altLang="ko-KR" dirty="0"/>
            </a:br>
            <a:r>
              <a:rPr lang="ko-KR" altLang="en-US" dirty="0"/>
              <a:t>연상케 해주는 힌트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28" name="내용 개체 틀 3">
            <a:extLst>
              <a:ext uri="{FF2B5EF4-FFF2-40B4-BE49-F238E27FC236}">
                <a16:creationId xmlns:a16="http://schemas.microsoft.com/office/drawing/2014/main" id="{41D3E48A-F8B6-48E4-8BCD-B5A863191DE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412776" y="344488"/>
            <a:ext cx="5400599" cy="3672408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ko-KR" altLang="en-US" dirty="0"/>
              <a:t>수업 내용을 기록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필기 시 지켜야 할 사항들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/>
              <a:t>간결한 문장</a:t>
            </a:r>
            <a:br>
              <a:rPr lang="en-US" altLang="ko-KR" dirty="0"/>
            </a:br>
            <a:r>
              <a:rPr lang="ko-KR" altLang="en-US" dirty="0"/>
              <a:t>간단한 기호</a:t>
            </a:r>
            <a:br>
              <a:rPr lang="en-US" altLang="ko-KR" dirty="0"/>
            </a:br>
            <a:r>
              <a:rPr lang="ko-KR" altLang="en-US" dirty="0"/>
              <a:t>약자</a:t>
            </a:r>
            <a:br>
              <a:rPr lang="en-US" altLang="ko-KR" dirty="0"/>
            </a:br>
            <a:r>
              <a:rPr lang="ko-KR" altLang="en-US" dirty="0"/>
              <a:t>목차</a:t>
            </a:r>
            <a:br>
              <a:rPr lang="en-US" altLang="ko-KR" dirty="0"/>
            </a:br>
            <a:r>
              <a:rPr lang="ko-KR" altLang="en-US" dirty="0"/>
              <a:t>주요 포인트 사이에 충분한 공간</a:t>
            </a:r>
            <a:br>
              <a:rPr lang="en-US" altLang="ko-KR" dirty="0"/>
            </a:br>
            <a:r>
              <a:rPr lang="ko-KR" altLang="en-US" dirty="0"/>
              <a:t>최소한의 내용</a:t>
            </a:r>
            <a:r>
              <a:rPr lang="en-US" altLang="ko-KR" dirty="0"/>
              <a:t>, </a:t>
            </a:r>
            <a:r>
              <a:rPr lang="ko-KR" altLang="en-US" dirty="0"/>
              <a:t>핵심만을 담으려 노력할 것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 </a:t>
            </a:r>
            <a:r>
              <a:rPr lang="ko-KR" altLang="en-US" dirty="0"/>
              <a:t>수업 중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29" name="내용 개체 틀 2">
            <a:extLst>
              <a:ext uri="{FF2B5EF4-FFF2-40B4-BE49-F238E27FC236}">
                <a16:creationId xmlns:a16="http://schemas.microsoft.com/office/drawing/2014/main" id="{3BFED26C-166F-4DBC-8358-65449225F96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44624" y="8193360"/>
            <a:ext cx="6768752" cy="165618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1000"/>
            </a:lvl1pPr>
            <a:lvl2pPr marL="446088" indent="-228600">
              <a:lnSpc>
                <a:spcPct val="100000"/>
              </a:lnSpc>
              <a:buFont typeface="맑은 고딕" panose="020B0503020000020004" pitchFamily="50" charset="-127"/>
              <a:buChar char="ￚ"/>
              <a:defRPr sz="1000"/>
            </a:lvl2pPr>
            <a:lvl3pPr marL="620713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가장 중요한 생각을 </a:t>
            </a:r>
            <a:r>
              <a:rPr lang="en-US" altLang="ko-KR" dirty="0"/>
              <a:t>1~2</a:t>
            </a:r>
            <a:r>
              <a:rPr lang="ko-KR" altLang="en-US" dirty="0"/>
              <a:t>문장으로 요약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시험 공부 시 빠르게 참고할 수 있게 작성 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0" name="날짜 개체 틀 4">
            <a:extLst>
              <a:ext uri="{FF2B5EF4-FFF2-40B4-BE49-F238E27FC236}">
                <a16:creationId xmlns:a16="http://schemas.microsoft.com/office/drawing/2014/main" id="{8098F897-D130-4A85-926C-912EAB1A4C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73216" y="9557890"/>
            <a:ext cx="1440160" cy="288032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 dirty="0"/>
          </a:p>
        </p:txBody>
      </p:sp>
      <p:sp>
        <p:nvSpPr>
          <p:cNvPr id="31" name="슬라이드 번호 개체 틀 6">
            <a:extLst>
              <a:ext uri="{FF2B5EF4-FFF2-40B4-BE49-F238E27FC236}">
                <a16:creationId xmlns:a16="http://schemas.microsoft.com/office/drawing/2014/main" id="{871FA819-0CC0-477C-BA85-646032956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73216" y="9557890"/>
            <a:ext cx="1440160" cy="291654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 dirty="0"/>
          </a:p>
        </p:txBody>
      </p:sp>
      <p:sp>
        <p:nvSpPr>
          <p:cNvPr id="32" name="내용 개체 틀 2">
            <a:extLst>
              <a:ext uri="{FF2B5EF4-FFF2-40B4-BE49-F238E27FC236}">
                <a16:creationId xmlns:a16="http://schemas.microsoft.com/office/drawing/2014/main" id="{415A8630-4555-49FF-95EA-19025017722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4624" y="4376936"/>
            <a:ext cx="1296144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Clr>
                <a:srgbClr val="00B050"/>
              </a:buClr>
              <a:buFont typeface="Wingdings" panose="05000000000000000000" pitchFamily="2" charset="2"/>
              <a:buChar char="ü"/>
              <a:defRPr sz="1050"/>
            </a:lvl1pPr>
            <a:lvl2pPr marL="363538" indent="-146050">
              <a:lnSpc>
                <a:spcPct val="100000"/>
              </a:lnSpc>
              <a:buFont typeface="맑은 고딕" panose="020B0503020000020004" pitchFamily="50" charset="-127"/>
              <a:buChar char="ￚ"/>
              <a:defRPr sz="1050"/>
            </a:lvl2pPr>
            <a:lvl3pPr marL="539750" indent="-228600">
              <a:lnSpc>
                <a:spcPct val="100000"/>
              </a:lnSpc>
              <a:buFont typeface="맑은 고딕" panose="020B0503020000020004" pitchFamily="50" charset="-127"/>
              <a:buChar char="→"/>
              <a:defRPr sz="105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작성시기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ko-KR" altLang="en-US" dirty="0" err="1"/>
              <a:t>수업후</a:t>
            </a:r>
            <a:r>
              <a:rPr lang="ko-KR" altLang="en-US" dirty="0"/>
              <a:t> 복습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</p:txBody>
      </p:sp>
      <p:sp>
        <p:nvSpPr>
          <p:cNvPr id="33" name="내용 개체 틀 3">
            <a:extLst>
              <a:ext uri="{FF2B5EF4-FFF2-40B4-BE49-F238E27FC236}">
                <a16:creationId xmlns:a16="http://schemas.microsoft.com/office/drawing/2014/main" id="{401078D4-13E2-4A15-A24E-D6ED5A3416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412776" y="4376936"/>
            <a:ext cx="5400599" cy="374441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176213" indent="-176213">
              <a:lnSpc>
                <a:spcPct val="100000"/>
              </a:lnSpc>
              <a:buFont typeface="맑은 고딕" panose="020B0503020000020004" pitchFamily="50" charset="-127"/>
              <a:buChar char="#"/>
              <a:defRPr sz="1050"/>
            </a:lvl1pPr>
            <a:lvl2pPr marL="363538" indent="-187325">
              <a:lnSpc>
                <a:spcPct val="100000"/>
              </a:lnSpc>
              <a:buFont typeface="맑은 고딕" panose="020B0503020000020004" pitchFamily="50" charset="-127"/>
              <a:buChar char="ￚ"/>
              <a:tabLst/>
              <a:defRPr sz="1000"/>
            </a:lvl2pPr>
            <a:lvl3pPr marL="539750" indent="-147638">
              <a:lnSpc>
                <a:spcPct val="100000"/>
              </a:lnSpc>
              <a:buFont typeface="맑은 고딕" panose="020B0503020000020004" pitchFamily="50" charset="-127"/>
              <a:buChar char="→"/>
              <a:defRPr sz="1000"/>
            </a:lvl3pPr>
            <a:lvl4pPr marL="714375" indent="-174625">
              <a:lnSpc>
                <a:spcPct val="100000"/>
              </a:lnSpc>
              <a:defRPr sz="900"/>
            </a:lvl4pPr>
            <a:lvl5pPr marL="903288" indent="-188913">
              <a:lnSpc>
                <a:spcPct val="100000"/>
              </a:lnSpc>
              <a:tabLst>
                <a:tab pos="1077913" algn="l"/>
              </a:tabLst>
              <a:defRPr sz="900"/>
            </a:lvl5pPr>
          </a:lstStyle>
          <a:p>
            <a:pPr lvl="0"/>
            <a:r>
              <a:rPr lang="en-US" altLang="ko-KR" dirty="0"/>
              <a:t>** </a:t>
            </a:r>
            <a:r>
              <a:rPr lang="ko-KR" altLang="en-US" dirty="0"/>
              <a:t>공부 순서 </a:t>
            </a:r>
            <a:r>
              <a:rPr lang="en-US" altLang="ko-KR" dirty="0"/>
              <a:t>:</a:t>
            </a:r>
            <a:br>
              <a:rPr lang="en-US" altLang="ko-KR" dirty="0"/>
            </a:br>
            <a:r>
              <a:rPr lang="en-US" altLang="ko-KR" dirty="0"/>
              <a:t>1. </a:t>
            </a:r>
            <a:r>
              <a:rPr lang="ko-KR" altLang="en-US" dirty="0"/>
              <a:t>강의 수강 및 수업내용 받아 적기</a:t>
            </a:r>
            <a:br>
              <a:rPr lang="en-US" altLang="ko-KR" dirty="0"/>
            </a:br>
            <a:r>
              <a:rPr lang="en-US" altLang="ko-KR" dirty="0"/>
              <a:t>2. </a:t>
            </a:r>
            <a:r>
              <a:rPr lang="ko-KR" altLang="en-US" dirty="0"/>
              <a:t>강의 내용 </a:t>
            </a:r>
            <a:r>
              <a:rPr lang="en-US" altLang="ko-KR" dirty="0"/>
              <a:t>&amp; </a:t>
            </a:r>
            <a:r>
              <a:rPr lang="ko-KR" altLang="en-US" dirty="0"/>
              <a:t>받아 적은 내용 기반으로 노트 필기</a:t>
            </a:r>
            <a:br>
              <a:rPr lang="en-US" altLang="ko-KR" dirty="0"/>
            </a:br>
            <a:r>
              <a:rPr lang="en-US" altLang="ko-KR" dirty="0"/>
              <a:t>3. </a:t>
            </a:r>
            <a:r>
              <a:rPr lang="ko-KR" altLang="en-US" dirty="0"/>
              <a:t>내용 설명하기 </a:t>
            </a:r>
            <a:r>
              <a:rPr lang="en-US" altLang="ko-KR" dirty="0"/>
              <a:t>&amp; </a:t>
            </a:r>
            <a:r>
              <a:rPr lang="ko-KR" altLang="en-US" dirty="0"/>
              <a:t>완전히 설명</a:t>
            </a:r>
            <a:r>
              <a:rPr lang="en-US" altLang="ko-KR" dirty="0"/>
              <a:t>, </a:t>
            </a:r>
            <a:r>
              <a:rPr lang="ko-KR" altLang="en-US" dirty="0"/>
              <a:t>이해할 때 까지 </a:t>
            </a:r>
            <a:r>
              <a:rPr lang="en-US" altLang="ko-KR" dirty="0"/>
              <a:t>1~3 </a:t>
            </a:r>
            <a:r>
              <a:rPr lang="ko-KR" altLang="en-US" dirty="0"/>
              <a:t>반복</a:t>
            </a:r>
            <a:br>
              <a:rPr lang="en-US" altLang="ko-KR" dirty="0"/>
            </a:br>
            <a:r>
              <a:rPr lang="en-US" altLang="ko-KR" dirty="0"/>
              <a:t>4. </a:t>
            </a:r>
            <a:r>
              <a:rPr lang="ko-KR" altLang="en-US" dirty="0"/>
              <a:t>교과서</a:t>
            </a:r>
            <a:r>
              <a:rPr lang="en-US" altLang="ko-KR" dirty="0"/>
              <a:t>/</a:t>
            </a:r>
            <a:r>
              <a:rPr lang="ko-KR" altLang="en-US" dirty="0"/>
              <a:t>참고서로 내용 심화 이해 및 문제 풀어 보기</a:t>
            </a:r>
            <a:br>
              <a:rPr lang="en-US" altLang="ko-KR" dirty="0"/>
            </a:br>
            <a:r>
              <a:rPr lang="en-US" altLang="ko-KR" dirty="0"/>
              <a:t>5. </a:t>
            </a:r>
            <a:r>
              <a:rPr lang="ko-KR" altLang="en-US" dirty="0"/>
              <a:t>기출분석 및 예상 적중 문제 </a:t>
            </a:r>
            <a:r>
              <a:rPr lang="ko-KR" altLang="en-US" dirty="0" err="1"/>
              <a:t>풀어보기</a:t>
            </a:r>
            <a:r>
              <a:rPr lang="en-US" altLang="ko-KR" dirty="0"/>
              <a:t>/</a:t>
            </a:r>
            <a:r>
              <a:rPr lang="ko-KR" altLang="en-US" dirty="0"/>
              <a:t>만들기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34" name="텍스트 개체 틀 4">
            <a:extLst>
              <a:ext uri="{FF2B5EF4-FFF2-40B4-BE49-F238E27FC236}">
                <a16:creationId xmlns:a16="http://schemas.microsoft.com/office/drawing/2014/main" id="{36C1BE20-27A2-4680-B99C-77FF72519C8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624" y="4088904"/>
            <a:ext cx="6768753" cy="2160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anchor="ctr">
            <a:normAutofit/>
          </a:bodyPr>
          <a:lstStyle>
            <a:lvl1pPr marL="0" indent="0">
              <a:buNone/>
              <a:defRPr sz="1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과목명 </a:t>
            </a:r>
            <a:r>
              <a:rPr lang="en-US" altLang="ko-KR" dirty="0"/>
              <a:t>[</a:t>
            </a:r>
            <a:r>
              <a:rPr lang="ko-KR" altLang="en-US" dirty="0"/>
              <a:t>단원 이름</a:t>
            </a:r>
            <a:r>
              <a:rPr lang="en-US" altLang="ko-KR" dirty="0"/>
              <a:t>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00351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4F1CE3-26B0-4207-BAD4-1041574E9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70150"/>
            <a:ext cx="5915025" cy="411956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B15FBA2-4936-4706-95C3-FAFA6A7E4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313" y="6629400"/>
            <a:ext cx="5915025" cy="216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2C8C197-B0BD-436B-9980-EE59CBD7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14C08F-0304-4F96-B877-0B06C4B7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B8234A-EDA6-43E8-AE6C-3CF677CAE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382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496F35-AC99-4BF8-A397-0C1E1B4F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429E579-ECC7-4C64-9EB8-D640165D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058974-E397-415A-A6C5-25F209F6C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5EC53FD-3472-4366-8E73-7C38B1AD9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7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0833BB0-4D29-49DC-A1FE-7E66598F34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9A96632-B0B8-401E-AC60-AEF384086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3B7D2F-5D24-4FF6-9CD1-85539759F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46773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D97DC2-9736-4DB8-86D5-0677DFF9E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B6482-CF33-47BC-832B-7D18B209E8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0720F2-9210-4195-98B9-0E2CBCAAB5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E417417-E261-4ECB-8D35-6E5916469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45D919-E2FD-413A-8928-E0C39853F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27E8C6-6C26-4B84-BB1D-470191126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7188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FE4CC0-196A-4FF3-BA7A-2A838BC7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075" y="660400"/>
            <a:ext cx="2211388" cy="23114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7334584-9C2E-4FB4-B223-147590AA64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916238" y="1425575"/>
            <a:ext cx="3471862" cy="7040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663A644-9209-46E1-8503-E03E899FB8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3075" y="2971800"/>
            <a:ext cx="2211388" cy="5505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5D5566-58C8-4D6E-950D-81773B0518C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A681FE-25FC-424A-A5C2-B8558CD8F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BD9E155-E9CA-4BDD-ADAC-D743596ED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3554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A24B4C-8380-4ECE-A3C6-32F342492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5AE434-937A-4C07-B3EA-1C1EAB35C2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829F06-0D5F-4146-B5FF-E0AAFF1AA1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D5C82C-F88C-4F7F-91C3-F46031C3C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503FCB-B458-4F60-AF20-667E8325E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667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97FC31D-270D-481C-B55E-E09DB06FD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4908550" y="527050"/>
            <a:ext cx="1477963" cy="8394700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FEBD54-0F8B-435E-A784-7973F6276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71488" y="527050"/>
            <a:ext cx="4284662" cy="83947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D8C272-27C0-467E-8B2F-8060E69DCD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E99F6D-897D-4DD0-BAAA-382522428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CE28EA-6ACB-498F-A385-71929DA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/>
          <a:lstStyle/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3630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7BE23EC-F7A8-48CF-830D-AA10C5692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D4A2647-8522-4C16-9847-3E5362ED8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5E217D-506C-41EC-8074-70FE9F358A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1A75F8-F7CF-491B-B1E4-FC201F6C4E25}" type="datetimeFigureOut">
              <a:rPr lang="ko-KR" altLang="en-US" smtClean="0"/>
              <a:t>2024-09-09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512B2E-566A-4965-92DB-6F8EB3F9D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5EB1A7-DDFB-4F87-8544-6EA579152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42FEC1-B77B-495D-8A20-27D6315DE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666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7" r:id="rId2"/>
    <p:sldLayoutId id="2147483674" r:id="rId3"/>
    <p:sldLayoutId id="2147483675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118FA0A-5602-09BE-2AFB-F603067DAF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ED92408-8BFA-A580-402A-A2418DB62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 3-1 </a:t>
            </a:r>
            <a:r>
              <a:rPr lang="ko-KR" altLang="en-US" dirty="0" err="1"/>
              <a:t>울트라러닝</a:t>
            </a:r>
            <a:r>
              <a:rPr lang="ko-KR" altLang="en-US" dirty="0"/>
              <a:t> 프로젝트 계획서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057D5E-3A7F-3DBE-89E9-C18A1FF581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59A7F04A-59B4-7351-13FD-089BE2456F0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자신에게 필요한 조사를 하라</a:t>
            </a:r>
          </a:p>
          <a:p>
            <a:pPr lvl="1"/>
            <a:r>
              <a:rPr lang="ko-KR" altLang="en-US" dirty="0"/>
              <a:t>어떤 주제를 공부할지 대략적인 범위를 정하라</a:t>
            </a:r>
          </a:p>
          <a:p>
            <a:pPr lvl="1"/>
            <a:r>
              <a:rPr lang="ko-KR" altLang="en-US" dirty="0"/>
              <a:t>사용하게 될 주요 자원들을 결정하라</a:t>
            </a:r>
          </a:p>
          <a:p>
            <a:pPr lvl="1"/>
            <a:r>
              <a:rPr lang="ko-KR" altLang="en-US" dirty="0"/>
              <a:t>벤치마킹할 다른 사람들의 방법을 찾아라</a:t>
            </a:r>
          </a:p>
          <a:p>
            <a:endParaRPr lang="ko-KR" altLang="en-US" dirty="0"/>
          </a:p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일정을 조율하라</a:t>
            </a:r>
          </a:p>
          <a:p>
            <a:pPr lvl="1"/>
            <a:r>
              <a:rPr lang="en-US" altLang="ko-KR" dirty="0"/>
              <a:t>1~8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전반기</a:t>
            </a:r>
          </a:p>
          <a:p>
            <a:pPr lvl="2"/>
            <a:r>
              <a:rPr lang="en-US" altLang="ko-KR" dirty="0"/>
              <a:t>1~4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적응기간</a:t>
            </a:r>
          </a:p>
          <a:p>
            <a:pPr lvl="2"/>
            <a:r>
              <a:rPr lang="en-US" altLang="ko-KR" dirty="0"/>
              <a:t>5~8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중간고사 대비기간</a:t>
            </a:r>
          </a:p>
          <a:p>
            <a:pPr lvl="1"/>
            <a:r>
              <a:rPr lang="en-US" altLang="ko-KR" dirty="0"/>
              <a:t>9~16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후반기</a:t>
            </a:r>
          </a:p>
          <a:p>
            <a:pPr lvl="2"/>
            <a:r>
              <a:rPr lang="en-US" altLang="ko-KR" dirty="0"/>
              <a:t>9~12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기말과제 및 보고서 준비기간</a:t>
            </a:r>
          </a:p>
          <a:p>
            <a:pPr lvl="2"/>
            <a:r>
              <a:rPr lang="en-US" altLang="ko-KR" dirty="0"/>
              <a:t>13~16</a:t>
            </a:r>
            <a:r>
              <a:rPr lang="ko-KR" altLang="en-US" dirty="0"/>
              <a:t>주차</a:t>
            </a:r>
            <a:r>
              <a:rPr lang="en-US" altLang="ko-KR" dirty="0"/>
              <a:t>: </a:t>
            </a:r>
            <a:r>
              <a:rPr lang="ko-KR" altLang="en-US" dirty="0"/>
              <a:t>기말고사 대비기간</a:t>
            </a:r>
          </a:p>
          <a:p>
            <a:endParaRPr lang="ko-KR" altLang="en-US" dirty="0"/>
          </a:p>
          <a:p>
            <a:r>
              <a:rPr lang="en-US" altLang="ko-KR" dirty="0"/>
              <a:t>3</a:t>
            </a:r>
            <a:r>
              <a:rPr lang="ko-KR" altLang="en-US" dirty="0"/>
              <a:t>단계는 주간 </a:t>
            </a:r>
            <a:r>
              <a:rPr lang="ko-KR" altLang="en-US" dirty="0" err="1"/>
              <a:t>울트라러닝</a:t>
            </a:r>
            <a:r>
              <a:rPr lang="ko-KR" altLang="en-US" dirty="0"/>
              <a:t> 평가서에서</a:t>
            </a:r>
          </a:p>
          <a:p>
            <a:r>
              <a:rPr lang="en-US" altLang="ko-KR" dirty="0"/>
              <a:t>4</a:t>
            </a:r>
            <a:r>
              <a:rPr lang="ko-KR" altLang="en-US" dirty="0"/>
              <a:t>단계는 </a:t>
            </a:r>
            <a:r>
              <a:rPr lang="ko-KR" altLang="en-US" dirty="0" err="1"/>
              <a:t>울트라러닝</a:t>
            </a:r>
            <a:r>
              <a:rPr lang="ko-KR" altLang="en-US" dirty="0"/>
              <a:t> 결과보고서에서</a:t>
            </a:r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3EF6EC-6E3E-C8F3-28CD-F1E5140F0529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794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CDF7804-6070-C678-9AA6-59AC138B77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864DB67-5E70-E131-9946-4F796DEC8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자신에게 필요한 조사를 하라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2A8A8B-EA5F-11C3-580F-3832038BAF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CB4480C-AAB3-E5AA-C9B2-89A1D6DD42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어떤 주제를 공부할지 대략적인 범위를 정하라</a:t>
            </a:r>
          </a:p>
          <a:p>
            <a:pPr lvl="1"/>
            <a:r>
              <a:rPr lang="ko-KR" altLang="en-US" dirty="0"/>
              <a:t>글로벌경제론</a:t>
            </a:r>
            <a:r>
              <a:rPr lang="en-US" altLang="ko-KR" dirty="0"/>
              <a:t>, </a:t>
            </a:r>
            <a:r>
              <a:rPr lang="ko-KR" altLang="en-US" dirty="0"/>
              <a:t>사회보장론</a:t>
            </a:r>
            <a:r>
              <a:rPr lang="en-US" altLang="ko-KR" dirty="0"/>
              <a:t>, </a:t>
            </a:r>
            <a:r>
              <a:rPr lang="ko-KR" altLang="en-US" dirty="0"/>
              <a:t>컴퓨팅사고와 데이터분석 기초</a:t>
            </a:r>
            <a:r>
              <a:rPr lang="en-US" altLang="ko-KR" dirty="0"/>
              <a:t>, </a:t>
            </a:r>
            <a:r>
              <a:rPr lang="ko-KR" altLang="en-US" dirty="0"/>
              <a:t>프로그램언어</a:t>
            </a:r>
            <a:r>
              <a:rPr lang="en-US" altLang="ko-KR" dirty="0"/>
              <a:t>, </a:t>
            </a:r>
            <a:r>
              <a:rPr lang="ko-KR" altLang="en-US" dirty="0"/>
              <a:t>컴퓨터 네트워크</a:t>
            </a:r>
            <a:r>
              <a:rPr lang="en-US" altLang="ko-KR" dirty="0"/>
              <a:t>, </a:t>
            </a:r>
            <a:r>
              <a:rPr lang="ko-KR" altLang="en-US" dirty="0"/>
              <a:t>데이터베이스 총 </a:t>
            </a:r>
            <a:r>
              <a:rPr lang="en-US" altLang="ko-KR" dirty="0"/>
              <a:t>6</a:t>
            </a:r>
            <a:r>
              <a:rPr lang="ko-KR" altLang="en-US" dirty="0"/>
              <a:t>과목에서 평점 </a:t>
            </a:r>
            <a:r>
              <a:rPr lang="en-US" altLang="ko-KR" dirty="0"/>
              <a:t>4.25 </a:t>
            </a:r>
            <a:r>
              <a:rPr lang="ko-KR" altLang="en-US" dirty="0"/>
              <a:t>이상</a:t>
            </a:r>
          </a:p>
          <a:p>
            <a:pPr lvl="2"/>
            <a:r>
              <a:rPr lang="ko-KR" altLang="en-US" dirty="0"/>
              <a:t>글로벌 경제론</a:t>
            </a:r>
          </a:p>
          <a:p>
            <a:pPr lvl="3"/>
            <a:r>
              <a:rPr lang="ko-KR" altLang="en-US" dirty="0"/>
              <a:t>강의교재 </a:t>
            </a:r>
            <a:r>
              <a:rPr lang="en-US" altLang="ko-KR" dirty="0"/>
              <a:t>= </a:t>
            </a:r>
            <a:r>
              <a:rPr lang="ko-KR" altLang="en-US" dirty="0"/>
              <a:t>복지국가와 경제이론</a:t>
            </a:r>
            <a:endParaRPr lang="en-US" altLang="ko-KR" dirty="0"/>
          </a:p>
          <a:p>
            <a:r>
              <a:rPr lang="ko-KR" altLang="en-US" dirty="0"/>
              <a:t>사용하게 될 주요 자원들을 결정하라</a:t>
            </a:r>
            <a:endParaRPr lang="en-US" altLang="ko-KR" dirty="0"/>
          </a:p>
          <a:p>
            <a:pPr lvl="1"/>
            <a:r>
              <a:rPr lang="ko-KR" altLang="en-US" dirty="0"/>
              <a:t>글로벌경제론 </a:t>
            </a:r>
            <a:r>
              <a:rPr lang="en-US" altLang="ko-KR" dirty="0"/>
              <a:t>– </a:t>
            </a:r>
            <a:r>
              <a:rPr lang="ko-KR" altLang="en-US" dirty="0"/>
              <a:t>강의</a:t>
            </a:r>
            <a:r>
              <a:rPr lang="en-US" altLang="ko-KR" dirty="0"/>
              <a:t>, ppt, </a:t>
            </a:r>
            <a:r>
              <a:rPr lang="ko-KR" altLang="en-US" dirty="0"/>
              <a:t>참고교재</a:t>
            </a:r>
            <a:r>
              <a:rPr lang="en-US" altLang="ko-KR" dirty="0"/>
              <a:t>, </a:t>
            </a:r>
            <a:r>
              <a:rPr lang="ko-KR" altLang="en-US" dirty="0"/>
              <a:t>족보</a:t>
            </a:r>
            <a:r>
              <a:rPr lang="en-US" altLang="ko-KR" dirty="0"/>
              <a:t>, </a:t>
            </a:r>
            <a:r>
              <a:rPr lang="ko-KR" altLang="en-US" dirty="0"/>
              <a:t>질문</a:t>
            </a:r>
            <a:endParaRPr lang="en-US" altLang="ko-KR" dirty="0"/>
          </a:p>
          <a:p>
            <a:pPr lvl="1"/>
            <a:r>
              <a:rPr lang="ko-KR" altLang="en-US" dirty="0"/>
              <a:t>사회보장론 </a:t>
            </a:r>
            <a:r>
              <a:rPr lang="en-US" altLang="ko-KR" dirty="0"/>
              <a:t>– </a:t>
            </a:r>
            <a:r>
              <a:rPr lang="ko-KR" altLang="en-US" dirty="0"/>
              <a:t>강의</a:t>
            </a:r>
            <a:r>
              <a:rPr lang="en-US" altLang="ko-KR" dirty="0"/>
              <a:t>, ppt, </a:t>
            </a:r>
            <a:r>
              <a:rPr lang="ko-KR" altLang="en-US" dirty="0"/>
              <a:t>참고교재</a:t>
            </a:r>
            <a:r>
              <a:rPr lang="en-US" altLang="ko-KR" dirty="0"/>
              <a:t>, </a:t>
            </a:r>
            <a:r>
              <a:rPr lang="ko-KR" altLang="en-US" dirty="0"/>
              <a:t>족보</a:t>
            </a:r>
            <a:r>
              <a:rPr lang="en-US" altLang="ko-KR" dirty="0"/>
              <a:t>, </a:t>
            </a:r>
            <a:r>
              <a:rPr lang="ko-KR" altLang="en-US" dirty="0"/>
              <a:t>질문</a:t>
            </a:r>
            <a:endParaRPr lang="en-US" altLang="ko-KR" dirty="0"/>
          </a:p>
          <a:p>
            <a:pPr lvl="1"/>
            <a:r>
              <a:rPr lang="ko-KR" altLang="en-US" dirty="0"/>
              <a:t>컴퓨팅사고와 데이터분석 기초 </a:t>
            </a:r>
            <a:r>
              <a:rPr lang="en-US" altLang="ko-KR" dirty="0"/>
              <a:t>– </a:t>
            </a:r>
            <a:r>
              <a:rPr lang="ko-KR" altLang="en-US" dirty="0"/>
              <a:t>온라인 동영상</a:t>
            </a:r>
            <a:r>
              <a:rPr lang="en-US" altLang="ko-KR" dirty="0"/>
              <a:t>, </a:t>
            </a:r>
            <a:r>
              <a:rPr lang="ko-KR" altLang="en-US" dirty="0"/>
              <a:t>점프 투 파이썬</a:t>
            </a:r>
            <a:r>
              <a:rPr lang="en-US" altLang="ko-KR" dirty="0"/>
              <a:t>, </a:t>
            </a:r>
            <a:r>
              <a:rPr lang="ko-KR" altLang="en-US" dirty="0"/>
              <a:t>백준</a:t>
            </a:r>
            <a:endParaRPr lang="en-US" altLang="ko-KR" dirty="0"/>
          </a:p>
          <a:p>
            <a:pPr lvl="1"/>
            <a:r>
              <a:rPr lang="ko-KR" altLang="en-US" dirty="0"/>
              <a:t>프로그램언어 </a:t>
            </a:r>
            <a:r>
              <a:rPr lang="en-US" altLang="ko-KR" dirty="0"/>
              <a:t>– </a:t>
            </a:r>
            <a:r>
              <a:rPr lang="ko-KR" altLang="en-US" dirty="0"/>
              <a:t>강의</a:t>
            </a:r>
            <a:r>
              <a:rPr lang="en-US" altLang="ko-KR" dirty="0"/>
              <a:t>, </a:t>
            </a:r>
            <a:r>
              <a:rPr lang="ko-KR" altLang="en-US" dirty="0"/>
              <a:t>점프 투 파이썬</a:t>
            </a:r>
            <a:r>
              <a:rPr lang="en-US" altLang="ko-KR" dirty="0"/>
              <a:t>, </a:t>
            </a:r>
            <a:r>
              <a:rPr lang="ko-KR" altLang="en-US" dirty="0"/>
              <a:t>백준 문제풀이</a:t>
            </a:r>
            <a:r>
              <a:rPr lang="en-US" altLang="ko-KR" dirty="0"/>
              <a:t>, </a:t>
            </a:r>
            <a:r>
              <a:rPr lang="ko-KR" altLang="en-US" dirty="0"/>
              <a:t>족보</a:t>
            </a:r>
            <a:r>
              <a:rPr lang="en-US" altLang="ko-KR" dirty="0"/>
              <a:t>(?), </a:t>
            </a:r>
            <a:r>
              <a:rPr lang="ko-KR" altLang="en-US" dirty="0"/>
              <a:t>질문</a:t>
            </a:r>
            <a:endParaRPr lang="en-US" altLang="ko-KR" dirty="0"/>
          </a:p>
          <a:p>
            <a:pPr lvl="1"/>
            <a:r>
              <a:rPr lang="ko-KR" altLang="en-US" dirty="0"/>
              <a:t>컴퓨터네트워크 </a:t>
            </a:r>
            <a:r>
              <a:rPr lang="en-US" altLang="ko-KR" dirty="0"/>
              <a:t>– </a:t>
            </a:r>
            <a:r>
              <a:rPr lang="ko-KR" altLang="en-US" dirty="0"/>
              <a:t>강의</a:t>
            </a:r>
            <a:r>
              <a:rPr lang="en-US" altLang="ko-KR" dirty="0"/>
              <a:t>, ppt, </a:t>
            </a:r>
            <a:r>
              <a:rPr lang="ko-KR" altLang="en-US" dirty="0"/>
              <a:t>참고교재</a:t>
            </a:r>
            <a:r>
              <a:rPr lang="en-US" altLang="ko-KR" dirty="0"/>
              <a:t>, </a:t>
            </a:r>
            <a:r>
              <a:rPr lang="ko-KR" altLang="en-US" dirty="0"/>
              <a:t>족보</a:t>
            </a:r>
            <a:r>
              <a:rPr lang="en-US" altLang="ko-KR" dirty="0"/>
              <a:t>(?), </a:t>
            </a:r>
            <a:r>
              <a:rPr lang="ko-KR" altLang="en-US" dirty="0"/>
              <a:t>질문</a:t>
            </a:r>
            <a:endParaRPr lang="en-US" altLang="ko-KR" dirty="0"/>
          </a:p>
          <a:p>
            <a:pPr lvl="1"/>
            <a:r>
              <a:rPr lang="ko-KR" altLang="en-US" dirty="0"/>
              <a:t>데이터베이스 </a:t>
            </a:r>
            <a:r>
              <a:rPr lang="en-US" altLang="ko-KR" dirty="0"/>
              <a:t>– </a:t>
            </a:r>
            <a:r>
              <a:rPr lang="ko-KR" altLang="en-US" dirty="0"/>
              <a:t>강의</a:t>
            </a:r>
            <a:r>
              <a:rPr lang="en-US" altLang="ko-KR" dirty="0"/>
              <a:t>, ppt, </a:t>
            </a:r>
            <a:r>
              <a:rPr lang="ko-KR" altLang="en-US" dirty="0"/>
              <a:t>참고교재</a:t>
            </a:r>
            <a:r>
              <a:rPr lang="en-US" altLang="ko-KR" dirty="0"/>
              <a:t>, </a:t>
            </a:r>
            <a:r>
              <a:rPr lang="ko-KR" altLang="en-US" dirty="0"/>
              <a:t>족보</a:t>
            </a:r>
            <a:r>
              <a:rPr lang="en-US" altLang="ko-KR" dirty="0"/>
              <a:t>(?), </a:t>
            </a:r>
            <a:r>
              <a:rPr lang="ko-KR" altLang="en-US" dirty="0"/>
              <a:t>질문</a:t>
            </a:r>
          </a:p>
          <a:p>
            <a:r>
              <a:rPr lang="ko-KR" altLang="en-US" dirty="0"/>
              <a:t>벤치마킹할 다른 사람들의 방법을 찾아라</a:t>
            </a:r>
          </a:p>
          <a:p>
            <a:pPr lvl="1"/>
            <a:r>
              <a:rPr lang="ko-KR" altLang="en-US" dirty="0"/>
              <a:t>강의를 수강하고 복기</a:t>
            </a:r>
            <a:r>
              <a:rPr lang="en-US" altLang="ko-KR" dirty="0"/>
              <a:t>. </a:t>
            </a:r>
            <a:r>
              <a:rPr lang="ko-KR" altLang="en-US" dirty="0"/>
              <a:t>후에 족보를 통해 이론 및 암기 내용 적용</a:t>
            </a:r>
            <a:endParaRPr lang="en-US" altLang="ko-KR" dirty="0"/>
          </a:p>
          <a:p>
            <a:r>
              <a:rPr lang="ko-KR" altLang="en-US" dirty="0"/>
              <a:t>직접 연습 기회를 찾아라</a:t>
            </a:r>
          </a:p>
          <a:p>
            <a:pPr lvl="1"/>
            <a:r>
              <a:rPr lang="ko-KR" altLang="en-US" dirty="0"/>
              <a:t>결국 최종 평가는 중간</a:t>
            </a:r>
            <a:r>
              <a:rPr lang="en-US" altLang="ko-KR" dirty="0"/>
              <a:t>/</a:t>
            </a:r>
            <a:r>
              <a:rPr lang="ko-KR" altLang="en-US" dirty="0"/>
              <a:t>기말</a:t>
            </a:r>
            <a:r>
              <a:rPr lang="en-US" altLang="ko-KR" dirty="0"/>
              <a:t>/</a:t>
            </a:r>
            <a:r>
              <a:rPr lang="ko-KR" altLang="en-US" dirty="0"/>
              <a:t>과제이므로 족보나 인터넷에서 구할 수 있는 예시로 해결</a:t>
            </a:r>
            <a:endParaRPr lang="en-US" altLang="ko-KR" dirty="0"/>
          </a:p>
          <a:p>
            <a:pPr lvl="1"/>
            <a:r>
              <a:rPr lang="ko-KR" altLang="en-US" dirty="0"/>
              <a:t>족보가 없으면 </a:t>
            </a:r>
            <a:r>
              <a:rPr lang="ko-KR" altLang="en-US" dirty="0" err="1"/>
              <a:t>안키를</a:t>
            </a:r>
            <a:r>
              <a:rPr lang="ko-KR" altLang="en-US" dirty="0"/>
              <a:t> 통해 스스로 문제를 내고 해결</a:t>
            </a:r>
          </a:p>
          <a:p>
            <a:r>
              <a:rPr lang="ko-KR" altLang="en-US" dirty="0"/>
              <a:t>예비 재료와 수단을 구하라</a:t>
            </a:r>
          </a:p>
          <a:p>
            <a:pPr lvl="1"/>
            <a:r>
              <a:rPr lang="ko-KR" altLang="en-US" dirty="0"/>
              <a:t>주 학습자원은 강의</a:t>
            </a:r>
            <a:r>
              <a:rPr lang="en-US" altLang="ko-KR" dirty="0"/>
              <a:t>, ppt, </a:t>
            </a:r>
            <a:r>
              <a:rPr lang="ko-KR" altLang="en-US" dirty="0"/>
              <a:t>족보로 구성되고 나머지 자원은 보조 및 참고서로 주 자원 학습에서 모자랄 때 참고한다</a:t>
            </a:r>
          </a:p>
          <a:p>
            <a:endParaRPr lang="ko-KR" altLang="en-US" dirty="0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677D2D5-D12E-E86C-1E4E-3456BBF83C14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33181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AD77F37-DEB4-7276-8D80-94258071AB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2FC7689F-CD02-3F6B-86D3-AF7DFBE47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단계</a:t>
            </a:r>
            <a:r>
              <a:rPr lang="en-US" altLang="ko-KR" dirty="0"/>
              <a:t>: </a:t>
            </a:r>
            <a:r>
              <a:rPr lang="ko-KR" altLang="en-US" dirty="0"/>
              <a:t>일정을 조율하라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CCD1876-69E6-47C7-D13F-5433392610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4722103-2419-A61A-40C1-2006076E9F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72771A4-9C65-1450-FA5F-D6023C433A8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309386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16010</TotalTime>
  <Words>257</Words>
  <Application>Microsoft Office PowerPoint</Application>
  <PresentationFormat>A4 용지(210x297mm)</PresentationFormat>
  <Paragraphs>36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맑은 고딕</vt:lpstr>
      <vt:lpstr>Arial</vt:lpstr>
      <vt:lpstr>Wingdings</vt:lpstr>
      <vt:lpstr>디자인 사용자 지정</vt:lpstr>
      <vt:lpstr> 3-1 울트라러닝 프로젝트 계획서</vt:lpstr>
      <vt:lpstr>1단계: 자신에게 필요한 조사를 하라</vt:lpstr>
      <vt:lpstr>2단계: 일정을 조율하라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13640</dc:creator>
  <cp:lastModifiedBy>노동주</cp:lastModifiedBy>
  <cp:revision>529</cp:revision>
  <dcterms:created xsi:type="dcterms:W3CDTF">2021-05-24T07:27:04Z</dcterms:created>
  <dcterms:modified xsi:type="dcterms:W3CDTF">2024-09-09T22:50:07Z</dcterms:modified>
</cp:coreProperties>
</file>