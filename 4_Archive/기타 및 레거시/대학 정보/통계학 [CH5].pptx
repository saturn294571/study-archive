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4" autoAdjust="0"/>
    <p:restoredTop sz="95842" autoAdjust="0"/>
  </p:normalViewPr>
  <p:slideViewPr>
    <p:cSldViewPr>
      <p:cViewPr varScale="1">
        <p:scale>
          <a:sx n="72" d="100"/>
          <a:sy n="72" d="100"/>
        </p:scale>
        <p:origin x="20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060848" y="776536"/>
            <a:ext cx="4685705" cy="7272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맑은 고딕" panose="020B0503020000020004" pitchFamily="50" charset="-127"/>
              <a:buChar char="#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100"/>
            </a:lvl1pPr>
            <a:lvl2pPr marL="685800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100"/>
            </a:lvl2pPr>
            <a:lvl3pPr marL="114300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7FB6-E89F-4922-BA00-FF8EAC57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B3796-16A0-4473-873D-078BB574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05348-9D70-4BE7-B02B-0C339D1B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CF870-D45C-4807-89E2-5E6854D6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92D2F-38C3-4CF3-8565-10C45FB6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2021-09-25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C7A71A5-F379-4512-96A0-DBD9E2FFF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7FC071-8DFD-46D3-BEA1-1E525A8C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86D69-D65A-465F-B714-1E3C9C7031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A3E7-CB0A-4A2F-A33F-E92C6D520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확률실험</a:t>
            </a:r>
            <a:r>
              <a:rPr lang="en-US" altLang="ko-KR" dirty="0"/>
              <a:t>(Random experiments)</a:t>
            </a:r>
          </a:p>
          <a:p>
            <a:r>
              <a:rPr lang="ko-KR" altLang="en-US" dirty="0"/>
              <a:t>확률</a:t>
            </a:r>
            <a:r>
              <a:rPr lang="en-US" altLang="ko-KR" dirty="0"/>
              <a:t>(Probability)</a:t>
            </a:r>
          </a:p>
          <a:p>
            <a:r>
              <a:rPr lang="ko-KR" altLang="en-US" dirty="0"/>
              <a:t>확률의 규칙</a:t>
            </a:r>
            <a:r>
              <a:rPr lang="en-US" altLang="ko-KR" dirty="0"/>
              <a:t>(Rules of Probability)</a:t>
            </a:r>
          </a:p>
          <a:p>
            <a:r>
              <a:rPr lang="ko-KR" altLang="en-US" dirty="0"/>
              <a:t>독립적 사건</a:t>
            </a:r>
            <a:r>
              <a:rPr lang="en-US" altLang="ko-KR" dirty="0"/>
              <a:t>(Independent event)</a:t>
            </a:r>
          </a:p>
          <a:p>
            <a:r>
              <a:rPr lang="ko-KR" altLang="en-US" dirty="0" err="1"/>
              <a:t>분할표</a:t>
            </a:r>
            <a:r>
              <a:rPr lang="en-US" altLang="ko-KR" dirty="0"/>
              <a:t>(Contingency Table)</a:t>
            </a:r>
          </a:p>
          <a:p>
            <a:r>
              <a:rPr lang="ko-KR" altLang="en-US" dirty="0"/>
              <a:t>트리 도표</a:t>
            </a:r>
            <a:endParaRPr lang="en-US" altLang="ko-KR" dirty="0"/>
          </a:p>
          <a:p>
            <a:r>
              <a:rPr lang="ko-KR" altLang="en-US" dirty="0" err="1"/>
              <a:t>베이즈</a:t>
            </a:r>
            <a:r>
              <a:rPr lang="ko-KR" altLang="en-US" dirty="0"/>
              <a:t> 정리</a:t>
            </a:r>
            <a:endParaRPr lang="en-US" altLang="ko-KR" dirty="0"/>
          </a:p>
          <a:p>
            <a:r>
              <a:rPr lang="ko-KR" altLang="en-US" dirty="0"/>
              <a:t>셈법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86C732-4A7F-42E5-A04B-A8F015E4D49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9F23079-7A12-41CB-ACCB-154B9C5FD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9EC5160-8971-481F-853E-EB6EA6D9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75B7F2-C2BA-4919-96BA-56F7F2E2D3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확률실험</a:t>
            </a:r>
            <a:r>
              <a:rPr lang="en-US" altLang="ko-KR" dirty="0"/>
              <a:t>(Random experiments)</a:t>
            </a:r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F7EEAC-369B-493E-91EE-434C5FD913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표본공간</a:t>
            </a:r>
            <a:r>
              <a:rPr lang="en-US" altLang="ko-KR" dirty="0"/>
              <a:t>(Sample space)</a:t>
            </a:r>
          </a:p>
          <a:p>
            <a:pPr lvl="1"/>
            <a:r>
              <a:rPr lang="ko-KR" altLang="en-US" dirty="0"/>
              <a:t>확률실험</a:t>
            </a:r>
            <a:r>
              <a:rPr lang="en-US" altLang="ko-KR" dirty="0"/>
              <a:t>(Random experiments) : </a:t>
            </a:r>
            <a:r>
              <a:rPr lang="ko-KR" altLang="en-US" dirty="0"/>
              <a:t>결과가 우연하게 결정되는 혹은</a:t>
            </a:r>
            <a:r>
              <a:rPr lang="en-US" altLang="ko-KR" dirty="0"/>
              <a:t>, </a:t>
            </a:r>
            <a:r>
              <a:rPr lang="ko-KR" altLang="en-US" dirty="0"/>
              <a:t>결과를 사전에 알 수 없는 실험</a:t>
            </a:r>
            <a:r>
              <a:rPr lang="en-US" altLang="ko-KR" dirty="0"/>
              <a:t>/</a:t>
            </a:r>
            <a:r>
              <a:rPr lang="ko-KR" altLang="en-US" dirty="0"/>
              <a:t>프로세스</a:t>
            </a:r>
            <a:endParaRPr lang="en-US" altLang="ko-KR" dirty="0"/>
          </a:p>
          <a:p>
            <a:pPr lvl="1"/>
            <a:r>
              <a:rPr lang="ko-KR" altLang="en-US" dirty="0"/>
              <a:t>표본공간 </a:t>
            </a:r>
            <a:r>
              <a:rPr lang="en-US" altLang="ko-KR" dirty="0"/>
              <a:t>: </a:t>
            </a:r>
            <a:r>
              <a:rPr lang="ko-KR" altLang="en-US" dirty="0"/>
              <a:t>확률실험에서 발생가능한 모든 결과</a:t>
            </a:r>
            <a:r>
              <a:rPr lang="en-US" altLang="ko-KR" dirty="0"/>
              <a:t>(Outcome)</a:t>
            </a:r>
            <a:r>
              <a:rPr lang="ko-KR" altLang="en-US" dirty="0"/>
              <a:t>의 집합</a:t>
            </a:r>
            <a:r>
              <a:rPr lang="en-US" altLang="ko-KR" dirty="0"/>
              <a:t>(S)</a:t>
            </a:r>
            <a:r>
              <a:rPr lang="ko-KR" altLang="en-US" dirty="0"/>
              <a:t>을 표본공간이라고 함</a:t>
            </a:r>
            <a:endParaRPr lang="en-US" altLang="ko-KR" dirty="0"/>
          </a:p>
          <a:p>
            <a:pPr lvl="1"/>
            <a:r>
              <a:rPr lang="ko-KR" altLang="en-US" dirty="0"/>
              <a:t>표본공간은 유한할 수도</a:t>
            </a:r>
            <a:r>
              <a:rPr lang="en-US" altLang="ko-KR" dirty="0"/>
              <a:t>, </a:t>
            </a:r>
            <a:r>
              <a:rPr lang="ko-KR" altLang="en-US" dirty="0"/>
              <a:t>무한</a:t>
            </a:r>
            <a:br>
              <a:rPr lang="en-US" altLang="ko-KR" dirty="0"/>
            </a:br>
            <a:r>
              <a:rPr lang="ko-KR" altLang="en-US" dirty="0"/>
              <a:t>할 수도</a:t>
            </a:r>
            <a:r>
              <a:rPr lang="en-US" altLang="ko-KR" dirty="0"/>
              <a:t>(</a:t>
            </a:r>
            <a:r>
              <a:rPr lang="ko-KR" altLang="en-US" dirty="0"/>
              <a:t>자연수 전체의 집합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사건</a:t>
            </a:r>
            <a:r>
              <a:rPr lang="en-US" altLang="ko-KR" dirty="0"/>
              <a:t>(Event)</a:t>
            </a:r>
          </a:p>
          <a:p>
            <a:pPr lvl="1"/>
            <a:r>
              <a:rPr lang="ko-KR" altLang="en-US" dirty="0"/>
              <a:t>표본공간의 부분집합</a:t>
            </a:r>
            <a:endParaRPr lang="en-US" altLang="ko-KR" dirty="0"/>
          </a:p>
          <a:p>
            <a:pPr lvl="1"/>
            <a:r>
              <a:rPr lang="ko-KR" altLang="en-US" dirty="0"/>
              <a:t>단순사건</a:t>
            </a:r>
            <a:r>
              <a:rPr lang="en-US" altLang="ko-KR" dirty="0"/>
              <a:t>(simple event) : </a:t>
            </a:r>
            <a:r>
              <a:rPr lang="ko-KR" altLang="en-US" dirty="0"/>
              <a:t>원소의 개수가 한 개인 사건</a:t>
            </a:r>
            <a:endParaRPr lang="en-US" altLang="ko-KR" dirty="0"/>
          </a:p>
          <a:p>
            <a:pPr lvl="1"/>
            <a:r>
              <a:rPr lang="ko-KR" altLang="en-US" dirty="0"/>
              <a:t>복합사건</a:t>
            </a:r>
            <a:r>
              <a:rPr lang="en-US" altLang="ko-KR" dirty="0"/>
              <a:t>(compound event)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두 개 이상의 단순사건들로 구성된 사건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0C682A-D631-483B-AF90-1CAA7A5EA28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94883D-EC37-4500-A859-606BF593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904" y="2504728"/>
            <a:ext cx="2016224" cy="4520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3DC6D776-118D-4789-ADAF-C9E0E23CA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013" y="1641269"/>
            <a:ext cx="1954347" cy="19435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4EA756F-4164-436D-B509-7EC2C8D23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92896" y="5025008"/>
            <a:ext cx="3232797" cy="176626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3328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9AFC65-E390-41C8-B0FF-C8CAEFA76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45ABDE-6EB1-4285-BE4E-E49E9E45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4DAAA-7A83-4336-B7AA-934081F429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확률</a:t>
            </a:r>
            <a:r>
              <a:rPr lang="en-US" altLang="ko-KR" dirty="0"/>
              <a:t>(Probability)</a:t>
            </a:r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5E04CF5-BCDE-44D0-B57D-13ECCF0528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확률</a:t>
            </a:r>
            <a:r>
              <a:rPr lang="en-US" altLang="ko-KR" dirty="0"/>
              <a:t>(Probability)</a:t>
            </a:r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사건이 일어날 상대적 가능성을 측정하는 숫자</a:t>
            </a:r>
            <a:r>
              <a:rPr lang="en-US" altLang="ko-KR" dirty="0"/>
              <a:t>, </a:t>
            </a:r>
            <a:r>
              <a:rPr lang="ko-KR" altLang="en-US" dirty="0"/>
              <a:t>확률</a:t>
            </a:r>
            <a:r>
              <a:rPr lang="en-US" altLang="ko-KR" dirty="0"/>
              <a:t> 0</a:t>
            </a:r>
            <a:r>
              <a:rPr lang="ko-KR" altLang="en-US" dirty="0"/>
              <a:t>에서 </a:t>
            </a:r>
            <a:r>
              <a:rPr lang="en-US" altLang="ko-KR" dirty="0"/>
              <a:t>1</a:t>
            </a:r>
            <a:r>
              <a:rPr lang="ko-KR" altLang="en-US" dirty="0"/>
              <a:t>사이에 있어야 함</a:t>
            </a:r>
            <a:endParaRPr lang="en-US" altLang="ko-KR" dirty="0"/>
          </a:p>
          <a:p>
            <a:pPr lvl="1"/>
            <a:r>
              <a:rPr lang="ko-KR" altLang="en-US" dirty="0"/>
              <a:t>확률이 </a:t>
            </a:r>
            <a:r>
              <a:rPr lang="en-US" altLang="ko-KR" dirty="0"/>
              <a:t>0</a:t>
            </a:r>
            <a:r>
              <a:rPr lang="ko-KR" altLang="en-US" dirty="0"/>
              <a:t>이란 것은 그 사건이 발생하지 않는다는 것</a:t>
            </a:r>
            <a:endParaRPr lang="en-US" altLang="ko-KR" dirty="0"/>
          </a:p>
          <a:p>
            <a:pPr lvl="1"/>
            <a:r>
              <a:rPr lang="ko-KR" altLang="en-US" dirty="0"/>
              <a:t>확률이 </a:t>
            </a:r>
            <a:r>
              <a:rPr lang="en-US" altLang="ko-KR" dirty="0"/>
              <a:t>1</a:t>
            </a:r>
            <a:r>
              <a:rPr lang="ko-KR" altLang="en-US" dirty="0"/>
              <a:t>이란 것은 그 사건이 발생하는 것이 확실하다는 것</a:t>
            </a:r>
            <a:endParaRPr lang="en-US" altLang="ko-KR" dirty="0"/>
          </a:p>
          <a:p>
            <a:pPr lvl="1"/>
            <a:r>
              <a:rPr lang="ko-KR" altLang="en-US" dirty="0"/>
              <a:t>모든 단순사건들의 확률을 합하면 </a:t>
            </a:r>
            <a:r>
              <a:rPr lang="en-US" altLang="ko-KR" dirty="0"/>
              <a:t>1</a:t>
            </a:r>
            <a:r>
              <a:rPr lang="ko-KR" altLang="en-US" dirty="0"/>
              <a:t>이 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확률의 개념에 대한 </a:t>
            </a:r>
            <a:r>
              <a:rPr lang="en-US" altLang="ko-KR" dirty="0"/>
              <a:t>3</a:t>
            </a:r>
            <a:r>
              <a:rPr lang="ko-KR" altLang="en-US" dirty="0"/>
              <a:t>가지 관점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FC50D9-1CB2-44F0-A491-B7DB31F895E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 err="1"/>
              <a:t>ㅁㄴ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9F2B74B-6788-4780-AC03-C217E450C823}"/>
              </a:ext>
            </a:extLst>
          </p:cNvPr>
          <p:cNvGrpSpPr/>
          <p:nvPr/>
        </p:nvGrpSpPr>
        <p:grpSpPr>
          <a:xfrm>
            <a:off x="2204864" y="2216696"/>
            <a:ext cx="4248472" cy="1215769"/>
            <a:chOff x="-361950" y="3832838"/>
            <a:chExt cx="7581900" cy="2240325"/>
          </a:xfrm>
        </p:grpSpPr>
        <p:pic>
          <p:nvPicPr>
            <p:cNvPr id="7" name="table">
              <a:extLst>
                <a:ext uri="{FF2B5EF4-FFF2-40B4-BE49-F238E27FC236}">
                  <a16:creationId xmlns:a16="http://schemas.microsoft.com/office/drawing/2014/main" id="{F344BDFA-635B-4A3C-B829-D9ED19CF6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1950" y="3832838"/>
              <a:ext cx="2688167" cy="2240325"/>
            </a:xfrm>
            <a:prstGeom prst="rect">
              <a:avLst/>
            </a:prstGeom>
          </p:spPr>
        </p:pic>
        <p:pic>
          <p:nvPicPr>
            <p:cNvPr id="8" name="table">
              <a:extLst>
                <a:ext uri="{FF2B5EF4-FFF2-40B4-BE49-F238E27FC236}">
                  <a16:creationId xmlns:a16="http://schemas.microsoft.com/office/drawing/2014/main" id="{7A28B76C-C1B7-4E7C-95E2-742D9B46D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1450" y="3832838"/>
              <a:ext cx="3238500" cy="2222500"/>
            </a:xfrm>
            <a:prstGeom prst="rect">
              <a:avLst/>
            </a:prstGeom>
          </p:spPr>
        </p:pic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5DE51C4D-CBAE-4C6E-A811-95C3703C05E7}"/>
                </a:ext>
              </a:extLst>
            </p:cNvPr>
            <p:cNvGrpSpPr/>
            <p:nvPr/>
          </p:nvGrpSpPr>
          <p:grpSpPr>
            <a:xfrm>
              <a:off x="2457449" y="4440856"/>
              <a:ext cx="1263112" cy="719987"/>
              <a:chOff x="3962399" y="5027618"/>
              <a:chExt cx="1263112" cy="719987"/>
            </a:xfrm>
          </p:grpSpPr>
          <p:sp>
            <p:nvSpPr>
              <p:cNvPr id="10" name="Text Box 74">
                <a:extLst>
                  <a:ext uri="{FF2B5EF4-FFF2-40B4-BE49-F238E27FC236}">
                    <a16:creationId xmlns:a16="http://schemas.microsoft.com/office/drawing/2014/main" id="{266608BA-8E16-4BCB-9874-364E1AF51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2399" y="5027618"/>
                <a:ext cx="1263112" cy="3700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>
                  <a:defRPr/>
                </a:pPr>
                <a:r>
                  <a:rPr lang="en-US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Probability</a:t>
                </a:r>
              </a:p>
            </p:txBody>
          </p:sp>
          <p:sp>
            <p:nvSpPr>
              <p:cNvPr id="11" name="Right Arrow 2">
                <a:extLst>
                  <a:ext uri="{FF2B5EF4-FFF2-40B4-BE49-F238E27FC236}">
                    <a16:creationId xmlns:a16="http://schemas.microsoft.com/office/drawing/2014/main" id="{ED412478-9788-4A60-855B-BFC3D1591E8B}"/>
                  </a:ext>
                </a:extLst>
              </p:cNvPr>
              <p:cNvSpPr/>
              <p:nvPr/>
            </p:nvSpPr>
            <p:spPr bwMode="auto">
              <a:xfrm>
                <a:off x="4131468" y="5562600"/>
                <a:ext cx="973931" cy="185005"/>
              </a:xfrm>
              <a:prstGeom prst="rightArrow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A65E6AFC-A8F0-422F-BB1E-79CFFB687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424997"/>
              </p:ext>
            </p:extLst>
          </p:nvPr>
        </p:nvGraphicFramePr>
        <p:xfrm>
          <a:off x="2132856" y="3800872"/>
          <a:ext cx="4536504" cy="2365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18502089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93197022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826387822"/>
                    </a:ext>
                  </a:extLst>
                </a:gridCol>
              </a:tblGrid>
              <a:tr h="325629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확률에 대한 </a:t>
                      </a:r>
                      <a:r>
                        <a:rPr lang="en-US" altLang="ko-KR" sz="1050" dirty="0"/>
                        <a:t>3</a:t>
                      </a:r>
                      <a:r>
                        <a:rPr lang="ko-KR" altLang="en-US" sz="1050" dirty="0"/>
                        <a:t>가지 견해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849849"/>
                  </a:ext>
                </a:extLst>
              </a:tr>
              <a:tr h="3256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접근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부여방법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예시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915589"/>
                  </a:ext>
                </a:extLst>
              </a:tr>
              <a:tr h="5018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경험적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관측 결과로부터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무작위로 선택한 출산 중 쌍둥이의 가능성은 </a:t>
                      </a:r>
                      <a:r>
                        <a:rPr lang="en-US" altLang="ko-KR" sz="1050" dirty="0"/>
                        <a:t>3.5%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06034"/>
                  </a:ext>
                </a:extLst>
              </a:tr>
              <a:tr h="3613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고전적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실험의 성격에서 선험적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이론적으로</a:t>
                      </a:r>
                      <a:r>
                        <a:rPr lang="en-US" altLang="ko-KR" sz="1050" dirty="0"/>
                        <a:t>(a priori)</a:t>
                      </a:r>
                      <a:r>
                        <a:rPr lang="ko-KR" altLang="en-US" sz="1050" dirty="0"/>
                        <a:t>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동전 던지기에서 앞면이 나올 가능성은 </a:t>
                      </a:r>
                      <a:r>
                        <a:rPr lang="en-US" altLang="ko-KR" sz="1050" dirty="0"/>
                        <a:t>50%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531830"/>
                  </a:ext>
                </a:extLst>
              </a:tr>
              <a:tr h="5018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주관적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의견이나 판단에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토론토가 동계올림픽을 유치할 가능성을 </a:t>
                      </a:r>
                      <a:r>
                        <a:rPr lang="en-US" altLang="ko-KR" sz="1050" dirty="0"/>
                        <a:t>60%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9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21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813EA4B-0FD1-41BD-9594-603E9F919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BECF1D2-03C9-46D3-ACF9-C49ABABC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10F776-DEF0-462F-BCE1-4475454BD6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확률의 규칙</a:t>
            </a:r>
            <a:r>
              <a:rPr lang="en-US" altLang="ko-KR" dirty="0"/>
              <a:t>(Rules of Probability)</a:t>
            </a:r>
          </a:p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A6CFE03-7135-45EB-BC85-D0EE29424D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여사건</a:t>
                </a:r>
                <a:r>
                  <a:rPr lang="en-US" altLang="ko-KR" dirty="0"/>
                  <a:t>(Complement)</a:t>
                </a:r>
              </a:p>
              <a:p>
                <a:pPr lvl="1"/>
                <a:r>
                  <a:rPr lang="ko-KR" altLang="en-US" dirty="0"/>
                  <a:t>표본공간</a:t>
                </a:r>
                <a:r>
                  <a:rPr lang="en-US" altLang="ko-KR" dirty="0"/>
                  <a:t>(S) </a:t>
                </a:r>
                <a:r>
                  <a:rPr lang="ko-KR" altLang="en-US" dirty="0"/>
                  <a:t>에서 사건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를 제외한 모든 것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A’ </a:t>
                </a:r>
                <a:r>
                  <a:rPr lang="ko-KR" altLang="en-US" dirty="0"/>
                  <a:t>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dirty="0"/>
                  <a:t> 표시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여사건의 확률은 </a:t>
                </a:r>
                <a:r>
                  <a:rPr lang="en-US" altLang="ko-KR" dirty="0"/>
                  <a:t>P(A’) = 1 – P(A)</a:t>
                </a:r>
                <a:r>
                  <a:rPr lang="ko-KR" altLang="en-US" dirty="0"/>
                  <a:t>로 구함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A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A’</a:t>
                </a:r>
                <a:r>
                  <a:rPr lang="ko-KR" altLang="en-US" dirty="0"/>
                  <a:t>의 확률을 더하면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이 됨</a:t>
                </a:r>
                <a:endParaRPr lang="en-US" altLang="ko-KR" dirty="0"/>
              </a:p>
              <a:p>
                <a:r>
                  <a:rPr lang="ko-KR" altLang="en-US" dirty="0" err="1"/>
                  <a:t>합사건</a:t>
                </a:r>
                <a:r>
                  <a:rPr lang="en-US" altLang="ko-KR" dirty="0"/>
                  <a:t>(Union)</a:t>
                </a:r>
              </a:p>
              <a:p>
                <a:pPr lvl="1"/>
                <a:r>
                  <a:rPr lang="ko-KR" altLang="en-US" dirty="0"/>
                  <a:t>표본공간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에서 두 사건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나</a:t>
                </a:r>
                <a:r>
                  <a:rPr lang="en-US" altLang="ko-KR" dirty="0"/>
                  <a:t> B</a:t>
                </a:r>
                <a:r>
                  <a:rPr lang="ko-KR" altLang="en-US" dirty="0"/>
                  <a:t> 에 속하는 사건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A </a:t>
                </a:r>
                <a:r>
                  <a:rPr lang="ko-KR" altLang="en-US" dirty="0"/>
                  <a:t>∪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로 또는 </a:t>
                </a:r>
                <a:r>
                  <a:rPr lang="en-US" altLang="ko-KR" dirty="0"/>
                  <a:t>A or B</a:t>
                </a:r>
                <a:r>
                  <a:rPr lang="ko-KR" altLang="en-US" dirty="0"/>
                  <a:t>로 표시</a:t>
                </a:r>
                <a:r>
                  <a:rPr lang="en-US" altLang="ko-KR" dirty="0"/>
                  <a:t>,</a:t>
                </a:r>
              </a:p>
              <a:p>
                <a:r>
                  <a:rPr lang="ko-KR" altLang="en-US" dirty="0" err="1"/>
                  <a:t>교사건</a:t>
                </a:r>
                <a:r>
                  <a:rPr lang="en-US" altLang="ko-KR" dirty="0"/>
                  <a:t>(intersection)</a:t>
                </a:r>
              </a:p>
              <a:p>
                <a:pPr lvl="1"/>
                <a:r>
                  <a:rPr lang="ko-KR" altLang="en-US" dirty="0"/>
                  <a:t>표본공간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에서 두 사건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에 모두 속하는 사건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나 </a:t>
                </a:r>
                <a:r>
                  <a:rPr lang="en-US" altLang="ko-KR" dirty="0"/>
                  <a:t>A and B</a:t>
                </a:r>
                <a:r>
                  <a:rPr lang="ko-KR" altLang="en-US" dirty="0"/>
                  <a:t>로 표시</a:t>
                </a:r>
                <a:endParaRPr lang="en-US" altLang="ko-KR" dirty="0"/>
              </a:p>
              <a:p>
                <a:r>
                  <a:rPr lang="ko-KR" altLang="en-US" dirty="0"/>
                  <a:t>합의 일반법칙 </a:t>
                </a:r>
                <a:r>
                  <a:rPr lang="en-US" altLang="ko-KR" dirty="0"/>
                  <a:t>: P(A</a:t>
                </a:r>
                <a:r>
                  <a:rPr lang="ko-KR" altLang="en-US" dirty="0"/>
                  <a:t>∪</a:t>
                </a:r>
                <a:r>
                  <a:rPr lang="en-US" altLang="ko-KR" dirty="0"/>
                  <a:t>B) = P(A) + P(B) – P(A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B)</a:t>
                </a:r>
              </a:p>
              <a:p>
                <a:r>
                  <a:rPr lang="ko-KR" altLang="en-US" dirty="0"/>
                  <a:t>상호 배타적 사건 </a:t>
                </a:r>
                <a:r>
                  <a:rPr lang="en-US" altLang="ko-KR" dirty="0"/>
                  <a:t>: if 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 = Φ(</a:t>
                </a:r>
                <a:r>
                  <a:rPr lang="ko-KR" altLang="en-US" dirty="0"/>
                  <a:t>공집합</a:t>
                </a:r>
                <a:r>
                  <a:rPr lang="en-US" altLang="ko-KR" dirty="0"/>
                  <a:t>), then P(A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B) = 0</a:t>
                </a:r>
              </a:p>
              <a:p>
                <a:r>
                  <a:rPr lang="ko-KR" altLang="en-US" dirty="0"/>
                  <a:t>합의 특별법칙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두 사건이 상호 배타적 사건일 때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en-US" altLang="ko-KR" dirty="0"/>
                  <a:t>P(A</a:t>
                </a:r>
                <a:r>
                  <a:rPr lang="ko-KR" altLang="en-US" dirty="0"/>
                  <a:t>∪</a:t>
                </a:r>
                <a:r>
                  <a:rPr lang="en-US" altLang="ko-KR" dirty="0"/>
                  <a:t>B) = P(A) + P(B)</a:t>
                </a:r>
              </a:p>
              <a:p>
                <a:r>
                  <a:rPr lang="ko-KR" altLang="en-US" dirty="0"/>
                  <a:t>집단전체적 사건</a:t>
                </a:r>
                <a:r>
                  <a:rPr lang="en-US" altLang="ko-KR" dirty="0"/>
                  <a:t>(Collectively exhaustive) : A</a:t>
                </a:r>
                <a:r>
                  <a:rPr lang="ko-KR" altLang="en-US" dirty="0"/>
                  <a:t>∪</a:t>
                </a:r>
                <a:r>
                  <a:rPr lang="en-US" altLang="ko-KR" dirty="0"/>
                  <a:t>B = S</a:t>
                </a:r>
                <a:r>
                  <a:rPr lang="ko-KR" altLang="en-US" dirty="0"/>
                  <a:t>인 사건 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집단이 두개이면 이분적인 사건이라고 함</a:t>
                </a:r>
                <a:endParaRPr lang="en-US" altLang="ko-KR" dirty="0"/>
              </a:p>
              <a:p>
                <a:r>
                  <a:rPr lang="ko-KR" altLang="en-US" dirty="0"/>
                  <a:t>조건부 확률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사건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가 일어났다는 것을 아는 상황에서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일어날 확률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P(A | B) = P(A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B) / P(B)</a:t>
                </a:r>
              </a:p>
              <a:p>
                <a:pPr lvl="1"/>
                <a:r>
                  <a:rPr lang="ko-KR" altLang="en-US" dirty="0"/>
                  <a:t>곱의 일반법칙 </a:t>
                </a:r>
                <a:r>
                  <a:rPr lang="en-US" altLang="ko-KR" dirty="0"/>
                  <a:t>: P(A</a:t>
                </a:r>
                <a:r>
                  <a:rPr lang="ko-KR" altLang="en-US" dirty="0"/>
                  <a:t>∩</a:t>
                </a:r>
                <a:r>
                  <a:rPr lang="en-US" altLang="ko-KR" dirty="0"/>
                  <a:t>B) = P(B)*P(A | B)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A6CFE03-7135-45EB-BC85-D0EE29424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CCF6A1-CE2D-4C62-8870-3A9AA2F729B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79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626C2A-808B-4B5A-AF3C-E5BF7571D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87CFCB-24D6-459F-BA7D-BA8B969A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A6B5EF-7DC6-4C45-A4CB-566ECD9895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독립적 사건</a:t>
            </a:r>
            <a:r>
              <a:rPr lang="en-US" altLang="ko-KR" dirty="0"/>
              <a:t>(Independent event)</a:t>
            </a:r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3EF177C-B0D8-456F-A5A0-49CAF2218F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확률에서의 독립</a:t>
            </a:r>
            <a:endParaRPr lang="en-US" altLang="ko-KR" dirty="0"/>
          </a:p>
          <a:p>
            <a:pPr lvl="1"/>
            <a:r>
              <a:rPr lang="en-US" altLang="ko-KR" dirty="0"/>
              <a:t>P(A) = P(A|B)</a:t>
            </a:r>
            <a:r>
              <a:rPr lang="ko-KR" altLang="en-US" dirty="0"/>
              <a:t>라면</a:t>
            </a:r>
            <a:r>
              <a:rPr lang="en-US" altLang="ko-KR" dirty="0"/>
              <a:t>,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는 독립이다</a:t>
            </a:r>
            <a:endParaRPr lang="en-US" altLang="ko-KR" dirty="0"/>
          </a:p>
          <a:p>
            <a:pPr lvl="1"/>
            <a:r>
              <a:rPr lang="en-US" altLang="ko-KR" dirty="0"/>
              <a:t>P(A</a:t>
            </a:r>
            <a:r>
              <a:rPr lang="ko-KR" altLang="en-US" dirty="0"/>
              <a:t>∩</a:t>
            </a:r>
            <a:r>
              <a:rPr lang="en-US" altLang="ko-KR" dirty="0"/>
              <a:t>B) = P(A)*P(B)</a:t>
            </a:r>
            <a:r>
              <a:rPr lang="ko-KR" altLang="en-US" dirty="0"/>
              <a:t>이 성립</a:t>
            </a:r>
            <a:endParaRPr lang="en-US" altLang="ko-KR" dirty="0"/>
          </a:p>
          <a:p>
            <a:pPr lvl="1"/>
            <a:r>
              <a:rPr lang="en-US" altLang="ko-KR" dirty="0"/>
              <a:t>P(A|B) = P(A</a:t>
            </a:r>
            <a:r>
              <a:rPr lang="ko-KR" altLang="en-US" dirty="0"/>
              <a:t>∩</a:t>
            </a:r>
            <a:r>
              <a:rPr lang="en-US" altLang="ko-KR" dirty="0"/>
              <a:t>B)/P(B) = P(A)</a:t>
            </a:r>
          </a:p>
          <a:p>
            <a:pPr lvl="1"/>
            <a:r>
              <a:rPr lang="en-US" altLang="ko-KR" dirty="0"/>
              <a:t>P(A1 </a:t>
            </a:r>
            <a:r>
              <a:rPr lang="ko-KR" altLang="en-US" dirty="0"/>
              <a:t>∩ </a:t>
            </a:r>
            <a:r>
              <a:rPr lang="en-US" altLang="ko-KR" dirty="0"/>
              <a:t>A2 </a:t>
            </a:r>
            <a:r>
              <a:rPr lang="ko-KR" altLang="en-US" dirty="0"/>
              <a:t>∩ </a:t>
            </a:r>
            <a:r>
              <a:rPr lang="en-US" altLang="ko-KR" dirty="0"/>
              <a:t>A3…) = P(A1) * P(A2) * …</a:t>
            </a:r>
            <a:r>
              <a:rPr lang="ko-KR" altLang="en-US" dirty="0"/>
              <a:t>로 나타낼 수 있음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C92F49-A8A4-4F36-9B05-6A577387644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20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3EB57D7-CF51-4297-87B2-BE5D49C69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755C58-A15C-432C-A5EB-0593E148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EAD4EF-6C2A-4CDF-A086-8FB70CAC89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분할표</a:t>
            </a:r>
            <a:r>
              <a:rPr lang="en-US" altLang="ko-KR" dirty="0"/>
              <a:t>(Contingency Table)</a:t>
            </a:r>
          </a:p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4684BC7-3978-48E5-AA53-BA54EB99F7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8AA617-3447-47D0-AD20-5627E3B008D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9774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572</Words>
  <Application>Microsoft Office PowerPoint</Application>
  <PresentationFormat>A4 용지(210x297mm)</PresentationFormat>
  <Paragraphs>78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Cambria Math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13640</cp:lastModifiedBy>
  <cp:revision>26</cp:revision>
  <dcterms:created xsi:type="dcterms:W3CDTF">2021-05-24T07:27:04Z</dcterms:created>
  <dcterms:modified xsi:type="dcterms:W3CDTF">2021-09-25T07:27:23Z</dcterms:modified>
</cp:coreProperties>
</file>